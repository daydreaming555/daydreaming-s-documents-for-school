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gif" ContentType="image/gif"/>
  <Default Extension="wmf" ContentType="image/x-wmf"/>
  <Default Extension="png" ContentType="image/png"/>
  <Default Extension="emf" ContentType="image/x-e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Lst>
  <p:notesMasterIdLst>
    <p:notesMasterId r:id="rId85"/>
  </p:notesMasterIdLst>
  <p:handoutMasterIdLst>
    <p:handoutMasterId r:id="rId198"/>
  </p:handoutMasterIdLst>
  <p:sldIdLst>
    <p:sldId id="256" r:id="rId9"/>
    <p:sldId id="257" r:id="rId10"/>
    <p:sldId id="258" r:id="rId11"/>
    <p:sldId id="259" r:id="rId12"/>
    <p:sldId id="260" r:id="rId13"/>
    <p:sldId id="261" r:id="rId14"/>
    <p:sldId id="344" r:id="rId15"/>
    <p:sldId id="343" r:id="rId16"/>
    <p:sldId id="346" r:id="rId17"/>
    <p:sldId id="262" r:id="rId18"/>
    <p:sldId id="339" r:id="rId19"/>
    <p:sldId id="335" r:id="rId20"/>
    <p:sldId id="336" r:id="rId21"/>
    <p:sldId id="337" r:id="rId22"/>
    <p:sldId id="263" r:id="rId23"/>
    <p:sldId id="264" r:id="rId24"/>
    <p:sldId id="265" r:id="rId25"/>
    <p:sldId id="266" r:id="rId26"/>
    <p:sldId id="267" r:id="rId27"/>
    <p:sldId id="268" r:id="rId28"/>
    <p:sldId id="340" r:id="rId29"/>
    <p:sldId id="341" r:id="rId30"/>
    <p:sldId id="342" r:id="rId31"/>
    <p:sldId id="269" r:id="rId32"/>
    <p:sldId id="270" r:id="rId33"/>
    <p:sldId id="271" r:id="rId34"/>
    <p:sldId id="272" r:id="rId35"/>
    <p:sldId id="273" r:id="rId36"/>
    <p:sldId id="274" r:id="rId37"/>
    <p:sldId id="275" r:id="rId38"/>
    <p:sldId id="276" r:id="rId39"/>
    <p:sldId id="277" r:id="rId40"/>
    <p:sldId id="278" r:id="rId41"/>
    <p:sldId id="279" r:id="rId42"/>
    <p:sldId id="280" r:id="rId43"/>
    <p:sldId id="281" r:id="rId44"/>
    <p:sldId id="282" r:id="rId45"/>
    <p:sldId id="347" r:id="rId46"/>
    <p:sldId id="283" r:id="rId47"/>
    <p:sldId id="348" r:id="rId48"/>
    <p:sldId id="349" r:id="rId49"/>
    <p:sldId id="350" r:id="rId50"/>
    <p:sldId id="285" r:id="rId51"/>
    <p:sldId id="351" r:id="rId52"/>
    <p:sldId id="287" r:id="rId53"/>
    <p:sldId id="352" r:id="rId54"/>
    <p:sldId id="353" r:id="rId55"/>
    <p:sldId id="289" r:id="rId56"/>
    <p:sldId id="290" r:id="rId57"/>
    <p:sldId id="291" r:id="rId58"/>
    <p:sldId id="292" r:id="rId59"/>
    <p:sldId id="293" r:id="rId60"/>
    <p:sldId id="294" r:id="rId61"/>
    <p:sldId id="295" r:id="rId62"/>
    <p:sldId id="296" r:id="rId63"/>
    <p:sldId id="297" r:id="rId64"/>
    <p:sldId id="298" r:id="rId65"/>
    <p:sldId id="299" r:id="rId66"/>
    <p:sldId id="300" r:id="rId67"/>
    <p:sldId id="301" r:id="rId68"/>
    <p:sldId id="302" r:id="rId69"/>
    <p:sldId id="303" r:id="rId70"/>
    <p:sldId id="304" r:id="rId71"/>
    <p:sldId id="305" r:id="rId72"/>
    <p:sldId id="357" r:id="rId73"/>
    <p:sldId id="306" r:id="rId74"/>
    <p:sldId id="307" r:id="rId75"/>
    <p:sldId id="310" r:id="rId76"/>
    <p:sldId id="311" r:id="rId77"/>
    <p:sldId id="355" r:id="rId78"/>
    <p:sldId id="356" r:id="rId79"/>
    <p:sldId id="370" r:id="rId80"/>
    <p:sldId id="314" r:id="rId81"/>
    <p:sldId id="315" r:id="rId82"/>
    <p:sldId id="316" r:id="rId83"/>
    <p:sldId id="379" r:id="rId84"/>
    <p:sldId id="318" r:id="rId86"/>
    <p:sldId id="319" r:id="rId87"/>
    <p:sldId id="372" r:id="rId88"/>
    <p:sldId id="321" r:id="rId89"/>
    <p:sldId id="323" r:id="rId90"/>
    <p:sldId id="619" r:id="rId91"/>
    <p:sldId id="377" r:id="rId92"/>
    <p:sldId id="437" r:id="rId93"/>
    <p:sldId id="327" r:id="rId94"/>
    <p:sldId id="359" r:id="rId95"/>
    <p:sldId id="361" r:id="rId96"/>
    <p:sldId id="364" r:id="rId97"/>
    <p:sldId id="360" r:id="rId98"/>
    <p:sldId id="362" r:id="rId99"/>
    <p:sldId id="363" r:id="rId100"/>
    <p:sldId id="366" r:id="rId101"/>
    <p:sldId id="369" r:id="rId102"/>
    <p:sldId id="328" r:id="rId103"/>
    <p:sldId id="368" r:id="rId104"/>
    <p:sldId id="380" r:id="rId105"/>
    <p:sldId id="381" r:id="rId106"/>
    <p:sldId id="382" r:id="rId107"/>
    <p:sldId id="383" r:id="rId108"/>
    <p:sldId id="384" r:id="rId109"/>
    <p:sldId id="385" r:id="rId110"/>
    <p:sldId id="386" r:id="rId111"/>
    <p:sldId id="387" r:id="rId112"/>
    <p:sldId id="388" r:id="rId113"/>
    <p:sldId id="389" r:id="rId114"/>
    <p:sldId id="367" r:id="rId115"/>
    <p:sldId id="390" r:id="rId116"/>
    <p:sldId id="392" r:id="rId117"/>
    <p:sldId id="393" r:id="rId118"/>
    <p:sldId id="513" r:id="rId119"/>
    <p:sldId id="394" r:id="rId120"/>
    <p:sldId id="436" r:id="rId121"/>
    <p:sldId id="396" r:id="rId122"/>
    <p:sldId id="397" r:id="rId123"/>
    <p:sldId id="398" r:id="rId124"/>
    <p:sldId id="399" r:id="rId125"/>
    <p:sldId id="620" r:id="rId126"/>
    <p:sldId id="400" r:id="rId127"/>
    <p:sldId id="401" r:id="rId128"/>
    <p:sldId id="402" r:id="rId129"/>
    <p:sldId id="403" r:id="rId130"/>
    <p:sldId id="404" r:id="rId131"/>
    <p:sldId id="405" r:id="rId132"/>
    <p:sldId id="406" r:id="rId133"/>
    <p:sldId id="407" r:id="rId134"/>
    <p:sldId id="514" r:id="rId135"/>
    <p:sldId id="516" r:id="rId136"/>
    <p:sldId id="408" r:id="rId137"/>
    <p:sldId id="409" r:id="rId138"/>
    <p:sldId id="410" r:id="rId139"/>
    <p:sldId id="517" r:id="rId140"/>
    <p:sldId id="412" r:id="rId141"/>
    <p:sldId id="413" r:id="rId142"/>
    <p:sldId id="414" r:id="rId143"/>
    <p:sldId id="415" r:id="rId144"/>
    <p:sldId id="416" r:id="rId145"/>
    <p:sldId id="512" r:id="rId146"/>
    <p:sldId id="515" r:id="rId147"/>
    <p:sldId id="518" r:id="rId148"/>
    <p:sldId id="417" r:id="rId149"/>
    <p:sldId id="418" r:id="rId150"/>
    <p:sldId id="419" r:id="rId151"/>
    <p:sldId id="621" r:id="rId152"/>
    <p:sldId id="420" r:id="rId153"/>
    <p:sldId id="421" r:id="rId154"/>
    <p:sldId id="422" r:id="rId155"/>
    <p:sldId id="423" r:id="rId156"/>
    <p:sldId id="575" r:id="rId157"/>
    <p:sldId id="576" r:id="rId158"/>
    <p:sldId id="535" r:id="rId159"/>
    <p:sldId id="424" r:id="rId160"/>
    <p:sldId id="425" r:id="rId161"/>
    <p:sldId id="524" r:id="rId162"/>
    <p:sldId id="525" r:id="rId163"/>
    <p:sldId id="529" r:id="rId164"/>
    <p:sldId id="526" r:id="rId165"/>
    <p:sldId id="527" r:id="rId166"/>
    <p:sldId id="521" r:id="rId167"/>
    <p:sldId id="522" r:id="rId168"/>
    <p:sldId id="523" r:id="rId169"/>
    <p:sldId id="427" r:id="rId170"/>
    <p:sldId id="428" r:id="rId171"/>
    <p:sldId id="520" r:id="rId172"/>
    <p:sldId id="519" r:id="rId173"/>
    <p:sldId id="429" r:id="rId174"/>
    <p:sldId id="430" r:id="rId175"/>
    <p:sldId id="431" r:id="rId176"/>
    <p:sldId id="432" r:id="rId177"/>
    <p:sldId id="530" r:id="rId178"/>
    <p:sldId id="531" r:id="rId179"/>
    <p:sldId id="532" r:id="rId180"/>
    <p:sldId id="533" r:id="rId181"/>
    <p:sldId id="534" r:id="rId182"/>
    <p:sldId id="605" r:id="rId183"/>
    <p:sldId id="606" r:id="rId184"/>
    <p:sldId id="607" r:id="rId185"/>
    <p:sldId id="608" r:id="rId186"/>
    <p:sldId id="609" r:id="rId187"/>
    <p:sldId id="610" r:id="rId188"/>
    <p:sldId id="611" r:id="rId189"/>
    <p:sldId id="612" r:id="rId190"/>
    <p:sldId id="613" r:id="rId191"/>
    <p:sldId id="614" r:id="rId192"/>
    <p:sldId id="615" r:id="rId193"/>
    <p:sldId id="616" r:id="rId194"/>
    <p:sldId id="617" r:id="rId195"/>
    <p:sldId id="618" r:id="rId196"/>
    <p:sldId id="334" r:id="rId197"/>
  </p:sldIdLst>
  <p:sldSz cx="9144000" cy="6858000" type="screen4x3"/>
  <p:notesSz cx="6858000" cy="9144000"/>
  <p:custDataLst>
    <p:tags r:id="rId202"/>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a:cs typeface="+mn-cs"/>
      </a:defRPr>
    </a:lvl9pPr>
  </p:defaultTextStyle>
  <p:extLst>
    <p:ext uri="{EFAFB233-063F-42B5-8137-9DF3F51BA10A}">
      <p15:sldGuideLst xmlns:p15="http://schemas.microsoft.com/office/powerpoint/2012/main">
        <p15:guide id="1" orient="horz" pos="2159" userDrawn="1">
          <p15:clr>
            <a:srgbClr val="A4A3A4"/>
          </p15:clr>
        </p15:guide>
        <p15:guide id="2" pos="29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705"/>
    <p:restoredTop sz="72897"/>
  </p:normalViewPr>
  <p:slideViewPr>
    <p:cSldViewPr showGuides="1">
      <p:cViewPr varScale="1">
        <p:scale>
          <a:sx n="83" d="100"/>
          <a:sy n="83" d="100"/>
        </p:scale>
        <p:origin x="2190" y="96"/>
      </p:cViewPr>
      <p:guideLst>
        <p:guide orient="horz" pos="2159"/>
        <p:guide pos="2901"/>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99" Type="http://schemas.openxmlformats.org/officeDocument/2006/relationships/slide" Target="slides/slide90.xml"/><Relationship Id="rId98" Type="http://schemas.openxmlformats.org/officeDocument/2006/relationships/slide" Target="slides/slide89.xml"/><Relationship Id="rId97" Type="http://schemas.openxmlformats.org/officeDocument/2006/relationships/slide" Target="slides/slide88.xml"/><Relationship Id="rId96" Type="http://schemas.openxmlformats.org/officeDocument/2006/relationships/slide" Target="slides/slide87.xml"/><Relationship Id="rId95" Type="http://schemas.openxmlformats.org/officeDocument/2006/relationships/slide" Target="slides/slide86.xml"/><Relationship Id="rId94" Type="http://schemas.openxmlformats.org/officeDocument/2006/relationships/slide" Target="slides/slide85.xml"/><Relationship Id="rId93" Type="http://schemas.openxmlformats.org/officeDocument/2006/relationships/slide" Target="slides/slide84.xml"/><Relationship Id="rId92" Type="http://schemas.openxmlformats.org/officeDocument/2006/relationships/slide" Target="slides/slide83.xml"/><Relationship Id="rId91" Type="http://schemas.openxmlformats.org/officeDocument/2006/relationships/slide" Target="slides/slide82.xml"/><Relationship Id="rId90" Type="http://schemas.openxmlformats.org/officeDocument/2006/relationships/slide" Target="slides/slide81.xml"/><Relationship Id="rId9" Type="http://schemas.openxmlformats.org/officeDocument/2006/relationships/slide" Target="slides/slide1.xml"/><Relationship Id="rId89" Type="http://schemas.openxmlformats.org/officeDocument/2006/relationships/slide" Target="slides/slide80.xml"/><Relationship Id="rId88" Type="http://schemas.openxmlformats.org/officeDocument/2006/relationships/slide" Target="slides/slide79.xml"/><Relationship Id="rId87" Type="http://schemas.openxmlformats.org/officeDocument/2006/relationships/slide" Target="slides/slide78.xml"/><Relationship Id="rId86" Type="http://schemas.openxmlformats.org/officeDocument/2006/relationships/slide" Target="slides/slide77.xml"/><Relationship Id="rId85" Type="http://schemas.openxmlformats.org/officeDocument/2006/relationships/notesMaster" Target="notesMasters/notesMaster1.xml"/><Relationship Id="rId84" Type="http://schemas.openxmlformats.org/officeDocument/2006/relationships/slide" Target="slides/slide76.xml"/><Relationship Id="rId83" Type="http://schemas.openxmlformats.org/officeDocument/2006/relationships/slide" Target="slides/slide75.xml"/><Relationship Id="rId82" Type="http://schemas.openxmlformats.org/officeDocument/2006/relationships/slide" Target="slides/slide74.xml"/><Relationship Id="rId81" Type="http://schemas.openxmlformats.org/officeDocument/2006/relationships/slide" Target="slides/slide73.xml"/><Relationship Id="rId80" Type="http://schemas.openxmlformats.org/officeDocument/2006/relationships/slide" Target="slides/slide72.xml"/><Relationship Id="rId8" Type="http://schemas.openxmlformats.org/officeDocument/2006/relationships/slideMaster" Target="slideMasters/slideMaster7.xml"/><Relationship Id="rId79" Type="http://schemas.openxmlformats.org/officeDocument/2006/relationships/slide" Target="slides/slide71.xml"/><Relationship Id="rId78" Type="http://schemas.openxmlformats.org/officeDocument/2006/relationships/slide" Target="slides/slide70.xml"/><Relationship Id="rId77" Type="http://schemas.openxmlformats.org/officeDocument/2006/relationships/slide" Target="slides/slide69.xml"/><Relationship Id="rId76" Type="http://schemas.openxmlformats.org/officeDocument/2006/relationships/slide" Target="slides/slide68.xml"/><Relationship Id="rId75" Type="http://schemas.openxmlformats.org/officeDocument/2006/relationships/slide" Target="slides/slide67.xml"/><Relationship Id="rId74" Type="http://schemas.openxmlformats.org/officeDocument/2006/relationships/slide" Target="slides/slide66.xml"/><Relationship Id="rId73" Type="http://schemas.openxmlformats.org/officeDocument/2006/relationships/slide" Target="slides/slide65.xml"/><Relationship Id="rId72" Type="http://schemas.openxmlformats.org/officeDocument/2006/relationships/slide" Target="slides/slide64.xml"/><Relationship Id="rId71" Type="http://schemas.openxmlformats.org/officeDocument/2006/relationships/slide" Target="slides/slide63.xml"/><Relationship Id="rId70" Type="http://schemas.openxmlformats.org/officeDocument/2006/relationships/slide" Target="slides/slide62.xml"/><Relationship Id="rId7" Type="http://schemas.openxmlformats.org/officeDocument/2006/relationships/slideMaster" Target="slideMasters/slideMaster6.xml"/><Relationship Id="rId69" Type="http://schemas.openxmlformats.org/officeDocument/2006/relationships/slide" Target="slides/slide61.xml"/><Relationship Id="rId68" Type="http://schemas.openxmlformats.org/officeDocument/2006/relationships/slide" Target="slides/slide60.xml"/><Relationship Id="rId67" Type="http://schemas.openxmlformats.org/officeDocument/2006/relationships/slide" Target="slides/slide59.xml"/><Relationship Id="rId66" Type="http://schemas.openxmlformats.org/officeDocument/2006/relationships/slide" Target="slides/slide58.xml"/><Relationship Id="rId65" Type="http://schemas.openxmlformats.org/officeDocument/2006/relationships/slide" Target="slides/slide57.xml"/><Relationship Id="rId64" Type="http://schemas.openxmlformats.org/officeDocument/2006/relationships/slide" Target="slides/slide56.xml"/><Relationship Id="rId63" Type="http://schemas.openxmlformats.org/officeDocument/2006/relationships/slide" Target="slides/slide55.xml"/><Relationship Id="rId62" Type="http://schemas.openxmlformats.org/officeDocument/2006/relationships/slide" Target="slides/slide54.xml"/><Relationship Id="rId61" Type="http://schemas.openxmlformats.org/officeDocument/2006/relationships/slide" Target="slides/slide53.xml"/><Relationship Id="rId60" Type="http://schemas.openxmlformats.org/officeDocument/2006/relationships/slide" Target="slides/slide52.xml"/><Relationship Id="rId6" Type="http://schemas.openxmlformats.org/officeDocument/2006/relationships/slideMaster" Target="slideMasters/slideMaster5.xml"/><Relationship Id="rId59" Type="http://schemas.openxmlformats.org/officeDocument/2006/relationships/slide" Target="slides/slide51.xml"/><Relationship Id="rId58" Type="http://schemas.openxmlformats.org/officeDocument/2006/relationships/slide" Target="slides/slide50.xml"/><Relationship Id="rId57" Type="http://schemas.openxmlformats.org/officeDocument/2006/relationships/slide" Target="slides/slide49.xml"/><Relationship Id="rId56" Type="http://schemas.openxmlformats.org/officeDocument/2006/relationships/slide" Target="slides/slide48.xml"/><Relationship Id="rId55" Type="http://schemas.openxmlformats.org/officeDocument/2006/relationships/slide" Target="slides/slide47.xml"/><Relationship Id="rId54" Type="http://schemas.openxmlformats.org/officeDocument/2006/relationships/slide" Target="slides/slide46.xml"/><Relationship Id="rId53" Type="http://schemas.openxmlformats.org/officeDocument/2006/relationships/slide" Target="slides/slide45.xml"/><Relationship Id="rId52" Type="http://schemas.openxmlformats.org/officeDocument/2006/relationships/slide" Target="slides/slide44.xml"/><Relationship Id="rId51" Type="http://schemas.openxmlformats.org/officeDocument/2006/relationships/slide" Target="slides/slide43.xml"/><Relationship Id="rId50" Type="http://schemas.openxmlformats.org/officeDocument/2006/relationships/slide" Target="slides/slide42.xml"/><Relationship Id="rId5" Type="http://schemas.openxmlformats.org/officeDocument/2006/relationships/slideMaster" Target="slideMasters/slideMaster4.xml"/><Relationship Id="rId49" Type="http://schemas.openxmlformats.org/officeDocument/2006/relationships/slide" Target="slides/slide41.xml"/><Relationship Id="rId48" Type="http://schemas.openxmlformats.org/officeDocument/2006/relationships/slide" Target="slides/slide40.xml"/><Relationship Id="rId47" Type="http://schemas.openxmlformats.org/officeDocument/2006/relationships/slide" Target="slides/slide39.xml"/><Relationship Id="rId46" Type="http://schemas.openxmlformats.org/officeDocument/2006/relationships/slide" Target="slides/slide38.xml"/><Relationship Id="rId45" Type="http://schemas.openxmlformats.org/officeDocument/2006/relationships/slide" Target="slides/slide37.xml"/><Relationship Id="rId44" Type="http://schemas.openxmlformats.org/officeDocument/2006/relationships/slide" Target="slides/slide36.xml"/><Relationship Id="rId43" Type="http://schemas.openxmlformats.org/officeDocument/2006/relationships/slide" Target="slides/slide35.xml"/><Relationship Id="rId42" Type="http://schemas.openxmlformats.org/officeDocument/2006/relationships/slide" Target="slides/slide34.xml"/><Relationship Id="rId41" Type="http://schemas.openxmlformats.org/officeDocument/2006/relationships/slide" Target="slides/slide33.xml"/><Relationship Id="rId40" Type="http://schemas.openxmlformats.org/officeDocument/2006/relationships/slide" Target="slides/slide32.xml"/><Relationship Id="rId4" Type="http://schemas.openxmlformats.org/officeDocument/2006/relationships/slideMaster" Target="slideMasters/slideMaster3.xml"/><Relationship Id="rId39" Type="http://schemas.openxmlformats.org/officeDocument/2006/relationships/slide" Target="slides/slide31.xml"/><Relationship Id="rId38" Type="http://schemas.openxmlformats.org/officeDocument/2006/relationships/slide" Target="slides/slide30.xml"/><Relationship Id="rId37" Type="http://schemas.openxmlformats.org/officeDocument/2006/relationships/slide" Target="slides/slide29.xml"/><Relationship Id="rId36" Type="http://schemas.openxmlformats.org/officeDocument/2006/relationships/slide" Target="slides/slide28.xml"/><Relationship Id="rId35" Type="http://schemas.openxmlformats.org/officeDocument/2006/relationships/slide" Target="slides/slide27.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2" Type="http://schemas.openxmlformats.org/officeDocument/2006/relationships/tags" Target="tags/tag1.xml"/><Relationship Id="rId201" Type="http://schemas.openxmlformats.org/officeDocument/2006/relationships/tableStyles" Target="tableStyles.xml"/><Relationship Id="rId200" Type="http://schemas.openxmlformats.org/officeDocument/2006/relationships/viewProps" Target="viewProps.xml"/><Relationship Id="rId20" Type="http://schemas.openxmlformats.org/officeDocument/2006/relationships/slide" Target="slides/slide12.xml"/><Relationship Id="rId2" Type="http://schemas.openxmlformats.org/officeDocument/2006/relationships/theme" Target="theme/theme1.xml"/><Relationship Id="rId199" Type="http://schemas.openxmlformats.org/officeDocument/2006/relationships/presProps" Target="presProps.xml"/><Relationship Id="rId198" Type="http://schemas.openxmlformats.org/officeDocument/2006/relationships/handoutMaster" Target="handoutMasters/handoutMaster1.xml"/><Relationship Id="rId197" Type="http://schemas.openxmlformats.org/officeDocument/2006/relationships/slide" Target="slides/slide188.xml"/><Relationship Id="rId196" Type="http://schemas.openxmlformats.org/officeDocument/2006/relationships/slide" Target="slides/slide187.xml"/><Relationship Id="rId195" Type="http://schemas.openxmlformats.org/officeDocument/2006/relationships/slide" Target="slides/slide186.xml"/><Relationship Id="rId194" Type="http://schemas.openxmlformats.org/officeDocument/2006/relationships/slide" Target="slides/slide185.xml"/><Relationship Id="rId193" Type="http://schemas.openxmlformats.org/officeDocument/2006/relationships/slide" Target="slides/slide184.xml"/><Relationship Id="rId192" Type="http://schemas.openxmlformats.org/officeDocument/2006/relationships/slide" Target="slides/slide183.xml"/><Relationship Id="rId191" Type="http://schemas.openxmlformats.org/officeDocument/2006/relationships/slide" Target="slides/slide182.xml"/><Relationship Id="rId190" Type="http://schemas.openxmlformats.org/officeDocument/2006/relationships/slide" Target="slides/slide181.xml"/><Relationship Id="rId19" Type="http://schemas.openxmlformats.org/officeDocument/2006/relationships/slide" Target="slides/slide11.xml"/><Relationship Id="rId189" Type="http://schemas.openxmlformats.org/officeDocument/2006/relationships/slide" Target="slides/slide180.xml"/><Relationship Id="rId188" Type="http://schemas.openxmlformats.org/officeDocument/2006/relationships/slide" Target="slides/slide179.xml"/><Relationship Id="rId187" Type="http://schemas.openxmlformats.org/officeDocument/2006/relationships/slide" Target="slides/slide178.xml"/><Relationship Id="rId186" Type="http://schemas.openxmlformats.org/officeDocument/2006/relationships/slide" Target="slides/slide177.xml"/><Relationship Id="rId185" Type="http://schemas.openxmlformats.org/officeDocument/2006/relationships/slide" Target="slides/slide176.xml"/><Relationship Id="rId184" Type="http://schemas.openxmlformats.org/officeDocument/2006/relationships/slide" Target="slides/slide175.xml"/><Relationship Id="rId183" Type="http://schemas.openxmlformats.org/officeDocument/2006/relationships/slide" Target="slides/slide174.xml"/><Relationship Id="rId182" Type="http://schemas.openxmlformats.org/officeDocument/2006/relationships/slide" Target="slides/slide173.xml"/><Relationship Id="rId181" Type="http://schemas.openxmlformats.org/officeDocument/2006/relationships/slide" Target="slides/slide172.xml"/><Relationship Id="rId180" Type="http://schemas.openxmlformats.org/officeDocument/2006/relationships/slide" Target="slides/slide171.xml"/><Relationship Id="rId18" Type="http://schemas.openxmlformats.org/officeDocument/2006/relationships/slide" Target="slides/slide10.xml"/><Relationship Id="rId179" Type="http://schemas.openxmlformats.org/officeDocument/2006/relationships/slide" Target="slides/slide170.xml"/><Relationship Id="rId178" Type="http://schemas.openxmlformats.org/officeDocument/2006/relationships/slide" Target="slides/slide169.xml"/><Relationship Id="rId177" Type="http://schemas.openxmlformats.org/officeDocument/2006/relationships/slide" Target="slides/slide168.xml"/><Relationship Id="rId176" Type="http://schemas.openxmlformats.org/officeDocument/2006/relationships/slide" Target="slides/slide167.xml"/><Relationship Id="rId175" Type="http://schemas.openxmlformats.org/officeDocument/2006/relationships/slide" Target="slides/slide166.xml"/><Relationship Id="rId174" Type="http://schemas.openxmlformats.org/officeDocument/2006/relationships/slide" Target="slides/slide165.xml"/><Relationship Id="rId173" Type="http://schemas.openxmlformats.org/officeDocument/2006/relationships/slide" Target="slides/slide164.xml"/><Relationship Id="rId172" Type="http://schemas.openxmlformats.org/officeDocument/2006/relationships/slide" Target="slides/slide163.xml"/><Relationship Id="rId171" Type="http://schemas.openxmlformats.org/officeDocument/2006/relationships/slide" Target="slides/slide162.xml"/><Relationship Id="rId170" Type="http://schemas.openxmlformats.org/officeDocument/2006/relationships/slide" Target="slides/slide161.xml"/><Relationship Id="rId17" Type="http://schemas.openxmlformats.org/officeDocument/2006/relationships/slide" Target="slides/slide9.xml"/><Relationship Id="rId169" Type="http://schemas.openxmlformats.org/officeDocument/2006/relationships/slide" Target="slides/slide160.xml"/><Relationship Id="rId168" Type="http://schemas.openxmlformats.org/officeDocument/2006/relationships/slide" Target="slides/slide159.xml"/><Relationship Id="rId167" Type="http://schemas.openxmlformats.org/officeDocument/2006/relationships/slide" Target="slides/slide158.xml"/><Relationship Id="rId166" Type="http://schemas.openxmlformats.org/officeDocument/2006/relationships/slide" Target="slides/slide157.xml"/><Relationship Id="rId165" Type="http://schemas.openxmlformats.org/officeDocument/2006/relationships/slide" Target="slides/slide156.xml"/><Relationship Id="rId164" Type="http://schemas.openxmlformats.org/officeDocument/2006/relationships/slide" Target="slides/slide155.xml"/><Relationship Id="rId163" Type="http://schemas.openxmlformats.org/officeDocument/2006/relationships/slide" Target="slides/slide154.xml"/><Relationship Id="rId162" Type="http://schemas.openxmlformats.org/officeDocument/2006/relationships/slide" Target="slides/slide153.xml"/><Relationship Id="rId161" Type="http://schemas.openxmlformats.org/officeDocument/2006/relationships/slide" Target="slides/slide152.xml"/><Relationship Id="rId160" Type="http://schemas.openxmlformats.org/officeDocument/2006/relationships/slide" Target="slides/slide151.xml"/><Relationship Id="rId16" Type="http://schemas.openxmlformats.org/officeDocument/2006/relationships/slide" Target="slides/slide8.xml"/><Relationship Id="rId159" Type="http://schemas.openxmlformats.org/officeDocument/2006/relationships/slide" Target="slides/slide150.xml"/><Relationship Id="rId158" Type="http://schemas.openxmlformats.org/officeDocument/2006/relationships/slide" Target="slides/slide149.xml"/><Relationship Id="rId157" Type="http://schemas.openxmlformats.org/officeDocument/2006/relationships/slide" Target="slides/slide148.xml"/><Relationship Id="rId156" Type="http://schemas.openxmlformats.org/officeDocument/2006/relationships/slide" Target="slides/slide147.xml"/><Relationship Id="rId155" Type="http://schemas.openxmlformats.org/officeDocument/2006/relationships/slide" Target="slides/slide146.xml"/><Relationship Id="rId154" Type="http://schemas.openxmlformats.org/officeDocument/2006/relationships/slide" Target="slides/slide145.xml"/><Relationship Id="rId153" Type="http://schemas.openxmlformats.org/officeDocument/2006/relationships/slide" Target="slides/slide144.xml"/><Relationship Id="rId152" Type="http://schemas.openxmlformats.org/officeDocument/2006/relationships/slide" Target="slides/slide143.xml"/><Relationship Id="rId151" Type="http://schemas.openxmlformats.org/officeDocument/2006/relationships/slide" Target="slides/slide142.xml"/><Relationship Id="rId150" Type="http://schemas.openxmlformats.org/officeDocument/2006/relationships/slide" Target="slides/slide141.xml"/><Relationship Id="rId15" Type="http://schemas.openxmlformats.org/officeDocument/2006/relationships/slide" Target="slides/slide7.xml"/><Relationship Id="rId149" Type="http://schemas.openxmlformats.org/officeDocument/2006/relationships/slide" Target="slides/slide140.xml"/><Relationship Id="rId148" Type="http://schemas.openxmlformats.org/officeDocument/2006/relationships/slide" Target="slides/slide139.xml"/><Relationship Id="rId147" Type="http://schemas.openxmlformats.org/officeDocument/2006/relationships/slide" Target="slides/slide138.xml"/><Relationship Id="rId146" Type="http://schemas.openxmlformats.org/officeDocument/2006/relationships/slide" Target="slides/slide137.xml"/><Relationship Id="rId145" Type="http://schemas.openxmlformats.org/officeDocument/2006/relationships/slide" Target="slides/slide136.xml"/><Relationship Id="rId144" Type="http://schemas.openxmlformats.org/officeDocument/2006/relationships/slide" Target="slides/slide135.xml"/><Relationship Id="rId143" Type="http://schemas.openxmlformats.org/officeDocument/2006/relationships/slide" Target="slides/slide134.xml"/><Relationship Id="rId142" Type="http://schemas.openxmlformats.org/officeDocument/2006/relationships/slide" Target="slides/slide133.xml"/><Relationship Id="rId141" Type="http://schemas.openxmlformats.org/officeDocument/2006/relationships/slide" Target="slides/slide132.xml"/><Relationship Id="rId140" Type="http://schemas.openxmlformats.org/officeDocument/2006/relationships/slide" Target="slides/slide131.xml"/><Relationship Id="rId14" Type="http://schemas.openxmlformats.org/officeDocument/2006/relationships/slide" Target="slides/slide6.xml"/><Relationship Id="rId139" Type="http://schemas.openxmlformats.org/officeDocument/2006/relationships/slide" Target="slides/slide130.xml"/><Relationship Id="rId138" Type="http://schemas.openxmlformats.org/officeDocument/2006/relationships/slide" Target="slides/slide129.xml"/><Relationship Id="rId137" Type="http://schemas.openxmlformats.org/officeDocument/2006/relationships/slide" Target="slides/slide128.xml"/><Relationship Id="rId136" Type="http://schemas.openxmlformats.org/officeDocument/2006/relationships/slide" Target="slides/slide127.xml"/><Relationship Id="rId135" Type="http://schemas.openxmlformats.org/officeDocument/2006/relationships/slide" Target="slides/slide126.xml"/><Relationship Id="rId134" Type="http://schemas.openxmlformats.org/officeDocument/2006/relationships/slide" Target="slides/slide125.xml"/><Relationship Id="rId133" Type="http://schemas.openxmlformats.org/officeDocument/2006/relationships/slide" Target="slides/slide124.xml"/><Relationship Id="rId132" Type="http://schemas.openxmlformats.org/officeDocument/2006/relationships/slide" Target="slides/slide123.xml"/><Relationship Id="rId131" Type="http://schemas.openxmlformats.org/officeDocument/2006/relationships/slide" Target="slides/slide122.xml"/><Relationship Id="rId130" Type="http://schemas.openxmlformats.org/officeDocument/2006/relationships/slide" Target="slides/slide121.xml"/><Relationship Id="rId13" Type="http://schemas.openxmlformats.org/officeDocument/2006/relationships/slide" Target="slides/slide5.xml"/><Relationship Id="rId129" Type="http://schemas.openxmlformats.org/officeDocument/2006/relationships/slide" Target="slides/slide120.xml"/><Relationship Id="rId128" Type="http://schemas.openxmlformats.org/officeDocument/2006/relationships/slide" Target="slides/slide119.xml"/><Relationship Id="rId127" Type="http://schemas.openxmlformats.org/officeDocument/2006/relationships/slide" Target="slides/slide118.xml"/><Relationship Id="rId126" Type="http://schemas.openxmlformats.org/officeDocument/2006/relationships/slide" Target="slides/slide117.xml"/><Relationship Id="rId125" Type="http://schemas.openxmlformats.org/officeDocument/2006/relationships/slide" Target="slides/slide116.xml"/><Relationship Id="rId124" Type="http://schemas.openxmlformats.org/officeDocument/2006/relationships/slide" Target="slides/slide115.xml"/><Relationship Id="rId123" Type="http://schemas.openxmlformats.org/officeDocument/2006/relationships/slide" Target="slides/slide114.xml"/><Relationship Id="rId122" Type="http://schemas.openxmlformats.org/officeDocument/2006/relationships/slide" Target="slides/slide113.xml"/><Relationship Id="rId121" Type="http://schemas.openxmlformats.org/officeDocument/2006/relationships/slide" Target="slides/slide112.xml"/><Relationship Id="rId120" Type="http://schemas.openxmlformats.org/officeDocument/2006/relationships/slide" Target="slides/slide111.xml"/><Relationship Id="rId12" Type="http://schemas.openxmlformats.org/officeDocument/2006/relationships/slide" Target="slides/slide4.xml"/><Relationship Id="rId119" Type="http://schemas.openxmlformats.org/officeDocument/2006/relationships/slide" Target="slides/slide110.xml"/><Relationship Id="rId118" Type="http://schemas.openxmlformats.org/officeDocument/2006/relationships/slide" Target="slides/slide109.xml"/><Relationship Id="rId117" Type="http://schemas.openxmlformats.org/officeDocument/2006/relationships/slide" Target="slides/slide108.xml"/><Relationship Id="rId116" Type="http://schemas.openxmlformats.org/officeDocument/2006/relationships/slide" Target="slides/slide107.xml"/><Relationship Id="rId115" Type="http://schemas.openxmlformats.org/officeDocument/2006/relationships/slide" Target="slides/slide106.xml"/><Relationship Id="rId114" Type="http://schemas.openxmlformats.org/officeDocument/2006/relationships/slide" Target="slides/slide105.xml"/><Relationship Id="rId113" Type="http://schemas.openxmlformats.org/officeDocument/2006/relationships/slide" Target="slides/slide104.xml"/><Relationship Id="rId112" Type="http://schemas.openxmlformats.org/officeDocument/2006/relationships/slide" Target="slides/slide103.xml"/><Relationship Id="rId111" Type="http://schemas.openxmlformats.org/officeDocument/2006/relationships/slide" Target="slides/slide102.xml"/><Relationship Id="rId110" Type="http://schemas.openxmlformats.org/officeDocument/2006/relationships/slide" Target="slides/slide101.xml"/><Relationship Id="rId11" Type="http://schemas.openxmlformats.org/officeDocument/2006/relationships/slide" Target="slides/slide3.xml"/><Relationship Id="rId109" Type="http://schemas.openxmlformats.org/officeDocument/2006/relationships/slide" Target="slides/slide100.xml"/><Relationship Id="rId108" Type="http://schemas.openxmlformats.org/officeDocument/2006/relationships/slide" Target="slides/slide99.xml"/><Relationship Id="rId107" Type="http://schemas.openxmlformats.org/officeDocument/2006/relationships/slide" Target="slides/slide98.xml"/><Relationship Id="rId106" Type="http://schemas.openxmlformats.org/officeDocument/2006/relationships/slide" Target="slides/slide97.xml"/><Relationship Id="rId105" Type="http://schemas.openxmlformats.org/officeDocument/2006/relationships/slide" Target="slides/slide96.xml"/><Relationship Id="rId104" Type="http://schemas.openxmlformats.org/officeDocument/2006/relationships/slide" Target="slides/slide95.xml"/><Relationship Id="rId103" Type="http://schemas.openxmlformats.org/officeDocument/2006/relationships/slide" Target="slides/slide94.xml"/><Relationship Id="rId102" Type="http://schemas.openxmlformats.org/officeDocument/2006/relationships/slide" Target="slides/slide93.xml"/><Relationship Id="rId101" Type="http://schemas.openxmlformats.org/officeDocument/2006/relationships/slide" Target="slides/slide92.xml"/><Relationship Id="rId100" Type="http://schemas.openxmlformats.org/officeDocument/2006/relationships/slide" Target="slides/slide91.xml"/><Relationship Id="rId10" Type="http://schemas.openxmlformats.org/officeDocument/2006/relationships/slide" Target="slides/slide2.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noProof="1">
                <a:ea typeface="楷体_GB2312" pitchFamily="1" charset="-122"/>
                <a:cs typeface="+mn-cs"/>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楷体_GB2312" pitchFamily="1" charset="-122"/>
              <a:cs typeface="+mn-cs"/>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buFont typeface="Arial" panose="020B0604020202020204" pitchFamily="34" charset="0"/>
              <a:buNone/>
              <a:defRPr sz="1200" noProof="1">
                <a:latin typeface="Arial" panose="020B0604020202020204" pitchFamily="34" charset="0"/>
                <a:ea typeface="楷体_GB2312" pitchFamily="1" charset="-122"/>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DAE35F1-B89D-4A5B-93B8-391F1FC8D1E6}" type="datetimeFigureOut">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楷体_GB2312" pitchFamily="1" charset="-122"/>
                <a:cs typeface="+mn-ea"/>
              </a:rPr>
            </a:fld>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楷体_GB2312" pitchFamily="1" charset="-122"/>
              <a:cs typeface="+mn-ea"/>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ea typeface="楷体_GB2312" pitchFamily="1" charset="-122"/>
                <a:cs typeface="+mn-cs"/>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楷体_GB2312" pitchFamily="1" charset="-122"/>
              <a:cs typeface="+mn-cs"/>
            </a:endParaRPr>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eaLnBrk="1" hangingPunct="1">
              <a:buFont typeface="Arial" panose="020B0604020202020204" pitchFamily="34" charset="0"/>
              <a:buNone/>
              <a:defRPr sz="1200" noProof="1">
                <a:latin typeface="Arial" panose="020B0604020202020204" pitchFamily="34" charset="0"/>
                <a:ea typeface="楷体_GB2312" pitchFamily="1" charset="-122"/>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1EE1B65-868F-4FD1-8F48-24D1FAFDE24C}" type="slidenum">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楷体_GB2312" pitchFamily="1" charset="-122"/>
                <a:cs typeface="+mn-ea"/>
              </a:rPr>
            </a:fld>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楷体_GB2312" pitchFamily="1"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页眉占位符 1"/>
          <p:cNvSpPr>
            <a:spLocks noGrp="1"/>
          </p:cNvSpPr>
          <p:nvPr>
            <p:ph type="hdr" sz="quarter"/>
          </p:nvPr>
        </p:nvSpPr>
        <p:spPr>
          <a:xfrm>
            <a:off x="0" y="0"/>
            <a:ext cx="2970213" cy="458788"/>
          </a:xfrm>
          <a:prstGeom prst="rect">
            <a:avLst/>
          </a:prstGeom>
          <a:noFill/>
          <a:ln w="9525">
            <a:noFill/>
            <a:miter/>
          </a:ln>
        </p:spPr>
        <p:txBody>
          <a:bodyPr anchor="t"/>
          <a:lstStyle>
            <a:lvl1pPr eaLnBrk="1" hangingPunct="1">
              <a:buFont typeface="Arial" panose="020B0604020202020204" pitchFamily="34" charset="0"/>
              <a:buNone/>
              <a:defRPr sz="1200" noProof="1">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5" name="日期占位符 2"/>
          <p:cNvSpPr>
            <a:spLocks noGrp="1"/>
          </p:cNvSpPr>
          <p:nvPr>
            <p:ph type="dt"/>
          </p:nvPr>
        </p:nvSpPr>
        <p:spPr>
          <a:xfrm>
            <a:off x="3883025" y="0"/>
            <a:ext cx="2973388" cy="458788"/>
          </a:xfrm>
          <a:prstGeom prst="rect">
            <a:avLst/>
          </a:prstGeom>
          <a:noFill/>
          <a:ln w="9525">
            <a:noFill/>
            <a:miter/>
          </a:ln>
        </p:spPr>
        <p:txBody>
          <a:bodyPr anchor="t"/>
          <a:lstStyle>
            <a:lvl1pPr algn="r" eaLnBrk="1" hangingPunct="1">
              <a:buFont typeface="Arial" panose="020B0604020202020204" pitchFamily="34" charset="0"/>
              <a:buNone/>
              <a:defRPr sz="1200" noProof="1">
                <a:latin typeface="Arial" panose="020B0604020202020204" pitchFamily="34" charset="0"/>
                <a:ea typeface="宋体" panose="02010600030101010101" pitchFamily="2" charset="-122"/>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4B7EC44-04D0-4241-98B4-8E543FC5BED0}" type="datetimeFigureOut">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7044" name="幻灯片图像占位符 3"/>
          <p:cNvSpPr>
            <a:spLocks noGrp="1"/>
          </p:cNvSpPr>
          <p:nvPr>
            <p:ph type="sldImg"/>
          </p:nvPr>
        </p:nvSpPr>
        <p:spPr>
          <a:xfrm>
            <a:off x="1371600" y="1143000"/>
            <a:ext cx="4114800" cy="3086100"/>
          </a:xfrm>
          <a:prstGeom prst="rect">
            <a:avLst/>
          </a:prstGeom>
          <a:noFill/>
          <a:ln w="9525">
            <a:noFill/>
          </a:ln>
        </p:spPr>
      </p:sp>
      <p:sp>
        <p:nvSpPr>
          <p:cNvPr id="9221" name="备注占位符 4"/>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8" name="页脚占位符 5"/>
          <p:cNvSpPr>
            <a:spLocks noGrp="1"/>
          </p:cNvSpPr>
          <p:nvPr>
            <p:ph type="ftr" sz="quarter"/>
          </p:nvPr>
        </p:nvSpPr>
        <p:spPr>
          <a:xfrm>
            <a:off x="0" y="8685213"/>
            <a:ext cx="2970213" cy="458788"/>
          </a:xfrm>
          <a:prstGeom prst="rect">
            <a:avLst/>
          </a:prstGeom>
          <a:noFill/>
          <a:ln w="9525">
            <a:noFill/>
            <a:miter/>
          </a:ln>
        </p:spPr>
        <p:txBody>
          <a:bodyPr anchor="b"/>
          <a:lstStyle>
            <a:lvl1pPr eaLnBrk="1" hangingPunct="1">
              <a:buFont typeface="Arial" panose="020B0604020202020204" pitchFamily="34" charset="0"/>
              <a:buNone/>
              <a:defRPr sz="1200" noProof="1">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9" name="灯片编号占位符 6"/>
          <p:cNvSpPr>
            <a:spLocks noGrp="1"/>
          </p:cNvSpPr>
          <p:nvPr>
            <p:ph type="sldNum" sz="quarter"/>
          </p:nvPr>
        </p:nvSpPr>
        <p:spPr>
          <a:xfrm>
            <a:off x="3883025" y="8685213"/>
            <a:ext cx="2973388" cy="458788"/>
          </a:xfrm>
          <a:prstGeom prst="rect">
            <a:avLst/>
          </a:prstGeom>
          <a:noFill/>
          <a:ln w="9525">
            <a:noFill/>
            <a:miter/>
          </a:ln>
        </p:spPr>
        <p:txBody>
          <a:bodyPr anchor="b"/>
          <a:lstStyle>
            <a:lvl1pPr algn="r" eaLnBrk="1" hangingPunct="1">
              <a:buFont typeface="Arial" panose="020B0604020202020204" pitchFamily="34" charset="0"/>
              <a:buNone/>
              <a:defRPr sz="1200" noProof="1">
                <a:latin typeface="Arial" panose="020B0604020202020204" pitchFamily="34" charset="0"/>
                <a:ea typeface="宋体" panose="02010600030101010101" pitchFamily="2" charset="-122"/>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CB65F3-817F-445C-B6B3-ECC798EA694A}" type="slidenum">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lvl="1"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lvl="2"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lvl="3"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lvl="4"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lvl="5"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幻灯片图像占位符 1"/>
          <p:cNvSpPr>
            <a:spLocks noGrp="1" noRot="1" noChangeAspect="1" noTextEdit="1"/>
          </p:cNvSpPr>
          <p:nvPr>
            <p:ph type="sldImg"/>
          </p:nvPr>
        </p:nvSpPr>
        <p:spPr/>
      </p:sp>
      <p:sp>
        <p:nvSpPr>
          <p:cNvPr id="167939" name="备注占位符 2"/>
          <p:cNvSpPr>
            <a:spLocks noGrp="1"/>
          </p:cNvSpPr>
          <p:nvPr>
            <p:ph type="body" idx="1"/>
          </p:nvPr>
        </p:nvSpPr>
        <p:spPr/>
        <p:txBody>
          <a:bodyPr wrap="square" lIns="91440" tIns="45720" rIns="91440" bIns="45720" anchor="ctr" anchorCtr="0"/>
          <a:p>
            <a:pPr lvl="0"/>
            <a:r>
              <a:rPr lang="zh-CN" altLang="en-US" dirty="0"/>
              <a:t>第一个</a:t>
            </a:r>
            <a:r>
              <a:rPr lang="en-US" altLang="zh-CN" dirty="0"/>
              <a:t>INTA</a:t>
            </a:r>
            <a:r>
              <a:rPr lang="zh-CN" altLang="en-US" dirty="0"/>
              <a:t>告诉</a:t>
            </a:r>
            <a:r>
              <a:rPr lang="en-US" altLang="zh-CN" dirty="0"/>
              <a:t>8259</a:t>
            </a:r>
            <a:r>
              <a:rPr lang="zh-CN" altLang="en-US" dirty="0"/>
              <a:t>已经收到中断请求，并通知</a:t>
            </a:r>
            <a:r>
              <a:rPr lang="en-US" altLang="zh-CN" dirty="0"/>
              <a:t>8259</a:t>
            </a:r>
            <a:r>
              <a:rPr lang="zh-CN" altLang="en-US" dirty="0"/>
              <a:t>准备好中断类型码</a:t>
            </a:r>
            <a:endParaRPr lang="en-US" altLang="zh-CN" dirty="0"/>
          </a:p>
          <a:p>
            <a:pPr lvl="0"/>
            <a:r>
              <a:rPr lang="zh-CN" altLang="en-US" dirty="0"/>
              <a:t>第二个</a:t>
            </a:r>
            <a:r>
              <a:rPr lang="en-US" altLang="zh-CN" dirty="0"/>
              <a:t>INTA</a:t>
            </a:r>
            <a:r>
              <a:rPr lang="zh-CN" altLang="en-US" dirty="0"/>
              <a:t>时，</a:t>
            </a:r>
            <a:r>
              <a:rPr lang="en-US" altLang="zh-CN" dirty="0"/>
              <a:t>8259</a:t>
            </a:r>
            <a:r>
              <a:rPr lang="zh-CN" altLang="en-US" dirty="0"/>
              <a:t>通过数据总线将中断类型码给</a:t>
            </a:r>
            <a:r>
              <a:rPr lang="en-US" altLang="zh-CN" dirty="0"/>
              <a:t>CPU</a:t>
            </a:r>
            <a:r>
              <a:rPr lang="zh-CN" altLang="en-US" dirty="0"/>
              <a:t>，</a:t>
            </a:r>
            <a:r>
              <a:rPr lang="en-US" altLang="zh-CN" dirty="0"/>
              <a:t>CPU</a:t>
            </a:r>
            <a:r>
              <a:rPr lang="zh-CN" altLang="en-US" dirty="0"/>
              <a:t>转入中断服务程序</a:t>
            </a:r>
            <a:endParaRPr lang="zh-CN" altLang="en-US" dirty="0"/>
          </a:p>
        </p:txBody>
      </p:sp>
      <p:sp>
        <p:nvSpPr>
          <p:cNvPr id="4" name="灯片编号占位符 3"/>
          <p:cNvSpPr txBox="1">
            <a:spLocks noGrp="1"/>
          </p:cNvSpPr>
          <p:nvPr>
            <p:ph type="sldNum" sz="quarter"/>
          </p:nvPr>
        </p:nvSpPr>
        <p:spPr/>
        <p:txBody>
          <a:bodyPr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5AE4E23-E283-491B-970F-9FE913DFD2B5}" type="slidenum">
              <a:rPr kumimoji="0" lang="zh-CN" altLang="en-US" sz="1200" b="0" i="0" u="none" strike="noStrike" kern="1200" cap="none" spc="0" normalizeH="0" baseline="0" noProof="1" smtClean="0">
                <a:ln>
                  <a:noFill/>
                </a:ln>
                <a:solidFill>
                  <a:schemeClr val="tx1"/>
                </a:solidFill>
                <a:effectLst/>
                <a:uLnTx/>
                <a:uFillTx/>
                <a:latin typeface="Arial" panose="020B060402020202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a:t>虽然响应中断时的“关中断”是硬件包办的，但在编写中断服务程序（</a:t>
            </a:r>
            <a:r>
              <a:rPr lang="en-US" altLang="zh-CN"/>
              <a:t>ISR）</a:t>
            </a:r>
            <a:r>
              <a:rPr lang="zh-CN" altLang="en-US"/>
              <a:t>的代码时，程序员依然会用到开/关中断指令（如 </a:t>
            </a:r>
            <a:r>
              <a:rPr lang="en-US" altLang="zh-CN"/>
              <a:t>x86 </a:t>
            </a:r>
            <a:r>
              <a:rPr lang="zh-CN" altLang="en-US"/>
              <a:t>架构中的 </a:t>
            </a:r>
            <a:r>
              <a:rPr lang="en-US" altLang="zh-CN"/>
              <a:t>STI </a:t>
            </a:r>
            <a:r>
              <a:rPr lang="zh-CN" altLang="en-US"/>
              <a:t>和 </a:t>
            </a:r>
            <a:r>
              <a:rPr lang="en-US" altLang="zh-CN"/>
              <a:t>CLI），</a:t>
            </a:r>
            <a:r>
              <a:rPr lang="zh-CN" altLang="en-US"/>
              <a:t>但它们的用途不同：</a:t>
            </a:r>
            <a:endParaRPr lang="zh-CN" altLang="en-US"/>
          </a:p>
          <a:p>
            <a:r>
              <a:rPr lang="zh-CN" altLang="en-US"/>
              <a:t>手动开中断（</a:t>
            </a:r>
            <a:r>
              <a:rPr lang="en-US" altLang="zh-CN"/>
              <a:t>STI）：</a:t>
            </a:r>
            <a:r>
              <a:rPr lang="zh-CN" altLang="en-US"/>
              <a:t>如果你希望实现中断嵌套（即允许优先级更高的中断来打断当前的中断处理程序），就需要在中断服务程序的代码里，手动执行一条开中断指令。</a:t>
            </a:r>
            <a:endParaRPr lang="zh-CN" altLang="en-US"/>
          </a:p>
          <a:p>
            <a:r>
              <a:rPr lang="zh-CN" altLang="en-US"/>
              <a:t>手动关中断（</a:t>
            </a:r>
            <a:r>
              <a:rPr lang="en-US" altLang="zh-CN"/>
              <a:t>CLI）：</a:t>
            </a:r>
            <a:r>
              <a:rPr lang="zh-CN" altLang="en-US"/>
              <a:t>在某些绝对不能被打扰的临界区代码段，程序员也会主动插入关中断指令来确保绝对安全。</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201730" name="Rectangle 2"/>
          <p:cNvSpPr>
            <a:spLocks noGrp="1" noTextEdit="1"/>
          </p:cNvSpPr>
          <p:nvPr>
            <p:ph type="sldImg"/>
          </p:nvPr>
        </p:nvSpPr>
        <p:spPr/>
      </p:sp>
      <p:sp>
        <p:nvSpPr>
          <p:cNvPr id="201731" name="Rectangle 3"/>
          <p:cNvSpPr>
            <a:spLocks noGrp="1"/>
          </p:cNvSpPr>
          <p:nvPr>
            <p:ph type="body"/>
          </p:nvPr>
        </p:nvSpPr>
        <p:spPr/>
        <p:txBody>
          <a:bodyPr wrap="square" lIns="91440" tIns="45720" rIns="91440" bIns="45720" anchor="ctr" anchorCtr="0"/>
          <a:p>
            <a:pPr lvl="0"/>
            <a:r>
              <a:rPr lang="en-US" altLang="zh-CN" dirty="0"/>
              <a:t>BUF(ICW4</a:t>
            </a:r>
            <a:r>
              <a:rPr lang="zh-CN" altLang="en-US" dirty="0"/>
              <a:t>的</a:t>
            </a:r>
            <a:r>
              <a:rPr lang="en-US" altLang="zh-CN" dirty="0"/>
              <a:t>D3)</a:t>
            </a:r>
            <a:r>
              <a:rPr lang="zh-CN" altLang="en-US" dirty="0"/>
              <a:t>用来指示</a:t>
            </a:r>
            <a:r>
              <a:rPr lang="en-US" altLang="zh-CN" dirty="0"/>
              <a:t>8259</a:t>
            </a:r>
            <a:r>
              <a:rPr lang="zh-CN" altLang="en-US" dirty="0"/>
              <a:t>的数据线</a:t>
            </a:r>
            <a:r>
              <a:rPr lang="en-US" altLang="zh-CN" dirty="0"/>
              <a:t>D0-D7</a:t>
            </a:r>
            <a:r>
              <a:rPr lang="zh-CN" altLang="en-US" dirty="0"/>
              <a:t>与系统总线</a:t>
            </a:r>
            <a:r>
              <a:rPr lang="en-US" altLang="zh-CN" dirty="0"/>
              <a:t>D0-D7</a:t>
            </a:r>
            <a:r>
              <a:rPr lang="zh-CN" altLang="en-US" dirty="0"/>
              <a:t>连接中间有无缓冲器。如果有缓冲器，则在中断响应过程中应打开缓冲器，保证在这时传送中断向量码。而在对</a:t>
            </a:r>
            <a:r>
              <a:rPr lang="en-US" altLang="zh-CN" dirty="0"/>
              <a:t>8259</a:t>
            </a:r>
            <a:r>
              <a:rPr lang="zh-CN" altLang="en-US" dirty="0"/>
              <a:t>编程时，又能保证数据正确地写入</a:t>
            </a:r>
            <a:r>
              <a:rPr lang="en-US" altLang="zh-CN" dirty="0"/>
              <a:t>8259.</a:t>
            </a:r>
            <a:r>
              <a:rPr lang="zh-CN" altLang="en-US" dirty="0"/>
              <a:t>这时，可用</a:t>
            </a:r>
            <a:r>
              <a:rPr lang="en-US" altLang="zh-CN" dirty="0"/>
              <a:t>8259 </a:t>
            </a:r>
            <a:r>
              <a:rPr lang="zh-CN" altLang="en-US" dirty="0"/>
              <a:t>的</a:t>
            </a:r>
            <a:r>
              <a:rPr lang="en-US" altLang="zh-CN" dirty="0"/>
              <a:t>#SP/#EN</a:t>
            </a:r>
            <a:r>
              <a:rPr lang="zh-CN" altLang="en-US" dirty="0"/>
              <a:t>信号输出作为控制信号。在非缓冲方式下， </a:t>
            </a:r>
            <a:r>
              <a:rPr lang="en-US" altLang="zh-CN" dirty="0"/>
              <a:t>#SP/#EN</a:t>
            </a:r>
            <a:r>
              <a:rPr lang="zh-CN" altLang="en-US" dirty="0"/>
              <a:t>用来指定本</a:t>
            </a:r>
            <a:r>
              <a:rPr lang="en-US" altLang="zh-CN" dirty="0"/>
              <a:t>8259</a:t>
            </a:r>
            <a:r>
              <a:rPr lang="zh-CN" altLang="en-US" dirty="0"/>
              <a:t>是主控芯片还是从属芯片。当</a:t>
            </a:r>
            <a:r>
              <a:rPr lang="en-US" altLang="zh-CN" dirty="0"/>
              <a:t>#SP=1</a:t>
            </a:r>
            <a:r>
              <a:rPr lang="zh-CN" altLang="en-US" dirty="0"/>
              <a:t>为主片；</a:t>
            </a:r>
            <a:r>
              <a:rPr lang="en-US" altLang="zh-CN" dirty="0"/>
              <a:t>#SP=0</a:t>
            </a:r>
            <a:r>
              <a:rPr lang="zh-CN" altLang="en-US" dirty="0"/>
              <a:t>为从属片。</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a:t>在 8259</a:t>
            </a:r>
            <a:r>
              <a:rPr lang="en-US" altLang="zh-CN"/>
              <a:t>A </a:t>
            </a:r>
            <a:r>
              <a:rPr lang="zh-CN" altLang="en-US"/>
              <a:t>的固定优先级方式中，默认的优先级顺序（</a:t>
            </a:r>
            <a:r>
              <a:rPr lang="en-US" altLang="zh-CN"/>
              <a:t>IR0 &gt; IR1 &gt; ... &gt; IR7）</a:t>
            </a:r>
            <a:r>
              <a:rPr lang="zh-CN" altLang="en-US"/>
              <a:t>是可以编程改变的。</a:t>
            </a:r>
            <a:endParaRPr lang="zh-CN" altLang="en-US"/>
          </a:p>
          <a:p>
            <a:r>
              <a:rPr lang="zh-CN" altLang="en-US"/>
              <a:t>虽然它被称为“固定”优先级，但这里的“固定”指的是一旦设定好之后，在执行过程中不会像循环优先级那样自动改变。你完全可以通过软件编程来重新定义这个初始的优先级顺序。</a:t>
            </a:r>
            <a:endParaRPr lang="zh-CN" altLang="en-US"/>
          </a:p>
          <a:p>
            <a:r>
              <a:rPr lang="zh-CN" altLang="en-US"/>
              <a:t>具体来说，这种改变通常是通过向 8259</a:t>
            </a:r>
            <a:r>
              <a:rPr lang="en-US" altLang="zh-CN"/>
              <a:t>A </a:t>
            </a:r>
            <a:r>
              <a:rPr lang="zh-CN" altLang="en-US"/>
              <a:t>写入特定的操作命令字（</a:t>
            </a:r>
            <a:r>
              <a:rPr lang="en-US" altLang="zh-CN"/>
              <a:t>OCW）</a:t>
            </a:r>
            <a:r>
              <a:rPr lang="zh-CN" altLang="en-US"/>
              <a:t>来实现的：</a:t>
            </a:r>
            <a:endParaRPr lang="zh-CN" altLang="en-US"/>
          </a:p>
          <a:p>
            <a:r>
              <a:rPr lang="zh-CN" altLang="en-US"/>
              <a:t>指定最低优先级：你可以使用操作命令字 </a:t>
            </a:r>
            <a:r>
              <a:rPr lang="en-US" altLang="zh-CN"/>
              <a:t>OCW2 </a:t>
            </a:r>
            <a:r>
              <a:rPr lang="zh-CN" altLang="en-US"/>
              <a:t>来人为地指定某个中断请求（</a:t>
            </a:r>
            <a:r>
              <a:rPr lang="en-US" altLang="zh-CN"/>
              <a:t>IRi）</a:t>
            </a:r>
            <a:r>
              <a:rPr lang="zh-CN" altLang="en-US"/>
              <a:t>为当前的最低优先级。</a:t>
            </a:r>
            <a:endParaRPr lang="zh-CN" altLang="en-US"/>
          </a:p>
          <a:p>
            <a:r>
              <a:rPr lang="zh-CN" altLang="en-US"/>
              <a:t>推导整体顺序：一旦指定了最低优先级，其他的优先级就会按照固定的物理顺序依次顺延。例如，默认情况下 </a:t>
            </a:r>
            <a:r>
              <a:rPr lang="en-US" altLang="zh-CN"/>
              <a:t>IR0 </a:t>
            </a:r>
            <a:r>
              <a:rPr lang="zh-CN" altLang="en-US"/>
              <a:t>最高、</a:t>
            </a:r>
            <a:r>
              <a:rPr lang="en-US" altLang="zh-CN"/>
              <a:t>IR7 </a:t>
            </a:r>
            <a:r>
              <a:rPr lang="zh-CN" altLang="en-US"/>
              <a:t>最低；如果你通过编程将 </a:t>
            </a:r>
            <a:r>
              <a:rPr lang="en-US" altLang="zh-CN"/>
              <a:t>IR4 </a:t>
            </a:r>
            <a:r>
              <a:rPr lang="zh-CN" altLang="en-US"/>
              <a:t>设为最低优先级，那么新的固定优先级顺序就会变成：</a:t>
            </a:r>
            <a:r>
              <a:rPr lang="en-US" altLang="zh-CN"/>
              <a:t>IR5 &gt; IR6 &gt; IR7 &gt; IR0 &gt; IR1 &gt; IR2 &gt; IR3 &gt; IR4。</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幻灯片图像占位符 1"/>
          <p:cNvSpPr>
            <a:spLocks noGrp="1" noRot="1" noChangeAspect="1" noTextEdit="1"/>
          </p:cNvSpPr>
          <p:nvPr>
            <p:ph type="sldImg"/>
          </p:nvPr>
        </p:nvSpPr>
        <p:spPr/>
      </p:sp>
      <p:sp>
        <p:nvSpPr>
          <p:cNvPr id="215043" name="备注占位符 2"/>
          <p:cNvSpPr>
            <a:spLocks noGrp="1"/>
          </p:cNvSpPr>
          <p:nvPr>
            <p:ph type="body" idx="1"/>
          </p:nvPr>
        </p:nvSpPr>
        <p:spPr/>
        <p:txBody>
          <a:bodyPr wrap="square" lIns="91440" tIns="45720" rIns="91440" bIns="45720" anchor="ctr" anchorCtr="0"/>
          <a:p>
            <a:pPr lvl="0"/>
            <a:r>
              <a:rPr lang="zh-CN" altLang="en-US" dirty="0"/>
              <a:t>自动结束方式：</a:t>
            </a:r>
            <a:endParaRPr lang="en-US" altLang="zh-CN" dirty="0"/>
          </a:p>
          <a:p>
            <a:pPr lvl="0"/>
            <a:r>
              <a:rPr lang="zh-CN" altLang="en-US" dirty="0"/>
              <a:t>当 </a:t>
            </a:r>
            <a:r>
              <a:rPr lang="en-US" altLang="zh-CN" dirty="0"/>
              <a:t>ICW4 </a:t>
            </a:r>
            <a:r>
              <a:rPr lang="zh-CN" altLang="en-US" dirty="0"/>
              <a:t>中的自动中断结束 </a:t>
            </a:r>
            <a:r>
              <a:rPr lang="en-US" altLang="zh-CN" dirty="0"/>
              <a:t>(AEOI) </a:t>
            </a:r>
            <a:r>
              <a:rPr lang="zh-CN" altLang="en-US" dirty="0"/>
              <a:t>比特位置位时，通过</a:t>
            </a:r>
            <a:r>
              <a:rPr lang="en-US" altLang="zh-CN" dirty="0"/>
              <a:t>CPU</a:t>
            </a:r>
            <a:r>
              <a:rPr lang="zh-CN" altLang="en-US" dirty="0"/>
              <a:t>发出的第二个中断响应信号</a:t>
            </a:r>
            <a:r>
              <a:rPr lang="en-US" altLang="zh-CN" dirty="0"/>
              <a:t>INTA</a:t>
            </a:r>
            <a:r>
              <a:rPr lang="zh-CN" altLang="en-US" dirty="0"/>
              <a:t>脉冲的后沿，将</a:t>
            </a:r>
            <a:r>
              <a:rPr lang="en-US" altLang="zh-CN" dirty="0"/>
              <a:t>ISR</a:t>
            </a:r>
            <a:r>
              <a:rPr lang="zh-CN" altLang="en-US" dirty="0"/>
              <a:t>中的中断服务标志位清除。这种中断服务结束方式是由硬件自动完成的。需要注意的是：</a:t>
            </a:r>
            <a:r>
              <a:rPr lang="en-US" altLang="zh-CN" dirty="0"/>
              <a:t>ISR</a:t>
            </a:r>
            <a:r>
              <a:rPr lang="zh-CN" altLang="en-US" dirty="0"/>
              <a:t>中为“</a:t>
            </a:r>
            <a:r>
              <a:rPr lang="en-US" altLang="zh-CN" dirty="0"/>
              <a:t>1”</a:t>
            </a:r>
            <a:r>
              <a:rPr lang="zh-CN" altLang="en-US" dirty="0"/>
              <a:t>位的清除是在中断响应过程中完成的，并非中断服务子程序的真正结束，因</a:t>
            </a:r>
            <a:r>
              <a:rPr lang="en-US" altLang="zh-CN" dirty="0"/>
              <a:t>8259A</a:t>
            </a:r>
            <a:r>
              <a:rPr lang="zh-CN" altLang="en-US" dirty="0"/>
              <a:t>并没有保存任何标志来表示当前服务尚未结束，此时，若有中断请求出现，且</a:t>
            </a:r>
            <a:r>
              <a:rPr lang="en-US" altLang="zh-CN" dirty="0"/>
              <a:t>IF</a:t>
            </a:r>
            <a:r>
              <a:rPr lang="zh-CN" altLang="en-US" dirty="0"/>
              <a:t>（</a:t>
            </a:r>
            <a:r>
              <a:rPr lang="en-US" altLang="zh-CN" dirty="0"/>
              <a:t>x86</a:t>
            </a:r>
            <a:r>
              <a:rPr lang="zh-CN" altLang="en-US" dirty="0"/>
              <a:t>的</a:t>
            </a:r>
            <a:r>
              <a:rPr lang="en-US" altLang="zh-CN" dirty="0"/>
              <a:t>EFLAGS</a:t>
            </a:r>
            <a:r>
              <a:rPr lang="zh-CN" altLang="en-US" dirty="0"/>
              <a:t>寄存器</a:t>
            </a:r>
            <a:r>
              <a:rPr lang="en-US" altLang="zh-CN" dirty="0"/>
              <a:t>b9</a:t>
            </a:r>
            <a:r>
              <a:rPr lang="zh-CN" altLang="en-US" dirty="0"/>
              <a:t>，中断允许位）＝</a:t>
            </a:r>
            <a:r>
              <a:rPr lang="en-US" altLang="zh-CN" dirty="0"/>
              <a:t>1</a:t>
            </a:r>
            <a:r>
              <a:rPr lang="zh-CN" altLang="en-US" dirty="0"/>
              <a:t>，则无论其优先级如何</a:t>
            </a:r>
            <a:r>
              <a:rPr lang="en-US" altLang="zh-CN" dirty="0"/>
              <a:t>(</a:t>
            </a:r>
            <a:r>
              <a:rPr lang="zh-CN" altLang="en-US" dirty="0"/>
              <a:t>比本级高、低或相同</a:t>
            </a:r>
            <a:r>
              <a:rPr lang="en-US" altLang="zh-CN" dirty="0"/>
              <a:t>)</a:t>
            </a:r>
            <a:r>
              <a:rPr lang="zh-CN" altLang="en-US" dirty="0"/>
              <a:t>，都将得到响应，尤其是当某一中断请求信号被</a:t>
            </a:r>
            <a:r>
              <a:rPr lang="en-US" altLang="zh-CN" dirty="0"/>
              <a:t>CPU</a:t>
            </a:r>
            <a:r>
              <a:rPr lang="zh-CN" altLang="en-US" dirty="0"/>
              <a:t>响应后，如不及时撤销，就会再次被响应（二次中断）。这样可能会打乱正在服务的程序。因此这种方式只适用在中断请求信号的持续时间有一定限制，且没有中断嵌套的场合。</a:t>
            </a:r>
            <a:endParaRPr lang="en-US" altLang="zh-CN" dirty="0"/>
          </a:p>
          <a:p>
            <a:pPr lvl="0"/>
            <a:r>
              <a:rPr lang="zh-CN" altLang="en-US" dirty="0"/>
              <a:t>普通结束方式：</a:t>
            </a:r>
            <a:endParaRPr lang="en-US" altLang="zh-CN" dirty="0"/>
          </a:p>
          <a:p>
            <a:pPr lvl="0"/>
            <a:r>
              <a:rPr lang="zh-CN" altLang="en-US" dirty="0"/>
              <a:t>通过在中断服务子程序中编程写入操作命令字</a:t>
            </a:r>
            <a:r>
              <a:rPr lang="en-US" altLang="zh-CN" dirty="0"/>
              <a:t>OCW2</a:t>
            </a:r>
            <a:r>
              <a:rPr lang="zh-CN" altLang="en-US" dirty="0"/>
              <a:t>，向</a:t>
            </a:r>
            <a:r>
              <a:rPr lang="en-US" altLang="zh-CN" dirty="0"/>
              <a:t>8259A</a:t>
            </a:r>
            <a:r>
              <a:rPr lang="zh-CN" altLang="en-US" dirty="0"/>
              <a:t>传送一个普通中断结束（</a:t>
            </a:r>
            <a:r>
              <a:rPr lang="en-US" altLang="zh-CN" dirty="0"/>
              <a:t>EOI</a:t>
            </a:r>
            <a:r>
              <a:rPr lang="zh-CN" altLang="en-US" dirty="0"/>
              <a:t>，</a:t>
            </a:r>
            <a:r>
              <a:rPr lang="en-US" altLang="zh-CN" dirty="0"/>
              <a:t>end of interrupt</a:t>
            </a:r>
            <a:r>
              <a:rPr lang="zh-CN" altLang="en-US" dirty="0"/>
              <a:t>）命令（命令中不指定要复位的中断级）来清除</a:t>
            </a:r>
            <a:r>
              <a:rPr lang="en-US" altLang="zh-CN" dirty="0"/>
              <a:t>ISR</a:t>
            </a:r>
            <a:r>
              <a:rPr lang="zh-CN" altLang="en-US" dirty="0"/>
              <a:t>中优先级别最高的置位。由于这种结束方式是清除</a:t>
            </a:r>
            <a:r>
              <a:rPr lang="en-US" altLang="zh-CN" dirty="0"/>
              <a:t>ISR</a:t>
            </a:r>
            <a:r>
              <a:rPr lang="zh-CN" altLang="en-US" dirty="0"/>
              <a:t>中优先权级别最高的那个置位，适合使用在完全嵌套方式下。因为在完全嵌套方式下，中断优先级是固定的，</a:t>
            </a:r>
            <a:r>
              <a:rPr lang="en-US" altLang="zh-CN" dirty="0"/>
              <a:t>8259A</a:t>
            </a:r>
            <a:r>
              <a:rPr lang="zh-CN" altLang="en-US" dirty="0"/>
              <a:t>总是响应优先级最高的中断，保存在</a:t>
            </a:r>
            <a:r>
              <a:rPr lang="en-US" altLang="zh-CN" dirty="0"/>
              <a:t>ISR</a:t>
            </a:r>
            <a:r>
              <a:rPr lang="zh-CN" altLang="en-US" dirty="0"/>
              <a:t>中的最高优先级的对应位，一定对应于正在执行的服务程序。</a:t>
            </a:r>
            <a:endParaRPr lang="en-US" altLang="zh-CN" dirty="0"/>
          </a:p>
          <a:p>
            <a:pPr lvl="0"/>
            <a:r>
              <a:rPr lang="zh-CN" altLang="en-US" dirty="0"/>
              <a:t>特殊结束方式：</a:t>
            </a:r>
            <a:endParaRPr lang="en-US" altLang="zh-CN" dirty="0"/>
          </a:p>
          <a:p>
            <a:pPr lvl="0"/>
            <a:r>
              <a:rPr lang="zh-CN" altLang="en-US" dirty="0"/>
              <a:t>通过在中断服务子程序中编程写入操作命令字</a:t>
            </a:r>
            <a:r>
              <a:rPr lang="en-US" altLang="zh-CN" dirty="0"/>
              <a:t>OCW2</a:t>
            </a:r>
            <a:r>
              <a:rPr lang="zh-CN" altLang="en-US" dirty="0"/>
              <a:t>，向</a:t>
            </a:r>
            <a:r>
              <a:rPr lang="en-US" altLang="zh-CN" dirty="0"/>
              <a:t>8259A</a:t>
            </a:r>
            <a:r>
              <a:rPr lang="zh-CN" altLang="en-US" dirty="0"/>
              <a:t>传送一个特殊</a:t>
            </a:r>
            <a:r>
              <a:rPr lang="en-US" altLang="zh-CN" dirty="0"/>
              <a:t>EOI</a:t>
            </a:r>
            <a:r>
              <a:rPr lang="zh-CN" altLang="en-US" dirty="0"/>
              <a:t>命令（命令中指定出要复位的中断级）来清除</a:t>
            </a:r>
            <a:r>
              <a:rPr lang="en-US" altLang="zh-CN" dirty="0"/>
              <a:t>ISR</a:t>
            </a:r>
            <a:r>
              <a:rPr lang="zh-CN" altLang="en-US" dirty="0"/>
              <a:t>中的指定位。在某些情况下，中断请求的响应顺序并不遵从固定的优先级。比如</a:t>
            </a:r>
            <a:r>
              <a:rPr lang="en-US" altLang="zh-CN" dirty="0"/>
              <a:t>8259A</a:t>
            </a:r>
            <a:r>
              <a:rPr lang="zh-CN" altLang="en-US" dirty="0"/>
              <a:t>工作在特殊屏蔽方式时，低优先级中断可以打断正在服务的高优先级中断，高优先级中断也可以打断正在服务的低优先级中断，此时，根据</a:t>
            </a:r>
            <a:r>
              <a:rPr lang="en-US" altLang="zh-CN" dirty="0"/>
              <a:t>ISR</a:t>
            </a:r>
            <a:r>
              <a:rPr lang="zh-CN" altLang="en-US" dirty="0"/>
              <a:t>的内容无法确定出刚刚所处理的中断。这就需要在</a:t>
            </a:r>
            <a:r>
              <a:rPr lang="en-US" altLang="zh-CN" dirty="0"/>
              <a:t>EOI</a:t>
            </a:r>
            <a:r>
              <a:rPr lang="zh-CN" altLang="en-US" dirty="0"/>
              <a:t>命令中指定出要复位的中断级。</a:t>
            </a:r>
            <a:endParaRPr lang="zh-CN" altLang="en-US" dirty="0"/>
          </a:p>
        </p:txBody>
      </p:sp>
      <p:sp>
        <p:nvSpPr>
          <p:cNvPr id="4" name="灯片编号占位符 3"/>
          <p:cNvSpPr txBox="1">
            <a:spLocks noGrp="1"/>
          </p:cNvSpPr>
          <p:nvPr>
            <p:ph type="sldNum" sz="quarter"/>
          </p:nvPr>
        </p:nvSpPr>
        <p:spPr/>
        <p:txBody>
          <a:bodyPr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CB65F3-817F-445C-B6B3-ECC798EA694A}" type="slidenum">
              <a:rPr kumimoji="0" lang="zh-CN" altLang="en-US" sz="1200" b="0" i="0" u="none" strike="noStrike" kern="1200" cap="none" spc="0" normalizeH="0" baseline="0" noProof="1" smtClean="0">
                <a:ln>
                  <a:noFill/>
                </a:ln>
                <a:solidFill>
                  <a:schemeClr val="tx1"/>
                </a:solidFill>
                <a:effectLst/>
                <a:uLnTx/>
                <a:uFillTx/>
                <a:latin typeface="Arial" panose="020B060402020202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4" name="幻灯片图像占位符 1"/>
          <p:cNvSpPr>
            <a:spLocks noGrp="1" noRot="1" noChangeAspect="1" noTextEdit="1"/>
          </p:cNvSpPr>
          <p:nvPr>
            <p:ph type="sldImg"/>
          </p:nvPr>
        </p:nvSpPr>
        <p:spPr/>
      </p:sp>
      <p:sp>
        <p:nvSpPr>
          <p:cNvPr id="218115" name="备注占位符 2"/>
          <p:cNvSpPr>
            <a:spLocks noGrp="1"/>
          </p:cNvSpPr>
          <p:nvPr>
            <p:ph type="body" idx="1"/>
          </p:nvPr>
        </p:nvSpPr>
        <p:spPr/>
        <p:txBody>
          <a:bodyPr wrap="square" lIns="91440" tIns="45720" rIns="91440" bIns="45720" anchor="ctr" anchorCtr="0"/>
          <a:p>
            <a:pPr lvl="0"/>
            <a:r>
              <a:rPr lang="zh-CN" altLang="en-US" dirty="0"/>
              <a:t>普通屏蔽方式</a:t>
            </a:r>
            <a:r>
              <a:rPr lang="en-US" altLang="zh-CN" dirty="0"/>
              <a:t>:</a:t>
            </a:r>
            <a:endParaRPr lang="en-US" altLang="zh-CN" dirty="0"/>
          </a:p>
          <a:p>
            <a:pPr lvl="0"/>
            <a:r>
              <a:rPr lang="zh-CN" altLang="en-US" dirty="0"/>
              <a:t>普通屏蔽方式是通过</a:t>
            </a:r>
            <a:r>
              <a:rPr lang="en-US" altLang="zh-CN" dirty="0"/>
              <a:t>i8259A</a:t>
            </a:r>
            <a:r>
              <a:rPr lang="zh-CN" altLang="en-US" dirty="0"/>
              <a:t>的中断屏蔽寄存器（</a:t>
            </a:r>
            <a:r>
              <a:rPr lang="en-US" altLang="zh-CN" dirty="0"/>
              <a:t>IMR</a:t>
            </a:r>
            <a:r>
              <a:rPr lang="zh-CN" altLang="en-US" dirty="0"/>
              <a:t>）来实现对中断请求</a:t>
            </a:r>
            <a:r>
              <a:rPr lang="en-US" altLang="zh-CN" dirty="0"/>
              <a:t>IRi</a:t>
            </a:r>
            <a:r>
              <a:rPr lang="zh-CN" altLang="en-US" dirty="0"/>
              <a:t>的屏蔽。通过编程写入操作命令字</a:t>
            </a:r>
            <a:r>
              <a:rPr lang="en-US" altLang="zh-CN" dirty="0"/>
              <a:t>OCW1</a:t>
            </a:r>
            <a:r>
              <a:rPr lang="zh-CN" altLang="en-US" dirty="0"/>
              <a:t>，将</a:t>
            </a:r>
            <a:r>
              <a:rPr lang="en-US" altLang="zh-CN" dirty="0"/>
              <a:t>IMR</a:t>
            </a:r>
            <a:r>
              <a:rPr lang="zh-CN" altLang="en-US" dirty="0"/>
              <a:t>中的</a:t>
            </a:r>
            <a:r>
              <a:rPr lang="en-US" altLang="zh-CN" dirty="0"/>
              <a:t>IMi</a:t>
            </a:r>
            <a:r>
              <a:rPr lang="zh-CN" altLang="en-US" dirty="0"/>
              <a:t>位置</a:t>
            </a:r>
            <a:r>
              <a:rPr lang="en-US" altLang="zh-CN" dirty="0"/>
              <a:t>1</a:t>
            </a:r>
            <a:r>
              <a:rPr lang="zh-CN" altLang="en-US" dirty="0"/>
              <a:t>，以达到对相应的</a:t>
            </a:r>
            <a:r>
              <a:rPr lang="en-US" altLang="zh-CN" dirty="0"/>
              <a:t>IRi</a:t>
            </a:r>
            <a:r>
              <a:rPr lang="zh-CN" altLang="en-US" dirty="0"/>
              <a:t>（</a:t>
            </a:r>
            <a:r>
              <a:rPr lang="en-US" altLang="zh-CN" dirty="0"/>
              <a:t>i</a:t>
            </a:r>
            <a:r>
              <a:rPr lang="zh-CN" altLang="en-US" dirty="0"/>
              <a:t>＝</a:t>
            </a:r>
            <a:r>
              <a:rPr lang="en-US" altLang="zh-CN" dirty="0"/>
              <a:t>0</a:t>
            </a:r>
            <a:r>
              <a:rPr lang="zh-CN" altLang="en-US" dirty="0"/>
              <a:t>～</a:t>
            </a:r>
            <a:r>
              <a:rPr lang="en-US" altLang="zh-CN" dirty="0"/>
              <a:t>7</a:t>
            </a:r>
            <a:r>
              <a:rPr lang="zh-CN" altLang="en-US" dirty="0"/>
              <a:t>）中断请求的屏蔽。一旦</a:t>
            </a:r>
            <a:r>
              <a:rPr lang="en-US" altLang="zh-CN" dirty="0"/>
              <a:t>IRi</a:t>
            </a:r>
            <a:r>
              <a:rPr lang="zh-CN" altLang="en-US" dirty="0"/>
              <a:t>被屏蔽，它就不可能被</a:t>
            </a:r>
            <a:r>
              <a:rPr lang="en-US" altLang="zh-CN" dirty="0"/>
              <a:t>i8259A</a:t>
            </a:r>
            <a:r>
              <a:rPr lang="zh-CN" altLang="en-US" dirty="0"/>
              <a:t>响应。</a:t>
            </a:r>
            <a:endParaRPr lang="zh-CN" altLang="en-US" dirty="0"/>
          </a:p>
          <a:p>
            <a:pPr lvl="0"/>
            <a:r>
              <a:rPr lang="zh-CN" altLang="en-US" dirty="0"/>
              <a:t>特殊屏蔽方式</a:t>
            </a:r>
            <a:r>
              <a:rPr lang="en-US" altLang="zh-CN" dirty="0"/>
              <a:t>:</a:t>
            </a:r>
            <a:endParaRPr lang="en-US" altLang="zh-CN" dirty="0"/>
          </a:p>
          <a:p>
            <a:pPr lvl="0"/>
            <a:r>
              <a:rPr lang="zh-CN" altLang="en-US" dirty="0"/>
              <a:t>在某些应用场合，我们希望正在被</a:t>
            </a:r>
            <a:r>
              <a:rPr lang="en-US" altLang="zh-CN" dirty="0"/>
              <a:t>CPU</a:t>
            </a:r>
            <a:r>
              <a:rPr lang="zh-CN" altLang="en-US" dirty="0"/>
              <a:t>服务的中断能够被更低优先级的中断请求打断。为达到这个目的，自然会想到使</a:t>
            </a:r>
            <a:r>
              <a:rPr lang="en-US" altLang="zh-CN" dirty="0"/>
              <a:t>IMR</a:t>
            </a:r>
            <a:r>
              <a:rPr lang="zh-CN" altLang="en-US" dirty="0"/>
              <a:t>中的相应位置</a:t>
            </a:r>
            <a:r>
              <a:rPr lang="en-US" altLang="zh-CN" dirty="0"/>
              <a:t>1</a:t>
            </a:r>
            <a:r>
              <a:rPr lang="zh-CN" altLang="en-US" dirty="0"/>
              <a:t>，使本级中断受到屏蔽，从而为更低优先级的中断请求进入提供可能，但是这样做有一个问题：每当一个中断请求被响应时，</a:t>
            </a:r>
            <a:r>
              <a:rPr lang="en-US" altLang="zh-CN" dirty="0"/>
              <a:t>8259A</a:t>
            </a:r>
            <a:r>
              <a:rPr lang="zh-CN" altLang="en-US" dirty="0"/>
              <a:t>会使该中断对应的</a:t>
            </a:r>
            <a:r>
              <a:rPr lang="en-US" altLang="zh-CN" dirty="0"/>
              <a:t>ISR</a:t>
            </a:r>
            <a:r>
              <a:rPr lang="zh-CN" altLang="en-US" dirty="0"/>
              <a:t>位置</a:t>
            </a:r>
            <a:r>
              <a:rPr lang="en-US" altLang="zh-CN" dirty="0"/>
              <a:t>1</a:t>
            </a:r>
            <a:r>
              <a:rPr lang="zh-CN" altLang="en-US" dirty="0"/>
              <a:t>，只要</a:t>
            </a:r>
            <a:r>
              <a:rPr lang="en-US" altLang="zh-CN" dirty="0"/>
              <a:t>CPU</a:t>
            </a:r>
            <a:r>
              <a:rPr lang="zh-CN" altLang="en-US" dirty="0"/>
              <a:t>没有对该中断发出中断结束命令（</a:t>
            </a:r>
            <a:r>
              <a:rPr lang="en-US" altLang="zh-CN" dirty="0"/>
              <a:t>EOI</a:t>
            </a:r>
            <a:r>
              <a:rPr lang="zh-CN" altLang="en-US" dirty="0"/>
              <a:t>），</a:t>
            </a:r>
            <a:r>
              <a:rPr lang="en-US" altLang="zh-CN" dirty="0"/>
              <a:t>i8259A</a:t>
            </a:r>
            <a:r>
              <a:rPr lang="zh-CN" altLang="en-US" dirty="0"/>
              <a:t>就会禁止所有比它优先级低的中断请求进入。如果</a:t>
            </a:r>
            <a:r>
              <a:rPr lang="en-US" altLang="zh-CN" dirty="0"/>
              <a:t>i8259A</a:t>
            </a:r>
            <a:r>
              <a:rPr lang="zh-CN" altLang="en-US" dirty="0"/>
              <a:t>工作在特殊屏蔽方式，使</a:t>
            </a:r>
            <a:r>
              <a:rPr lang="en-US" altLang="zh-CN" dirty="0"/>
              <a:t>IMR</a:t>
            </a:r>
            <a:r>
              <a:rPr lang="zh-CN" altLang="en-US" dirty="0"/>
              <a:t>的某位置</a:t>
            </a:r>
            <a:r>
              <a:rPr lang="en-US" altLang="zh-CN" dirty="0"/>
              <a:t>1</a:t>
            </a:r>
            <a:r>
              <a:rPr lang="zh-CN" altLang="en-US" dirty="0"/>
              <a:t>，就会同时使</a:t>
            </a:r>
            <a:r>
              <a:rPr lang="en-US" altLang="zh-CN" dirty="0"/>
              <a:t>ISR</a:t>
            </a:r>
            <a:r>
              <a:rPr lang="zh-CN" altLang="en-US" dirty="0"/>
              <a:t>的对应位自动复位。这样就可以使更低优先级的中断请求进入，当然未被屏蔽的更高优先级的中断请求也可以进入。可以通过编程写入操作命令字</a:t>
            </a:r>
            <a:r>
              <a:rPr lang="en-US" altLang="zh-CN" dirty="0"/>
              <a:t>OCW3</a:t>
            </a:r>
            <a:r>
              <a:rPr lang="zh-CN" altLang="en-US" dirty="0"/>
              <a:t>来设置或取消特殊屏蔽方式。 </a:t>
            </a:r>
            <a:endParaRPr lang="zh-CN" altLang="en-US" dirty="0"/>
          </a:p>
        </p:txBody>
      </p:sp>
      <p:sp>
        <p:nvSpPr>
          <p:cNvPr id="4" name="灯片编号占位符 3"/>
          <p:cNvSpPr txBox="1">
            <a:spLocks noGrp="1"/>
          </p:cNvSpPr>
          <p:nvPr>
            <p:ph type="sldNum" sz="quarter"/>
          </p:nvPr>
        </p:nvSpPr>
        <p:spPr/>
        <p:txBody>
          <a:bodyPr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CB65F3-817F-445C-B6B3-ECC798EA694A}" type="slidenum">
              <a:rPr kumimoji="0" lang="zh-CN" altLang="en-US" sz="1200" b="0" i="0" u="none" strike="noStrike" kern="1200" cap="none" spc="0" normalizeH="0" baseline="0" noProof="1" smtClean="0">
                <a:ln>
                  <a:noFill/>
                </a:ln>
                <a:solidFill>
                  <a:schemeClr val="tx1"/>
                </a:solidFill>
                <a:effectLst/>
                <a:uLnTx/>
                <a:uFillTx/>
                <a:latin typeface="Arial" panose="020B060402020202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233474" name="幻灯片图像占位符 1"/>
          <p:cNvSpPr>
            <a:spLocks noGrp="1" noRot="1" noChangeAspect="1" noTextEdit="1"/>
          </p:cNvSpPr>
          <p:nvPr>
            <p:ph type="sldImg"/>
          </p:nvPr>
        </p:nvSpPr>
        <p:spPr/>
      </p:sp>
      <p:sp>
        <p:nvSpPr>
          <p:cNvPr id="233475" name="备注占位符 2"/>
          <p:cNvSpPr>
            <a:spLocks noGrp="1"/>
          </p:cNvSpPr>
          <p:nvPr>
            <p:ph type="body"/>
          </p:nvPr>
        </p:nvSpPr>
        <p:spPr/>
        <p:txBody>
          <a:bodyPr wrap="square" lIns="91440" tIns="45720" rIns="91440" bIns="45720" anchor="ctr" anchorCtr="0"/>
          <a:p>
            <a:pPr lvl="0"/>
            <a:r>
              <a:rPr lang="zh-CN" altLang="en-US" dirty="0"/>
              <a:t>注意：如果</a:t>
            </a:r>
            <a:r>
              <a:rPr lang="en-US" altLang="zh-CN" dirty="0"/>
              <a:t>D3</a:t>
            </a:r>
            <a:r>
              <a:rPr lang="zh-CN" altLang="en-US" dirty="0"/>
              <a:t>位被选中为缓冲方式，则</a:t>
            </a:r>
            <a:r>
              <a:rPr lang="en-US" altLang="zh-CN" dirty="0"/>
              <a:t>D2</a:t>
            </a:r>
            <a:r>
              <a:rPr lang="zh-CN" altLang="en-US" dirty="0"/>
              <a:t>位为</a:t>
            </a:r>
            <a:r>
              <a:rPr lang="en-US" altLang="zh-CN" dirty="0"/>
              <a:t>1</a:t>
            </a:r>
            <a:r>
              <a:rPr lang="zh-CN" altLang="en-US" dirty="0"/>
              <a:t>表示主片，为</a:t>
            </a:r>
            <a:r>
              <a:rPr lang="en-US" altLang="zh-CN" dirty="0"/>
              <a:t>0</a:t>
            </a:r>
            <a:r>
              <a:rPr lang="zh-CN" altLang="en-US" dirty="0"/>
              <a:t>表示从片；如果</a:t>
            </a:r>
            <a:r>
              <a:rPr lang="en-US" altLang="zh-CN" dirty="0"/>
              <a:t>D3</a:t>
            </a:r>
            <a:r>
              <a:rPr lang="zh-CN" altLang="en-US" dirty="0"/>
              <a:t>位被选中为非缓冲方式，则</a:t>
            </a:r>
            <a:r>
              <a:rPr lang="en-US" altLang="zh-CN" dirty="0"/>
              <a:t>D2</a:t>
            </a:r>
            <a:r>
              <a:rPr lang="zh-CN" altLang="en-US" dirty="0"/>
              <a:t>位没有功能，可任意。（此处可参考</a:t>
            </a:r>
            <a:r>
              <a:rPr lang="en-US" altLang="zh-CN" dirty="0"/>
              <a:t>8259A</a:t>
            </a:r>
            <a:r>
              <a:rPr lang="zh-CN" altLang="en-US" dirty="0"/>
              <a:t>手册）</a:t>
            </a:r>
            <a:endParaRPr lang="zh-CN" altLang="en-US" dirty="0"/>
          </a:p>
        </p:txBody>
      </p:sp>
      <p:sp>
        <p:nvSpPr>
          <p:cNvPr id="233476" name="灯片编号占位符 3"/>
          <p:cNvSpPr txBox="1">
            <a:spLocks noGrp="1"/>
          </p:cNvSpPr>
          <p:nvPr/>
        </p:nvSpPr>
        <p:spPr>
          <a:xfrm>
            <a:off x="3883025" y="8685213"/>
            <a:ext cx="2973388" cy="458787"/>
          </a:xfrm>
          <a:prstGeom prst="rect">
            <a:avLst/>
          </a:prstGeom>
          <a:noFill/>
          <a:ln w="9525">
            <a:noFill/>
          </a:ln>
        </p:spPr>
        <p:txBody>
          <a:bodyPr anchor="b" anchorCtr="0"/>
          <a:p>
            <a:pPr lvl="0" algn="r"/>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22" name="幻灯片图像占位符 1"/>
          <p:cNvSpPr>
            <a:spLocks noGrp="1" noRot="1" noChangeAspect="1" noTextEdit="1"/>
          </p:cNvSpPr>
          <p:nvPr>
            <p:ph type="sldImg"/>
          </p:nvPr>
        </p:nvSpPr>
        <p:spPr/>
      </p:sp>
      <p:sp>
        <p:nvSpPr>
          <p:cNvPr id="235523" name="备注占位符 2"/>
          <p:cNvSpPr>
            <a:spLocks noGrp="1"/>
          </p:cNvSpPr>
          <p:nvPr>
            <p:ph type="body" idx="1"/>
          </p:nvPr>
        </p:nvSpPr>
        <p:spPr/>
        <p:txBody>
          <a:bodyPr wrap="square" lIns="91440" tIns="45720" rIns="91440" bIns="45720" anchor="ctr" anchorCtr="0"/>
          <a:p>
            <a:pPr lvl="0"/>
            <a:r>
              <a:rPr lang="zh-CN" altLang="en-US" dirty="0"/>
              <a:t>当多片</a:t>
            </a:r>
            <a:r>
              <a:rPr lang="en-US" altLang="zh-CN" dirty="0"/>
              <a:t>8259A</a:t>
            </a:r>
            <a:r>
              <a:rPr lang="zh-CN" altLang="en-US" dirty="0"/>
              <a:t>级联时，若在</a:t>
            </a:r>
            <a:r>
              <a:rPr lang="en-US" altLang="zh-CN" dirty="0"/>
              <a:t>8259A</a:t>
            </a:r>
            <a:r>
              <a:rPr lang="zh-CN" altLang="en-US" dirty="0"/>
              <a:t>的数据线与系统总线之间加入总线驱动器，引脚作为总线驱动器的控制信号，</a:t>
            </a:r>
            <a:r>
              <a:rPr lang="en-US" altLang="zh-CN" dirty="0"/>
              <a:t>D3</a:t>
            </a:r>
            <a:r>
              <a:rPr lang="zh-CN" altLang="en-US" dirty="0"/>
              <a:t>位</a:t>
            </a:r>
            <a:r>
              <a:rPr lang="en-US" altLang="zh-CN" dirty="0"/>
              <a:t>BUF</a:t>
            </a:r>
            <a:r>
              <a:rPr lang="zh-CN" altLang="en-US" dirty="0"/>
              <a:t>应设置为</a:t>
            </a:r>
            <a:r>
              <a:rPr lang="en-US" altLang="zh-CN" dirty="0"/>
              <a:t>1</a:t>
            </a:r>
            <a:r>
              <a:rPr lang="zh-CN" altLang="en-US" dirty="0"/>
              <a:t>，此时主片和从片的区分不能依靠引脚，而是由来选择，当＝</a:t>
            </a:r>
            <a:r>
              <a:rPr lang="en-US" altLang="zh-CN" dirty="0"/>
              <a:t>0</a:t>
            </a:r>
            <a:r>
              <a:rPr lang="zh-CN" altLang="en-US" dirty="0"/>
              <a:t>时为从片；当＝</a:t>
            </a:r>
            <a:r>
              <a:rPr lang="en-US" altLang="zh-CN" dirty="0"/>
              <a:t>1</a:t>
            </a:r>
            <a:r>
              <a:rPr lang="zh-CN" altLang="en-US" dirty="0"/>
              <a:t>时为主片。如果</a:t>
            </a:r>
            <a:r>
              <a:rPr lang="en-US" altLang="zh-CN" dirty="0"/>
              <a:t>BUF</a:t>
            </a:r>
            <a:r>
              <a:rPr lang="zh-CN" altLang="en-US" dirty="0"/>
              <a:t>＝</a:t>
            </a:r>
            <a:r>
              <a:rPr lang="en-US" altLang="zh-CN" dirty="0"/>
              <a:t>0</a:t>
            </a:r>
            <a:r>
              <a:rPr lang="zh-CN" altLang="en-US" dirty="0"/>
              <a:t>，则定义无意义。 </a:t>
            </a:r>
            <a:endParaRPr lang="zh-CN" altLang="en-US" dirty="0"/>
          </a:p>
        </p:txBody>
      </p:sp>
      <p:sp>
        <p:nvSpPr>
          <p:cNvPr id="4" name="灯片编号占位符 3"/>
          <p:cNvSpPr txBox="1">
            <a:spLocks noGrp="1"/>
          </p:cNvSpPr>
          <p:nvPr>
            <p:ph type="sldNum" sz="quarter"/>
          </p:nvPr>
        </p:nvSpPr>
        <p:spPr/>
        <p:txBody>
          <a:bodyPr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03F14DD-ABC1-4FDD-8E85-84B69D9CD4ED}" type="slidenum">
              <a:rPr kumimoji="0" lang="zh-CN" altLang="en-US" sz="1200" b="0" i="0" u="none" strike="noStrike" kern="1200" cap="none" spc="0" normalizeH="0" baseline="0" noProof="1" smtClean="0">
                <a:ln>
                  <a:noFill/>
                </a:ln>
                <a:solidFill>
                  <a:schemeClr val="tx1"/>
                </a:solidFill>
                <a:effectLst/>
                <a:uLnTx/>
                <a:uFillTx/>
                <a:latin typeface="Arial" panose="020B060402020202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237570" name="幻灯片图像占位符 1"/>
          <p:cNvSpPr>
            <a:spLocks noGrp="1" noRot="1" noChangeAspect="1" noTextEdit="1"/>
          </p:cNvSpPr>
          <p:nvPr>
            <p:ph type="sldImg"/>
          </p:nvPr>
        </p:nvSpPr>
        <p:spPr/>
      </p:sp>
      <p:sp>
        <p:nvSpPr>
          <p:cNvPr id="237571" name="备注占位符 2"/>
          <p:cNvSpPr>
            <a:spLocks noGrp="1"/>
          </p:cNvSpPr>
          <p:nvPr>
            <p:ph type="body"/>
          </p:nvPr>
        </p:nvSpPr>
        <p:spPr/>
        <p:txBody>
          <a:bodyPr wrap="square" lIns="91440" tIns="45720" rIns="91440" bIns="45720" anchor="ctr" anchorCtr="0"/>
          <a:p>
            <a:pPr lvl="0"/>
            <a:r>
              <a:rPr lang="zh-CN" altLang="en-US" dirty="0"/>
              <a:t>注意</a:t>
            </a:r>
            <a:r>
              <a:rPr lang="en-US" altLang="zh-CN" dirty="0"/>
              <a:t>SP/EN</a:t>
            </a:r>
            <a:r>
              <a:rPr lang="zh-CN" altLang="en-US" dirty="0"/>
              <a:t>的接线！</a:t>
            </a:r>
            <a:endParaRPr lang="zh-CN" altLang="en-US" dirty="0"/>
          </a:p>
        </p:txBody>
      </p:sp>
      <p:sp>
        <p:nvSpPr>
          <p:cNvPr id="237572" name="灯片编号占位符 3"/>
          <p:cNvSpPr txBox="1">
            <a:spLocks noGrp="1"/>
          </p:cNvSpPr>
          <p:nvPr/>
        </p:nvSpPr>
        <p:spPr>
          <a:xfrm>
            <a:off x="3883025" y="8685213"/>
            <a:ext cx="2973388" cy="458787"/>
          </a:xfrm>
          <a:prstGeom prst="rect">
            <a:avLst/>
          </a:prstGeom>
          <a:noFill/>
          <a:ln w="9525">
            <a:noFill/>
          </a:ln>
        </p:spPr>
        <p:txBody>
          <a:bodyPr anchor="b" anchorCtr="0"/>
          <a:p>
            <a:pPr lvl="0" algn="r"/>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240642" name="幻灯片图像占位符 1"/>
          <p:cNvSpPr>
            <a:spLocks noGrp="1" noRot="1" noChangeAspect="1" noTextEdit="1"/>
          </p:cNvSpPr>
          <p:nvPr>
            <p:ph type="sldImg"/>
          </p:nvPr>
        </p:nvSpPr>
        <p:spPr/>
      </p:sp>
      <p:sp>
        <p:nvSpPr>
          <p:cNvPr id="240643" name="备注占位符 2"/>
          <p:cNvSpPr>
            <a:spLocks noGrp="1"/>
          </p:cNvSpPr>
          <p:nvPr>
            <p:ph type="body"/>
          </p:nvPr>
        </p:nvSpPr>
        <p:spPr/>
        <p:txBody>
          <a:bodyPr wrap="square" lIns="91440" tIns="45720" rIns="91440" bIns="45720" anchor="ctr" anchorCtr="0"/>
          <a:p>
            <a:pPr lvl="0"/>
            <a:r>
              <a:rPr lang="zh-CN" altLang="en-US" dirty="0"/>
              <a:t>注意：此处的奇地址端口与偶地址端口是针对</a:t>
            </a:r>
            <a:r>
              <a:rPr lang="en-US" altLang="zh-CN" dirty="0"/>
              <a:t>8259A</a:t>
            </a:r>
            <a:r>
              <a:rPr lang="zh-CN" altLang="en-US" dirty="0"/>
              <a:t>来说的，是从</a:t>
            </a:r>
            <a:r>
              <a:rPr lang="en-US" altLang="zh-CN" dirty="0"/>
              <a:t>A0</a:t>
            </a:r>
            <a:r>
              <a:rPr lang="zh-CN" altLang="en-US" dirty="0"/>
              <a:t>是</a:t>
            </a:r>
            <a:r>
              <a:rPr lang="en-US" altLang="zh-CN" dirty="0"/>
              <a:t>1</a:t>
            </a:r>
            <a:r>
              <a:rPr lang="zh-CN" altLang="en-US" dirty="0"/>
              <a:t>还是</a:t>
            </a:r>
            <a:r>
              <a:rPr lang="en-US" altLang="zh-CN" dirty="0"/>
              <a:t>0</a:t>
            </a:r>
            <a:r>
              <a:rPr lang="zh-CN" altLang="en-US" dirty="0"/>
              <a:t>来区分，而在连接</a:t>
            </a:r>
            <a:r>
              <a:rPr lang="en-US" altLang="zh-CN" dirty="0"/>
              <a:t>8086</a:t>
            </a:r>
            <a:r>
              <a:rPr lang="zh-CN" altLang="en-US" dirty="0"/>
              <a:t>时，地址均接入偶地址库中，和这里的奇地址端口并不冲突，</a:t>
            </a:r>
            <a:r>
              <a:rPr lang="en-US" altLang="zh-CN" dirty="0"/>
              <a:t>8088</a:t>
            </a:r>
            <a:r>
              <a:rPr lang="zh-CN" altLang="en-US" dirty="0"/>
              <a:t>则不同</a:t>
            </a:r>
            <a:endParaRPr lang="zh-CN" altLang="en-US" dirty="0"/>
          </a:p>
        </p:txBody>
      </p:sp>
      <p:sp>
        <p:nvSpPr>
          <p:cNvPr id="240644" name="灯片编号占位符 3"/>
          <p:cNvSpPr txBox="1">
            <a:spLocks noGrp="1"/>
          </p:cNvSpPr>
          <p:nvPr/>
        </p:nvSpPr>
        <p:spPr>
          <a:xfrm>
            <a:off x="3883025" y="8685213"/>
            <a:ext cx="2973388" cy="458787"/>
          </a:xfrm>
          <a:prstGeom prst="rect">
            <a:avLst/>
          </a:prstGeom>
          <a:noFill/>
          <a:ln w="9525">
            <a:noFill/>
          </a:ln>
        </p:spPr>
        <p:txBody>
          <a:bodyPr anchor="b" anchorCtr="0"/>
          <a:p>
            <a:pPr lvl="0" algn="r"/>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250882" name="Rectangle 7"/>
          <p:cNvSpPr txBox="1">
            <a:spLocks noGrp="1"/>
          </p:cNvSpPr>
          <p:nvPr/>
        </p:nvSpPr>
        <p:spPr>
          <a:xfrm>
            <a:off x="3883025" y="8685213"/>
            <a:ext cx="2973388" cy="458787"/>
          </a:xfrm>
          <a:prstGeom prst="rect">
            <a:avLst/>
          </a:prstGeom>
          <a:noFill/>
          <a:ln w="9525">
            <a:noFill/>
          </a:ln>
        </p:spPr>
        <p:txBody>
          <a:bodyPr anchor="b" anchorCtr="0"/>
          <a:p>
            <a:pPr lvl="0" algn="r"/>
            <a:fld id="{9A0DB2DC-4C9A-4742-B13C-FB6460FD3503}" type="slidenum">
              <a:rPr lang="en-US" altLang="zh-CN" sz="1200" dirty="0">
                <a:latin typeface="Calibri" panose="020F0502020204030204" pitchFamily="34" charset="0"/>
                <a:ea typeface="宋体" panose="02010600030101010101" pitchFamily="2" charset="-122"/>
              </a:rPr>
            </a:fld>
            <a:endParaRPr lang="en-US" altLang="zh-CN" sz="1200" dirty="0">
              <a:latin typeface="Calibri" panose="020F0502020204030204" pitchFamily="34" charset="0"/>
              <a:ea typeface="宋体" panose="02010600030101010101" pitchFamily="2" charset="-122"/>
            </a:endParaRPr>
          </a:p>
        </p:txBody>
      </p:sp>
      <p:sp>
        <p:nvSpPr>
          <p:cNvPr id="250883" name="Rectangle 2"/>
          <p:cNvSpPr>
            <a:spLocks noGrp="1" noRot="1" noTextEdit="1"/>
          </p:cNvSpPr>
          <p:nvPr>
            <p:ph type="sldImg"/>
          </p:nvPr>
        </p:nvSpPr>
        <p:spPr/>
      </p:sp>
      <p:sp>
        <p:nvSpPr>
          <p:cNvPr id="250884" name="Rectangle 3"/>
          <p:cNvSpPr>
            <a:spLocks noGrp="1"/>
          </p:cNvSpPr>
          <p:nvPr>
            <p:ph type="body"/>
          </p:nvPr>
        </p:nvSpPr>
        <p:spPr/>
        <p:txBody>
          <a:bodyPr wrap="square" lIns="91440" tIns="45720" rIns="91440" bIns="45720" anchor="ctr" anchorCtr="0"/>
          <a:p>
            <a:pPr lvl="0"/>
            <a:r>
              <a:rPr lang="zh-CN" altLang="en-US" sz="1600" dirty="0">
                <a:solidFill>
                  <a:schemeClr val="accent2"/>
                </a:solidFill>
              </a:rPr>
              <a:t>注意：按照读IRR和ISR寄存器的要求，如果D1为0，则禁止读寄存器，而此例中的OCW3的D1位为0，但又在同一地址进行读取，似乎有些矛盾。但其实并不矛盾，因为这是在查询状态下，与非查询状态即中断状态有所不同</a:t>
            </a:r>
            <a:endParaRPr lang="zh-CN" altLang="en-US" sz="1600" dirty="0">
              <a:solidFill>
                <a:schemeClr val="accent2"/>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254978" name="Rectangle 7"/>
          <p:cNvSpPr txBox="1">
            <a:spLocks noGrp="1"/>
          </p:cNvSpPr>
          <p:nvPr/>
        </p:nvSpPr>
        <p:spPr>
          <a:xfrm>
            <a:off x="3883025" y="8685213"/>
            <a:ext cx="2973388" cy="458787"/>
          </a:xfrm>
          <a:prstGeom prst="rect">
            <a:avLst/>
          </a:prstGeom>
          <a:noFill/>
          <a:ln w="9525">
            <a:noFill/>
          </a:ln>
        </p:spPr>
        <p:txBody>
          <a:bodyPr anchor="b" anchorCtr="0"/>
          <a:p>
            <a:pPr lvl="0" algn="r"/>
            <a:fld id="{9A0DB2DC-4C9A-4742-B13C-FB6460FD3503}" type="slidenum">
              <a:rPr lang="en-US" altLang="zh-CN" sz="1200" dirty="0">
                <a:latin typeface="Calibri" panose="020F0502020204030204" pitchFamily="34" charset="0"/>
                <a:ea typeface="宋体" panose="02010600030101010101" pitchFamily="2" charset="-122"/>
              </a:rPr>
            </a:fld>
            <a:endParaRPr lang="en-US" altLang="zh-CN" sz="1200" dirty="0">
              <a:latin typeface="Calibri" panose="020F0502020204030204" pitchFamily="34" charset="0"/>
              <a:ea typeface="宋体" panose="02010600030101010101" pitchFamily="2" charset="-122"/>
            </a:endParaRPr>
          </a:p>
        </p:txBody>
      </p:sp>
      <p:sp>
        <p:nvSpPr>
          <p:cNvPr id="254979" name="Rectangle 2"/>
          <p:cNvSpPr>
            <a:spLocks noGrp="1" noRot="1" noTextEdit="1"/>
          </p:cNvSpPr>
          <p:nvPr>
            <p:ph type="sldImg"/>
          </p:nvPr>
        </p:nvSpPr>
        <p:spPr>
          <a:ln w="12700">
            <a:solidFill>
              <a:srgbClr val="000000">
                <a:alpha val="100000"/>
              </a:srgbClr>
            </a:solidFill>
            <a:miter lim="800000"/>
          </a:ln>
        </p:spPr>
      </p:sp>
      <p:sp>
        <p:nvSpPr>
          <p:cNvPr id="254980" name="Rectangle 3"/>
          <p:cNvSpPr>
            <a:spLocks noGrp="1"/>
          </p:cNvSpPr>
          <p:nvPr>
            <p:ph type="body"/>
          </p:nvPr>
        </p:nvSpPr>
        <p:spPr/>
        <p:txBody>
          <a:bodyPr wrap="square" lIns="91440" tIns="45720" rIns="91440" bIns="45720" anchor="t" anchorCtr="0"/>
          <a:p>
            <a:pPr marL="685800" lvl="1" indent="-228600">
              <a:lnSpc>
                <a:spcPct val="110000"/>
              </a:lnSpc>
              <a:buClr>
                <a:srgbClr val="A50021"/>
              </a:buClr>
            </a:pPr>
            <a:r>
              <a:rPr lang="en-US" altLang="zh-CN" sz="1000" b="1" dirty="0">
                <a:ea typeface="楷体_GB2312"/>
              </a:rPr>
              <a:t>1. 8259</a:t>
            </a:r>
            <a:r>
              <a:rPr lang="zh-CN" altLang="en-US" sz="1000" b="1" dirty="0">
                <a:ea typeface="楷体_GB2312"/>
              </a:rPr>
              <a:t>的控制引脚</a:t>
            </a:r>
            <a:r>
              <a:rPr lang="en-US" altLang="zh-CN" sz="1000" b="1" dirty="0">
                <a:ea typeface="楷体_GB2312"/>
              </a:rPr>
              <a:t>/RD</a:t>
            </a:r>
            <a:r>
              <a:rPr lang="zh-CN" altLang="en-US" sz="1000" b="1" dirty="0">
                <a:ea typeface="楷体_GB2312"/>
              </a:rPr>
              <a:t>、</a:t>
            </a:r>
            <a:r>
              <a:rPr lang="en-US" altLang="zh-CN" sz="1000" b="1" dirty="0">
                <a:ea typeface="楷体_GB2312"/>
              </a:rPr>
              <a:t>/WR</a:t>
            </a:r>
            <a:r>
              <a:rPr lang="zh-CN" altLang="en-US" sz="1000" b="1" dirty="0">
                <a:ea typeface="楷体_GB2312"/>
              </a:rPr>
              <a:t>分别连接</a:t>
            </a:r>
            <a:r>
              <a:rPr lang="en-US" altLang="zh-CN" sz="1000" b="1" dirty="0">
                <a:ea typeface="楷体_GB2312"/>
              </a:rPr>
              <a:t>/IOR</a:t>
            </a:r>
            <a:r>
              <a:rPr lang="zh-CN" altLang="en-US" sz="1000" b="1" dirty="0">
                <a:ea typeface="楷体_GB2312"/>
              </a:rPr>
              <a:t>、</a:t>
            </a:r>
            <a:r>
              <a:rPr lang="en-US" altLang="zh-CN" sz="1000" b="1" dirty="0">
                <a:ea typeface="楷体_GB2312"/>
              </a:rPr>
              <a:t>/IOW</a:t>
            </a:r>
            <a:endParaRPr lang="en-US" altLang="zh-CN" sz="1000" b="1" dirty="0">
              <a:ea typeface="楷体_GB2312"/>
            </a:endParaRPr>
          </a:p>
          <a:p>
            <a:pPr marL="685800" lvl="1" indent="-228600">
              <a:lnSpc>
                <a:spcPct val="110000"/>
              </a:lnSpc>
              <a:buClr>
                <a:srgbClr val="A50021"/>
              </a:buClr>
            </a:pPr>
            <a:r>
              <a:rPr lang="en-US" altLang="zh-CN" sz="1000" b="1" dirty="0">
                <a:ea typeface="楷体_GB2312"/>
              </a:rPr>
              <a:t>2. 8259</a:t>
            </a:r>
            <a:r>
              <a:rPr lang="zh-CN" altLang="en-US" sz="1000" b="1" dirty="0">
                <a:ea typeface="楷体_GB2312"/>
              </a:rPr>
              <a:t>的</a:t>
            </a:r>
            <a:r>
              <a:rPr lang="en-US" altLang="zh-CN" sz="1000" b="1" dirty="0">
                <a:ea typeface="楷体_GB2312"/>
              </a:rPr>
              <a:t>INT</a:t>
            </a:r>
            <a:r>
              <a:rPr lang="zh-CN" altLang="en-US" sz="1000" b="1" dirty="0">
                <a:ea typeface="楷体_GB2312"/>
              </a:rPr>
              <a:t>和</a:t>
            </a:r>
            <a:r>
              <a:rPr lang="en-US" altLang="zh-CN" sz="1000" b="1" dirty="0">
                <a:ea typeface="楷体_GB2312"/>
              </a:rPr>
              <a:t>/INTA</a:t>
            </a:r>
            <a:r>
              <a:rPr lang="zh-CN" altLang="en-US" sz="1000" b="1" dirty="0">
                <a:ea typeface="楷体_GB2312"/>
              </a:rPr>
              <a:t>引脚分别连接</a:t>
            </a:r>
            <a:r>
              <a:rPr lang="en-US" altLang="zh-CN" sz="1000" b="1" dirty="0">
                <a:ea typeface="楷体_GB2312"/>
              </a:rPr>
              <a:t>8086</a:t>
            </a:r>
            <a:r>
              <a:rPr lang="zh-CN" altLang="en-US" sz="1000" b="1" dirty="0">
                <a:ea typeface="楷体_GB2312"/>
              </a:rPr>
              <a:t>的</a:t>
            </a:r>
            <a:r>
              <a:rPr lang="en-US" altLang="zh-CN" sz="1000" b="1" dirty="0">
                <a:ea typeface="楷体_GB2312"/>
              </a:rPr>
              <a:t>INTR</a:t>
            </a:r>
            <a:r>
              <a:rPr lang="zh-CN" altLang="en-US" sz="1000" b="1" dirty="0">
                <a:ea typeface="楷体_GB2312"/>
              </a:rPr>
              <a:t>、</a:t>
            </a:r>
            <a:r>
              <a:rPr lang="en-US" altLang="zh-CN" sz="1000" b="1" dirty="0">
                <a:ea typeface="楷体_GB2312"/>
              </a:rPr>
              <a:t>/INTA</a:t>
            </a:r>
            <a:r>
              <a:rPr lang="zh-CN" altLang="en-US" sz="1000" b="1" dirty="0">
                <a:ea typeface="楷体_GB2312"/>
              </a:rPr>
              <a:t>信号</a:t>
            </a:r>
            <a:endParaRPr lang="zh-CN" altLang="en-US" sz="1000" b="1" dirty="0">
              <a:ea typeface="楷体_GB2312"/>
            </a:endParaRPr>
          </a:p>
          <a:p>
            <a:pPr marL="685800" lvl="1" indent="-228600">
              <a:lnSpc>
                <a:spcPct val="110000"/>
              </a:lnSpc>
              <a:buClr>
                <a:srgbClr val="A50021"/>
              </a:buClr>
            </a:pPr>
            <a:r>
              <a:rPr lang="en-US" altLang="zh-CN" sz="1000" b="1" dirty="0">
                <a:ea typeface="楷体_GB2312"/>
              </a:rPr>
              <a:t>3. CAS2 CAS1 CAS0</a:t>
            </a:r>
            <a:r>
              <a:rPr lang="zh-CN" altLang="en-US" sz="1000" b="1" dirty="0">
                <a:ea typeface="楷体_GB2312"/>
              </a:rPr>
              <a:t>未接，</a:t>
            </a:r>
            <a:r>
              <a:rPr lang="en-US" altLang="zh-CN" sz="1000" b="1" dirty="0">
                <a:ea typeface="楷体_GB2312"/>
              </a:rPr>
              <a:t>SP/EN</a:t>
            </a:r>
            <a:r>
              <a:rPr lang="zh-CN" altLang="en-US" sz="1000" b="1" dirty="0">
                <a:ea typeface="楷体_GB2312"/>
              </a:rPr>
              <a:t>接正电源；</a:t>
            </a:r>
            <a:endParaRPr lang="zh-CN" altLang="en-US" sz="1000" b="1" dirty="0">
              <a:ea typeface="楷体_GB2312"/>
            </a:endParaRPr>
          </a:p>
          <a:p>
            <a:pPr marL="685800" lvl="1" indent="-228600">
              <a:lnSpc>
                <a:spcPct val="110000"/>
              </a:lnSpc>
              <a:buClr>
                <a:srgbClr val="A50021"/>
              </a:buClr>
            </a:pPr>
            <a:r>
              <a:rPr lang="en-US" altLang="zh-CN" sz="1000" b="1" dirty="0">
                <a:ea typeface="楷体_GB2312"/>
              </a:rPr>
              <a:t>4. </a:t>
            </a:r>
            <a:r>
              <a:rPr lang="zh-CN" altLang="en-US" sz="1000" b="1" dirty="0">
                <a:ea typeface="楷体_GB2312"/>
              </a:rPr>
              <a:t>讲解时应该讲明白为什么端口地址为</a:t>
            </a:r>
            <a:r>
              <a:rPr lang="en-US" altLang="zh-CN" sz="1000" b="1" dirty="0">
                <a:ea typeface="楷体_GB2312"/>
              </a:rPr>
              <a:t>20H ~ 3FH</a:t>
            </a:r>
            <a:r>
              <a:rPr lang="zh-CN" altLang="en-US" sz="1000" b="1" dirty="0">
                <a:ea typeface="楷体_GB2312"/>
              </a:rPr>
              <a:t>，说明地址范围只看能让</a:t>
            </a:r>
            <a:r>
              <a:rPr lang="en-US" altLang="zh-CN" sz="1000" b="1" dirty="0">
                <a:ea typeface="楷体_GB2312"/>
              </a:rPr>
              <a:t>/CS</a:t>
            </a:r>
            <a:r>
              <a:rPr lang="zh-CN" altLang="en-US" sz="1000" b="1" dirty="0">
                <a:ea typeface="楷体_GB2312"/>
              </a:rPr>
              <a:t>有效的地址，告诉学生</a:t>
            </a:r>
            <a:r>
              <a:rPr lang="en-US" altLang="zh-CN" sz="1000" b="1" dirty="0">
                <a:ea typeface="楷体_GB2312"/>
              </a:rPr>
              <a:t>A4~A2</a:t>
            </a:r>
            <a:r>
              <a:rPr lang="zh-CN" altLang="en-US" sz="1000" b="1" dirty="0">
                <a:ea typeface="楷体_GB2312"/>
              </a:rPr>
              <a:t>没有用</a:t>
            </a:r>
            <a:r>
              <a:rPr lang="en-US" altLang="zh-CN" sz="1000" b="1" dirty="0">
                <a:ea typeface="楷体_GB2312"/>
              </a:rPr>
              <a:t>, A0</a:t>
            </a:r>
            <a:r>
              <a:rPr lang="zh-CN" altLang="en-US" sz="1000" b="1" dirty="0">
                <a:ea typeface="楷体_GB2312"/>
              </a:rPr>
              <a:t>应该总为低电平</a:t>
            </a:r>
            <a:endParaRPr lang="zh-CN" altLang="en-US" sz="1000" b="1" dirty="0">
              <a:ea typeface="楷体_GB2312"/>
            </a:endParaRPr>
          </a:p>
          <a:p>
            <a:pPr marL="685800" lvl="1" indent="-228600">
              <a:lnSpc>
                <a:spcPct val="110000"/>
              </a:lnSpc>
              <a:buClr>
                <a:srgbClr val="A50021"/>
              </a:buClr>
            </a:pPr>
            <a:r>
              <a:rPr lang="en-US" altLang="zh-CN" sz="1000" b="1" dirty="0">
                <a:ea typeface="楷体_GB2312"/>
              </a:rPr>
              <a:t>5. </a:t>
            </a:r>
            <a:r>
              <a:rPr lang="zh-CN" altLang="en-US" sz="1000" b="1" dirty="0">
                <a:ea typeface="楷体_GB2312"/>
              </a:rPr>
              <a:t>要提到如果与</a:t>
            </a:r>
            <a:r>
              <a:rPr lang="en-US" altLang="zh-CN" sz="1000" b="1" dirty="0">
                <a:ea typeface="楷体_GB2312"/>
              </a:rPr>
              <a:t>IBM PC/XT</a:t>
            </a:r>
            <a:r>
              <a:rPr lang="zh-CN" altLang="en-US" sz="1000" b="1" dirty="0">
                <a:ea typeface="楷体_GB2312"/>
              </a:rPr>
              <a:t>机相连</a:t>
            </a:r>
            <a:r>
              <a:rPr lang="en-US" altLang="zh-CN" sz="1000" b="1" dirty="0">
                <a:ea typeface="楷体_GB2312"/>
              </a:rPr>
              <a:t>, </a:t>
            </a:r>
            <a:r>
              <a:rPr lang="zh-CN" altLang="en-US" sz="1000" b="1" dirty="0">
                <a:ea typeface="楷体_GB2312"/>
              </a:rPr>
              <a:t>则</a:t>
            </a:r>
            <a:r>
              <a:rPr lang="en-US" altLang="zh-CN" sz="1000" b="1" dirty="0">
                <a:ea typeface="楷体_GB2312"/>
              </a:rPr>
              <a:t>8259 A0</a:t>
            </a:r>
            <a:r>
              <a:rPr lang="zh-CN" altLang="en-US" sz="1000" b="1" dirty="0">
                <a:ea typeface="楷体_GB2312"/>
              </a:rPr>
              <a:t>与系统地址总线的</a:t>
            </a:r>
            <a:r>
              <a:rPr lang="en-US" altLang="zh-CN" sz="1000" b="1" dirty="0">
                <a:ea typeface="楷体_GB2312"/>
              </a:rPr>
              <a:t>A0</a:t>
            </a:r>
            <a:r>
              <a:rPr lang="zh-CN" altLang="en-US" sz="1000" b="1" dirty="0">
                <a:ea typeface="楷体_GB2312"/>
              </a:rPr>
              <a:t>相连，此时可以使用连续端口地址</a:t>
            </a:r>
            <a:r>
              <a:rPr lang="en-US" altLang="zh-CN" sz="1000" b="1" dirty="0">
                <a:ea typeface="楷体_GB2312"/>
              </a:rPr>
              <a:t>20H  21H</a:t>
            </a:r>
            <a:endParaRPr lang="en-US" altLang="zh-CN" sz="1000" b="1" dirty="0">
              <a:ea typeface="楷体_GB2312"/>
            </a:endParaRPr>
          </a:p>
          <a:p>
            <a:pPr marL="228600" lvl="0" indent="-228600"/>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7" name="Rectangle 14"/>
          <p:cNvSpPr>
            <a:spLocks noGrp="1"/>
          </p:cNvSpPr>
          <p:nvPr>
            <p:ph type="dt" sz="half" idx="2"/>
          </p:nvPr>
        </p:nvSpPr>
        <p:spPr>
          <a:xfrm>
            <a:off x="990600" y="6248400"/>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8" name="Rectangle 15"/>
          <p:cNvSpPr>
            <a:spLocks noGrp="1"/>
          </p:cNvSpPr>
          <p:nvPr>
            <p:ph type="ftr" sz="quarter" idx="3"/>
          </p:nvPr>
        </p:nvSpPr>
        <p:spPr>
          <a:xfrm>
            <a:off x="3429000" y="6248400"/>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9" name="Rectangle 16"/>
          <p:cNvSpPr>
            <a:spLocks noGrp="1"/>
          </p:cNvSpPr>
          <p:nvPr>
            <p:ph type="sldNum" sz="quarter" idx="4"/>
          </p:nvPr>
        </p:nvSpPr>
        <p:spPr>
          <a:xfrm>
            <a:off x="6858000" y="6248400"/>
            <a:ext cx="1905000" cy="457200"/>
          </a:xfrm>
          <a:prstGeom prst="rect">
            <a:avLst/>
          </a:prstGeom>
          <a:ln>
            <a:miter/>
          </a:ln>
        </p:spPr>
        <p:txBody>
          <a:bodyPr vert="horz" wrap="square" lIns="91440" tIns="45720" rIns="91440" bIns="45720" numCol="1" anchor="b" anchorCtr="0" compatLnSpc="1"/>
          <a:lstStyle>
            <a:lvl1pPr>
              <a:defRPr>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8D24DA-271C-464A-BD7F-DBEAA8FEEA95}" type="slidenum">
              <a:rPr kumimoji="0"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4"/>
          <p:cNvSpPr>
            <a:spLocks noGrp="1"/>
          </p:cNvSpPr>
          <p:nvPr>
            <p:ph type="dt" sz="half" idx="2"/>
          </p:nvPr>
        </p:nvSpPr>
        <p:spPr>
          <a:xfrm>
            <a:off x="990600" y="6248400"/>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8" name="Rectangle 15"/>
          <p:cNvSpPr>
            <a:spLocks noGrp="1"/>
          </p:cNvSpPr>
          <p:nvPr>
            <p:ph type="ftr" sz="quarter" idx="3"/>
          </p:nvPr>
        </p:nvSpPr>
        <p:spPr>
          <a:xfrm>
            <a:off x="3429000" y="6248400"/>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9" name="Rectangle 16"/>
          <p:cNvSpPr>
            <a:spLocks noGrp="1"/>
          </p:cNvSpPr>
          <p:nvPr>
            <p:ph type="sldNum" sz="quarter" idx="4"/>
          </p:nvPr>
        </p:nvSpPr>
        <p:spPr>
          <a:xfrm>
            <a:off x="6858000" y="6248400"/>
            <a:ext cx="1905000" cy="457200"/>
          </a:xfrm>
          <a:prstGeom prst="rect">
            <a:avLst/>
          </a:prstGeom>
          <a:ln>
            <a:miter/>
          </a:ln>
        </p:spPr>
        <p:txBody>
          <a:bodyPr vert="horz" wrap="square" lIns="91440" tIns="45720" rIns="91440" bIns="45720" numCol="1" anchor="b" anchorCtr="0" compatLnSpc="1"/>
          <a:lstStyle>
            <a:lvl1pPr>
              <a:defRPr>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E1C0365-8AC3-4982-A6B1-53B3367D9695}" type="slidenum">
              <a:rPr kumimoji="0"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7" name="Rectangle 14"/>
          <p:cNvSpPr>
            <a:spLocks noGrp="1"/>
          </p:cNvSpPr>
          <p:nvPr>
            <p:ph type="dt" sz="half" idx="2"/>
          </p:nvPr>
        </p:nvSpPr>
        <p:spPr>
          <a:xfrm>
            <a:off x="990600" y="6248400"/>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8" name="Rectangle 15"/>
          <p:cNvSpPr>
            <a:spLocks noGrp="1"/>
          </p:cNvSpPr>
          <p:nvPr>
            <p:ph type="ftr" sz="quarter" idx="3"/>
          </p:nvPr>
        </p:nvSpPr>
        <p:spPr>
          <a:xfrm>
            <a:off x="3429000" y="6248400"/>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9" name="Rectangle 16"/>
          <p:cNvSpPr>
            <a:spLocks noGrp="1"/>
          </p:cNvSpPr>
          <p:nvPr>
            <p:ph type="sldNum" sz="quarter" idx="4"/>
          </p:nvPr>
        </p:nvSpPr>
        <p:spPr>
          <a:xfrm>
            <a:off x="6858000" y="6248400"/>
            <a:ext cx="1905000" cy="457200"/>
          </a:xfrm>
          <a:prstGeom prst="rect">
            <a:avLst/>
          </a:prstGeom>
          <a:ln>
            <a:miter/>
          </a:ln>
        </p:spPr>
        <p:txBody>
          <a:bodyPr vert="horz" wrap="square" lIns="91440" tIns="45720" rIns="91440" bIns="45720" numCol="1" anchor="b" anchorCtr="0" compatLnSpc="1"/>
          <a:lstStyle>
            <a:lvl1pPr>
              <a:defRPr>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2930420-294E-4463-B93F-708EE1BFAABA}" type="slidenum">
              <a:rPr kumimoji="0"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1182688" y="2017713"/>
            <a:ext cx="3808476"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6612" y="2017713"/>
            <a:ext cx="3808476"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4"/>
          <p:cNvSpPr>
            <a:spLocks noGrp="1"/>
          </p:cNvSpPr>
          <p:nvPr>
            <p:ph type="dt" sz="half" idx="12"/>
          </p:nvPr>
        </p:nvSpPr>
        <p:spPr>
          <a:xfrm>
            <a:off x="990600" y="6248400"/>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8" name="Rectangle 15"/>
          <p:cNvSpPr>
            <a:spLocks noGrp="1"/>
          </p:cNvSpPr>
          <p:nvPr>
            <p:ph type="ftr" sz="quarter" idx="3"/>
          </p:nvPr>
        </p:nvSpPr>
        <p:spPr>
          <a:xfrm>
            <a:off x="3429000" y="6248400"/>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9" name="Rectangle 16"/>
          <p:cNvSpPr>
            <a:spLocks noGrp="1"/>
          </p:cNvSpPr>
          <p:nvPr>
            <p:ph type="sldNum" sz="quarter" idx="4"/>
          </p:nvPr>
        </p:nvSpPr>
        <p:spPr>
          <a:xfrm>
            <a:off x="6858000" y="6248400"/>
            <a:ext cx="1905000" cy="457200"/>
          </a:xfrm>
          <a:prstGeom prst="rect">
            <a:avLst/>
          </a:prstGeom>
          <a:ln>
            <a:miter/>
          </a:ln>
        </p:spPr>
        <p:txBody>
          <a:bodyPr vert="horz" wrap="square" lIns="91440" tIns="45720" rIns="91440" bIns="45720" numCol="1" anchor="b" anchorCtr="0" compatLnSpc="1"/>
          <a:lstStyle>
            <a:lvl1pPr>
              <a:defRPr>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9E00872-8113-454C-880F-488E567B04D9}" type="slidenum">
              <a:rPr kumimoji="0"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4"/>
          <p:cNvSpPr>
            <a:spLocks noGrp="1"/>
          </p:cNvSpPr>
          <p:nvPr>
            <p:ph type="dt" sz="half" idx="12"/>
          </p:nvPr>
        </p:nvSpPr>
        <p:spPr>
          <a:xfrm>
            <a:off x="990600" y="6248400"/>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8" name="Rectangle 15"/>
          <p:cNvSpPr>
            <a:spLocks noGrp="1"/>
          </p:cNvSpPr>
          <p:nvPr>
            <p:ph type="ftr" sz="quarter" idx="13"/>
          </p:nvPr>
        </p:nvSpPr>
        <p:spPr>
          <a:xfrm>
            <a:off x="3429000" y="6248400"/>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9" name="Rectangle 16"/>
          <p:cNvSpPr>
            <a:spLocks noGrp="1"/>
          </p:cNvSpPr>
          <p:nvPr>
            <p:ph type="sldNum" sz="quarter" idx="14"/>
          </p:nvPr>
        </p:nvSpPr>
        <p:spPr>
          <a:xfrm>
            <a:off x="6858000" y="6248400"/>
            <a:ext cx="1905000" cy="457200"/>
          </a:xfrm>
          <a:prstGeom prst="rect">
            <a:avLst/>
          </a:prstGeom>
          <a:ln>
            <a:miter/>
          </a:ln>
        </p:spPr>
        <p:txBody>
          <a:bodyPr vert="horz" wrap="square" lIns="91440" tIns="45720" rIns="91440" bIns="45720" numCol="1" anchor="b" anchorCtr="0" compatLnSpc="1"/>
          <a:lstStyle>
            <a:lvl1pPr>
              <a:defRPr>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7E72278-57B7-433A-BEF4-251FE09F18D8}" type="slidenum">
              <a:rPr kumimoji="0"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17" name="Rectangle 14"/>
          <p:cNvSpPr>
            <a:spLocks noGrp="1"/>
          </p:cNvSpPr>
          <p:nvPr>
            <p:ph type="dt" sz="half" idx="2"/>
          </p:nvPr>
        </p:nvSpPr>
        <p:spPr>
          <a:xfrm>
            <a:off x="990600" y="6248400"/>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8" name="Rectangle 15"/>
          <p:cNvSpPr>
            <a:spLocks noGrp="1"/>
          </p:cNvSpPr>
          <p:nvPr>
            <p:ph type="ftr" sz="quarter" idx="3"/>
          </p:nvPr>
        </p:nvSpPr>
        <p:spPr>
          <a:xfrm>
            <a:off x="3429000" y="6248400"/>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9" name="Rectangle 16"/>
          <p:cNvSpPr>
            <a:spLocks noGrp="1"/>
          </p:cNvSpPr>
          <p:nvPr>
            <p:ph type="sldNum" sz="quarter" idx="4"/>
          </p:nvPr>
        </p:nvSpPr>
        <p:spPr>
          <a:xfrm>
            <a:off x="6858000" y="6248400"/>
            <a:ext cx="1905000" cy="457200"/>
          </a:xfrm>
          <a:prstGeom prst="rect">
            <a:avLst/>
          </a:prstGeom>
          <a:ln>
            <a:miter/>
          </a:ln>
        </p:spPr>
        <p:txBody>
          <a:bodyPr vert="horz" wrap="square" lIns="91440" tIns="45720" rIns="91440" bIns="45720" numCol="1" anchor="b" anchorCtr="0" compatLnSpc="1"/>
          <a:lstStyle>
            <a:lvl1pPr>
              <a:defRPr>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9D1491A-350A-4545-A927-C7AAE3EEFE30}" type="slidenum">
              <a:rPr kumimoji="0"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7" name="Rectangle 14"/>
          <p:cNvSpPr>
            <a:spLocks noGrp="1"/>
          </p:cNvSpPr>
          <p:nvPr>
            <p:ph type="dt" sz="half" idx="2"/>
          </p:nvPr>
        </p:nvSpPr>
        <p:spPr>
          <a:xfrm>
            <a:off x="990600" y="6248400"/>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8" name="Rectangle 15"/>
          <p:cNvSpPr>
            <a:spLocks noGrp="1"/>
          </p:cNvSpPr>
          <p:nvPr>
            <p:ph type="ftr" sz="quarter" idx="3"/>
          </p:nvPr>
        </p:nvSpPr>
        <p:spPr>
          <a:xfrm>
            <a:off x="3429000" y="6248400"/>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9" name="Rectangle 16"/>
          <p:cNvSpPr>
            <a:spLocks noGrp="1"/>
          </p:cNvSpPr>
          <p:nvPr>
            <p:ph type="sldNum" sz="quarter" idx="4"/>
          </p:nvPr>
        </p:nvSpPr>
        <p:spPr>
          <a:xfrm>
            <a:off x="6858000" y="6248400"/>
            <a:ext cx="1905000" cy="457200"/>
          </a:xfrm>
          <a:prstGeom prst="rect">
            <a:avLst/>
          </a:prstGeom>
          <a:ln>
            <a:miter/>
          </a:ln>
        </p:spPr>
        <p:txBody>
          <a:bodyPr vert="horz" wrap="square" lIns="91440" tIns="45720" rIns="91440" bIns="45720" numCol="1" anchor="b" anchorCtr="0" compatLnSpc="1"/>
          <a:lstStyle>
            <a:lvl1pPr>
              <a:defRPr>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64C98B9-6E7B-4B92-AA68-AD2770F71192}" type="slidenum">
              <a:rPr kumimoji="0"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7" name="Rectangle 14"/>
          <p:cNvSpPr>
            <a:spLocks noGrp="1"/>
          </p:cNvSpPr>
          <p:nvPr>
            <p:ph type="dt" sz="half" idx="12"/>
          </p:nvPr>
        </p:nvSpPr>
        <p:spPr>
          <a:xfrm>
            <a:off x="990600" y="6248400"/>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8" name="Rectangle 15"/>
          <p:cNvSpPr>
            <a:spLocks noGrp="1"/>
          </p:cNvSpPr>
          <p:nvPr>
            <p:ph type="ftr" sz="quarter" idx="3"/>
          </p:nvPr>
        </p:nvSpPr>
        <p:spPr>
          <a:xfrm>
            <a:off x="3429000" y="6248400"/>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9" name="Rectangle 16"/>
          <p:cNvSpPr>
            <a:spLocks noGrp="1"/>
          </p:cNvSpPr>
          <p:nvPr>
            <p:ph type="sldNum" sz="quarter" idx="4"/>
          </p:nvPr>
        </p:nvSpPr>
        <p:spPr>
          <a:xfrm>
            <a:off x="6858000" y="6248400"/>
            <a:ext cx="1905000" cy="457200"/>
          </a:xfrm>
          <a:prstGeom prst="rect">
            <a:avLst/>
          </a:prstGeom>
          <a:ln>
            <a:miter/>
          </a:ln>
        </p:spPr>
        <p:txBody>
          <a:bodyPr vert="horz" wrap="square" lIns="91440" tIns="45720" rIns="91440" bIns="45720" numCol="1" anchor="b" anchorCtr="0" compatLnSpc="1"/>
          <a:lstStyle>
            <a:lvl1pPr>
              <a:defRPr>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EB6A41B-CF1E-4A88-8F7C-28C984E0BB42}" type="slidenum">
              <a:rPr kumimoji="0"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None/>
              <a:defRPr/>
            </a:pPr>
            <a:endParaRPr kumimoji="0" lang="zh-CN" altLang="en-US" sz="2400" b="1" i="0" u="none" strike="noStrike" kern="1200" cap="none" spc="0" normalizeH="0" baseline="0" noProof="1">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
        <p:nvSpPr>
          <p:cNvPr id="17" name="Rectangle 14"/>
          <p:cNvSpPr>
            <a:spLocks noGrp="1"/>
          </p:cNvSpPr>
          <p:nvPr>
            <p:ph type="dt" sz="half" idx="12"/>
          </p:nvPr>
        </p:nvSpPr>
        <p:spPr>
          <a:xfrm>
            <a:off x="990600" y="6248400"/>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8" name="Rectangle 15"/>
          <p:cNvSpPr>
            <a:spLocks noGrp="1"/>
          </p:cNvSpPr>
          <p:nvPr>
            <p:ph type="ftr" sz="quarter" idx="3"/>
          </p:nvPr>
        </p:nvSpPr>
        <p:spPr>
          <a:xfrm>
            <a:off x="3429000" y="6248400"/>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9" name="Rectangle 16"/>
          <p:cNvSpPr>
            <a:spLocks noGrp="1"/>
          </p:cNvSpPr>
          <p:nvPr>
            <p:ph type="sldNum" sz="quarter" idx="4"/>
          </p:nvPr>
        </p:nvSpPr>
        <p:spPr>
          <a:xfrm>
            <a:off x="6858000" y="6248400"/>
            <a:ext cx="1905000" cy="457200"/>
          </a:xfrm>
          <a:prstGeom prst="rect">
            <a:avLst/>
          </a:prstGeom>
          <a:ln>
            <a:miter/>
          </a:ln>
        </p:spPr>
        <p:txBody>
          <a:bodyPr vert="horz" wrap="square" lIns="91440" tIns="45720" rIns="91440" bIns="45720" numCol="1" anchor="b" anchorCtr="0" compatLnSpc="1"/>
          <a:lstStyle>
            <a:lvl1pPr>
              <a:defRPr>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CF16901-54BE-4B07-AAA5-E5C83BE22BBC}" type="slidenum">
              <a:rPr kumimoji="0"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4"/>
          <p:cNvSpPr>
            <a:spLocks noGrp="1"/>
          </p:cNvSpPr>
          <p:nvPr>
            <p:ph type="dt" sz="half" idx="2"/>
          </p:nvPr>
        </p:nvSpPr>
        <p:spPr>
          <a:xfrm>
            <a:off x="990600" y="6248400"/>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8" name="Rectangle 15"/>
          <p:cNvSpPr>
            <a:spLocks noGrp="1"/>
          </p:cNvSpPr>
          <p:nvPr>
            <p:ph type="ftr" sz="quarter" idx="3"/>
          </p:nvPr>
        </p:nvSpPr>
        <p:spPr>
          <a:xfrm>
            <a:off x="3429000" y="6248400"/>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9" name="Rectangle 16"/>
          <p:cNvSpPr>
            <a:spLocks noGrp="1"/>
          </p:cNvSpPr>
          <p:nvPr>
            <p:ph type="sldNum" sz="quarter" idx="4"/>
          </p:nvPr>
        </p:nvSpPr>
        <p:spPr>
          <a:xfrm>
            <a:off x="6858000" y="6248400"/>
            <a:ext cx="1905000" cy="457200"/>
          </a:xfrm>
          <a:prstGeom prst="rect">
            <a:avLst/>
          </a:prstGeom>
          <a:ln>
            <a:miter/>
          </a:ln>
        </p:spPr>
        <p:txBody>
          <a:bodyPr vert="horz" wrap="square" lIns="91440" tIns="45720" rIns="91440" bIns="45720" numCol="1" anchor="b" anchorCtr="0" compatLnSpc="1"/>
          <a:lstStyle>
            <a:lvl1pPr>
              <a:defRPr>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6BA01EB-53B7-47F6-B93A-17E5D6A6A9DE}" type="slidenum">
              <a:rPr kumimoji="0"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1" y="214313"/>
            <a:ext cx="1951038" cy="5918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1150938" y="214313"/>
            <a:ext cx="5740009" cy="5918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4"/>
          <p:cNvSpPr>
            <a:spLocks noGrp="1"/>
          </p:cNvSpPr>
          <p:nvPr>
            <p:ph type="dt" sz="half" idx="2"/>
          </p:nvPr>
        </p:nvSpPr>
        <p:spPr>
          <a:xfrm>
            <a:off x="990600" y="6248400"/>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8" name="Rectangle 15"/>
          <p:cNvSpPr>
            <a:spLocks noGrp="1"/>
          </p:cNvSpPr>
          <p:nvPr>
            <p:ph type="ftr" sz="quarter" idx="3"/>
          </p:nvPr>
        </p:nvSpPr>
        <p:spPr>
          <a:xfrm>
            <a:off x="3429000" y="6248400"/>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9" name="Rectangle 16"/>
          <p:cNvSpPr>
            <a:spLocks noGrp="1"/>
          </p:cNvSpPr>
          <p:nvPr>
            <p:ph type="sldNum" sz="quarter" idx="4"/>
          </p:nvPr>
        </p:nvSpPr>
        <p:spPr>
          <a:xfrm>
            <a:off x="6858000" y="6248400"/>
            <a:ext cx="1905000" cy="457200"/>
          </a:xfrm>
          <a:prstGeom prst="rect">
            <a:avLst/>
          </a:prstGeom>
          <a:ln>
            <a:miter/>
          </a:ln>
        </p:spPr>
        <p:txBody>
          <a:bodyPr vert="horz" wrap="square" lIns="91440" tIns="45720" rIns="91440" bIns="45720" numCol="1" anchor="b" anchorCtr="0" compatLnSpc="1"/>
          <a:lstStyle>
            <a:lvl1pPr>
              <a:defRPr>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DB0448E-E101-4D7C-BABD-371A13C785DD}" type="slidenum">
              <a:rPr kumimoji="0"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1C1C1C"/>
              </a:solidFill>
              <a:effectLst/>
              <a:uLnTx/>
              <a:uFillTx/>
              <a:latin typeface="Arial" panose="020B060402020202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78FF6F2-5F33-4BCE-95C4-CDD8B4AB6D67}"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4543FE7-A1F1-4E46-9B17-52502B03C559}"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42868D2-0B8B-4671-BC70-CF0DE2AB8137}"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1182688" y="2017713"/>
            <a:ext cx="3808476"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6612" y="2017713"/>
            <a:ext cx="3808476"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1"/>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0B2F04A-6881-483E-B179-91CD75000773}"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1"/>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1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1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6C99B4D-E60E-42B6-A4CB-116338FE9C86}"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DB9EE12-45F7-42A4-B338-D1953EF83CDF}"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85BB127-0ABD-4BD0-BA35-5DE137DF1513}"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7" name="Rectangle 11"/>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309126-A845-4EBC-B005-64AF039CE6D4}"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None/>
              <a:defRPr/>
            </a:pPr>
            <a:endParaRPr kumimoji="0" lang="zh-CN" altLang="en-US" sz="2400" b="1" i="0" u="none" strike="noStrike" kern="1200" cap="none" spc="0" normalizeH="0" baseline="0" noProof="1">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
        <p:nvSpPr>
          <p:cNvPr id="17" name="Rectangle 11"/>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A7CFE41-FA61-4D68-A401-5F8A9F2DA56C}"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9AFE9F-4502-458D-B2BA-2F0787745010}"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1" y="214313"/>
            <a:ext cx="1951038" cy="5918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1150938" y="214313"/>
            <a:ext cx="5740009" cy="5918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B2DEFFC-A843-4197-9F91-4558D04A37D3}"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4DBA924-418B-43C8-9D13-1C764426E163}"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B89417A-94C5-4A86-86C1-85FD202F070F}"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115327-45C3-4C32-ADDB-CD5179B7C417}"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1182688" y="2017713"/>
            <a:ext cx="3808476"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6612" y="2017713"/>
            <a:ext cx="3808476"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1"/>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4F39082-5223-4DE9-AC52-A680F6B61A2E}"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1"/>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1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1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D199AE9-0052-4C93-9799-64A90A4F742F}"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4A8AA20-AA11-4127-A321-DEB616141F8A}"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F89357C-68C6-4ECE-A0BE-FB41E04DF330}"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7" name="Rectangle 11"/>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206B7FF-C572-4336-B508-4C9A80964AD4}"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None/>
              <a:defRPr/>
            </a:pPr>
            <a:endParaRPr kumimoji="0" lang="zh-CN" altLang="en-US" sz="2400" b="1" i="0" u="none" strike="noStrike" kern="1200" cap="none" spc="0" normalizeH="0" baseline="0" noProof="1">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
        <p:nvSpPr>
          <p:cNvPr id="17" name="Rectangle 11"/>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E2A590B-24CB-462E-93AD-27FD3120D5EB}"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B9946E6-C1A2-4F60-97F5-109D7C374F5B}"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1" y="214313"/>
            <a:ext cx="1951038" cy="5918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1150938" y="214313"/>
            <a:ext cx="5740009" cy="5918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2AA1655-7987-4587-935E-E01D2A610AAB}"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24F72C-CFD2-4720-8829-8621E39F708E}"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2782A6D-7E3A-493C-94F9-97DF6929C110}"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CA9EC10-6DBF-4E80-9492-1F9CDC09D4D7}"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1182688" y="2017713"/>
            <a:ext cx="3808476"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6612" y="2017713"/>
            <a:ext cx="3808476"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1"/>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E191886-814A-4390-8685-E97855702C8D}"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1"/>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1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1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BDF0D93-0BEC-49C1-AAA5-99E333F93D68}"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28DE6F1-D42C-42D4-A7E1-B5B8B9658D9C}"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C30030-45CC-4455-A2FE-DC740DDE56AD}"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7" name="Rectangle 11"/>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D771656-FCCB-4983-B78D-72AEB5127365}"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None/>
              <a:defRPr/>
            </a:pPr>
            <a:endParaRPr kumimoji="0" lang="zh-CN" altLang="en-US" sz="2400" b="1" i="0" u="none" strike="noStrike" kern="1200" cap="none" spc="0" normalizeH="0" baseline="0" noProof="1">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
        <p:nvSpPr>
          <p:cNvPr id="17" name="Rectangle 11"/>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6AD7201-6DAF-4340-AA89-B4A906165045}"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3389D22-77EB-423A-83F4-4BB3F2FF9F0A}"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1" y="214313"/>
            <a:ext cx="1951038" cy="5918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1150938" y="214313"/>
            <a:ext cx="5740009" cy="5918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11"/>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36E31F-1892-4474-BE91-6BBDB90745D2}"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7" name="Rectangle 4"/>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6"/>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E6AE09D-A5DE-4238-90A5-85FC54417F75}"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pull dir="ru"/>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4"/>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6"/>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067EC4A-66EE-4894-A2C3-49CD8C927D59}"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pull dir="ru"/>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7" name="Rectangle 4"/>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6"/>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7D0B262-1E7C-485F-88D3-6ABFF615CA81}"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pull dir="ru"/>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1182688" y="2017713"/>
            <a:ext cx="3808476"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6612" y="2017713"/>
            <a:ext cx="3808476"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4"/>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6"/>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22947E0-8464-41CB-926C-096DF8D348A1}"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pull dir="ru"/>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4"/>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Grp="1"/>
          </p:cNvSpPr>
          <p:nvPr>
            <p:ph type="ftr" sz="quarter" idx="1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6"/>
          <p:cNvSpPr>
            <a:spLocks noGrp="1"/>
          </p:cNvSpPr>
          <p:nvPr>
            <p:ph type="sldNum" sz="quarter" idx="1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185FF21-BCA4-452A-A5F5-8C933A185418}"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pull dir="ru"/>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17" name="Rectangle 4"/>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6"/>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150C465-AA3C-43EA-80B3-1FFCDAE23D84}"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pull dir="ru"/>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7" name="Rectangle 4"/>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6"/>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758C63D-15F0-4211-8EBA-CB7C277FE698}"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pull dir="ru"/>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7" name="Rectangle 4"/>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6"/>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E1B0F06-EAAF-407D-A59A-19BE748033B8}"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pull dir="ru"/>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None/>
              <a:defRPr/>
            </a:pPr>
            <a:endParaRPr kumimoji="0" lang="zh-CN" altLang="en-US" sz="2400" b="1" i="0" u="none" strike="noStrike" kern="1200" cap="none" spc="0" normalizeH="0" baseline="0" noProof="1">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
        <p:nvSpPr>
          <p:cNvPr id="17" name="Rectangle 4"/>
          <p:cNvSpPr>
            <a:spLocks noGrp="1"/>
          </p:cNvSpPr>
          <p:nvPr>
            <p:ph type="dt" sz="half" idx="1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6"/>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72B9C34-BFCE-4854-B0B6-9D5BD31AA58D}"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pull dir="ru"/>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4"/>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6"/>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B141C1B-410D-4EBD-A4CA-83398F7A5A11}"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pull dir="ru"/>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1" y="214313"/>
            <a:ext cx="1951038" cy="5918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1150938" y="214313"/>
            <a:ext cx="5740009" cy="5918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Rectangle 4"/>
          <p:cNvSpPr>
            <a:spLocks noGrp="1"/>
          </p:cNvSpPr>
          <p:nvPr>
            <p:ph type="dt" sz="half" idx="2"/>
          </p:nvPr>
        </p:nvSpPr>
        <p:spPr>
          <a:xfrm>
            <a:off x="1162050" y="6243638"/>
            <a:ext cx="1905000" cy="45720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5"/>
          <p:cNvSpPr>
            <a:spLocks noGrp="1"/>
          </p:cNvSpPr>
          <p:nvPr>
            <p:ph type="ftr" sz="quarter" idx="3"/>
          </p:nvPr>
        </p:nvSpPr>
        <p:spPr>
          <a:xfrm>
            <a:off x="3657600" y="6243638"/>
            <a:ext cx="2895600" cy="45720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6"/>
          <p:cNvSpPr>
            <a:spLocks noGrp="1"/>
          </p:cNvSpPr>
          <p:nvPr>
            <p:ph type="sldNum" sz="quarter" idx="4"/>
          </p:nvPr>
        </p:nvSpPr>
        <p:spPr>
          <a:xfrm>
            <a:off x="7042150" y="6243638"/>
            <a:ext cx="1905000" cy="45720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A198B90-AF81-4C1E-9E02-57997E92F8C8}"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pull dir="ru"/>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7" name="日期占位符 4"/>
          <p:cNvSpPr>
            <a:spLocks noGrp="1"/>
          </p:cNvSpPr>
          <p:nvPr>
            <p:ph type="dt" sz="half" idx="2"/>
          </p:nvPr>
        </p:nvSpPr>
        <p:spPr>
          <a:xfrm>
            <a:off x="457200" y="6245225"/>
            <a:ext cx="2133600" cy="47625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3"/>
          </p:nvPr>
        </p:nvSpPr>
        <p:spPr>
          <a:xfrm>
            <a:off x="8604250" y="6381750"/>
            <a:ext cx="539750" cy="47625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E78CBB41-C8C3-41A2-A6D2-BA900395C7E7}"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
        <p:nvSpPr>
          <p:cNvPr id="19" name="灯片编号占位符 6"/>
          <p:cNvSpPr>
            <a:spLocks noGrp="1"/>
          </p:cNvSpPr>
          <p:nvPr>
            <p:ph type="sldNum" sz="quarter" idx="4"/>
          </p:nvPr>
        </p:nvSpPr>
        <p:spPr>
          <a:xfrm>
            <a:off x="6553200" y="6245225"/>
            <a:ext cx="2133600" cy="47625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AB1BD5D-7696-4E76-918C-9DAAF7FBC21C}"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4"/>
          <p:cNvSpPr>
            <a:spLocks noGrp="1"/>
          </p:cNvSpPr>
          <p:nvPr>
            <p:ph type="dt" sz="half" idx="2"/>
          </p:nvPr>
        </p:nvSpPr>
        <p:spPr>
          <a:xfrm>
            <a:off x="457200" y="6245225"/>
            <a:ext cx="2133600" cy="47625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3"/>
          </p:nvPr>
        </p:nvSpPr>
        <p:spPr>
          <a:xfrm>
            <a:off x="8604250" y="6381750"/>
            <a:ext cx="539750" cy="47625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0691D36A-373D-4847-9B12-21F7374DE5B2}"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
        <p:nvSpPr>
          <p:cNvPr id="19" name="灯片编号占位符 6"/>
          <p:cNvSpPr>
            <a:spLocks noGrp="1"/>
          </p:cNvSpPr>
          <p:nvPr>
            <p:ph type="sldNum" sz="quarter" idx="4"/>
          </p:nvPr>
        </p:nvSpPr>
        <p:spPr>
          <a:xfrm>
            <a:off x="6553200" y="6245225"/>
            <a:ext cx="2133600" cy="47625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267BC1B-7132-406F-B971-4D092EF856A4}"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7" name="日期占位符 4"/>
          <p:cNvSpPr>
            <a:spLocks noGrp="1"/>
          </p:cNvSpPr>
          <p:nvPr>
            <p:ph type="dt" sz="half" idx="2"/>
          </p:nvPr>
        </p:nvSpPr>
        <p:spPr>
          <a:xfrm>
            <a:off x="457200" y="6245225"/>
            <a:ext cx="2133600" cy="47625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3"/>
          </p:nvPr>
        </p:nvSpPr>
        <p:spPr>
          <a:xfrm>
            <a:off x="8604250" y="6381750"/>
            <a:ext cx="539750" cy="47625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81124ADA-2622-496A-891A-A46AA2FC35C0}"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
        <p:nvSpPr>
          <p:cNvPr id="19" name="灯片编号占位符 6"/>
          <p:cNvSpPr>
            <a:spLocks noGrp="1"/>
          </p:cNvSpPr>
          <p:nvPr>
            <p:ph type="sldNum" sz="quarter" idx="4"/>
          </p:nvPr>
        </p:nvSpPr>
        <p:spPr>
          <a:xfrm>
            <a:off x="6553200" y="6245225"/>
            <a:ext cx="2133600" cy="47625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52A9A70-7FF3-4112-9BEA-425999820972}"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1182688" y="2017713"/>
            <a:ext cx="3808476"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6612" y="2017713"/>
            <a:ext cx="3808476"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4"/>
          <p:cNvSpPr>
            <a:spLocks noGrp="1"/>
          </p:cNvSpPr>
          <p:nvPr>
            <p:ph type="dt" sz="half" idx="12"/>
          </p:nvPr>
        </p:nvSpPr>
        <p:spPr>
          <a:xfrm>
            <a:off x="457200" y="6245225"/>
            <a:ext cx="2133600" cy="47625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3"/>
          </p:nvPr>
        </p:nvSpPr>
        <p:spPr>
          <a:xfrm>
            <a:off x="8604250" y="6381750"/>
            <a:ext cx="539750" cy="47625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6F7B6AE-DFA1-4590-A6BB-D1FB58C9E424}"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
        <p:nvSpPr>
          <p:cNvPr id="19" name="灯片编号占位符 6"/>
          <p:cNvSpPr>
            <a:spLocks noGrp="1"/>
          </p:cNvSpPr>
          <p:nvPr>
            <p:ph type="sldNum" sz="quarter" idx="4"/>
          </p:nvPr>
        </p:nvSpPr>
        <p:spPr>
          <a:xfrm>
            <a:off x="6553200" y="6245225"/>
            <a:ext cx="2133600" cy="47625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E6209D7-FE17-4BB1-AB9D-698465DFA8AE}"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4"/>
          <p:cNvSpPr>
            <a:spLocks noGrp="1"/>
          </p:cNvSpPr>
          <p:nvPr>
            <p:ph type="dt" sz="half" idx="12"/>
          </p:nvPr>
        </p:nvSpPr>
        <p:spPr>
          <a:xfrm>
            <a:off x="457200" y="6245225"/>
            <a:ext cx="2133600" cy="47625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13"/>
          </p:nvPr>
        </p:nvSpPr>
        <p:spPr>
          <a:xfrm>
            <a:off x="8604250" y="6381750"/>
            <a:ext cx="539750" cy="47625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9EAA58A-8DC6-4EB5-9676-B184FC5BC878}"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
        <p:nvSpPr>
          <p:cNvPr id="19" name="灯片编号占位符 6"/>
          <p:cNvSpPr>
            <a:spLocks noGrp="1"/>
          </p:cNvSpPr>
          <p:nvPr>
            <p:ph type="sldNum" sz="quarter" idx="14"/>
          </p:nvPr>
        </p:nvSpPr>
        <p:spPr>
          <a:xfrm>
            <a:off x="6553200" y="6245225"/>
            <a:ext cx="2133600" cy="47625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2DCFEED-8BEB-4030-9B8F-7CBB112879C6}"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17" name="日期占位符 4"/>
          <p:cNvSpPr>
            <a:spLocks noGrp="1"/>
          </p:cNvSpPr>
          <p:nvPr>
            <p:ph type="dt" sz="half" idx="2"/>
          </p:nvPr>
        </p:nvSpPr>
        <p:spPr>
          <a:xfrm>
            <a:off x="457200" y="6245225"/>
            <a:ext cx="2133600" cy="47625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3"/>
          </p:nvPr>
        </p:nvSpPr>
        <p:spPr>
          <a:xfrm>
            <a:off x="8604250" y="6381750"/>
            <a:ext cx="539750" cy="47625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FF54D4B4-8679-4C35-B6D9-01125C307454}"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
        <p:nvSpPr>
          <p:cNvPr id="19" name="灯片编号占位符 6"/>
          <p:cNvSpPr>
            <a:spLocks noGrp="1"/>
          </p:cNvSpPr>
          <p:nvPr>
            <p:ph type="sldNum" sz="quarter" idx="4"/>
          </p:nvPr>
        </p:nvSpPr>
        <p:spPr>
          <a:xfrm>
            <a:off x="6553200" y="6245225"/>
            <a:ext cx="2133600" cy="47625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3B3D405-1CA4-4907-BFE6-AAC3AA314C33}"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7" name="日期占位符 4"/>
          <p:cNvSpPr>
            <a:spLocks noGrp="1"/>
          </p:cNvSpPr>
          <p:nvPr>
            <p:ph type="dt" sz="half" idx="2"/>
          </p:nvPr>
        </p:nvSpPr>
        <p:spPr>
          <a:xfrm>
            <a:off x="457200" y="6245225"/>
            <a:ext cx="2133600" cy="47625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3"/>
          </p:nvPr>
        </p:nvSpPr>
        <p:spPr>
          <a:xfrm>
            <a:off x="8604250" y="6381750"/>
            <a:ext cx="539750" cy="47625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A460423-95E6-4D3D-BF93-F73BBFBEE750}"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
        <p:nvSpPr>
          <p:cNvPr id="19" name="灯片编号占位符 6"/>
          <p:cNvSpPr>
            <a:spLocks noGrp="1"/>
          </p:cNvSpPr>
          <p:nvPr>
            <p:ph type="sldNum" sz="quarter" idx="4"/>
          </p:nvPr>
        </p:nvSpPr>
        <p:spPr>
          <a:xfrm>
            <a:off x="6553200" y="6245225"/>
            <a:ext cx="2133600" cy="47625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F6F0B0E-1EF7-4FBC-930B-3ED156AED0EA}"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7" name="日期占位符 4"/>
          <p:cNvSpPr>
            <a:spLocks noGrp="1"/>
          </p:cNvSpPr>
          <p:nvPr>
            <p:ph type="dt" sz="half" idx="12"/>
          </p:nvPr>
        </p:nvSpPr>
        <p:spPr>
          <a:xfrm>
            <a:off x="457200" y="6245225"/>
            <a:ext cx="2133600" cy="47625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3"/>
          </p:nvPr>
        </p:nvSpPr>
        <p:spPr>
          <a:xfrm>
            <a:off x="8604250" y="6381750"/>
            <a:ext cx="539750" cy="47625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72E62A5-B90C-4929-AF0A-853EA00838E3}"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
        <p:nvSpPr>
          <p:cNvPr id="19" name="灯片编号占位符 6"/>
          <p:cNvSpPr>
            <a:spLocks noGrp="1"/>
          </p:cNvSpPr>
          <p:nvPr>
            <p:ph type="sldNum" sz="quarter" idx="4"/>
          </p:nvPr>
        </p:nvSpPr>
        <p:spPr>
          <a:xfrm>
            <a:off x="6553200" y="6245225"/>
            <a:ext cx="2133600" cy="47625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DBB85BC-2E83-4E5E-82A9-87F10F582065}"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None/>
              <a:defRPr/>
            </a:pPr>
            <a:endParaRPr kumimoji="0" lang="zh-CN" altLang="en-US" sz="2400" b="1" i="0" u="none" strike="noStrike" kern="1200" cap="none" spc="0" normalizeH="0" baseline="0" noProof="1">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
        <p:nvSpPr>
          <p:cNvPr id="17" name="日期占位符 4"/>
          <p:cNvSpPr>
            <a:spLocks noGrp="1"/>
          </p:cNvSpPr>
          <p:nvPr>
            <p:ph type="dt" sz="half" idx="12"/>
          </p:nvPr>
        </p:nvSpPr>
        <p:spPr>
          <a:xfrm>
            <a:off x="457200" y="6245225"/>
            <a:ext cx="2133600" cy="47625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3"/>
          </p:nvPr>
        </p:nvSpPr>
        <p:spPr>
          <a:xfrm>
            <a:off x="8604250" y="6381750"/>
            <a:ext cx="539750" cy="47625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F757908-142A-4EF6-9821-0F4704ABE441}"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
        <p:nvSpPr>
          <p:cNvPr id="19" name="灯片编号占位符 6"/>
          <p:cNvSpPr>
            <a:spLocks noGrp="1"/>
          </p:cNvSpPr>
          <p:nvPr>
            <p:ph type="sldNum" sz="quarter" idx="4"/>
          </p:nvPr>
        </p:nvSpPr>
        <p:spPr>
          <a:xfrm>
            <a:off x="6553200" y="6245225"/>
            <a:ext cx="2133600" cy="47625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C05891E-890C-400E-9EF2-F2E9D3F25516}"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4"/>
          <p:cNvSpPr>
            <a:spLocks noGrp="1"/>
          </p:cNvSpPr>
          <p:nvPr>
            <p:ph type="dt" sz="half" idx="2"/>
          </p:nvPr>
        </p:nvSpPr>
        <p:spPr>
          <a:xfrm>
            <a:off x="457200" y="6245225"/>
            <a:ext cx="2133600" cy="47625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3"/>
          </p:nvPr>
        </p:nvSpPr>
        <p:spPr>
          <a:xfrm>
            <a:off x="8604250" y="6381750"/>
            <a:ext cx="539750" cy="47625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1D4AA894-23F7-4C0C-B62C-2DD068B19495}"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
        <p:nvSpPr>
          <p:cNvPr id="19" name="灯片编号占位符 6"/>
          <p:cNvSpPr>
            <a:spLocks noGrp="1"/>
          </p:cNvSpPr>
          <p:nvPr>
            <p:ph type="sldNum" sz="quarter" idx="4"/>
          </p:nvPr>
        </p:nvSpPr>
        <p:spPr>
          <a:xfrm>
            <a:off x="6553200" y="6245225"/>
            <a:ext cx="2133600" cy="47625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F5E8D9A-539C-4364-AC74-A5177C083DC4}"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版">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1" y="214313"/>
            <a:ext cx="1951038" cy="5918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1150938" y="214313"/>
            <a:ext cx="5740009" cy="5918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4"/>
          <p:cNvSpPr>
            <a:spLocks noGrp="1"/>
          </p:cNvSpPr>
          <p:nvPr>
            <p:ph type="dt" sz="half" idx="2"/>
          </p:nvPr>
        </p:nvSpPr>
        <p:spPr>
          <a:xfrm>
            <a:off x="457200" y="6245225"/>
            <a:ext cx="2133600" cy="476250"/>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3"/>
          </p:nvPr>
        </p:nvSpPr>
        <p:spPr>
          <a:xfrm>
            <a:off x="8604250" y="6381750"/>
            <a:ext cx="539750" cy="476250"/>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219447D-BC1D-454E-B1F2-1DE581FEAEC4}"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
        <p:nvSpPr>
          <p:cNvPr id="19" name="灯片编号占位符 6"/>
          <p:cNvSpPr>
            <a:spLocks noGrp="1"/>
          </p:cNvSpPr>
          <p:nvPr>
            <p:ph type="sldNum" sz="quarter" idx="4"/>
          </p:nvPr>
        </p:nvSpPr>
        <p:spPr>
          <a:xfrm>
            <a:off x="6553200" y="6245225"/>
            <a:ext cx="2133600" cy="476250"/>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49502E6-B5E3-4B26-9140-742741E9F457}"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7" name="日期占位符 6"/>
          <p:cNvSpPr>
            <a:spLocks noGrp="1"/>
          </p:cNvSpPr>
          <p:nvPr>
            <p:ph type="dt" sz="half" idx="2"/>
          </p:nvPr>
        </p:nvSpPr>
        <p:spPr>
          <a:xfrm>
            <a:off x="395288" y="6308725"/>
            <a:ext cx="1368425" cy="357188"/>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7"/>
          <p:cNvSpPr>
            <a:spLocks noGrp="1"/>
          </p:cNvSpPr>
          <p:nvPr>
            <p:ph type="ftr" sz="quarter" idx="3"/>
          </p:nvPr>
        </p:nvSpPr>
        <p:spPr>
          <a:xfrm>
            <a:off x="2051050" y="6337300"/>
            <a:ext cx="1598613" cy="357188"/>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灯片编号占位符 8"/>
          <p:cNvSpPr>
            <a:spLocks noGrp="1"/>
          </p:cNvSpPr>
          <p:nvPr>
            <p:ph type="sldNum" sz="quarter" idx="4"/>
          </p:nvPr>
        </p:nvSpPr>
        <p:spPr>
          <a:xfrm>
            <a:off x="3995738" y="6337300"/>
            <a:ext cx="1584325" cy="357188"/>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609814F-E9C0-4758-8A7F-BC5450A50F63}"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6"/>
          <p:cNvSpPr>
            <a:spLocks noGrp="1"/>
          </p:cNvSpPr>
          <p:nvPr>
            <p:ph type="dt" sz="half" idx="2"/>
          </p:nvPr>
        </p:nvSpPr>
        <p:spPr>
          <a:xfrm>
            <a:off x="395288" y="6308725"/>
            <a:ext cx="1368425" cy="357188"/>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7"/>
          <p:cNvSpPr>
            <a:spLocks noGrp="1"/>
          </p:cNvSpPr>
          <p:nvPr>
            <p:ph type="ftr" sz="quarter" idx="3"/>
          </p:nvPr>
        </p:nvSpPr>
        <p:spPr>
          <a:xfrm>
            <a:off x="2051050" y="6337300"/>
            <a:ext cx="1598613" cy="357188"/>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灯片编号占位符 8"/>
          <p:cNvSpPr>
            <a:spLocks noGrp="1"/>
          </p:cNvSpPr>
          <p:nvPr>
            <p:ph type="sldNum" sz="quarter" idx="4"/>
          </p:nvPr>
        </p:nvSpPr>
        <p:spPr>
          <a:xfrm>
            <a:off x="3995738" y="6337300"/>
            <a:ext cx="1584325" cy="357188"/>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4EED850-393B-4E7A-80F8-84F6CE3A53F3}"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7" name="日期占位符 6"/>
          <p:cNvSpPr>
            <a:spLocks noGrp="1"/>
          </p:cNvSpPr>
          <p:nvPr>
            <p:ph type="dt" sz="half" idx="2"/>
          </p:nvPr>
        </p:nvSpPr>
        <p:spPr>
          <a:xfrm>
            <a:off x="395288" y="6308725"/>
            <a:ext cx="1368425" cy="357188"/>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7"/>
          <p:cNvSpPr>
            <a:spLocks noGrp="1"/>
          </p:cNvSpPr>
          <p:nvPr>
            <p:ph type="ftr" sz="quarter" idx="3"/>
          </p:nvPr>
        </p:nvSpPr>
        <p:spPr>
          <a:xfrm>
            <a:off x="2051050" y="6337300"/>
            <a:ext cx="1598613" cy="357188"/>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灯片编号占位符 8"/>
          <p:cNvSpPr>
            <a:spLocks noGrp="1"/>
          </p:cNvSpPr>
          <p:nvPr>
            <p:ph type="sldNum" sz="quarter" idx="4"/>
          </p:nvPr>
        </p:nvSpPr>
        <p:spPr>
          <a:xfrm>
            <a:off x="3995738" y="6337300"/>
            <a:ext cx="1584325" cy="357188"/>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7A0A462-8413-4D87-B55B-59268AF9131A}"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1182688" y="2017713"/>
            <a:ext cx="3808476"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6612" y="2017713"/>
            <a:ext cx="3808476"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6"/>
          <p:cNvSpPr>
            <a:spLocks noGrp="1"/>
          </p:cNvSpPr>
          <p:nvPr>
            <p:ph type="dt" sz="half" idx="12"/>
          </p:nvPr>
        </p:nvSpPr>
        <p:spPr>
          <a:xfrm>
            <a:off x="395288" y="6308725"/>
            <a:ext cx="1368425" cy="357188"/>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7"/>
          <p:cNvSpPr>
            <a:spLocks noGrp="1"/>
          </p:cNvSpPr>
          <p:nvPr>
            <p:ph type="ftr" sz="quarter" idx="3"/>
          </p:nvPr>
        </p:nvSpPr>
        <p:spPr>
          <a:xfrm>
            <a:off x="2051050" y="6337300"/>
            <a:ext cx="1598613" cy="357188"/>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灯片编号占位符 8"/>
          <p:cNvSpPr>
            <a:spLocks noGrp="1"/>
          </p:cNvSpPr>
          <p:nvPr>
            <p:ph type="sldNum" sz="quarter" idx="4"/>
          </p:nvPr>
        </p:nvSpPr>
        <p:spPr>
          <a:xfrm>
            <a:off x="3995738" y="6337300"/>
            <a:ext cx="1584325" cy="357188"/>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D8F6E89-B2A8-483E-AFBC-74A469C6F82A}"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6"/>
          <p:cNvSpPr>
            <a:spLocks noGrp="1"/>
          </p:cNvSpPr>
          <p:nvPr>
            <p:ph type="dt" sz="half" idx="12"/>
          </p:nvPr>
        </p:nvSpPr>
        <p:spPr>
          <a:xfrm>
            <a:off x="395288" y="6308725"/>
            <a:ext cx="1368425" cy="357188"/>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7"/>
          <p:cNvSpPr>
            <a:spLocks noGrp="1"/>
          </p:cNvSpPr>
          <p:nvPr>
            <p:ph type="ftr" sz="quarter" idx="13"/>
          </p:nvPr>
        </p:nvSpPr>
        <p:spPr>
          <a:xfrm>
            <a:off x="2051050" y="6337300"/>
            <a:ext cx="1598613" cy="357188"/>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灯片编号占位符 8"/>
          <p:cNvSpPr>
            <a:spLocks noGrp="1"/>
          </p:cNvSpPr>
          <p:nvPr>
            <p:ph type="sldNum" sz="quarter" idx="14"/>
          </p:nvPr>
        </p:nvSpPr>
        <p:spPr>
          <a:xfrm>
            <a:off x="3995738" y="6337300"/>
            <a:ext cx="1584325" cy="357188"/>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DEDA0C-BA3F-4DB7-A462-62D00B7C66F1}"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17" name="日期占位符 6"/>
          <p:cNvSpPr>
            <a:spLocks noGrp="1"/>
          </p:cNvSpPr>
          <p:nvPr>
            <p:ph type="dt" sz="half" idx="2"/>
          </p:nvPr>
        </p:nvSpPr>
        <p:spPr>
          <a:xfrm>
            <a:off x="395288" y="6308725"/>
            <a:ext cx="1368425" cy="357188"/>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7"/>
          <p:cNvSpPr>
            <a:spLocks noGrp="1"/>
          </p:cNvSpPr>
          <p:nvPr>
            <p:ph type="ftr" sz="quarter" idx="3"/>
          </p:nvPr>
        </p:nvSpPr>
        <p:spPr>
          <a:xfrm>
            <a:off x="2051050" y="6337300"/>
            <a:ext cx="1598613" cy="357188"/>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灯片编号占位符 8"/>
          <p:cNvSpPr>
            <a:spLocks noGrp="1"/>
          </p:cNvSpPr>
          <p:nvPr>
            <p:ph type="sldNum" sz="quarter" idx="4"/>
          </p:nvPr>
        </p:nvSpPr>
        <p:spPr>
          <a:xfrm>
            <a:off x="3995738" y="6337300"/>
            <a:ext cx="1584325" cy="357188"/>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8692BF9-3B5B-43A5-9B5A-D2F1C25F40BB}"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7" name="日期占位符 6"/>
          <p:cNvSpPr>
            <a:spLocks noGrp="1"/>
          </p:cNvSpPr>
          <p:nvPr>
            <p:ph type="dt" sz="half" idx="2"/>
          </p:nvPr>
        </p:nvSpPr>
        <p:spPr>
          <a:xfrm>
            <a:off x="395288" y="6308725"/>
            <a:ext cx="1368425" cy="357188"/>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7"/>
          <p:cNvSpPr>
            <a:spLocks noGrp="1"/>
          </p:cNvSpPr>
          <p:nvPr>
            <p:ph type="ftr" sz="quarter" idx="3"/>
          </p:nvPr>
        </p:nvSpPr>
        <p:spPr>
          <a:xfrm>
            <a:off x="2051050" y="6337300"/>
            <a:ext cx="1598613" cy="357188"/>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灯片编号占位符 8"/>
          <p:cNvSpPr>
            <a:spLocks noGrp="1"/>
          </p:cNvSpPr>
          <p:nvPr>
            <p:ph type="sldNum" sz="quarter" idx="4"/>
          </p:nvPr>
        </p:nvSpPr>
        <p:spPr>
          <a:xfrm>
            <a:off x="3995738" y="6337300"/>
            <a:ext cx="1584325" cy="357188"/>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26C6316-D497-4ECA-9C3C-D563EBD0315D}"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7" name="日期占位符 6"/>
          <p:cNvSpPr>
            <a:spLocks noGrp="1"/>
          </p:cNvSpPr>
          <p:nvPr>
            <p:ph type="dt" sz="half" idx="12"/>
          </p:nvPr>
        </p:nvSpPr>
        <p:spPr>
          <a:xfrm>
            <a:off x="395288" y="6308725"/>
            <a:ext cx="1368425" cy="357188"/>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7"/>
          <p:cNvSpPr>
            <a:spLocks noGrp="1"/>
          </p:cNvSpPr>
          <p:nvPr>
            <p:ph type="ftr" sz="quarter" idx="3"/>
          </p:nvPr>
        </p:nvSpPr>
        <p:spPr>
          <a:xfrm>
            <a:off x="2051050" y="6337300"/>
            <a:ext cx="1598613" cy="357188"/>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灯片编号占位符 8"/>
          <p:cNvSpPr>
            <a:spLocks noGrp="1"/>
          </p:cNvSpPr>
          <p:nvPr>
            <p:ph type="sldNum" sz="quarter" idx="4"/>
          </p:nvPr>
        </p:nvSpPr>
        <p:spPr>
          <a:xfrm>
            <a:off x="3995738" y="6337300"/>
            <a:ext cx="1584325" cy="357188"/>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1015AC7-D8DE-41E1-A641-7C354ED6FFDC}"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None/>
              <a:defRPr/>
            </a:pPr>
            <a:endParaRPr kumimoji="0" lang="zh-CN" altLang="en-US" sz="2400" b="1" i="0" u="none" strike="noStrike" kern="1200" cap="none" spc="0" normalizeH="0" baseline="0" noProof="1">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
        <p:nvSpPr>
          <p:cNvPr id="17" name="日期占位符 6"/>
          <p:cNvSpPr>
            <a:spLocks noGrp="1"/>
          </p:cNvSpPr>
          <p:nvPr>
            <p:ph type="dt" sz="half" idx="12"/>
          </p:nvPr>
        </p:nvSpPr>
        <p:spPr>
          <a:xfrm>
            <a:off x="395288" y="6308725"/>
            <a:ext cx="1368425" cy="357188"/>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7"/>
          <p:cNvSpPr>
            <a:spLocks noGrp="1"/>
          </p:cNvSpPr>
          <p:nvPr>
            <p:ph type="ftr" sz="quarter" idx="3"/>
          </p:nvPr>
        </p:nvSpPr>
        <p:spPr>
          <a:xfrm>
            <a:off x="2051050" y="6337300"/>
            <a:ext cx="1598613" cy="357188"/>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灯片编号占位符 8"/>
          <p:cNvSpPr>
            <a:spLocks noGrp="1"/>
          </p:cNvSpPr>
          <p:nvPr>
            <p:ph type="sldNum" sz="quarter" idx="4"/>
          </p:nvPr>
        </p:nvSpPr>
        <p:spPr>
          <a:xfrm>
            <a:off x="3995738" y="6337300"/>
            <a:ext cx="1584325" cy="357188"/>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EF32CFA-4D96-418E-BFC0-416E8C1EF0EB}"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6"/>
          <p:cNvSpPr>
            <a:spLocks noGrp="1"/>
          </p:cNvSpPr>
          <p:nvPr>
            <p:ph type="dt" sz="half" idx="2"/>
          </p:nvPr>
        </p:nvSpPr>
        <p:spPr>
          <a:xfrm>
            <a:off x="395288" y="6308725"/>
            <a:ext cx="1368425" cy="357188"/>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7"/>
          <p:cNvSpPr>
            <a:spLocks noGrp="1"/>
          </p:cNvSpPr>
          <p:nvPr>
            <p:ph type="ftr" sz="quarter" idx="3"/>
          </p:nvPr>
        </p:nvSpPr>
        <p:spPr>
          <a:xfrm>
            <a:off x="2051050" y="6337300"/>
            <a:ext cx="1598613" cy="357188"/>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灯片编号占位符 8"/>
          <p:cNvSpPr>
            <a:spLocks noGrp="1"/>
          </p:cNvSpPr>
          <p:nvPr>
            <p:ph type="sldNum" sz="quarter" idx="4"/>
          </p:nvPr>
        </p:nvSpPr>
        <p:spPr>
          <a:xfrm>
            <a:off x="3995738" y="6337300"/>
            <a:ext cx="1584325" cy="357188"/>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921C331-FD77-4A12-BAB0-1D08F390729D}"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版">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1" y="214313"/>
            <a:ext cx="1951038" cy="5918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1150938" y="214313"/>
            <a:ext cx="5740009" cy="5918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6"/>
          <p:cNvSpPr>
            <a:spLocks noGrp="1"/>
          </p:cNvSpPr>
          <p:nvPr>
            <p:ph type="dt" sz="half" idx="2"/>
          </p:nvPr>
        </p:nvSpPr>
        <p:spPr>
          <a:xfrm>
            <a:off x="395288" y="6308725"/>
            <a:ext cx="1368425" cy="357188"/>
          </a:xfrm>
          <a:prstGeom prst="rect">
            <a:avLst/>
          </a:prstGeom>
          <a:ln>
            <a:miter/>
          </a:ln>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页脚占位符 7"/>
          <p:cNvSpPr>
            <a:spLocks noGrp="1"/>
          </p:cNvSpPr>
          <p:nvPr>
            <p:ph type="ftr" sz="quarter" idx="3"/>
          </p:nvPr>
        </p:nvSpPr>
        <p:spPr>
          <a:xfrm>
            <a:off x="2051050" y="6337300"/>
            <a:ext cx="1598613" cy="357188"/>
          </a:xfrm>
          <a:prstGeom prst="rect">
            <a:avLst/>
          </a:prstGeom>
          <a:ln>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灯片编号占位符 8"/>
          <p:cNvSpPr>
            <a:spLocks noGrp="1"/>
          </p:cNvSpPr>
          <p:nvPr>
            <p:ph type="sldNum" sz="quarter" idx="4"/>
          </p:nvPr>
        </p:nvSpPr>
        <p:spPr>
          <a:xfrm>
            <a:off x="3995738" y="6337300"/>
            <a:ext cx="1584325" cy="357188"/>
          </a:xfrm>
          <a:prstGeom prst="rect">
            <a:avLst/>
          </a:prstGeom>
          <a:ln>
            <a:miter/>
          </a:ln>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CD04CF3-0831-40C3-9B1D-1F963962130B}"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endParaRPr>
          </a:p>
        </p:txBody>
      </p:sp>
    </p:spTree>
  </p:cSld>
  <p:clrMapOvr>
    <a:masterClrMapping/>
  </p:clrMapOvr>
  <p:transition spd="slow">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GIF"/><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1.GIF"/><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GIF"/><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3" Type="http://schemas.openxmlformats.org/officeDocument/2006/relationships/theme" Target="../theme/theme5.xml"/><Relationship Id="rId12" Type="http://schemas.openxmlformats.org/officeDocument/2006/relationships/image" Target="../media/image1.GIF"/><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3" Type="http://schemas.openxmlformats.org/officeDocument/2006/relationships/theme" Target="../theme/theme6.xml"/><Relationship Id="rId12" Type="http://schemas.openxmlformats.org/officeDocument/2006/relationships/image" Target="../media/image1.GIF"/><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3" Type="http://schemas.openxmlformats.org/officeDocument/2006/relationships/theme" Target="../theme/theme7.xml"/><Relationship Id="rId12" Type="http://schemas.openxmlformats.org/officeDocument/2006/relationships/image" Target="../media/image1.GIF"/><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1026" name="Group 2"/>
          <p:cNvGrpSpPr/>
          <p:nvPr/>
        </p:nvGrpSpPr>
        <p:grpSpPr>
          <a:xfrm>
            <a:off x="0" y="2438400"/>
            <a:ext cx="9009063" cy="1052513"/>
            <a:chOff x="0" y="0"/>
            <a:chExt cx="5675" cy="663"/>
          </a:xfrm>
        </p:grpSpPr>
        <p:grpSp>
          <p:nvGrpSpPr>
            <p:cNvPr id="1032" name="Group 3"/>
            <p:cNvGrpSpPr/>
            <p:nvPr/>
          </p:nvGrpSpPr>
          <p:grpSpPr>
            <a:xfrm>
              <a:off x="185" y="68"/>
              <a:ext cx="449" cy="299"/>
              <a:chOff x="0" y="0"/>
              <a:chExt cx="624" cy="432"/>
            </a:xfrm>
          </p:grpSpPr>
          <p:sp>
            <p:nvSpPr>
              <p:cNvPr id="2" name="Rectangle 4"/>
              <p:cNvSpPr>
                <a:spLocks noChangeArrowheads="1"/>
              </p:cNvSpPr>
              <p:nvPr/>
            </p:nvSpPr>
            <p:spPr bwMode="auto">
              <a:xfrm>
                <a:off x="0" y="0"/>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 name="Rectangle 5"/>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1033" name="Group 6"/>
            <p:cNvGrpSpPr/>
            <p:nvPr/>
          </p:nvGrpSpPr>
          <p:grpSpPr>
            <a:xfrm>
              <a:off x="263" y="334"/>
              <a:ext cx="466" cy="299"/>
              <a:chOff x="0" y="0"/>
              <a:chExt cx="672" cy="432"/>
            </a:xfrm>
          </p:grpSpPr>
          <p:sp>
            <p:nvSpPr>
              <p:cNvPr id="1037" name="Rectangle 7"/>
              <p:cNvSpPr>
                <a:spLocks noChangeArrowheads="1"/>
              </p:cNvSpPr>
              <p:nvPr/>
            </p:nvSpPr>
            <p:spPr bwMode="auto">
              <a:xfrm>
                <a:off x="0" y="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 name="Rectangle 8"/>
              <p:cNvSpPr>
                <a:spLocks noChangeArrowheads="1"/>
              </p:cNvSpPr>
              <p:nvPr/>
            </p:nvSpPr>
            <p:spPr bwMode="auto">
              <a:xfrm>
                <a:off x="336" y="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034" name="Rectangle 9"/>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5" name="Rectangle 10"/>
            <p:cNvSpPr>
              <a:spLocks noChangeArrowheads="1"/>
            </p:cNvSpPr>
            <p:nvPr/>
          </p:nvSpPr>
          <p:spPr bwMode="auto">
            <a:xfrm>
              <a:off x="400" y="0"/>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6" name="Rectangle 11"/>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027" name="Rectangle 9"/>
          <p:cNvSpPr>
            <a:spLocks noGrp="1"/>
          </p:cNvSpPr>
          <p:nvPr>
            <p:ph type="title"/>
          </p:nvPr>
        </p:nvSpPr>
        <p:spPr>
          <a:xfrm>
            <a:off x="1150938" y="214313"/>
            <a:ext cx="7793037" cy="1462087"/>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28" name="Rectangle 10"/>
          <p:cNvSpPr>
            <a:spLocks noGrp="1"/>
          </p:cNvSpPr>
          <p:nvPr>
            <p:ph type="body"/>
          </p:nvPr>
        </p:nvSpPr>
        <p:spPr>
          <a:xfrm>
            <a:off x="1182688" y="2017713"/>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8" name="Rectangle 14"/>
          <p:cNvSpPr>
            <a:spLocks noGrp="1"/>
          </p:cNvSpPr>
          <p:nvPr>
            <p:ph type="dt" sz="half"/>
          </p:nvPr>
        </p:nvSpPr>
        <p:spPr>
          <a:xfrm>
            <a:off x="990600" y="6248400"/>
            <a:ext cx="1905000" cy="457200"/>
          </a:xfrm>
          <a:prstGeom prst="rect">
            <a:avLst/>
          </a:prstGeom>
          <a:noFill/>
          <a:ln w="9525">
            <a:noFill/>
            <a:miter/>
          </a:ln>
        </p:spPr>
        <p:txBody>
          <a:bodyPr anchor="b"/>
          <a:lstStyle>
            <a:lvl1pPr eaLnBrk="1" hangingPunct="1">
              <a:buFont typeface="Arial" panose="020B0604020202020204" pitchFamily="34" charset="0"/>
              <a:buNone/>
              <a:defRPr sz="1400" noProof="1">
                <a:solidFill>
                  <a:srgbClr val="1C1C1C"/>
                </a:solidFill>
                <a:latin typeface="Tahoma" panose="020B0604030504040204" pitchFamily="34" charset="0"/>
                <a:ea typeface="楷体_GB2312" pitchFamily="1" charset="-122"/>
                <a:cs typeface="+mn-cs"/>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039" name="Rectangle 15"/>
          <p:cNvSpPr>
            <a:spLocks noGrp="1"/>
          </p:cNvSpPr>
          <p:nvPr>
            <p:ph type="ftr" sz="quarter"/>
          </p:nvPr>
        </p:nvSpPr>
        <p:spPr>
          <a:xfrm>
            <a:off x="3429000" y="6248400"/>
            <a:ext cx="2895600" cy="457200"/>
          </a:xfrm>
          <a:prstGeom prst="rect">
            <a:avLst/>
          </a:prstGeom>
          <a:noFill/>
          <a:ln w="9525">
            <a:noFill/>
            <a:miter/>
          </a:ln>
        </p:spPr>
        <p:txBody>
          <a:bodyPr anchor="b"/>
          <a:lstStyle>
            <a:lvl1pPr algn="ctr" eaLnBrk="1" hangingPunct="1">
              <a:buFont typeface="Arial" panose="020B0604020202020204" pitchFamily="34" charset="0"/>
              <a:buNone/>
              <a:defRPr sz="1400" noProof="1">
                <a:solidFill>
                  <a:srgbClr val="1C1C1C"/>
                </a:solidFill>
                <a:latin typeface="Tahoma" panose="020B0604030504040204" pitchFamily="34" charset="0"/>
                <a:ea typeface="楷体_GB2312" pitchFamily="1" charset="-122"/>
                <a:cs typeface="+mn-cs"/>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1C1C1C"/>
              </a:solidFill>
              <a:effectLst/>
              <a:uLnTx/>
              <a:uFillTx/>
              <a:latin typeface="Tahoma" panose="020B0604030504040204" pitchFamily="34" charset="0"/>
              <a:ea typeface="楷体_GB2312" pitchFamily="1" charset="-122"/>
              <a:cs typeface="+mn-cs"/>
            </a:endParaRPr>
          </a:p>
        </p:txBody>
      </p:sp>
      <p:sp>
        <p:nvSpPr>
          <p:cNvPr id="1040" name="Rectangle 16"/>
          <p:cNvSpPr>
            <a:spLocks noGrp="1"/>
          </p:cNvSpPr>
          <p:nvPr>
            <p:ph type="sldNum" sz="quarter"/>
          </p:nvPr>
        </p:nvSpPr>
        <p:spPr>
          <a:xfrm>
            <a:off x="6858000" y="6248400"/>
            <a:ext cx="1905000" cy="457200"/>
          </a:xfrm>
          <a:prstGeom prst="rect">
            <a:avLst/>
          </a:prstGeom>
          <a:noFill/>
          <a:ln w="9525">
            <a:noFill/>
            <a:miter/>
          </a:ln>
        </p:spPr>
        <p:txBody>
          <a:bodyPr anchor="b"/>
          <a:lstStyle>
            <a:lvl1pPr algn="r" eaLnBrk="1" hangingPunct="1">
              <a:buFont typeface="Arial" panose="020B0604020202020204" pitchFamily="34" charset="0"/>
              <a:buNone/>
              <a:defRPr sz="1400" noProof="1">
                <a:solidFill>
                  <a:srgbClr val="1C1C1C"/>
                </a:solidFill>
                <a:latin typeface="Arial" panose="020B0604020202020204" pitchFamily="34" charset="0"/>
                <a:ea typeface="楷体_GB2312" pitchFamily="1" charset="-122"/>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5C3027F-4273-47D1-ADAB-411050B18030}" type="slidenum">
              <a:rPr kumimoji="0" lang="zh-CN" altLang="en-US" sz="1400" b="0" i="0" u="none" strike="noStrike" kern="1200" cap="none" spc="0" normalizeH="0" baseline="0" noProof="1">
                <a:ln>
                  <a:noFill/>
                </a:ln>
                <a:solidFill>
                  <a:srgbClr val="1C1C1C"/>
                </a:solidFill>
                <a:effectLst/>
                <a:uLnTx/>
                <a:uFillTx/>
                <a:latin typeface="Arial" panose="020B0604020202020204" pitchFamily="34" charset="0"/>
                <a:ea typeface="楷体_GB2312" pitchFamily="1" charset="-122"/>
                <a:cs typeface="+mn-ea"/>
              </a:rPr>
            </a:fld>
            <a:endParaRPr kumimoji="0" lang="zh-CN" altLang="en-US" sz="1400" b="0" i="0" u="none" strike="noStrike" kern="1200" cap="none" spc="0" normalizeH="0" baseline="0" noProof="1">
              <a:ln>
                <a:noFill/>
              </a:ln>
              <a:solidFill>
                <a:srgbClr val="1C1C1C"/>
              </a:solidFill>
              <a:effectLst/>
              <a:uLnTx/>
              <a:uFillTx/>
              <a:latin typeface="Arial" panose="020B0604020202020204" pitchFamily="34" charset="0"/>
              <a:ea typeface="楷体_GB2312" pitchFamily="1"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zoom/>
  </p:transition>
  <p:hf sldNum="0" hdr="0" ftr="0" dt="0"/>
  <p:txStyles>
    <p:titleStyle>
      <a:lvl1pPr algn="l" rtl="0" eaLnBrk="0" fontAlgn="base" hangingPunct="0">
        <a:spcBef>
          <a:spcPct val="0"/>
        </a:spcBef>
        <a:spcAft>
          <a:spcPct val="0"/>
        </a:spcAft>
        <a:defRPr sz="4400" kern="1200">
          <a:solidFill>
            <a:srgbClr val="800000"/>
          </a:solidFill>
          <a:latin typeface="+mj-lt"/>
          <a:ea typeface="+mj-ea"/>
          <a:cs typeface="+mj-cs"/>
        </a:defRPr>
      </a:lvl1pPr>
      <a:lvl2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9pPr>
    </p:titleStyle>
    <p:body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ChangeArrowheads="1"/>
          </p:cNvSpPr>
          <p:nvPr/>
        </p:nvSpPr>
        <p:spPr bwMode="auto">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051" name="Rectangle 3"/>
          <p:cNvSpPr>
            <a:spLocks noChangeArrowheads="1"/>
          </p:cNvSpPr>
          <p:nvPr/>
        </p:nvSpPr>
        <p:spPr bwMode="auto">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052" name="Rectangle 4"/>
          <p:cNvSpPr>
            <a:spLocks noChangeArrowheads="1"/>
          </p:cNvSpPr>
          <p:nvPr/>
        </p:nvSpPr>
        <p:spPr bwMode="auto">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053" name="Rectangle 5"/>
          <p:cNvSpPr>
            <a:spLocks noChangeArrowheads="1"/>
          </p:cNvSpPr>
          <p:nvPr/>
        </p:nvSpPr>
        <p:spPr bwMode="auto">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054" name="Rectangle 6"/>
          <p:cNvSpPr>
            <a:spLocks noChangeArrowheads="1"/>
          </p:cNvSpPr>
          <p:nvPr/>
        </p:nvSpPr>
        <p:spPr bwMode="auto">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055" name="Rectangle 7"/>
          <p:cNvSpPr>
            <a:spLocks noChangeArrowheads="1"/>
          </p:cNvSpPr>
          <p:nvPr/>
        </p:nvSpPr>
        <p:spPr bwMode="auto">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056" name="Rectangle 8"/>
          <p:cNvSpPr>
            <a:spLocks noChangeArrowheads="1"/>
          </p:cNvSpPr>
          <p:nvPr/>
        </p:nvSpPr>
        <p:spPr bwMode="auto">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2057" name="Picture 14" descr="gif020"/>
          <p:cNvPicPr>
            <a:picLocks noChangeAspect="1"/>
          </p:cNvPicPr>
          <p:nvPr userDrawn="1"/>
        </p:nvPicPr>
        <p:blipFill>
          <a:blip r:embed="rId12"/>
          <a:stretch>
            <a:fillRect/>
          </a:stretch>
        </p:blipFill>
        <p:spPr>
          <a:xfrm>
            <a:off x="7019925" y="260350"/>
            <a:ext cx="304800" cy="304800"/>
          </a:xfrm>
          <a:prstGeom prst="rect">
            <a:avLst/>
          </a:prstGeom>
          <a:noFill/>
          <a:ln w="9525">
            <a:noFill/>
          </a:ln>
        </p:spPr>
      </p:pic>
      <p:pic>
        <p:nvPicPr>
          <p:cNvPr id="2058" name="Picture 15" descr="gif020"/>
          <p:cNvPicPr>
            <a:picLocks noChangeAspect="1"/>
          </p:cNvPicPr>
          <p:nvPr userDrawn="1"/>
        </p:nvPicPr>
        <p:blipFill>
          <a:blip r:embed="rId12"/>
          <a:stretch>
            <a:fillRect/>
          </a:stretch>
        </p:blipFill>
        <p:spPr>
          <a:xfrm>
            <a:off x="379413" y="260350"/>
            <a:ext cx="304800" cy="304800"/>
          </a:xfrm>
          <a:prstGeom prst="rect">
            <a:avLst/>
          </a:prstGeom>
          <a:noFill/>
          <a:ln w="9525">
            <a:noFill/>
          </a:ln>
        </p:spPr>
      </p:pic>
      <p:pic>
        <p:nvPicPr>
          <p:cNvPr id="2059" name="Picture 16" descr="gif020"/>
          <p:cNvPicPr>
            <a:picLocks noChangeAspect="1"/>
          </p:cNvPicPr>
          <p:nvPr userDrawn="1"/>
        </p:nvPicPr>
        <p:blipFill>
          <a:blip r:embed="rId12"/>
          <a:stretch>
            <a:fillRect/>
          </a:stretch>
        </p:blipFill>
        <p:spPr>
          <a:xfrm>
            <a:off x="8659813" y="1341438"/>
            <a:ext cx="304800" cy="304800"/>
          </a:xfrm>
          <a:prstGeom prst="rect">
            <a:avLst/>
          </a:prstGeom>
          <a:noFill/>
          <a:ln w="9525">
            <a:noFill/>
          </a:ln>
        </p:spPr>
      </p:pic>
      <p:sp>
        <p:nvSpPr>
          <p:cNvPr id="2060" name="Rectangle 9"/>
          <p:cNvSpPr>
            <a:spLocks noGrp="1"/>
          </p:cNvSpPr>
          <p:nvPr>
            <p:ph type="title"/>
          </p:nvPr>
        </p:nvSpPr>
        <p:spPr>
          <a:xfrm>
            <a:off x="1150938" y="214313"/>
            <a:ext cx="7793037" cy="1462087"/>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2061" name="Rectangle 10"/>
          <p:cNvSpPr>
            <a:spLocks noGrp="1"/>
          </p:cNvSpPr>
          <p:nvPr>
            <p:ph type="body"/>
          </p:nvPr>
        </p:nvSpPr>
        <p:spPr>
          <a:xfrm>
            <a:off x="1182688" y="2017713"/>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62" name="Rectangle 11"/>
          <p:cNvSpPr>
            <a:spLocks noGrp="1"/>
          </p:cNvSpPr>
          <p:nvPr>
            <p:ph type="dt" sz="half"/>
          </p:nvPr>
        </p:nvSpPr>
        <p:spPr>
          <a:xfrm>
            <a:off x="1162050" y="6243638"/>
            <a:ext cx="1905000" cy="457200"/>
          </a:xfrm>
          <a:prstGeom prst="rect">
            <a:avLst/>
          </a:prstGeom>
          <a:noFill/>
          <a:ln w="9525">
            <a:noFill/>
            <a:miter/>
          </a:ln>
        </p:spPr>
        <p:txBody>
          <a:bodyPr anchor="b"/>
          <a:lstStyle>
            <a:lvl1pP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063" name="Rectangle 12"/>
          <p:cNvSpPr>
            <a:spLocks noGrp="1"/>
          </p:cNvSpPr>
          <p:nvPr>
            <p:ph type="ftr" sz="quarter"/>
          </p:nvPr>
        </p:nvSpPr>
        <p:spPr>
          <a:xfrm>
            <a:off x="3657600" y="6243638"/>
            <a:ext cx="2895600" cy="457200"/>
          </a:xfrm>
          <a:prstGeom prst="rect">
            <a:avLst/>
          </a:prstGeom>
          <a:noFill/>
          <a:ln w="9525">
            <a:noFill/>
            <a:miter/>
          </a:ln>
        </p:spPr>
        <p:txBody>
          <a:bodyPr anchor="b"/>
          <a:lstStyle>
            <a:lvl1pPr algn="ct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064" name="Rectangle 13"/>
          <p:cNvSpPr>
            <a:spLocks noGrp="1"/>
          </p:cNvSpPr>
          <p:nvPr>
            <p:ph type="sldNum" sz="quarter"/>
          </p:nvPr>
        </p:nvSpPr>
        <p:spPr>
          <a:xfrm>
            <a:off x="7042150" y="6243638"/>
            <a:ext cx="1905000" cy="457200"/>
          </a:xfrm>
          <a:prstGeom prst="rect">
            <a:avLst/>
          </a:prstGeom>
          <a:noFill/>
          <a:ln w="9525">
            <a:noFill/>
            <a:miter/>
          </a:ln>
        </p:spPr>
        <p:txBody>
          <a:bodyPr anchor="b"/>
          <a:lstStyle>
            <a:lvl1pPr algn="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3BD15AB-EB92-4286-8131-E7E17D0126E9}"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zoom/>
  </p:transition>
  <p:hf sldNum="0" hdr="0" ftr="0" dt="0"/>
  <p:txStyles>
    <p:titleStyle>
      <a:lvl1pPr algn="l" rtl="0" eaLnBrk="0" fontAlgn="base" hangingPunct="0">
        <a:spcBef>
          <a:spcPct val="0"/>
        </a:spcBef>
        <a:spcAft>
          <a:spcPct val="0"/>
        </a:spcAft>
        <a:defRPr sz="4400" kern="1200">
          <a:solidFill>
            <a:srgbClr val="800000"/>
          </a:solidFill>
          <a:latin typeface="+mj-lt"/>
          <a:ea typeface="+mj-ea"/>
          <a:cs typeface="+mj-cs"/>
        </a:defRPr>
      </a:lvl1pPr>
      <a:lvl2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9pPr>
    </p:titleStyle>
    <p:body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ChangeArrowheads="1"/>
          </p:cNvSpPr>
          <p:nvPr/>
        </p:nvSpPr>
        <p:spPr bwMode="auto">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75" name="Rectangle 3"/>
          <p:cNvSpPr>
            <a:spLocks noChangeArrowheads="1"/>
          </p:cNvSpPr>
          <p:nvPr/>
        </p:nvSpPr>
        <p:spPr bwMode="auto">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76" name="Rectangle 4"/>
          <p:cNvSpPr>
            <a:spLocks noChangeArrowheads="1"/>
          </p:cNvSpPr>
          <p:nvPr/>
        </p:nvSpPr>
        <p:spPr bwMode="auto">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77" name="Rectangle 5"/>
          <p:cNvSpPr>
            <a:spLocks noChangeArrowheads="1"/>
          </p:cNvSpPr>
          <p:nvPr/>
        </p:nvSpPr>
        <p:spPr bwMode="auto">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78" name="Rectangle 6"/>
          <p:cNvSpPr>
            <a:spLocks noChangeArrowheads="1"/>
          </p:cNvSpPr>
          <p:nvPr/>
        </p:nvSpPr>
        <p:spPr bwMode="auto">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79" name="Rectangle 7"/>
          <p:cNvSpPr>
            <a:spLocks noChangeArrowheads="1"/>
          </p:cNvSpPr>
          <p:nvPr/>
        </p:nvSpPr>
        <p:spPr bwMode="auto">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80" name="Rectangle 8"/>
          <p:cNvSpPr>
            <a:spLocks noChangeArrowheads="1"/>
          </p:cNvSpPr>
          <p:nvPr/>
        </p:nvSpPr>
        <p:spPr bwMode="auto">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3081" name="Picture 14" descr="gif020"/>
          <p:cNvPicPr>
            <a:picLocks noChangeAspect="1"/>
          </p:cNvPicPr>
          <p:nvPr userDrawn="1"/>
        </p:nvPicPr>
        <p:blipFill>
          <a:blip r:embed="rId12"/>
          <a:stretch>
            <a:fillRect/>
          </a:stretch>
        </p:blipFill>
        <p:spPr>
          <a:xfrm>
            <a:off x="7019925" y="260350"/>
            <a:ext cx="304800" cy="304800"/>
          </a:xfrm>
          <a:prstGeom prst="rect">
            <a:avLst/>
          </a:prstGeom>
          <a:noFill/>
          <a:ln w="9525">
            <a:noFill/>
          </a:ln>
        </p:spPr>
      </p:pic>
      <p:pic>
        <p:nvPicPr>
          <p:cNvPr id="3082" name="Picture 15" descr="gif020"/>
          <p:cNvPicPr>
            <a:picLocks noChangeAspect="1"/>
          </p:cNvPicPr>
          <p:nvPr userDrawn="1"/>
        </p:nvPicPr>
        <p:blipFill>
          <a:blip r:embed="rId12"/>
          <a:stretch>
            <a:fillRect/>
          </a:stretch>
        </p:blipFill>
        <p:spPr>
          <a:xfrm>
            <a:off x="379413" y="260350"/>
            <a:ext cx="304800" cy="304800"/>
          </a:xfrm>
          <a:prstGeom prst="rect">
            <a:avLst/>
          </a:prstGeom>
          <a:noFill/>
          <a:ln w="9525">
            <a:noFill/>
          </a:ln>
        </p:spPr>
      </p:pic>
      <p:pic>
        <p:nvPicPr>
          <p:cNvPr id="3083" name="Picture 16" descr="gif020"/>
          <p:cNvPicPr>
            <a:picLocks noChangeAspect="1"/>
          </p:cNvPicPr>
          <p:nvPr userDrawn="1"/>
        </p:nvPicPr>
        <p:blipFill>
          <a:blip r:embed="rId12"/>
          <a:stretch>
            <a:fillRect/>
          </a:stretch>
        </p:blipFill>
        <p:spPr>
          <a:xfrm>
            <a:off x="8659813" y="1341438"/>
            <a:ext cx="304800" cy="304800"/>
          </a:xfrm>
          <a:prstGeom prst="rect">
            <a:avLst/>
          </a:prstGeom>
          <a:noFill/>
          <a:ln w="9525">
            <a:noFill/>
          </a:ln>
        </p:spPr>
      </p:pic>
      <p:sp>
        <p:nvSpPr>
          <p:cNvPr id="3084" name="Rectangle 9"/>
          <p:cNvSpPr>
            <a:spLocks noGrp="1"/>
          </p:cNvSpPr>
          <p:nvPr>
            <p:ph type="title"/>
          </p:nvPr>
        </p:nvSpPr>
        <p:spPr>
          <a:xfrm>
            <a:off x="1150938" y="214313"/>
            <a:ext cx="7793037" cy="1462087"/>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3085" name="Rectangle 10"/>
          <p:cNvSpPr>
            <a:spLocks noGrp="1"/>
          </p:cNvSpPr>
          <p:nvPr>
            <p:ph type="body"/>
          </p:nvPr>
        </p:nvSpPr>
        <p:spPr>
          <a:xfrm>
            <a:off x="1182688" y="2017713"/>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086" name="Rectangle 11"/>
          <p:cNvSpPr>
            <a:spLocks noGrp="1"/>
          </p:cNvSpPr>
          <p:nvPr>
            <p:ph type="dt" sz="half"/>
          </p:nvPr>
        </p:nvSpPr>
        <p:spPr>
          <a:xfrm>
            <a:off x="1162050" y="6243638"/>
            <a:ext cx="1905000" cy="457200"/>
          </a:xfrm>
          <a:prstGeom prst="rect">
            <a:avLst/>
          </a:prstGeom>
          <a:noFill/>
          <a:ln w="9525">
            <a:noFill/>
            <a:miter/>
          </a:ln>
        </p:spPr>
        <p:txBody>
          <a:bodyPr anchor="b"/>
          <a:lstStyle>
            <a:lvl1pP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87" name="Rectangle 12"/>
          <p:cNvSpPr>
            <a:spLocks noGrp="1"/>
          </p:cNvSpPr>
          <p:nvPr>
            <p:ph type="ftr" sz="quarter"/>
          </p:nvPr>
        </p:nvSpPr>
        <p:spPr>
          <a:xfrm>
            <a:off x="3657600" y="6243638"/>
            <a:ext cx="2895600" cy="457200"/>
          </a:xfrm>
          <a:prstGeom prst="rect">
            <a:avLst/>
          </a:prstGeom>
          <a:noFill/>
          <a:ln w="9525">
            <a:noFill/>
            <a:miter/>
          </a:ln>
        </p:spPr>
        <p:txBody>
          <a:bodyPr anchor="b"/>
          <a:lstStyle>
            <a:lvl1pPr algn="ct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88" name="Rectangle 13"/>
          <p:cNvSpPr>
            <a:spLocks noGrp="1"/>
          </p:cNvSpPr>
          <p:nvPr>
            <p:ph type="sldNum" sz="quarter"/>
          </p:nvPr>
        </p:nvSpPr>
        <p:spPr>
          <a:xfrm>
            <a:off x="7042150" y="6243638"/>
            <a:ext cx="1905000" cy="457200"/>
          </a:xfrm>
          <a:prstGeom prst="rect">
            <a:avLst/>
          </a:prstGeom>
          <a:noFill/>
          <a:ln w="9525">
            <a:noFill/>
            <a:miter/>
          </a:ln>
        </p:spPr>
        <p:txBody>
          <a:bodyPr anchor="b"/>
          <a:lstStyle>
            <a:lvl1pPr algn="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760A221-E85D-4494-84FC-04D82926DF0C}"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slow">
    <p:zoom/>
  </p:transition>
  <p:hf sldNum="0" hdr="0" ftr="0" dt="0"/>
  <p:txStyles>
    <p:titleStyle>
      <a:lvl1pPr algn="l" rtl="0" eaLnBrk="0" fontAlgn="base" hangingPunct="0">
        <a:spcBef>
          <a:spcPct val="0"/>
        </a:spcBef>
        <a:spcAft>
          <a:spcPct val="0"/>
        </a:spcAft>
        <a:defRPr sz="4400" kern="1200">
          <a:solidFill>
            <a:srgbClr val="800000"/>
          </a:solidFill>
          <a:latin typeface="+mj-lt"/>
          <a:ea typeface="+mj-ea"/>
          <a:cs typeface="+mj-cs"/>
        </a:defRPr>
      </a:lvl1pPr>
      <a:lvl2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9pPr>
    </p:titleStyle>
    <p:body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ChangeArrowheads="1"/>
          </p:cNvSpPr>
          <p:nvPr/>
        </p:nvSpPr>
        <p:spPr bwMode="auto">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099" name="Rectangle 3"/>
          <p:cNvSpPr>
            <a:spLocks noChangeArrowheads="1"/>
          </p:cNvSpPr>
          <p:nvPr/>
        </p:nvSpPr>
        <p:spPr bwMode="auto">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100" name="Rectangle 4"/>
          <p:cNvSpPr>
            <a:spLocks noChangeArrowheads="1"/>
          </p:cNvSpPr>
          <p:nvPr/>
        </p:nvSpPr>
        <p:spPr bwMode="auto">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101" name="Rectangle 5"/>
          <p:cNvSpPr>
            <a:spLocks noChangeArrowheads="1"/>
          </p:cNvSpPr>
          <p:nvPr/>
        </p:nvSpPr>
        <p:spPr bwMode="auto">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102" name="Rectangle 6"/>
          <p:cNvSpPr>
            <a:spLocks noChangeArrowheads="1"/>
          </p:cNvSpPr>
          <p:nvPr/>
        </p:nvSpPr>
        <p:spPr bwMode="auto">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103" name="Rectangle 7"/>
          <p:cNvSpPr>
            <a:spLocks noChangeArrowheads="1"/>
          </p:cNvSpPr>
          <p:nvPr/>
        </p:nvSpPr>
        <p:spPr bwMode="auto">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104" name="Rectangle 8"/>
          <p:cNvSpPr>
            <a:spLocks noChangeArrowheads="1"/>
          </p:cNvSpPr>
          <p:nvPr/>
        </p:nvSpPr>
        <p:spPr bwMode="auto">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4105" name="Picture 14" descr="gif020"/>
          <p:cNvPicPr>
            <a:picLocks noChangeAspect="1"/>
          </p:cNvPicPr>
          <p:nvPr userDrawn="1"/>
        </p:nvPicPr>
        <p:blipFill>
          <a:blip r:embed="rId12"/>
          <a:stretch>
            <a:fillRect/>
          </a:stretch>
        </p:blipFill>
        <p:spPr>
          <a:xfrm>
            <a:off x="7019925" y="260350"/>
            <a:ext cx="304800" cy="304800"/>
          </a:xfrm>
          <a:prstGeom prst="rect">
            <a:avLst/>
          </a:prstGeom>
          <a:noFill/>
          <a:ln w="9525">
            <a:noFill/>
          </a:ln>
        </p:spPr>
      </p:pic>
      <p:pic>
        <p:nvPicPr>
          <p:cNvPr id="4106" name="Picture 15" descr="gif020"/>
          <p:cNvPicPr>
            <a:picLocks noChangeAspect="1"/>
          </p:cNvPicPr>
          <p:nvPr userDrawn="1"/>
        </p:nvPicPr>
        <p:blipFill>
          <a:blip r:embed="rId12"/>
          <a:stretch>
            <a:fillRect/>
          </a:stretch>
        </p:blipFill>
        <p:spPr>
          <a:xfrm>
            <a:off x="379413" y="260350"/>
            <a:ext cx="304800" cy="304800"/>
          </a:xfrm>
          <a:prstGeom prst="rect">
            <a:avLst/>
          </a:prstGeom>
          <a:noFill/>
          <a:ln w="9525">
            <a:noFill/>
          </a:ln>
        </p:spPr>
      </p:pic>
      <p:pic>
        <p:nvPicPr>
          <p:cNvPr id="4107" name="Picture 16" descr="gif020"/>
          <p:cNvPicPr>
            <a:picLocks noChangeAspect="1"/>
          </p:cNvPicPr>
          <p:nvPr userDrawn="1"/>
        </p:nvPicPr>
        <p:blipFill>
          <a:blip r:embed="rId12"/>
          <a:stretch>
            <a:fillRect/>
          </a:stretch>
        </p:blipFill>
        <p:spPr>
          <a:xfrm>
            <a:off x="8659813" y="1341438"/>
            <a:ext cx="304800" cy="304800"/>
          </a:xfrm>
          <a:prstGeom prst="rect">
            <a:avLst/>
          </a:prstGeom>
          <a:noFill/>
          <a:ln w="9525">
            <a:noFill/>
          </a:ln>
        </p:spPr>
      </p:pic>
      <p:sp>
        <p:nvSpPr>
          <p:cNvPr id="4108" name="Rectangle 9"/>
          <p:cNvSpPr>
            <a:spLocks noGrp="1"/>
          </p:cNvSpPr>
          <p:nvPr>
            <p:ph type="title"/>
          </p:nvPr>
        </p:nvSpPr>
        <p:spPr>
          <a:xfrm>
            <a:off x="1150938" y="214313"/>
            <a:ext cx="7793037" cy="1462087"/>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4109" name="Rectangle 10"/>
          <p:cNvSpPr>
            <a:spLocks noGrp="1"/>
          </p:cNvSpPr>
          <p:nvPr>
            <p:ph type="body"/>
          </p:nvPr>
        </p:nvSpPr>
        <p:spPr>
          <a:xfrm>
            <a:off x="1182688" y="2017713"/>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10" name="Rectangle 11"/>
          <p:cNvSpPr>
            <a:spLocks noGrp="1"/>
          </p:cNvSpPr>
          <p:nvPr>
            <p:ph type="dt" sz="half"/>
          </p:nvPr>
        </p:nvSpPr>
        <p:spPr>
          <a:xfrm>
            <a:off x="1162050" y="6243638"/>
            <a:ext cx="1905000" cy="457200"/>
          </a:xfrm>
          <a:prstGeom prst="rect">
            <a:avLst/>
          </a:prstGeom>
          <a:noFill/>
          <a:ln w="9525">
            <a:noFill/>
            <a:miter/>
          </a:ln>
        </p:spPr>
        <p:txBody>
          <a:bodyPr anchor="b"/>
          <a:lstStyle>
            <a:lvl1pP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111" name="Rectangle 12"/>
          <p:cNvSpPr>
            <a:spLocks noGrp="1"/>
          </p:cNvSpPr>
          <p:nvPr>
            <p:ph type="ftr" sz="quarter"/>
          </p:nvPr>
        </p:nvSpPr>
        <p:spPr>
          <a:xfrm>
            <a:off x="3657600" y="6243638"/>
            <a:ext cx="2895600" cy="457200"/>
          </a:xfrm>
          <a:prstGeom prst="rect">
            <a:avLst/>
          </a:prstGeom>
          <a:noFill/>
          <a:ln w="9525">
            <a:noFill/>
            <a:miter/>
          </a:ln>
        </p:spPr>
        <p:txBody>
          <a:bodyPr anchor="b"/>
          <a:lstStyle>
            <a:lvl1pPr algn="ct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112" name="Rectangle 13"/>
          <p:cNvSpPr>
            <a:spLocks noGrp="1"/>
          </p:cNvSpPr>
          <p:nvPr>
            <p:ph type="sldNum" sz="quarter"/>
          </p:nvPr>
        </p:nvSpPr>
        <p:spPr>
          <a:xfrm>
            <a:off x="7042150" y="6243638"/>
            <a:ext cx="1905000" cy="457200"/>
          </a:xfrm>
          <a:prstGeom prst="rect">
            <a:avLst/>
          </a:prstGeom>
          <a:noFill/>
          <a:ln w="9525">
            <a:noFill/>
            <a:miter/>
          </a:ln>
        </p:spPr>
        <p:txBody>
          <a:bodyPr anchor="b"/>
          <a:lstStyle>
            <a:lvl1pPr algn="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3B6719-991B-4E5D-B042-5869DFEF066B}" type="slidenum">
              <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zh-CN" altLang="en-US"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slow">
    <p:zoom/>
  </p:transition>
  <p:hf sldNum="0" hdr="0" ftr="0" dt="0"/>
  <p:txStyles>
    <p:titleStyle>
      <a:lvl1pPr algn="l" rtl="0" eaLnBrk="0" fontAlgn="base" hangingPunct="0">
        <a:spcBef>
          <a:spcPct val="0"/>
        </a:spcBef>
        <a:spcAft>
          <a:spcPct val="0"/>
        </a:spcAft>
        <a:defRPr sz="4400" kern="1200">
          <a:solidFill>
            <a:srgbClr val="800000"/>
          </a:solidFill>
          <a:latin typeface="+mj-lt"/>
          <a:ea typeface="+mj-ea"/>
          <a:cs typeface="+mj-cs"/>
        </a:defRPr>
      </a:lvl1pPr>
      <a:lvl2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9pPr>
    </p:titleStyle>
    <p:body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ChangeArrowheads="1"/>
          </p:cNvSpPr>
          <p:nvPr/>
        </p:nvSpPr>
        <p:spPr bwMode="auto">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23" name="Rectangle 3"/>
          <p:cNvSpPr>
            <a:spLocks noChangeArrowheads="1"/>
          </p:cNvSpPr>
          <p:nvPr/>
        </p:nvSpPr>
        <p:spPr bwMode="auto">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24" name="Rectangle 4"/>
          <p:cNvSpPr>
            <a:spLocks noChangeArrowheads="1"/>
          </p:cNvSpPr>
          <p:nvPr/>
        </p:nvSpPr>
        <p:spPr bwMode="auto">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25" name="Rectangle 5"/>
          <p:cNvSpPr>
            <a:spLocks noChangeArrowheads="1"/>
          </p:cNvSpPr>
          <p:nvPr/>
        </p:nvSpPr>
        <p:spPr bwMode="auto">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26" name="Rectangle 6"/>
          <p:cNvSpPr>
            <a:spLocks noChangeArrowheads="1"/>
          </p:cNvSpPr>
          <p:nvPr/>
        </p:nvSpPr>
        <p:spPr bwMode="auto">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27" name="Rectangle 7"/>
          <p:cNvSpPr>
            <a:spLocks noChangeArrowheads="1"/>
          </p:cNvSpPr>
          <p:nvPr/>
        </p:nvSpPr>
        <p:spPr bwMode="auto">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28" name="Rectangle 8"/>
          <p:cNvSpPr>
            <a:spLocks noChangeArrowheads="1"/>
          </p:cNvSpPr>
          <p:nvPr/>
        </p:nvSpPr>
        <p:spPr bwMode="auto">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5129" name="Picture 14" descr="gif020"/>
          <p:cNvPicPr>
            <a:picLocks noChangeAspect="1"/>
          </p:cNvPicPr>
          <p:nvPr userDrawn="1"/>
        </p:nvPicPr>
        <p:blipFill>
          <a:blip r:embed="rId12"/>
          <a:stretch>
            <a:fillRect/>
          </a:stretch>
        </p:blipFill>
        <p:spPr>
          <a:xfrm>
            <a:off x="7019925" y="260350"/>
            <a:ext cx="304800" cy="304800"/>
          </a:xfrm>
          <a:prstGeom prst="rect">
            <a:avLst/>
          </a:prstGeom>
          <a:noFill/>
          <a:ln w="9525">
            <a:noFill/>
          </a:ln>
        </p:spPr>
      </p:pic>
      <p:pic>
        <p:nvPicPr>
          <p:cNvPr id="5130" name="Picture 15" descr="gif020"/>
          <p:cNvPicPr>
            <a:picLocks noChangeAspect="1"/>
          </p:cNvPicPr>
          <p:nvPr userDrawn="1"/>
        </p:nvPicPr>
        <p:blipFill>
          <a:blip r:embed="rId12"/>
          <a:stretch>
            <a:fillRect/>
          </a:stretch>
        </p:blipFill>
        <p:spPr>
          <a:xfrm>
            <a:off x="379413" y="260350"/>
            <a:ext cx="304800" cy="304800"/>
          </a:xfrm>
          <a:prstGeom prst="rect">
            <a:avLst/>
          </a:prstGeom>
          <a:noFill/>
          <a:ln w="9525">
            <a:noFill/>
          </a:ln>
        </p:spPr>
      </p:pic>
      <p:pic>
        <p:nvPicPr>
          <p:cNvPr id="5131" name="Picture 16" descr="gif020"/>
          <p:cNvPicPr>
            <a:picLocks noChangeAspect="1"/>
          </p:cNvPicPr>
          <p:nvPr userDrawn="1"/>
        </p:nvPicPr>
        <p:blipFill>
          <a:blip r:embed="rId12"/>
          <a:stretch>
            <a:fillRect/>
          </a:stretch>
        </p:blipFill>
        <p:spPr>
          <a:xfrm>
            <a:off x="8659813" y="1341438"/>
            <a:ext cx="304800" cy="304800"/>
          </a:xfrm>
          <a:prstGeom prst="rect">
            <a:avLst/>
          </a:prstGeom>
          <a:noFill/>
          <a:ln w="9525">
            <a:noFill/>
          </a:ln>
        </p:spPr>
      </p:pic>
      <p:sp>
        <p:nvSpPr>
          <p:cNvPr id="5132" name="Rectangle 9"/>
          <p:cNvSpPr>
            <a:spLocks noGrp="1"/>
          </p:cNvSpPr>
          <p:nvPr>
            <p:ph type="title"/>
          </p:nvPr>
        </p:nvSpPr>
        <p:spPr>
          <a:xfrm>
            <a:off x="1150938" y="214313"/>
            <a:ext cx="7793037" cy="1462087"/>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5133" name="Rectangle 10"/>
          <p:cNvSpPr>
            <a:spLocks noGrp="1"/>
          </p:cNvSpPr>
          <p:nvPr>
            <p:ph type="body"/>
          </p:nvPr>
        </p:nvSpPr>
        <p:spPr>
          <a:xfrm>
            <a:off x="1182688" y="2017713"/>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134" name="Rectangle 4"/>
          <p:cNvSpPr>
            <a:spLocks noGrp="1"/>
          </p:cNvSpPr>
          <p:nvPr>
            <p:ph type="dt" sz="half"/>
          </p:nvPr>
        </p:nvSpPr>
        <p:spPr>
          <a:xfrm>
            <a:off x="1162050" y="6243638"/>
            <a:ext cx="1905000" cy="457200"/>
          </a:xfrm>
          <a:prstGeom prst="rect">
            <a:avLst/>
          </a:prstGeom>
          <a:noFill/>
          <a:ln w="9525">
            <a:noFill/>
            <a:miter/>
          </a:ln>
        </p:spPr>
        <p:txBody>
          <a:bodyPr anchor="b"/>
          <a:lstStyle>
            <a:lvl1pP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35" name="Rectangle 5"/>
          <p:cNvSpPr>
            <a:spLocks noGrp="1"/>
          </p:cNvSpPr>
          <p:nvPr>
            <p:ph type="ftr" sz="quarter"/>
          </p:nvPr>
        </p:nvSpPr>
        <p:spPr>
          <a:xfrm>
            <a:off x="3657600" y="6243638"/>
            <a:ext cx="2895600" cy="457200"/>
          </a:xfrm>
          <a:prstGeom prst="rect">
            <a:avLst/>
          </a:prstGeom>
          <a:noFill/>
          <a:ln w="9525">
            <a:noFill/>
            <a:miter/>
          </a:ln>
        </p:spPr>
        <p:txBody>
          <a:bodyPr anchor="b"/>
          <a:lstStyle>
            <a:lvl1pPr algn="ct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36" name="Rectangle 6"/>
          <p:cNvSpPr>
            <a:spLocks noGrp="1"/>
          </p:cNvSpPr>
          <p:nvPr>
            <p:ph type="sldNum" sz="quarter"/>
          </p:nvPr>
        </p:nvSpPr>
        <p:spPr>
          <a:xfrm>
            <a:off x="7042150" y="6243638"/>
            <a:ext cx="1905000" cy="457200"/>
          </a:xfrm>
          <a:prstGeom prst="rect">
            <a:avLst/>
          </a:prstGeom>
          <a:noFill/>
          <a:ln w="9525">
            <a:noFill/>
            <a:miter/>
          </a:ln>
        </p:spPr>
        <p:txBody>
          <a:bodyPr anchor="b"/>
          <a:lstStyle>
            <a:lvl1pPr algn="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99D0417-E755-4F21-847D-FC66494A48B5}"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spd="slow">
    <p:pull dir="ru"/>
  </p:transition>
  <p:hf sldNum="0" hdr="0" ftr="0" dt="0"/>
  <p:txStyles>
    <p:titleStyle>
      <a:lvl1pPr algn="l" rtl="0" eaLnBrk="0" fontAlgn="base" hangingPunct="0">
        <a:spcBef>
          <a:spcPct val="0"/>
        </a:spcBef>
        <a:spcAft>
          <a:spcPct val="0"/>
        </a:spcAft>
        <a:defRPr sz="4400" kern="1200">
          <a:solidFill>
            <a:srgbClr val="800000"/>
          </a:solidFill>
          <a:latin typeface="+mj-lt"/>
          <a:ea typeface="+mj-ea"/>
          <a:cs typeface="+mj-cs"/>
        </a:defRPr>
      </a:lvl1pPr>
      <a:lvl2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9pPr>
    </p:titleStyle>
    <p:body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6146" name="Rectangle 2"/>
          <p:cNvSpPr>
            <a:spLocks noChangeArrowheads="1"/>
          </p:cNvSpPr>
          <p:nvPr/>
        </p:nvSpPr>
        <p:spPr bwMode="auto">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47" name="Rectangle 3"/>
          <p:cNvSpPr>
            <a:spLocks noChangeArrowheads="1"/>
          </p:cNvSpPr>
          <p:nvPr/>
        </p:nvSpPr>
        <p:spPr bwMode="auto">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48" name="Rectangle 4"/>
          <p:cNvSpPr>
            <a:spLocks noChangeArrowheads="1"/>
          </p:cNvSpPr>
          <p:nvPr/>
        </p:nvSpPr>
        <p:spPr bwMode="auto">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49" name="Rectangle 5"/>
          <p:cNvSpPr>
            <a:spLocks noChangeArrowheads="1"/>
          </p:cNvSpPr>
          <p:nvPr/>
        </p:nvSpPr>
        <p:spPr bwMode="auto">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50" name="Rectangle 6"/>
          <p:cNvSpPr>
            <a:spLocks noChangeArrowheads="1"/>
          </p:cNvSpPr>
          <p:nvPr/>
        </p:nvSpPr>
        <p:spPr bwMode="auto">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51" name="Rectangle 7"/>
          <p:cNvSpPr>
            <a:spLocks noChangeArrowheads="1"/>
          </p:cNvSpPr>
          <p:nvPr/>
        </p:nvSpPr>
        <p:spPr bwMode="auto">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52" name="Rectangle 8"/>
          <p:cNvSpPr>
            <a:spLocks noChangeArrowheads="1"/>
          </p:cNvSpPr>
          <p:nvPr/>
        </p:nvSpPr>
        <p:spPr bwMode="auto">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6153" name="Picture 14" descr="gif020"/>
          <p:cNvPicPr>
            <a:picLocks noChangeAspect="1"/>
          </p:cNvPicPr>
          <p:nvPr userDrawn="1"/>
        </p:nvPicPr>
        <p:blipFill>
          <a:blip r:embed="rId12"/>
          <a:stretch>
            <a:fillRect/>
          </a:stretch>
        </p:blipFill>
        <p:spPr>
          <a:xfrm>
            <a:off x="7019925" y="260350"/>
            <a:ext cx="304800" cy="304800"/>
          </a:xfrm>
          <a:prstGeom prst="rect">
            <a:avLst/>
          </a:prstGeom>
          <a:noFill/>
          <a:ln w="9525">
            <a:noFill/>
          </a:ln>
        </p:spPr>
      </p:pic>
      <p:pic>
        <p:nvPicPr>
          <p:cNvPr id="6154" name="Picture 15" descr="gif020"/>
          <p:cNvPicPr>
            <a:picLocks noChangeAspect="1"/>
          </p:cNvPicPr>
          <p:nvPr userDrawn="1"/>
        </p:nvPicPr>
        <p:blipFill>
          <a:blip r:embed="rId12"/>
          <a:stretch>
            <a:fillRect/>
          </a:stretch>
        </p:blipFill>
        <p:spPr>
          <a:xfrm>
            <a:off x="379413" y="260350"/>
            <a:ext cx="304800" cy="304800"/>
          </a:xfrm>
          <a:prstGeom prst="rect">
            <a:avLst/>
          </a:prstGeom>
          <a:noFill/>
          <a:ln w="9525">
            <a:noFill/>
          </a:ln>
        </p:spPr>
      </p:pic>
      <p:pic>
        <p:nvPicPr>
          <p:cNvPr id="6155" name="Picture 16" descr="gif020"/>
          <p:cNvPicPr>
            <a:picLocks noChangeAspect="1"/>
          </p:cNvPicPr>
          <p:nvPr userDrawn="1"/>
        </p:nvPicPr>
        <p:blipFill>
          <a:blip r:embed="rId12"/>
          <a:stretch>
            <a:fillRect/>
          </a:stretch>
        </p:blipFill>
        <p:spPr>
          <a:xfrm>
            <a:off x="8659813" y="1341438"/>
            <a:ext cx="304800" cy="304800"/>
          </a:xfrm>
          <a:prstGeom prst="rect">
            <a:avLst/>
          </a:prstGeom>
          <a:noFill/>
          <a:ln w="9525">
            <a:noFill/>
          </a:ln>
        </p:spPr>
      </p:pic>
      <p:sp>
        <p:nvSpPr>
          <p:cNvPr id="6156" name="Rectangle 9"/>
          <p:cNvSpPr>
            <a:spLocks noGrp="1"/>
          </p:cNvSpPr>
          <p:nvPr>
            <p:ph type="title"/>
          </p:nvPr>
        </p:nvSpPr>
        <p:spPr>
          <a:xfrm>
            <a:off x="1150938" y="214313"/>
            <a:ext cx="7793037" cy="1462087"/>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6157" name="Rectangle 10"/>
          <p:cNvSpPr>
            <a:spLocks noGrp="1"/>
          </p:cNvSpPr>
          <p:nvPr>
            <p:ph type="body"/>
          </p:nvPr>
        </p:nvSpPr>
        <p:spPr>
          <a:xfrm>
            <a:off x="1182688" y="2017713"/>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158" name="日期占位符 4"/>
          <p:cNvSpPr>
            <a:spLocks noGrp="1"/>
          </p:cNvSpPr>
          <p:nvPr>
            <p:ph type="dt" sz="half"/>
          </p:nvPr>
        </p:nvSpPr>
        <p:spPr>
          <a:xfrm>
            <a:off x="457200" y="6245225"/>
            <a:ext cx="2133600" cy="476250"/>
          </a:xfrm>
          <a:prstGeom prst="rect">
            <a:avLst/>
          </a:prstGeom>
          <a:noFill/>
          <a:ln w="9525">
            <a:noFill/>
            <a:miter/>
          </a:ln>
        </p:spPr>
        <p:txBody>
          <a:bodyPr anchor="b"/>
          <a:lstStyle>
            <a:lvl1pP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59" name="页脚占位符 5"/>
          <p:cNvSpPr>
            <a:spLocks noGrp="1"/>
          </p:cNvSpPr>
          <p:nvPr>
            <p:ph type="ftr" sz="quarter"/>
          </p:nvPr>
        </p:nvSpPr>
        <p:spPr>
          <a:xfrm>
            <a:off x="8604250" y="6381750"/>
            <a:ext cx="539750" cy="476250"/>
          </a:xfrm>
          <a:prstGeom prst="rect">
            <a:avLst/>
          </a:prstGeom>
          <a:noFill/>
          <a:ln w="9525">
            <a:noFill/>
            <a:miter/>
          </a:ln>
        </p:spPr>
        <p:txBody>
          <a:bodyPr anchor="b"/>
          <a:lstStyle>
            <a:lvl1pPr algn="ct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ea"/>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B795055C-50CA-41DC-AAEE-01DE0790B456}"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60" name="灯片编号占位符 6"/>
          <p:cNvSpPr>
            <a:spLocks noGrp="1"/>
          </p:cNvSpPr>
          <p:nvPr>
            <p:ph type="sldNum" sz="quarter"/>
          </p:nvPr>
        </p:nvSpPr>
        <p:spPr>
          <a:xfrm>
            <a:off x="6553200" y="6245225"/>
            <a:ext cx="2133600" cy="476250"/>
          </a:xfrm>
          <a:prstGeom prst="rect">
            <a:avLst/>
          </a:prstGeom>
          <a:noFill/>
          <a:ln w="9525">
            <a:noFill/>
            <a:miter/>
          </a:ln>
        </p:spPr>
        <p:txBody>
          <a:bodyPr anchor="b"/>
          <a:lstStyle>
            <a:lvl1pPr algn="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448B5E7-84D4-4863-822A-AC82B11686B4}"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p:hf sldNum="0" hdr="0" ftr="0" dt="0"/>
  <p:txStyles>
    <p:titleStyle>
      <a:lvl1pPr algn="l" rtl="0" eaLnBrk="0" fontAlgn="base" hangingPunct="0">
        <a:spcBef>
          <a:spcPct val="0"/>
        </a:spcBef>
        <a:spcAft>
          <a:spcPct val="0"/>
        </a:spcAft>
        <a:defRPr sz="4400" kern="1200">
          <a:solidFill>
            <a:srgbClr val="800000"/>
          </a:solidFill>
          <a:latin typeface="+mj-lt"/>
          <a:ea typeface="+mj-ea"/>
          <a:cs typeface="+mj-cs"/>
        </a:defRPr>
      </a:lvl1pPr>
      <a:lvl2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9pPr>
    </p:titleStyle>
    <p:body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170" name="Rectangle 2"/>
          <p:cNvSpPr>
            <a:spLocks noChangeArrowheads="1"/>
          </p:cNvSpPr>
          <p:nvPr/>
        </p:nvSpPr>
        <p:spPr bwMode="auto">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171" name="Rectangle 3"/>
          <p:cNvSpPr>
            <a:spLocks noChangeArrowheads="1"/>
          </p:cNvSpPr>
          <p:nvPr/>
        </p:nvSpPr>
        <p:spPr bwMode="auto">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172" name="Rectangle 4"/>
          <p:cNvSpPr>
            <a:spLocks noChangeArrowheads="1"/>
          </p:cNvSpPr>
          <p:nvPr/>
        </p:nvSpPr>
        <p:spPr bwMode="auto">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173" name="Rectangle 5"/>
          <p:cNvSpPr>
            <a:spLocks noChangeArrowheads="1"/>
          </p:cNvSpPr>
          <p:nvPr/>
        </p:nvSpPr>
        <p:spPr bwMode="auto">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174" name="Rectangle 6"/>
          <p:cNvSpPr>
            <a:spLocks noChangeArrowheads="1"/>
          </p:cNvSpPr>
          <p:nvPr/>
        </p:nvSpPr>
        <p:spPr bwMode="auto">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175" name="Rectangle 7"/>
          <p:cNvSpPr>
            <a:spLocks noChangeArrowheads="1"/>
          </p:cNvSpPr>
          <p:nvPr/>
        </p:nvSpPr>
        <p:spPr bwMode="auto">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176" name="Rectangle 8"/>
          <p:cNvSpPr>
            <a:spLocks noChangeArrowheads="1"/>
          </p:cNvSpPr>
          <p:nvPr/>
        </p:nvSpPr>
        <p:spPr bwMode="auto">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楷体_GB2312" pitchFamily="1" charset="-122"/>
              </a:defRPr>
            </a:lvl1pPr>
            <a:lvl2pPr marL="742950" indent="-285750">
              <a:buFont typeface="Arial" panose="020B0604020202020204" pitchFamily="34" charset="0"/>
              <a:defRPr>
                <a:solidFill>
                  <a:schemeClr val="tx1"/>
                </a:solidFill>
                <a:latin typeface="Arial" panose="020B0604020202020204" pitchFamily="34" charset="0"/>
                <a:ea typeface="楷体_GB2312" pitchFamily="1" charset="-122"/>
              </a:defRPr>
            </a:lvl2pPr>
            <a:lvl3pPr marL="1143000" indent="-228600">
              <a:buFont typeface="Arial" panose="020B0604020202020204" pitchFamily="34" charset="0"/>
              <a:defRPr>
                <a:solidFill>
                  <a:schemeClr val="tx1"/>
                </a:solidFill>
                <a:latin typeface="Arial" panose="020B0604020202020204" pitchFamily="34" charset="0"/>
                <a:ea typeface="楷体_GB2312" pitchFamily="1" charset="-122"/>
              </a:defRPr>
            </a:lvl3pPr>
            <a:lvl4pPr marL="1600200" indent="-228600">
              <a:buFont typeface="Arial" panose="020B0604020202020204" pitchFamily="34" charset="0"/>
              <a:defRPr>
                <a:solidFill>
                  <a:schemeClr val="tx1"/>
                </a:solidFill>
                <a:latin typeface="Arial" panose="020B0604020202020204" pitchFamily="34" charset="0"/>
                <a:ea typeface="楷体_GB2312" pitchFamily="1" charset="-122"/>
              </a:defRPr>
            </a:lvl4pPr>
            <a:lvl5pPr marL="2057400" indent="-228600">
              <a:buFont typeface="Arial" panose="020B0604020202020204" pitchFamily="34" charset="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7177" name="Picture 14" descr="gif020"/>
          <p:cNvPicPr>
            <a:picLocks noChangeAspect="1"/>
          </p:cNvPicPr>
          <p:nvPr userDrawn="1"/>
        </p:nvPicPr>
        <p:blipFill>
          <a:blip r:embed="rId12"/>
          <a:stretch>
            <a:fillRect/>
          </a:stretch>
        </p:blipFill>
        <p:spPr>
          <a:xfrm>
            <a:off x="7019925" y="260350"/>
            <a:ext cx="304800" cy="304800"/>
          </a:xfrm>
          <a:prstGeom prst="rect">
            <a:avLst/>
          </a:prstGeom>
          <a:noFill/>
          <a:ln w="9525">
            <a:noFill/>
          </a:ln>
        </p:spPr>
      </p:pic>
      <p:pic>
        <p:nvPicPr>
          <p:cNvPr id="7178" name="Picture 15" descr="gif020"/>
          <p:cNvPicPr>
            <a:picLocks noChangeAspect="1"/>
          </p:cNvPicPr>
          <p:nvPr userDrawn="1"/>
        </p:nvPicPr>
        <p:blipFill>
          <a:blip r:embed="rId12"/>
          <a:stretch>
            <a:fillRect/>
          </a:stretch>
        </p:blipFill>
        <p:spPr>
          <a:xfrm>
            <a:off x="379413" y="260350"/>
            <a:ext cx="304800" cy="304800"/>
          </a:xfrm>
          <a:prstGeom prst="rect">
            <a:avLst/>
          </a:prstGeom>
          <a:noFill/>
          <a:ln w="9525">
            <a:noFill/>
          </a:ln>
        </p:spPr>
      </p:pic>
      <p:pic>
        <p:nvPicPr>
          <p:cNvPr id="7179" name="Picture 16" descr="gif020"/>
          <p:cNvPicPr>
            <a:picLocks noChangeAspect="1"/>
          </p:cNvPicPr>
          <p:nvPr userDrawn="1"/>
        </p:nvPicPr>
        <p:blipFill>
          <a:blip r:embed="rId12"/>
          <a:stretch>
            <a:fillRect/>
          </a:stretch>
        </p:blipFill>
        <p:spPr>
          <a:xfrm>
            <a:off x="8659813" y="1341438"/>
            <a:ext cx="304800" cy="304800"/>
          </a:xfrm>
          <a:prstGeom prst="rect">
            <a:avLst/>
          </a:prstGeom>
          <a:noFill/>
          <a:ln w="9525">
            <a:noFill/>
          </a:ln>
        </p:spPr>
      </p:pic>
      <p:sp>
        <p:nvSpPr>
          <p:cNvPr id="7180" name="Rectangle 9"/>
          <p:cNvSpPr>
            <a:spLocks noGrp="1"/>
          </p:cNvSpPr>
          <p:nvPr>
            <p:ph type="title"/>
          </p:nvPr>
        </p:nvSpPr>
        <p:spPr>
          <a:xfrm>
            <a:off x="1150938" y="214313"/>
            <a:ext cx="7793037" cy="1462087"/>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7181" name="Rectangle 10"/>
          <p:cNvSpPr>
            <a:spLocks noGrp="1"/>
          </p:cNvSpPr>
          <p:nvPr>
            <p:ph type="body"/>
          </p:nvPr>
        </p:nvSpPr>
        <p:spPr>
          <a:xfrm>
            <a:off x="1182688" y="2017713"/>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182" name="日期占位符 6"/>
          <p:cNvSpPr>
            <a:spLocks noGrp="1"/>
          </p:cNvSpPr>
          <p:nvPr>
            <p:ph type="dt" sz="half"/>
          </p:nvPr>
        </p:nvSpPr>
        <p:spPr>
          <a:xfrm>
            <a:off x="395288" y="6308725"/>
            <a:ext cx="1368425" cy="357188"/>
          </a:xfrm>
          <a:prstGeom prst="rect">
            <a:avLst/>
          </a:prstGeom>
          <a:noFill/>
          <a:ln w="9525">
            <a:noFill/>
            <a:miter/>
          </a:ln>
        </p:spPr>
        <p:txBody>
          <a:bodyPr anchor="b"/>
          <a:lstStyle>
            <a:lvl1pP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183" name="页脚占位符 7"/>
          <p:cNvSpPr>
            <a:spLocks noGrp="1"/>
          </p:cNvSpPr>
          <p:nvPr>
            <p:ph type="ftr" sz="quarter"/>
          </p:nvPr>
        </p:nvSpPr>
        <p:spPr>
          <a:xfrm>
            <a:off x="2051050" y="6337300"/>
            <a:ext cx="1598613" cy="357188"/>
          </a:xfrm>
          <a:prstGeom prst="rect">
            <a:avLst/>
          </a:prstGeom>
          <a:noFill/>
          <a:ln w="9525">
            <a:noFill/>
            <a:miter/>
          </a:ln>
        </p:spPr>
        <p:txBody>
          <a:bodyPr anchor="b"/>
          <a:lstStyle>
            <a:lvl1pPr algn="ct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184" name="灯片编号占位符 8"/>
          <p:cNvSpPr>
            <a:spLocks noGrp="1"/>
          </p:cNvSpPr>
          <p:nvPr>
            <p:ph type="sldNum" sz="quarter"/>
          </p:nvPr>
        </p:nvSpPr>
        <p:spPr>
          <a:xfrm>
            <a:off x="3995738" y="6337300"/>
            <a:ext cx="1584325" cy="357188"/>
          </a:xfrm>
          <a:prstGeom prst="rect">
            <a:avLst/>
          </a:prstGeom>
          <a:noFill/>
          <a:ln w="9525">
            <a:noFill/>
            <a:miter/>
          </a:ln>
        </p:spPr>
        <p:txBody>
          <a:bodyPr anchor="b"/>
          <a:lstStyle>
            <a:lvl1pPr algn="r" eaLnBrk="1" hangingPunct="1">
              <a:buFont typeface="Arial" panose="020B0604020202020204" pitchFamily="34" charset="0"/>
              <a:buNone/>
              <a:defRPr sz="1400" noProof="1">
                <a:solidFill>
                  <a:srgbClr val="000000"/>
                </a:solidFill>
                <a:latin typeface="Tahoma" panose="020B0604030504040204" pitchFamily="34" charset="0"/>
                <a:ea typeface="宋体" panose="02010600030101010101" pitchFamily="2" charset="-122"/>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B81BD09-8C56-4487-8163-04C9A12C0AC5}" type="slidenum">
              <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ea"/>
              </a:rPr>
            </a:fld>
            <a:endParaRPr kumimoji="0" lang="en-US" altLang="x-none" sz="1400" b="0" i="0" u="none" strike="noStrike" kern="1200" cap="none" spc="0" normalizeH="0" baseline="0" noProof="1">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spd="slow">
    <p:zoom/>
  </p:transition>
  <p:hf sldNum="0" hdr="0" ftr="0" dt="0"/>
  <p:txStyles>
    <p:titleStyle>
      <a:lvl1pPr algn="l" rtl="0" eaLnBrk="0" fontAlgn="base" hangingPunct="0">
        <a:spcBef>
          <a:spcPct val="0"/>
        </a:spcBef>
        <a:spcAft>
          <a:spcPct val="0"/>
        </a:spcAft>
        <a:defRPr sz="4400" kern="1200">
          <a:solidFill>
            <a:srgbClr val="800000"/>
          </a:solidFill>
          <a:latin typeface="+mj-lt"/>
          <a:ea typeface="+mj-ea"/>
          <a:cs typeface="+mj-cs"/>
        </a:defRPr>
      </a:lvl1pPr>
      <a:lvl2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4400">
          <a:solidFill>
            <a:srgbClr val="800000"/>
          </a:solidFill>
          <a:latin typeface="Arial" panose="020B0604020202020204" pitchFamily="34" charset="0"/>
          <a:ea typeface="宋体" panose="02010600030101010101" pitchFamily="2" charset="-122"/>
        </a:defRPr>
      </a:lvl9pPr>
    </p:titleStyle>
    <p:body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hyperlink" Target="http://baike.baidu.com/view/9900.htm" TargetMode="External"/><Relationship Id="rId5" Type="http://schemas.openxmlformats.org/officeDocument/2006/relationships/hyperlink" Target="http://baike.baidu.com/view/600142.htm" TargetMode="External"/><Relationship Id="rId4" Type="http://schemas.openxmlformats.org/officeDocument/2006/relationships/hyperlink" Target="http://baike.baidu.com/view/185322.htm" TargetMode="External"/><Relationship Id="rId3" Type="http://schemas.openxmlformats.org/officeDocument/2006/relationships/hyperlink" Target="http://baike.baidu.com/view/2100794.htm" TargetMode="External"/><Relationship Id="rId2" Type="http://schemas.openxmlformats.org/officeDocument/2006/relationships/hyperlink" Target="http://baike.baidu.com/view/404367.htm" TargetMode="External"/><Relationship Id="rId1" Type="http://schemas.openxmlformats.org/officeDocument/2006/relationships/hyperlink" Target="http://baike.baidu.com/view/1075.ht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 Target="slide1.xml"/><Relationship Id="rId1" Type="http://schemas.openxmlformats.org/officeDocument/2006/relationships/image" Target="../media/image5.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6.jpeg"/></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8.xml"/><Relationship Id="rId2" Type="http://schemas.openxmlformats.org/officeDocument/2006/relationships/image" Target="../media/image7.emf"/><Relationship Id="rId1" Type="http://schemas.openxmlformats.org/officeDocument/2006/relationships/oleObject" Target="../embeddings/oleObject2.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18.xml"/><Relationship Id="rId3" Type="http://schemas.openxmlformats.org/officeDocument/2006/relationships/oleObject" Target="../embeddings/oleObject4.bin"/><Relationship Id="rId2" Type="http://schemas.openxmlformats.org/officeDocument/2006/relationships/image" Target="../media/image8.emf"/><Relationship Id="rId1" Type="http://schemas.openxmlformats.org/officeDocument/2006/relationships/oleObject" Target="../embeddings/oleObject3.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8.xml"/><Relationship Id="rId2" Type="http://schemas.openxmlformats.org/officeDocument/2006/relationships/image" Target="../media/image9.emf"/><Relationship Id="rId1" Type="http://schemas.openxmlformats.org/officeDocument/2006/relationships/oleObject" Target="../embeddings/oleObject5.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8.xml"/><Relationship Id="rId2" Type="http://schemas.openxmlformats.org/officeDocument/2006/relationships/image" Target="../media/image10.wmf"/><Relationship Id="rId1" Type="http://schemas.openxmlformats.org/officeDocument/2006/relationships/oleObject" Target="../embeddings/oleObject6.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image" Target="../media/image1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14.png"/><Relationship Id="rId1" Type="http://schemas.openxmlformats.org/officeDocument/2006/relationships/image" Target="../media/image13.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8.xml"/><Relationship Id="rId2" Type="http://schemas.openxmlformats.org/officeDocument/2006/relationships/image" Target="../media/image16.png"/><Relationship Id="rId1" Type="http://schemas.openxmlformats.org/officeDocument/2006/relationships/oleObject" Target="../embeddings/oleObject7.bin"/></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8.png"/></Relationships>
</file>

<file path=ppt/slides/_rels/slide102.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18.xml"/><Relationship Id="rId2" Type="http://schemas.openxmlformats.org/officeDocument/2006/relationships/image" Target="../media/image19.png"/><Relationship Id="rId1" Type="http://schemas.openxmlformats.org/officeDocument/2006/relationships/oleObject" Target="../embeddings/oleObject8.bin"/></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5.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18.xml"/><Relationship Id="rId2" Type="http://schemas.openxmlformats.org/officeDocument/2006/relationships/image" Target="../media/image20.png"/><Relationship Id="rId1" Type="http://schemas.openxmlformats.org/officeDocument/2006/relationships/oleObject" Target="../embeddings/oleObject9.bin"/></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2.png"/></Relationships>
</file>

<file path=ppt/slides/_rels/slide125.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18.xml"/><Relationship Id="rId2" Type="http://schemas.openxmlformats.org/officeDocument/2006/relationships/image" Target="../media/image23.emf"/><Relationship Id="rId1" Type="http://schemas.openxmlformats.org/officeDocument/2006/relationships/oleObject" Target="../embeddings/oleObject10.bin"/></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38.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vmlDrawing" Target="../drawings/vmlDrawing10.vml"/><Relationship Id="rId4" Type="http://schemas.openxmlformats.org/officeDocument/2006/relationships/slideLayout" Target="../slideLayouts/slideLayout18.xml"/><Relationship Id="rId3" Type="http://schemas.openxmlformats.org/officeDocument/2006/relationships/image" Target="../media/image25.png"/><Relationship Id="rId2" Type="http://schemas.openxmlformats.org/officeDocument/2006/relationships/image" Target="../media/image24.wmf"/><Relationship Id="rId1" Type="http://schemas.openxmlformats.org/officeDocument/2006/relationships/oleObject" Target="../embeddings/oleObject11.bin"/></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6.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58.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18.xml"/><Relationship Id="rId2" Type="http://schemas.openxmlformats.org/officeDocument/2006/relationships/image" Target="../media/image27.emf"/><Relationship Id="rId1" Type="http://schemas.openxmlformats.org/officeDocument/2006/relationships/oleObject" Target="../embeddings/oleObject12.bin"/></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0.xml.rels><?xml version="1.0" encoding="UTF-8" standalone="yes"?>
<Relationships xmlns="http://schemas.openxmlformats.org/package/2006/relationships"><Relationship Id="rId5" Type="http://schemas.openxmlformats.org/officeDocument/2006/relationships/slideLayout" Target="../slideLayouts/slideLayout73.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3.png"/><Relationship Id="rId1" Type="http://schemas.openxmlformats.org/officeDocument/2006/relationships/image" Target="../media/image3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5.png"/><Relationship Id="rId1" Type="http://schemas.openxmlformats.org/officeDocument/2006/relationships/image" Target="../media/image34.png"/></Relationships>
</file>

<file path=ppt/slides/_rels/slide18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5.png"/></Relationships>
</file>

<file path=ppt/slides/_rels/slide18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6.png"/></Relationships>
</file>

<file path=ppt/slides/_rels/slide18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6"/>
          <p:cNvSpPr txBox="1">
            <a:spLocks noGrp="1"/>
          </p:cNvSpPr>
          <p:nvPr/>
        </p:nvSpPr>
        <p:spPr>
          <a:xfrm>
            <a:off x="6858000" y="6248400"/>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eaLnBrk="1" hangingPunct="1">
              <a:lnSpc>
                <a:spcPct val="100000"/>
              </a:lnSpc>
              <a:spcBef>
                <a:spcPct val="0"/>
              </a:spcBef>
              <a:spcAft>
                <a:spcPct val="0"/>
              </a:spcAft>
              <a:buClrTx/>
              <a:buSzTx/>
              <a:buNone/>
            </a:pPr>
            <a:fld id="{9A0DB2DC-4C9A-4742-B13C-FB6460FD3503}" type="slidenum">
              <a:rPr lang="zh-CN" altLang="en-US" sz="1400" b="0" dirty="0">
                <a:solidFill>
                  <a:srgbClr val="1C1C1C"/>
                </a:solidFill>
                <a:ea typeface="楷体_GB2312"/>
              </a:rPr>
            </a:fld>
            <a:endParaRPr lang="zh-CN" altLang="en-US" sz="1400" b="0" dirty="0">
              <a:solidFill>
                <a:srgbClr val="1C1C1C"/>
              </a:solidFill>
              <a:latin typeface="Tahoma" panose="020B0604030504040204" pitchFamily="34" charset="0"/>
              <a:ea typeface="楷体_GB2312"/>
            </a:endParaRPr>
          </a:p>
        </p:txBody>
      </p:sp>
      <p:sp>
        <p:nvSpPr>
          <p:cNvPr id="89091" name="Rectangle 3"/>
          <p:cNvSpPr>
            <a:spLocks noGrp="1"/>
          </p:cNvSpPr>
          <p:nvPr>
            <p:ph type="ctrTitle" idx="4294967295"/>
          </p:nvPr>
        </p:nvSpPr>
        <p:spPr>
          <a:xfrm>
            <a:off x="1116013" y="1412875"/>
            <a:ext cx="6781800" cy="2286000"/>
          </a:xfrm>
        </p:spPr>
        <p:txBody>
          <a:bodyPr vert="horz" wrap="square" lIns="92075" tIns="46038" rIns="92075" bIns="46038" anchor="b" anchorCtr="0"/>
          <a:lstStyle>
            <a:lvl1pPr lvl="0">
              <a:buClrTx/>
              <a:buSzTx/>
              <a:buFontTx/>
              <a:defRPr/>
            </a:lvl1pPr>
          </a:lstStyle>
          <a:p>
            <a:pPr lvl="0" eaLnBrk="1" hangingPunct="1">
              <a:lnSpc>
                <a:spcPct val="120000"/>
              </a:lnSpc>
            </a:pPr>
            <a:r>
              <a:rPr lang="zh-CN" altLang="en-US" sz="4000" dirty="0">
                <a:latin typeface="隶书" panose="02010509060101010101" pitchFamily="49" charset="-122"/>
              </a:rPr>
              <a:t> </a:t>
            </a:r>
            <a:r>
              <a:rPr lang="en-US" altLang="zh-CN" sz="4000" dirty="0">
                <a:latin typeface="隶书" panose="02010509060101010101" pitchFamily="49" charset="-122"/>
              </a:rPr>
              <a:t> </a:t>
            </a:r>
            <a:r>
              <a:rPr lang="zh-CN" altLang="en-US" sz="4000" dirty="0">
                <a:latin typeface="黑体" panose="02010609060101010101" pitchFamily="49" charset="-122"/>
                <a:ea typeface="黑体" panose="02010609060101010101" pitchFamily="49" charset="-122"/>
              </a:rPr>
              <a:t>第</a:t>
            </a:r>
            <a:r>
              <a:rPr lang="zh-CN" altLang="en-US" sz="4000" dirty="0">
                <a:latin typeface="黑体" panose="02010609060101010101" pitchFamily="49" charset="-122"/>
                <a:ea typeface="黑体" panose="02010609060101010101" pitchFamily="49" charset="-122"/>
              </a:rPr>
              <a:t>七章</a:t>
            </a:r>
            <a:r>
              <a:rPr lang="zh-CN" altLang="en-US" sz="6000" dirty="0">
                <a:latin typeface="华文行楷" panose="02010800040101010101" pitchFamily="2" charset="-122"/>
                <a:ea typeface="华文行楷" panose="02010800040101010101" pitchFamily="2" charset="-122"/>
              </a:rPr>
              <a:t> </a:t>
            </a:r>
            <a:br>
              <a:rPr lang="zh-CN" altLang="en-US" sz="6000" dirty="0">
                <a:latin typeface="华文行楷" panose="02010800040101010101" pitchFamily="2" charset="-122"/>
                <a:ea typeface="华文行楷" panose="02010800040101010101" pitchFamily="2" charset="-122"/>
              </a:rPr>
            </a:br>
            <a:r>
              <a:rPr lang="zh-CN" altLang="en-US" sz="6000" dirty="0">
                <a:latin typeface="华文行楷" panose="02010800040101010101" pitchFamily="2" charset="-122"/>
                <a:ea typeface="华文行楷" panose="02010800040101010101" pitchFamily="2" charset="-122"/>
              </a:rPr>
              <a:t>  </a:t>
            </a:r>
            <a:r>
              <a:rPr lang="zh-CN" altLang="en-US" sz="5400" dirty="0">
                <a:latin typeface="华文行楷" panose="02010800040101010101" pitchFamily="2" charset="-122"/>
                <a:ea typeface="华文行楷" panose="02010800040101010101" pitchFamily="2" charset="-122"/>
              </a:rPr>
              <a:t>输入输出及中断技术</a:t>
            </a:r>
            <a:endParaRPr lang="zh-CN" altLang="en-US" sz="5400" dirty="0">
              <a:latin typeface="华文行楷" panose="02010800040101010101" pitchFamily="2" charset="-122"/>
              <a:ea typeface="华文行楷" panose="02010800040101010101" pitchFamily="2" charset="-122"/>
            </a:endParaRPr>
          </a:p>
        </p:txBody>
      </p:sp>
      <p:graphicFrame>
        <p:nvGraphicFramePr>
          <p:cNvPr id="89092" name="Object 18"/>
          <p:cNvGraphicFramePr>
            <a:graphicFrameLocks noChangeAspect="1"/>
          </p:cNvGraphicFramePr>
          <p:nvPr/>
        </p:nvGraphicFramePr>
        <p:xfrm>
          <a:off x="6011863" y="4475163"/>
          <a:ext cx="1655762" cy="1392237"/>
        </p:xfrm>
        <a:graphic>
          <a:graphicData uri="http://schemas.openxmlformats.org/presentationml/2006/ole">
            <mc:AlternateContent xmlns:mc="http://schemas.openxmlformats.org/markup-compatibility/2006">
              <mc:Choice xmlns:v="urn:schemas-microsoft-com:vml" Requires="v">
                <p:oleObj spid="_x0000_s3076" name="" r:id="rId1" imgW="4755515" imgH="4827905" progId="">
                  <p:embed/>
                </p:oleObj>
              </mc:Choice>
              <mc:Fallback>
                <p:oleObj name="" r:id="rId1" imgW="4755515" imgH="4827905" progId="">
                  <p:embed/>
                  <p:pic>
                    <p:nvPicPr>
                      <p:cNvPr id="0" name="图片 3075"/>
                      <p:cNvPicPr/>
                      <p:nvPr/>
                    </p:nvPicPr>
                    <p:blipFill>
                      <a:blip r:embed="rId2"/>
                      <a:stretch>
                        <a:fillRect/>
                      </a:stretch>
                    </p:blipFill>
                    <p:spPr>
                      <a:xfrm>
                        <a:off x="6011863" y="4475163"/>
                        <a:ext cx="1655762" cy="1392237"/>
                      </a:xfrm>
                      <a:prstGeom prst="rect">
                        <a:avLst/>
                      </a:prstGeom>
                      <a:noFill/>
                      <a:ln w="38100">
                        <a:noFill/>
                        <a:miter/>
                      </a:ln>
                    </p:spPr>
                  </p:pic>
                </p:oleObj>
              </mc:Fallback>
            </mc:AlternateContent>
          </a:graphicData>
        </a:graphic>
      </p:graphicFrame>
    </p:spTree>
  </p:cSld>
  <p:clrMapOvr>
    <a:masterClrMapping/>
  </p:clrMapOvr>
  <p:transition spd="slow">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90115" name="Rectangle 2"/>
          <p:cNvSpPr>
            <a:spLocks noGrp="1"/>
          </p:cNvSpPr>
          <p:nvPr>
            <p:ph type="title" idx="4294967295"/>
          </p:nvPr>
        </p:nvSpPr>
        <p:spPr/>
        <p:txBody>
          <a:bodyPr vert="horz" wrap="square" lIns="91440" tIns="45720" rIns="91440" bIns="45720" anchor="b" anchorCtr="0"/>
          <a:p>
            <a:pPr eaLnBrk="1" hangingPunct="1"/>
            <a:r>
              <a:rPr lang="zh-CN" altLang="en-US" dirty="0"/>
              <a:t>主要内容</a:t>
            </a:r>
            <a:endParaRPr lang="zh-CN" altLang="en-US" dirty="0"/>
          </a:p>
        </p:txBody>
      </p:sp>
      <p:sp>
        <p:nvSpPr>
          <p:cNvPr id="90116" name="Rectangle 3"/>
          <p:cNvSpPr>
            <a:spLocks noGrp="1"/>
          </p:cNvSpPr>
          <p:nvPr>
            <p:ph type="body" idx="4294967295"/>
          </p:nvPr>
        </p:nvSpPr>
        <p:spPr>
          <a:xfrm>
            <a:off x="1042988" y="2060575"/>
            <a:ext cx="6913562" cy="4464050"/>
          </a:xfrm>
        </p:spPr>
        <p:txBody>
          <a:bodyPr vert="horz" wrap="square" lIns="91440" tIns="45720" rIns="91440" bIns="45720" anchor="t" anchorCtr="0"/>
          <a:p>
            <a:pPr eaLnBrk="1" hangingPunct="1">
              <a:spcBef>
                <a:spcPct val="30000"/>
              </a:spcBef>
            </a:pPr>
            <a:r>
              <a:rPr lang="zh-CN" altLang="en-US" dirty="0"/>
              <a:t>基本概念</a:t>
            </a:r>
            <a:endParaRPr lang="zh-CN" altLang="en-US" dirty="0"/>
          </a:p>
          <a:p>
            <a:pPr lvl="1" eaLnBrk="1" hangingPunct="1">
              <a:spcBef>
                <a:spcPct val="30000"/>
              </a:spcBef>
            </a:pPr>
            <a:r>
              <a:rPr lang="zh-CN" altLang="en-US" dirty="0"/>
              <a:t>输入输出系统</a:t>
            </a:r>
            <a:endParaRPr lang="zh-CN" altLang="en-US" dirty="0"/>
          </a:p>
          <a:p>
            <a:pPr lvl="1" eaLnBrk="1" hangingPunct="1">
              <a:spcBef>
                <a:spcPct val="30000"/>
              </a:spcBef>
            </a:pPr>
            <a:r>
              <a:rPr lang="en-US" altLang="zh-CN" dirty="0"/>
              <a:t>I/O</a:t>
            </a:r>
            <a:r>
              <a:rPr lang="zh-CN" altLang="en-US" dirty="0"/>
              <a:t>接口和端口</a:t>
            </a:r>
            <a:endParaRPr lang="zh-CN" altLang="en-US" dirty="0"/>
          </a:p>
          <a:p>
            <a:pPr lvl="1" eaLnBrk="1" hangingPunct="1">
              <a:spcBef>
                <a:spcPct val="30000"/>
              </a:spcBef>
            </a:pPr>
            <a:r>
              <a:rPr lang="zh-CN" altLang="en-US" dirty="0"/>
              <a:t>端口的编址方式</a:t>
            </a:r>
            <a:endParaRPr lang="zh-CN" altLang="en-US" dirty="0"/>
          </a:p>
          <a:p>
            <a:pPr eaLnBrk="1" hangingPunct="1">
              <a:spcBef>
                <a:spcPct val="25000"/>
              </a:spcBef>
            </a:pPr>
            <a:r>
              <a:rPr lang="zh-CN" altLang="en-US" dirty="0"/>
              <a:t>简单接口芯片及其应用</a:t>
            </a:r>
            <a:endParaRPr lang="zh-CN" altLang="en-US" dirty="0"/>
          </a:p>
          <a:p>
            <a:pPr eaLnBrk="1" hangingPunct="1">
              <a:spcBef>
                <a:spcPct val="25000"/>
              </a:spcBef>
            </a:pPr>
            <a:r>
              <a:rPr lang="zh-CN" altLang="en-US" dirty="0"/>
              <a:t>基本输入输出方法</a:t>
            </a:r>
            <a:endParaRPr lang="zh-CN" altLang="en-US" dirty="0"/>
          </a:p>
          <a:p>
            <a:pPr eaLnBrk="1" hangingPunct="1">
              <a:spcBef>
                <a:spcPct val="25000"/>
              </a:spcBef>
            </a:pPr>
            <a:r>
              <a:rPr lang="zh-CN" altLang="en-US" dirty="0"/>
              <a:t>中断的基本概念及工作过程</a:t>
            </a:r>
            <a:endParaRPr lang="zh-CN" altLang="en-US" dirty="0"/>
          </a:p>
        </p:txBody>
      </p:sp>
    </p:spTree>
  </p:cSld>
  <p:clrMapOvr>
    <a:masterClrMapping/>
  </p:clrMapOvr>
  <p:transition spd="slow">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16"/>
          <p:cNvSpPr txBox="1">
            <a:spLocks noGrp="1"/>
          </p:cNvSpPr>
          <p:nvPr/>
        </p:nvSpPr>
        <p:spPr>
          <a:xfrm>
            <a:off x="6858000" y="6248400"/>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eaLnBrk="1" hangingPunct="1">
              <a:lnSpc>
                <a:spcPct val="100000"/>
              </a:lnSpc>
              <a:spcBef>
                <a:spcPct val="0"/>
              </a:spcBef>
              <a:spcAft>
                <a:spcPct val="0"/>
              </a:spcAft>
              <a:buClrTx/>
              <a:buSzTx/>
              <a:buNone/>
            </a:pPr>
            <a:fld id="{9A0DB2DC-4C9A-4742-B13C-FB6460FD3503}" type="slidenum">
              <a:rPr lang="zh-CN" altLang="en-US" sz="1400" b="0" dirty="0">
                <a:solidFill>
                  <a:srgbClr val="1C1C1C"/>
                </a:solidFill>
                <a:ea typeface="楷体_GB2312"/>
              </a:rPr>
            </a:fld>
            <a:endParaRPr lang="zh-CN" altLang="en-US" sz="1400" b="0" dirty="0">
              <a:solidFill>
                <a:srgbClr val="1C1C1C"/>
              </a:solidFill>
              <a:latin typeface="Tahoma" panose="020B0604030504040204" pitchFamily="34" charset="0"/>
              <a:ea typeface="楷体_GB2312"/>
            </a:endParaRPr>
          </a:p>
        </p:txBody>
      </p:sp>
      <p:sp>
        <p:nvSpPr>
          <p:cNvPr id="91139" name="Rectangle 4"/>
          <p:cNvSpPr>
            <a:spLocks noGrp="1"/>
          </p:cNvSpPr>
          <p:nvPr>
            <p:ph type="ctrTitle" idx="4294967295"/>
          </p:nvPr>
        </p:nvSpPr>
        <p:spPr>
          <a:xfrm>
            <a:off x="990600" y="1676400"/>
            <a:ext cx="6750050" cy="1462088"/>
          </a:xfrm>
        </p:spPr>
        <p:txBody>
          <a:bodyPr vert="horz" wrap="square" lIns="91440" tIns="45720" rIns="91440" bIns="45720" anchor="b" anchorCtr="0"/>
          <a:lstStyle>
            <a:lvl1pPr lvl="0">
              <a:buClrTx/>
              <a:buSzTx/>
              <a:buFontTx/>
              <a:defRPr/>
            </a:lvl1pPr>
          </a:lstStyle>
          <a:p>
            <a:pPr lvl="0" algn="ctr" eaLnBrk="1" hangingPunct="1"/>
            <a:r>
              <a:rPr lang="zh-CN" altLang="en-US" dirty="0">
                <a:latin typeface="宋体" panose="02010600030101010101" pitchFamily="2" charset="-122"/>
              </a:rPr>
              <a:t>§6.</a:t>
            </a:r>
            <a:r>
              <a:rPr lang="en-US" altLang="zh-CN" dirty="0">
                <a:latin typeface="宋体" panose="02010600030101010101" pitchFamily="2" charset="-122"/>
              </a:rPr>
              <a:t>1</a:t>
            </a:r>
            <a:r>
              <a:rPr lang="en-US" altLang="zh-CN" dirty="0">
                <a:latin typeface="华文行楷" panose="02010800040101010101" pitchFamily="2" charset="-122"/>
                <a:ea typeface="华文行楷" panose="02010800040101010101" pitchFamily="2" charset="-122"/>
              </a:rPr>
              <a:t>  </a:t>
            </a:r>
            <a:r>
              <a:rPr lang="zh-CN" altLang="en-US" dirty="0">
                <a:latin typeface="华文行楷" panose="02010800040101010101" pitchFamily="2" charset="-122"/>
                <a:ea typeface="华文行楷" panose="02010800040101010101" pitchFamily="2" charset="-122"/>
              </a:rPr>
              <a:t>输入输出系统</a:t>
            </a:r>
            <a:endParaRPr lang="zh-CN" altLang="en-US" dirty="0">
              <a:latin typeface="华文行楷" panose="02010800040101010101" pitchFamily="2" charset="-122"/>
              <a:ea typeface="华文行楷" panose="02010800040101010101" pitchFamily="2" charset="-122"/>
            </a:endParaRPr>
          </a:p>
        </p:txBody>
      </p:sp>
    </p:spTree>
  </p:cSld>
  <p:clrMapOvr>
    <a:masterClrMapping/>
  </p:clrMapOvr>
  <p:transition spd="slow">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92163" name="Rectangle 2"/>
          <p:cNvSpPr>
            <a:spLocks noGrp="1"/>
          </p:cNvSpPr>
          <p:nvPr>
            <p:ph type="title" idx="4294967295"/>
          </p:nvPr>
        </p:nvSpPr>
        <p:spPr/>
        <p:txBody>
          <a:bodyPr vert="horz" wrap="square" lIns="91440" tIns="45720" rIns="91440" bIns="45720" anchor="b" anchorCtr="0"/>
          <a:p>
            <a:pPr eaLnBrk="1" hangingPunct="1"/>
            <a:r>
              <a:rPr lang="zh-CN" altLang="en-US" dirty="0"/>
              <a:t>了解和掌握：</a:t>
            </a:r>
            <a:endParaRPr lang="zh-CN" altLang="en-US" dirty="0"/>
          </a:p>
        </p:txBody>
      </p:sp>
      <p:sp>
        <p:nvSpPr>
          <p:cNvPr id="92164" name="Rectangle 3"/>
          <p:cNvSpPr>
            <a:spLocks noGrp="1"/>
          </p:cNvSpPr>
          <p:nvPr>
            <p:ph type="body" idx="4294967295"/>
          </p:nvPr>
        </p:nvSpPr>
        <p:spPr>
          <a:xfrm>
            <a:off x="1182688" y="2017713"/>
            <a:ext cx="6918325" cy="4114800"/>
          </a:xfrm>
        </p:spPr>
        <p:txBody>
          <a:bodyPr vert="horz" wrap="square" lIns="91440" tIns="45720" rIns="91440" bIns="45720" anchor="t" anchorCtr="0"/>
          <a:p>
            <a:pPr eaLnBrk="1" hangingPunct="1">
              <a:lnSpc>
                <a:spcPct val="115000"/>
              </a:lnSpc>
            </a:pPr>
            <a:r>
              <a:rPr lang="zh-CN" altLang="en-US" dirty="0"/>
              <a:t>接口的基本功能</a:t>
            </a:r>
            <a:endParaRPr lang="zh-CN" altLang="en-US" dirty="0"/>
          </a:p>
          <a:p>
            <a:pPr eaLnBrk="1" hangingPunct="1">
              <a:lnSpc>
                <a:spcPct val="115000"/>
              </a:lnSpc>
            </a:pPr>
            <a:r>
              <a:rPr lang="zh-CN" altLang="en-US" dirty="0"/>
              <a:t>端口的概念</a:t>
            </a:r>
            <a:endParaRPr lang="zh-CN" altLang="en-US" dirty="0"/>
          </a:p>
          <a:p>
            <a:pPr eaLnBrk="1" hangingPunct="1">
              <a:lnSpc>
                <a:spcPct val="115000"/>
              </a:lnSpc>
            </a:pPr>
            <a:r>
              <a:rPr lang="zh-CN" altLang="en-US" dirty="0"/>
              <a:t>端口的编址方式</a:t>
            </a:r>
            <a:endParaRPr lang="zh-CN" altLang="en-US" dirty="0"/>
          </a:p>
          <a:p>
            <a:pPr eaLnBrk="1" hangingPunct="1">
              <a:lnSpc>
                <a:spcPct val="115000"/>
              </a:lnSpc>
            </a:pPr>
            <a:r>
              <a:rPr lang="en-US" altLang="zh-CN" dirty="0"/>
              <a:t>I/O</a:t>
            </a:r>
            <a:r>
              <a:rPr lang="zh-CN" altLang="en-US" dirty="0"/>
              <a:t>地址译码</a:t>
            </a:r>
            <a:endParaRPr lang="zh-CN" altLang="en-US" dirty="0"/>
          </a:p>
        </p:txBody>
      </p:sp>
    </p:spTree>
  </p:cSld>
  <p:clrMapOvr>
    <a:masterClrMapping/>
  </p:clrMapOvr>
  <p:transition spd="slow">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93187" name="Rectangle 2"/>
          <p:cNvSpPr>
            <a:spLocks noGrp="1"/>
          </p:cNvSpPr>
          <p:nvPr>
            <p:ph type="title" idx="4294967295"/>
          </p:nvPr>
        </p:nvSpPr>
        <p:spPr/>
        <p:txBody>
          <a:bodyPr vert="horz" wrap="square" lIns="91440" tIns="45720" rIns="91440" bIns="45720" anchor="b" anchorCtr="0"/>
          <a:p>
            <a:pPr eaLnBrk="1" hangingPunct="1"/>
            <a:r>
              <a:rPr lang="zh-CN" altLang="en-US" sz="4000" b="1" dirty="0"/>
              <a:t>一、为什么要引入</a:t>
            </a:r>
            <a:r>
              <a:rPr lang="en-US" altLang="zh-CN" sz="3600" b="1" dirty="0"/>
              <a:t>I/O</a:t>
            </a:r>
            <a:r>
              <a:rPr lang="zh-CN" altLang="en-US" dirty="0"/>
              <a:t>接口</a:t>
            </a:r>
            <a:endParaRPr lang="zh-CN" altLang="en-US" dirty="0"/>
          </a:p>
        </p:txBody>
      </p:sp>
      <p:sp>
        <p:nvSpPr>
          <p:cNvPr id="93188" name="Rectangle 3"/>
          <p:cNvSpPr>
            <a:spLocks noGrp="1"/>
          </p:cNvSpPr>
          <p:nvPr>
            <p:ph type="body" idx="4294967295"/>
          </p:nvPr>
        </p:nvSpPr>
        <p:spPr>
          <a:xfrm>
            <a:off x="908050" y="2054225"/>
            <a:ext cx="7696200" cy="2959100"/>
          </a:xfrm>
        </p:spPr>
        <p:txBody>
          <a:bodyPr vert="horz" wrap="square" lIns="91440" tIns="45720" rIns="91440" bIns="45720" anchor="t" anchorCtr="0"/>
          <a:p>
            <a:pPr>
              <a:buFont typeface="Wingdings" panose="05000000000000000000" pitchFamily="2" charset="2"/>
              <a:buChar char="Ø"/>
            </a:pPr>
            <a:r>
              <a:rPr lang="zh-CN" altLang="en-US" sz="2400" dirty="0">
                <a:latin typeface="楷体_GB2312"/>
              </a:rPr>
              <a:t>微机和</a:t>
            </a:r>
            <a:r>
              <a:rPr lang="en-US" altLang="zh-CN" sz="2400" dirty="0">
                <a:latin typeface="楷体_GB2312"/>
              </a:rPr>
              <a:t>I/O</a:t>
            </a:r>
            <a:r>
              <a:rPr lang="zh-CN" altLang="en-US" sz="2400" dirty="0">
                <a:latin typeface="楷体_GB2312"/>
              </a:rPr>
              <a:t>设备的信息类型和格式可能不一样。</a:t>
            </a:r>
            <a:endParaRPr lang="zh-CN" altLang="en-US" sz="2400" dirty="0">
              <a:latin typeface="楷体_GB2312"/>
            </a:endParaRPr>
          </a:p>
          <a:p>
            <a:pPr>
              <a:buFont typeface="Wingdings" panose="05000000000000000000" pitchFamily="2" charset="2"/>
              <a:buChar char="Ø"/>
            </a:pPr>
            <a:r>
              <a:rPr lang="zh-CN" altLang="en-US" sz="2400" dirty="0">
                <a:latin typeface="楷体_GB2312"/>
              </a:rPr>
              <a:t>微机和</a:t>
            </a:r>
            <a:r>
              <a:rPr lang="en-US" altLang="zh-CN" sz="2400" dirty="0">
                <a:latin typeface="楷体_GB2312"/>
              </a:rPr>
              <a:t>I/O</a:t>
            </a:r>
            <a:r>
              <a:rPr lang="zh-CN" altLang="en-US" sz="2400" dirty="0">
                <a:latin typeface="楷体_GB2312"/>
              </a:rPr>
              <a:t>设备信号传输处理的速度可能不匹配。</a:t>
            </a:r>
            <a:endParaRPr lang="zh-CN" altLang="en-US" sz="2400" dirty="0">
              <a:latin typeface="楷体_GB2312"/>
            </a:endParaRPr>
          </a:p>
          <a:p>
            <a:pPr>
              <a:buFont typeface="Wingdings" panose="05000000000000000000" pitchFamily="2" charset="2"/>
              <a:buChar char="Ø"/>
            </a:pPr>
            <a:r>
              <a:rPr lang="zh-CN" altLang="en-US" sz="2400" dirty="0">
                <a:latin typeface="楷体_GB2312"/>
              </a:rPr>
              <a:t>不用接口， </a:t>
            </a:r>
            <a:r>
              <a:rPr lang="en-US" altLang="zh-CN" sz="2400" dirty="0">
                <a:latin typeface="楷体_GB2312"/>
              </a:rPr>
              <a:t>I/O</a:t>
            </a:r>
            <a:r>
              <a:rPr lang="zh-CN" altLang="en-US" sz="2400" dirty="0">
                <a:latin typeface="楷体_GB2312"/>
              </a:rPr>
              <a:t>直接接</a:t>
            </a:r>
            <a:r>
              <a:rPr lang="en-US" altLang="zh-CN" sz="2400" dirty="0">
                <a:latin typeface="楷体_GB2312"/>
              </a:rPr>
              <a:t>CPU</a:t>
            </a:r>
            <a:r>
              <a:rPr lang="zh-CN" altLang="en-US" sz="2400" dirty="0">
                <a:latin typeface="楷体_GB2312"/>
              </a:rPr>
              <a:t>，随着外设增加，会大大降低</a:t>
            </a:r>
            <a:r>
              <a:rPr lang="en-US" altLang="zh-CN" sz="2400" dirty="0">
                <a:latin typeface="楷体_GB2312"/>
              </a:rPr>
              <a:t>CPU</a:t>
            </a:r>
            <a:r>
              <a:rPr lang="zh-CN" altLang="en-US" sz="2400" dirty="0">
                <a:latin typeface="楷体_GB2312"/>
              </a:rPr>
              <a:t>的效率。</a:t>
            </a:r>
            <a:endParaRPr lang="zh-CN" altLang="en-US" sz="2400" dirty="0">
              <a:latin typeface="楷体_GB2312"/>
            </a:endParaRPr>
          </a:p>
          <a:p>
            <a:pPr>
              <a:buFont typeface="Wingdings" panose="05000000000000000000" pitchFamily="2" charset="2"/>
              <a:buChar char="Ø"/>
            </a:pPr>
            <a:r>
              <a:rPr lang="en-US" altLang="zh-CN" sz="2400" dirty="0">
                <a:latin typeface="楷体_GB2312"/>
              </a:rPr>
              <a:t>I/O</a:t>
            </a:r>
            <a:r>
              <a:rPr lang="zh-CN" altLang="en-US" sz="2400" dirty="0">
                <a:latin typeface="楷体_GB2312"/>
              </a:rPr>
              <a:t>直接接</a:t>
            </a:r>
            <a:r>
              <a:rPr lang="en-US" altLang="zh-CN" sz="2400" dirty="0">
                <a:latin typeface="楷体_GB2312"/>
              </a:rPr>
              <a:t>CPU</a:t>
            </a:r>
            <a:r>
              <a:rPr lang="zh-CN" altLang="en-US" sz="2400" dirty="0">
                <a:latin typeface="楷体_GB2312"/>
              </a:rPr>
              <a:t>，会使外设硬件结构过于依赖</a:t>
            </a:r>
            <a:r>
              <a:rPr lang="en-US" altLang="zh-CN" sz="2400" dirty="0">
                <a:latin typeface="楷体_GB2312"/>
              </a:rPr>
              <a:t>CPU</a:t>
            </a:r>
            <a:r>
              <a:rPr lang="zh-CN" altLang="en-US" sz="2400" dirty="0">
                <a:latin typeface="楷体_GB2312"/>
              </a:rPr>
              <a:t>，对外设本身发展不利。</a:t>
            </a:r>
            <a:endParaRPr lang="zh-CN" altLang="en-US" sz="2400" dirty="0">
              <a:latin typeface="楷体_GB2312"/>
            </a:endParaRPr>
          </a:p>
        </p:txBody>
      </p:sp>
    </p:spTree>
  </p:cSld>
  <p:clrMapOvr>
    <a:masterClrMapping/>
  </p:clrMapOvr>
  <p:transition spd="slow">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94211" name="Rectangle 2"/>
          <p:cNvSpPr>
            <a:spLocks noGrp="1"/>
          </p:cNvSpPr>
          <p:nvPr>
            <p:ph type="title" idx="4294967295"/>
          </p:nvPr>
        </p:nvSpPr>
        <p:spPr/>
        <p:txBody>
          <a:bodyPr vert="horz" wrap="square" lIns="91440" tIns="45720" rIns="91440" bIns="45720" anchor="b" anchorCtr="0"/>
          <a:p>
            <a:pPr eaLnBrk="1" hangingPunct="1"/>
            <a:r>
              <a:rPr lang="zh-CN" altLang="en-US" dirty="0"/>
              <a:t>接口的功能</a:t>
            </a:r>
            <a:endParaRPr lang="zh-CN" altLang="en-US" dirty="0"/>
          </a:p>
        </p:txBody>
      </p:sp>
      <p:sp>
        <p:nvSpPr>
          <p:cNvPr id="94212" name="Rectangle 3"/>
          <p:cNvSpPr>
            <a:spLocks noGrp="1"/>
          </p:cNvSpPr>
          <p:nvPr>
            <p:ph type="body" idx="4294967295"/>
          </p:nvPr>
        </p:nvSpPr>
        <p:spPr>
          <a:xfrm>
            <a:off x="757238" y="2039938"/>
            <a:ext cx="7847012" cy="3981450"/>
          </a:xfrm>
        </p:spPr>
        <p:txBody>
          <a:bodyPr vert="horz" wrap="square" lIns="91440" tIns="45720" rIns="91440" bIns="45720" anchor="t" anchorCtr="0"/>
          <a:p>
            <a:pPr eaLnBrk="1" hangingPunct="1">
              <a:lnSpc>
                <a:spcPct val="120000"/>
              </a:lnSpc>
            </a:pPr>
            <a:r>
              <a:rPr lang="zh-CN" altLang="en-US" dirty="0"/>
              <a:t>数据的缓冲与暂存</a:t>
            </a:r>
            <a:endParaRPr lang="zh-CN" altLang="en-US" dirty="0"/>
          </a:p>
          <a:p>
            <a:pPr eaLnBrk="1" hangingPunct="1">
              <a:lnSpc>
                <a:spcPct val="120000"/>
              </a:lnSpc>
            </a:pPr>
            <a:r>
              <a:rPr lang="zh-CN" altLang="en-US" dirty="0"/>
              <a:t>信号电平与类型的转换</a:t>
            </a:r>
            <a:endParaRPr lang="zh-CN" altLang="en-US" dirty="0"/>
          </a:p>
          <a:p>
            <a:pPr eaLnBrk="1" hangingPunct="1">
              <a:lnSpc>
                <a:spcPct val="120000"/>
              </a:lnSpc>
            </a:pPr>
            <a:r>
              <a:rPr lang="zh-CN" altLang="en-US" dirty="0"/>
              <a:t>增加信号的驱动能力</a:t>
            </a:r>
            <a:endParaRPr lang="zh-CN" altLang="en-US" dirty="0"/>
          </a:p>
          <a:p>
            <a:pPr eaLnBrk="1" hangingPunct="1">
              <a:lnSpc>
                <a:spcPct val="120000"/>
              </a:lnSpc>
            </a:pPr>
            <a:r>
              <a:rPr lang="zh-CN" altLang="en-US" dirty="0"/>
              <a:t>对外设进行监测、控制与管理，中断处理</a:t>
            </a:r>
            <a:endParaRPr lang="zh-CN" altLang="en-US" dirty="0"/>
          </a:p>
        </p:txBody>
      </p:sp>
    </p:spTree>
  </p:cSld>
  <p:clrMapOvr>
    <a:masterClrMapping/>
  </p:clrMapOvr>
  <p:transition spd="slow">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标题 1"/>
          <p:cNvSpPr>
            <a:spLocks noGrp="1"/>
          </p:cNvSpPr>
          <p:nvPr>
            <p:ph type="title" idx="4294967295"/>
          </p:nvPr>
        </p:nvSpPr>
        <p:spPr/>
        <p:txBody>
          <a:bodyPr vert="horz" wrap="square" lIns="91440" tIns="45720" rIns="91440" bIns="45720" anchor="b" anchorCtr="0"/>
          <a:p>
            <a:r>
              <a:rPr lang="zh-CN" altLang="en-US" dirty="0"/>
              <a:t>接口的功能</a:t>
            </a:r>
            <a:endParaRPr lang="zh-CN" altLang="en-US" dirty="0"/>
          </a:p>
        </p:txBody>
      </p:sp>
      <p:sp>
        <p:nvSpPr>
          <p:cNvPr id="95235"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5364" name="Text Box 3"/>
          <p:cNvSpPr txBox="1"/>
          <p:nvPr/>
        </p:nvSpPr>
        <p:spPr>
          <a:xfrm>
            <a:off x="684213" y="1916113"/>
            <a:ext cx="7772400" cy="461963"/>
          </a:xfrm>
          <a:prstGeom prst="rect">
            <a:avLst/>
          </a:prstGeom>
          <a:noFill/>
          <a:ln w="9525">
            <a:noFill/>
            <a:miter/>
          </a:ln>
        </p:spPr>
        <p:txBody>
          <a:bodyPr>
            <a:spAutoFit/>
          </a:bodyPr>
          <a:lstStyle>
            <a:lvl1pPr>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zh-CN" altLang="zh-CN" sz="2400" b="0" i="0" u="none" strike="noStrike" kern="1200" cap="none" spc="0" normalizeH="0" baseline="0" noProof="1" smtClean="0">
                <a:ln>
                  <a:noFill/>
                </a:ln>
                <a:solidFill>
                  <a:srgbClr val="FF3399"/>
                </a:solidFill>
                <a:effectLst>
                  <a:outerShdw blurRad="38100" dist="38100" dir="2700000" algn="tl">
                    <a:srgbClr val="C0C0C0"/>
                  </a:outerShdw>
                </a:effectLst>
                <a:uLnTx/>
                <a:uFillTx/>
                <a:latin typeface="Arial" panose="020B0604020202020204" pitchFamily="34" charset="0"/>
                <a:ea typeface="楷体_GB2312"/>
                <a:cs typeface="楷体_GB2312"/>
              </a:rPr>
              <a:t>  </a:t>
            </a:r>
            <a:r>
              <a:rPr kumimoji="0" lang="zh-CN" altLang="en-US" sz="2400" b="0" i="0" u="none" strike="noStrike" kern="1200" cap="none" spc="0" normalizeH="0" baseline="0" noProof="1" smtClean="0">
                <a:ln>
                  <a:noFill/>
                </a:ln>
                <a:solidFill>
                  <a:srgbClr val="CC3300"/>
                </a:solidFill>
                <a:effectLst>
                  <a:outerShdw blurRad="38100" dist="38100" dir="2700000" algn="tl">
                    <a:srgbClr val="C0C0C0"/>
                  </a:outerShdw>
                </a:effectLst>
                <a:uLnTx/>
                <a:uFillTx/>
                <a:latin typeface="Arial" panose="020B0604020202020204" pitchFamily="34" charset="0"/>
                <a:ea typeface="楷体_GB2312"/>
                <a:cs typeface="楷体_GB2312"/>
              </a:rPr>
              <a:t>数据缓冲功能：</a:t>
            </a:r>
            <a:r>
              <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通过寄存器或锁存器实现。</a:t>
            </a:r>
            <a:endPar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endParaRPr>
          </a:p>
        </p:txBody>
      </p:sp>
      <p:sp>
        <p:nvSpPr>
          <p:cNvPr id="15365" name="Text Box 4"/>
          <p:cNvSpPr txBox="1"/>
          <p:nvPr/>
        </p:nvSpPr>
        <p:spPr>
          <a:xfrm>
            <a:off x="468313" y="2333625"/>
            <a:ext cx="7848600" cy="461963"/>
          </a:xfrm>
          <a:prstGeom prst="rect">
            <a:avLst/>
          </a:prstGeom>
          <a:noFill/>
          <a:ln w="9525">
            <a:noFill/>
            <a:miter/>
          </a:ln>
        </p:spPr>
        <p:txBody>
          <a:bodyPr>
            <a:spAutoFit/>
          </a:bodyPr>
          <a:lstStyle>
            <a:lvl1pPr>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zh-CN" altLang="zh-CN" sz="2400" b="0" i="0" u="none" strike="noStrike" kern="1200" cap="none" spc="0" normalizeH="0" baseline="0" noProof="1" smtClean="0">
                <a:ln>
                  <a:noFill/>
                </a:ln>
                <a:solidFill>
                  <a:schemeClr val="tx1"/>
                </a:solidFill>
                <a:effectLst>
                  <a:outerShdw blurRad="38100" dist="38100" dir="2700000" algn="tl">
                    <a:srgbClr val="C0C0C0"/>
                  </a:outerShdw>
                </a:effectLst>
                <a:uLnTx/>
                <a:uFillTx/>
                <a:latin typeface="Arial" panose="020B0604020202020204" pitchFamily="34" charset="0"/>
                <a:ea typeface="楷体_GB2312"/>
                <a:cs typeface="楷体_GB2312"/>
              </a:rPr>
              <a:t>    </a:t>
            </a:r>
            <a:r>
              <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存放数据的寄存器或锁存器称之为</a:t>
            </a:r>
            <a:r>
              <a:rPr kumimoji="0" lang="zh-CN" altLang="en-US" sz="2400" b="0" i="0" u="none" strike="noStrike" kern="1200" cap="none" spc="0" normalizeH="0" baseline="0" noProof="1" smtClean="0">
                <a:ln>
                  <a:noFill/>
                </a:ln>
                <a:solidFill>
                  <a:srgbClr val="CC6600"/>
                </a:solidFill>
                <a:effectLst>
                  <a:outerShdw blurRad="38100" dist="38100" dir="2700000" algn="tl">
                    <a:srgbClr val="C0C0C0"/>
                  </a:outerShdw>
                </a:effectLst>
                <a:uLnTx/>
                <a:uFillTx/>
                <a:latin typeface="Arial" panose="020B0604020202020204" pitchFamily="34" charset="0"/>
                <a:ea typeface="楷体_GB2312"/>
                <a:cs typeface="楷体_GB2312"/>
              </a:rPr>
              <a:t>数据口</a:t>
            </a:r>
            <a:r>
              <a:rPr kumimoji="0" lang="zh-CN" altLang="en-US" sz="2400" b="0" i="0" u="none" strike="noStrike" kern="1200" cap="none" spc="0" normalizeH="0" baseline="0" noProof="1" smtClean="0">
                <a:ln>
                  <a:noFill/>
                </a:ln>
                <a:solidFill>
                  <a:schemeClr val="tx1"/>
                </a:solidFill>
                <a:effectLst>
                  <a:outerShdw blurRad="38100" dist="38100" dir="2700000" algn="tl">
                    <a:srgbClr val="C0C0C0"/>
                  </a:outerShdw>
                </a:effectLst>
                <a:uLnTx/>
                <a:uFillTx/>
                <a:latin typeface="Arial" panose="020B0604020202020204" pitchFamily="34" charset="0"/>
                <a:ea typeface="楷体_GB2312"/>
                <a:cs typeface="楷体_GB2312"/>
              </a:rPr>
              <a:t>。</a:t>
            </a:r>
            <a:endParaRPr kumimoji="0" lang="zh-CN" altLang="en-US" sz="2400" b="0" i="0" u="none" strike="noStrike" kern="1200" cap="none" spc="0" normalizeH="0" baseline="0" noProof="1" smtClean="0">
              <a:ln>
                <a:noFill/>
              </a:ln>
              <a:solidFill>
                <a:schemeClr val="tx1"/>
              </a:solidFill>
              <a:effectLst>
                <a:outerShdw blurRad="38100" dist="38100" dir="2700000" algn="tl">
                  <a:srgbClr val="C0C0C0"/>
                </a:outerShdw>
              </a:effectLst>
              <a:uLnTx/>
              <a:uFillTx/>
              <a:latin typeface="Arial" panose="020B0604020202020204" pitchFamily="34" charset="0"/>
              <a:ea typeface="楷体_GB2312"/>
              <a:cs typeface="楷体_GB2312"/>
            </a:endParaRPr>
          </a:p>
        </p:txBody>
      </p:sp>
      <p:sp>
        <p:nvSpPr>
          <p:cNvPr id="15366" name="Text Box 5"/>
          <p:cNvSpPr txBox="1"/>
          <p:nvPr/>
        </p:nvSpPr>
        <p:spPr>
          <a:xfrm>
            <a:off x="684213" y="2728913"/>
            <a:ext cx="8610600" cy="461963"/>
          </a:xfrm>
          <a:prstGeom prst="rect">
            <a:avLst/>
          </a:prstGeom>
          <a:noFill/>
          <a:ln w="9525">
            <a:noFill/>
            <a:miter/>
          </a:ln>
        </p:spPr>
        <p:txBody>
          <a:bodyPr>
            <a:spAutoFit/>
          </a:bodyPr>
          <a:lstStyle>
            <a:lvl1pPr>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zh-CN" altLang="zh-CN" sz="2400" b="0" i="0" u="none" strike="noStrike" kern="1200" cap="none" spc="0" normalizeH="0" baseline="0" noProof="1" smtClean="0">
                <a:ln>
                  <a:noFill/>
                </a:ln>
                <a:solidFill>
                  <a:srgbClr val="FF3399"/>
                </a:solidFill>
                <a:effectLst>
                  <a:outerShdw blurRad="38100" dist="38100" dir="2700000" algn="tl">
                    <a:srgbClr val="C0C0C0"/>
                  </a:outerShdw>
                </a:effectLst>
                <a:uLnTx/>
                <a:uFillTx/>
                <a:latin typeface="Arial" panose="020B0604020202020204" pitchFamily="34" charset="0"/>
                <a:ea typeface="楷体_GB2312"/>
                <a:cs typeface="楷体_GB2312"/>
              </a:rPr>
              <a:t>  </a:t>
            </a:r>
            <a:r>
              <a:rPr kumimoji="0" lang="zh-CN" altLang="en-US" sz="2400" b="0" i="0" u="none" strike="noStrike" kern="1200" cap="none" spc="0" normalizeH="0" baseline="0" noProof="1" smtClean="0">
                <a:ln>
                  <a:noFill/>
                </a:ln>
                <a:solidFill>
                  <a:srgbClr val="CC3300"/>
                </a:solidFill>
                <a:effectLst>
                  <a:outerShdw blurRad="38100" dist="38100" dir="2700000" algn="tl">
                    <a:srgbClr val="C0C0C0"/>
                  </a:outerShdw>
                </a:effectLst>
                <a:uLnTx/>
                <a:uFillTx/>
                <a:latin typeface="Arial" panose="020B0604020202020204" pitchFamily="34" charset="0"/>
                <a:ea typeface="楷体_GB2312"/>
                <a:cs typeface="楷体_GB2312"/>
              </a:rPr>
              <a:t>接受和执行</a:t>
            </a:r>
            <a:r>
              <a:rPr kumimoji="0" lang="en-US" altLang="zh-CN" sz="2400" b="0" i="0" u="none" strike="noStrike" kern="1200" cap="none" spc="0" normalizeH="0" baseline="0" noProof="1" smtClean="0">
                <a:ln>
                  <a:noFill/>
                </a:ln>
                <a:solidFill>
                  <a:srgbClr val="CC3300"/>
                </a:solidFill>
                <a:effectLst>
                  <a:outerShdw blurRad="38100" dist="38100" dir="2700000" algn="tl">
                    <a:srgbClr val="C0C0C0"/>
                  </a:outerShdw>
                </a:effectLst>
                <a:uLnTx/>
                <a:uFillTx/>
                <a:latin typeface="Arial" panose="020B0604020202020204" pitchFamily="34" charset="0"/>
                <a:ea typeface="楷体_GB2312"/>
                <a:cs typeface="楷体_GB2312"/>
              </a:rPr>
              <a:t>CPU</a:t>
            </a:r>
            <a:r>
              <a:rPr kumimoji="0" lang="zh-CN" altLang="en-US" sz="2400" b="0" i="0" u="none" strike="noStrike" kern="1200" cap="none" spc="0" normalizeH="0" baseline="0" noProof="1" smtClean="0">
                <a:ln>
                  <a:noFill/>
                </a:ln>
                <a:solidFill>
                  <a:srgbClr val="CC3300"/>
                </a:solidFill>
                <a:effectLst>
                  <a:outerShdw blurRad="38100" dist="38100" dir="2700000" algn="tl">
                    <a:srgbClr val="C0C0C0"/>
                  </a:outerShdw>
                </a:effectLst>
                <a:uLnTx/>
                <a:uFillTx/>
                <a:latin typeface="Arial" panose="020B0604020202020204" pitchFamily="34" charset="0"/>
                <a:ea typeface="楷体_GB2312"/>
                <a:cs typeface="楷体_GB2312"/>
              </a:rPr>
              <a:t>命令功能：</a:t>
            </a:r>
            <a:endParaRPr kumimoji="0" lang="zh-CN" altLang="en-US" sz="2400" b="0" i="0" u="none" strike="noStrike" kern="1200" cap="none" spc="0" normalizeH="0" baseline="0" noProof="1" smtClean="0">
              <a:ln>
                <a:noFill/>
              </a:ln>
              <a:solidFill>
                <a:srgbClr val="CC3300"/>
              </a:solidFill>
              <a:effectLst>
                <a:outerShdw blurRad="38100" dist="38100" dir="2700000" algn="tl">
                  <a:srgbClr val="C0C0C0"/>
                </a:outerShdw>
              </a:effectLst>
              <a:uLnTx/>
              <a:uFillTx/>
              <a:latin typeface="Arial" panose="020B0604020202020204" pitchFamily="34" charset="0"/>
              <a:ea typeface="楷体_GB2312"/>
              <a:cs typeface="楷体_GB2312"/>
            </a:endParaRPr>
          </a:p>
        </p:txBody>
      </p:sp>
      <p:sp>
        <p:nvSpPr>
          <p:cNvPr id="15367" name="Text Box 6"/>
          <p:cNvSpPr txBox="1"/>
          <p:nvPr/>
        </p:nvSpPr>
        <p:spPr>
          <a:xfrm>
            <a:off x="468313" y="3186113"/>
            <a:ext cx="8610600" cy="831850"/>
          </a:xfrm>
          <a:prstGeom prst="rect">
            <a:avLst/>
          </a:prstGeom>
          <a:noFill/>
          <a:ln w="9525">
            <a:noFill/>
            <a:miter/>
          </a:ln>
        </p:spPr>
        <p:txBody>
          <a:bodyPr>
            <a:spAutoFit/>
          </a:bodyPr>
          <a:lstStyle>
            <a:lvl1pPr>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zh-CN" altLang="zh-CN" sz="2400" b="0" i="0" u="none" strike="noStrike" kern="1200" cap="none" spc="0" normalizeH="0" baseline="0" noProof="1" smtClean="0">
                <a:ln>
                  <a:noFill/>
                </a:ln>
                <a:solidFill>
                  <a:schemeClr val="tx1"/>
                </a:solidFill>
                <a:effectLst>
                  <a:outerShdw blurRad="38100" dist="38100" dir="2700000" algn="tl">
                    <a:srgbClr val="C0C0C0"/>
                  </a:outerShdw>
                </a:effectLst>
                <a:uLnTx/>
                <a:uFillTx/>
                <a:latin typeface="Arial" panose="020B0604020202020204" pitchFamily="34" charset="0"/>
                <a:ea typeface="楷体_GB2312"/>
                <a:cs typeface="楷体_GB2312"/>
              </a:rPr>
              <a:t>    </a:t>
            </a:r>
            <a:r>
              <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存放</a:t>
            </a:r>
            <a:r>
              <a:rPr kumimoji="0" lang="en-US" altLang="zh-CN"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CPU</a:t>
            </a:r>
            <a:r>
              <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命令代码的寄存器称之为</a:t>
            </a:r>
            <a:r>
              <a:rPr kumimoji="0" lang="zh-CN" altLang="en-US" sz="2400" b="0" i="0" u="none" strike="noStrike" kern="1200" cap="none" spc="0" normalizeH="0" baseline="0" noProof="1" smtClean="0">
                <a:ln>
                  <a:noFill/>
                </a:ln>
                <a:solidFill>
                  <a:srgbClr val="CC6600"/>
                </a:solidFill>
                <a:effectLst>
                  <a:outerShdw blurRad="38100" dist="38100" dir="2700000" algn="tl">
                    <a:srgbClr val="C0C0C0"/>
                  </a:outerShdw>
                </a:effectLst>
                <a:uLnTx/>
                <a:uFillTx/>
                <a:latin typeface="Arial" panose="020B0604020202020204" pitchFamily="34" charset="0"/>
                <a:ea typeface="楷体_GB2312"/>
                <a:cs typeface="楷体_GB2312"/>
              </a:rPr>
              <a:t>命令口</a:t>
            </a:r>
            <a:r>
              <a:rPr kumimoji="0" lang="zh-CN" altLang="en-US" sz="2400" b="0" i="0" u="none" strike="noStrike" kern="1200" cap="none" spc="0" normalizeH="0" baseline="0" noProof="1" smtClean="0">
                <a:ln>
                  <a:noFill/>
                </a:ln>
                <a:solidFill>
                  <a:schemeClr val="tx1"/>
                </a:solidFill>
                <a:effectLst>
                  <a:outerShdw blurRad="38100" dist="38100" dir="2700000" algn="tl">
                    <a:srgbClr val="C0C0C0"/>
                  </a:outerShdw>
                </a:effectLst>
                <a:uLnTx/>
                <a:uFillTx/>
                <a:latin typeface="Arial" panose="020B0604020202020204" pitchFamily="34" charset="0"/>
                <a:ea typeface="楷体_GB2312"/>
                <a:cs typeface="楷体_GB2312"/>
              </a:rPr>
              <a:t>，</a:t>
            </a:r>
            <a:endParaRPr kumimoji="0" lang="zh-CN" altLang="en-US" sz="2400" b="0" i="0" u="none" strike="noStrike" kern="1200" cap="none" spc="0" normalizeH="0" baseline="0" noProof="1" smtClean="0">
              <a:ln>
                <a:noFill/>
              </a:ln>
              <a:solidFill>
                <a:schemeClr val="tx1"/>
              </a:solidFill>
              <a:effectLst>
                <a:outerShdw blurRad="38100" dist="38100" dir="2700000" algn="tl">
                  <a:srgbClr val="C0C0C0"/>
                </a:outerShdw>
              </a:effectLst>
              <a:uLnTx/>
              <a:uFillTx/>
              <a:latin typeface="Arial" panose="020B0604020202020204" pitchFamily="34" charset="0"/>
              <a:ea typeface="楷体_GB2312"/>
              <a:cs typeface="楷体_GB2312"/>
            </a:endParaRPr>
          </a:p>
          <a:p>
            <a:pPr marL="0" marR="0" lvl="0" indent="0"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zh-CN" altLang="en-US" sz="2400" b="0" i="0" u="none" strike="noStrike" kern="1200" cap="none" spc="0" normalizeH="0" baseline="0" noProof="1" smtClean="0">
                <a:ln>
                  <a:noFill/>
                </a:ln>
                <a:solidFill>
                  <a:schemeClr val="tx1"/>
                </a:solidFill>
                <a:effectLst>
                  <a:outerShdw blurRad="38100" dist="38100" dir="2700000" algn="tl">
                    <a:srgbClr val="C0C0C0"/>
                  </a:outerShdw>
                </a:effectLst>
                <a:uLnTx/>
                <a:uFillTx/>
                <a:latin typeface="Arial" panose="020B0604020202020204" pitchFamily="34" charset="0"/>
                <a:ea typeface="楷体_GB2312"/>
                <a:cs typeface="楷体_GB2312"/>
              </a:rPr>
              <a:t>    </a:t>
            </a:r>
            <a:r>
              <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存放执行状态信息的寄存器称之为</a:t>
            </a:r>
            <a:r>
              <a:rPr kumimoji="0" lang="zh-CN" altLang="en-US" sz="2400" b="0" i="0" u="none" strike="noStrike" kern="1200" cap="none" spc="0" normalizeH="0" baseline="0" noProof="1" smtClean="0">
                <a:ln>
                  <a:noFill/>
                </a:ln>
                <a:solidFill>
                  <a:srgbClr val="CC6600"/>
                </a:solidFill>
                <a:effectLst>
                  <a:outerShdw blurRad="38100" dist="38100" dir="2700000" algn="tl">
                    <a:srgbClr val="C0C0C0"/>
                  </a:outerShdw>
                </a:effectLst>
                <a:uLnTx/>
                <a:uFillTx/>
                <a:latin typeface="Arial" panose="020B0604020202020204" pitchFamily="34" charset="0"/>
                <a:ea typeface="楷体_GB2312"/>
                <a:cs typeface="楷体_GB2312"/>
              </a:rPr>
              <a:t>状态口</a:t>
            </a:r>
            <a:r>
              <a:rPr kumimoji="0" lang="zh-CN" altLang="en-US" sz="2400" b="0" i="0" u="none" strike="noStrike" kern="1200" cap="none" spc="0" normalizeH="0" baseline="0" noProof="1" smtClean="0">
                <a:ln>
                  <a:noFill/>
                </a:ln>
                <a:solidFill>
                  <a:schemeClr val="tx1"/>
                </a:solidFill>
                <a:effectLst>
                  <a:outerShdw blurRad="38100" dist="38100" dir="2700000" algn="tl">
                    <a:srgbClr val="C0C0C0"/>
                  </a:outerShdw>
                </a:effectLst>
                <a:uLnTx/>
                <a:uFillTx/>
                <a:latin typeface="Arial" panose="020B0604020202020204" pitchFamily="34" charset="0"/>
                <a:ea typeface="楷体_GB2312"/>
                <a:cs typeface="楷体_GB2312"/>
              </a:rPr>
              <a:t>。</a:t>
            </a:r>
            <a:endParaRPr kumimoji="0" lang="zh-CN" altLang="en-US" sz="2400" b="0" i="0" u="none" strike="noStrike" kern="1200" cap="none" spc="0" normalizeH="0" baseline="0" noProof="1" smtClean="0">
              <a:ln>
                <a:noFill/>
              </a:ln>
              <a:solidFill>
                <a:schemeClr val="tx1"/>
              </a:solidFill>
              <a:effectLst>
                <a:outerShdw blurRad="38100" dist="38100" dir="2700000" algn="tl">
                  <a:srgbClr val="C0C0C0"/>
                </a:outerShdw>
              </a:effectLst>
              <a:uLnTx/>
              <a:uFillTx/>
              <a:latin typeface="Arial" panose="020B0604020202020204" pitchFamily="34" charset="0"/>
              <a:ea typeface="楷体_GB2312"/>
              <a:cs typeface="楷体_GB2312"/>
            </a:endParaRPr>
          </a:p>
        </p:txBody>
      </p:sp>
      <p:sp>
        <p:nvSpPr>
          <p:cNvPr id="15368" name="Text Box 7"/>
          <p:cNvSpPr txBox="1"/>
          <p:nvPr/>
        </p:nvSpPr>
        <p:spPr>
          <a:xfrm>
            <a:off x="654050" y="4013200"/>
            <a:ext cx="8610600" cy="461963"/>
          </a:xfrm>
          <a:prstGeom prst="rect">
            <a:avLst/>
          </a:prstGeom>
          <a:noFill/>
          <a:ln w="9525">
            <a:noFill/>
            <a:miter/>
          </a:ln>
        </p:spPr>
        <p:txBody>
          <a:bodyPr>
            <a:spAutoFit/>
          </a:bodyPr>
          <a:lstStyle>
            <a:lvl1pPr>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zh-CN" altLang="zh-CN" sz="2400" b="0" i="0" u="none" strike="noStrike" kern="1200" cap="none" spc="0" normalizeH="0" baseline="0" noProof="1" smtClean="0">
                <a:ln>
                  <a:noFill/>
                </a:ln>
                <a:solidFill>
                  <a:srgbClr val="FF3399"/>
                </a:solidFill>
                <a:effectLst>
                  <a:outerShdw blurRad="38100" dist="38100" dir="2700000" algn="tl">
                    <a:srgbClr val="C0C0C0"/>
                  </a:outerShdw>
                </a:effectLst>
                <a:uLnTx/>
                <a:uFillTx/>
                <a:latin typeface="Arial" panose="020B0604020202020204" pitchFamily="34" charset="0"/>
                <a:ea typeface="楷体_GB2312"/>
                <a:cs typeface="楷体_GB2312"/>
              </a:rPr>
              <a:t>  </a:t>
            </a:r>
            <a:r>
              <a:rPr kumimoji="0" lang="zh-CN" altLang="en-US" sz="2400" b="0" i="0" u="none" strike="noStrike" kern="1200" cap="none" spc="0" normalizeH="0" baseline="0" noProof="1" smtClean="0">
                <a:ln>
                  <a:noFill/>
                </a:ln>
                <a:solidFill>
                  <a:srgbClr val="CC3300"/>
                </a:solidFill>
                <a:effectLst>
                  <a:outerShdw blurRad="38100" dist="38100" dir="2700000" algn="tl">
                    <a:srgbClr val="C0C0C0"/>
                  </a:outerShdw>
                </a:effectLst>
                <a:uLnTx/>
                <a:uFillTx/>
                <a:latin typeface="Arial" panose="020B0604020202020204" pitchFamily="34" charset="0"/>
                <a:ea typeface="楷体_GB2312"/>
                <a:cs typeface="楷体_GB2312"/>
              </a:rPr>
              <a:t>设备选择功能：</a:t>
            </a:r>
            <a:r>
              <a:rPr kumimoji="0" lang="en-US" altLang="zh-CN"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CPU</a:t>
            </a:r>
            <a:r>
              <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通过地址译码选择不同外设。</a:t>
            </a:r>
            <a:endPar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endParaRPr>
          </a:p>
        </p:txBody>
      </p:sp>
      <p:sp>
        <p:nvSpPr>
          <p:cNvPr id="15369" name="Text Box 8"/>
          <p:cNvSpPr txBox="1"/>
          <p:nvPr/>
        </p:nvSpPr>
        <p:spPr>
          <a:xfrm>
            <a:off x="533400" y="4460875"/>
            <a:ext cx="8610600" cy="830263"/>
          </a:xfrm>
          <a:prstGeom prst="rect">
            <a:avLst/>
          </a:prstGeom>
          <a:noFill/>
          <a:ln w="9525">
            <a:noFill/>
            <a:miter/>
          </a:ln>
        </p:spPr>
        <p:txBody>
          <a:bodyPr>
            <a:spAutoFit/>
          </a:bodyPr>
          <a:lstStyle>
            <a:lvl1pPr>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zh-CN" altLang="zh-CN" sz="2400" b="0" i="0" u="none" strike="noStrike" kern="1200" cap="none" spc="0" normalizeH="0" baseline="0" noProof="1" smtClean="0">
                <a:ln>
                  <a:noFill/>
                </a:ln>
                <a:solidFill>
                  <a:schemeClr val="tx1"/>
                </a:solidFill>
                <a:effectLst>
                  <a:outerShdw blurRad="38100" dist="38100" dir="2700000" algn="tl">
                    <a:srgbClr val="C0C0C0"/>
                  </a:outerShdw>
                </a:effectLst>
                <a:uLnTx/>
                <a:uFillTx/>
                <a:latin typeface="Arial" panose="020B0604020202020204" pitchFamily="34" charset="0"/>
                <a:ea typeface="楷体_GB2312"/>
                <a:cs typeface="楷体_GB2312"/>
              </a:rPr>
              <a:t>    </a:t>
            </a:r>
            <a:r>
              <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即</a:t>
            </a:r>
            <a:r>
              <a:rPr kumimoji="0" lang="en-US" altLang="zh-CN"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CPU</a:t>
            </a:r>
            <a:r>
              <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通过地址译码选择不同</a:t>
            </a:r>
            <a:r>
              <a:rPr kumimoji="0" lang="en-US" altLang="zh-CN"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I/O</a:t>
            </a:r>
            <a:r>
              <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接口和</a:t>
            </a:r>
            <a:r>
              <a:rPr kumimoji="0" lang="en-US" altLang="zh-CN"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I/O</a:t>
            </a:r>
            <a:r>
              <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接口中连接的不同的设备。</a:t>
            </a:r>
            <a:endPar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endParaRPr>
          </a:p>
        </p:txBody>
      </p:sp>
      <p:sp>
        <p:nvSpPr>
          <p:cNvPr id="15370" name="Text Box 9"/>
          <p:cNvSpPr txBox="1"/>
          <p:nvPr/>
        </p:nvSpPr>
        <p:spPr>
          <a:xfrm>
            <a:off x="654050" y="5272088"/>
            <a:ext cx="8610600" cy="461963"/>
          </a:xfrm>
          <a:prstGeom prst="rect">
            <a:avLst/>
          </a:prstGeom>
          <a:noFill/>
          <a:ln w="9525">
            <a:noFill/>
            <a:miter/>
          </a:ln>
        </p:spPr>
        <p:txBody>
          <a:bodyPr>
            <a:spAutoFit/>
          </a:bodyPr>
          <a:lstStyle>
            <a:lvl1pPr>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zh-CN" altLang="zh-CN" sz="2400" b="0" i="0" u="none" strike="noStrike" kern="1200" cap="none" spc="0" normalizeH="0" baseline="0" noProof="1" smtClean="0">
                <a:ln>
                  <a:noFill/>
                </a:ln>
                <a:solidFill>
                  <a:srgbClr val="FF3399"/>
                </a:solidFill>
                <a:effectLst>
                  <a:outerShdw blurRad="38100" dist="38100" dir="2700000" algn="tl">
                    <a:srgbClr val="C0C0C0"/>
                  </a:outerShdw>
                </a:effectLst>
                <a:uLnTx/>
                <a:uFillTx/>
                <a:latin typeface="Arial" panose="020B0604020202020204" pitchFamily="34" charset="0"/>
                <a:ea typeface="楷体_GB2312"/>
                <a:cs typeface="楷体_GB2312"/>
              </a:rPr>
              <a:t>  </a:t>
            </a:r>
            <a:r>
              <a:rPr kumimoji="0" lang="zh-CN" altLang="en-US" sz="2400" b="0" i="0" u="none" strike="noStrike" kern="1200" cap="none" spc="0" normalizeH="0" baseline="0" noProof="1" smtClean="0">
                <a:ln>
                  <a:noFill/>
                </a:ln>
                <a:solidFill>
                  <a:srgbClr val="CC3300"/>
                </a:solidFill>
                <a:effectLst>
                  <a:outerShdw blurRad="38100" dist="38100" dir="2700000" algn="tl">
                    <a:srgbClr val="C0C0C0"/>
                  </a:outerShdw>
                </a:effectLst>
                <a:uLnTx/>
                <a:uFillTx/>
                <a:latin typeface="Arial" panose="020B0604020202020204" pitchFamily="34" charset="0"/>
                <a:ea typeface="楷体_GB2312"/>
                <a:cs typeface="楷体_GB2312"/>
              </a:rPr>
              <a:t>信号转换功能：</a:t>
            </a:r>
            <a:r>
              <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协调总线信号与</a:t>
            </a:r>
            <a:r>
              <a:rPr kumimoji="0" lang="en-US" altLang="zh-CN"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I/O</a:t>
            </a:r>
            <a:r>
              <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设备信号。</a:t>
            </a:r>
            <a:endPar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endParaRPr>
          </a:p>
        </p:txBody>
      </p:sp>
      <p:sp>
        <p:nvSpPr>
          <p:cNvPr id="15371" name="Text Box 10"/>
          <p:cNvSpPr txBox="1"/>
          <p:nvPr/>
        </p:nvSpPr>
        <p:spPr>
          <a:xfrm>
            <a:off x="533400" y="5800725"/>
            <a:ext cx="8610600" cy="461963"/>
          </a:xfrm>
          <a:prstGeom prst="rect">
            <a:avLst/>
          </a:prstGeom>
          <a:noFill/>
          <a:ln w="9525">
            <a:noFill/>
            <a:miter/>
          </a:ln>
        </p:spPr>
        <p:txBody>
          <a:bodyPr>
            <a:spAutoFit/>
          </a:bodyPr>
          <a:lstStyle>
            <a:lvl1pPr>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zh-CN" altLang="zh-CN" sz="2400" b="0" i="0" u="none" strike="noStrike" kern="1200" cap="none" spc="0" normalizeH="0" baseline="0" noProof="1" smtClean="0">
                <a:ln>
                  <a:noFill/>
                </a:ln>
                <a:solidFill>
                  <a:schemeClr val="tx1"/>
                </a:solidFill>
                <a:effectLst>
                  <a:outerShdw blurRad="38100" dist="38100" dir="2700000" algn="tl">
                    <a:srgbClr val="C0C0C0"/>
                  </a:outerShdw>
                </a:effectLst>
                <a:uLnTx/>
                <a:uFillTx/>
                <a:latin typeface="Arial" panose="020B0604020202020204" pitchFamily="34" charset="0"/>
                <a:ea typeface="楷体_GB2312"/>
                <a:cs typeface="楷体_GB2312"/>
              </a:rPr>
              <a:t>    </a:t>
            </a:r>
            <a:r>
              <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转换包括信号的逻辑关系、时序配合和电平转换。</a:t>
            </a:r>
            <a:endPar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endParaRPr>
          </a:p>
        </p:txBody>
      </p:sp>
      <p:sp>
        <p:nvSpPr>
          <p:cNvPr id="15372" name="Text Box 11"/>
          <p:cNvSpPr txBox="1"/>
          <p:nvPr/>
        </p:nvSpPr>
        <p:spPr>
          <a:xfrm>
            <a:off x="688975" y="6251575"/>
            <a:ext cx="8610600" cy="460375"/>
          </a:xfrm>
          <a:prstGeom prst="rect">
            <a:avLst/>
          </a:prstGeom>
          <a:noFill/>
          <a:ln w="9525">
            <a:noFill/>
            <a:miter/>
          </a:ln>
        </p:spPr>
        <p:txBody>
          <a:bodyPr>
            <a:spAutoFit/>
          </a:bodyPr>
          <a:lstStyle>
            <a:lvl1pPr>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zh-CN" altLang="zh-CN" sz="2400" b="0" i="0" u="none" strike="noStrike" kern="1200" cap="none" spc="0" normalizeH="0" baseline="0" noProof="1" smtClean="0">
                <a:ln>
                  <a:noFill/>
                </a:ln>
                <a:solidFill>
                  <a:srgbClr val="FF3399"/>
                </a:solidFill>
                <a:effectLst>
                  <a:outerShdw blurRad="38100" dist="38100" dir="2700000" algn="tl">
                    <a:srgbClr val="C0C0C0"/>
                  </a:outerShdw>
                </a:effectLst>
                <a:uLnTx/>
                <a:uFillTx/>
                <a:latin typeface="Arial" panose="020B0604020202020204" pitchFamily="34" charset="0"/>
                <a:ea typeface="楷体_GB2312"/>
                <a:cs typeface="楷体_GB2312"/>
              </a:rPr>
              <a:t>  </a:t>
            </a:r>
            <a:r>
              <a:rPr kumimoji="0" lang="zh-CN" altLang="en-US" sz="2400" b="0" i="0" u="none" strike="noStrike" kern="1200" cap="none" spc="0" normalizeH="0" baseline="0" noProof="1" smtClean="0">
                <a:ln>
                  <a:noFill/>
                </a:ln>
                <a:solidFill>
                  <a:srgbClr val="CC3300"/>
                </a:solidFill>
                <a:effectLst>
                  <a:outerShdw blurRad="38100" dist="38100" dir="2700000" algn="tl">
                    <a:srgbClr val="C0C0C0"/>
                  </a:outerShdw>
                </a:effectLst>
                <a:uLnTx/>
                <a:uFillTx/>
                <a:latin typeface="Arial" panose="020B0604020202020204" pitchFamily="34" charset="0"/>
                <a:ea typeface="楷体_GB2312"/>
                <a:cs typeface="楷体_GB2312"/>
              </a:rPr>
              <a:t>可编程功能：</a:t>
            </a:r>
            <a:r>
              <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rPr>
              <a:t>增加接口的灵活性和智能性。</a:t>
            </a:r>
            <a:endParaRPr kumimoji="0" lang="zh-CN" altLang="en-US" sz="2400" b="0" i="0" u="none" strike="noStrike" kern="1200" cap="none" spc="0" normalizeH="0" baseline="0" noProof="1" smtClean="0">
              <a:ln>
                <a:noFill/>
              </a:ln>
              <a:solidFill>
                <a:schemeClr val="tx1"/>
              </a:solidFill>
              <a:effectLst/>
              <a:uLnTx/>
              <a:uFillTx/>
              <a:latin typeface="Arial" panose="020B0604020202020204" pitchFamily="34" charset="0"/>
              <a:ea typeface="楷体_GB2312"/>
              <a:cs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36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536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15366"/>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1536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5368"/>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499"/>
                                          </p:stCondLst>
                                        </p:cTn>
                                        <p:tgtEl>
                                          <p:spTgt spid="1536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5370"/>
                                        </p:tgtEl>
                                        <p:attrNameLst>
                                          <p:attrName>style.visibility</p:attrName>
                                        </p:attrNameLst>
                                      </p:cBhvr>
                                      <p:to>
                                        <p:strVal val="visible"/>
                                      </p:to>
                                    </p:se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499"/>
                                          </p:stCondLst>
                                        </p:cTn>
                                        <p:tgtEl>
                                          <p:spTgt spid="1537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5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p:bldP spid="15365" grpId="0"/>
      <p:bldP spid="15366" grpId="0"/>
      <p:bldP spid="15367" grpId="0"/>
      <p:bldP spid="15368" grpId="0"/>
      <p:bldP spid="15369" grpId="0"/>
      <p:bldP spid="15370" grpId="0"/>
      <p:bldP spid="15371" grpId="0"/>
      <p:bldP spid="1537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标题 1"/>
          <p:cNvSpPr>
            <a:spLocks noGrp="1"/>
          </p:cNvSpPr>
          <p:nvPr>
            <p:ph type="title" idx="4294967295"/>
          </p:nvPr>
        </p:nvSpPr>
        <p:spPr/>
        <p:txBody>
          <a:bodyPr vert="horz" wrap="square" lIns="91440" tIns="45720" rIns="91440" bIns="45720" anchor="b" anchorCtr="0"/>
          <a:p>
            <a:r>
              <a:rPr lang="zh-CN" altLang="en-US" dirty="0"/>
              <a:t>接口的概念</a:t>
            </a:r>
            <a:endParaRPr lang="zh-CN" altLang="en-US" dirty="0"/>
          </a:p>
        </p:txBody>
      </p:sp>
      <p:sp>
        <p:nvSpPr>
          <p:cNvPr id="96259"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pic>
        <p:nvPicPr>
          <p:cNvPr id="96260" name="Picture 7"/>
          <p:cNvPicPr>
            <a:picLocks noChangeAspect="1"/>
          </p:cNvPicPr>
          <p:nvPr/>
        </p:nvPicPr>
        <p:blipFill>
          <a:blip r:embed="rId1"/>
          <a:stretch>
            <a:fillRect/>
          </a:stretch>
        </p:blipFill>
        <p:spPr>
          <a:xfrm>
            <a:off x="1150938" y="1854200"/>
            <a:ext cx="7253287" cy="2943225"/>
          </a:xfrm>
          <a:prstGeom prst="rect">
            <a:avLst/>
          </a:prstGeom>
          <a:noFill/>
          <a:ln w="9525">
            <a:noFill/>
          </a:ln>
        </p:spPr>
      </p:pic>
      <p:sp>
        <p:nvSpPr>
          <p:cNvPr id="96261" name="矩形 5"/>
          <p:cNvSpPr/>
          <p:nvPr/>
        </p:nvSpPr>
        <p:spPr>
          <a:xfrm>
            <a:off x="684213" y="5013325"/>
            <a:ext cx="7920037" cy="1570038"/>
          </a:xfrm>
          <a:prstGeom prst="rect">
            <a:avLst/>
          </a:prstGeom>
          <a:noFill/>
          <a:ln w="2857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zh-CN" altLang="en-US" sz="2400" b="0" dirty="0">
                <a:solidFill>
                  <a:schemeClr val="tx1"/>
                </a:solidFill>
                <a:latin typeface="楷体_GB2312"/>
                <a:ea typeface="楷体_GB2312"/>
              </a:rPr>
              <a:t>定义：接口是</a:t>
            </a:r>
            <a:r>
              <a:rPr lang="en-US" altLang="zh-CN" sz="2400" b="0" dirty="0">
                <a:solidFill>
                  <a:schemeClr val="tx1"/>
                </a:solidFill>
                <a:latin typeface="楷体_GB2312"/>
                <a:ea typeface="楷体_GB2312"/>
              </a:rPr>
              <a:t>CPU</a:t>
            </a:r>
            <a:r>
              <a:rPr lang="zh-CN" altLang="en-US" sz="2400" b="0" dirty="0">
                <a:solidFill>
                  <a:schemeClr val="tx1"/>
                </a:solidFill>
                <a:latin typeface="楷体_GB2312"/>
                <a:ea typeface="楷体_GB2312"/>
              </a:rPr>
              <a:t>与“外部世界”的连接电路，负责“中</a:t>
            </a:r>
            <a:endParaRPr lang="en-US" altLang="zh-CN" sz="2400" b="0" dirty="0">
              <a:solidFill>
                <a:schemeClr val="tx1"/>
              </a:solidFill>
              <a:latin typeface="楷体_GB2312"/>
              <a:ea typeface="楷体_GB2312"/>
            </a:endParaRPr>
          </a:p>
          <a:p>
            <a:pPr marL="0" lvl="0" indent="0">
              <a:lnSpc>
                <a:spcPct val="100000"/>
              </a:lnSpc>
              <a:spcBef>
                <a:spcPct val="0"/>
              </a:spcBef>
              <a:spcAft>
                <a:spcPct val="0"/>
              </a:spcAft>
              <a:buClrTx/>
              <a:buSzTx/>
              <a:buFont typeface="Arial" panose="020B0604020202020204" pitchFamily="34" charset="0"/>
              <a:buNone/>
            </a:pPr>
            <a:r>
              <a:rPr lang="en-US" altLang="zh-CN" sz="2400" b="0" dirty="0">
                <a:solidFill>
                  <a:schemeClr val="tx1"/>
                </a:solidFill>
                <a:latin typeface="楷体_GB2312"/>
                <a:ea typeface="楷体_GB2312"/>
              </a:rPr>
              <a:t>      </a:t>
            </a:r>
            <a:r>
              <a:rPr lang="zh-CN" altLang="en-US" sz="2400" b="0" dirty="0">
                <a:solidFill>
                  <a:schemeClr val="tx1"/>
                </a:solidFill>
                <a:latin typeface="楷体_GB2312"/>
                <a:ea typeface="楷体_GB2312"/>
              </a:rPr>
              <a:t>转”各种信息。</a:t>
            </a:r>
            <a:endParaRPr lang="en-US" altLang="zh-CN" sz="2400" b="0" dirty="0">
              <a:solidFill>
                <a:schemeClr val="tx1"/>
              </a:solidFill>
              <a:latin typeface="楷体_GB2312"/>
              <a:ea typeface="楷体_GB2312"/>
            </a:endParaRPr>
          </a:p>
          <a:p>
            <a:pPr marL="0" lvl="0" indent="0">
              <a:lnSpc>
                <a:spcPct val="100000"/>
              </a:lnSpc>
              <a:spcBef>
                <a:spcPct val="0"/>
              </a:spcBef>
              <a:spcAft>
                <a:spcPct val="0"/>
              </a:spcAft>
              <a:buClrTx/>
              <a:buSzTx/>
              <a:buFont typeface="Arial" panose="020B0604020202020204" pitchFamily="34" charset="0"/>
              <a:buNone/>
            </a:pPr>
            <a:r>
              <a:rPr lang="zh-CN" altLang="en-US" sz="2400" b="0" dirty="0">
                <a:solidFill>
                  <a:schemeClr val="tx1"/>
                </a:solidFill>
                <a:latin typeface="楷体_GB2312"/>
                <a:ea typeface="楷体_GB2312"/>
              </a:rPr>
              <a:t>分类：存储器接口和</a:t>
            </a:r>
            <a:r>
              <a:rPr lang="en-US" altLang="zh-CN" sz="2400" b="0" dirty="0">
                <a:solidFill>
                  <a:schemeClr val="tx1"/>
                </a:solidFill>
                <a:latin typeface="楷体_GB2312"/>
                <a:ea typeface="楷体_GB2312"/>
              </a:rPr>
              <a:t>I/O</a:t>
            </a:r>
            <a:r>
              <a:rPr lang="zh-CN" altLang="en-US" sz="2400" b="0" dirty="0">
                <a:solidFill>
                  <a:schemeClr val="tx1"/>
                </a:solidFill>
                <a:latin typeface="楷体_GB2312"/>
                <a:ea typeface="楷体_GB2312"/>
              </a:rPr>
              <a:t>接口。</a:t>
            </a:r>
            <a:endParaRPr lang="zh-CN" altLang="en-US" sz="2400" b="0" dirty="0">
              <a:solidFill>
                <a:schemeClr val="tx1"/>
              </a:solidFill>
              <a:latin typeface="楷体_GB2312"/>
              <a:ea typeface="楷体_GB2312"/>
            </a:endParaRPr>
          </a:p>
          <a:p>
            <a:pPr marL="0" lvl="0" indent="0">
              <a:lnSpc>
                <a:spcPct val="100000"/>
              </a:lnSpc>
              <a:spcBef>
                <a:spcPct val="0"/>
              </a:spcBef>
              <a:spcAft>
                <a:spcPct val="0"/>
              </a:spcAft>
              <a:buClrTx/>
              <a:buSzTx/>
              <a:buFont typeface="Arial" panose="020B0604020202020204" pitchFamily="34" charset="0"/>
              <a:buNone/>
            </a:pPr>
            <a:r>
              <a:rPr lang="zh-CN" altLang="en-US" sz="2400" b="0" dirty="0">
                <a:solidFill>
                  <a:schemeClr val="tx1"/>
                </a:solidFill>
                <a:latin typeface="楷体_GB2312"/>
                <a:ea typeface="楷体_GB2312"/>
              </a:rPr>
              <a:t>位置：介于系统总线与外部设备之间。</a:t>
            </a:r>
            <a:endParaRPr lang="zh-CN" altLang="en-US" sz="2400" b="0" dirty="0">
              <a:solidFill>
                <a:schemeClr val="tx1"/>
              </a:solidFill>
              <a:latin typeface="楷体_GB2312"/>
              <a:ea typeface="楷体_GB2312"/>
            </a:endParaRPr>
          </a:p>
        </p:txBody>
      </p:sp>
    </p:spTree>
  </p:cSld>
  <p:clrMapOvr>
    <a:masterClrMapping/>
  </p:clrMapOvr>
  <p:transition spd="slow">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rgbClr val="000000"/>
                </a:solidFill>
                <a:latin typeface="Tahoma" panose="020B0604030504040204" pitchFamily="34" charset="0"/>
                <a:ea typeface="楷体_GB2312"/>
              </a:rPr>
            </a:fld>
            <a:endParaRPr lang="en-US" altLang="zh-CN" sz="1400" b="0" dirty="0">
              <a:solidFill>
                <a:srgbClr val="000000"/>
              </a:solidFill>
              <a:latin typeface="Tahoma" panose="020B0604030504040204" pitchFamily="34" charset="0"/>
              <a:ea typeface="楷体_GB2312"/>
            </a:endParaRPr>
          </a:p>
        </p:txBody>
      </p:sp>
      <p:sp>
        <p:nvSpPr>
          <p:cNvPr id="17411" name="Text Box 2"/>
          <p:cNvSpPr txBox="1"/>
          <p:nvPr/>
        </p:nvSpPr>
        <p:spPr>
          <a:xfrm>
            <a:off x="174625" y="185738"/>
            <a:ext cx="2909888" cy="579438"/>
          </a:xfrm>
          <a:prstGeom prst="rect">
            <a:avLst/>
          </a:prstGeom>
          <a:noFill/>
          <a:ln w="9525">
            <a:noFill/>
            <a:miter/>
          </a:ln>
        </p:spPr>
        <p:txBody>
          <a:bodyPr>
            <a:spAutoFit/>
          </a:bodyPr>
          <a:lstStyle>
            <a:lvl1pPr>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rgbClr val="000000"/>
              </a:buClr>
              <a:buSzTx/>
              <a:buFont typeface="Arial" panose="020B0604020202020204" pitchFamily="34" charset="0"/>
              <a:buNone/>
              <a:defRPr/>
            </a:pPr>
            <a:r>
              <a:rPr kumimoji="0" lang="zh-CN" altLang="en-US" sz="3200" b="0" i="0" u="none" strike="noStrike" kern="1200" cap="none" spc="0" normalizeH="0" baseline="0" noProof="1" smtClean="0">
                <a:ln>
                  <a:noFill/>
                </a:ln>
                <a:solidFill>
                  <a:schemeClr val="folHlink"/>
                </a:solidFill>
                <a:effectLst>
                  <a:outerShdw blurRad="38100" dist="38100" dir="2700000" algn="tl">
                    <a:srgbClr val="C0C0C0"/>
                  </a:outerShdw>
                </a:effectLst>
                <a:uLnTx/>
                <a:uFillTx/>
                <a:latin typeface="Arial" panose="020B0604020202020204" pitchFamily="34" charset="0"/>
                <a:ea typeface="楷体_GB2312"/>
                <a:cs typeface="楷体_GB2312"/>
              </a:rPr>
              <a:t>常见接口插槽</a:t>
            </a:r>
            <a:endParaRPr kumimoji="0" lang="zh-CN" altLang="en-US" sz="3200" b="0" i="0" u="none" strike="noStrike" kern="1200" cap="none" spc="0" normalizeH="0" baseline="0" noProof="1" smtClean="0">
              <a:ln>
                <a:noFill/>
              </a:ln>
              <a:solidFill>
                <a:schemeClr val="folHlink"/>
              </a:solidFill>
              <a:effectLst>
                <a:outerShdw blurRad="38100" dist="38100" dir="2700000" algn="tl">
                  <a:srgbClr val="C0C0C0"/>
                </a:outerShdw>
              </a:effectLst>
              <a:uLnTx/>
              <a:uFillTx/>
              <a:latin typeface="Arial" panose="020B0604020202020204" pitchFamily="34" charset="0"/>
              <a:ea typeface="楷体_GB2312"/>
              <a:cs typeface="楷体_GB2312"/>
            </a:endParaRPr>
          </a:p>
        </p:txBody>
      </p:sp>
      <p:pic>
        <p:nvPicPr>
          <p:cNvPr id="97284" name="Picture 3" descr="jiekou"/>
          <p:cNvPicPr>
            <a:picLocks noChangeAspect="1"/>
          </p:cNvPicPr>
          <p:nvPr/>
        </p:nvPicPr>
        <p:blipFill>
          <a:blip r:embed="rId1"/>
          <a:stretch>
            <a:fillRect/>
          </a:stretch>
        </p:blipFill>
        <p:spPr>
          <a:xfrm>
            <a:off x="365125" y="1990725"/>
            <a:ext cx="8493125" cy="3657600"/>
          </a:xfrm>
          <a:prstGeom prst="rect">
            <a:avLst/>
          </a:prstGeom>
          <a:noFill/>
          <a:ln w="9525">
            <a:noFill/>
          </a:ln>
        </p:spPr>
      </p:pic>
      <p:sp>
        <p:nvSpPr>
          <p:cNvPr id="97285" name="Line 4"/>
          <p:cNvSpPr/>
          <p:nvPr/>
        </p:nvSpPr>
        <p:spPr>
          <a:xfrm flipH="1" flipV="1">
            <a:off x="471488" y="1479550"/>
            <a:ext cx="430212" cy="1504950"/>
          </a:xfrm>
          <a:prstGeom prst="line">
            <a:avLst/>
          </a:prstGeom>
          <a:ln w="38100" cap="flat" cmpd="sng">
            <a:solidFill>
              <a:schemeClr val="folHlink"/>
            </a:solidFill>
            <a:prstDash val="solid"/>
            <a:bevel/>
            <a:headEnd type="none" w="med" len="med"/>
            <a:tailEnd type="none" w="med" len="med"/>
          </a:ln>
        </p:spPr>
      </p:sp>
      <p:sp>
        <p:nvSpPr>
          <p:cNvPr id="97286" name="Text Box 5"/>
          <p:cNvSpPr txBox="1"/>
          <p:nvPr/>
        </p:nvSpPr>
        <p:spPr>
          <a:xfrm>
            <a:off x="127000" y="1020763"/>
            <a:ext cx="1630363" cy="5191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b="0" dirty="0">
                <a:solidFill>
                  <a:schemeClr val="tx1"/>
                </a:solidFill>
                <a:ea typeface="楷体_GB2312"/>
              </a:rPr>
              <a:t>PS2</a:t>
            </a:r>
            <a:r>
              <a:rPr lang="zh-CN" altLang="en-US" b="0" dirty="0">
                <a:solidFill>
                  <a:schemeClr val="tx1"/>
                </a:solidFill>
                <a:ea typeface="楷体_GB2312"/>
              </a:rPr>
              <a:t>鼠标</a:t>
            </a:r>
            <a:endParaRPr lang="zh-CN" altLang="en-US" b="0" dirty="0">
              <a:solidFill>
                <a:schemeClr val="tx1"/>
              </a:solidFill>
              <a:ea typeface="楷体_GB2312"/>
            </a:endParaRPr>
          </a:p>
        </p:txBody>
      </p:sp>
      <p:sp>
        <p:nvSpPr>
          <p:cNvPr id="97287" name="Line 6"/>
          <p:cNvSpPr/>
          <p:nvPr/>
        </p:nvSpPr>
        <p:spPr>
          <a:xfrm flipV="1">
            <a:off x="517525" y="4011613"/>
            <a:ext cx="322263" cy="658812"/>
          </a:xfrm>
          <a:prstGeom prst="line">
            <a:avLst/>
          </a:prstGeom>
          <a:ln w="38100" cap="flat" cmpd="sng">
            <a:solidFill>
              <a:schemeClr val="folHlink"/>
            </a:solidFill>
            <a:prstDash val="solid"/>
            <a:bevel/>
            <a:headEnd type="none" w="med" len="med"/>
            <a:tailEnd type="none" w="med" len="med"/>
          </a:ln>
        </p:spPr>
      </p:sp>
      <p:sp>
        <p:nvSpPr>
          <p:cNvPr id="97288" name="Text Box 7"/>
          <p:cNvSpPr txBox="1"/>
          <p:nvPr/>
        </p:nvSpPr>
        <p:spPr>
          <a:xfrm>
            <a:off x="0" y="4530725"/>
            <a:ext cx="1630363" cy="51911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b="0" dirty="0">
                <a:solidFill>
                  <a:schemeClr val="tx1"/>
                </a:solidFill>
                <a:ea typeface="楷体_GB2312"/>
              </a:rPr>
              <a:t>PS2</a:t>
            </a:r>
            <a:r>
              <a:rPr lang="zh-CN" altLang="en-US" b="0" dirty="0">
                <a:solidFill>
                  <a:schemeClr val="tx1"/>
                </a:solidFill>
                <a:ea typeface="楷体_GB2312"/>
              </a:rPr>
              <a:t>键盘</a:t>
            </a:r>
            <a:endParaRPr lang="zh-CN" altLang="en-US" b="0" dirty="0">
              <a:solidFill>
                <a:schemeClr val="tx1"/>
              </a:solidFill>
              <a:ea typeface="楷体_GB2312"/>
            </a:endParaRPr>
          </a:p>
        </p:txBody>
      </p:sp>
      <p:sp>
        <p:nvSpPr>
          <p:cNvPr id="97289" name="Line 8"/>
          <p:cNvSpPr/>
          <p:nvPr/>
        </p:nvSpPr>
        <p:spPr>
          <a:xfrm flipV="1">
            <a:off x="1365250" y="5370513"/>
            <a:ext cx="322263" cy="658812"/>
          </a:xfrm>
          <a:prstGeom prst="line">
            <a:avLst/>
          </a:prstGeom>
          <a:ln w="38100" cap="flat" cmpd="sng">
            <a:solidFill>
              <a:schemeClr val="folHlink"/>
            </a:solidFill>
            <a:prstDash val="solid"/>
            <a:bevel/>
            <a:headEnd type="none" w="med" len="med"/>
            <a:tailEnd type="none" w="med" len="med"/>
          </a:ln>
        </p:spPr>
      </p:sp>
      <p:sp>
        <p:nvSpPr>
          <p:cNvPr id="97290" name="Text Box 9"/>
          <p:cNvSpPr txBox="1"/>
          <p:nvPr/>
        </p:nvSpPr>
        <p:spPr>
          <a:xfrm>
            <a:off x="579438" y="6037263"/>
            <a:ext cx="1293812" cy="5191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b="0" dirty="0">
                <a:solidFill>
                  <a:schemeClr val="tx1"/>
                </a:solidFill>
                <a:ea typeface="楷体_GB2312"/>
              </a:rPr>
              <a:t>千兆网</a:t>
            </a:r>
            <a:endParaRPr lang="zh-CN" altLang="en-US" b="0" dirty="0">
              <a:solidFill>
                <a:schemeClr val="tx1"/>
              </a:solidFill>
              <a:ea typeface="楷体_GB2312"/>
            </a:endParaRPr>
          </a:p>
        </p:txBody>
      </p:sp>
      <p:sp>
        <p:nvSpPr>
          <p:cNvPr id="97291" name="Line 10"/>
          <p:cNvSpPr/>
          <p:nvPr/>
        </p:nvSpPr>
        <p:spPr>
          <a:xfrm flipV="1">
            <a:off x="2049463" y="1322388"/>
            <a:ext cx="444500" cy="1627187"/>
          </a:xfrm>
          <a:prstGeom prst="line">
            <a:avLst/>
          </a:prstGeom>
          <a:ln w="38100" cap="flat" cmpd="sng">
            <a:solidFill>
              <a:schemeClr val="folHlink"/>
            </a:solidFill>
            <a:prstDash val="solid"/>
            <a:bevel/>
            <a:headEnd type="none" w="med" len="med"/>
            <a:tailEnd type="none" w="med" len="med"/>
          </a:ln>
        </p:spPr>
      </p:sp>
      <p:sp>
        <p:nvSpPr>
          <p:cNvPr id="97292" name="Text Box 11"/>
          <p:cNvSpPr txBox="1"/>
          <p:nvPr/>
        </p:nvSpPr>
        <p:spPr>
          <a:xfrm>
            <a:off x="1789113" y="860425"/>
            <a:ext cx="2314575" cy="51911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b="0" dirty="0">
                <a:solidFill>
                  <a:schemeClr val="tx1"/>
                </a:solidFill>
                <a:ea typeface="楷体_GB2312"/>
              </a:rPr>
              <a:t>10/100M</a:t>
            </a:r>
            <a:r>
              <a:rPr lang="zh-CN" altLang="en-US" b="0" dirty="0">
                <a:solidFill>
                  <a:schemeClr val="tx1"/>
                </a:solidFill>
                <a:ea typeface="楷体_GB2312"/>
              </a:rPr>
              <a:t>网卡</a:t>
            </a:r>
            <a:endParaRPr lang="zh-CN" altLang="en-US" b="0" dirty="0">
              <a:solidFill>
                <a:schemeClr val="tx1"/>
              </a:solidFill>
              <a:ea typeface="楷体_GB2312"/>
            </a:endParaRPr>
          </a:p>
        </p:txBody>
      </p:sp>
      <p:sp>
        <p:nvSpPr>
          <p:cNvPr id="97293" name="Line 12"/>
          <p:cNvSpPr/>
          <p:nvPr/>
        </p:nvSpPr>
        <p:spPr>
          <a:xfrm flipH="1" flipV="1">
            <a:off x="2303463" y="3943350"/>
            <a:ext cx="915987" cy="1951038"/>
          </a:xfrm>
          <a:prstGeom prst="line">
            <a:avLst/>
          </a:prstGeom>
          <a:ln w="38100" cap="flat" cmpd="sng">
            <a:solidFill>
              <a:schemeClr val="folHlink"/>
            </a:solidFill>
            <a:prstDash val="solid"/>
            <a:bevel/>
            <a:headEnd type="none" w="med" len="med"/>
            <a:tailEnd type="none" w="med" len="med"/>
          </a:ln>
        </p:spPr>
      </p:sp>
      <p:sp>
        <p:nvSpPr>
          <p:cNvPr id="97294" name="Text Box 13"/>
          <p:cNvSpPr txBox="1"/>
          <p:nvPr/>
        </p:nvSpPr>
        <p:spPr>
          <a:xfrm>
            <a:off x="2689225" y="5849938"/>
            <a:ext cx="985838" cy="5191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b="0" dirty="0">
                <a:solidFill>
                  <a:schemeClr val="tx1"/>
                </a:solidFill>
                <a:ea typeface="楷体_GB2312"/>
              </a:rPr>
              <a:t>USB</a:t>
            </a:r>
            <a:endParaRPr lang="en-US" altLang="zh-CN" b="0" dirty="0">
              <a:solidFill>
                <a:schemeClr val="tx1"/>
              </a:solidFill>
              <a:ea typeface="楷体_GB2312"/>
            </a:endParaRPr>
          </a:p>
        </p:txBody>
      </p:sp>
      <p:sp>
        <p:nvSpPr>
          <p:cNvPr id="97295" name="Line 14"/>
          <p:cNvSpPr/>
          <p:nvPr/>
        </p:nvSpPr>
        <p:spPr>
          <a:xfrm flipV="1">
            <a:off x="3743325" y="1820863"/>
            <a:ext cx="417513" cy="1182687"/>
          </a:xfrm>
          <a:prstGeom prst="line">
            <a:avLst/>
          </a:prstGeom>
          <a:ln w="38100" cap="flat" cmpd="sng">
            <a:solidFill>
              <a:schemeClr val="folHlink"/>
            </a:solidFill>
            <a:prstDash val="solid"/>
            <a:bevel/>
            <a:headEnd type="none" w="med" len="med"/>
            <a:tailEnd type="none" w="med" len="med"/>
          </a:ln>
        </p:spPr>
      </p:sp>
      <p:sp>
        <p:nvSpPr>
          <p:cNvPr id="97296" name="Text Box 15"/>
          <p:cNvSpPr txBox="1"/>
          <p:nvPr/>
        </p:nvSpPr>
        <p:spPr>
          <a:xfrm>
            <a:off x="3321050" y="1371600"/>
            <a:ext cx="1401763" cy="51911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b="0" dirty="0">
                <a:solidFill>
                  <a:schemeClr val="tx1"/>
                </a:solidFill>
                <a:ea typeface="楷体_GB2312"/>
              </a:rPr>
              <a:t>并行口</a:t>
            </a:r>
            <a:endParaRPr lang="zh-CN" altLang="en-US" b="0" dirty="0">
              <a:solidFill>
                <a:schemeClr val="tx1"/>
              </a:solidFill>
              <a:ea typeface="楷体_GB2312"/>
            </a:endParaRPr>
          </a:p>
        </p:txBody>
      </p:sp>
      <p:sp>
        <p:nvSpPr>
          <p:cNvPr id="97297" name="Line 16"/>
          <p:cNvSpPr/>
          <p:nvPr/>
        </p:nvSpPr>
        <p:spPr>
          <a:xfrm flipH="1">
            <a:off x="3675063" y="1057275"/>
            <a:ext cx="1465262" cy="2716213"/>
          </a:xfrm>
          <a:prstGeom prst="line">
            <a:avLst/>
          </a:prstGeom>
          <a:ln w="38100" cap="flat" cmpd="sng">
            <a:solidFill>
              <a:schemeClr val="folHlink"/>
            </a:solidFill>
            <a:prstDash val="solid"/>
            <a:bevel/>
            <a:headEnd type="none" w="med" len="med"/>
            <a:tailEnd type="none" w="med" len="med"/>
          </a:ln>
        </p:spPr>
      </p:sp>
      <p:sp>
        <p:nvSpPr>
          <p:cNvPr id="97298" name="Text Box 17"/>
          <p:cNvSpPr txBox="1"/>
          <p:nvPr/>
        </p:nvSpPr>
        <p:spPr>
          <a:xfrm>
            <a:off x="6142038" y="1154113"/>
            <a:ext cx="2597150" cy="5191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b="0" dirty="0">
                <a:solidFill>
                  <a:schemeClr val="tx1"/>
                </a:solidFill>
                <a:ea typeface="楷体_GB2312"/>
              </a:rPr>
              <a:t>MIDI/</a:t>
            </a:r>
            <a:r>
              <a:rPr lang="zh-CN" altLang="en-US" b="0" dirty="0">
                <a:solidFill>
                  <a:schemeClr val="tx1"/>
                </a:solidFill>
                <a:ea typeface="楷体_GB2312"/>
              </a:rPr>
              <a:t>游戏接口</a:t>
            </a:r>
            <a:endParaRPr lang="zh-CN" altLang="en-US" b="0" dirty="0">
              <a:solidFill>
                <a:schemeClr val="tx1"/>
              </a:solidFill>
              <a:ea typeface="楷体_GB2312"/>
            </a:endParaRPr>
          </a:p>
        </p:txBody>
      </p:sp>
      <p:sp>
        <p:nvSpPr>
          <p:cNvPr id="97299" name="Line 18"/>
          <p:cNvSpPr/>
          <p:nvPr/>
        </p:nvSpPr>
        <p:spPr>
          <a:xfrm flipH="1" flipV="1">
            <a:off x="5546725" y="4241800"/>
            <a:ext cx="900113" cy="1747838"/>
          </a:xfrm>
          <a:prstGeom prst="line">
            <a:avLst/>
          </a:prstGeom>
          <a:ln w="38100" cap="flat" cmpd="sng">
            <a:solidFill>
              <a:schemeClr val="folHlink"/>
            </a:solidFill>
            <a:prstDash val="solid"/>
            <a:bevel/>
            <a:headEnd type="none" w="med" len="med"/>
            <a:tailEnd type="none" w="med" len="med"/>
          </a:ln>
        </p:spPr>
      </p:sp>
      <p:sp>
        <p:nvSpPr>
          <p:cNvPr id="97300" name="Text Box 19"/>
          <p:cNvSpPr txBox="1"/>
          <p:nvPr/>
        </p:nvSpPr>
        <p:spPr>
          <a:xfrm>
            <a:off x="5889625" y="5957888"/>
            <a:ext cx="1990725" cy="5191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b="0" dirty="0">
                <a:solidFill>
                  <a:schemeClr val="tx1"/>
                </a:solidFill>
                <a:ea typeface="楷体_GB2312"/>
              </a:rPr>
              <a:t>显示器接口</a:t>
            </a:r>
            <a:endParaRPr lang="zh-CN" altLang="en-US" b="0" dirty="0">
              <a:solidFill>
                <a:schemeClr val="tx1"/>
              </a:solidFill>
              <a:ea typeface="楷体_GB2312"/>
            </a:endParaRPr>
          </a:p>
        </p:txBody>
      </p:sp>
      <p:sp>
        <p:nvSpPr>
          <p:cNvPr id="97301" name="Line 20"/>
          <p:cNvSpPr/>
          <p:nvPr/>
        </p:nvSpPr>
        <p:spPr>
          <a:xfrm flipV="1">
            <a:off x="3946525" y="4979988"/>
            <a:ext cx="0" cy="1249362"/>
          </a:xfrm>
          <a:prstGeom prst="line">
            <a:avLst/>
          </a:prstGeom>
          <a:ln w="38100" cap="flat" cmpd="sng">
            <a:solidFill>
              <a:schemeClr val="folHlink"/>
            </a:solidFill>
            <a:prstDash val="solid"/>
            <a:bevel/>
            <a:headEnd type="none" w="med" len="med"/>
            <a:tailEnd type="none" w="med" len="med"/>
          </a:ln>
        </p:spPr>
      </p:sp>
      <p:sp>
        <p:nvSpPr>
          <p:cNvPr id="97302" name="Text Box 21"/>
          <p:cNvSpPr txBox="1"/>
          <p:nvPr/>
        </p:nvSpPr>
        <p:spPr>
          <a:xfrm>
            <a:off x="3468688" y="6227763"/>
            <a:ext cx="1098550" cy="5191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b="0" dirty="0">
                <a:solidFill>
                  <a:schemeClr val="tx1"/>
                </a:solidFill>
                <a:ea typeface="楷体_GB2312"/>
              </a:rPr>
              <a:t>1394</a:t>
            </a:r>
            <a:endParaRPr lang="en-US" altLang="zh-CN" b="0" dirty="0">
              <a:solidFill>
                <a:schemeClr val="tx1"/>
              </a:solidFill>
              <a:ea typeface="楷体_GB2312"/>
            </a:endParaRPr>
          </a:p>
        </p:txBody>
      </p:sp>
      <p:sp>
        <p:nvSpPr>
          <p:cNvPr id="97303" name="Line 22"/>
          <p:cNvSpPr/>
          <p:nvPr/>
        </p:nvSpPr>
        <p:spPr>
          <a:xfrm flipH="1" flipV="1">
            <a:off x="4295775" y="5516563"/>
            <a:ext cx="498475" cy="282575"/>
          </a:xfrm>
          <a:prstGeom prst="line">
            <a:avLst/>
          </a:prstGeom>
          <a:ln w="38100" cap="flat" cmpd="sng">
            <a:solidFill>
              <a:schemeClr val="folHlink"/>
            </a:solidFill>
            <a:prstDash val="solid"/>
            <a:bevel/>
            <a:headEnd type="none" w="med" len="med"/>
            <a:tailEnd type="none" w="med" len="med"/>
          </a:ln>
        </p:spPr>
      </p:sp>
      <p:sp>
        <p:nvSpPr>
          <p:cNvPr id="97304" name="Text Box 23"/>
          <p:cNvSpPr txBox="1"/>
          <p:nvPr/>
        </p:nvSpPr>
        <p:spPr>
          <a:xfrm>
            <a:off x="4464050" y="5715000"/>
            <a:ext cx="1216025" cy="51911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b="0" dirty="0">
                <a:solidFill>
                  <a:schemeClr val="tx1"/>
                </a:solidFill>
                <a:ea typeface="楷体_GB2312"/>
              </a:rPr>
              <a:t>1394a</a:t>
            </a:r>
            <a:endParaRPr lang="en-US" altLang="zh-CN" b="0" dirty="0">
              <a:solidFill>
                <a:schemeClr val="tx1"/>
              </a:solidFill>
              <a:ea typeface="楷体_GB2312"/>
            </a:endParaRPr>
          </a:p>
        </p:txBody>
      </p:sp>
      <p:sp>
        <p:nvSpPr>
          <p:cNvPr id="97305" name="AutoShape 24"/>
          <p:cNvSpPr/>
          <p:nvPr/>
        </p:nvSpPr>
        <p:spPr>
          <a:xfrm rot="-5400000">
            <a:off x="7473950" y="3590925"/>
            <a:ext cx="88900" cy="1343025"/>
          </a:xfrm>
          <a:prstGeom prst="leftBrace">
            <a:avLst>
              <a:gd name="adj1" fmla="val 125053"/>
              <a:gd name="adj2" fmla="val 50000"/>
            </a:avLst>
          </a:prstGeom>
          <a:noFill/>
          <a:ln w="38100" cap="flat" cmpd="sng">
            <a:solidFill>
              <a:schemeClr val="folHlink"/>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97306" name="Line 25"/>
          <p:cNvSpPr/>
          <p:nvPr/>
        </p:nvSpPr>
        <p:spPr>
          <a:xfrm flipH="1" flipV="1">
            <a:off x="7508875" y="4321175"/>
            <a:ext cx="187325" cy="498475"/>
          </a:xfrm>
          <a:prstGeom prst="line">
            <a:avLst/>
          </a:prstGeom>
          <a:ln w="38100" cap="flat" cmpd="sng">
            <a:solidFill>
              <a:schemeClr val="folHlink"/>
            </a:solidFill>
            <a:prstDash val="solid"/>
            <a:bevel/>
            <a:headEnd type="none" w="med" len="med"/>
            <a:tailEnd type="none" w="med" len="med"/>
          </a:ln>
        </p:spPr>
      </p:sp>
      <p:sp>
        <p:nvSpPr>
          <p:cNvPr id="97307" name="Text Box 26"/>
          <p:cNvSpPr txBox="1"/>
          <p:nvPr/>
        </p:nvSpPr>
        <p:spPr>
          <a:xfrm>
            <a:off x="6656388" y="4773613"/>
            <a:ext cx="2098675" cy="9461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b="0" dirty="0">
                <a:solidFill>
                  <a:schemeClr val="tx1"/>
                </a:solidFill>
                <a:ea typeface="楷体_GB2312"/>
              </a:rPr>
              <a:t>音箱</a:t>
            </a:r>
            <a:r>
              <a:rPr lang="en-US" altLang="zh-CN" b="0" dirty="0">
                <a:solidFill>
                  <a:schemeClr val="tx1"/>
                </a:solidFill>
                <a:ea typeface="楷体_GB2312"/>
              </a:rPr>
              <a:t>/</a:t>
            </a:r>
            <a:r>
              <a:rPr lang="zh-CN" altLang="en-US" b="0" dirty="0">
                <a:solidFill>
                  <a:schemeClr val="tx1"/>
                </a:solidFill>
                <a:ea typeface="楷体_GB2312"/>
              </a:rPr>
              <a:t>线入接口</a:t>
            </a:r>
            <a:r>
              <a:rPr lang="en-US" altLang="zh-CN" b="0" dirty="0">
                <a:solidFill>
                  <a:schemeClr val="tx1"/>
                </a:solidFill>
                <a:ea typeface="楷体_GB2312"/>
              </a:rPr>
              <a:t>/</a:t>
            </a:r>
            <a:r>
              <a:rPr lang="zh-CN" altLang="en-US" b="0" dirty="0">
                <a:solidFill>
                  <a:schemeClr val="tx1"/>
                </a:solidFill>
                <a:ea typeface="楷体_GB2312"/>
              </a:rPr>
              <a:t>麦克风</a:t>
            </a:r>
            <a:endParaRPr lang="zh-CN" altLang="en-US" b="0" dirty="0">
              <a:solidFill>
                <a:schemeClr val="tx1"/>
              </a:solidFill>
              <a:ea typeface="楷体_GB2312"/>
            </a:endParaRPr>
          </a:p>
        </p:txBody>
      </p:sp>
      <p:sp>
        <p:nvSpPr>
          <p:cNvPr id="97308" name="Line 27"/>
          <p:cNvSpPr/>
          <p:nvPr/>
        </p:nvSpPr>
        <p:spPr>
          <a:xfrm flipV="1">
            <a:off x="7319963" y="1684338"/>
            <a:ext cx="203200" cy="942975"/>
          </a:xfrm>
          <a:prstGeom prst="line">
            <a:avLst/>
          </a:prstGeom>
          <a:ln w="38100" cap="flat" cmpd="sng">
            <a:solidFill>
              <a:schemeClr val="folHlink"/>
            </a:solidFill>
            <a:prstDash val="solid"/>
            <a:bevel/>
            <a:headEnd type="none" w="med" len="med"/>
            <a:tailEnd type="none" w="med" len="med"/>
          </a:ln>
        </p:spPr>
      </p:sp>
      <p:sp>
        <p:nvSpPr>
          <p:cNvPr id="97309" name="Text Box 28"/>
          <p:cNvSpPr txBox="1"/>
          <p:nvPr/>
        </p:nvSpPr>
        <p:spPr>
          <a:xfrm>
            <a:off x="4438650" y="523875"/>
            <a:ext cx="1401763" cy="51911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b="0" dirty="0">
                <a:solidFill>
                  <a:schemeClr val="tx1"/>
                </a:solidFill>
                <a:ea typeface="楷体_GB2312"/>
              </a:rPr>
              <a:t>串行口</a:t>
            </a:r>
            <a:endParaRPr lang="zh-CN" altLang="en-US" b="0" dirty="0">
              <a:solidFill>
                <a:schemeClr val="tx1"/>
              </a:solidFill>
              <a:ea typeface="楷体_GB231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98307" name="Rectangle 2"/>
          <p:cNvSpPr>
            <a:spLocks noGrp="1"/>
          </p:cNvSpPr>
          <p:nvPr>
            <p:ph type="title" idx="4294967295"/>
          </p:nvPr>
        </p:nvSpPr>
        <p:spPr/>
        <p:txBody>
          <a:bodyPr vert="horz" wrap="square" lIns="91440" tIns="45720" rIns="91440" bIns="45720" anchor="b" anchorCtr="0"/>
          <a:p>
            <a:pPr eaLnBrk="1" hangingPunct="1"/>
            <a:r>
              <a:rPr lang="zh-CN" altLang="en-US" b="1" dirty="0"/>
              <a:t>二、</a:t>
            </a:r>
            <a:r>
              <a:rPr lang="en-US" altLang="zh-CN" sz="4000" b="1" dirty="0"/>
              <a:t>I/O</a:t>
            </a:r>
            <a:r>
              <a:rPr lang="zh-CN" altLang="en-US" dirty="0"/>
              <a:t>端口</a:t>
            </a:r>
            <a:endParaRPr lang="zh-CN" altLang="en-US" dirty="0"/>
          </a:p>
        </p:txBody>
      </p:sp>
      <p:sp>
        <p:nvSpPr>
          <p:cNvPr id="98308" name="Text Box 5"/>
          <p:cNvSpPr txBox="1"/>
          <p:nvPr/>
        </p:nvSpPr>
        <p:spPr>
          <a:xfrm>
            <a:off x="3132138" y="2681288"/>
            <a:ext cx="3124200" cy="20431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3200" dirty="0">
                <a:solidFill>
                  <a:srgbClr val="000000"/>
                </a:solidFill>
                <a:latin typeface="楷体_GB2312"/>
                <a:ea typeface="楷体_GB2312"/>
              </a:rPr>
              <a:t>数据端口</a:t>
            </a:r>
            <a:endParaRPr lang="zh-CN" altLang="en-US" sz="3200" dirty="0">
              <a:solidFill>
                <a:srgbClr val="000000"/>
              </a:solidFill>
              <a:latin typeface="楷体_GB2312"/>
              <a:ea typeface="楷体_GB2312"/>
            </a:endParaRPr>
          </a:p>
          <a:p>
            <a:pPr marL="0" lvl="0" indent="0">
              <a:lnSpc>
                <a:spcPct val="100000"/>
              </a:lnSpc>
              <a:spcBef>
                <a:spcPct val="50000"/>
              </a:spcBef>
              <a:spcAft>
                <a:spcPct val="0"/>
              </a:spcAft>
              <a:buClrTx/>
              <a:buSzTx/>
              <a:buNone/>
            </a:pPr>
            <a:r>
              <a:rPr lang="zh-CN" altLang="en-US" sz="3200" dirty="0">
                <a:solidFill>
                  <a:srgbClr val="000000"/>
                </a:solidFill>
                <a:latin typeface="楷体_GB2312"/>
                <a:ea typeface="楷体_GB2312"/>
              </a:rPr>
              <a:t>状态端口</a:t>
            </a:r>
            <a:endParaRPr lang="zh-CN" altLang="en-US" sz="3200" dirty="0">
              <a:solidFill>
                <a:srgbClr val="000000"/>
              </a:solidFill>
              <a:latin typeface="楷体_GB2312"/>
              <a:ea typeface="楷体_GB2312"/>
            </a:endParaRPr>
          </a:p>
          <a:p>
            <a:pPr marL="0" lvl="0" indent="0">
              <a:lnSpc>
                <a:spcPct val="100000"/>
              </a:lnSpc>
              <a:spcBef>
                <a:spcPct val="50000"/>
              </a:spcBef>
              <a:spcAft>
                <a:spcPct val="0"/>
              </a:spcAft>
              <a:buClrTx/>
              <a:buSzTx/>
              <a:buNone/>
            </a:pPr>
            <a:r>
              <a:rPr lang="zh-CN" altLang="en-US" sz="3200" dirty="0">
                <a:solidFill>
                  <a:srgbClr val="000000"/>
                </a:solidFill>
                <a:latin typeface="楷体_GB2312"/>
                <a:ea typeface="楷体_GB2312"/>
              </a:rPr>
              <a:t>控制端口</a:t>
            </a:r>
            <a:endParaRPr lang="zh-CN" altLang="en-US" sz="3200" dirty="0">
              <a:solidFill>
                <a:srgbClr val="000000"/>
              </a:solidFill>
              <a:latin typeface="楷体_GB2312"/>
              <a:ea typeface="楷体_GB2312"/>
            </a:endParaRPr>
          </a:p>
        </p:txBody>
      </p:sp>
      <p:sp>
        <p:nvSpPr>
          <p:cNvPr id="98309" name="AutoShape 6"/>
          <p:cNvSpPr/>
          <p:nvPr/>
        </p:nvSpPr>
        <p:spPr>
          <a:xfrm>
            <a:off x="2843213" y="2924175"/>
            <a:ext cx="236537" cy="1584325"/>
          </a:xfrm>
          <a:prstGeom prst="leftBrace">
            <a:avLst>
              <a:gd name="adj1" fmla="val 55444"/>
              <a:gd name="adj2" fmla="val 50000"/>
            </a:avLst>
          </a:prstGeom>
          <a:noFill/>
          <a:ln w="25400" cap="sq"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98310" name="Text Box 7"/>
          <p:cNvSpPr txBox="1"/>
          <p:nvPr/>
        </p:nvSpPr>
        <p:spPr>
          <a:xfrm>
            <a:off x="1844675" y="3425825"/>
            <a:ext cx="1071563" cy="579438"/>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3200" dirty="0">
                <a:solidFill>
                  <a:srgbClr val="000000"/>
                </a:solidFill>
                <a:latin typeface="楷体_GB2312"/>
                <a:ea typeface="楷体_GB2312"/>
              </a:rPr>
              <a:t>端口</a:t>
            </a:r>
            <a:endParaRPr lang="zh-CN" altLang="en-US" sz="3200" dirty="0">
              <a:solidFill>
                <a:srgbClr val="000000"/>
              </a:solidFill>
              <a:latin typeface="楷体_GB2312"/>
              <a:ea typeface="楷体_GB2312"/>
            </a:endParaRPr>
          </a:p>
        </p:txBody>
      </p:sp>
    </p:spTree>
  </p:cSld>
  <p:clrMapOvr>
    <a:masterClrMapping/>
  </p:clrMapOvr>
  <p:transition spd="slow">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标题 1"/>
          <p:cNvSpPr>
            <a:spLocks noGrp="1"/>
          </p:cNvSpPr>
          <p:nvPr>
            <p:ph type="title" idx="4294967295"/>
          </p:nvPr>
        </p:nvSpPr>
        <p:spPr/>
        <p:txBody>
          <a:bodyPr vert="horz" wrap="square" lIns="91440" tIns="45720" rIns="91440" bIns="45720" anchor="b" anchorCtr="0"/>
          <a:p>
            <a:endParaRPr lang="zh-CN" altLang="zh-CN" dirty="0"/>
          </a:p>
        </p:txBody>
      </p:sp>
      <p:sp>
        <p:nvSpPr>
          <p:cNvPr id="99331" name="内容占位符 2"/>
          <p:cNvSpPr>
            <a:spLocks noGrp="1"/>
          </p:cNvSpPr>
          <p:nvPr>
            <p:ph idx="4294967295"/>
          </p:nvPr>
        </p:nvSpPr>
        <p:spPr/>
        <p:txBody>
          <a:bodyPr vert="horz" wrap="square" lIns="91440" tIns="45720" rIns="91440" bIns="45720" anchor="t" anchorCtr="0"/>
          <a:p>
            <a:r>
              <a:rPr lang="zh-CN" altLang="en-US" b="0" dirty="0"/>
              <a:t>电脑“</a:t>
            </a:r>
            <a:r>
              <a:rPr lang="zh-CN" altLang="en-US" b="0" dirty="0">
                <a:hlinkClick r:id="rId1"/>
              </a:rPr>
              <a:t>端口</a:t>
            </a:r>
            <a:r>
              <a:rPr lang="zh-CN" altLang="en-US" b="0" dirty="0"/>
              <a:t>”是英文</a:t>
            </a:r>
            <a:r>
              <a:rPr lang="en-US" altLang="zh-CN" b="0" dirty="0"/>
              <a:t>port</a:t>
            </a:r>
            <a:r>
              <a:rPr lang="zh-CN" altLang="en-US" b="0" dirty="0"/>
              <a:t>的义译，可以认为是计算机与外界通讯交流的出口。其中硬件领域的</a:t>
            </a:r>
            <a:r>
              <a:rPr lang="zh-CN" altLang="en-US" b="0" dirty="0">
                <a:hlinkClick r:id="rId1"/>
              </a:rPr>
              <a:t>端口</a:t>
            </a:r>
            <a:r>
              <a:rPr lang="zh-CN" altLang="en-US" b="0" dirty="0"/>
              <a:t>又称接口，如：</a:t>
            </a:r>
            <a:r>
              <a:rPr lang="en-US" altLang="zh-CN" b="0" dirty="0"/>
              <a:t>USB</a:t>
            </a:r>
            <a:r>
              <a:rPr lang="zh-CN" altLang="en-US" b="0" dirty="0"/>
              <a:t>端口、</a:t>
            </a:r>
            <a:r>
              <a:rPr lang="zh-CN" altLang="en-US" b="0" dirty="0">
                <a:hlinkClick r:id="rId2"/>
              </a:rPr>
              <a:t>串行端口</a:t>
            </a:r>
            <a:r>
              <a:rPr lang="zh-CN" altLang="en-US" b="0" dirty="0"/>
              <a:t>等。软件领域的</a:t>
            </a:r>
            <a:r>
              <a:rPr lang="zh-CN" altLang="en-US" b="0" dirty="0">
                <a:hlinkClick r:id="rId1"/>
              </a:rPr>
              <a:t>端口</a:t>
            </a:r>
            <a:r>
              <a:rPr lang="zh-CN" altLang="en-US" b="0" dirty="0"/>
              <a:t>一般指网络中</a:t>
            </a:r>
            <a:r>
              <a:rPr lang="zh-CN" altLang="en-US" b="0" dirty="0">
                <a:hlinkClick r:id="rId3"/>
              </a:rPr>
              <a:t>面向连接服务</a:t>
            </a:r>
            <a:r>
              <a:rPr lang="zh-CN" altLang="en-US" b="0" dirty="0"/>
              <a:t>和无连接服务的</a:t>
            </a:r>
            <a:r>
              <a:rPr lang="zh-CN" altLang="en-US" b="0" dirty="0">
                <a:hlinkClick r:id="rId4"/>
              </a:rPr>
              <a:t>通信协议</a:t>
            </a:r>
            <a:r>
              <a:rPr lang="zh-CN" altLang="en-US" b="0" dirty="0"/>
              <a:t>端口，是一种抽象的</a:t>
            </a:r>
            <a:r>
              <a:rPr lang="zh-CN" altLang="en-US" b="0" dirty="0">
                <a:hlinkClick r:id="rId5"/>
              </a:rPr>
              <a:t>软件结构</a:t>
            </a:r>
            <a:r>
              <a:rPr lang="zh-CN" altLang="en-US" b="0" dirty="0"/>
              <a:t>，包括一些</a:t>
            </a:r>
            <a:r>
              <a:rPr lang="zh-CN" altLang="en-US" b="0" dirty="0">
                <a:hlinkClick r:id="rId6"/>
              </a:rPr>
              <a:t>数据结构</a:t>
            </a:r>
            <a:r>
              <a:rPr lang="zh-CN" altLang="en-US" b="0" dirty="0"/>
              <a:t>和</a:t>
            </a:r>
            <a:r>
              <a:rPr lang="en-US" altLang="zh-CN" b="0" dirty="0"/>
              <a:t>I/O</a:t>
            </a:r>
            <a:r>
              <a:rPr lang="zh-CN" altLang="en-US" b="0" dirty="0"/>
              <a:t>（基本输入输出）缓冲区。</a:t>
            </a:r>
            <a:endParaRPr lang="zh-CN" altLang="en-US" dirty="0"/>
          </a:p>
        </p:txBody>
      </p:sp>
      <p:sp>
        <p:nvSpPr>
          <p:cNvPr id="99332"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Tree>
  </p:cSld>
  <p:clrMapOvr>
    <a:masterClrMapping/>
  </p:clrMapOvr>
  <p:transition spd="slow">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标题 1"/>
          <p:cNvSpPr>
            <a:spLocks noGrp="1"/>
          </p:cNvSpPr>
          <p:nvPr>
            <p:ph type="title" idx="4294967295"/>
          </p:nvPr>
        </p:nvSpPr>
        <p:spPr>
          <a:xfrm>
            <a:off x="1150938" y="214313"/>
            <a:ext cx="2773362" cy="1462087"/>
          </a:xfrm>
        </p:spPr>
        <p:txBody>
          <a:bodyPr vert="horz" wrap="square" lIns="91440" tIns="45720" rIns="91440" bIns="45720" anchor="b" anchorCtr="0"/>
          <a:p>
            <a:r>
              <a:rPr lang="zh-CN" altLang="en-US" dirty="0"/>
              <a:t>数据信息</a:t>
            </a:r>
            <a:endParaRPr lang="zh-CN" altLang="en-US" dirty="0"/>
          </a:p>
        </p:txBody>
      </p:sp>
      <p:sp>
        <p:nvSpPr>
          <p:cNvPr id="100355" name="内容占位符 2"/>
          <p:cNvSpPr>
            <a:spLocks noGrp="1"/>
          </p:cNvSpPr>
          <p:nvPr>
            <p:ph idx="4294967295"/>
          </p:nvPr>
        </p:nvSpPr>
        <p:spPr>
          <a:xfrm>
            <a:off x="827088" y="2017713"/>
            <a:ext cx="8316912" cy="3787775"/>
          </a:xfrm>
        </p:spPr>
        <p:txBody>
          <a:bodyPr vert="horz" wrap="square" lIns="91440" tIns="45720" rIns="91440" bIns="45720" anchor="t" anchorCtr="0"/>
          <a:p>
            <a:pPr>
              <a:buFont typeface="Wingdings" panose="05000000000000000000" pitchFamily="2" charset="2"/>
              <a:buChar char="Ø"/>
            </a:pPr>
            <a:r>
              <a:rPr lang="zh-CN" altLang="en-US" dirty="0">
                <a:solidFill>
                  <a:schemeClr val="tx1"/>
                </a:solidFill>
                <a:latin typeface="楷体_GB2312"/>
              </a:rPr>
              <a:t>数据信息是最基本的一种信息。它又包括</a:t>
            </a:r>
            <a:r>
              <a:rPr lang="en-US" altLang="zh-CN" dirty="0">
                <a:solidFill>
                  <a:schemeClr val="tx1"/>
                </a:solidFill>
                <a:latin typeface="楷体_GB2312"/>
              </a:rPr>
              <a:t>3</a:t>
            </a:r>
            <a:r>
              <a:rPr lang="zh-CN" altLang="en-US" dirty="0">
                <a:solidFill>
                  <a:schemeClr val="tx1"/>
                </a:solidFill>
                <a:latin typeface="楷体_GB2312"/>
              </a:rPr>
              <a:t>种：</a:t>
            </a:r>
            <a:endParaRPr lang="zh-CN" altLang="en-US" dirty="0">
              <a:solidFill>
                <a:schemeClr val="tx1"/>
              </a:solidFill>
              <a:latin typeface="楷体_GB2312"/>
            </a:endParaRPr>
          </a:p>
          <a:p>
            <a:pPr>
              <a:buFont typeface="Wingdings" panose="05000000000000000000" pitchFamily="2" charset="2"/>
              <a:buChar char="p"/>
            </a:pPr>
            <a:r>
              <a:rPr lang="zh-CN" altLang="en-US" dirty="0">
                <a:solidFill>
                  <a:schemeClr val="tx1"/>
                </a:solidFill>
                <a:latin typeface="楷体_GB2312"/>
              </a:rPr>
              <a:t>数字量：通常为</a:t>
            </a:r>
            <a:r>
              <a:rPr lang="en-US" altLang="zh-CN" dirty="0">
                <a:solidFill>
                  <a:schemeClr val="tx1"/>
                </a:solidFill>
                <a:latin typeface="楷体_GB2312"/>
              </a:rPr>
              <a:t>8</a:t>
            </a:r>
            <a:r>
              <a:rPr lang="zh-CN" altLang="en-US" dirty="0">
                <a:solidFill>
                  <a:schemeClr val="tx1"/>
                </a:solidFill>
                <a:latin typeface="楷体_GB2312"/>
              </a:rPr>
              <a:t>位二进制数或</a:t>
            </a:r>
            <a:r>
              <a:rPr lang="en-US" altLang="zh-CN" dirty="0">
                <a:solidFill>
                  <a:schemeClr val="tx1"/>
                </a:solidFill>
                <a:latin typeface="楷体_GB2312"/>
              </a:rPr>
              <a:t>ASCII</a:t>
            </a:r>
            <a:r>
              <a:rPr lang="zh-CN" altLang="en-US" dirty="0">
                <a:solidFill>
                  <a:schemeClr val="tx1"/>
                </a:solidFill>
                <a:latin typeface="楷体_GB2312"/>
              </a:rPr>
              <a:t>代码。</a:t>
            </a:r>
            <a:endParaRPr lang="zh-CN" altLang="en-US" dirty="0">
              <a:solidFill>
                <a:schemeClr val="tx1"/>
              </a:solidFill>
              <a:latin typeface="楷体_GB2312"/>
            </a:endParaRPr>
          </a:p>
          <a:p>
            <a:pPr>
              <a:buFont typeface="Wingdings" panose="05000000000000000000" pitchFamily="2" charset="2"/>
              <a:buChar char="p"/>
            </a:pPr>
            <a:r>
              <a:rPr lang="zh-CN" altLang="en-US" dirty="0">
                <a:solidFill>
                  <a:schemeClr val="tx1"/>
                </a:solidFill>
                <a:latin typeface="楷体_GB2312"/>
              </a:rPr>
              <a:t>模拟量：连续变化的物理量（如温度、压力、流量、位移、速度等</a:t>
            </a:r>
            <a:endParaRPr lang="zh-CN" altLang="en-US" dirty="0">
              <a:solidFill>
                <a:schemeClr val="tx1"/>
              </a:solidFill>
              <a:latin typeface="楷体_GB2312"/>
            </a:endParaRPr>
          </a:p>
          <a:p>
            <a:pPr>
              <a:buFont typeface="Wingdings" panose="05000000000000000000" pitchFamily="2" charset="2"/>
              <a:buChar char="p"/>
            </a:pPr>
            <a:r>
              <a:rPr lang="zh-CN" altLang="en-US" dirty="0">
                <a:solidFill>
                  <a:schemeClr val="tx1"/>
                </a:solidFill>
                <a:latin typeface="楷体_GB2312"/>
              </a:rPr>
              <a:t>开关量：是一些“</a:t>
            </a:r>
            <a:r>
              <a:rPr lang="en-US" altLang="zh-CN" dirty="0">
                <a:solidFill>
                  <a:schemeClr val="tx1"/>
                </a:solidFill>
                <a:latin typeface="楷体_GB2312"/>
              </a:rPr>
              <a:t>0”</a:t>
            </a:r>
            <a:r>
              <a:rPr lang="zh-CN" altLang="en-US" dirty="0">
                <a:solidFill>
                  <a:schemeClr val="tx1"/>
                </a:solidFill>
                <a:latin typeface="楷体_GB2312"/>
              </a:rPr>
              <a:t>或“</a:t>
            </a:r>
            <a:r>
              <a:rPr lang="en-US" altLang="zh-CN" dirty="0">
                <a:solidFill>
                  <a:schemeClr val="tx1"/>
                </a:solidFill>
                <a:latin typeface="楷体_GB2312"/>
              </a:rPr>
              <a:t>1”</a:t>
            </a:r>
            <a:r>
              <a:rPr lang="zh-CN" altLang="en-US" dirty="0">
                <a:solidFill>
                  <a:schemeClr val="tx1"/>
                </a:solidFill>
                <a:latin typeface="楷体_GB2312"/>
              </a:rPr>
              <a:t>两个状态的量，用一位“</a:t>
            </a:r>
            <a:r>
              <a:rPr lang="en-US" altLang="zh-CN" dirty="0">
                <a:solidFill>
                  <a:schemeClr val="tx1"/>
                </a:solidFill>
                <a:latin typeface="楷体_GB2312"/>
              </a:rPr>
              <a:t>0”</a:t>
            </a:r>
            <a:r>
              <a:rPr lang="zh-CN" altLang="en-US" dirty="0">
                <a:solidFill>
                  <a:schemeClr val="tx1"/>
                </a:solidFill>
                <a:latin typeface="楷体_GB2312"/>
              </a:rPr>
              <a:t>或“</a:t>
            </a:r>
            <a:r>
              <a:rPr lang="en-US" altLang="zh-CN" dirty="0">
                <a:solidFill>
                  <a:schemeClr val="tx1"/>
                </a:solidFill>
                <a:latin typeface="楷体_GB2312"/>
              </a:rPr>
              <a:t>1”</a:t>
            </a:r>
            <a:r>
              <a:rPr lang="zh-CN" altLang="en-US" dirty="0">
                <a:solidFill>
                  <a:schemeClr val="tx1"/>
                </a:solidFill>
                <a:latin typeface="楷体_GB2312"/>
              </a:rPr>
              <a:t>二进制数表示。一台字长为</a:t>
            </a:r>
            <a:r>
              <a:rPr lang="en-US" altLang="zh-CN" dirty="0">
                <a:solidFill>
                  <a:schemeClr val="tx1"/>
                </a:solidFill>
                <a:latin typeface="楷体_GB2312"/>
              </a:rPr>
              <a:t>8</a:t>
            </a:r>
            <a:r>
              <a:rPr lang="zh-CN" altLang="en-US" dirty="0">
                <a:solidFill>
                  <a:schemeClr val="tx1"/>
                </a:solidFill>
                <a:latin typeface="楷体_GB2312"/>
              </a:rPr>
              <a:t>位的微机一次输入或输出可控制</a:t>
            </a:r>
            <a:r>
              <a:rPr lang="en-US" altLang="zh-CN" dirty="0">
                <a:solidFill>
                  <a:schemeClr val="tx1"/>
                </a:solidFill>
                <a:latin typeface="楷体_GB2312"/>
              </a:rPr>
              <a:t>8</a:t>
            </a:r>
            <a:r>
              <a:rPr lang="zh-CN" altLang="en-US" dirty="0">
                <a:solidFill>
                  <a:schemeClr val="tx1"/>
                </a:solidFill>
                <a:latin typeface="楷体_GB2312"/>
              </a:rPr>
              <a:t>个这类物理量。 </a:t>
            </a:r>
            <a:endParaRPr lang="zh-CN" altLang="en-US" dirty="0">
              <a:solidFill>
                <a:schemeClr val="tx1"/>
              </a:solidFill>
              <a:latin typeface="楷体_GB2312"/>
            </a:endParaRPr>
          </a:p>
          <a:p>
            <a:pPr>
              <a:buFont typeface="Wingdings" panose="05000000000000000000" pitchFamily="2" charset="2"/>
              <a:buChar char="n"/>
            </a:pPr>
            <a:endParaRPr lang="zh-CN" altLang="en-US" dirty="0"/>
          </a:p>
        </p:txBody>
      </p:sp>
      <p:sp>
        <p:nvSpPr>
          <p:cNvPr id="100356"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Tree>
  </p:cSld>
  <p:clrMapOvr>
    <a:masterClrMapping/>
  </p:clrMapOvr>
  <p:transition spd="slow">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标题 1"/>
          <p:cNvSpPr>
            <a:spLocks noGrp="1"/>
          </p:cNvSpPr>
          <p:nvPr>
            <p:ph type="title" idx="4294967295"/>
          </p:nvPr>
        </p:nvSpPr>
        <p:spPr/>
        <p:txBody>
          <a:bodyPr vert="horz" wrap="square" lIns="91440" tIns="45720" rIns="91440" bIns="45720" anchor="b" anchorCtr="0"/>
          <a:p>
            <a:r>
              <a:rPr lang="zh-CN" altLang="en-US" dirty="0"/>
              <a:t>状态信息</a:t>
            </a:r>
            <a:endParaRPr lang="zh-CN" altLang="en-US" dirty="0"/>
          </a:p>
        </p:txBody>
      </p:sp>
      <p:sp>
        <p:nvSpPr>
          <p:cNvPr id="101379" name="内容占位符 2"/>
          <p:cNvSpPr>
            <a:spLocks noGrp="1"/>
          </p:cNvSpPr>
          <p:nvPr>
            <p:ph idx="4294967295"/>
          </p:nvPr>
        </p:nvSpPr>
        <p:spPr>
          <a:xfrm>
            <a:off x="107950" y="2017713"/>
            <a:ext cx="8847138" cy="4114800"/>
          </a:xfrm>
        </p:spPr>
        <p:txBody>
          <a:bodyPr vert="horz" wrap="square" lIns="91440" tIns="45720" rIns="91440" bIns="45720" anchor="t" anchorCtr="0"/>
          <a:p>
            <a:pPr>
              <a:buFont typeface="Wingdings" panose="05000000000000000000" pitchFamily="2" charset="2"/>
              <a:buChar char="Ø"/>
            </a:pPr>
            <a:r>
              <a:rPr lang="zh-CN" altLang="en-US" dirty="0">
                <a:solidFill>
                  <a:schemeClr val="tx1"/>
                </a:solidFill>
                <a:latin typeface="楷体_GB2312"/>
              </a:rPr>
              <a:t>状态信息是反映外设当前所处工作状态的信息，以作为</a:t>
            </a:r>
            <a:r>
              <a:rPr lang="en-US" altLang="zh-CN" dirty="0">
                <a:solidFill>
                  <a:schemeClr val="tx1"/>
                </a:solidFill>
                <a:latin typeface="楷体_GB2312"/>
              </a:rPr>
              <a:t>CPU</a:t>
            </a:r>
            <a:r>
              <a:rPr lang="zh-CN" altLang="en-US" dirty="0">
                <a:solidFill>
                  <a:schemeClr val="tx1"/>
                </a:solidFill>
                <a:latin typeface="楷体_GB2312"/>
              </a:rPr>
              <a:t>与外设间可靠交换数据的条件。</a:t>
            </a:r>
            <a:endParaRPr lang="zh-CN" altLang="en-US" dirty="0">
              <a:solidFill>
                <a:schemeClr val="tx1"/>
              </a:solidFill>
              <a:latin typeface="楷体_GB2312"/>
            </a:endParaRPr>
          </a:p>
          <a:p>
            <a:pPr>
              <a:buFont typeface="Wingdings" panose="05000000000000000000" pitchFamily="2" charset="2"/>
              <a:buChar char="Ø"/>
            </a:pPr>
            <a:r>
              <a:rPr lang="zh-CN" altLang="en-US" dirty="0">
                <a:solidFill>
                  <a:schemeClr val="tx1"/>
                </a:solidFill>
                <a:latin typeface="楷体_GB2312"/>
              </a:rPr>
              <a:t>状态信息在输入与输出时的作用：</a:t>
            </a:r>
            <a:endParaRPr lang="zh-CN" altLang="en-US" dirty="0">
              <a:solidFill>
                <a:schemeClr val="tx1"/>
              </a:solidFill>
              <a:latin typeface="楷体_GB2312"/>
            </a:endParaRPr>
          </a:p>
          <a:p>
            <a:pPr>
              <a:buFont typeface="Wingdings" panose="05000000000000000000" pitchFamily="2" charset="2"/>
              <a:buChar char="p"/>
            </a:pPr>
            <a:r>
              <a:rPr lang="zh-CN" altLang="en-US" dirty="0">
                <a:solidFill>
                  <a:schemeClr val="tx1"/>
                </a:solidFill>
                <a:latin typeface="楷体_GB2312"/>
              </a:rPr>
              <a:t>当输入时，它告知</a:t>
            </a:r>
            <a:r>
              <a:rPr lang="en-US" altLang="zh-CN" dirty="0">
                <a:solidFill>
                  <a:schemeClr val="tx1"/>
                </a:solidFill>
                <a:latin typeface="楷体_GB2312"/>
              </a:rPr>
              <a:t>CPU</a:t>
            </a:r>
            <a:r>
              <a:rPr lang="zh-CN" altLang="en-US" dirty="0">
                <a:solidFill>
                  <a:schemeClr val="tx1"/>
                </a:solidFill>
                <a:latin typeface="楷体_GB2312"/>
              </a:rPr>
              <a:t>：有关输入设备的数据是否准备好（</a:t>
            </a:r>
            <a:r>
              <a:rPr lang="en-US" altLang="zh-CN" dirty="0">
                <a:solidFill>
                  <a:schemeClr val="tx1"/>
                </a:solidFill>
                <a:latin typeface="楷体_GB2312"/>
              </a:rPr>
              <a:t>Ready=1?</a:t>
            </a:r>
            <a:r>
              <a:rPr lang="zh-CN" altLang="en-US" dirty="0">
                <a:solidFill>
                  <a:schemeClr val="tx1"/>
                </a:solidFill>
                <a:latin typeface="楷体_GB2312"/>
              </a:rPr>
              <a:t>）；</a:t>
            </a:r>
            <a:endParaRPr lang="zh-CN" altLang="en-US" dirty="0">
              <a:solidFill>
                <a:schemeClr val="tx1"/>
              </a:solidFill>
              <a:latin typeface="楷体_GB2312"/>
            </a:endParaRPr>
          </a:p>
          <a:p>
            <a:pPr>
              <a:buFont typeface="Wingdings" panose="05000000000000000000" pitchFamily="2" charset="2"/>
              <a:buChar char="p"/>
            </a:pPr>
            <a:r>
              <a:rPr lang="zh-CN" altLang="en-US" dirty="0">
                <a:solidFill>
                  <a:schemeClr val="tx1"/>
                </a:solidFill>
                <a:latin typeface="楷体_GB2312"/>
              </a:rPr>
              <a:t>输出时，它告知</a:t>
            </a:r>
            <a:r>
              <a:rPr lang="en-US" altLang="zh-CN" dirty="0">
                <a:solidFill>
                  <a:schemeClr val="tx1"/>
                </a:solidFill>
                <a:latin typeface="楷体_GB2312"/>
              </a:rPr>
              <a:t>CPU</a:t>
            </a:r>
            <a:r>
              <a:rPr lang="zh-CN" altLang="en-US" dirty="0">
                <a:solidFill>
                  <a:schemeClr val="tx1"/>
                </a:solidFill>
                <a:latin typeface="楷体_GB2312"/>
              </a:rPr>
              <a:t>：输出设备是否空闲（</a:t>
            </a:r>
            <a:r>
              <a:rPr lang="en-US" altLang="zh-CN" dirty="0">
                <a:solidFill>
                  <a:schemeClr val="tx1"/>
                </a:solidFill>
                <a:latin typeface="楷体_GB2312"/>
              </a:rPr>
              <a:t>Busy=0?</a:t>
            </a:r>
            <a:r>
              <a:rPr lang="zh-CN" altLang="en-US" dirty="0">
                <a:solidFill>
                  <a:schemeClr val="tx1"/>
                </a:solidFill>
                <a:latin typeface="楷体_GB2312"/>
              </a:rPr>
              <a:t>）。</a:t>
            </a:r>
            <a:r>
              <a:rPr lang="en-US" altLang="zh-CN" dirty="0">
                <a:solidFill>
                  <a:schemeClr val="tx1"/>
                </a:solidFill>
                <a:latin typeface="楷体_GB2312"/>
              </a:rPr>
              <a:t>CPU</a:t>
            </a:r>
            <a:r>
              <a:rPr lang="zh-CN" altLang="en-US" dirty="0">
                <a:solidFill>
                  <a:schemeClr val="tx1"/>
                </a:solidFill>
                <a:latin typeface="楷体_GB2312"/>
              </a:rPr>
              <a:t>是通过接口电路来掌握输入输出设备的状态，以决定可否输入或输出数据。 </a:t>
            </a:r>
            <a:endParaRPr lang="zh-CN" altLang="en-US" dirty="0">
              <a:solidFill>
                <a:schemeClr val="tx1"/>
              </a:solidFill>
              <a:latin typeface="楷体_GB2312"/>
            </a:endParaRPr>
          </a:p>
        </p:txBody>
      </p:sp>
      <p:sp>
        <p:nvSpPr>
          <p:cNvPr id="101380"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Tree>
  </p:cSld>
  <p:clrMapOvr>
    <a:masterClrMapping/>
  </p:clrMapOvr>
  <p:transition spd="slow">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标题 1"/>
          <p:cNvSpPr>
            <a:spLocks noGrp="1"/>
          </p:cNvSpPr>
          <p:nvPr>
            <p:ph type="title" idx="4294967295"/>
          </p:nvPr>
        </p:nvSpPr>
        <p:spPr/>
        <p:txBody>
          <a:bodyPr vert="horz" wrap="square" lIns="91440" tIns="45720" rIns="91440" bIns="45720" anchor="b" anchorCtr="0"/>
          <a:p>
            <a:r>
              <a:rPr lang="zh-CN" altLang="en-US" dirty="0"/>
              <a:t>控制信息</a:t>
            </a:r>
            <a:endParaRPr lang="zh-CN" altLang="en-US" dirty="0"/>
          </a:p>
        </p:txBody>
      </p:sp>
      <p:sp>
        <p:nvSpPr>
          <p:cNvPr id="102403" name="内容占位符 2"/>
          <p:cNvSpPr>
            <a:spLocks noGrp="1"/>
          </p:cNvSpPr>
          <p:nvPr>
            <p:ph idx="4294967295"/>
          </p:nvPr>
        </p:nvSpPr>
        <p:spPr>
          <a:xfrm>
            <a:off x="468313" y="2128838"/>
            <a:ext cx="8054975" cy="4114800"/>
          </a:xfrm>
        </p:spPr>
        <p:txBody>
          <a:bodyPr vert="horz" wrap="square" lIns="91440" tIns="45720" rIns="91440" bIns="45720" anchor="t" anchorCtr="0"/>
          <a:p>
            <a:pPr>
              <a:lnSpc>
                <a:spcPct val="120000"/>
              </a:lnSpc>
              <a:buFont typeface="Wingdings" panose="05000000000000000000" pitchFamily="2" charset="2"/>
              <a:buChar char="Ø"/>
            </a:pPr>
            <a:r>
              <a:rPr lang="zh-CN" altLang="en-US" dirty="0">
                <a:solidFill>
                  <a:schemeClr val="tx1"/>
                </a:solidFill>
                <a:latin typeface="楷体_GB2312"/>
              </a:rPr>
              <a:t>控制信息用于控制外设的启动或停止。</a:t>
            </a:r>
            <a:r>
              <a:rPr lang="zh-CN" altLang="en-US" sz="2400" dirty="0">
                <a:solidFill>
                  <a:schemeClr val="tx1"/>
                </a:solidFill>
                <a:latin typeface="楷体_GB2312"/>
              </a:rPr>
              <a:t></a:t>
            </a:r>
            <a:endParaRPr lang="zh-CN" altLang="en-US" sz="2400" dirty="0">
              <a:solidFill>
                <a:schemeClr val="tx1"/>
              </a:solidFill>
              <a:latin typeface="楷体_GB2312"/>
            </a:endParaRPr>
          </a:p>
          <a:p>
            <a:pPr>
              <a:lnSpc>
                <a:spcPct val="120000"/>
              </a:lnSpc>
              <a:buFont typeface="Wingdings" panose="05000000000000000000" pitchFamily="2" charset="2"/>
              <a:buChar char="p"/>
            </a:pPr>
            <a:r>
              <a:rPr lang="en-US" altLang="zh-CN" dirty="0">
                <a:solidFill>
                  <a:schemeClr val="tx1"/>
                </a:solidFill>
                <a:latin typeface="楷体_GB2312"/>
              </a:rPr>
              <a:t>CPU</a:t>
            </a:r>
            <a:r>
              <a:rPr lang="zh-CN" altLang="en-US" dirty="0">
                <a:solidFill>
                  <a:schemeClr val="tx1"/>
                </a:solidFill>
                <a:latin typeface="楷体_GB2312"/>
              </a:rPr>
              <a:t>与外设传送的信息存放在哪里？</a:t>
            </a:r>
            <a:endParaRPr lang="zh-CN" altLang="en-US" dirty="0">
              <a:solidFill>
                <a:schemeClr val="tx1"/>
              </a:solidFill>
              <a:latin typeface="楷体_GB2312"/>
            </a:endParaRPr>
          </a:p>
          <a:p>
            <a:pPr>
              <a:lnSpc>
                <a:spcPct val="120000"/>
              </a:lnSpc>
              <a:buNone/>
            </a:pPr>
            <a:r>
              <a:rPr lang="zh-CN" altLang="en-US" dirty="0">
                <a:solidFill>
                  <a:schemeClr val="tx1"/>
                </a:solidFill>
                <a:latin typeface="楷体_GB2312"/>
              </a:rPr>
              <a:t>  存储器或寄存器中，引入端口的概念</a:t>
            </a:r>
            <a:endParaRPr lang="zh-CN" altLang="en-US" dirty="0">
              <a:solidFill>
                <a:schemeClr val="tx1"/>
              </a:solidFill>
              <a:latin typeface="楷体_GB2312"/>
            </a:endParaRPr>
          </a:p>
          <a:p>
            <a:pPr>
              <a:lnSpc>
                <a:spcPct val="120000"/>
              </a:lnSpc>
              <a:buFont typeface="Wingdings" panose="05000000000000000000" pitchFamily="2" charset="2"/>
              <a:buChar char="p"/>
            </a:pPr>
            <a:r>
              <a:rPr lang="en-US" altLang="zh-CN" dirty="0">
                <a:solidFill>
                  <a:schemeClr val="tx1"/>
                </a:solidFill>
                <a:latin typeface="楷体_GB2312"/>
              </a:rPr>
              <a:t>CPU</a:t>
            </a:r>
            <a:r>
              <a:rPr lang="zh-CN" altLang="en-US" dirty="0">
                <a:solidFill>
                  <a:schemeClr val="tx1"/>
                </a:solidFill>
                <a:latin typeface="楷体_GB2312"/>
              </a:rPr>
              <a:t>与外设传送的控制信息与状态信息是不同的性质的信息，如何将它们区分开？</a:t>
            </a:r>
            <a:endParaRPr lang="en-US" altLang="zh-CN" dirty="0">
              <a:solidFill>
                <a:schemeClr val="tx1"/>
              </a:solidFill>
              <a:latin typeface="楷体_GB2312"/>
            </a:endParaRPr>
          </a:p>
          <a:p>
            <a:pPr>
              <a:lnSpc>
                <a:spcPct val="120000"/>
              </a:lnSpc>
              <a:buNone/>
            </a:pPr>
            <a:r>
              <a:rPr lang="zh-CN" altLang="en-US" dirty="0">
                <a:solidFill>
                  <a:schemeClr val="tx1"/>
                </a:solidFill>
                <a:latin typeface="楷体_GB2312"/>
              </a:rPr>
              <a:t>  使用不同的端口，所以接口中有若干的端口，每个端口给予不同的地址</a:t>
            </a:r>
            <a:endParaRPr lang="zh-CN" altLang="en-US" dirty="0">
              <a:solidFill>
                <a:schemeClr val="tx1"/>
              </a:solidFill>
              <a:latin typeface="楷体_GB2312"/>
            </a:endParaRPr>
          </a:p>
          <a:p>
            <a:pPr>
              <a:buFont typeface="Wingdings" panose="05000000000000000000" pitchFamily="2" charset="2"/>
              <a:buChar char="n"/>
            </a:pPr>
            <a:endParaRPr lang="zh-CN" altLang="en-US" dirty="0"/>
          </a:p>
        </p:txBody>
      </p:sp>
      <p:sp>
        <p:nvSpPr>
          <p:cNvPr id="102404"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Tree>
  </p:cSld>
  <p:clrMapOvr>
    <a:masterClrMapping/>
  </p:clrMapOvr>
  <p:transition spd="slow">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03427" name="Rectangle 2"/>
          <p:cNvSpPr>
            <a:spLocks noGrp="1"/>
          </p:cNvSpPr>
          <p:nvPr>
            <p:ph type="title" idx="4294967295"/>
          </p:nvPr>
        </p:nvSpPr>
        <p:spPr>
          <a:xfrm>
            <a:off x="1295400" y="214313"/>
            <a:ext cx="7289800" cy="1462087"/>
          </a:xfrm>
        </p:spPr>
        <p:txBody>
          <a:bodyPr vert="horz" wrap="square" lIns="91440" tIns="45720" rIns="91440" bIns="45720" anchor="b" anchorCtr="0"/>
          <a:p>
            <a:pPr eaLnBrk="1" hangingPunct="1"/>
            <a:r>
              <a:rPr lang="en-US" altLang="zh-CN" b="1" dirty="0"/>
              <a:t>I/O</a:t>
            </a:r>
            <a:r>
              <a:rPr lang="zh-CN" altLang="en-US" dirty="0"/>
              <a:t>端口</a:t>
            </a:r>
            <a:endParaRPr lang="zh-CN" altLang="en-US" dirty="0"/>
          </a:p>
        </p:txBody>
      </p:sp>
      <p:sp>
        <p:nvSpPr>
          <p:cNvPr id="23556" name="Rectangle 4"/>
          <p:cNvSpPr/>
          <p:nvPr/>
        </p:nvSpPr>
        <p:spPr>
          <a:xfrm>
            <a:off x="1331913" y="2600325"/>
            <a:ext cx="1066800" cy="3276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23557" name="Rectangle 5"/>
          <p:cNvSpPr/>
          <p:nvPr/>
        </p:nvSpPr>
        <p:spPr>
          <a:xfrm>
            <a:off x="3998913" y="2600325"/>
            <a:ext cx="1066800" cy="3276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23558" name="Rectangle 6"/>
          <p:cNvSpPr/>
          <p:nvPr/>
        </p:nvSpPr>
        <p:spPr>
          <a:xfrm>
            <a:off x="6659563" y="2600325"/>
            <a:ext cx="1066800" cy="3276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23559" name="Line 7"/>
          <p:cNvSpPr/>
          <p:nvPr/>
        </p:nvSpPr>
        <p:spPr>
          <a:xfrm>
            <a:off x="3998913" y="3667125"/>
            <a:ext cx="1066800" cy="0"/>
          </a:xfrm>
          <a:prstGeom prst="line">
            <a:avLst/>
          </a:prstGeom>
          <a:ln w="25400" cap="sq" cmpd="sng">
            <a:solidFill>
              <a:srgbClr val="FF6600"/>
            </a:solidFill>
            <a:prstDash val="solid"/>
            <a:bevel/>
            <a:headEnd type="none" w="med" len="med"/>
            <a:tailEnd type="none" w="med" len="med"/>
          </a:ln>
        </p:spPr>
      </p:sp>
      <p:sp>
        <p:nvSpPr>
          <p:cNvPr id="23560" name="Line 8"/>
          <p:cNvSpPr/>
          <p:nvPr/>
        </p:nvSpPr>
        <p:spPr>
          <a:xfrm>
            <a:off x="3998913" y="4886325"/>
            <a:ext cx="1066800" cy="0"/>
          </a:xfrm>
          <a:prstGeom prst="line">
            <a:avLst/>
          </a:prstGeom>
          <a:ln w="25400" cap="sq" cmpd="sng">
            <a:solidFill>
              <a:srgbClr val="FF6600"/>
            </a:solidFill>
            <a:prstDash val="solid"/>
            <a:bevel/>
            <a:headEnd type="none" w="med" len="med"/>
            <a:tailEnd type="none" w="med" len="med"/>
          </a:ln>
        </p:spPr>
      </p:sp>
      <p:sp>
        <p:nvSpPr>
          <p:cNvPr id="23561" name="Text Box 9"/>
          <p:cNvSpPr txBox="1"/>
          <p:nvPr/>
        </p:nvSpPr>
        <p:spPr>
          <a:xfrm>
            <a:off x="1465263" y="3971925"/>
            <a:ext cx="93345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FFFFFF"/>
                </a:solidFill>
                <a:latin typeface="Times New Roman" panose="02020603050405020304" pitchFamily="18" charset="0"/>
                <a:ea typeface="楷体_GB2312"/>
              </a:rPr>
              <a:t>CPU</a:t>
            </a:r>
            <a:endParaRPr lang="en-US" altLang="zh-CN" sz="2400" dirty="0">
              <a:solidFill>
                <a:srgbClr val="FFFFFF"/>
              </a:solidFill>
              <a:latin typeface="Times New Roman" panose="02020603050405020304" pitchFamily="18" charset="0"/>
              <a:ea typeface="楷体_GB2312"/>
            </a:endParaRPr>
          </a:p>
        </p:txBody>
      </p:sp>
      <p:sp>
        <p:nvSpPr>
          <p:cNvPr id="23562" name="Text Box 10"/>
          <p:cNvSpPr txBox="1"/>
          <p:nvPr/>
        </p:nvSpPr>
        <p:spPr>
          <a:xfrm>
            <a:off x="4132263" y="2905125"/>
            <a:ext cx="93345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FFFFFF"/>
                </a:solidFill>
                <a:latin typeface="Times New Roman" panose="02020603050405020304" pitchFamily="18" charset="0"/>
                <a:ea typeface="楷体_GB2312"/>
              </a:rPr>
              <a:t>数据</a:t>
            </a:r>
            <a:endParaRPr lang="zh-CN" altLang="en-US" sz="2400" dirty="0">
              <a:solidFill>
                <a:srgbClr val="FFFFFF"/>
              </a:solidFill>
              <a:latin typeface="Times New Roman" panose="02020603050405020304" pitchFamily="18" charset="0"/>
              <a:ea typeface="楷体_GB2312"/>
            </a:endParaRPr>
          </a:p>
        </p:txBody>
      </p:sp>
      <p:sp>
        <p:nvSpPr>
          <p:cNvPr id="23563" name="Text Box 11"/>
          <p:cNvSpPr txBox="1"/>
          <p:nvPr/>
        </p:nvSpPr>
        <p:spPr>
          <a:xfrm>
            <a:off x="4151313" y="4048125"/>
            <a:ext cx="93345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FFFFFF"/>
                </a:solidFill>
                <a:latin typeface="Times New Roman" panose="02020603050405020304" pitchFamily="18" charset="0"/>
                <a:ea typeface="楷体_GB2312"/>
              </a:rPr>
              <a:t>状态</a:t>
            </a:r>
            <a:endParaRPr lang="zh-CN" altLang="en-US" sz="2400" dirty="0">
              <a:solidFill>
                <a:srgbClr val="FFFFFF"/>
              </a:solidFill>
              <a:latin typeface="Times New Roman" panose="02020603050405020304" pitchFamily="18" charset="0"/>
              <a:ea typeface="楷体_GB2312"/>
            </a:endParaRPr>
          </a:p>
        </p:txBody>
      </p:sp>
      <p:sp>
        <p:nvSpPr>
          <p:cNvPr id="23564" name="Text Box 12"/>
          <p:cNvSpPr txBox="1"/>
          <p:nvPr/>
        </p:nvSpPr>
        <p:spPr>
          <a:xfrm>
            <a:off x="4124325" y="5229225"/>
            <a:ext cx="93345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FFFFFF"/>
                </a:solidFill>
                <a:latin typeface="Times New Roman" panose="02020603050405020304" pitchFamily="18" charset="0"/>
                <a:ea typeface="楷体_GB2312"/>
              </a:rPr>
              <a:t>控制</a:t>
            </a:r>
            <a:endParaRPr lang="zh-CN" altLang="en-US" sz="2400" dirty="0">
              <a:solidFill>
                <a:srgbClr val="FFFFFF"/>
              </a:solidFill>
              <a:latin typeface="Times New Roman" panose="02020603050405020304" pitchFamily="18" charset="0"/>
              <a:ea typeface="楷体_GB2312"/>
            </a:endParaRPr>
          </a:p>
        </p:txBody>
      </p:sp>
      <p:sp>
        <p:nvSpPr>
          <p:cNvPr id="23565" name="Text Box 13"/>
          <p:cNvSpPr txBox="1"/>
          <p:nvPr/>
        </p:nvSpPr>
        <p:spPr>
          <a:xfrm>
            <a:off x="6859588" y="3971925"/>
            <a:ext cx="93345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FFFFFF"/>
                </a:solidFill>
                <a:latin typeface="Times New Roman" panose="02020603050405020304" pitchFamily="18" charset="0"/>
                <a:ea typeface="楷体_GB2312"/>
              </a:rPr>
              <a:t>外设</a:t>
            </a:r>
            <a:endParaRPr lang="zh-CN" altLang="en-US" sz="2400" dirty="0">
              <a:solidFill>
                <a:srgbClr val="FFFFFF"/>
              </a:solidFill>
              <a:latin typeface="Times New Roman" panose="02020603050405020304" pitchFamily="18" charset="0"/>
              <a:ea typeface="楷体_GB2312"/>
            </a:endParaRPr>
          </a:p>
        </p:txBody>
      </p:sp>
      <p:sp>
        <p:nvSpPr>
          <p:cNvPr id="23566" name="Line 16"/>
          <p:cNvSpPr/>
          <p:nvPr/>
        </p:nvSpPr>
        <p:spPr>
          <a:xfrm flipH="1" flipV="1">
            <a:off x="3203575" y="4365625"/>
            <a:ext cx="795338" cy="0"/>
          </a:xfrm>
          <a:prstGeom prst="line">
            <a:avLst/>
          </a:prstGeom>
          <a:ln w="25400" cap="sq" cmpd="sng">
            <a:solidFill>
              <a:srgbClr val="FF6600"/>
            </a:solidFill>
            <a:prstDash val="solid"/>
            <a:bevel/>
            <a:headEnd type="none" w="med" len="med"/>
            <a:tailEnd type="none" w="med" len="med"/>
          </a:ln>
        </p:spPr>
      </p:sp>
      <p:sp>
        <p:nvSpPr>
          <p:cNvPr id="23567" name="Line 19"/>
          <p:cNvSpPr/>
          <p:nvPr/>
        </p:nvSpPr>
        <p:spPr>
          <a:xfrm flipH="1">
            <a:off x="5065713" y="4352925"/>
            <a:ext cx="1565275" cy="0"/>
          </a:xfrm>
          <a:prstGeom prst="line">
            <a:avLst/>
          </a:prstGeom>
          <a:ln w="25400" cap="sq" cmpd="sng">
            <a:solidFill>
              <a:srgbClr val="FF6600"/>
            </a:solidFill>
            <a:prstDash val="solid"/>
            <a:bevel/>
            <a:headEnd type="none" w="med" len="med"/>
            <a:tailEnd type="triangle" w="lg" len="lg"/>
          </a:ln>
        </p:spPr>
      </p:sp>
      <p:sp>
        <p:nvSpPr>
          <p:cNvPr id="23568" name="Text Box 21"/>
          <p:cNvSpPr txBox="1"/>
          <p:nvPr/>
        </p:nvSpPr>
        <p:spPr>
          <a:xfrm>
            <a:off x="3917950" y="2149475"/>
            <a:ext cx="1296988" cy="46196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000000"/>
                </a:solidFill>
                <a:latin typeface="Times New Roman" panose="02020603050405020304" pitchFamily="18" charset="0"/>
                <a:ea typeface="楷体_GB2312"/>
              </a:rPr>
              <a:t>I/O</a:t>
            </a:r>
            <a:r>
              <a:rPr lang="zh-CN" altLang="en-US" sz="2400" dirty="0">
                <a:solidFill>
                  <a:srgbClr val="000000"/>
                </a:solidFill>
                <a:latin typeface="Times New Roman" panose="02020603050405020304" pitchFamily="18" charset="0"/>
                <a:ea typeface="楷体_GB2312"/>
              </a:rPr>
              <a:t>接口</a:t>
            </a:r>
            <a:endParaRPr lang="zh-CN" altLang="en-US" sz="2400" dirty="0">
              <a:solidFill>
                <a:srgbClr val="000000"/>
              </a:solidFill>
              <a:latin typeface="Times New Roman" panose="02020603050405020304" pitchFamily="18" charset="0"/>
              <a:ea typeface="楷体_GB2312"/>
            </a:endParaRPr>
          </a:p>
        </p:txBody>
      </p:sp>
      <p:sp>
        <p:nvSpPr>
          <p:cNvPr id="23569" name="Line 23"/>
          <p:cNvSpPr/>
          <p:nvPr/>
        </p:nvSpPr>
        <p:spPr>
          <a:xfrm flipV="1">
            <a:off x="3203575" y="3284538"/>
            <a:ext cx="0" cy="1065212"/>
          </a:xfrm>
          <a:prstGeom prst="line">
            <a:avLst/>
          </a:prstGeom>
          <a:ln w="25400" cap="sq" cmpd="sng">
            <a:solidFill>
              <a:srgbClr val="FF6600"/>
            </a:solidFill>
            <a:prstDash val="solid"/>
            <a:bevel/>
            <a:headEnd type="none" w="med" len="med"/>
            <a:tailEnd type="triangle" w="lg" len="lg"/>
          </a:ln>
        </p:spPr>
      </p:sp>
      <p:sp>
        <p:nvSpPr>
          <p:cNvPr id="23570" name="AutoShape 25"/>
          <p:cNvSpPr/>
          <p:nvPr/>
        </p:nvSpPr>
        <p:spPr>
          <a:xfrm>
            <a:off x="2411413" y="2997200"/>
            <a:ext cx="792162" cy="360363"/>
          </a:xfrm>
          <a:prstGeom prst="leftArrow">
            <a:avLst>
              <a:gd name="adj1" fmla="val 50000"/>
              <a:gd name="adj2" fmla="val 54833"/>
            </a:avLst>
          </a:prstGeom>
          <a:solidFill>
            <a:srgbClr val="FF6600"/>
          </a:solidFill>
          <a:ln w="9525">
            <a:noFill/>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23571" name="AutoShape 26"/>
          <p:cNvSpPr/>
          <p:nvPr/>
        </p:nvSpPr>
        <p:spPr>
          <a:xfrm>
            <a:off x="3203575" y="2997200"/>
            <a:ext cx="809625" cy="358775"/>
          </a:xfrm>
          <a:prstGeom prst="rightArrow">
            <a:avLst>
              <a:gd name="adj1" fmla="val 50000"/>
              <a:gd name="adj2" fmla="val 56290"/>
            </a:avLst>
          </a:prstGeom>
          <a:solidFill>
            <a:srgbClr val="33CCCC"/>
          </a:solidFill>
          <a:ln w="9525">
            <a:noFill/>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23572" name="AutoShape 27"/>
          <p:cNvSpPr/>
          <p:nvPr/>
        </p:nvSpPr>
        <p:spPr>
          <a:xfrm>
            <a:off x="5060950" y="2997200"/>
            <a:ext cx="792163" cy="360363"/>
          </a:xfrm>
          <a:prstGeom prst="leftArrow">
            <a:avLst>
              <a:gd name="adj1" fmla="val 50000"/>
              <a:gd name="adj2" fmla="val 54833"/>
            </a:avLst>
          </a:prstGeom>
          <a:solidFill>
            <a:srgbClr val="FF6600"/>
          </a:solidFill>
          <a:ln w="9525">
            <a:noFill/>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23573" name="AutoShape 28"/>
          <p:cNvSpPr/>
          <p:nvPr/>
        </p:nvSpPr>
        <p:spPr>
          <a:xfrm>
            <a:off x="5853113" y="2997200"/>
            <a:ext cx="792162" cy="358775"/>
          </a:xfrm>
          <a:prstGeom prst="rightArrow">
            <a:avLst>
              <a:gd name="adj1" fmla="val 50000"/>
              <a:gd name="adj2" fmla="val 55076"/>
            </a:avLst>
          </a:prstGeom>
          <a:solidFill>
            <a:srgbClr val="FF6600"/>
          </a:solidFill>
          <a:ln w="9525">
            <a:noFill/>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23574" name="AutoShape 29"/>
          <p:cNvSpPr/>
          <p:nvPr/>
        </p:nvSpPr>
        <p:spPr>
          <a:xfrm>
            <a:off x="2411413" y="3011488"/>
            <a:ext cx="792162" cy="323850"/>
          </a:xfrm>
          <a:prstGeom prst="leftArrow">
            <a:avLst>
              <a:gd name="adj1" fmla="val 50000"/>
              <a:gd name="adj2" fmla="val 61016"/>
            </a:avLst>
          </a:prstGeom>
          <a:solidFill>
            <a:srgbClr val="33CCCC"/>
          </a:solidFill>
          <a:ln w="25400" cap="sq" cmpd="sng">
            <a:solidFill>
              <a:srgbClr val="33CCCC"/>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23575" name="Text Box 30"/>
          <p:cNvSpPr txBox="1"/>
          <p:nvPr/>
        </p:nvSpPr>
        <p:spPr>
          <a:xfrm>
            <a:off x="2700338" y="2565400"/>
            <a:ext cx="790575" cy="36671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000000"/>
                </a:solidFill>
                <a:latin typeface="Times New Roman" panose="02020603050405020304" pitchFamily="18" charset="0"/>
                <a:ea typeface="楷体_GB2312"/>
              </a:rPr>
              <a:t>DB</a:t>
            </a:r>
            <a:endParaRPr lang="zh-CN" altLang="en-US" sz="2400" dirty="0">
              <a:solidFill>
                <a:srgbClr val="000000"/>
              </a:solidFill>
              <a:latin typeface="Times New Roman" panose="02020603050405020304" pitchFamily="18" charset="0"/>
              <a:ea typeface="楷体_GB2312"/>
            </a:endParaRPr>
          </a:p>
        </p:txBody>
      </p:sp>
      <p:sp>
        <p:nvSpPr>
          <p:cNvPr id="23576" name="AutoShape 31"/>
          <p:cNvSpPr/>
          <p:nvPr/>
        </p:nvSpPr>
        <p:spPr>
          <a:xfrm>
            <a:off x="2411413" y="5229225"/>
            <a:ext cx="1584325" cy="287338"/>
          </a:xfrm>
          <a:prstGeom prst="rightArrow">
            <a:avLst>
              <a:gd name="adj1" fmla="val 50000"/>
              <a:gd name="adj2" fmla="val 137538"/>
            </a:avLst>
          </a:prstGeom>
          <a:solidFill>
            <a:srgbClr val="FF6600"/>
          </a:solidFill>
          <a:ln w="25400" cap="sq"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23577" name="AutoShape 32"/>
          <p:cNvSpPr/>
          <p:nvPr/>
        </p:nvSpPr>
        <p:spPr>
          <a:xfrm>
            <a:off x="5075238" y="5229225"/>
            <a:ext cx="1584325" cy="287338"/>
          </a:xfrm>
          <a:prstGeom prst="rightArrow">
            <a:avLst>
              <a:gd name="adj1" fmla="val 50000"/>
              <a:gd name="adj2" fmla="val 137538"/>
            </a:avLst>
          </a:prstGeom>
          <a:solidFill>
            <a:srgbClr val="FF6600"/>
          </a:solidFill>
          <a:ln w="25400" cap="sq"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6"/>
                                        </p:tgtEl>
                                        <p:attrNameLst>
                                          <p:attrName>style.visibility</p:attrName>
                                        </p:attrNameLst>
                                      </p:cBhvr>
                                      <p:to>
                                        <p:strVal val="visible"/>
                                      </p:to>
                                    </p:set>
                                    <p:anim calcmode="lin" valueType="num">
                                      <p:cBhvr>
                                        <p:cTn id="7" dur="500" fill="hold"/>
                                        <p:tgtEl>
                                          <p:spTgt spid="23556"/>
                                        </p:tgtEl>
                                        <p:attrNameLst>
                                          <p:attrName>ppt_x</p:attrName>
                                        </p:attrNameLst>
                                      </p:cBhvr>
                                      <p:tavLst>
                                        <p:tav tm="0">
                                          <p:val>
                                            <p:strVal val="#ppt_x"/>
                                          </p:val>
                                        </p:tav>
                                        <p:tav tm="100000">
                                          <p:val>
                                            <p:strVal val="#ppt_x"/>
                                          </p:val>
                                        </p:tav>
                                      </p:tavLst>
                                    </p:anim>
                                    <p:anim calcmode="lin" valueType="num">
                                      <p:cBhvr>
                                        <p:cTn id="8" dur="500" fill="hold"/>
                                        <p:tgtEl>
                                          <p:spTgt spid="2355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3561"/>
                                        </p:tgtEl>
                                        <p:attrNameLst>
                                          <p:attrName>style.visibility</p:attrName>
                                        </p:attrNameLst>
                                      </p:cBhvr>
                                      <p:to>
                                        <p:strVal val="visible"/>
                                      </p:to>
                                    </p:set>
                                    <p:anim calcmode="lin" valueType="num">
                                      <p:cBhvr>
                                        <p:cTn id="11" dur="500" fill="hold"/>
                                        <p:tgtEl>
                                          <p:spTgt spid="23561"/>
                                        </p:tgtEl>
                                        <p:attrNameLst>
                                          <p:attrName>ppt_x</p:attrName>
                                        </p:attrNameLst>
                                      </p:cBhvr>
                                      <p:tavLst>
                                        <p:tav tm="0">
                                          <p:val>
                                            <p:strVal val="#ppt_x"/>
                                          </p:val>
                                        </p:tav>
                                        <p:tav tm="100000">
                                          <p:val>
                                            <p:strVal val="#ppt_x"/>
                                          </p:val>
                                        </p:tav>
                                      </p:tavLst>
                                    </p:anim>
                                    <p:anim calcmode="lin" valueType="num">
                                      <p:cBhvr>
                                        <p:cTn id="12" dur="500" fill="hold"/>
                                        <p:tgtEl>
                                          <p:spTgt spid="2356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3558"/>
                                        </p:tgtEl>
                                        <p:attrNameLst>
                                          <p:attrName>style.visibility</p:attrName>
                                        </p:attrNameLst>
                                      </p:cBhvr>
                                      <p:to>
                                        <p:strVal val="visible"/>
                                      </p:to>
                                    </p:set>
                                    <p:anim calcmode="lin" valueType="num">
                                      <p:cBhvr>
                                        <p:cTn id="17" dur="500" fill="hold"/>
                                        <p:tgtEl>
                                          <p:spTgt spid="23558"/>
                                        </p:tgtEl>
                                        <p:attrNameLst>
                                          <p:attrName>ppt_x</p:attrName>
                                        </p:attrNameLst>
                                      </p:cBhvr>
                                      <p:tavLst>
                                        <p:tav tm="0">
                                          <p:val>
                                            <p:strVal val="#ppt_x"/>
                                          </p:val>
                                        </p:tav>
                                        <p:tav tm="100000">
                                          <p:val>
                                            <p:strVal val="#ppt_x"/>
                                          </p:val>
                                        </p:tav>
                                      </p:tavLst>
                                    </p:anim>
                                    <p:anim calcmode="lin" valueType="num">
                                      <p:cBhvr>
                                        <p:cTn id="18" dur="500" fill="hold"/>
                                        <p:tgtEl>
                                          <p:spTgt spid="2355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3565"/>
                                        </p:tgtEl>
                                        <p:attrNameLst>
                                          <p:attrName>style.visibility</p:attrName>
                                        </p:attrNameLst>
                                      </p:cBhvr>
                                      <p:to>
                                        <p:strVal val="visible"/>
                                      </p:to>
                                    </p:set>
                                    <p:anim calcmode="lin" valueType="num">
                                      <p:cBhvr>
                                        <p:cTn id="21" dur="500" fill="hold"/>
                                        <p:tgtEl>
                                          <p:spTgt spid="23565"/>
                                        </p:tgtEl>
                                        <p:attrNameLst>
                                          <p:attrName>ppt_x</p:attrName>
                                        </p:attrNameLst>
                                      </p:cBhvr>
                                      <p:tavLst>
                                        <p:tav tm="0">
                                          <p:val>
                                            <p:strVal val="#ppt_x"/>
                                          </p:val>
                                        </p:tav>
                                        <p:tav tm="100000">
                                          <p:val>
                                            <p:strVal val="#ppt_x"/>
                                          </p:val>
                                        </p:tav>
                                      </p:tavLst>
                                    </p:anim>
                                    <p:anim calcmode="lin" valueType="num">
                                      <p:cBhvr>
                                        <p:cTn id="22" dur="500" fill="hold"/>
                                        <p:tgtEl>
                                          <p:spTgt spid="2356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23557"/>
                                        </p:tgtEl>
                                        <p:attrNameLst>
                                          <p:attrName>style.visibility</p:attrName>
                                        </p:attrNameLst>
                                      </p:cBhvr>
                                      <p:to>
                                        <p:strVal val="visible"/>
                                      </p:to>
                                    </p:set>
                                    <p:animEffect transition="in" filter="blinds(vertical)">
                                      <p:cBhvr>
                                        <p:cTn id="27" dur="500"/>
                                        <p:tgtEl>
                                          <p:spTgt spid="23557"/>
                                        </p:tgtEl>
                                      </p:cBhvr>
                                    </p:animEffect>
                                  </p:childTnLst>
                                </p:cTn>
                              </p:par>
                              <p:par>
                                <p:cTn id="28" presetID="18" presetClass="entr" presetSubtype="6" fill="hold" nodeType="withEffect">
                                  <p:stCondLst>
                                    <p:cond delay="0"/>
                                  </p:stCondLst>
                                  <p:childTnLst>
                                    <p:set>
                                      <p:cBhvr>
                                        <p:cTn id="29" dur="1" fill="hold">
                                          <p:stCondLst>
                                            <p:cond delay="0"/>
                                          </p:stCondLst>
                                        </p:cTn>
                                        <p:tgtEl>
                                          <p:spTgt spid="23559"/>
                                        </p:tgtEl>
                                        <p:attrNameLst>
                                          <p:attrName>style.visibility</p:attrName>
                                        </p:attrNameLst>
                                      </p:cBhvr>
                                      <p:to>
                                        <p:strVal val="visible"/>
                                      </p:to>
                                    </p:set>
                                    <p:animEffect transition="in" filter="strips(downRight)">
                                      <p:cBhvr>
                                        <p:cTn id="30" dur="500"/>
                                        <p:tgtEl>
                                          <p:spTgt spid="23559"/>
                                        </p:tgtEl>
                                      </p:cBhvr>
                                    </p:animEffect>
                                  </p:childTnLst>
                                </p:cTn>
                              </p:par>
                              <p:par>
                                <p:cTn id="31" presetID="18" presetClass="entr" presetSubtype="6" fill="hold" nodeType="withEffect">
                                  <p:stCondLst>
                                    <p:cond delay="0"/>
                                  </p:stCondLst>
                                  <p:childTnLst>
                                    <p:set>
                                      <p:cBhvr>
                                        <p:cTn id="32" dur="1" fill="hold">
                                          <p:stCondLst>
                                            <p:cond delay="0"/>
                                          </p:stCondLst>
                                        </p:cTn>
                                        <p:tgtEl>
                                          <p:spTgt spid="23560"/>
                                        </p:tgtEl>
                                        <p:attrNameLst>
                                          <p:attrName>style.visibility</p:attrName>
                                        </p:attrNameLst>
                                      </p:cBhvr>
                                      <p:to>
                                        <p:strVal val="visible"/>
                                      </p:to>
                                    </p:set>
                                    <p:animEffect transition="in" filter="strips(downRight)">
                                      <p:cBhvr>
                                        <p:cTn id="33" dur="500"/>
                                        <p:tgtEl>
                                          <p:spTgt spid="23560"/>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23568"/>
                                        </p:tgtEl>
                                        <p:attrNameLst>
                                          <p:attrName>style.visibility</p:attrName>
                                        </p:attrNameLst>
                                      </p:cBhvr>
                                      <p:to>
                                        <p:strVal val="visible"/>
                                      </p:to>
                                    </p:set>
                                    <p:animEffect transition="in" filter="wipe(left)">
                                      <p:cBhvr>
                                        <p:cTn id="37" dur="500"/>
                                        <p:tgtEl>
                                          <p:spTgt spid="23568"/>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nodeType="clickEffect">
                                  <p:stCondLst>
                                    <p:cond delay="0"/>
                                  </p:stCondLst>
                                  <p:childTnLst>
                                    <p:set>
                                      <p:cBhvr>
                                        <p:cTn id="41" dur="1" fill="hold">
                                          <p:stCondLst>
                                            <p:cond delay="0"/>
                                          </p:stCondLst>
                                        </p:cTn>
                                        <p:tgtEl>
                                          <p:spTgt spid="23567"/>
                                        </p:tgtEl>
                                        <p:attrNameLst>
                                          <p:attrName>style.visibility</p:attrName>
                                        </p:attrNameLst>
                                      </p:cBhvr>
                                      <p:to>
                                        <p:strVal val="visible"/>
                                      </p:to>
                                    </p:set>
                                    <p:animEffect transition="in" filter="strips(downLeft)">
                                      <p:cBhvr>
                                        <p:cTn id="42" dur="1000"/>
                                        <p:tgtEl>
                                          <p:spTgt spid="23567"/>
                                        </p:tgtEl>
                                      </p:cBhvr>
                                    </p:animEffect>
                                  </p:childTnLst>
                                </p:cTn>
                              </p:par>
                            </p:childTnLst>
                          </p:cTn>
                        </p:par>
                        <p:par>
                          <p:cTn id="43" fill="hold">
                            <p:stCondLst>
                              <p:cond delay="1000"/>
                            </p:stCondLst>
                            <p:childTnLst>
                              <p:par>
                                <p:cTn id="44" presetID="3" presetClass="entr" presetSubtype="5" fill="hold" grpId="0" nodeType="afterEffect">
                                  <p:stCondLst>
                                    <p:cond delay="0"/>
                                  </p:stCondLst>
                                  <p:childTnLst>
                                    <p:set>
                                      <p:cBhvr>
                                        <p:cTn id="45" dur="1" fill="hold">
                                          <p:stCondLst>
                                            <p:cond delay="0"/>
                                          </p:stCondLst>
                                        </p:cTn>
                                        <p:tgtEl>
                                          <p:spTgt spid="23563"/>
                                        </p:tgtEl>
                                        <p:attrNameLst>
                                          <p:attrName>style.visibility</p:attrName>
                                        </p:attrNameLst>
                                      </p:cBhvr>
                                      <p:to>
                                        <p:strVal val="visible"/>
                                      </p:to>
                                    </p:set>
                                    <p:animEffect transition="in" filter="blinds(vertical)">
                                      <p:cBhvr>
                                        <p:cTn id="46" dur="1000"/>
                                        <p:tgtEl>
                                          <p:spTgt spid="23563"/>
                                        </p:tgtEl>
                                      </p:cBhvr>
                                    </p:animEffect>
                                  </p:childTnLst>
                                </p:cTn>
                              </p:par>
                            </p:childTnLst>
                          </p:cTn>
                        </p:par>
                        <p:par>
                          <p:cTn id="47" fill="hold">
                            <p:stCondLst>
                              <p:cond delay="2000"/>
                            </p:stCondLst>
                            <p:childTnLst>
                              <p:par>
                                <p:cTn id="48" presetID="18" presetClass="entr" presetSubtype="12" fill="hold" nodeType="afterEffect">
                                  <p:stCondLst>
                                    <p:cond delay="0"/>
                                  </p:stCondLst>
                                  <p:childTnLst>
                                    <p:set>
                                      <p:cBhvr>
                                        <p:cTn id="49" dur="1" fill="hold">
                                          <p:stCondLst>
                                            <p:cond delay="0"/>
                                          </p:stCondLst>
                                        </p:cTn>
                                        <p:tgtEl>
                                          <p:spTgt spid="23566"/>
                                        </p:tgtEl>
                                        <p:attrNameLst>
                                          <p:attrName>style.visibility</p:attrName>
                                        </p:attrNameLst>
                                      </p:cBhvr>
                                      <p:to>
                                        <p:strVal val="visible"/>
                                      </p:to>
                                    </p:set>
                                    <p:animEffect transition="in" filter="strips(downLeft)">
                                      <p:cBhvr>
                                        <p:cTn id="50" dur="1000"/>
                                        <p:tgtEl>
                                          <p:spTgt spid="23566"/>
                                        </p:tgtEl>
                                      </p:cBhvr>
                                    </p:animEffect>
                                  </p:childTnLst>
                                </p:cTn>
                              </p:par>
                            </p:childTnLst>
                          </p:cTn>
                        </p:par>
                        <p:par>
                          <p:cTn id="51" fill="hold">
                            <p:stCondLst>
                              <p:cond delay="3000"/>
                            </p:stCondLst>
                            <p:childTnLst>
                              <p:par>
                                <p:cTn id="52" presetID="18" presetClass="entr" presetSubtype="3" fill="hold" nodeType="afterEffect">
                                  <p:stCondLst>
                                    <p:cond delay="0"/>
                                  </p:stCondLst>
                                  <p:childTnLst>
                                    <p:set>
                                      <p:cBhvr>
                                        <p:cTn id="53" dur="1" fill="hold">
                                          <p:stCondLst>
                                            <p:cond delay="0"/>
                                          </p:stCondLst>
                                        </p:cTn>
                                        <p:tgtEl>
                                          <p:spTgt spid="23569"/>
                                        </p:tgtEl>
                                        <p:attrNameLst>
                                          <p:attrName>style.visibility</p:attrName>
                                        </p:attrNameLst>
                                      </p:cBhvr>
                                      <p:to>
                                        <p:strVal val="visible"/>
                                      </p:to>
                                    </p:set>
                                    <p:animEffect transition="in" filter="strips(upRight)">
                                      <p:cBhvr>
                                        <p:cTn id="54" dur="1000"/>
                                        <p:tgtEl>
                                          <p:spTgt spid="23569"/>
                                        </p:tgtEl>
                                      </p:cBhvr>
                                    </p:animEffect>
                                  </p:childTnLst>
                                </p:cTn>
                              </p:par>
                            </p:childTnLst>
                          </p:cTn>
                        </p:par>
                        <p:par>
                          <p:cTn id="55" fill="hold">
                            <p:stCondLst>
                              <p:cond delay="4000"/>
                            </p:stCondLst>
                            <p:childTnLst>
                              <p:par>
                                <p:cTn id="56" presetID="18" presetClass="entr" presetSubtype="12" fill="hold" grpId="0" nodeType="afterEffect">
                                  <p:stCondLst>
                                    <p:cond delay="0"/>
                                  </p:stCondLst>
                                  <p:childTnLst>
                                    <p:set>
                                      <p:cBhvr>
                                        <p:cTn id="57" dur="1" fill="hold">
                                          <p:stCondLst>
                                            <p:cond delay="0"/>
                                          </p:stCondLst>
                                        </p:cTn>
                                        <p:tgtEl>
                                          <p:spTgt spid="23570"/>
                                        </p:tgtEl>
                                        <p:attrNameLst>
                                          <p:attrName>style.visibility</p:attrName>
                                        </p:attrNameLst>
                                      </p:cBhvr>
                                      <p:to>
                                        <p:strVal val="visible"/>
                                      </p:to>
                                    </p:set>
                                    <p:animEffect transition="in" filter="strips(downLeft)">
                                      <p:cBhvr>
                                        <p:cTn id="58" dur="1000"/>
                                        <p:tgtEl>
                                          <p:spTgt spid="23570"/>
                                        </p:tgtEl>
                                      </p:cBhvr>
                                    </p:animEffect>
                                  </p:childTnLst>
                                </p:cTn>
                              </p:par>
                            </p:childTnLst>
                          </p:cTn>
                        </p:par>
                        <p:par>
                          <p:cTn id="59" fill="hold">
                            <p:stCondLst>
                              <p:cond delay="5000"/>
                            </p:stCondLst>
                            <p:childTnLst>
                              <p:par>
                                <p:cTn id="60" presetID="18" presetClass="entr" presetSubtype="6" fill="hold" grpId="0" nodeType="afterEffect">
                                  <p:stCondLst>
                                    <p:cond delay="0"/>
                                  </p:stCondLst>
                                  <p:childTnLst>
                                    <p:set>
                                      <p:cBhvr>
                                        <p:cTn id="61" dur="1" fill="hold">
                                          <p:stCondLst>
                                            <p:cond delay="0"/>
                                          </p:stCondLst>
                                        </p:cTn>
                                        <p:tgtEl>
                                          <p:spTgt spid="23575"/>
                                        </p:tgtEl>
                                        <p:attrNameLst>
                                          <p:attrName>style.visibility</p:attrName>
                                        </p:attrNameLst>
                                      </p:cBhvr>
                                      <p:to>
                                        <p:strVal val="visible"/>
                                      </p:to>
                                    </p:set>
                                    <p:animEffect transition="in" filter="strips(downRight)">
                                      <p:cBhvr>
                                        <p:cTn id="62" dur="500"/>
                                        <p:tgtEl>
                                          <p:spTgt spid="23575"/>
                                        </p:tgtEl>
                                      </p:cBhvr>
                                    </p:animEffect>
                                  </p:childTnLst>
                                </p:cTn>
                              </p:par>
                            </p:childTnLst>
                          </p:cTn>
                        </p:par>
                        <p:par>
                          <p:cTn id="63" fill="hold">
                            <p:stCondLst>
                              <p:cond delay="5500"/>
                            </p:stCondLst>
                            <p:childTnLst>
                              <p:par>
                                <p:cTn id="64" presetID="18" presetClass="entr" presetSubtype="6" fill="hold" grpId="0" nodeType="afterEffect">
                                  <p:stCondLst>
                                    <p:cond delay="0"/>
                                  </p:stCondLst>
                                  <p:childTnLst>
                                    <p:set>
                                      <p:cBhvr>
                                        <p:cTn id="65" dur="1" fill="hold">
                                          <p:stCondLst>
                                            <p:cond delay="0"/>
                                          </p:stCondLst>
                                        </p:cTn>
                                        <p:tgtEl>
                                          <p:spTgt spid="23564"/>
                                        </p:tgtEl>
                                        <p:attrNameLst>
                                          <p:attrName>style.visibility</p:attrName>
                                        </p:attrNameLst>
                                      </p:cBhvr>
                                      <p:to>
                                        <p:strVal val="visible"/>
                                      </p:to>
                                    </p:set>
                                    <p:animEffect transition="in" filter="strips(downRight)">
                                      <p:cBhvr>
                                        <p:cTn id="66" dur="500"/>
                                        <p:tgtEl>
                                          <p:spTgt spid="23564"/>
                                        </p:tgtEl>
                                      </p:cBhvr>
                                    </p:animEffect>
                                  </p:childTnLst>
                                </p:cTn>
                              </p:par>
                            </p:childTnLst>
                          </p:cTn>
                        </p:par>
                      </p:childTnLst>
                    </p:cTn>
                  </p:par>
                  <p:par>
                    <p:cTn id="67" fill="hold">
                      <p:stCondLst>
                        <p:cond delay="indefinite"/>
                      </p:stCondLst>
                      <p:childTnLst>
                        <p:par>
                          <p:cTn id="68" fill="hold">
                            <p:stCondLst>
                              <p:cond delay="0"/>
                            </p:stCondLst>
                            <p:childTnLst>
                              <p:par>
                                <p:cTn id="69" presetID="18" presetClass="entr" presetSubtype="6" fill="hold" grpId="0" nodeType="clickEffect">
                                  <p:stCondLst>
                                    <p:cond delay="0"/>
                                  </p:stCondLst>
                                  <p:childTnLst>
                                    <p:set>
                                      <p:cBhvr>
                                        <p:cTn id="70" dur="1" fill="hold">
                                          <p:stCondLst>
                                            <p:cond delay="0"/>
                                          </p:stCondLst>
                                        </p:cTn>
                                        <p:tgtEl>
                                          <p:spTgt spid="23576"/>
                                        </p:tgtEl>
                                        <p:attrNameLst>
                                          <p:attrName>style.visibility</p:attrName>
                                        </p:attrNameLst>
                                      </p:cBhvr>
                                      <p:to>
                                        <p:strVal val="visible"/>
                                      </p:to>
                                    </p:set>
                                    <p:animEffect transition="in" filter="strips(downRight)">
                                      <p:cBhvr>
                                        <p:cTn id="71" dur="1000"/>
                                        <p:tgtEl>
                                          <p:spTgt spid="23576"/>
                                        </p:tgtEl>
                                      </p:cBhvr>
                                    </p:animEffect>
                                  </p:childTnLst>
                                </p:cTn>
                              </p:par>
                            </p:childTnLst>
                          </p:cTn>
                        </p:par>
                        <p:par>
                          <p:cTn id="72" fill="hold">
                            <p:stCondLst>
                              <p:cond delay="1000"/>
                            </p:stCondLst>
                            <p:childTnLst>
                              <p:par>
                                <p:cTn id="73" presetID="18" presetClass="entr" presetSubtype="6" fill="hold" grpId="0" nodeType="afterEffect">
                                  <p:stCondLst>
                                    <p:cond delay="0"/>
                                  </p:stCondLst>
                                  <p:childTnLst>
                                    <p:set>
                                      <p:cBhvr>
                                        <p:cTn id="74" dur="1" fill="hold">
                                          <p:stCondLst>
                                            <p:cond delay="0"/>
                                          </p:stCondLst>
                                        </p:cTn>
                                        <p:tgtEl>
                                          <p:spTgt spid="23577"/>
                                        </p:tgtEl>
                                        <p:attrNameLst>
                                          <p:attrName>style.visibility</p:attrName>
                                        </p:attrNameLst>
                                      </p:cBhvr>
                                      <p:to>
                                        <p:strVal val="visible"/>
                                      </p:to>
                                    </p:set>
                                    <p:animEffect transition="in" filter="strips(downRight)">
                                      <p:cBhvr>
                                        <p:cTn id="75" dur="1000"/>
                                        <p:tgtEl>
                                          <p:spTgt spid="23577"/>
                                        </p:tgtEl>
                                      </p:cBhvr>
                                    </p:animEffect>
                                  </p:childTnLst>
                                </p:cTn>
                              </p:par>
                            </p:childTnLst>
                          </p:cTn>
                        </p:par>
                      </p:childTnLst>
                    </p:cTn>
                  </p:par>
                  <p:par>
                    <p:cTn id="76" fill="hold">
                      <p:stCondLst>
                        <p:cond delay="indefinite"/>
                      </p:stCondLst>
                      <p:childTnLst>
                        <p:par>
                          <p:cTn id="77" fill="hold">
                            <p:stCondLst>
                              <p:cond delay="0"/>
                            </p:stCondLst>
                            <p:childTnLst>
                              <p:par>
                                <p:cTn id="78" presetID="5" presetClass="entr" presetSubtype="10" fill="hold" grpId="0" nodeType="clickEffect">
                                  <p:stCondLst>
                                    <p:cond delay="0"/>
                                  </p:stCondLst>
                                  <p:childTnLst>
                                    <p:set>
                                      <p:cBhvr>
                                        <p:cTn id="79" dur="1" fill="hold">
                                          <p:stCondLst>
                                            <p:cond delay="0"/>
                                          </p:stCondLst>
                                        </p:cTn>
                                        <p:tgtEl>
                                          <p:spTgt spid="23572"/>
                                        </p:tgtEl>
                                        <p:attrNameLst>
                                          <p:attrName>style.visibility</p:attrName>
                                        </p:attrNameLst>
                                      </p:cBhvr>
                                      <p:to>
                                        <p:strVal val="visible"/>
                                      </p:to>
                                    </p:set>
                                    <p:animEffect transition="in" filter="checkerboard(across)">
                                      <p:cBhvr>
                                        <p:cTn id="80" dur="500"/>
                                        <p:tgtEl>
                                          <p:spTgt spid="23572"/>
                                        </p:tgtEl>
                                      </p:cBhvr>
                                    </p:animEffect>
                                  </p:childTnLst>
                                </p:cTn>
                              </p:par>
                              <p:par>
                                <p:cTn id="81" presetID="5" presetClass="entr" presetSubtype="10" fill="hold" grpId="0" nodeType="withEffect">
                                  <p:stCondLst>
                                    <p:cond delay="0"/>
                                  </p:stCondLst>
                                  <p:childTnLst>
                                    <p:set>
                                      <p:cBhvr>
                                        <p:cTn id="82" dur="1" fill="hold">
                                          <p:stCondLst>
                                            <p:cond delay="0"/>
                                          </p:stCondLst>
                                        </p:cTn>
                                        <p:tgtEl>
                                          <p:spTgt spid="23573"/>
                                        </p:tgtEl>
                                        <p:attrNameLst>
                                          <p:attrName>style.visibility</p:attrName>
                                        </p:attrNameLst>
                                      </p:cBhvr>
                                      <p:to>
                                        <p:strVal val="visible"/>
                                      </p:to>
                                    </p:set>
                                    <p:animEffect transition="in" filter="checkerboard(across)">
                                      <p:cBhvr>
                                        <p:cTn id="83" dur="500"/>
                                        <p:tgtEl>
                                          <p:spTgt spid="23573"/>
                                        </p:tgtEl>
                                      </p:cBhvr>
                                    </p:animEffect>
                                  </p:childTnLst>
                                </p:cTn>
                              </p:par>
                            </p:childTnLst>
                          </p:cTn>
                        </p:par>
                        <p:par>
                          <p:cTn id="84" fill="hold">
                            <p:stCondLst>
                              <p:cond delay="500"/>
                            </p:stCondLst>
                            <p:childTnLst>
                              <p:par>
                                <p:cTn id="85" presetID="5" presetClass="entr" presetSubtype="10" fill="hold" grpId="0" nodeType="afterEffect">
                                  <p:stCondLst>
                                    <p:cond delay="0"/>
                                  </p:stCondLst>
                                  <p:childTnLst>
                                    <p:set>
                                      <p:cBhvr>
                                        <p:cTn id="86" dur="1" fill="hold">
                                          <p:stCondLst>
                                            <p:cond delay="0"/>
                                          </p:stCondLst>
                                        </p:cTn>
                                        <p:tgtEl>
                                          <p:spTgt spid="23562"/>
                                        </p:tgtEl>
                                        <p:attrNameLst>
                                          <p:attrName>style.visibility</p:attrName>
                                        </p:attrNameLst>
                                      </p:cBhvr>
                                      <p:to>
                                        <p:strVal val="visible"/>
                                      </p:to>
                                    </p:set>
                                    <p:animEffect transition="in" filter="checkerboard(across)">
                                      <p:cBhvr>
                                        <p:cTn id="87" dur="500"/>
                                        <p:tgtEl>
                                          <p:spTgt spid="23562"/>
                                        </p:tgtEl>
                                      </p:cBhvr>
                                    </p:animEffect>
                                  </p:childTnLst>
                                </p:cTn>
                              </p:par>
                            </p:childTnLst>
                          </p:cTn>
                        </p:par>
                        <p:par>
                          <p:cTn id="88" fill="hold">
                            <p:stCondLst>
                              <p:cond delay="1000"/>
                            </p:stCondLst>
                            <p:childTnLst>
                              <p:par>
                                <p:cTn id="89" presetID="22" presetClass="entr" presetSubtype="8" fill="hold" grpId="0" nodeType="afterEffect">
                                  <p:stCondLst>
                                    <p:cond delay="0"/>
                                  </p:stCondLst>
                                  <p:childTnLst>
                                    <p:set>
                                      <p:cBhvr>
                                        <p:cTn id="90" dur="1" fill="hold">
                                          <p:stCondLst>
                                            <p:cond delay="0"/>
                                          </p:stCondLst>
                                        </p:cTn>
                                        <p:tgtEl>
                                          <p:spTgt spid="23571"/>
                                        </p:tgtEl>
                                        <p:attrNameLst>
                                          <p:attrName>style.visibility</p:attrName>
                                        </p:attrNameLst>
                                      </p:cBhvr>
                                      <p:to>
                                        <p:strVal val="visible"/>
                                      </p:to>
                                    </p:set>
                                    <p:animEffect transition="in" filter="wipe(left)">
                                      <p:cBhvr>
                                        <p:cTn id="91" dur="500"/>
                                        <p:tgtEl>
                                          <p:spTgt spid="23571"/>
                                        </p:tgtEl>
                                      </p:cBhvr>
                                    </p:animEffect>
                                  </p:childTnLst>
                                </p:cTn>
                              </p:par>
                            </p:childTnLst>
                          </p:cTn>
                        </p:par>
                        <p:par>
                          <p:cTn id="92" fill="hold">
                            <p:stCondLst>
                              <p:cond delay="1500"/>
                            </p:stCondLst>
                            <p:childTnLst>
                              <p:par>
                                <p:cTn id="93" presetID="22" presetClass="entr" presetSubtype="2" fill="hold" grpId="0" nodeType="afterEffect">
                                  <p:stCondLst>
                                    <p:cond delay="0"/>
                                  </p:stCondLst>
                                  <p:childTnLst>
                                    <p:set>
                                      <p:cBhvr>
                                        <p:cTn id="94" dur="1" fill="hold">
                                          <p:stCondLst>
                                            <p:cond delay="0"/>
                                          </p:stCondLst>
                                        </p:cTn>
                                        <p:tgtEl>
                                          <p:spTgt spid="23574"/>
                                        </p:tgtEl>
                                        <p:attrNameLst>
                                          <p:attrName>style.visibility</p:attrName>
                                        </p:attrNameLst>
                                      </p:cBhvr>
                                      <p:to>
                                        <p:strVal val="visible"/>
                                      </p:to>
                                    </p:set>
                                    <p:animEffect transition="in" filter="wipe(right)">
                                      <p:cBhvr>
                                        <p:cTn id="95" dur="500"/>
                                        <p:tgtEl>
                                          <p:spTgt spid="23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animBg="1"/>
      <p:bldP spid="23557" grpId="0" animBg="1"/>
      <p:bldP spid="23558" grpId="0" animBg="1"/>
      <p:bldP spid="23561" grpId="0"/>
      <p:bldP spid="23562" grpId="0"/>
      <p:bldP spid="23563" grpId="0"/>
      <p:bldP spid="23564" grpId="0"/>
      <p:bldP spid="23565" grpId="0"/>
      <p:bldP spid="23568" grpId="0"/>
      <p:bldP spid="23570" grpId="0" animBg="1"/>
      <p:bldP spid="23571" grpId="0" animBg="1"/>
      <p:bldP spid="23572" grpId="0" animBg="1"/>
      <p:bldP spid="23573" grpId="0" animBg="1"/>
      <p:bldP spid="23574" grpId="0" animBg="1"/>
      <p:bldP spid="23575" grpId="0"/>
      <p:bldP spid="23576" grpId="0" animBg="1"/>
      <p:bldP spid="2357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04451" name="Rectangle 2"/>
          <p:cNvSpPr>
            <a:spLocks noGrp="1"/>
          </p:cNvSpPr>
          <p:nvPr>
            <p:ph type="title" idx="4294967295"/>
          </p:nvPr>
        </p:nvSpPr>
        <p:spPr/>
        <p:txBody>
          <a:bodyPr vert="horz" wrap="square" lIns="91440" tIns="45720" rIns="91440" bIns="45720" anchor="b" anchorCtr="0"/>
          <a:p>
            <a:pPr eaLnBrk="1" hangingPunct="1"/>
            <a:r>
              <a:rPr lang="zh-CN" altLang="en-US" dirty="0"/>
              <a:t>接口和端口</a:t>
            </a:r>
            <a:endParaRPr lang="zh-CN" altLang="en-US" dirty="0"/>
          </a:p>
        </p:txBody>
      </p:sp>
      <p:sp>
        <p:nvSpPr>
          <p:cNvPr id="104452" name="Rectangle 3"/>
          <p:cNvSpPr>
            <a:spLocks noGrp="1"/>
          </p:cNvSpPr>
          <p:nvPr>
            <p:ph type="body" idx="4294967295"/>
          </p:nvPr>
        </p:nvSpPr>
        <p:spPr>
          <a:xfrm>
            <a:off x="4745038" y="3860800"/>
            <a:ext cx="868362" cy="331788"/>
          </a:xfrm>
        </p:spPr>
        <p:txBody>
          <a:bodyPr vert="horz" wrap="square" lIns="91440" tIns="45720" rIns="91440" bIns="45720" anchor="t" anchorCtr="0"/>
          <a:p>
            <a:pPr eaLnBrk="1" hangingPunct="1">
              <a:lnSpc>
                <a:spcPct val="80000"/>
              </a:lnSpc>
              <a:buNone/>
            </a:pPr>
            <a:r>
              <a:rPr lang="en-US" altLang="zh-CN" sz="3200" dirty="0">
                <a:latin typeface="宋体" panose="02010600030101010101" pitchFamily="2" charset="-122"/>
              </a:rPr>
              <a:t>┅</a:t>
            </a:r>
            <a:endParaRPr lang="en-US" altLang="zh-CN" sz="3200" dirty="0">
              <a:latin typeface="宋体" panose="02010600030101010101" pitchFamily="2" charset="-122"/>
            </a:endParaRPr>
          </a:p>
        </p:txBody>
      </p:sp>
      <p:sp>
        <p:nvSpPr>
          <p:cNvPr id="104453" name="Rectangle 5"/>
          <p:cNvSpPr/>
          <p:nvPr/>
        </p:nvSpPr>
        <p:spPr>
          <a:xfrm>
            <a:off x="1000125" y="2565400"/>
            <a:ext cx="1066800" cy="3276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04454" name="Rectangle 6"/>
          <p:cNvSpPr/>
          <p:nvPr/>
        </p:nvSpPr>
        <p:spPr>
          <a:xfrm>
            <a:off x="3016250" y="2565400"/>
            <a:ext cx="1066800" cy="3276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04455" name="Rectangle 7"/>
          <p:cNvSpPr/>
          <p:nvPr/>
        </p:nvSpPr>
        <p:spPr>
          <a:xfrm>
            <a:off x="5883275" y="2565400"/>
            <a:ext cx="1066800" cy="3276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04456" name="Rectangle 8"/>
          <p:cNvSpPr/>
          <p:nvPr/>
        </p:nvSpPr>
        <p:spPr>
          <a:xfrm>
            <a:off x="1144588" y="2852738"/>
            <a:ext cx="792162" cy="541337"/>
          </a:xfrm>
          <a:prstGeom prst="rect">
            <a:avLst/>
          </a:prstGeom>
          <a:solidFill>
            <a:srgbClr val="FFFF99"/>
          </a:solidFill>
          <a:ln w="25400" cap="sq" cmpd="sng">
            <a:solidFill>
              <a:srgbClr val="FFFF99"/>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04457" name="Rectangle 9"/>
          <p:cNvSpPr/>
          <p:nvPr/>
        </p:nvSpPr>
        <p:spPr>
          <a:xfrm>
            <a:off x="1144588" y="3644900"/>
            <a:ext cx="792162" cy="541338"/>
          </a:xfrm>
          <a:prstGeom prst="rect">
            <a:avLst/>
          </a:prstGeom>
          <a:solidFill>
            <a:srgbClr val="FFFF99"/>
          </a:solidFill>
          <a:ln w="25400" cap="sq" cmpd="sng">
            <a:solidFill>
              <a:srgbClr val="FFFF99"/>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04458" name="Rectangle 10"/>
          <p:cNvSpPr/>
          <p:nvPr/>
        </p:nvSpPr>
        <p:spPr>
          <a:xfrm>
            <a:off x="1144588" y="5013325"/>
            <a:ext cx="792162" cy="541338"/>
          </a:xfrm>
          <a:prstGeom prst="rect">
            <a:avLst/>
          </a:prstGeom>
          <a:solidFill>
            <a:srgbClr val="FFFF99"/>
          </a:solidFill>
          <a:ln w="25400" cap="sq" cmpd="sng">
            <a:solidFill>
              <a:srgbClr val="FFFF99"/>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04459" name="Rectangle 11"/>
          <p:cNvSpPr/>
          <p:nvPr/>
        </p:nvSpPr>
        <p:spPr>
          <a:xfrm>
            <a:off x="1289050" y="4437063"/>
            <a:ext cx="574675" cy="331787"/>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80000"/>
              </a:lnSpc>
              <a:spcAft>
                <a:spcPct val="0"/>
              </a:spcAft>
              <a:buClr>
                <a:srgbClr val="3333CC"/>
              </a:buClr>
              <a:buNone/>
            </a:pPr>
            <a:r>
              <a:rPr lang="en-US" altLang="zh-CN" sz="2400" dirty="0">
                <a:solidFill>
                  <a:srgbClr val="FFFFFF"/>
                </a:solidFill>
                <a:latin typeface="宋体" panose="02010600030101010101" pitchFamily="2" charset="-122"/>
                <a:ea typeface="楷体_GB2312"/>
              </a:rPr>
              <a:t>┅</a:t>
            </a:r>
            <a:endParaRPr lang="en-US" altLang="zh-CN" sz="2400" dirty="0">
              <a:solidFill>
                <a:srgbClr val="FFFFFF"/>
              </a:solidFill>
              <a:latin typeface="宋体" panose="02010600030101010101" pitchFamily="2" charset="-122"/>
              <a:ea typeface="楷体_GB2312"/>
            </a:endParaRPr>
          </a:p>
        </p:txBody>
      </p:sp>
      <p:sp>
        <p:nvSpPr>
          <p:cNvPr id="104460" name="Rectangle 12"/>
          <p:cNvSpPr/>
          <p:nvPr/>
        </p:nvSpPr>
        <p:spPr>
          <a:xfrm>
            <a:off x="3160713" y="2852738"/>
            <a:ext cx="792162" cy="541337"/>
          </a:xfrm>
          <a:prstGeom prst="rect">
            <a:avLst/>
          </a:prstGeom>
          <a:solidFill>
            <a:srgbClr val="FFFF99"/>
          </a:solidFill>
          <a:ln w="25400" cap="sq" cmpd="sng">
            <a:solidFill>
              <a:srgbClr val="FFFF99"/>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04461" name="Rectangle 13"/>
          <p:cNvSpPr/>
          <p:nvPr/>
        </p:nvSpPr>
        <p:spPr>
          <a:xfrm>
            <a:off x="3160713" y="3644900"/>
            <a:ext cx="792162" cy="541338"/>
          </a:xfrm>
          <a:prstGeom prst="rect">
            <a:avLst/>
          </a:prstGeom>
          <a:solidFill>
            <a:srgbClr val="FFFF99"/>
          </a:solidFill>
          <a:ln w="25400" cap="sq" cmpd="sng">
            <a:solidFill>
              <a:srgbClr val="FFFF99"/>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04462" name="Rectangle 14"/>
          <p:cNvSpPr/>
          <p:nvPr/>
        </p:nvSpPr>
        <p:spPr>
          <a:xfrm>
            <a:off x="3160713" y="5013325"/>
            <a:ext cx="792162" cy="541338"/>
          </a:xfrm>
          <a:prstGeom prst="rect">
            <a:avLst/>
          </a:prstGeom>
          <a:solidFill>
            <a:srgbClr val="FFFF99"/>
          </a:solidFill>
          <a:ln w="25400" cap="sq" cmpd="sng">
            <a:solidFill>
              <a:srgbClr val="FFFF99"/>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04463" name="Rectangle 15"/>
          <p:cNvSpPr/>
          <p:nvPr/>
        </p:nvSpPr>
        <p:spPr>
          <a:xfrm>
            <a:off x="3305175" y="4437063"/>
            <a:ext cx="574675" cy="331787"/>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80000"/>
              </a:lnSpc>
              <a:spcAft>
                <a:spcPct val="0"/>
              </a:spcAft>
              <a:buClr>
                <a:srgbClr val="3333CC"/>
              </a:buClr>
              <a:buNone/>
            </a:pPr>
            <a:r>
              <a:rPr lang="en-US" altLang="zh-CN" sz="2400" dirty="0">
                <a:solidFill>
                  <a:srgbClr val="FFFFFF"/>
                </a:solidFill>
                <a:latin typeface="宋体" panose="02010600030101010101" pitchFamily="2" charset="-122"/>
                <a:ea typeface="楷体_GB2312"/>
              </a:rPr>
              <a:t>┅</a:t>
            </a:r>
            <a:endParaRPr lang="en-US" altLang="zh-CN" sz="2400" dirty="0">
              <a:solidFill>
                <a:srgbClr val="FFFFFF"/>
              </a:solidFill>
              <a:latin typeface="宋体" panose="02010600030101010101" pitchFamily="2" charset="-122"/>
              <a:ea typeface="楷体_GB2312"/>
            </a:endParaRPr>
          </a:p>
        </p:txBody>
      </p:sp>
      <p:sp>
        <p:nvSpPr>
          <p:cNvPr id="104464" name="Rectangle 16"/>
          <p:cNvSpPr/>
          <p:nvPr/>
        </p:nvSpPr>
        <p:spPr>
          <a:xfrm>
            <a:off x="6026150" y="2852738"/>
            <a:ext cx="792163" cy="541337"/>
          </a:xfrm>
          <a:prstGeom prst="rect">
            <a:avLst/>
          </a:prstGeom>
          <a:solidFill>
            <a:srgbClr val="FFFF99"/>
          </a:solidFill>
          <a:ln w="25400" cap="sq" cmpd="sng">
            <a:solidFill>
              <a:srgbClr val="FFFF99"/>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04465" name="Rectangle 17"/>
          <p:cNvSpPr/>
          <p:nvPr/>
        </p:nvSpPr>
        <p:spPr>
          <a:xfrm>
            <a:off x="6026150" y="3644900"/>
            <a:ext cx="792163" cy="541338"/>
          </a:xfrm>
          <a:prstGeom prst="rect">
            <a:avLst/>
          </a:prstGeom>
          <a:solidFill>
            <a:srgbClr val="FFFF99"/>
          </a:solidFill>
          <a:ln w="25400" cap="sq" cmpd="sng">
            <a:solidFill>
              <a:srgbClr val="FFFF99"/>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04466" name="Rectangle 18"/>
          <p:cNvSpPr/>
          <p:nvPr/>
        </p:nvSpPr>
        <p:spPr>
          <a:xfrm>
            <a:off x="6026150" y="5013325"/>
            <a:ext cx="792163" cy="541338"/>
          </a:xfrm>
          <a:prstGeom prst="rect">
            <a:avLst/>
          </a:prstGeom>
          <a:solidFill>
            <a:srgbClr val="FFFF99"/>
          </a:solidFill>
          <a:ln w="25400" cap="sq" cmpd="sng">
            <a:solidFill>
              <a:srgbClr val="FFFF99"/>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04467" name="Rectangle 19"/>
          <p:cNvSpPr/>
          <p:nvPr/>
        </p:nvSpPr>
        <p:spPr>
          <a:xfrm>
            <a:off x="6170613" y="4437063"/>
            <a:ext cx="574675" cy="331787"/>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80000"/>
              </a:lnSpc>
              <a:spcAft>
                <a:spcPct val="0"/>
              </a:spcAft>
              <a:buClr>
                <a:srgbClr val="3333CC"/>
              </a:buClr>
              <a:buNone/>
            </a:pPr>
            <a:r>
              <a:rPr lang="en-US" altLang="zh-CN" sz="2400" dirty="0">
                <a:solidFill>
                  <a:srgbClr val="FFFFFF"/>
                </a:solidFill>
                <a:latin typeface="宋体" panose="02010600030101010101" pitchFamily="2" charset="-122"/>
                <a:ea typeface="楷体_GB2312"/>
              </a:rPr>
              <a:t>┅</a:t>
            </a:r>
            <a:endParaRPr lang="en-US" altLang="zh-CN" sz="2400" dirty="0">
              <a:solidFill>
                <a:srgbClr val="FFFFFF"/>
              </a:solidFill>
              <a:latin typeface="宋体" panose="02010600030101010101" pitchFamily="2" charset="-122"/>
              <a:ea typeface="楷体_GB2312"/>
            </a:endParaRPr>
          </a:p>
        </p:txBody>
      </p:sp>
      <p:sp>
        <p:nvSpPr>
          <p:cNvPr id="104468" name="Text Box 20"/>
          <p:cNvSpPr txBox="1"/>
          <p:nvPr/>
        </p:nvSpPr>
        <p:spPr>
          <a:xfrm>
            <a:off x="1071563" y="2095500"/>
            <a:ext cx="1008062"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接口</a:t>
            </a:r>
            <a:r>
              <a:rPr lang="en-US" altLang="zh-CN" sz="2000" dirty="0">
                <a:solidFill>
                  <a:srgbClr val="000000"/>
                </a:solidFill>
                <a:latin typeface="Times New Roman" panose="02020603050405020304" pitchFamily="18" charset="0"/>
                <a:ea typeface="楷体_GB2312"/>
              </a:rPr>
              <a:t>1</a:t>
            </a:r>
            <a:endParaRPr lang="en-US" altLang="zh-CN" sz="2000" dirty="0">
              <a:solidFill>
                <a:srgbClr val="000000"/>
              </a:solidFill>
              <a:latin typeface="Times New Roman" panose="02020603050405020304" pitchFamily="18" charset="0"/>
              <a:ea typeface="楷体_GB2312"/>
            </a:endParaRPr>
          </a:p>
        </p:txBody>
      </p:sp>
      <p:sp>
        <p:nvSpPr>
          <p:cNvPr id="104469" name="Text Box 21"/>
          <p:cNvSpPr txBox="1"/>
          <p:nvPr/>
        </p:nvSpPr>
        <p:spPr>
          <a:xfrm>
            <a:off x="3016250" y="2060575"/>
            <a:ext cx="1008063"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接口</a:t>
            </a:r>
            <a:r>
              <a:rPr lang="en-US" altLang="zh-CN" sz="2000" dirty="0">
                <a:solidFill>
                  <a:srgbClr val="000000"/>
                </a:solidFill>
                <a:latin typeface="Times New Roman" panose="02020603050405020304" pitchFamily="18" charset="0"/>
                <a:ea typeface="楷体_GB2312"/>
              </a:rPr>
              <a:t>2</a:t>
            </a:r>
            <a:endParaRPr lang="en-US" altLang="zh-CN" sz="2000" dirty="0">
              <a:solidFill>
                <a:srgbClr val="000000"/>
              </a:solidFill>
              <a:latin typeface="Times New Roman" panose="02020603050405020304" pitchFamily="18" charset="0"/>
              <a:ea typeface="楷体_GB2312"/>
            </a:endParaRPr>
          </a:p>
        </p:txBody>
      </p:sp>
      <p:sp>
        <p:nvSpPr>
          <p:cNvPr id="104470" name="Text Box 22"/>
          <p:cNvSpPr txBox="1"/>
          <p:nvPr/>
        </p:nvSpPr>
        <p:spPr>
          <a:xfrm>
            <a:off x="5883275" y="2060575"/>
            <a:ext cx="1008063"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接口</a:t>
            </a:r>
            <a:r>
              <a:rPr lang="en-US" altLang="zh-CN" sz="2000" dirty="0">
                <a:solidFill>
                  <a:srgbClr val="000000"/>
                </a:solidFill>
                <a:latin typeface="Times New Roman" panose="02020603050405020304" pitchFamily="18" charset="0"/>
                <a:ea typeface="楷体_GB2312"/>
              </a:rPr>
              <a:t>N</a:t>
            </a:r>
            <a:endParaRPr lang="en-US" altLang="zh-CN" sz="2000" dirty="0">
              <a:solidFill>
                <a:srgbClr val="000000"/>
              </a:solidFill>
              <a:latin typeface="Times New Roman" panose="02020603050405020304" pitchFamily="18" charset="0"/>
              <a:ea typeface="楷体_GB2312"/>
            </a:endParaRPr>
          </a:p>
        </p:txBody>
      </p:sp>
      <p:sp>
        <p:nvSpPr>
          <p:cNvPr id="104471" name="Text Box 23"/>
          <p:cNvSpPr txBox="1"/>
          <p:nvPr/>
        </p:nvSpPr>
        <p:spPr>
          <a:xfrm>
            <a:off x="1133475" y="2932113"/>
            <a:ext cx="863600" cy="3667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端口</a:t>
            </a:r>
            <a:r>
              <a:rPr lang="en-US" altLang="zh-CN" sz="2400" dirty="0">
                <a:solidFill>
                  <a:srgbClr val="000000"/>
                </a:solidFill>
                <a:latin typeface="Times New Roman" panose="02020603050405020304" pitchFamily="18" charset="0"/>
                <a:ea typeface="楷体_GB2312"/>
              </a:rPr>
              <a:t>1</a:t>
            </a:r>
            <a:endParaRPr lang="en-US" altLang="zh-CN" sz="2400" dirty="0">
              <a:solidFill>
                <a:srgbClr val="000000"/>
              </a:solidFill>
              <a:latin typeface="Times New Roman" panose="02020603050405020304" pitchFamily="18" charset="0"/>
              <a:ea typeface="楷体_GB2312"/>
            </a:endParaRPr>
          </a:p>
        </p:txBody>
      </p:sp>
      <p:sp>
        <p:nvSpPr>
          <p:cNvPr id="104472" name="Text Box 24"/>
          <p:cNvSpPr txBox="1"/>
          <p:nvPr/>
        </p:nvSpPr>
        <p:spPr>
          <a:xfrm>
            <a:off x="1117600" y="3729038"/>
            <a:ext cx="863600" cy="3667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端口</a:t>
            </a:r>
            <a:r>
              <a:rPr lang="en-US" altLang="zh-CN" sz="2400" dirty="0">
                <a:solidFill>
                  <a:srgbClr val="000000"/>
                </a:solidFill>
                <a:latin typeface="Times New Roman" panose="02020603050405020304" pitchFamily="18" charset="0"/>
                <a:ea typeface="楷体_GB2312"/>
              </a:rPr>
              <a:t>2</a:t>
            </a:r>
            <a:endParaRPr lang="en-US" altLang="zh-CN" sz="2400" dirty="0">
              <a:solidFill>
                <a:srgbClr val="000000"/>
              </a:solidFill>
              <a:latin typeface="Times New Roman" panose="02020603050405020304" pitchFamily="18" charset="0"/>
              <a:ea typeface="楷体_GB2312"/>
            </a:endParaRPr>
          </a:p>
        </p:txBody>
      </p:sp>
      <p:sp>
        <p:nvSpPr>
          <p:cNvPr id="104473" name="Text Box 25"/>
          <p:cNvSpPr txBox="1"/>
          <p:nvPr/>
        </p:nvSpPr>
        <p:spPr>
          <a:xfrm>
            <a:off x="1133475" y="5084763"/>
            <a:ext cx="863600" cy="3667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端口</a:t>
            </a:r>
            <a:r>
              <a:rPr lang="en-US" altLang="zh-CN" sz="2400" dirty="0">
                <a:solidFill>
                  <a:srgbClr val="000000"/>
                </a:solidFill>
                <a:latin typeface="Times New Roman" panose="02020603050405020304" pitchFamily="18" charset="0"/>
                <a:ea typeface="楷体_GB2312"/>
              </a:rPr>
              <a:t>m</a:t>
            </a:r>
            <a:endParaRPr lang="en-US" altLang="zh-CN" sz="2400" dirty="0">
              <a:solidFill>
                <a:srgbClr val="000000"/>
              </a:solidFill>
              <a:latin typeface="Times New Roman" panose="02020603050405020304" pitchFamily="18" charset="0"/>
              <a:ea typeface="楷体_GB2312"/>
            </a:endParaRPr>
          </a:p>
        </p:txBody>
      </p:sp>
      <p:sp>
        <p:nvSpPr>
          <p:cNvPr id="104474" name="Text Box 26"/>
          <p:cNvSpPr txBox="1"/>
          <p:nvPr/>
        </p:nvSpPr>
        <p:spPr>
          <a:xfrm>
            <a:off x="3154363" y="2917825"/>
            <a:ext cx="863600" cy="36671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端口</a:t>
            </a:r>
            <a:r>
              <a:rPr lang="en-US" altLang="zh-CN" sz="2400" dirty="0">
                <a:solidFill>
                  <a:srgbClr val="000000"/>
                </a:solidFill>
                <a:latin typeface="Times New Roman" panose="02020603050405020304" pitchFamily="18" charset="0"/>
                <a:ea typeface="楷体_GB2312"/>
              </a:rPr>
              <a:t>1</a:t>
            </a:r>
            <a:endParaRPr lang="en-US" altLang="zh-CN" sz="2400" dirty="0">
              <a:solidFill>
                <a:srgbClr val="000000"/>
              </a:solidFill>
              <a:latin typeface="Times New Roman" panose="02020603050405020304" pitchFamily="18" charset="0"/>
              <a:ea typeface="楷体_GB2312"/>
            </a:endParaRPr>
          </a:p>
        </p:txBody>
      </p:sp>
      <p:sp>
        <p:nvSpPr>
          <p:cNvPr id="104475" name="Text Box 27"/>
          <p:cNvSpPr txBox="1"/>
          <p:nvPr/>
        </p:nvSpPr>
        <p:spPr>
          <a:xfrm>
            <a:off x="6026150" y="2925763"/>
            <a:ext cx="863600" cy="3667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端口</a:t>
            </a:r>
            <a:r>
              <a:rPr lang="en-US" altLang="zh-CN" sz="2400" dirty="0">
                <a:solidFill>
                  <a:srgbClr val="000000"/>
                </a:solidFill>
                <a:latin typeface="Times New Roman" panose="02020603050405020304" pitchFamily="18" charset="0"/>
                <a:ea typeface="楷体_GB2312"/>
              </a:rPr>
              <a:t>1</a:t>
            </a:r>
            <a:endParaRPr lang="en-US" altLang="zh-CN" sz="2400" dirty="0">
              <a:solidFill>
                <a:srgbClr val="000000"/>
              </a:solidFill>
              <a:latin typeface="Times New Roman" panose="02020603050405020304" pitchFamily="18" charset="0"/>
              <a:ea typeface="楷体_GB2312"/>
            </a:endParaRPr>
          </a:p>
        </p:txBody>
      </p:sp>
      <p:sp>
        <p:nvSpPr>
          <p:cNvPr id="104476" name="Text Box 28"/>
          <p:cNvSpPr txBox="1"/>
          <p:nvPr/>
        </p:nvSpPr>
        <p:spPr>
          <a:xfrm>
            <a:off x="3160713" y="3717925"/>
            <a:ext cx="863600" cy="36671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端口</a:t>
            </a:r>
            <a:r>
              <a:rPr lang="en-US" altLang="zh-CN" sz="2400" dirty="0">
                <a:solidFill>
                  <a:srgbClr val="000000"/>
                </a:solidFill>
                <a:latin typeface="Times New Roman" panose="02020603050405020304" pitchFamily="18" charset="0"/>
                <a:ea typeface="楷体_GB2312"/>
              </a:rPr>
              <a:t>2</a:t>
            </a:r>
            <a:endParaRPr lang="en-US" altLang="zh-CN" sz="2400" dirty="0">
              <a:solidFill>
                <a:srgbClr val="000000"/>
              </a:solidFill>
              <a:latin typeface="Times New Roman" panose="02020603050405020304" pitchFamily="18" charset="0"/>
              <a:ea typeface="楷体_GB2312"/>
            </a:endParaRPr>
          </a:p>
        </p:txBody>
      </p:sp>
      <p:sp>
        <p:nvSpPr>
          <p:cNvPr id="104477" name="Text Box 29"/>
          <p:cNvSpPr txBox="1"/>
          <p:nvPr/>
        </p:nvSpPr>
        <p:spPr>
          <a:xfrm>
            <a:off x="6027738" y="3717925"/>
            <a:ext cx="863600" cy="36671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端口</a:t>
            </a:r>
            <a:r>
              <a:rPr lang="en-US" altLang="zh-CN" sz="2400" dirty="0">
                <a:solidFill>
                  <a:srgbClr val="000000"/>
                </a:solidFill>
                <a:latin typeface="Times New Roman" panose="02020603050405020304" pitchFamily="18" charset="0"/>
                <a:ea typeface="楷体_GB2312"/>
              </a:rPr>
              <a:t>2</a:t>
            </a:r>
            <a:endParaRPr lang="en-US" altLang="zh-CN" sz="2400" dirty="0">
              <a:solidFill>
                <a:srgbClr val="000000"/>
              </a:solidFill>
              <a:latin typeface="Times New Roman" panose="02020603050405020304" pitchFamily="18" charset="0"/>
              <a:ea typeface="楷体_GB2312"/>
            </a:endParaRPr>
          </a:p>
        </p:txBody>
      </p:sp>
      <p:sp>
        <p:nvSpPr>
          <p:cNvPr id="104478" name="Text Box 30"/>
          <p:cNvSpPr txBox="1"/>
          <p:nvPr/>
        </p:nvSpPr>
        <p:spPr>
          <a:xfrm>
            <a:off x="3109913" y="5084763"/>
            <a:ext cx="863600" cy="3667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端口</a:t>
            </a:r>
            <a:r>
              <a:rPr lang="en-US" altLang="zh-CN" sz="2400" dirty="0">
                <a:solidFill>
                  <a:srgbClr val="000000"/>
                </a:solidFill>
                <a:latin typeface="Times New Roman" panose="02020603050405020304" pitchFamily="18" charset="0"/>
                <a:ea typeface="楷体_GB2312"/>
              </a:rPr>
              <a:t>m</a:t>
            </a:r>
            <a:endParaRPr lang="en-US" altLang="zh-CN" sz="2400" dirty="0">
              <a:solidFill>
                <a:srgbClr val="000000"/>
              </a:solidFill>
              <a:latin typeface="Times New Roman" panose="02020603050405020304" pitchFamily="18" charset="0"/>
              <a:ea typeface="楷体_GB2312"/>
            </a:endParaRPr>
          </a:p>
        </p:txBody>
      </p:sp>
      <p:sp>
        <p:nvSpPr>
          <p:cNvPr id="104479" name="Text Box 31"/>
          <p:cNvSpPr txBox="1"/>
          <p:nvPr/>
        </p:nvSpPr>
        <p:spPr>
          <a:xfrm>
            <a:off x="5981700" y="5084763"/>
            <a:ext cx="863600" cy="3667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端口</a:t>
            </a:r>
            <a:r>
              <a:rPr lang="en-US" altLang="zh-CN" sz="2400" dirty="0">
                <a:solidFill>
                  <a:srgbClr val="000000"/>
                </a:solidFill>
                <a:latin typeface="Times New Roman" panose="02020603050405020304" pitchFamily="18" charset="0"/>
                <a:ea typeface="楷体_GB2312"/>
              </a:rPr>
              <a:t>m</a:t>
            </a:r>
            <a:endParaRPr lang="en-US" altLang="zh-CN" sz="2400" dirty="0">
              <a:solidFill>
                <a:srgbClr val="000000"/>
              </a:solidFill>
              <a:latin typeface="Times New Roman" panose="02020603050405020304" pitchFamily="18" charset="0"/>
              <a:ea typeface="楷体_GB2312"/>
            </a:endParaRPr>
          </a:p>
        </p:txBody>
      </p:sp>
      <p:sp>
        <p:nvSpPr>
          <p:cNvPr id="24608" name="Text Box 32"/>
          <p:cNvSpPr txBox="1"/>
          <p:nvPr/>
        </p:nvSpPr>
        <p:spPr>
          <a:xfrm>
            <a:off x="7885113" y="3141663"/>
            <a:ext cx="1008062" cy="82232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端口编址</a:t>
            </a:r>
            <a:endParaRPr lang="en-US" altLang="zh-CN" sz="2400" dirty="0">
              <a:solidFill>
                <a:srgbClr val="000000"/>
              </a:solidFill>
              <a:latin typeface="Times New Roman" panose="02020603050405020304" pitchFamily="18" charset="0"/>
              <a:ea typeface="楷体_GB2312"/>
            </a:endParaRPr>
          </a:p>
        </p:txBody>
      </p:sp>
      <p:sp>
        <p:nvSpPr>
          <p:cNvPr id="24609" name="Line 33"/>
          <p:cNvSpPr/>
          <p:nvPr/>
        </p:nvSpPr>
        <p:spPr>
          <a:xfrm flipV="1">
            <a:off x="6805613" y="3644900"/>
            <a:ext cx="1008062" cy="360363"/>
          </a:xfrm>
          <a:prstGeom prst="line">
            <a:avLst/>
          </a:prstGeom>
          <a:ln w="25400" cap="sq" cmpd="sng">
            <a:solidFill>
              <a:srgbClr val="FF0000"/>
            </a:solidFill>
            <a:prstDash val="solid"/>
            <a:bevel/>
            <a:headEnd type="none" w="med" len="med"/>
            <a:tailEnd type="triangle" w="lg" len="lg"/>
          </a:ln>
        </p:spPr>
      </p:sp>
      <p:sp>
        <p:nvSpPr>
          <p:cNvPr id="24610" name="Text Box 34"/>
          <p:cNvSpPr txBox="1"/>
          <p:nvPr/>
        </p:nvSpPr>
        <p:spPr>
          <a:xfrm>
            <a:off x="971550" y="6165850"/>
            <a:ext cx="7129463"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FF0000"/>
                </a:solidFill>
                <a:latin typeface="Times New Roman" panose="02020603050405020304" pitchFamily="18" charset="0"/>
                <a:ea typeface="楷体_GB2312"/>
              </a:rPr>
              <a:t>端口地址</a:t>
            </a:r>
            <a:r>
              <a:rPr lang="en-US" altLang="zh-CN" sz="2400" dirty="0">
                <a:solidFill>
                  <a:srgbClr val="FF0000"/>
                </a:solidFill>
                <a:latin typeface="Times New Roman" panose="02020603050405020304" pitchFamily="18" charset="0"/>
                <a:ea typeface="楷体_GB2312"/>
              </a:rPr>
              <a:t>=</a:t>
            </a:r>
            <a:r>
              <a:rPr lang="zh-CN" altLang="en-US" sz="2400" dirty="0">
                <a:solidFill>
                  <a:srgbClr val="FF0000"/>
                </a:solidFill>
                <a:latin typeface="Times New Roman" panose="02020603050405020304" pitchFamily="18" charset="0"/>
                <a:ea typeface="楷体_GB2312"/>
              </a:rPr>
              <a:t>芯片地址（高位地址）</a:t>
            </a:r>
            <a:r>
              <a:rPr lang="en-US" altLang="zh-CN" sz="2400" dirty="0">
                <a:solidFill>
                  <a:srgbClr val="FF0000"/>
                </a:solidFill>
                <a:latin typeface="Times New Roman" panose="02020603050405020304" pitchFamily="18" charset="0"/>
                <a:ea typeface="楷体_GB2312"/>
              </a:rPr>
              <a:t>+</a:t>
            </a:r>
            <a:r>
              <a:rPr lang="zh-CN" altLang="en-US" sz="2400" dirty="0">
                <a:solidFill>
                  <a:srgbClr val="FF0000"/>
                </a:solidFill>
                <a:latin typeface="Times New Roman" panose="02020603050405020304" pitchFamily="18" charset="0"/>
                <a:ea typeface="楷体_GB2312"/>
              </a:rPr>
              <a:t>片内地址</a:t>
            </a:r>
            <a:endParaRPr lang="zh-CN" altLang="en-US" sz="2400" dirty="0">
              <a:solidFill>
                <a:srgbClr val="FF0000"/>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24609"/>
                                        </p:tgtEl>
                                        <p:attrNameLst>
                                          <p:attrName>style.visibility</p:attrName>
                                        </p:attrNameLst>
                                      </p:cBhvr>
                                      <p:to>
                                        <p:strVal val="visible"/>
                                      </p:to>
                                    </p:set>
                                    <p:animEffect transition="in" filter="strips(upRight)">
                                      <p:cBhvr>
                                        <p:cTn id="7" dur="500"/>
                                        <p:tgtEl>
                                          <p:spTgt spid="24609"/>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4608"/>
                                        </p:tgtEl>
                                        <p:attrNameLst>
                                          <p:attrName>style.visibility</p:attrName>
                                        </p:attrNameLst>
                                      </p:cBhvr>
                                      <p:to>
                                        <p:strVal val="visible"/>
                                      </p:to>
                                    </p:set>
                                    <p:animEffect transition="in" filter="blinds(horizontal)">
                                      <p:cBhvr>
                                        <p:cTn id="11" dur="500"/>
                                        <p:tgtEl>
                                          <p:spTgt spid="24608"/>
                                        </p:tgtEl>
                                      </p:cBhvr>
                                    </p:animEffect>
                                  </p:childTnLst>
                                </p:cTn>
                              </p:par>
                            </p:childTnLst>
                          </p:cTn>
                        </p:par>
                      </p:childTnLst>
                    </p:cTn>
                  </p:par>
                  <p:par>
                    <p:cTn id="12" fill="hold">
                      <p:stCondLst>
                        <p:cond delay="indefinite"/>
                      </p:stCondLst>
                      <p:childTnLst>
                        <p:par>
                          <p:cTn id="13" fill="hold">
                            <p:stCondLst>
                              <p:cond delay="0"/>
                            </p:stCondLst>
                            <p:childTnLst>
                              <p:par>
                                <p:cTn id="14" presetID="55" presetClass="entr" presetSubtype="0" fill="hold" grpId="0" nodeType="clickEffect">
                                  <p:stCondLst>
                                    <p:cond delay="0"/>
                                  </p:stCondLst>
                                  <p:childTnLst>
                                    <p:set>
                                      <p:cBhvr>
                                        <p:cTn id="15" dur="1" fill="hold">
                                          <p:stCondLst>
                                            <p:cond delay="0"/>
                                          </p:stCondLst>
                                        </p:cTn>
                                        <p:tgtEl>
                                          <p:spTgt spid="24610"/>
                                        </p:tgtEl>
                                        <p:attrNameLst>
                                          <p:attrName>style.visibility</p:attrName>
                                        </p:attrNameLst>
                                      </p:cBhvr>
                                      <p:to>
                                        <p:strVal val="visible"/>
                                      </p:to>
                                    </p:set>
                                    <p:anim calcmode="lin" valueType="num">
                                      <p:cBhvr>
                                        <p:cTn id="16" dur="1000" fill="hold"/>
                                        <p:tgtEl>
                                          <p:spTgt spid="24610"/>
                                        </p:tgtEl>
                                        <p:attrNameLst>
                                          <p:attrName>ppt_w</p:attrName>
                                        </p:attrNameLst>
                                      </p:cBhvr>
                                      <p:tavLst>
                                        <p:tav tm="0">
                                          <p:val>
                                            <p:strVal val="#ppt_w*0.70"/>
                                          </p:val>
                                        </p:tav>
                                        <p:tav tm="100000">
                                          <p:val>
                                            <p:strVal val="#ppt_w"/>
                                          </p:val>
                                        </p:tav>
                                      </p:tavLst>
                                    </p:anim>
                                    <p:anim calcmode="lin" valueType="num">
                                      <p:cBhvr>
                                        <p:cTn id="17" dur="1000" fill="hold"/>
                                        <p:tgtEl>
                                          <p:spTgt spid="24610"/>
                                        </p:tgtEl>
                                        <p:attrNameLst>
                                          <p:attrName>ppt_h</p:attrName>
                                        </p:attrNameLst>
                                      </p:cBhvr>
                                      <p:tavLst>
                                        <p:tav tm="0">
                                          <p:val>
                                            <p:strVal val="#ppt_h"/>
                                          </p:val>
                                        </p:tav>
                                        <p:tav tm="100000">
                                          <p:val>
                                            <p:strVal val="#ppt_h"/>
                                          </p:val>
                                        </p:tav>
                                      </p:tavLst>
                                    </p:anim>
                                    <p:animEffect transition="in" filter="fade">
                                      <p:cBhvr>
                                        <p:cTn id="18" dur="1000"/>
                                        <p:tgtEl>
                                          <p:spTgt spid="24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08" grpId="0"/>
      <p:bldP spid="246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05475" name="Rectangle 2"/>
          <p:cNvSpPr>
            <a:spLocks noGrp="1"/>
          </p:cNvSpPr>
          <p:nvPr>
            <p:ph type="title" idx="4294967295"/>
          </p:nvPr>
        </p:nvSpPr>
        <p:spPr/>
        <p:txBody>
          <a:bodyPr vert="horz" wrap="square" lIns="91440" tIns="45720" rIns="91440" bIns="45720" anchor="b" anchorCtr="0"/>
          <a:p>
            <a:pPr eaLnBrk="1" hangingPunct="1"/>
            <a:r>
              <a:rPr lang="zh-CN" altLang="en-US" dirty="0"/>
              <a:t>三、</a:t>
            </a:r>
            <a:r>
              <a:rPr lang="en-US" altLang="zh-CN" sz="4000" b="1" dirty="0"/>
              <a:t>I/O</a:t>
            </a:r>
            <a:r>
              <a:rPr lang="zh-CN" altLang="en-US" dirty="0"/>
              <a:t>端口的编址方式</a:t>
            </a:r>
            <a:endParaRPr lang="zh-CN" altLang="en-US" dirty="0"/>
          </a:p>
        </p:txBody>
      </p:sp>
      <p:sp>
        <p:nvSpPr>
          <p:cNvPr id="25604" name="Rectangle 3"/>
          <p:cNvSpPr>
            <a:spLocks noGrp="1"/>
          </p:cNvSpPr>
          <p:nvPr>
            <p:ph type="body" idx="4294967295"/>
          </p:nvPr>
        </p:nvSpPr>
        <p:spPr>
          <a:xfrm>
            <a:off x="971550" y="2122488"/>
            <a:ext cx="6264275" cy="4114800"/>
          </a:xfrm>
        </p:spPr>
        <p:txBody>
          <a:bodyPr vert="horz" wrap="square" lIns="91440" tIns="45720" rIns="91440" bIns="45720" anchor="t" anchorCtr="0"/>
          <a:p>
            <a:pPr eaLnBrk="1" hangingPunct="1"/>
            <a:r>
              <a:rPr lang="en-US" altLang="zh-CN" dirty="0"/>
              <a:t>8086/8088</a:t>
            </a:r>
            <a:r>
              <a:rPr lang="zh-CN" altLang="en-US" dirty="0"/>
              <a:t>的寻址能力：</a:t>
            </a:r>
            <a:endParaRPr lang="zh-CN" altLang="en-US" dirty="0"/>
          </a:p>
          <a:p>
            <a:pPr lvl="1" eaLnBrk="1" hangingPunct="1"/>
            <a:r>
              <a:rPr lang="zh-CN" altLang="en-US" dirty="0"/>
              <a:t>内存：</a:t>
            </a:r>
            <a:endParaRPr lang="zh-CN" altLang="en-US" dirty="0"/>
          </a:p>
          <a:p>
            <a:pPr lvl="2" eaLnBrk="1" hangingPunct="1"/>
            <a:r>
              <a:rPr lang="en-US" altLang="zh-CN" dirty="0"/>
              <a:t>1MB</a:t>
            </a:r>
            <a:endParaRPr lang="en-US" altLang="zh-CN" dirty="0"/>
          </a:p>
          <a:p>
            <a:pPr lvl="1" eaLnBrk="1" hangingPunct="1"/>
            <a:r>
              <a:rPr lang="zh-CN" altLang="en-US" dirty="0"/>
              <a:t>端口：</a:t>
            </a:r>
            <a:endParaRPr lang="zh-CN" altLang="en-US" dirty="0"/>
          </a:p>
          <a:p>
            <a:pPr lvl="2" eaLnBrk="1" hangingPunct="1"/>
            <a:r>
              <a:rPr lang="en-US" altLang="zh-CN" dirty="0"/>
              <a:t>64K</a:t>
            </a:r>
            <a:r>
              <a:rPr lang="zh-CN" altLang="en-US" dirty="0"/>
              <a:t>个</a:t>
            </a:r>
            <a:endParaRPr lang="en-US" altLang="zh-CN" dirty="0"/>
          </a:p>
          <a:p>
            <a:pPr eaLnBrk="1" hangingPunct="1">
              <a:spcBef>
                <a:spcPct val="50000"/>
              </a:spcBef>
            </a:pPr>
            <a:r>
              <a:rPr lang="zh-CN" altLang="en-US" dirty="0"/>
              <a:t>编址方式：</a:t>
            </a:r>
            <a:endParaRPr lang="zh-CN" altLang="en-US" dirty="0"/>
          </a:p>
          <a:p>
            <a:pPr lvl="1" eaLnBrk="1" hangingPunct="1"/>
            <a:r>
              <a:rPr lang="zh-CN" altLang="en-US" dirty="0"/>
              <a:t>与内存统一编址</a:t>
            </a:r>
            <a:endParaRPr lang="zh-CN" altLang="en-US" dirty="0"/>
          </a:p>
          <a:p>
            <a:pPr lvl="1" eaLnBrk="1" hangingPunct="1"/>
            <a:r>
              <a:rPr lang="zh-CN" altLang="en-US" dirty="0"/>
              <a:t>独立编址</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5604">
                                            <p:txEl>
                                              <p:charRg st="0" end="16"/>
                                            </p:txEl>
                                          </p:spTgt>
                                        </p:tgtEl>
                                        <p:attrNameLst>
                                          <p:attrName>style.visibility</p:attrName>
                                        </p:attrNameLst>
                                      </p:cBhvr>
                                      <p:to>
                                        <p:strVal val="visible"/>
                                      </p:to>
                                    </p:set>
                                    <p:animEffect transition="in" filter="strips(downRight)">
                                      <p:cBhvr>
                                        <p:cTn id="7" dur="500"/>
                                        <p:tgtEl>
                                          <p:spTgt spid="25604">
                                            <p:txEl>
                                              <p:charRg st="0" end="1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5604">
                                            <p:txEl>
                                              <p:charRg st="16" end="20"/>
                                            </p:txEl>
                                          </p:spTgt>
                                        </p:tgtEl>
                                        <p:attrNameLst>
                                          <p:attrName>style.visibility</p:attrName>
                                        </p:attrNameLst>
                                      </p:cBhvr>
                                      <p:to>
                                        <p:strVal val="visible"/>
                                      </p:to>
                                    </p:set>
                                    <p:animEffect transition="in" filter="strips(downRight)">
                                      <p:cBhvr>
                                        <p:cTn id="12" dur="500"/>
                                        <p:tgtEl>
                                          <p:spTgt spid="25604">
                                            <p:txEl>
                                              <p:charRg st="16" end="2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25604">
                                            <p:txEl>
                                              <p:charRg st="20" end="24"/>
                                            </p:txEl>
                                          </p:spTgt>
                                        </p:tgtEl>
                                        <p:attrNameLst>
                                          <p:attrName>style.visibility</p:attrName>
                                        </p:attrNameLst>
                                      </p:cBhvr>
                                      <p:to>
                                        <p:strVal val="visible"/>
                                      </p:to>
                                    </p:set>
                                    <p:animEffect transition="in" filter="strips(downRight)">
                                      <p:cBhvr>
                                        <p:cTn id="17" dur="500"/>
                                        <p:tgtEl>
                                          <p:spTgt spid="25604">
                                            <p:txEl>
                                              <p:charRg st="20" end="2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25604">
                                            <p:txEl>
                                              <p:charRg st="24" end="28"/>
                                            </p:txEl>
                                          </p:spTgt>
                                        </p:tgtEl>
                                        <p:attrNameLst>
                                          <p:attrName>style.visibility</p:attrName>
                                        </p:attrNameLst>
                                      </p:cBhvr>
                                      <p:to>
                                        <p:strVal val="visible"/>
                                      </p:to>
                                    </p:set>
                                    <p:animEffect transition="in" filter="strips(downRight)">
                                      <p:cBhvr>
                                        <p:cTn id="22" dur="500"/>
                                        <p:tgtEl>
                                          <p:spTgt spid="25604">
                                            <p:txEl>
                                              <p:charRg st="24" end="2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25604">
                                            <p:txEl>
                                              <p:charRg st="28" end="33"/>
                                            </p:txEl>
                                          </p:spTgt>
                                        </p:tgtEl>
                                        <p:attrNameLst>
                                          <p:attrName>style.visibility</p:attrName>
                                        </p:attrNameLst>
                                      </p:cBhvr>
                                      <p:to>
                                        <p:strVal val="visible"/>
                                      </p:to>
                                    </p:set>
                                    <p:animEffect transition="in" filter="strips(downRight)">
                                      <p:cBhvr>
                                        <p:cTn id="27" dur="500"/>
                                        <p:tgtEl>
                                          <p:spTgt spid="25604">
                                            <p:txEl>
                                              <p:charRg st="28" end="3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25604">
                                            <p:txEl>
                                              <p:charRg st="33" end="39"/>
                                            </p:txEl>
                                          </p:spTgt>
                                        </p:tgtEl>
                                        <p:attrNameLst>
                                          <p:attrName>style.visibility</p:attrName>
                                        </p:attrNameLst>
                                      </p:cBhvr>
                                      <p:to>
                                        <p:strVal val="visible"/>
                                      </p:to>
                                    </p:set>
                                    <p:animEffect transition="in" filter="strips(downRight)">
                                      <p:cBhvr>
                                        <p:cTn id="32" dur="500"/>
                                        <p:tgtEl>
                                          <p:spTgt spid="25604">
                                            <p:txEl>
                                              <p:charRg st="33" end="3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25604">
                                            <p:txEl>
                                              <p:charRg st="39" end="47"/>
                                            </p:txEl>
                                          </p:spTgt>
                                        </p:tgtEl>
                                        <p:attrNameLst>
                                          <p:attrName>style.visibility</p:attrName>
                                        </p:attrNameLst>
                                      </p:cBhvr>
                                      <p:to>
                                        <p:strVal val="visible"/>
                                      </p:to>
                                    </p:set>
                                    <p:animEffect transition="in" filter="strips(downRight)">
                                      <p:cBhvr>
                                        <p:cTn id="37" dur="500"/>
                                        <p:tgtEl>
                                          <p:spTgt spid="25604">
                                            <p:txEl>
                                              <p:charRg st="39" end="47"/>
                                            </p:txEl>
                                          </p:spTgt>
                                        </p:tgtEl>
                                      </p:cBhvr>
                                    </p:animEffect>
                                  </p:childTnLst>
                                </p:cTn>
                              </p:par>
                            </p:childTnLst>
                          </p:cTn>
                        </p:par>
                        <p:par>
                          <p:cTn id="38" fill="hold">
                            <p:stCondLst>
                              <p:cond delay="500"/>
                            </p:stCondLst>
                            <p:childTnLst>
                              <p:par>
                                <p:cTn id="39" presetID="18" presetClass="entr" presetSubtype="6" fill="hold" nodeType="afterEffect">
                                  <p:stCondLst>
                                    <p:cond delay="0"/>
                                  </p:stCondLst>
                                  <p:childTnLst>
                                    <p:set>
                                      <p:cBhvr>
                                        <p:cTn id="40" dur="1" fill="hold">
                                          <p:stCondLst>
                                            <p:cond delay="0"/>
                                          </p:stCondLst>
                                        </p:cTn>
                                        <p:tgtEl>
                                          <p:spTgt spid="25604">
                                            <p:txEl>
                                              <p:charRg st="47" end="52"/>
                                            </p:txEl>
                                          </p:spTgt>
                                        </p:tgtEl>
                                        <p:attrNameLst>
                                          <p:attrName>style.visibility</p:attrName>
                                        </p:attrNameLst>
                                      </p:cBhvr>
                                      <p:to>
                                        <p:strVal val="visible"/>
                                      </p:to>
                                    </p:set>
                                    <p:animEffect transition="in" filter="strips(downRight)">
                                      <p:cBhvr>
                                        <p:cTn id="41" dur="500"/>
                                        <p:tgtEl>
                                          <p:spTgt spid="25604">
                                            <p:txEl>
                                              <p:charRg st="47" end="5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06499" name="Rectangle 2"/>
          <p:cNvSpPr>
            <a:spLocks noGrp="1"/>
          </p:cNvSpPr>
          <p:nvPr>
            <p:ph type="title" idx="4294967295"/>
          </p:nvPr>
        </p:nvSpPr>
        <p:spPr/>
        <p:txBody>
          <a:bodyPr vert="horz" wrap="square" lIns="91440" tIns="45720" rIns="91440" bIns="45720" anchor="b" anchorCtr="0"/>
          <a:p>
            <a:pPr eaLnBrk="1" hangingPunct="1"/>
            <a:r>
              <a:rPr lang="zh-CN" altLang="en-US" dirty="0"/>
              <a:t>端口与内存的统一编址</a:t>
            </a:r>
            <a:endParaRPr lang="zh-CN" altLang="en-US" dirty="0"/>
          </a:p>
        </p:txBody>
      </p:sp>
      <p:sp>
        <p:nvSpPr>
          <p:cNvPr id="26628" name="Rectangle 3"/>
          <p:cNvSpPr>
            <a:spLocks noGrp="1"/>
          </p:cNvSpPr>
          <p:nvPr>
            <p:ph type="body" idx="4294967295"/>
          </p:nvPr>
        </p:nvSpPr>
        <p:spPr>
          <a:xfrm>
            <a:off x="755650" y="2205038"/>
            <a:ext cx="3600450" cy="3962400"/>
          </a:xfrm>
        </p:spPr>
        <p:txBody>
          <a:bodyPr vert="horz" wrap="square" lIns="91440" tIns="45720" rIns="91440" bIns="45720" anchor="t" anchorCtr="0"/>
          <a:p>
            <a:pPr eaLnBrk="1" hangingPunct="1">
              <a:spcAft>
                <a:spcPct val="30000"/>
              </a:spcAft>
              <a:buNone/>
            </a:pPr>
            <a:r>
              <a:rPr lang="zh-CN" altLang="en-US" u="sng" dirty="0">
                <a:solidFill>
                  <a:schemeClr val="tx1"/>
                </a:solidFill>
              </a:rPr>
              <a:t>特点：</a:t>
            </a:r>
            <a:endParaRPr lang="zh-CN" altLang="en-US" u="sng" dirty="0">
              <a:solidFill>
                <a:schemeClr val="tx1"/>
              </a:solidFill>
            </a:endParaRPr>
          </a:p>
          <a:p>
            <a:pPr eaLnBrk="1" hangingPunct="1">
              <a:lnSpc>
                <a:spcPct val="120000"/>
              </a:lnSpc>
            </a:pPr>
            <a:r>
              <a:rPr lang="zh-CN" altLang="en-US" sz="2400" dirty="0"/>
              <a:t>指令及控制信号统一；</a:t>
            </a:r>
            <a:endParaRPr lang="en-US" altLang="zh-CN" sz="2400" dirty="0"/>
          </a:p>
          <a:p>
            <a:pPr eaLnBrk="1" hangingPunct="1">
              <a:lnSpc>
                <a:spcPct val="120000"/>
              </a:lnSpc>
            </a:pPr>
            <a:r>
              <a:rPr lang="zh-CN" altLang="en-US" sz="2400" dirty="0"/>
              <a:t>内存地址资源减少</a:t>
            </a:r>
            <a:endParaRPr lang="zh-CN" altLang="en-US" sz="2400" dirty="0"/>
          </a:p>
        </p:txBody>
      </p:sp>
      <p:sp>
        <p:nvSpPr>
          <p:cNvPr id="26629" name="Rectangle 5"/>
          <p:cNvSpPr/>
          <p:nvPr/>
        </p:nvSpPr>
        <p:spPr>
          <a:xfrm>
            <a:off x="5683250" y="2571750"/>
            <a:ext cx="1600200" cy="3657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26630" name="Line 6"/>
          <p:cNvSpPr/>
          <p:nvPr/>
        </p:nvSpPr>
        <p:spPr>
          <a:xfrm>
            <a:off x="5683250" y="5086350"/>
            <a:ext cx="1600200" cy="0"/>
          </a:xfrm>
          <a:prstGeom prst="line">
            <a:avLst/>
          </a:prstGeom>
          <a:ln w="25400" cap="sq" cmpd="sng">
            <a:solidFill>
              <a:schemeClr val="tx1"/>
            </a:solidFill>
            <a:prstDash val="solid"/>
            <a:bevel/>
            <a:headEnd type="none" w="med" len="med"/>
            <a:tailEnd type="none" w="med" len="med"/>
          </a:ln>
        </p:spPr>
      </p:sp>
      <p:sp>
        <p:nvSpPr>
          <p:cNvPr id="26631" name="AutoShape 7"/>
          <p:cNvSpPr/>
          <p:nvPr/>
        </p:nvSpPr>
        <p:spPr>
          <a:xfrm>
            <a:off x="7435850" y="2571750"/>
            <a:ext cx="228600" cy="2438400"/>
          </a:xfrm>
          <a:prstGeom prst="rightBrace">
            <a:avLst>
              <a:gd name="adj1" fmla="val 88296"/>
              <a:gd name="adj2" fmla="val 50000"/>
            </a:avLst>
          </a:prstGeom>
          <a:noFill/>
          <a:ln w="25400" cap="sq"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26632" name="AutoShape 8"/>
          <p:cNvSpPr/>
          <p:nvPr/>
        </p:nvSpPr>
        <p:spPr>
          <a:xfrm>
            <a:off x="7435850" y="5162550"/>
            <a:ext cx="152400" cy="990600"/>
          </a:xfrm>
          <a:prstGeom prst="rightBrace">
            <a:avLst>
              <a:gd name="adj1" fmla="val 53805"/>
              <a:gd name="adj2" fmla="val 50000"/>
            </a:avLst>
          </a:prstGeom>
          <a:noFill/>
          <a:ln w="25400" cap="sq"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26633" name="Text Box 9"/>
          <p:cNvSpPr txBox="1"/>
          <p:nvPr/>
        </p:nvSpPr>
        <p:spPr>
          <a:xfrm>
            <a:off x="7740650" y="3333750"/>
            <a:ext cx="1079500" cy="11303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8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内存</a:t>
            </a:r>
            <a:endParaRPr lang="zh-CN" altLang="en-US" sz="2000" dirty="0">
              <a:solidFill>
                <a:srgbClr val="000000"/>
              </a:solidFill>
              <a:latin typeface="Times New Roman" panose="02020603050405020304" pitchFamily="18" charset="0"/>
              <a:ea typeface="楷体_GB2312"/>
            </a:endParaRPr>
          </a:p>
          <a:p>
            <a:pPr marL="0" lvl="0" indent="0">
              <a:lnSpc>
                <a:spcPct val="8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地址</a:t>
            </a:r>
            <a:endParaRPr lang="zh-CN" altLang="en-US" sz="2000" dirty="0">
              <a:solidFill>
                <a:srgbClr val="000000"/>
              </a:solidFill>
              <a:latin typeface="Times New Roman" panose="02020603050405020304" pitchFamily="18" charset="0"/>
              <a:ea typeface="楷体_GB2312"/>
            </a:endParaRPr>
          </a:p>
          <a:p>
            <a:pPr marL="0" lvl="0" indent="0">
              <a:lnSpc>
                <a:spcPct val="8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960</a:t>
            </a:r>
            <a:r>
              <a:rPr lang="en-US" altLang="zh-CN" sz="2000" dirty="0">
                <a:solidFill>
                  <a:srgbClr val="000000"/>
                </a:solidFill>
                <a:latin typeface="Times New Roman" panose="02020603050405020304" pitchFamily="18" charset="0"/>
                <a:ea typeface="楷体_GB2312"/>
              </a:rPr>
              <a:t>KB</a:t>
            </a:r>
            <a:endParaRPr lang="en-US" altLang="zh-CN" sz="2000" dirty="0">
              <a:solidFill>
                <a:srgbClr val="000000"/>
              </a:solidFill>
              <a:latin typeface="Times New Roman" panose="02020603050405020304" pitchFamily="18" charset="0"/>
              <a:ea typeface="楷体_GB2312"/>
            </a:endParaRPr>
          </a:p>
        </p:txBody>
      </p:sp>
      <p:sp>
        <p:nvSpPr>
          <p:cNvPr id="26634" name="Text Box 10"/>
          <p:cNvSpPr txBox="1"/>
          <p:nvPr/>
        </p:nvSpPr>
        <p:spPr>
          <a:xfrm>
            <a:off x="7664450" y="5241925"/>
            <a:ext cx="1295400" cy="73342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8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I/O</a:t>
            </a:r>
            <a:r>
              <a:rPr lang="zh-CN" altLang="en-US" sz="2000" dirty="0">
                <a:solidFill>
                  <a:srgbClr val="000000"/>
                </a:solidFill>
                <a:latin typeface="Times New Roman" panose="02020603050405020304" pitchFamily="18" charset="0"/>
                <a:ea typeface="楷体_GB2312"/>
              </a:rPr>
              <a:t>地址</a:t>
            </a:r>
            <a:endParaRPr lang="zh-CN" altLang="en-US" sz="2000" dirty="0">
              <a:solidFill>
                <a:srgbClr val="000000"/>
              </a:solidFill>
              <a:latin typeface="Times New Roman" panose="02020603050405020304" pitchFamily="18" charset="0"/>
              <a:ea typeface="楷体_GB2312"/>
            </a:endParaRPr>
          </a:p>
          <a:p>
            <a:pPr marL="0" lvl="0" indent="0">
              <a:lnSpc>
                <a:spcPct val="8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64</a:t>
            </a:r>
            <a:r>
              <a:rPr lang="en-US" altLang="zh-CN" sz="2000" dirty="0">
                <a:solidFill>
                  <a:srgbClr val="000000"/>
                </a:solidFill>
                <a:latin typeface="Times New Roman" panose="02020603050405020304" pitchFamily="18" charset="0"/>
                <a:ea typeface="楷体_GB2312"/>
              </a:rPr>
              <a:t>KB</a:t>
            </a:r>
            <a:endParaRPr lang="en-US" altLang="zh-CN" sz="2000" dirty="0">
              <a:solidFill>
                <a:srgbClr val="000000"/>
              </a:solidFill>
              <a:latin typeface="Times New Roman" panose="02020603050405020304" pitchFamily="18" charset="0"/>
              <a:ea typeface="楷体_GB2312"/>
            </a:endParaRPr>
          </a:p>
        </p:txBody>
      </p:sp>
      <p:sp>
        <p:nvSpPr>
          <p:cNvPr id="26635" name="Text Box 11"/>
          <p:cNvSpPr txBox="1"/>
          <p:nvPr/>
        </p:nvSpPr>
        <p:spPr>
          <a:xfrm>
            <a:off x="4562475" y="2471738"/>
            <a:ext cx="1228725" cy="3365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8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00000</a:t>
            </a:r>
            <a:r>
              <a:rPr lang="en-US" altLang="zh-CN" sz="2000" dirty="0">
                <a:solidFill>
                  <a:srgbClr val="000000"/>
                </a:solidFill>
                <a:latin typeface="Times New Roman" panose="02020603050405020304" pitchFamily="18" charset="0"/>
                <a:ea typeface="楷体_GB2312"/>
              </a:rPr>
              <a:t>H</a:t>
            </a:r>
            <a:endParaRPr lang="en-US" altLang="zh-CN" sz="2000" dirty="0">
              <a:solidFill>
                <a:srgbClr val="000000"/>
              </a:solidFill>
              <a:latin typeface="Times New Roman" panose="02020603050405020304" pitchFamily="18" charset="0"/>
              <a:ea typeface="楷体_GB2312"/>
            </a:endParaRPr>
          </a:p>
        </p:txBody>
      </p:sp>
      <p:sp>
        <p:nvSpPr>
          <p:cNvPr id="26636" name="Text Box 12"/>
          <p:cNvSpPr txBox="1"/>
          <p:nvPr/>
        </p:nvSpPr>
        <p:spPr>
          <a:xfrm>
            <a:off x="4562475" y="4886325"/>
            <a:ext cx="1304925" cy="3365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8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F0000H</a:t>
            </a:r>
            <a:endParaRPr lang="en-US" altLang="zh-CN" sz="2000" dirty="0">
              <a:solidFill>
                <a:srgbClr val="000000"/>
              </a:solidFill>
              <a:latin typeface="Times New Roman" panose="02020603050405020304" pitchFamily="18" charset="0"/>
              <a:ea typeface="楷体_GB2312"/>
            </a:endParaRPr>
          </a:p>
        </p:txBody>
      </p:sp>
      <p:sp>
        <p:nvSpPr>
          <p:cNvPr id="26637" name="Text Box 13"/>
          <p:cNvSpPr txBox="1"/>
          <p:nvPr/>
        </p:nvSpPr>
        <p:spPr>
          <a:xfrm>
            <a:off x="4483100" y="5924550"/>
            <a:ext cx="1457325" cy="3365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8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FFFFFH</a:t>
            </a:r>
            <a:endParaRPr lang="en-US" altLang="zh-CN" sz="2000" dirty="0">
              <a:solidFill>
                <a:srgbClr val="000000"/>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9"/>
                                        </p:tgtEl>
                                        <p:attrNameLst>
                                          <p:attrName>style.visibility</p:attrName>
                                        </p:attrNameLst>
                                      </p:cBhvr>
                                      <p:to>
                                        <p:strVal val="visible"/>
                                      </p:to>
                                    </p:set>
                                    <p:anim calcmode="lin" valueType="num">
                                      <p:cBhvr>
                                        <p:cTn id="7" dur="500" fill="hold"/>
                                        <p:tgtEl>
                                          <p:spTgt spid="26629"/>
                                        </p:tgtEl>
                                        <p:attrNameLst>
                                          <p:attrName>ppt_x</p:attrName>
                                        </p:attrNameLst>
                                      </p:cBhvr>
                                      <p:tavLst>
                                        <p:tav tm="0">
                                          <p:val>
                                            <p:strVal val="#ppt_x"/>
                                          </p:val>
                                        </p:tav>
                                        <p:tav tm="100000">
                                          <p:val>
                                            <p:strVal val="#ppt_x"/>
                                          </p:val>
                                        </p:tav>
                                      </p:tavLst>
                                    </p:anim>
                                    <p:anim calcmode="lin" valueType="num">
                                      <p:cBhvr>
                                        <p:cTn id="8" dur="500" fill="hold"/>
                                        <p:tgtEl>
                                          <p:spTgt spid="266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26635"/>
                                        </p:tgtEl>
                                        <p:attrNameLst>
                                          <p:attrName>style.visibility</p:attrName>
                                        </p:attrNameLst>
                                      </p:cBhvr>
                                      <p:to>
                                        <p:strVal val="visible"/>
                                      </p:to>
                                    </p:set>
                                    <p:animEffect transition="in" filter="checkerboard(across)">
                                      <p:cBhvr>
                                        <p:cTn id="13" dur="500"/>
                                        <p:tgtEl>
                                          <p:spTgt spid="26635"/>
                                        </p:tgtEl>
                                      </p:cBhvr>
                                    </p:animEffect>
                                  </p:childTnLst>
                                </p:cTn>
                              </p:par>
                            </p:childTnLst>
                          </p:cTn>
                        </p:par>
                        <p:par>
                          <p:cTn id="14" fill="hold">
                            <p:stCondLst>
                              <p:cond delay="500"/>
                            </p:stCondLst>
                            <p:childTnLst>
                              <p:par>
                                <p:cTn id="15" presetID="5" presetClass="entr" presetSubtype="10" fill="hold" grpId="0" nodeType="afterEffect">
                                  <p:stCondLst>
                                    <p:cond delay="0"/>
                                  </p:stCondLst>
                                  <p:childTnLst>
                                    <p:set>
                                      <p:cBhvr>
                                        <p:cTn id="16" dur="1" fill="hold">
                                          <p:stCondLst>
                                            <p:cond delay="0"/>
                                          </p:stCondLst>
                                        </p:cTn>
                                        <p:tgtEl>
                                          <p:spTgt spid="26637"/>
                                        </p:tgtEl>
                                        <p:attrNameLst>
                                          <p:attrName>style.visibility</p:attrName>
                                        </p:attrNameLst>
                                      </p:cBhvr>
                                      <p:to>
                                        <p:strVal val="visible"/>
                                      </p:to>
                                    </p:set>
                                    <p:animEffect transition="in" filter="checkerboard(across)">
                                      <p:cBhvr>
                                        <p:cTn id="17" dur="500"/>
                                        <p:tgtEl>
                                          <p:spTgt spid="2663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6636"/>
                                        </p:tgtEl>
                                        <p:attrNameLst>
                                          <p:attrName>style.visibility</p:attrName>
                                        </p:attrNameLst>
                                      </p:cBhvr>
                                      <p:to>
                                        <p:strVal val="visible"/>
                                      </p:to>
                                    </p:set>
                                    <p:animEffect transition="in" filter="checkerboard(across)">
                                      <p:cBhvr>
                                        <p:cTn id="22" dur="500"/>
                                        <p:tgtEl>
                                          <p:spTgt spid="26636"/>
                                        </p:tgtEl>
                                      </p:cBhvr>
                                    </p:animEffect>
                                  </p:childTnLst>
                                </p:cTn>
                              </p:par>
                            </p:childTnLst>
                          </p:cTn>
                        </p:par>
                        <p:par>
                          <p:cTn id="23" fill="hold">
                            <p:stCondLst>
                              <p:cond delay="500"/>
                            </p:stCondLst>
                            <p:childTnLst>
                              <p:par>
                                <p:cTn id="24" presetID="18" presetClass="entr" presetSubtype="6" fill="hold" nodeType="afterEffect">
                                  <p:stCondLst>
                                    <p:cond delay="0"/>
                                  </p:stCondLst>
                                  <p:childTnLst>
                                    <p:set>
                                      <p:cBhvr>
                                        <p:cTn id="25" dur="1" fill="hold">
                                          <p:stCondLst>
                                            <p:cond delay="0"/>
                                          </p:stCondLst>
                                        </p:cTn>
                                        <p:tgtEl>
                                          <p:spTgt spid="26630"/>
                                        </p:tgtEl>
                                        <p:attrNameLst>
                                          <p:attrName>style.visibility</p:attrName>
                                        </p:attrNameLst>
                                      </p:cBhvr>
                                      <p:to>
                                        <p:strVal val="visible"/>
                                      </p:to>
                                    </p:set>
                                    <p:animEffect transition="in" filter="strips(downRight)">
                                      <p:cBhvr>
                                        <p:cTn id="26" dur="500"/>
                                        <p:tgtEl>
                                          <p:spTgt spid="26630"/>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12" fill="hold" grpId="0" nodeType="clickEffect">
                                  <p:stCondLst>
                                    <p:cond delay="0"/>
                                  </p:stCondLst>
                                  <p:childTnLst>
                                    <p:set>
                                      <p:cBhvr>
                                        <p:cTn id="30" dur="1" fill="hold">
                                          <p:stCondLst>
                                            <p:cond delay="0"/>
                                          </p:stCondLst>
                                        </p:cTn>
                                        <p:tgtEl>
                                          <p:spTgt spid="26631"/>
                                        </p:tgtEl>
                                        <p:attrNameLst>
                                          <p:attrName>style.visibility</p:attrName>
                                        </p:attrNameLst>
                                      </p:cBhvr>
                                      <p:to>
                                        <p:strVal val="visible"/>
                                      </p:to>
                                    </p:set>
                                    <p:animEffect transition="in" filter="strips(downLeft)">
                                      <p:cBhvr>
                                        <p:cTn id="31" dur="1000"/>
                                        <p:tgtEl>
                                          <p:spTgt spid="26631"/>
                                        </p:tgtEl>
                                      </p:cBhvr>
                                    </p:animEffect>
                                  </p:childTnLst>
                                </p:cTn>
                              </p:par>
                            </p:childTnLst>
                          </p:cTn>
                        </p:par>
                        <p:par>
                          <p:cTn id="32" fill="hold">
                            <p:stCondLst>
                              <p:cond delay="1000"/>
                            </p:stCondLst>
                            <p:childTnLst>
                              <p:par>
                                <p:cTn id="33" presetID="5" presetClass="entr" presetSubtype="10" fill="hold" grpId="0" nodeType="afterEffect">
                                  <p:stCondLst>
                                    <p:cond delay="0"/>
                                  </p:stCondLst>
                                  <p:childTnLst>
                                    <p:set>
                                      <p:cBhvr>
                                        <p:cTn id="34" dur="1" fill="hold">
                                          <p:stCondLst>
                                            <p:cond delay="0"/>
                                          </p:stCondLst>
                                        </p:cTn>
                                        <p:tgtEl>
                                          <p:spTgt spid="26633"/>
                                        </p:tgtEl>
                                        <p:attrNameLst>
                                          <p:attrName>style.visibility</p:attrName>
                                        </p:attrNameLst>
                                      </p:cBhvr>
                                      <p:to>
                                        <p:strVal val="visible"/>
                                      </p:to>
                                    </p:set>
                                    <p:animEffect transition="in" filter="checkerboard(across)">
                                      <p:cBhvr>
                                        <p:cTn id="35" dur="500"/>
                                        <p:tgtEl>
                                          <p:spTgt spid="26633"/>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12" fill="hold" grpId="0" nodeType="clickEffect">
                                  <p:stCondLst>
                                    <p:cond delay="0"/>
                                  </p:stCondLst>
                                  <p:childTnLst>
                                    <p:set>
                                      <p:cBhvr>
                                        <p:cTn id="39" dur="1" fill="hold">
                                          <p:stCondLst>
                                            <p:cond delay="0"/>
                                          </p:stCondLst>
                                        </p:cTn>
                                        <p:tgtEl>
                                          <p:spTgt spid="26632"/>
                                        </p:tgtEl>
                                        <p:attrNameLst>
                                          <p:attrName>style.visibility</p:attrName>
                                        </p:attrNameLst>
                                      </p:cBhvr>
                                      <p:to>
                                        <p:strVal val="visible"/>
                                      </p:to>
                                    </p:set>
                                    <p:animEffect transition="in" filter="strips(downLeft)">
                                      <p:cBhvr>
                                        <p:cTn id="40" dur="1000"/>
                                        <p:tgtEl>
                                          <p:spTgt spid="26632"/>
                                        </p:tgtEl>
                                      </p:cBhvr>
                                    </p:animEffect>
                                  </p:childTnLst>
                                </p:cTn>
                              </p:par>
                            </p:childTnLst>
                          </p:cTn>
                        </p:par>
                        <p:par>
                          <p:cTn id="41" fill="hold">
                            <p:stCondLst>
                              <p:cond delay="1000"/>
                            </p:stCondLst>
                            <p:childTnLst>
                              <p:par>
                                <p:cTn id="42" presetID="5" presetClass="entr" presetSubtype="10" fill="hold" grpId="0" nodeType="afterEffect">
                                  <p:stCondLst>
                                    <p:cond delay="0"/>
                                  </p:stCondLst>
                                  <p:childTnLst>
                                    <p:set>
                                      <p:cBhvr>
                                        <p:cTn id="43" dur="1" fill="hold">
                                          <p:stCondLst>
                                            <p:cond delay="0"/>
                                          </p:stCondLst>
                                        </p:cTn>
                                        <p:tgtEl>
                                          <p:spTgt spid="26634"/>
                                        </p:tgtEl>
                                        <p:attrNameLst>
                                          <p:attrName>style.visibility</p:attrName>
                                        </p:attrNameLst>
                                      </p:cBhvr>
                                      <p:to>
                                        <p:strVal val="visible"/>
                                      </p:to>
                                    </p:set>
                                    <p:animEffect transition="in" filter="checkerboard(across)">
                                      <p:cBhvr>
                                        <p:cTn id="44" dur="500"/>
                                        <p:tgtEl>
                                          <p:spTgt spid="26634"/>
                                        </p:tgtEl>
                                      </p:cBhvr>
                                    </p:animEffect>
                                  </p:childTnLst>
                                </p:cTn>
                              </p:par>
                            </p:childTnLst>
                          </p:cTn>
                        </p:par>
                      </p:childTnLst>
                    </p:cTn>
                  </p:par>
                  <p:par>
                    <p:cTn id="45" fill="hold">
                      <p:stCondLst>
                        <p:cond delay="indefinite"/>
                      </p:stCondLst>
                      <p:childTnLst>
                        <p:par>
                          <p:cTn id="46" fill="hold">
                            <p:stCondLst>
                              <p:cond delay="0"/>
                            </p:stCondLst>
                            <p:childTnLst>
                              <p:par>
                                <p:cTn id="47" presetID="18" presetClass="entr" presetSubtype="6" fill="hold" nodeType="clickEffect">
                                  <p:stCondLst>
                                    <p:cond delay="0"/>
                                  </p:stCondLst>
                                  <p:childTnLst>
                                    <p:set>
                                      <p:cBhvr>
                                        <p:cTn id="48" dur="1" fill="hold">
                                          <p:stCondLst>
                                            <p:cond delay="0"/>
                                          </p:stCondLst>
                                        </p:cTn>
                                        <p:tgtEl>
                                          <p:spTgt spid="26628">
                                            <p:txEl>
                                              <p:charRg st="0" end="4"/>
                                            </p:txEl>
                                          </p:spTgt>
                                        </p:tgtEl>
                                        <p:attrNameLst>
                                          <p:attrName>style.visibility</p:attrName>
                                        </p:attrNameLst>
                                      </p:cBhvr>
                                      <p:to>
                                        <p:strVal val="visible"/>
                                      </p:to>
                                    </p:set>
                                    <p:animEffect transition="in" filter="strips(downRight)">
                                      <p:cBhvr>
                                        <p:cTn id="49" dur="500"/>
                                        <p:tgtEl>
                                          <p:spTgt spid="26628">
                                            <p:txEl>
                                              <p:charRg st="0" end="4"/>
                                            </p:txEl>
                                          </p:spTgt>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26628">
                                            <p:txEl>
                                              <p:charRg st="4" end="15"/>
                                            </p:txEl>
                                          </p:spTgt>
                                        </p:tgtEl>
                                        <p:attrNameLst>
                                          <p:attrName>style.visibility</p:attrName>
                                        </p:attrNameLst>
                                      </p:cBhvr>
                                      <p:to>
                                        <p:strVal val="visible"/>
                                      </p:to>
                                    </p:set>
                                    <p:animEffect transition="in" filter="wipe(left)">
                                      <p:cBhvr>
                                        <p:cTn id="53" dur="500"/>
                                        <p:tgtEl>
                                          <p:spTgt spid="26628">
                                            <p:txEl>
                                              <p:charRg st="4" end="15"/>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26628">
                                            <p:txEl>
                                              <p:charRg st="15" end="24"/>
                                            </p:txEl>
                                          </p:spTgt>
                                        </p:tgtEl>
                                        <p:attrNameLst>
                                          <p:attrName>style.visibility</p:attrName>
                                        </p:attrNameLst>
                                      </p:cBhvr>
                                      <p:to>
                                        <p:strVal val="visible"/>
                                      </p:to>
                                    </p:set>
                                    <p:animEffect transition="in" filter="wipe(left)">
                                      <p:cBhvr>
                                        <p:cTn id="58" dur="500"/>
                                        <p:tgtEl>
                                          <p:spTgt spid="26628">
                                            <p:txEl>
                                              <p:charRg st="15" end="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animBg="1"/>
      <p:bldP spid="26631" grpId="0" animBg="1"/>
      <p:bldP spid="26632" grpId="0" animBg="1"/>
      <p:bldP spid="26633" grpId="0"/>
      <p:bldP spid="26634" grpId="0"/>
      <p:bldP spid="26635" grpId="0"/>
      <p:bldP spid="26636" grpId="0"/>
      <p:bldP spid="2663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07523" name="Rectangle 2"/>
          <p:cNvSpPr>
            <a:spLocks noGrp="1"/>
          </p:cNvSpPr>
          <p:nvPr>
            <p:ph type="title" idx="4294967295"/>
          </p:nvPr>
        </p:nvSpPr>
        <p:spPr/>
        <p:txBody>
          <a:bodyPr vert="horz" wrap="square" lIns="91440" tIns="45720" rIns="91440" bIns="45720" anchor="b" anchorCtr="0"/>
          <a:p>
            <a:pPr eaLnBrk="1" hangingPunct="1"/>
            <a:r>
              <a:rPr lang="zh-CN" altLang="en-US" dirty="0"/>
              <a:t>端口的独立编址</a:t>
            </a:r>
            <a:endParaRPr lang="zh-CN" altLang="en-US" dirty="0"/>
          </a:p>
        </p:txBody>
      </p:sp>
      <p:sp>
        <p:nvSpPr>
          <p:cNvPr id="27652" name="Rectangle 3"/>
          <p:cNvSpPr>
            <a:spLocks noGrp="1"/>
          </p:cNvSpPr>
          <p:nvPr>
            <p:ph type="body" idx="4294967295"/>
          </p:nvPr>
        </p:nvSpPr>
        <p:spPr>
          <a:xfrm>
            <a:off x="468313" y="2093913"/>
            <a:ext cx="3838575" cy="2919412"/>
          </a:xfrm>
        </p:spPr>
        <p:txBody>
          <a:bodyPr vert="horz" wrap="square" lIns="91440" tIns="45720" rIns="91440" bIns="45720" anchor="t" anchorCtr="0"/>
          <a:p>
            <a:pPr eaLnBrk="1" hangingPunct="1">
              <a:spcAft>
                <a:spcPct val="30000"/>
              </a:spcAft>
              <a:buNone/>
            </a:pPr>
            <a:r>
              <a:rPr lang="zh-CN" altLang="en-US" u="sng" dirty="0">
                <a:solidFill>
                  <a:schemeClr val="tx1"/>
                </a:solidFill>
              </a:rPr>
              <a:t>特点：</a:t>
            </a:r>
            <a:endParaRPr lang="zh-CN" altLang="en-US" u="sng" dirty="0">
              <a:solidFill>
                <a:schemeClr val="tx1"/>
              </a:solidFill>
            </a:endParaRPr>
          </a:p>
          <a:p>
            <a:pPr eaLnBrk="1" hangingPunct="1">
              <a:lnSpc>
                <a:spcPct val="120000"/>
              </a:lnSpc>
            </a:pPr>
            <a:r>
              <a:rPr lang="zh-CN" altLang="en-US" sz="2400" dirty="0"/>
              <a:t>内存地址资源充分利用</a:t>
            </a:r>
            <a:endParaRPr lang="zh-CN" altLang="en-US" sz="2400" dirty="0"/>
          </a:p>
          <a:p>
            <a:pPr eaLnBrk="1" hangingPunct="1">
              <a:lnSpc>
                <a:spcPct val="120000"/>
              </a:lnSpc>
            </a:pPr>
            <a:r>
              <a:rPr lang="zh-CN" altLang="en-US" sz="2400" dirty="0"/>
              <a:t>能够应用于端口的指令</a:t>
            </a:r>
            <a:endParaRPr lang="zh-CN" altLang="en-US" sz="2400" dirty="0"/>
          </a:p>
          <a:p>
            <a:pPr eaLnBrk="1" hangingPunct="1">
              <a:lnSpc>
                <a:spcPct val="120000"/>
              </a:lnSpc>
              <a:buNone/>
            </a:pPr>
            <a:r>
              <a:rPr lang="zh-CN" altLang="en-US" sz="2400" dirty="0"/>
              <a:t>    较少</a:t>
            </a:r>
            <a:endParaRPr lang="zh-CN" altLang="en-US" sz="2400" dirty="0"/>
          </a:p>
        </p:txBody>
      </p:sp>
      <p:sp>
        <p:nvSpPr>
          <p:cNvPr id="27653" name="Rectangle 5"/>
          <p:cNvSpPr/>
          <p:nvPr/>
        </p:nvSpPr>
        <p:spPr>
          <a:xfrm>
            <a:off x="5921375" y="2279650"/>
            <a:ext cx="1600200" cy="3751263"/>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27654" name="Line 6"/>
          <p:cNvSpPr/>
          <p:nvPr/>
        </p:nvSpPr>
        <p:spPr>
          <a:xfrm>
            <a:off x="5921375" y="4794250"/>
            <a:ext cx="1600200" cy="0"/>
          </a:xfrm>
          <a:prstGeom prst="line">
            <a:avLst/>
          </a:prstGeom>
          <a:ln w="25400" cap="sq" cmpd="sng">
            <a:solidFill>
              <a:schemeClr val="tx1"/>
            </a:solidFill>
            <a:prstDash val="solid"/>
            <a:bevel/>
            <a:headEnd type="none" w="med" len="med"/>
            <a:tailEnd type="none" w="med" len="med"/>
          </a:ln>
        </p:spPr>
      </p:sp>
      <p:sp>
        <p:nvSpPr>
          <p:cNvPr id="27655" name="AutoShape 7"/>
          <p:cNvSpPr/>
          <p:nvPr/>
        </p:nvSpPr>
        <p:spPr>
          <a:xfrm>
            <a:off x="7673975" y="2279650"/>
            <a:ext cx="228600" cy="2438400"/>
          </a:xfrm>
          <a:prstGeom prst="rightBrace">
            <a:avLst>
              <a:gd name="adj1" fmla="val 88296"/>
              <a:gd name="adj2" fmla="val 50000"/>
            </a:avLst>
          </a:prstGeom>
          <a:noFill/>
          <a:ln w="25400" cap="sq"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27656" name="AutoShape 8"/>
          <p:cNvSpPr/>
          <p:nvPr/>
        </p:nvSpPr>
        <p:spPr>
          <a:xfrm>
            <a:off x="7673975" y="4870450"/>
            <a:ext cx="138113" cy="1079500"/>
          </a:xfrm>
          <a:prstGeom prst="rightBrace">
            <a:avLst>
              <a:gd name="adj1" fmla="val 64699"/>
              <a:gd name="adj2" fmla="val 50000"/>
            </a:avLst>
          </a:prstGeom>
          <a:noFill/>
          <a:ln w="25400" cap="sq"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27657" name="Text Box 9"/>
          <p:cNvSpPr txBox="1"/>
          <p:nvPr/>
        </p:nvSpPr>
        <p:spPr>
          <a:xfrm>
            <a:off x="7978775" y="3041650"/>
            <a:ext cx="838200" cy="73342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8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内存</a:t>
            </a:r>
            <a:endParaRPr lang="zh-CN" altLang="en-US" sz="2000" dirty="0">
              <a:solidFill>
                <a:srgbClr val="000000"/>
              </a:solidFill>
              <a:latin typeface="Times New Roman" panose="02020603050405020304" pitchFamily="18" charset="0"/>
              <a:ea typeface="楷体_GB2312"/>
            </a:endParaRPr>
          </a:p>
          <a:p>
            <a:pPr marL="0" lvl="0" indent="0">
              <a:lnSpc>
                <a:spcPct val="8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地址</a:t>
            </a:r>
            <a:endParaRPr lang="zh-CN" altLang="en-US" sz="2000" dirty="0">
              <a:solidFill>
                <a:srgbClr val="000000"/>
              </a:solidFill>
              <a:latin typeface="Times New Roman" panose="02020603050405020304" pitchFamily="18" charset="0"/>
              <a:ea typeface="楷体_GB2312"/>
            </a:endParaRPr>
          </a:p>
        </p:txBody>
      </p:sp>
      <p:sp>
        <p:nvSpPr>
          <p:cNvPr id="27658" name="Text Box 10"/>
          <p:cNvSpPr txBox="1"/>
          <p:nvPr/>
        </p:nvSpPr>
        <p:spPr>
          <a:xfrm>
            <a:off x="8054975" y="4870450"/>
            <a:ext cx="838200" cy="73342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8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I/O</a:t>
            </a:r>
            <a:endParaRPr lang="en-US" altLang="zh-CN" sz="2000" dirty="0">
              <a:solidFill>
                <a:srgbClr val="000000"/>
              </a:solidFill>
              <a:latin typeface="Times New Roman" panose="02020603050405020304" pitchFamily="18" charset="0"/>
              <a:ea typeface="楷体_GB2312"/>
            </a:endParaRPr>
          </a:p>
          <a:p>
            <a:pPr marL="0" lvl="0" indent="0">
              <a:lnSpc>
                <a:spcPct val="8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地址</a:t>
            </a:r>
            <a:endParaRPr lang="zh-CN" altLang="en-US" sz="2000" dirty="0">
              <a:solidFill>
                <a:srgbClr val="000000"/>
              </a:solidFill>
              <a:latin typeface="Times New Roman" panose="02020603050405020304" pitchFamily="18" charset="0"/>
              <a:ea typeface="楷体_GB2312"/>
            </a:endParaRPr>
          </a:p>
        </p:txBody>
      </p:sp>
      <p:sp>
        <p:nvSpPr>
          <p:cNvPr id="27659" name="Text Box 11"/>
          <p:cNvSpPr txBox="1"/>
          <p:nvPr/>
        </p:nvSpPr>
        <p:spPr>
          <a:xfrm>
            <a:off x="4702175" y="2179638"/>
            <a:ext cx="1228725" cy="3365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8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00000</a:t>
            </a:r>
            <a:r>
              <a:rPr lang="en-US" altLang="zh-CN" sz="2000" dirty="0">
                <a:solidFill>
                  <a:srgbClr val="000000"/>
                </a:solidFill>
                <a:latin typeface="Times New Roman" panose="02020603050405020304" pitchFamily="18" charset="0"/>
                <a:ea typeface="楷体_GB2312"/>
              </a:rPr>
              <a:t>H</a:t>
            </a:r>
            <a:endParaRPr lang="en-US" altLang="zh-CN" sz="2000" dirty="0">
              <a:solidFill>
                <a:srgbClr val="000000"/>
              </a:solidFill>
              <a:latin typeface="Times New Roman" panose="02020603050405020304" pitchFamily="18" charset="0"/>
              <a:ea typeface="楷体_GB2312"/>
            </a:endParaRPr>
          </a:p>
        </p:txBody>
      </p:sp>
      <p:sp>
        <p:nvSpPr>
          <p:cNvPr id="27660" name="Text Box 12"/>
          <p:cNvSpPr txBox="1"/>
          <p:nvPr/>
        </p:nvSpPr>
        <p:spPr>
          <a:xfrm>
            <a:off x="4572000" y="4492625"/>
            <a:ext cx="1457325" cy="3365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8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FFFFFH</a:t>
            </a:r>
            <a:endParaRPr lang="en-US" altLang="zh-CN" sz="2000" dirty="0">
              <a:solidFill>
                <a:srgbClr val="000000"/>
              </a:solidFill>
              <a:latin typeface="Times New Roman" panose="02020603050405020304" pitchFamily="18" charset="0"/>
              <a:ea typeface="楷体_GB2312"/>
            </a:endParaRPr>
          </a:p>
        </p:txBody>
      </p:sp>
      <p:sp>
        <p:nvSpPr>
          <p:cNvPr id="27661" name="Text Box 13"/>
          <p:cNvSpPr txBox="1"/>
          <p:nvPr/>
        </p:nvSpPr>
        <p:spPr>
          <a:xfrm>
            <a:off x="4702175" y="5708650"/>
            <a:ext cx="1295400" cy="3365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8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FFFFH</a:t>
            </a:r>
            <a:endParaRPr lang="en-US" altLang="zh-CN" sz="2000" dirty="0">
              <a:solidFill>
                <a:srgbClr val="000000"/>
              </a:solidFill>
              <a:latin typeface="Times New Roman" panose="02020603050405020304" pitchFamily="18" charset="0"/>
              <a:ea typeface="楷体_GB2312"/>
            </a:endParaRPr>
          </a:p>
        </p:txBody>
      </p:sp>
      <p:sp>
        <p:nvSpPr>
          <p:cNvPr id="27662" name="Text Box 14"/>
          <p:cNvSpPr txBox="1"/>
          <p:nvPr/>
        </p:nvSpPr>
        <p:spPr>
          <a:xfrm>
            <a:off x="4778375" y="4794250"/>
            <a:ext cx="1143000" cy="3365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8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0000</a:t>
            </a:r>
            <a:r>
              <a:rPr lang="en-US" altLang="zh-CN" sz="2000" dirty="0">
                <a:solidFill>
                  <a:srgbClr val="000000"/>
                </a:solidFill>
                <a:latin typeface="Times New Roman" panose="02020603050405020304" pitchFamily="18" charset="0"/>
                <a:ea typeface="楷体_GB2312"/>
              </a:rPr>
              <a:t>H</a:t>
            </a:r>
            <a:endParaRPr lang="en-US" altLang="zh-CN" sz="2000" dirty="0">
              <a:solidFill>
                <a:srgbClr val="000000"/>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3"/>
                                        </p:tgtEl>
                                        <p:attrNameLst>
                                          <p:attrName>style.visibility</p:attrName>
                                        </p:attrNameLst>
                                      </p:cBhvr>
                                      <p:to>
                                        <p:strVal val="visible"/>
                                      </p:to>
                                    </p:set>
                                    <p:anim calcmode="lin" valueType="num">
                                      <p:cBhvr>
                                        <p:cTn id="7" dur="500" fill="hold"/>
                                        <p:tgtEl>
                                          <p:spTgt spid="27653"/>
                                        </p:tgtEl>
                                        <p:attrNameLst>
                                          <p:attrName>ppt_x</p:attrName>
                                        </p:attrNameLst>
                                      </p:cBhvr>
                                      <p:tavLst>
                                        <p:tav tm="0">
                                          <p:val>
                                            <p:strVal val="#ppt_x"/>
                                          </p:val>
                                        </p:tav>
                                        <p:tav tm="100000">
                                          <p:val>
                                            <p:strVal val="#ppt_x"/>
                                          </p:val>
                                        </p:tav>
                                      </p:tavLst>
                                    </p:anim>
                                    <p:anim calcmode="lin" valueType="num">
                                      <p:cBhvr>
                                        <p:cTn id="8" dur="500" fill="hold"/>
                                        <p:tgtEl>
                                          <p:spTgt spid="276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7659"/>
                                        </p:tgtEl>
                                        <p:attrNameLst>
                                          <p:attrName>style.visibility</p:attrName>
                                        </p:attrNameLst>
                                      </p:cBhvr>
                                      <p:to>
                                        <p:strVal val="visible"/>
                                      </p:to>
                                    </p:set>
                                    <p:animEffect transition="in" filter="wipe(left)">
                                      <p:cBhvr>
                                        <p:cTn id="13" dur="500"/>
                                        <p:tgtEl>
                                          <p:spTgt spid="27659"/>
                                        </p:tgtEl>
                                      </p:cBhvr>
                                    </p:animEffect>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27660"/>
                                        </p:tgtEl>
                                        <p:attrNameLst>
                                          <p:attrName>style.visibility</p:attrName>
                                        </p:attrNameLst>
                                      </p:cBhvr>
                                      <p:to>
                                        <p:strVal val="visible"/>
                                      </p:to>
                                    </p:set>
                                    <p:animEffect transition="in" filter="wipe(left)">
                                      <p:cBhvr>
                                        <p:cTn id="17" dur="500"/>
                                        <p:tgtEl>
                                          <p:spTgt spid="27660"/>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27654"/>
                                        </p:tgtEl>
                                        <p:attrNameLst>
                                          <p:attrName>style.visibility</p:attrName>
                                        </p:attrNameLst>
                                      </p:cBhvr>
                                      <p:to>
                                        <p:strVal val="visible"/>
                                      </p:to>
                                    </p:set>
                                    <p:animEffect transition="in" filter="wipe(left)">
                                      <p:cBhvr>
                                        <p:cTn id="21" dur="500"/>
                                        <p:tgtEl>
                                          <p:spTgt spid="27654"/>
                                        </p:tgtEl>
                                      </p:cBhvr>
                                    </p:animEffect>
                                  </p:childTnLst>
                                </p:cTn>
                              </p:par>
                            </p:childTnLst>
                          </p:cTn>
                        </p:par>
                        <p:par>
                          <p:cTn id="22" fill="hold">
                            <p:stCondLst>
                              <p:cond delay="1500"/>
                            </p:stCondLst>
                            <p:childTnLst>
                              <p:par>
                                <p:cTn id="23" presetID="18" presetClass="entr" presetSubtype="12" fill="hold" grpId="0" nodeType="afterEffect">
                                  <p:stCondLst>
                                    <p:cond delay="0"/>
                                  </p:stCondLst>
                                  <p:childTnLst>
                                    <p:set>
                                      <p:cBhvr>
                                        <p:cTn id="24" dur="1" fill="hold">
                                          <p:stCondLst>
                                            <p:cond delay="0"/>
                                          </p:stCondLst>
                                        </p:cTn>
                                        <p:tgtEl>
                                          <p:spTgt spid="27655"/>
                                        </p:tgtEl>
                                        <p:attrNameLst>
                                          <p:attrName>style.visibility</p:attrName>
                                        </p:attrNameLst>
                                      </p:cBhvr>
                                      <p:to>
                                        <p:strVal val="visible"/>
                                      </p:to>
                                    </p:set>
                                    <p:animEffect transition="in" filter="strips(downLeft)">
                                      <p:cBhvr>
                                        <p:cTn id="25" dur="1000"/>
                                        <p:tgtEl>
                                          <p:spTgt spid="27655"/>
                                        </p:tgtEl>
                                      </p:cBhvr>
                                    </p:animEffect>
                                  </p:childTnLst>
                                </p:cTn>
                              </p:par>
                            </p:childTnLst>
                          </p:cTn>
                        </p:par>
                        <p:par>
                          <p:cTn id="26" fill="hold">
                            <p:stCondLst>
                              <p:cond delay="2500"/>
                            </p:stCondLst>
                            <p:childTnLst>
                              <p:par>
                                <p:cTn id="27" presetID="3" presetClass="entr" presetSubtype="5" fill="hold" grpId="0" nodeType="afterEffect">
                                  <p:stCondLst>
                                    <p:cond delay="0"/>
                                  </p:stCondLst>
                                  <p:childTnLst>
                                    <p:set>
                                      <p:cBhvr>
                                        <p:cTn id="28" dur="1" fill="hold">
                                          <p:stCondLst>
                                            <p:cond delay="0"/>
                                          </p:stCondLst>
                                        </p:cTn>
                                        <p:tgtEl>
                                          <p:spTgt spid="27657"/>
                                        </p:tgtEl>
                                        <p:attrNameLst>
                                          <p:attrName>style.visibility</p:attrName>
                                        </p:attrNameLst>
                                      </p:cBhvr>
                                      <p:to>
                                        <p:strVal val="visible"/>
                                      </p:to>
                                    </p:set>
                                    <p:animEffect transition="in" filter="blinds(vertical)">
                                      <p:cBhvr>
                                        <p:cTn id="29" dur="500"/>
                                        <p:tgtEl>
                                          <p:spTgt spid="2765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7662"/>
                                        </p:tgtEl>
                                        <p:attrNameLst>
                                          <p:attrName>style.visibility</p:attrName>
                                        </p:attrNameLst>
                                      </p:cBhvr>
                                      <p:to>
                                        <p:strVal val="visible"/>
                                      </p:to>
                                    </p:set>
                                    <p:animEffect transition="in" filter="wipe(left)">
                                      <p:cBhvr>
                                        <p:cTn id="34" dur="500"/>
                                        <p:tgtEl>
                                          <p:spTgt spid="27662"/>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27661"/>
                                        </p:tgtEl>
                                        <p:attrNameLst>
                                          <p:attrName>style.visibility</p:attrName>
                                        </p:attrNameLst>
                                      </p:cBhvr>
                                      <p:to>
                                        <p:strVal val="visible"/>
                                      </p:to>
                                    </p:set>
                                    <p:animEffect transition="in" filter="wipe(left)">
                                      <p:cBhvr>
                                        <p:cTn id="38" dur="500"/>
                                        <p:tgtEl>
                                          <p:spTgt spid="27661"/>
                                        </p:tgtEl>
                                      </p:cBhvr>
                                    </p:animEffect>
                                  </p:childTnLst>
                                </p:cTn>
                              </p:par>
                            </p:childTnLst>
                          </p:cTn>
                        </p:par>
                        <p:par>
                          <p:cTn id="39" fill="hold">
                            <p:stCondLst>
                              <p:cond delay="1000"/>
                            </p:stCondLst>
                            <p:childTnLst>
                              <p:par>
                                <p:cTn id="40" presetID="18" presetClass="entr" presetSubtype="12" fill="hold" grpId="0" nodeType="afterEffect">
                                  <p:stCondLst>
                                    <p:cond delay="0"/>
                                  </p:stCondLst>
                                  <p:childTnLst>
                                    <p:set>
                                      <p:cBhvr>
                                        <p:cTn id="41" dur="1" fill="hold">
                                          <p:stCondLst>
                                            <p:cond delay="0"/>
                                          </p:stCondLst>
                                        </p:cTn>
                                        <p:tgtEl>
                                          <p:spTgt spid="27656"/>
                                        </p:tgtEl>
                                        <p:attrNameLst>
                                          <p:attrName>style.visibility</p:attrName>
                                        </p:attrNameLst>
                                      </p:cBhvr>
                                      <p:to>
                                        <p:strVal val="visible"/>
                                      </p:to>
                                    </p:set>
                                    <p:animEffect transition="in" filter="strips(downLeft)">
                                      <p:cBhvr>
                                        <p:cTn id="42" dur="1000"/>
                                        <p:tgtEl>
                                          <p:spTgt spid="27656"/>
                                        </p:tgtEl>
                                      </p:cBhvr>
                                    </p:animEffect>
                                  </p:childTnLst>
                                </p:cTn>
                              </p:par>
                            </p:childTnLst>
                          </p:cTn>
                        </p:par>
                        <p:par>
                          <p:cTn id="43" fill="hold">
                            <p:stCondLst>
                              <p:cond delay="2000"/>
                            </p:stCondLst>
                            <p:childTnLst>
                              <p:par>
                                <p:cTn id="44" presetID="3" presetClass="entr" presetSubtype="5" fill="hold" grpId="0" nodeType="afterEffect">
                                  <p:stCondLst>
                                    <p:cond delay="0"/>
                                  </p:stCondLst>
                                  <p:childTnLst>
                                    <p:set>
                                      <p:cBhvr>
                                        <p:cTn id="45" dur="1" fill="hold">
                                          <p:stCondLst>
                                            <p:cond delay="0"/>
                                          </p:stCondLst>
                                        </p:cTn>
                                        <p:tgtEl>
                                          <p:spTgt spid="27658"/>
                                        </p:tgtEl>
                                        <p:attrNameLst>
                                          <p:attrName>style.visibility</p:attrName>
                                        </p:attrNameLst>
                                      </p:cBhvr>
                                      <p:to>
                                        <p:strVal val="visible"/>
                                      </p:to>
                                    </p:set>
                                    <p:animEffect transition="in" filter="blinds(vertical)">
                                      <p:cBhvr>
                                        <p:cTn id="46" dur="500"/>
                                        <p:tgtEl>
                                          <p:spTgt spid="2765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7652">
                                            <p:txEl>
                                              <p:charRg st="0" end="4"/>
                                            </p:txEl>
                                          </p:spTgt>
                                        </p:tgtEl>
                                        <p:attrNameLst>
                                          <p:attrName>style.visibility</p:attrName>
                                        </p:attrNameLst>
                                      </p:cBhvr>
                                      <p:to>
                                        <p:strVal val="visible"/>
                                      </p:to>
                                    </p:set>
                                    <p:animEffect transition="in" filter="wipe(left)">
                                      <p:cBhvr>
                                        <p:cTn id="51" dur="500"/>
                                        <p:tgtEl>
                                          <p:spTgt spid="27652">
                                            <p:txEl>
                                              <p:charRg st="0" end="4"/>
                                            </p:txEl>
                                          </p:spTgt>
                                        </p:tgtEl>
                                      </p:cBhvr>
                                    </p:animEffect>
                                  </p:childTnLst>
                                </p:cTn>
                              </p:par>
                            </p:childTnLst>
                          </p:cTn>
                        </p:par>
                        <p:par>
                          <p:cTn id="52" fill="hold">
                            <p:stCondLst>
                              <p:cond delay="500"/>
                            </p:stCondLst>
                            <p:childTnLst>
                              <p:par>
                                <p:cTn id="53" presetID="22" presetClass="entr" presetSubtype="8" fill="hold" nodeType="afterEffect">
                                  <p:stCondLst>
                                    <p:cond delay="0"/>
                                  </p:stCondLst>
                                  <p:childTnLst>
                                    <p:set>
                                      <p:cBhvr>
                                        <p:cTn id="54" dur="1" fill="hold">
                                          <p:stCondLst>
                                            <p:cond delay="0"/>
                                          </p:stCondLst>
                                        </p:cTn>
                                        <p:tgtEl>
                                          <p:spTgt spid="27652">
                                            <p:txEl>
                                              <p:charRg st="4" end="15"/>
                                            </p:txEl>
                                          </p:spTgt>
                                        </p:tgtEl>
                                        <p:attrNameLst>
                                          <p:attrName>style.visibility</p:attrName>
                                        </p:attrNameLst>
                                      </p:cBhvr>
                                      <p:to>
                                        <p:strVal val="visible"/>
                                      </p:to>
                                    </p:set>
                                    <p:animEffect transition="in" filter="wipe(left)">
                                      <p:cBhvr>
                                        <p:cTn id="55" dur="500"/>
                                        <p:tgtEl>
                                          <p:spTgt spid="27652">
                                            <p:txEl>
                                              <p:charRg st="4" end="15"/>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7652">
                                            <p:txEl>
                                              <p:charRg st="15" end="26"/>
                                            </p:txEl>
                                          </p:spTgt>
                                        </p:tgtEl>
                                        <p:attrNameLst>
                                          <p:attrName>style.visibility</p:attrName>
                                        </p:attrNameLst>
                                      </p:cBhvr>
                                      <p:to>
                                        <p:strVal val="visible"/>
                                      </p:to>
                                    </p:set>
                                    <p:animEffect transition="in" filter="wipe(left)">
                                      <p:cBhvr>
                                        <p:cTn id="60" dur="500"/>
                                        <p:tgtEl>
                                          <p:spTgt spid="27652">
                                            <p:txEl>
                                              <p:charRg st="15" end="26"/>
                                            </p:txEl>
                                          </p:spTgt>
                                        </p:tgtEl>
                                      </p:cBhvr>
                                    </p:animEffec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27652">
                                            <p:txEl>
                                              <p:charRg st="26" end="33"/>
                                            </p:txEl>
                                          </p:spTgt>
                                        </p:tgtEl>
                                        <p:attrNameLst>
                                          <p:attrName>style.visibility</p:attrName>
                                        </p:attrNameLst>
                                      </p:cBhvr>
                                      <p:to>
                                        <p:strVal val="visible"/>
                                      </p:to>
                                    </p:set>
                                    <p:animEffect transition="in" filter="wipe(left)">
                                      <p:cBhvr>
                                        <p:cTn id="64" dur="500"/>
                                        <p:tgtEl>
                                          <p:spTgt spid="27652">
                                            <p:txEl>
                                              <p:charRg st="26" end="3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animBg="1"/>
      <p:bldP spid="27655" grpId="0" animBg="1"/>
      <p:bldP spid="27656" grpId="0" animBg="1"/>
      <p:bldP spid="27657" grpId="0"/>
      <p:bldP spid="27658" grpId="0"/>
      <p:bldP spid="27659" grpId="0"/>
      <p:bldP spid="27660" grpId="0"/>
      <p:bldP spid="27661" grpId="0"/>
      <p:bldP spid="2766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08547" name="Rectangle 2"/>
          <p:cNvSpPr>
            <a:spLocks noGrp="1"/>
          </p:cNvSpPr>
          <p:nvPr>
            <p:ph type="title" idx="4294967295"/>
          </p:nvPr>
        </p:nvSpPr>
        <p:spPr/>
        <p:txBody>
          <a:bodyPr vert="horz" wrap="square" lIns="91440" tIns="45720" rIns="91440" bIns="45720" anchor="b" anchorCtr="0"/>
          <a:p>
            <a:pPr eaLnBrk="1" hangingPunct="1"/>
            <a:r>
              <a:rPr lang="zh-CN" altLang="en-US" dirty="0"/>
              <a:t>端口的寻址</a:t>
            </a:r>
            <a:endParaRPr lang="zh-CN" altLang="en-US" dirty="0"/>
          </a:p>
        </p:txBody>
      </p:sp>
      <p:sp>
        <p:nvSpPr>
          <p:cNvPr id="28676" name="Rectangle 3"/>
          <p:cNvSpPr>
            <a:spLocks noGrp="1"/>
          </p:cNvSpPr>
          <p:nvPr>
            <p:ph type="body" idx="4294967295"/>
          </p:nvPr>
        </p:nvSpPr>
        <p:spPr/>
        <p:txBody>
          <a:bodyPr vert="horz" wrap="square" lIns="91440" tIns="45720" rIns="91440" bIns="45720" anchor="t" anchorCtr="0"/>
          <a:p>
            <a:pPr eaLnBrk="1" hangingPunct="1">
              <a:spcAft>
                <a:spcPct val="10000"/>
              </a:spcAft>
            </a:pPr>
            <a:r>
              <a:rPr lang="en-US" altLang="zh-CN" dirty="0"/>
              <a:t>8088/8086</a:t>
            </a:r>
            <a:r>
              <a:rPr lang="zh-CN" altLang="en-US" dirty="0"/>
              <a:t>寻址端口数：</a:t>
            </a:r>
            <a:endParaRPr lang="zh-CN" altLang="en-US" dirty="0"/>
          </a:p>
          <a:p>
            <a:pPr lvl="1" eaLnBrk="1" hangingPunct="1">
              <a:spcAft>
                <a:spcPct val="10000"/>
              </a:spcAft>
            </a:pPr>
            <a:r>
              <a:rPr lang="en-US" altLang="zh-CN" dirty="0"/>
              <a:t>64K</a:t>
            </a:r>
            <a:r>
              <a:rPr lang="zh-CN" altLang="en-US" dirty="0"/>
              <a:t>个</a:t>
            </a:r>
            <a:endParaRPr lang="en-US" altLang="zh-CN" dirty="0"/>
          </a:p>
          <a:p>
            <a:pPr eaLnBrk="1" hangingPunct="1">
              <a:spcBef>
                <a:spcPct val="40000"/>
              </a:spcBef>
              <a:spcAft>
                <a:spcPct val="10000"/>
              </a:spcAft>
            </a:pPr>
            <a:r>
              <a:rPr lang="zh-CN" altLang="en-US" dirty="0"/>
              <a:t>寻址端口的信号：</a:t>
            </a:r>
            <a:endParaRPr lang="zh-CN" altLang="en-US" dirty="0"/>
          </a:p>
          <a:p>
            <a:pPr lvl="1" eaLnBrk="1" hangingPunct="1">
              <a:spcAft>
                <a:spcPct val="10000"/>
              </a:spcAft>
            </a:pPr>
            <a:r>
              <a:rPr lang="en-US" altLang="zh-CN" dirty="0"/>
              <a:t>IOR</a:t>
            </a:r>
            <a:r>
              <a:rPr lang="zh-CN" altLang="en-US" dirty="0"/>
              <a:t>、</a:t>
            </a:r>
            <a:r>
              <a:rPr lang="en-US" altLang="zh-CN" dirty="0"/>
              <a:t>IOW</a:t>
            </a:r>
            <a:endParaRPr lang="en-US" altLang="zh-CN" dirty="0"/>
          </a:p>
          <a:p>
            <a:pPr lvl="1" eaLnBrk="1" hangingPunct="1">
              <a:spcAft>
                <a:spcPct val="10000"/>
              </a:spcAft>
            </a:pPr>
            <a:r>
              <a:rPr lang="en-US" altLang="zh-CN" dirty="0"/>
              <a:t>A</a:t>
            </a:r>
            <a:r>
              <a:rPr lang="en-US" altLang="zh-CN" sz="2000" dirty="0"/>
              <a:t>15</a:t>
            </a:r>
            <a:r>
              <a:rPr lang="en-US" altLang="zh-CN" dirty="0"/>
              <a:t> </a:t>
            </a:r>
            <a:r>
              <a:rPr lang="zh-CN" altLang="en-US" dirty="0"/>
              <a:t>～ </a:t>
            </a:r>
            <a:r>
              <a:rPr lang="en-US" altLang="zh-CN" dirty="0"/>
              <a:t>A</a:t>
            </a:r>
            <a:r>
              <a:rPr lang="en-US" altLang="zh-CN" sz="2000" dirty="0"/>
              <a:t>0</a:t>
            </a:r>
            <a:endParaRPr lang="zh-CN" altLang="en-US" sz="2000" dirty="0"/>
          </a:p>
        </p:txBody>
      </p:sp>
      <p:sp>
        <p:nvSpPr>
          <p:cNvPr id="28677" name="Line 4"/>
          <p:cNvSpPr/>
          <p:nvPr/>
        </p:nvSpPr>
        <p:spPr>
          <a:xfrm>
            <a:off x="1963738" y="3860800"/>
            <a:ext cx="649287" cy="0"/>
          </a:xfrm>
          <a:prstGeom prst="line">
            <a:avLst/>
          </a:prstGeom>
          <a:ln w="28575" cap="flat" cmpd="sng">
            <a:solidFill>
              <a:schemeClr val="tx1"/>
            </a:solidFill>
            <a:prstDash val="solid"/>
            <a:bevel/>
            <a:headEnd type="none" w="med" len="med"/>
            <a:tailEnd type="none" w="med" len="med"/>
          </a:ln>
        </p:spPr>
      </p:sp>
      <p:sp>
        <p:nvSpPr>
          <p:cNvPr id="28678" name="Line 5"/>
          <p:cNvSpPr/>
          <p:nvPr/>
        </p:nvSpPr>
        <p:spPr>
          <a:xfrm flipV="1">
            <a:off x="2916238" y="3860800"/>
            <a:ext cx="684212" cy="0"/>
          </a:xfrm>
          <a:prstGeom prst="line">
            <a:avLst/>
          </a:prstGeom>
          <a:ln w="28575" cap="flat" cmpd="sng">
            <a:solidFill>
              <a:schemeClr val="tx1"/>
            </a:solidFill>
            <a:prstDash val="solid"/>
            <a:bevel/>
            <a:headEnd type="none" w="med" len="med"/>
            <a:tailEnd type="none" w="med" len="med"/>
          </a:ln>
        </p:spPr>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676">
                                            <p:txEl>
                                              <p:charRg st="21" end="30"/>
                                            </p:txEl>
                                          </p:spTgt>
                                        </p:tgtEl>
                                        <p:attrNameLst>
                                          <p:attrName>style.visibility</p:attrName>
                                        </p:attrNameLst>
                                      </p:cBhvr>
                                      <p:to>
                                        <p:strVal val="visible"/>
                                      </p:to>
                                    </p:set>
                                    <p:animEffect transition="in" filter="wipe(left)">
                                      <p:cBhvr>
                                        <p:cTn id="7" dur="500"/>
                                        <p:tgtEl>
                                          <p:spTgt spid="28676">
                                            <p:txEl>
                                              <p:charRg st="21" end="3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8676">
                                            <p:txEl>
                                              <p:charRg st="30" end="38"/>
                                            </p:txEl>
                                          </p:spTgt>
                                        </p:tgtEl>
                                        <p:attrNameLst>
                                          <p:attrName>style.visibility</p:attrName>
                                        </p:attrNameLst>
                                      </p:cBhvr>
                                      <p:to>
                                        <p:strVal val="visible"/>
                                      </p:to>
                                    </p:set>
                                    <p:animEffect transition="in" filter="wipe(left)">
                                      <p:cBhvr>
                                        <p:cTn id="12" dur="500"/>
                                        <p:tgtEl>
                                          <p:spTgt spid="28676">
                                            <p:txEl>
                                              <p:charRg st="30" end="38"/>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8677"/>
                                        </p:tgtEl>
                                        <p:attrNameLst>
                                          <p:attrName>style.visibility</p:attrName>
                                        </p:attrNameLst>
                                      </p:cBhvr>
                                      <p:to>
                                        <p:strVal val="visible"/>
                                      </p:to>
                                    </p:set>
                                    <p:animEffect transition="in" filter="wipe(left)">
                                      <p:cBhvr>
                                        <p:cTn id="16" dur="500"/>
                                        <p:tgtEl>
                                          <p:spTgt spid="28677"/>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28678"/>
                                        </p:tgtEl>
                                        <p:attrNameLst>
                                          <p:attrName>style.visibility</p:attrName>
                                        </p:attrNameLst>
                                      </p:cBhvr>
                                      <p:to>
                                        <p:strVal val="visible"/>
                                      </p:to>
                                    </p:set>
                                    <p:animEffect transition="in" filter="wipe(left)">
                                      <p:cBhvr>
                                        <p:cTn id="20" dur="500"/>
                                        <p:tgtEl>
                                          <p:spTgt spid="2867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8676">
                                            <p:txEl>
                                              <p:charRg st="38" end="47"/>
                                            </p:txEl>
                                          </p:spTgt>
                                        </p:tgtEl>
                                        <p:attrNameLst>
                                          <p:attrName>style.visibility</p:attrName>
                                        </p:attrNameLst>
                                      </p:cBhvr>
                                      <p:to>
                                        <p:strVal val="visible"/>
                                      </p:to>
                                    </p:set>
                                    <p:animEffect transition="in" filter="wipe(left)">
                                      <p:cBhvr>
                                        <p:cTn id="25" dur="500"/>
                                        <p:tgtEl>
                                          <p:spTgt spid="28676">
                                            <p:txEl>
                                              <p:charRg st="38" end="4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5"/>
          <p:cNvSpPr>
            <a:spLocks noGrp="1"/>
          </p:cNvSpPr>
          <p:nvPr>
            <p:ph type="body" idx="4294967295"/>
          </p:nvPr>
        </p:nvSpPr>
        <p:spPr>
          <a:xfrm>
            <a:off x="900113" y="2306638"/>
            <a:ext cx="8064500" cy="617537"/>
          </a:xfrm>
        </p:spPr>
        <p:txBody>
          <a:bodyPr vert="horz" wrap="square" lIns="91440" tIns="45720" rIns="91440" bIns="45720" anchor="t" anchorCtr="0"/>
          <a:p>
            <a:pPr eaLnBrk="1" hangingPunct="1">
              <a:buNone/>
            </a:pPr>
            <a:r>
              <a:rPr lang="zh-CN" altLang="en-US" dirty="0"/>
              <a:t>在输入输出指令中直接写上</a:t>
            </a:r>
            <a:r>
              <a:rPr lang="en-US" altLang="zh-CN" dirty="0"/>
              <a:t>8</a:t>
            </a:r>
            <a:r>
              <a:rPr lang="zh-CN" altLang="en-US" dirty="0"/>
              <a:t>位</a:t>
            </a:r>
            <a:r>
              <a:rPr lang="en-US" altLang="zh-CN" dirty="0"/>
              <a:t>I/O</a:t>
            </a:r>
            <a:r>
              <a:rPr lang="zh-CN" altLang="en-US" dirty="0"/>
              <a:t>端口地址号。</a:t>
            </a:r>
            <a:endParaRPr lang="zh-CN" altLang="en-US" dirty="0"/>
          </a:p>
        </p:txBody>
      </p:sp>
      <p:sp>
        <p:nvSpPr>
          <p:cNvPr id="29699" name="Rectangle 6"/>
          <p:cNvSpPr/>
          <p:nvPr/>
        </p:nvSpPr>
        <p:spPr>
          <a:xfrm>
            <a:off x="1042988" y="3429000"/>
            <a:ext cx="7272337" cy="504825"/>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80000"/>
              </a:lnSpc>
              <a:spcAft>
                <a:spcPct val="0"/>
              </a:spcAft>
              <a:buNone/>
            </a:pPr>
            <a:r>
              <a:rPr lang="zh-CN" altLang="en-US" b="0" dirty="0">
                <a:solidFill>
                  <a:srgbClr val="0000FF"/>
                </a:solidFill>
                <a:latin typeface="黑体" panose="02010609060101010101" pitchFamily="49" charset="-122"/>
                <a:ea typeface="黑体" panose="02010609060101010101" pitchFamily="49" charset="-122"/>
              </a:rPr>
              <a:t>例：</a:t>
            </a:r>
            <a:r>
              <a:rPr lang="en-US" altLang="zh-CN" b="0" dirty="0">
                <a:solidFill>
                  <a:schemeClr val="tx1"/>
                </a:solidFill>
                <a:latin typeface="黑体" panose="02010609060101010101" pitchFamily="49" charset="-122"/>
                <a:ea typeface="黑体" panose="02010609060101010101" pitchFamily="49" charset="-122"/>
              </a:rPr>
              <a:t>IN  AL, 50H ；50H</a:t>
            </a:r>
            <a:r>
              <a:rPr lang="zh-CN" altLang="en-US" b="0" dirty="0">
                <a:solidFill>
                  <a:schemeClr val="tx1"/>
                </a:solidFill>
                <a:latin typeface="黑体" panose="02010609060101010101" pitchFamily="49" charset="-122"/>
                <a:ea typeface="黑体" panose="02010609060101010101" pitchFamily="49" charset="-122"/>
              </a:rPr>
              <a:t>端口的字节读入</a:t>
            </a:r>
            <a:r>
              <a:rPr lang="en-US" altLang="zh-CN" b="0" dirty="0">
                <a:solidFill>
                  <a:schemeClr val="tx1"/>
                </a:solidFill>
                <a:latin typeface="黑体" panose="02010609060101010101" pitchFamily="49" charset="-122"/>
                <a:ea typeface="黑体" panose="02010609060101010101" pitchFamily="49" charset="-122"/>
              </a:rPr>
              <a:t>AL</a:t>
            </a:r>
            <a:endParaRPr lang="en-US" altLang="zh-CN" b="0" dirty="0">
              <a:solidFill>
                <a:schemeClr val="tx1"/>
              </a:solidFill>
              <a:latin typeface="黑体" panose="02010609060101010101" pitchFamily="49" charset="-122"/>
              <a:ea typeface="黑体" panose="02010609060101010101" pitchFamily="49" charset="-122"/>
            </a:endParaRPr>
          </a:p>
        </p:txBody>
      </p:sp>
      <p:sp>
        <p:nvSpPr>
          <p:cNvPr id="29700" name="Rectangle 7"/>
          <p:cNvSpPr/>
          <p:nvPr/>
        </p:nvSpPr>
        <p:spPr>
          <a:xfrm>
            <a:off x="1044575" y="4076700"/>
            <a:ext cx="7488238" cy="936625"/>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80000"/>
              </a:lnSpc>
              <a:spcAft>
                <a:spcPct val="0"/>
              </a:spcAft>
              <a:buNone/>
            </a:pPr>
            <a:r>
              <a:rPr lang="zh-CN" altLang="en-US" b="0" dirty="0">
                <a:solidFill>
                  <a:srgbClr val="0000FF"/>
                </a:solidFill>
                <a:latin typeface="黑体" panose="02010609060101010101" pitchFamily="49" charset="-122"/>
                <a:ea typeface="黑体" panose="02010609060101010101" pitchFamily="49" charset="-122"/>
              </a:rPr>
              <a:t>例：</a:t>
            </a:r>
            <a:r>
              <a:rPr lang="en-US" altLang="zh-CN" b="0" dirty="0">
                <a:solidFill>
                  <a:schemeClr val="tx1"/>
                </a:solidFill>
                <a:latin typeface="黑体" panose="02010609060101010101" pitchFamily="49" charset="-122"/>
                <a:ea typeface="黑体" panose="02010609060101010101" pitchFamily="49" charset="-122"/>
              </a:rPr>
              <a:t>OUT  80H, AX</a:t>
            </a:r>
            <a:endParaRPr lang="en-US" altLang="zh-CN" b="0" dirty="0">
              <a:solidFill>
                <a:schemeClr val="tx1"/>
              </a:solidFill>
              <a:latin typeface="黑体" panose="02010609060101010101" pitchFamily="49" charset="-122"/>
              <a:ea typeface="黑体" panose="02010609060101010101" pitchFamily="49" charset="-122"/>
            </a:endParaRPr>
          </a:p>
          <a:p>
            <a:pPr marL="342900" lvl="0" indent="-342900" algn="just">
              <a:lnSpc>
                <a:spcPct val="80000"/>
              </a:lnSpc>
              <a:spcAft>
                <a:spcPct val="0"/>
              </a:spcAft>
              <a:buNone/>
            </a:pPr>
            <a:r>
              <a:rPr lang="en-US" altLang="zh-CN" b="0" dirty="0">
                <a:solidFill>
                  <a:schemeClr val="tx1"/>
                </a:solidFill>
                <a:latin typeface="黑体" panose="02010609060101010101" pitchFamily="49" charset="-122"/>
                <a:ea typeface="黑体" panose="02010609060101010101" pitchFamily="49" charset="-122"/>
              </a:rPr>
              <a:t>      ；AX</a:t>
            </a:r>
            <a:r>
              <a:rPr lang="zh-CN" altLang="en-US" b="0" dirty="0">
                <a:solidFill>
                  <a:schemeClr val="tx1"/>
                </a:solidFill>
                <a:latin typeface="黑体" panose="02010609060101010101" pitchFamily="49" charset="-122"/>
                <a:ea typeface="黑体" panose="02010609060101010101" pitchFamily="49" charset="-122"/>
              </a:rPr>
              <a:t>中的内容输出到80</a:t>
            </a:r>
            <a:r>
              <a:rPr lang="en-US" altLang="zh-CN" b="0" dirty="0">
                <a:solidFill>
                  <a:schemeClr val="tx1"/>
                </a:solidFill>
                <a:latin typeface="黑体" panose="02010609060101010101" pitchFamily="49" charset="-122"/>
                <a:ea typeface="黑体" panose="02010609060101010101" pitchFamily="49" charset="-122"/>
              </a:rPr>
              <a:t>H、81H</a:t>
            </a:r>
            <a:r>
              <a:rPr lang="zh-CN" altLang="en-US" b="0" dirty="0">
                <a:solidFill>
                  <a:schemeClr val="tx1"/>
                </a:solidFill>
                <a:latin typeface="黑体" panose="02010609060101010101" pitchFamily="49" charset="-122"/>
                <a:ea typeface="黑体" panose="02010609060101010101" pitchFamily="49" charset="-122"/>
              </a:rPr>
              <a:t>两个端口</a:t>
            </a:r>
            <a:endParaRPr lang="zh-CN" altLang="en-US" b="0" dirty="0">
              <a:solidFill>
                <a:schemeClr val="tx1"/>
              </a:solidFill>
              <a:latin typeface="黑体" panose="02010609060101010101" pitchFamily="49" charset="-122"/>
              <a:ea typeface="黑体" panose="02010609060101010101" pitchFamily="49" charset="-122"/>
            </a:endParaRPr>
          </a:p>
        </p:txBody>
      </p:sp>
      <p:sp>
        <p:nvSpPr>
          <p:cNvPr id="109573" name="Rectangle 2"/>
          <p:cNvSpPr>
            <a:spLocks noGrp="1"/>
          </p:cNvSpPr>
          <p:nvPr>
            <p:ph type="title" idx="4294967295"/>
          </p:nvPr>
        </p:nvSpPr>
        <p:spPr>
          <a:xfrm>
            <a:off x="1150938" y="908050"/>
            <a:ext cx="2557462" cy="768350"/>
          </a:xfrm>
        </p:spPr>
        <p:txBody>
          <a:bodyPr vert="horz" wrap="square" lIns="91440" tIns="45720" rIns="91440" bIns="45720" anchor="b" anchorCtr="0"/>
          <a:p>
            <a:pPr eaLnBrk="1" hangingPunct="1"/>
            <a:r>
              <a:rPr lang="zh-CN" altLang="en-US" dirty="0"/>
              <a:t>直接寻址</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 calcmode="lin" valueType="num">
                                      <p:cBhvr>
                                        <p:cTn id="7" dur="500" fill="hold"/>
                                        <p:tgtEl>
                                          <p:spTgt spid="29699"/>
                                        </p:tgtEl>
                                        <p:attrNameLst>
                                          <p:attrName>ppt_x</p:attrName>
                                        </p:attrNameLst>
                                      </p:cBhvr>
                                      <p:tavLst>
                                        <p:tav tm="0">
                                          <p:val>
                                            <p:strVal val="#ppt_x"/>
                                          </p:val>
                                        </p:tav>
                                        <p:tav tm="100000">
                                          <p:val>
                                            <p:strVal val="#ppt_x"/>
                                          </p:val>
                                        </p:tav>
                                      </p:tavLst>
                                    </p:anim>
                                    <p:anim calcmode="lin" valueType="num">
                                      <p:cBhvr>
                                        <p:cTn id="8" dur="500" fill="hold"/>
                                        <p:tgtEl>
                                          <p:spTgt spid="2969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9700"/>
                                        </p:tgtEl>
                                        <p:attrNameLst>
                                          <p:attrName>style.visibility</p:attrName>
                                        </p:attrNameLst>
                                      </p:cBhvr>
                                      <p:to>
                                        <p:strVal val="visible"/>
                                      </p:to>
                                    </p:set>
                                    <p:animEffect transition="in" filter="blinds(horizontal)">
                                      <p:cBhvr>
                                        <p:cTn id="13" dur="500"/>
                                        <p:tgtEl>
                                          <p:spTgt spid="2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P spid="2970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14"/>
          <p:cNvSpPr>
            <a:spLocks noGrp="1"/>
          </p:cNvSpPr>
          <p:nvPr>
            <p:ph type="title" idx="4294967295"/>
          </p:nvPr>
        </p:nvSpPr>
        <p:spPr>
          <a:xfrm>
            <a:off x="684213" y="2420938"/>
            <a:ext cx="7777162" cy="1008062"/>
          </a:xfrm>
        </p:spPr>
        <p:txBody>
          <a:bodyPr vert="horz" wrap="square" lIns="91440" tIns="45720" rIns="91440" bIns="45720" anchor="b" anchorCtr="0"/>
          <a:p>
            <a:pPr eaLnBrk="1" hangingPunct="1">
              <a:lnSpc>
                <a:spcPct val="110000"/>
              </a:lnSpc>
            </a:pPr>
            <a:r>
              <a:rPr lang="zh-CN" altLang="en-US" sz="2400" dirty="0">
                <a:solidFill>
                  <a:schemeClr val="tx1"/>
                </a:solidFill>
                <a:latin typeface="黑体" panose="02010609060101010101" pitchFamily="49" charset="-122"/>
                <a:ea typeface="黑体" panose="02010609060101010101" pitchFamily="49" charset="-122"/>
              </a:rPr>
              <a:t>   </a:t>
            </a:r>
            <a:r>
              <a:rPr lang="en-US" altLang="zh-CN" sz="2400" dirty="0">
                <a:solidFill>
                  <a:schemeClr val="tx1"/>
                </a:solidFill>
                <a:latin typeface="黑体" panose="02010609060101010101" pitchFamily="49" charset="-122"/>
                <a:ea typeface="黑体" panose="02010609060101010101" pitchFamily="49" charset="-122"/>
              </a:rPr>
              <a:t>16/8</a:t>
            </a:r>
            <a:r>
              <a:rPr lang="zh-CN" altLang="en-US" sz="2400" dirty="0">
                <a:solidFill>
                  <a:schemeClr val="tx1"/>
                </a:solidFill>
                <a:latin typeface="黑体" panose="02010609060101010101" pitchFamily="49" charset="-122"/>
                <a:ea typeface="黑体" panose="02010609060101010101" pitchFamily="49" charset="-122"/>
              </a:rPr>
              <a:t>位</a:t>
            </a:r>
            <a:r>
              <a:rPr lang="en-US" altLang="zh-CN" sz="2400" dirty="0">
                <a:solidFill>
                  <a:schemeClr val="tx1"/>
                </a:solidFill>
                <a:latin typeface="黑体" panose="02010609060101010101" pitchFamily="49" charset="-122"/>
                <a:ea typeface="黑体" panose="02010609060101010101" pitchFamily="49" charset="-122"/>
              </a:rPr>
              <a:t>I/O</a:t>
            </a:r>
            <a:r>
              <a:rPr lang="zh-CN" altLang="en-US" sz="2400" dirty="0">
                <a:solidFill>
                  <a:schemeClr val="tx1"/>
                </a:solidFill>
                <a:latin typeface="黑体" panose="02010609060101010101" pitchFamily="49" charset="-122"/>
                <a:ea typeface="黑体" panose="02010609060101010101" pitchFamily="49" charset="-122"/>
              </a:rPr>
              <a:t>端口地址号存入</a:t>
            </a:r>
            <a:r>
              <a:rPr lang="en-US" altLang="zh-CN" sz="2400" dirty="0">
                <a:solidFill>
                  <a:schemeClr val="tx1"/>
                </a:solidFill>
                <a:latin typeface="黑体" panose="02010609060101010101" pitchFamily="49" charset="-122"/>
                <a:ea typeface="黑体" panose="02010609060101010101" pitchFamily="49" charset="-122"/>
              </a:rPr>
              <a:t>DX</a:t>
            </a:r>
            <a:r>
              <a:rPr lang="zh-CN" altLang="en-US" sz="2400" dirty="0">
                <a:solidFill>
                  <a:schemeClr val="tx1"/>
                </a:solidFill>
                <a:latin typeface="黑体" panose="02010609060101010101" pitchFamily="49" charset="-122"/>
                <a:ea typeface="黑体" panose="02010609060101010101" pitchFamily="49" charset="-122"/>
              </a:rPr>
              <a:t>，在输入输出指令中写</a:t>
            </a:r>
            <a:r>
              <a:rPr lang="en-US" altLang="zh-CN" sz="2400" dirty="0">
                <a:solidFill>
                  <a:schemeClr val="tx1"/>
                </a:solidFill>
                <a:latin typeface="黑体" panose="02010609060101010101" pitchFamily="49" charset="-122"/>
                <a:ea typeface="黑体" panose="02010609060101010101" pitchFamily="49" charset="-122"/>
              </a:rPr>
              <a:t>DX</a:t>
            </a:r>
            <a:r>
              <a:rPr lang="zh-CN" altLang="en-US" sz="2400" dirty="0">
                <a:solidFill>
                  <a:schemeClr val="tx1"/>
                </a:solidFill>
                <a:latin typeface="黑体" panose="02010609060101010101" pitchFamily="49" charset="-122"/>
                <a:ea typeface="黑体" panose="02010609060101010101" pitchFamily="49" charset="-122"/>
              </a:rPr>
              <a:t>，表示从其指示的</a:t>
            </a:r>
            <a:r>
              <a:rPr lang="en-US" altLang="zh-CN" sz="2400" dirty="0">
                <a:solidFill>
                  <a:schemeClr val="tx1"/>
                </a:solidFill>
                <a:latin typeface="黑体" panose="02010609060101010101" pitchFamily="49" charset="-122"/>
                <a:ea typeface="黑体" panose="02010609060101010101" pitchFamily="49" charset="-122"/>
              </a:rPr>
              <a:t>I/O</a:t>
            </a:r>
            <a:r>
              <a:rPr lang="zh-CN" altLang="en-US" sz="2400" dirty="0">
                <a:solidFill>
                  <a:schemeClr val="tx1"/>
                </a:solidFill>
                <a:latin typeface="黑体" panose="02010609060101010101" pitchFamily="49" charset="-122"/>
                <a:ea typeface="黑体" panose="02010609060101010101" pitchFamily="49" charset="-122"/>
              </a:rPr>
              <a:t>端口中输入输出数据。</a:t>
            </a:r>
            <a:endParaRPr lang="zh-CN" altLang="en-US" sz="2400" dirty="0">
              <a:solidFill>
                <a:schemeClr val="tx1"/>
              </a:solidFill>
              <a:latin typeface="黑体" panose="02010609060101010101" pitchFamily="49" charset="-122"/>
              <a:ea typeface="黑体" panose="02010609060101010101" pitchFamily="49" charset="-122"/>
            </a:endParaRPr>
          </a:p>
        </p:txBody>
      </p:sp>
      <p:sp>
        <p:nvSpPr>
          <p:cNvPr id="30723" name="Rectangle 15"/>
          <p:cNvSpPr/>
          <p:nvPr/>
        </p:nvSpPr>
        <p:spPr>
          <a:xfrm>
            <a:off x="684213" y="3587750"/>
            <a:ext cx="7775575" cy="936625"/>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Bef>
                <a:spcPct val="0"/>
              </a:spcBef>
              <a:spcAft>
                <a:spcPct val="0"/>
              </a:spcAft>
              <a:buNone/>
            </a:pPr>
            <a:r>
              <a:rPr lang="zh-CN" altLang="en-US" sz="2400" b="0" dirty="0">
                <a:solidFill>
                  <a:srgbClr val="0000FF"/>
                </a:solidFill>
                <a:latin typeface="黑体" panose="02010609060101010101" pitchFamily="49" charset="-122"/>
                <a:ea typeface="黑体" panose="02010609060101010101" pitchFamily="49" charset="-122"/>
              </a:rPr>
              <a:t>例：</a:t>
            </a:r>
            <a:r>
              <a:rPr lang="en-US" altLang="zh-CN" sz="2400" b="0" dirty="0">
                <a:solidFill>
                  <a:schemeClr val="tx1"/>
                </a:solidFill>
                <a:latin typeface="黑体" panose="02010609060101010101" pitchFamily="49" charset="-122"/>
                <a:ea typeface="黑体" panose="02010609060101010101" pitchFamily="49" charset="-122"/>
              </a:rPr>
              <a:t>MOV DX,0050H</a:t>
            </a:r>
            <a:endParaRPr lang="en-US" altLang="zh-CN" sz="2400" b="0" dirty="0">
              <a:solidFill>
                <a:schemeClr val="tx1"/>
              </a:solidFill>
              <a:latin typeface="黑体" panose="02010609060101010101" pitchFamily="49" charset="-122"/>
              <a:ea typeface="黑体" panose="02010609060101010101" pitchFamily="49" charset="-122"/>
            </a:endParaRPr>
          </a:p>
          <a:p>
            <a:pPr marL="342900" lvl="0" indent="-342900" algn="just">
              <a:lnSpc>
                <a:spcPct val="100000"/>
              </a:lnSpc>
              <a:spcBef>
                <a:spcPct val="0"/>
              </a:spcBef>
              <a:spcAft>
                <a:spcPct val="0"/>
              </a:spcAft>
              <a:buNone/>
            </a:pPr>
            <a:r>
              <a:rPr lang="zh-CN" altLang="en-US" sz="2400" b="0" dirty="0">
                <a:solidFill>
                  <a:schemeClr val="tx1"/>
                </a:solidFill>
                <a:latin typeface="Times New Roman" panose="02020603050405020304" pitchFamily="18" charset="0"/>
                <a:ea typeface="黑体" panose="02010609060101010101" pitchFamily="49" charset="-122"/>
              </a:rPr>
              <a:t>    </a:t>
            </a:r>
            <a:r>
              <a:rPr lang="zh-CN" altLang="en-US" sz="2400" b="0" dirty="0">
                <a:solidFill>
                  <a:schemeClr val="tx1"/>
                </a:solidFill>
                <a:latin typeface="黑体" panose="02010609060101010101" pitchFamily="49" charset="-122"/>
                <a:ea typeface="黑体" panose="02010609060101010101" pitchFamily="49" charset="-122"/>
              </a:rPr>
              <a:t>  </a:t>
            </a:r>
            <a:r>
              <a:rPr lang="en-US" altLang="zh-CN" sz="2400" b="0" dirty="0">
                <a:solidFill>
                  <a:schemeClr val="tx1"/>
                </a:solidFill>
                <a:latin typeface="黑体" panose="02010609060101010101" pitchFamily="49" charset="-122"/>
                <a:ea typeface="黑体" panose="02010609060101010101" pitchFamily="49" charset="-122"/>
              </a:rPr>
              <a:t>IN  AX, DX</a:t>
            </a:r>
            <a:r>
              <a:rPr lang="zh-CN" altLang="en-US" sz="2400" b="0" dirty="0">
                <a:solidFill>
                  <a:schemeClr val="tx1"/>
                </a:solidFill>
                <a:latin typeface="黑体" panose="02010609060101010101" pitchFamily="49" charset="-122"/>
                <a:ea typeface="黑体" panose="02010609060101010101" pitchFamily="49" charset="-122"/>
              </a:rPr>
              <a:t> ；从</a:t>
            </a:r>
            <a:r>
              <a:rPr lang="en-US" altLang="zh-CN" sz="2400" b="0" dirty="0">
                <a:solidFill>
                  <a:schemeClr val="tx1"/>
                </a:solidFill>
                <a:latin typeface="黑体" panose="02010609060101010101" pitchFamily="49" charset="-122"/>
                <a:ea typeface="黑体" panose="02010609060101010101" pitchFamily="49" charset="-122"/>
              </a:rPr>
              <a:t>DX</a:t>
            </a:r>
            <a:r>
              <a:rPr lang="zh-CN" altLang="en-US" sz="2400" b="0" dirty="0">
                <a:solidFill>
                  <a:schemeClr val="tx1"/>
                </a:solidFill>
                <a:latin typeface="黑体" panose="02010609060101010101" pitchFamily="49" charset="-122"/>
                <a:ea typeface="黑体" panose="02010609060101010101" pitchFamily="49" charset="-122"/>
              </a:rPr>
              <a:t>和</a:t>
            </a:r>
            <a:r>
              <a:rPr lang="en-US" altLang="zh-CN" sz="2400" b="0" dirty="0">
                <a:solidFill>
                  <a:schemeClr val="tx1"/>
                </a:solidFill>
                <a:latin typeface="黑体" panose="02010609060101010101" pitchFamily="49" charset="-122"/>
                <a:ea typeface="黑体" panose="02010609060101010101" pitchFamily="49" charset="-122"/>
              </a:rPr>
              <a:t>DX+1</a:t>
            </a:r>
            <a:r>
              <a:rPr lang="zh-CN" altLang="en-US" sz="2400" b="0" dirty="0">
                <a:solidFill>
                  <a:schemeClr val="tx1"/>
                </a:solidFill>
                <a:latin typeface="黑体" panose="02010609060101010101" pitchFamily="49" charset="-122"/>
                <a:ea typeface="黑体" panose="02010609060101010101" pitchFamily="49" charset="-122"/>
              </a:rPr>
              <a:t>所指的2个端口输入1个字</a:t>
            </a:r>
            <a:endParaRPr lang="zh-CN" altLang="en-US" sz="2400" b="0" dirty="0">
              <a:solidFill>
                <a:schemeClr val="tx1"/>
              </a:solidFill>
              <a:latin typeface="黑体" panose="02010609060101010101" pitchFamily="49" charset="-122"/>
              <a:ea typeface="黑体" panose="02010609060101010101" pitchFamily="49" charset="-122"/>
            </a:endParaRPr>
          </a:p>
        </p:txBody>
      </p:sp>
      <p:sp>
        <p:nvSpPr>
          <p:cNvPr id="30724" name="Rectangle 16"/>
          <p:cNvSpPr>
            <a:spLocks noGrp="1"/>
          </p:cNvSpPr>
          <p:nvPr>
            <p:ph type="body" idx="4294967295"/>
          </p:nvPr>
        </p:nvSpPr>
        <p:spPr>
          <a:xfrm>
            <a:off x="684213" y="4524375"/>
            <a:ext cx="7772400" cy="863600"/>
          </a:xfrm>
        </p:spPr>
        <p:txBody>
          <a:bodyPr vert="horz" wrap="square" lIns="91440" tIns="45720" rIns="91440" bIns="45720" anchor="t" anchorCtr="0"/>
          <a:p>
            <a:pPr algn="just" eaLnBrk="1" hangingPunct="1">
              <a:spcBef>
                <a:spcPct val="0"/>
              </a:spcBef>
              <a:buNone/>
            </a:pPr>
            <a:r>
              <a:rPr lang="zh-CN" altLang="en-US" sz="2400" dirty="0">
                <a:solidFill>
                  <a:srgbClr val="0000FF"/>
                </a:solidFill>
                <a:latin typeface="黑体" panose="02010609060101010101" pitchFamily="49" charset="-122"/>
                <a:ea typeface="黑体" panose="02010609060101010101" pitchFamily="49" charset="-122"/>
              </a:rPr>
              <a:t>例：</a:t>
            </a:r>
            <a:r>
              <a:rPr lang="en-US" altLang="zh-CN" sz="2400" dirty="0">
                <a:latin typeface="黑体" panose="02010609060101010101" pitchFamily="49" charset="-122"/>
                <a:ea typeface="黑体" panose="02010609060101010101" pitchFamily="49" charset="-122"/>
              </a:rPr>
              <a:t>MOV DX,FF02H </a:t>
            </a:r>
            <a:endParaRPr lang="en-US" altLang="zh-CN" sz="2400" dirty="0">
              <a:latin typeface="黑体" panose="02010609060101010101" pitchFamily="49" charset="-122"/>
              <a:ea typeface="黑体" panose="02010609060101010101" pitchFamily="49" charset="-122"/>
            </a:endParaRPr>
          </a:p>
          <a:p>
            <a:pPr algn="just" eaLnBrk="1" hangingPunct="1">
              <a:spcBef>
                <a:spcPct val="0"/>
              </a:spcBef>
              <a:buNone/>
            </a:pPr>
            <a:r>
              <a:rPr lang="en-US" altLang="zh-CN" sz="2400" dirty="0">
                <a:latin typeface="黑体" panose="02010609060101010101" pitchFamily="49" charset="-122"/>
                <a:ea typeface="黑体" panose="02010609060101010101" pitchFamily="49" charset="-122"/>
              </a:rPr>
              <a:t>    OUT  DX, AL  ；AL</a:t>
            </a:r>
            <a:r>
              <a:rPr lang="zh-CN" altLang="en-US" sz="2400" dirty="0">
                <a:latin typeface="黑体" panose="02010609060101010101" pitchFamily="49" charset="-122"/>
                <a:ea typeface="黑体" panose="02010609060101010101" pitchFamily="49" charset="-122"/>
              </a:rPr>
              <a:t>中的字节输出到</a:t>
            </a:r>
            <a:r>
              <a:rPr lang="en-US" altLang="zh-CN" sz="2400" dirty="0">
                <a:latin typeface="黑体" panose="02010609060101010101" pitchFamily="49" charset="-122"/>
                <a:ea typeface="黑体" panose="02010609060101010101" pitchFamily="49" charset="-122"/>
              </a:rPr>
              <a:t>DX</a:t>
            </a:r>
            <a:r>
              <a:rPr lang="zh-CN" altLang="en-US" sz="2400" dirty="0">
                <a:latin typeface="黑体" panose="02010609060101010101" pitchFamily="49" charset="-122"/>
                <a:ea typeface="黑体" panose="02010609060101010101" pitchFamily="49" charset="-122"/>
              </a:rPr>
              <a:t>所指端口中</a:t>
            </a:r>
            <a:endParaRPr lang="zh-CN" altLang="en-US" sz="2400" dirty="0">
              <a:latin typeface="黑体" panose="02010609060101010101" pitchFamily="49" charset="-122"/>
              <a:ea typeface="黑体" panose="02010609060101010101" pitchFamily="49" charset="-122"/>
            </a:endParaRPr>
          </a:p>
        </p:txBody>
      </p:sp>
      <p:sp>
        <p:nvSpPr>
          <p:cNvPr id="30725" name="Rectangle 18"/>
          <p:cNvSpPr/>
          <p:nvPr/>
        </p:nvSpPr>
        <p:spPr>
          <a:xfrm>
            <a:off x="1116013" y="5532438"/>
            <a:ext cx="7127875" cy="504825"/>
          </a:xfrm>
          <a:prstGeom prst="rect">
            <a:avLst/>
          </a:prstGeom>
          <a:noFill/>
          <a:ln w="9525" cap="flat" cmpd="sng">
            <a:solidFill>
              <a:srgbClr val="FF00FF"/>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Bef>
                <a:spcPct val="0"/>
              </a:spcBef>
              <a:spcAft>
                <a:spcPct val="0"/>
              </a:spcAft>
              <a:buNone/>
            </a:pPr>
            <a:r>
              <a:rPr lang="zh-CN" altLang="en-US" sz="2400" b="0" dirty="0">
                <a:solidFill>
                  <a:srgbClr val="0000FF"/>
                </a:solidFill>
                <a:latin typeface="黑体" panose="02010609060101010101" pitchFamily="49" charset="-122"/>
                <a:ea typeface="黑体" panose="02010609060101010101" pitchFamily="49" charset="-122"/>
              </a:rPr>
              <a:t>注意：</a:t>
            </a:r>
            <a:r>
              <a:rPr lang="en-US" altLang="zh-CN" sz="2400" b="0" dirty="0">
                <a:solidFill>
                  <a:schemeClr val="tx1"/>
                </a:solidFill>
                <a:latin typeface="黑体" panose="02010609060101010101" pitchFamily="49" charset="-122"/>
                <a:ea typeface="黑体" panose="02010609060101010101" pitchFamily="49" charset="-122"/>
              </a:rPr>
              <a:t>16</a:t>
            </a:r>
            <a:r>
              <a:rPr lang="zh-CN" altLang="en-US" sz="2400" b="0" dirty="0">
                <a:solidFill>
                  <a:schemeClr val="tx1"/>
                </a:solidFill>
                <a:latin typeface="黑体" panose="02010609060101010101" pitchFamily="49" charset="-122"/>
                <a:ea typeface="黑体" panose="02010609060101010101" pitchFamily="49" charset="-122"/>
              </a:rPr>
              <a:t>位</a:t>
            </a:r>
            <a:r>
              <a:rPr lang="en-US" altLang="zh-CN" sz="2400" b="0" dirty="0">
                <a:solidFill>
                  <a:schemeClr val="tx1"/>
                </a:solidFill>
                <a:latin typeface="黑体" panose="02010609060101010101" pitchFamily="49" charset="-122"/>
                <a:ea typeface="黑体" panose="02010609060101010101" pitchFamily="49" charset="-122"/>
              </a:rPr>
              <a:t>I/O</a:t>
            </a:r>
            <a:r>
              <a:rPr lang="zh-CN" altLang="en-US" sz="2400" b="0" dirty="0">
                <a:solidFill>
                  <a:schemeClr val="tx1"/>
                </a:solidFill>
                <a:latin typeface="黑体" panose="02010609060101010101" pitchFamily="49" charset="-122"/>
                <a:ea typeface="黑体" panose="02010609060101010101" pitchFamily="49" charset="-122"/>
              </a:rPr>
              <a:t>端口地址必须使用</a:t>
            </a:r>
            <a:r>
              <a:rPr lang="en-US" altLang="zh-CN" sz="2400" b="0" dirty="0">
                <a:solidFill>
                  <a:schemeClr val="tx1"/>
                </a:solidFill>
                <a:latin typeface="黑体" panose="02010609060101010101" pitchFamily="49" charset="-122"/>
                <a:ea typeface="黑体" panose="02010609060101010101" pitchFamily="49" charset="-122"/>
              </a:rPr>
              <a:t>DX</a:t>
            </a:r>
            <a:r>
              <a:rPr lang="zh-CN" altLang="en-US" sz="2400" b="0" dirty="0">
                <a:solidFill>
                  <a:schemeClr val="tx1"/>
                </a:solidFill>
                <a:latin typeface="黑体" panose="02010609060101010101" pitchFamily="49" charset="-122"/>
                <a:ea typeface="黑体" panose="02010609060101010101" pitchFamily="49" charset="-122"/>
              </a:rPr>
              <a:t>寄存器间接寻址</a:t>
            </a:r>
            <a:endParaRPr lang="zh-CN" altLang="en-US" sz="2400" b="0" dirty="0">
              <a:solidFill>
                <a:schemeClr val="tx1"/>
              </a:solidFill>
              <a:latin typeface="黑体" panose="02010609060101010101" pitchFamily="49" charset="-122"/>
              <a:ea typeface="黑体" panose="02010609060101010101" pitchFamily="49" charset="-122"/>
            </a:endParaRPr>
          </a:p>
        </p:txBody>
      </p:sp>
      <p:sp>
        <p:nvSpPr>
          <p:cNvPr id="110598" name="Rectangle 2"/>
          <p:cNvSpPr txBox="1"/>
          <p:nvPr/>
        </p:nvSpPr>
        <p:spPr>
          <a:xfrm>
            <a:off x="1150938" y="908050"/>
            <a:ext cx="2557462" cy="76835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4400" b="0" dirty="0">
                <a:solidFill>
                  <a:srgbClr val="800000"/>
                </a:solidFill>
                <a:latin typeface="Tahoma" panose="020B0604030504040204" pitchFamily="34" charset="0"/>
                <a:ea typeface="隶书" panose="02010509060101010101" pitchFamily="49" charset="-122"/>
              </a:rPr>
              <a:t>间接寻址</a:t>
            </a:r>
            <a:endParaRPr lang="zh-CN" altLang="en-US" sz="4400" b="0" dirty="0">
              <a:solidFill>
                <a:srgbClr val="800000"/>
              </a:solidFill>
              <a:latin typeface="Tahoma" panose="020B0604030504040204" pitchFamily="34" charset="0"/>
              <a:ea typeface="隶书" panose="020105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Effect transition="in" filter="blinds(horizontal)">
                                      <p:cBhvr>
                                        <p:cTn id="7" dur="500"/>
                                        <p:tgtEl>
                                          <p:spTgt spid="3072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0724">
                                            <p:txEl>
                                              <p:charRg st="0" end="16"/>
                                            </p:txEl>
                                          </p:spTgt>
                                        </p:tgtEl>
                                        <p:attrNameLst>
                                          <p:attrName>style.visibility</p:attrName>
                                        </p:attrNameLst>
                                      </p:cBhvr>
                                      <p:to>
                                        <p:strVal val="visible"/>
                                      </p:to>
                                    </p:set>
                                    <p:animEffect transition="in" filter="box(in)">
                                      <p:cBhvr>
                                        <p:cTn id="12" dur="500"/>
                                        <p:tgtEl>
                                          <p:spTgt spid="30724">
                                            <p:txEl>
                                              <p:charRg st="0" end="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0724">
                                            <p:txEl>
                                              <p:charRg st="16" end="51"/>
                                            </p:txEl>
                                          </p:spTgt>
                                        </p:tgtEl>
                                        <p:attrNameLst>
                                          <p:attrName>style.visibility</p:attrName>
                                        </p:attrNameLst>
                                      </p:cBhvr>
                                      <p:to>
                                        <p:strVal val="visible"/>
                                      </p:to>
                                    </p:set>
                                    <p:animEffect transition="in" filter="box(in)">
                                      <p:cBhvr>
                                        <p:cTn id="17" dur="500"/>
                                        <p:tgtEl>
                                          <p:spTgt spid="30724">
                                            <p:txEl>
                                              <p:charRg st="16" end="5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0725"/>
                                        </p:tgtEl>
                                        <p:attrNameLst>
                                          <p:attrName>style.visibility</p:attrName>
                                        </p:attrNameLst>
                                      </p:cBhvr>
                                      <p:to>
                                        <p:strVal val="visible"/>
                                      </p:to>
                                    </p:set>
                                    <p:animEffect transition="in" filter="box(in)">
                                      <p:cBhvr>
                                        <p:cTn id="22" dur="500"/>
                                        <p:tgtEl>
                                          <p:spTgt spid="3072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0725">
                                            <p:txEl>
                                              <p:charRg st="0" end="27"/>
                                            </p:txEl>
                                          </p:spTgt>
                                        </p:tgtEl>
                                        <p:attrNameLst>
                                          <p:attrName>style.visibility</p:attrName>
                                        </p:attrNameLst>
                                      </p:cBhvr>
                                      <p:to>
                                        <p:strVal val="visible"/>
                                      </p:to>
                                    </p:set>
                                    <p:animEffect transition="in" filter="box(in)">
                                      <p:cBhvr>
                                        <p:cTn id="27" dur="500"/>
                                        <p:tgtEl>
                                          <p:spTgt spid="30725">
                                            <p:txEl>
                                              <p:charRg st="0" end="2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p:bldP spid="30724" grpId="0" build="p"/>
      <p:bldP spid="30725" grpId="0" animBg="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7"/>
          <p:cNvSpPr>
            <a:spLocks noGrp="1"/>
          </p:cNvSpPr>
          <p:nvPr>
            <p:ph type="body" idx="4294967295"/>
          </p:nvPr>
        </p:nvSpPr>
        <p:spPr>
          <a:xfrm>
            <a:off x="1144588" y="2203450"/>
            <a:ext cx="6553200" cy="1008063"/>
          </a:xfrm>
        </p:spPr>
        <p:txBody>
          <a:bodyPr vert="horz" wrap="square" lIns="91440" tIns="45720" rIns="91440" bIns="45720" anchor="t" anchorCtr="0"/>
          <a:p>
            <a:pPr algn="just" eaLnBrk="1" hangingPunct="1">
              <a:spcBef>
                <a:spcPct val="0"/>
              </a:spcBef>
              <a:buNone/>
            </a:pPr>
            <a:r>
              <a:rPr lang="zh-CN" altLang="en-US" dirty="0">
                <a:solidFill>
                  <a:srgbClr val="0000FF"/>
                </a:solidFill>
                <a:latin typeface="黑体" panose="02010609060101010101" pitchFamily="49" charset="-122"/>
                <a:ea typeface="黑体" panose="02010609060101010101" pitchFamily="49" charset="-122"/>
              </a:rPr>
              <a:t>指令格式：	</a:t>
            </a:r>
            <a:r>
              <a:rPr lang="en-US" altLang="zh-CN" dirty="0">
                <a:solidFill>
                  <a:srgbClr val="000000"/>
                </a:solidFill>
                <a:latin typeface="黑体" panose="02010609060101010101" pitchFamily="49" charset="-122"/>
                <a:ea typeface="黑体" panose="02010609060101010101" pitchFamily="49" charset="-122"/>
              </a:rPr>
              <a:t>IN   AL/AX/EAX，imm8/DX</a:t>
            </a:r>
            <a:endParaRPr lang="en-US" altLang="zh-CN" dirty="0">
              <a:solidFill>
                <a:srgbClr val="000000"/>
              </a:solidFill>
              <a:latin typeface="黑体" panose="02010609060101010101" pitchFamily="49" charset="-122"/>
              <a:ea typeface="黑体" panose="02010609060101010101" pitchFamily="49" charset="-122"/>
            </a:endParaRPr>
          </a:p>
          <a:p>
            <a:pPr algn="just" eaLnBrk="1" hangingPunct="1">
              <a:spcBef>
                <a:spcPct val="0"/>
              </a:spcBef>
              <a:buNone/>
            </a:pPr>
            <a:r>
              <a:rPr lang="en-US" altLang="zh-CN" dirty="0">
                <a:solidFill>
                  <a:srgbClr val="000000"/>
                </a:solidFill>
                <a:latin typeface="黑体" panose="02010609060101010101" pitchFamily="49" charset="-122"/>
                <a:ea typeface="黑体" panose="02010609060101010101" pitchFamily="49" charset="-122"/>
              </a:rPr>
              <a:t>          OUT  imm8/DX，AL/AX/EAX</a:t>
            </a:r>
            <a:endParaRPr lang="zh-CN" altLang="en-US" dirty="0">
              <a:solidFill>
                <a:srgbClr val="000000"/>
              </a:solidFill>
              <a:latin typeface="黑体" panose="02010609060101010101" pitchFamily="49" charset="-122"/>
              <a:ea typeface="黑体" panose="02010609060101010101" pitchFamily="49" charset="-122"/>
            </a:endParaRPr>
          </a:p>
        </p:txBody>
      </p:sp>
      <p:sp>
        <p:nvSpPr>
          <p:cNvPr id="31747" name="AutoShape 8"/>
          <p:cNvSpPr/>
          <p:nvPr/>
        </p:nvSpPr>
        <p:spPr>
          <a:xfrm>
            <a:off x="1063625" y="3357563"/>
            <a:ext cx="3095625" cy="457200"/>
          </a:xfrm>
          <a:prstGeom prst="flowChartAlternateProcess">
            <a:avLst/>
          </a:prstGeom>
          <a:noFill/>
          <a:ln w="12700" cap="flat" cmpd="sng">
            <a:solidFill>
              <a:srgbClr val="FF00FF"/>
            </a:solidFill>
            <a:prstDash val="solid"/>
            <a:miter/>
            <a:headEnd type="none" w="med" len="med"/>
            <a:tailEnd type="none" w="med" len="med"/>
          </a:ln>
        </p:spPr>
        <p:txBody>
          <a:bodyPr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90000"/>
              </a:lnSpc>
              <a:spcBef>
                <a:spcPct val="0"/>
              </a:spcBef>
              <a:spcAft>
                <a:spcPct val="0"/>
              </a:spcAft>
              <a:buClrTx/>
              <a:buSzTx/>
              <a:buNone/>
            </a:pPr>
            <a:r>
              <a:rPr lang="zh-CN" altLang="en-US" sz="2400" dirty="0">
                <a:solidFill>
                  <a:srgbClr val="FF0000"/>
                </a:solidFill>
                <a:latin typeface="Tahoma" panose="020B0604030504040204" pitchFamily="34" charset="0"/>
                <a:ea typeface="楷体_GB2312"/>
              </a:rPr>
              <a:t>例：</a:t>
            </a:r>
            <a:r>
              <a:rPr lang="zh-CN" altLang="en-US" sz="2400" dirty="0">
                <a:solidFill>
                  <a:schemeClr val="tx1"/>
                </a:solidFill>
                <a:latin typeface="Tahoma" panose="020B0604030504040204" pitchFamily="34" charset="0"/>
                <a:ea typeface="楷体_GB2312"/>
              </a:rPr>
              <a:t>输入字数据</a:t>
            </a:r>
            <a:endParaRPr lang="zh-CN" altLang="en-US" sz="2400" dirty="0">
              <a:solidFill>
                <a:schemeClr val="tx1"/>
              </a:solidFill>
              <a:latin typeface="Tahoma" panose="020B0604030504040204" pitchFamily="34" charset="0"/>
              <a:ea typeface="楷体_GB2312"/>
            </a:endParaRPr>
          </a:p>
        </p:txBody>
      </p:sp>
      <p:sp>
        <p:nvSpPr>
          <p:cNvPr id="31748" name="Rectangle 9"/>
          <p:cNvSpPr/>
          <p:nvPr/>
        </p:nvSpPr>
        <p:spPr>
          <a:xfrm>
            <a:off x="1135063" y="5805488"/>
            <a:ext cx="5041900" cy="936625"/>
          </a:xfrm>
          <a:prstGeom prst="rect">
            <a:avLst/>
          </a:prstGeom>
          <a:solidFill>
            <a:schemeClr val="bg1"/>
          </a:solidFill>
          <a:ln w="9525" cap="flat" cmpd="sng">
            <a:solidFill>
              <a:srgbClr val="FF00FF"/>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390525" defTabSz="914400">
              <a:lnSpc>
                <a:spcPct val="120000"/>
              </a:lnSpc>
              <a:spcBef>
                <a:spcPct val="0"/>
              </a:spcBef>
              <a:spcAft>
                <a:spcPct val="0"/>
              </a:spcAft>
              <a:buNone/>
              <a:tabLst>
                <a:tab pos="3342005" algn="l"/>
              </a:tabLst>
            </a:pPr>
            <a:r>
              <a:rPr lang="en-US" altLang="zh-CN" sz="2400" dirty="0">
                <a:solidFill>
                  <a:srgbClr val="0000FF"/>
                </a:solidFill>
                <a:latin typeface="宋体" panose="02010600030101010101" pitchFamily="2" charset="-122"/>
                <a:ea typeface="楷体_GB2312"/>
              </a:rPr>
              <a:t>mov dx,20h</a:t>
            </a:r>
            <a:r>
              <a:rPr lang="en-US" altLang="zh-CN" sz="2400" dirty="0">
                <a:solidFill>
                  <a:schemeClr val="accent2"/>
                </a:solidFill>
                <a:latin typeface="宋体" panose="02010600030101010101" pitchFamily="2" charset="-122"/>
                <a:ea typeface="楷体_GB2312"/>
              </a:rPr>
              <a:t> </a:t>
            </a:r>
            <a:r>
              <a:rPr lang="zh-CN" altLang="en-US" sz="2400" dirty="0">
                <a:solidFill>
                  <a:schemeClr val="tx1"/>
                </a:solidFill>
                <a:latin typeface="宋体" panose="02010600030101010101" pitchFamily="2" charset="-122"/>
                <a:ea typeface="楷体_GB2312"/>
              </a:rPr>
              <a:t>；</a:t>
            </a:r>
            <a:r>
              <a:rPr lang="zh-CN" altLang="en-US" sz="1800" dirty="0">
                <a:solidFill>
                  <a:schemeClr val="tx1"/>
                </a:solidFill>
                <a:latin typeface="宋体" panose="02010600030101010101" pitchFamily="2" charset="-122"/>
                <a:ea typeface="楷体_GB2312"/>
              </a:rPr>
              <a:t>间接寻址，字数据输入</a:t>
            </a:r>
            <a:endParaRPr lang="zh-CN" altLang="en-US" sz="1800" dirty="0">
              <a:solidFill>
                <a:schemeClr val="accent2"/>
              </a:solidFill>
              <a:latin typeface="宋体" panose="02010600030101010101" pitchFamily="2" charset="-122"/>
              <a:ea typeface="楷体_GB2312"/>
            </a:endParaRPr>
          </a:p>
          <a:p>
            <a:pPr marL="0" lvl="0" indent="390525" defTabSz="914400">
              <a:lnSpc>
                <a:spcPct val="120000"/>
              </a:lnSpc>
              <a:spcBef>
                <a:spcPct val="0"/>
              </a:spcBef>
              <a:spcAft>
                <a:spcPct val="0"/>
              </a:spcAft>
              <a:buNone/>
              <a:tabLst>
                <a:tab pos="3342005" algn="l"/>
              </a:tabLst>
            </a:pPr>
            <a:r>
              <a:rPr lang="en-US" altLang="zh-CN" sz="2400" dirty="0">
                <a:solidFill>
                  <a:srgbClr val="0000FF"/>
                </a:solidFill>
                <a:latin typeface="宋体" panose="02010600030101010101" pitchFamily="2" charset="-122"/>
                <a:ea typeface="楷体_GB2312"/>
              </a:rPr>
              <a:t>in ax,dx</a:t>
            </a:r>
            <a:endParaRPr lang="en-US" altLang="zh-CN" sz="2400" dirty="0">
              <a:solidFill>
                <a:srgbClr val="0000FF"/>
              </a:solidFill>
              <a:latin typeface="宋体" panose="02010600030101010101" pitchFamily="2" charset="-122"/>
              <a:ea typeface="楷体_GB2312"/>
            </a:endParaRPr>
          </a:p>
        </p:txBody>
      </p:sp>
      <p:sp>
        <p:nvSpPr>
          <p:cNvPr id="31749" name="Rectangle 10"/>
          <p:cNvSpPr/>
          <p:nvPr/>
        </p:nvSpPr>
        <p:spPr>
          <a:xfrm>
            <a:off x="1135063" y="5157788"/>
            <a:ext cx="5041900" cy="503237"/>
          </a:xfrm>
          <a:prstGeom prst="rect">
            <a:avLst/>
          </a:prstGeom>
          <a:solidFill>
            <a:schemeClr val="bg1"/>
          </a:solidFill>
          <a:ln w="9525" cap="flat" cmpd="sng">
            <a:solidFill>
              <a:srgbClr val="0000FF"/>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390525" defTabSz="914400">
              <a:lnSpc>
                <a:spcPct val="120000"/>
              </a:lnSpc>
              <a:spcBef>
                <a:spcPct val="0"/>
              </a:spcBef>
              <a:spcAft>
                <a:spcPct val="0"/>
              </a:spcAft>
              <a:buNone/>
              <a:tabLst>
                <a:tab pos="3342005" algn="l"/>
              </a:tabLst>
            </a:pPr>
            <a:r>
              <a:rPr lang="en-US" altLang="zh-CN" sz="2400" dirty="0">
                <a:solidFill>
                  <a:schemeClr val="bg2"/>
                </a:solidFill>
                <a:latin typeface="宋体" panose="02010600030101010101" pitchFamily="2" charset="-122"/>
                <a:ea typeface="楷体_GB2312"/>
              </a:rPr>
              <a:t>in ax,20h </a:t>
            </a:r>
            <a:r>
              <a:rPr lang="zh-CN" altLang="en-US" sz="2400" dirty="0">
                <a:solidFill>
                  <a:schemeClr val="tx1"/>
                </a:solidFill>
                <a:latin typeface="宋体" panose="02010600030101010101" pitchFamily="2" charset="-122"/>
                <a:ea typeface="楷体_GB2312"/>
              </a:rPr>
              <a:t>；</a:t>
            </a:r>
            <a:r>
              <a:rPr lang="zh-CN" altLang="en-US" sz="1800" dirty="0">
                <a:solidFill>
                  <a:schemeClr val="tx1"/>
                </a:solidFill>
                <a:latin typeface="宋体" panose="02010600030101010101" pitchFamily="2" charset="-122"/>
                <a:ea typeface="楷体_GB2312"/>
              </a:rPr>
              <a:t>直接寻址，字数据输入</a:t>
            </a:r>
            <a:endParaRPr lang="zh-CN" altLang="en-US" sz="1800" dirty="0">
              <a:solidFill>
                <a:schemeClr val="bg2"/>
              </a:solidFill>
              <a:latin typeface="宋体" panose="02010600030101010101" pitchFamily="2" charset="-122"/>
              <a:ea typeface="楷体_GB2312"/>
            </a:endParaRPr>
          </a:p>
        </p:txBody>
      </p:sp>
      <p:sp>
        <p:nvSpPr>
          <p:cNvPr id="31750" name="Rectangle 11"/>
          <p:cNvSpPr/>
          <p:nvPr/>
        </p:nvSpPr>
        <p:spPr>
          <a:xfrm>
            <a:off x="1135063" y="3860800"/>
            <a:ext cx="5041900" cy="1150938"/>
          </a:xfrm>
          <a:prstGeom prst="rect">
            <a:avLst/>
          </a:prstGeom>
          <a:solidFill>
            <a:schemeClr val="bg1"/>
          </a:solidFill>
          <a:ln w="9525" cap="flat" cmpd="sng">
            <a:solidFill>
              <a:srgbClr val="FF00FF"/>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390525" defTabSz="914400">
              <a:lnSpc>
                <a:spcPct val="100000"/>
              </a:lnSpc>
              <a:spcBef>
                <a:spcPct val="0"/>
              </a:spcBef>
              <a:spcAft>
                <a:spcPct val="0"/>
              </a:spcAft>
              <a:buNone/>
              <a:tabLst>
                <a:tab pos="3342005" algn="l"/>
              </a:tabLst>
            </a:pPr>
            <a:r>
              <a:rPr lang="en-US" altLang="zh-CN" sz="2400" dirty="0">
                <a:solidFill>
                  <a:srgbClr val="0000FF"/>
                </a:solidFill>
                <a:latin typeface="宋体" panose="02010600030101010101" pitchFamily="2" charset="-122"/>
                <a:ea typeface="楷体_GB2312"/>
              </a:rPr>
              <a:t>in al,21h</a:t>
            </a:r>
            <a:r>
              <a:rPr lang="en-US" altLang="zh-CN" sz="2400" dirty="0">
                <a:solidFill>
                  <a:schemeClr val="accent2"/>
                </a:solidFill>
                <a:latin typeface="宋体" panose="02010600030101010101" pitchFamily="2" charset="-122"/>
                <a:ea typeface="楷体_GB2312"/>
              </a:rPr>
              <a:t> </a:t>
            </a:r>
            <a:r>
              <a:rPr lang="zh-CN" altLang="en-US" sz="2400" dirty="0">
                <a:solidFill>
                  <a:schemeClr val="tx1"/>
                </a:solidFill>
                <a:latin typeface="宋体" panose="02010600030101010101" pitchFamily="2" charset="-122"/>
                <a:ea typeface="楷体_GB2312"/>
              </a:rPr>
              <a:t>；</a:t>
            </a:r>
            <a:r>
              <a:rPr lang="zh-CN" altLang="en-US" sz="1800" dirty="0">
                <a:solidFill>
                  <a:schemeClr val="tx1"/>
                </a:solidFill>
                <a:latin typeface="宋体" panose="02010600030101010101" pitchFamily="2" charset="-122"/>
                <a:ea typeface="楷体_GB2312"/>
              </a:rPr>
              <a:t>直接寻址，字节数据输入</a:t>
            </a:r>
            <a:endParaRPr lang="zh-CN" altLang="en-US" sz="1800" dirty="0">
              <a:solidFill>
                <a:schemeClr val="tx1"/>
              </a:solidFill>
              <a:latin typeface="宋体" panose="02010600030101010101" pitchFamily="2" charset="-122"/>
              <a:ea typeface="楷体_GB2312"/>
            </a:endParaRPr>
          </a:p>
          <a:p>
            <a:pPr marL="0" lvl="0" indent="390525" defTabSz="914400">
              <a:lnSpc>
                <a:spcPct val="100000"/>
              </a:lnSpc>
              <a:spcBef>
                <a:spcPct val="0"/>
              </a:spcBef>
              <a:spcAft>
                <a:spcPct val="0"/>
              </a:spcAft>
              <a:buNone/>
              <a:tabLst>
                <a:tab pos="3342005" algn="l"/>
              </a:tabLst>
            </a:pPr>
            <a:r>
              <a:rPr lang="en-US" altLang="zh-CN" sz="2400" dirty="0">
                <a:solidFill>
                  <a:srgbClr val="0000FF"/>
                </a:solidFill>
                <a:latin typeface="宋体" panose="02010600030101010101" pitchFamily="2" charset="-122"/>
                <a:ea typeface="楷体_GB2312"/>
              </a:rPr>
              <a:t>mov ah,al</a:t>
            </a:r>
            <a:endParaRPr lang="en-US" altLang="zh-CN" sz="2400" dirty="0">
              <a:solidFill>
                <a:srgbClr val="0000FF"/>
              </a:solidFill>
              <a:latin typeface="宋体" panose="02010600030101010101" pitchFamily="2" charset="-122"/>
              <a:ea typeface="楷体_GB2312"/>
            </a:endParaRPr>
          </a:p>
          <a:p>
            <a:pPr marL="0" lvl="0" indent="390525" defTabSz="914400">
              <a:lnSpc>
                <a:spcPct val="100000"/>
              </a:lnSpc>
              <a:spcBef>
                <a:spcPct val="0"/>
              </a:spcBef>
              <a:spcAft>
                <a:spcPct val="0"/>
              </a:spcAft>
              <a:buNone/>
              <a:tabLst>
                <a:tab pos="3342005" algn="l"/>
              </a:tabLst>
            </a:pPr>
            <a:r>
              <a:rPr lang="en-US" altLang="zh-CN" sz="2400" dirty="0">
                <a:solidFill>
                  <a:srgbClr val="0000FF"/>
                </a:solidFill>
                <a:latin typeface="宋体" panose="02010600030101010101" pitchFamily="2" charset="-122"/>
                <a:ea typeface="楷体_GB2312"/>
              </a:rPr>
              <a:t>in al,20h</a:t>
            </a:r>
            <a:endParaRPr lang="en-US" altLang="zh-CN" sz="2400" dirty="0">
              <a:solidFill>
                <a:srgbClr val="0000FF"/>
              </a:solidFill>
              <a:latin typeface="宋体" panose="02010600030101010101" pitchFamily="2" charset="-122"/>
              <a:ea typeface="楷体_GB2312"/>
            </a:endParaRPr>
          </a:p>
        </p:txBody>
      </p:sp>
      <p:sp>
        <p:nvSpPr>
          <p:cNvPr id="31751" name="AutoShape 12" descr="画布"/>
          <p:cNvSpPr/>
          <p:nvPr/>
        </p:nvSpPr>
        <p:spPr>
          <a:xfrm>
            <a:off x="6392863" y="4365625"/>
            <a:ext cx="2519362" cy="2016125"/>
          </a:xfrm>
          <a:prstGeom prst="roundRect">
            <a:avLst>
              <a:gd name="adj" fmla="val 16667"/>
            </a:avLst>
          </a:prstGeom>
          <a:blipFill rotWithShape="0">
            <a:blip r:embed="rId1"/>
          </a:blipFill>
          <a:ln w="9525" cap="flat" cmpd="sng">
            <a:solidFill>
              <a:schemeClr val="accent2"/>
            </a:solidFill>
            <a:prstDash val="solid"/>
            <a:bevel/>
            <a:headEnd type="none" w="med" len="med"/>
            <a:tailEnd type="none" w="med" len="med"/>
          </a:ln>
        </p:spPr>
        <p:txBody>
          <a:bodyPr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20000"/>
              </a:lnSpc>
              <a:spcBef>
                <a:spcPct val="0"/>
              </a:spcBef>
              <a:spcAft>
                <a:spcPct val="0"/>
              </a:spcAft>
              <a:buClr>
                <a:srgbClr val="9933FF"/>
              </a:buClr>
              <a:buSzTx/>
              <a:buFont typeface="Wingdings" panose="05000000000000000000" pitchFamily="2" charset="2"/>
              <a:buChar char="Ø"/>
            </a:pPr>
            <a:r>
              <a:rPr lang="en-US" altLang="zh-CN" sz="2000" dirty="0">
                <a:solidFill>
                  <a:srgbClr val="0000FF"/>
                </a:solidFill>
                <a:ea typeface="楷体_GB2312"/>
              </a:rPr>
              <a:t> </a:t>
            </a:r>
            <a:r>
              <a:rPr lang="zh-CN" altLang="en-US" sz="2000" dirty="0">
                <a:solidFill>
                  <a:srgbClr val="0000FF"/>
                </a:solidFill>
                <a:ea typeface="楷体_GB2312"/>
              </a:rPr>
              <a:t>三段功能相同；</a:t>
            </a:r>
            <a:endParaRPr lang="zh-CN" altLang="en-US" sz="2000" dirty="0">
              <a:solidFill>
                <a:srgbClr val="0000FF"/>
              </a:solidFill>
              <a:ea typeface="楷体_GB2312"/>
            </a:endParaRPr>
          </a:p>
          <a:p>
            <a:pPr marL="0" lvl="0" indent="0" algn="just">
              <a:lnSpc>
                <a:spcPct val="120000"/>
              </a:lnSpc>
              <a:spcBef>
                <a:spcPct val="0"/>
              </a:spcBef>
              <a:spcAft>
                <a:spcPct val="0"/>
              </a:spcAft>
              <a:buClr>
                <a:srgbClr val="9933FF"/>
              </a:buClr>
              <a:buSzTx/>
              <a:buFont typeface="Wingdings" panose="05000000000000000000" pitchFamily="2" charset="2"/>
              <a:buChar char="Ø"/>
            </a:pPr>
            <a:r>
              <a:rPr lang="zh-CN" altLang="en-US" sz="2000" dirty="0">
                <a:solidFill>
                  <a:srgbClr val="0000FF"/>
                </a:solidFill>
                <a:ea typeface="楷体_GB2312"/>
              </a:rPr>
              <a:t> 字数据传送实际上实现了连续的两个端口地址的字节数据传送。</a:t>
            </a:r>
            <a:endParaRPr lang="zh-CN" altLang="en-US" sz="2000" dirty="0">
              <a:solidFill>
                <a:srgbClr val="0000FF"/>
              </a:solidFill>
              <a:ea typeface="楷体_GB2312"/>
            </a:endParaRPr>
          </a:p>
        </p:txBody>
      </p:sp>
      <p:sp>
        <p:nvSpPr>
          <p:cNvPr id="31752" name="AutoShape 13" descr="画布">
            <a:hlinkClick r:id="rId2" action="ppaction://hlinksldjump"/>
          </p:cNvPr>
          <p:cNvSpPr/>
          <p:nvPr/>
        </p:nvSpPr>
        <p:spPr>
          <a:xfrm>
            <a:off x="6248400" y="3860800"/>
            <a:ext cx="2716213" cy="457200"/>
          </a:xfrm>
          <a:prstGeom prst="roundRect">
            <a:avLst>
              <a:gd name="adj" fmla="val 16667"/>
            </a:avLst>
          </a:prstGeom>
          <a:blipFill rotWithShape="0">
            <a:blip r:embed="rId1"/>
          </a:blipFill>
          <a:ln w="9525" cap="flat" cmpd="sng">
            <a:solidFill>
              <a:schemeClr val="accent2"/>
            </a:solidFill>
            <a:prstDash val="solid"/>
            <a:bevel/>
            <a:headEnd type="none" w="med" len="med"/>
            <a:tailEnd type="none" w="med" len="med"/>
          </a:ln>
        </p:spPr>
        <p:txBody>
          <a:bodyPr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400" dirty="0">
                <a:solidFill>
                  <a:schemeClr val="tx1"/>
                </a:solidFill>
                <a:latin typeface="Tahoma" panose="020B0604030504040204" pitchFamily="34" charset="0"/>
                <a:ea typeface="楷体_GB2312"/>
              </a:rPr>
              <a:t>输入指令执行过程</a:t>
            </a:r>
            <a:endParaRPr lang="zh-CN" altLang="en-US" sz="2400" dirty="0">
              <a:solidFill>
                <a:schemeClr val="tx1"/>
              </a:solidFill>
              <a:latin typeface="Tahoma" panose="020B0604030504040204" pitchFamily="34" charset="0"/>
              <a:ea typeface="楷体_GB2312"/>
            </a:endParaRPr>
          </a:p>
        </p:txBody>
      </p:sp>
      <p:sp>
        <p:nvSpPr>
          <p:cNvPr id="111625" name="Rectangle 2"/>
          <p:cNvSpPr>
            <a:spLocks noGrp="1"/>
          </p:cNvSpPr>
          <p:nvPr>
            <p:ph type="title" idx="4294967295"/>
          </p:nvPr>
        </p:nvSpPr>
        <p:spPr>
          <a:xfrm>
            <a:off x="1150938" y="908050"/>
            <a:ext cx="3708400" cy="768350"/>
          </a:xfrm>
        </p:spPr>
        <p:txBody>
          <a:bodyPr vert="horz" wrap="square" lIns="91440" tIns="45720" rIns="91440" bIns="45720" anchor="b" anchorCtr="0"/>
          <a:p>
            <a:pPr eaLnBrk="1" hangingPunct="1"/>
            <a:r>
              <a:rPr lang="zh-CN" altLang="en-US" dirty="0"/>
              <a:t>输入输出指令</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blinds(horizontal)">
                                      <p:cBhvr>
                                        <p:cTn id="7" dur="500"/>
                                        <p:tgtEl>
                                          <p:spTgt spid="3174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3175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31750">
                                            <p:txEl>
                                              <p:charRg st="0" end="2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31750">
                                            <p:txEl>
                                              <p:charRg st="23" end="3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31750">
                                            <p:txEl>
                                              <p:charRg st="33" end="4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31749"/>
                                        </p:tgtEl>
                                        <p:attrNameLst>
                                          <p:attrName>style.visibility</p:attrName>
                                        </p:attrNameLst>
                                      </p:cBhvr>
                                      <p:to>
                                        <p:strVal val="visible"/>
                                      </p:to>
                                    </p:set>
                                    <p:animEffect transition="in" filter="slide(fromBottom)">
                                      <p:cBhvr>
                                        <p:cTn id="28" dur="500"/>
                                        <p:tgtEl>
                                          <p:spTgt spid="31749"/>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3174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7" presetClass="entr" presetSubtype="8" fill="hold" grpId="0" nodeType="clickEffect">
                                  <p:stCondLst>
                                    <p:cond delay="0"/>
                                  </p:stCondLst>
                                  <p:childTnLst>
                                    <p:set>
                                      <p:cBhvr>
                                        <p:cTn id="36" dur="1" fill="hold">
                                          <p:stCondLst>
                                            <p:cond delay="0"/>
                                          </p:stCondLst>
                                        </p:cTn>
                                        <p:tgtEl>
                                          <p:spTgt spid="31752"/>
                                        </p:tgtEl>
                                        <p:attrNameLst>
                                          <p:attrName>style.visibility</p:attrName>
                                        </p:attrNameLst>
                                      </p:cBhvr>
                                      <p:to>
                                        <p:strVal val="visible"/>
                                      </p:to>
                                    </p:set>
                                    <p:anim calcmode="lin" valueType="num">
                                      <p:cBhvr>
                                        <p:cTn id="37" dur="500" fill="hold"/>
                                        <p:tgtEl>
                                          <p:spTgt spid="31752"/>
                                        </p:tgtEl>
                                        <p:attrNameLst>
                                          <p:attrName>ppt_x</p:attrName>
                                        </p:attrNameLst>
                                      </p:cBhvr>
                                      <p:tavLst>
                                        <p:tav tm="0">
                                          <p:val>
                                            <p:strVal val="#ppt_x-#ppt_w/2"/>
                                          </p:val>
                                        </p:tav>
                                        <p:tav tm="100000">
                                          <p:val>
                                            <p:strVal val="#ppt_x"/>
                                          </p:val>
                                        </p:tav>
                                      </p:tavLst>
                                    </p:anim>
                                    <p:anim calcmode="lin" valueType="num">
                                      <p:cBhvr>
                                        <p:cTn id="38" dur="500" fill="hold"/>
                                        <p:tgtEl>
                                          <p:spTgt spid="31752"/>
                                        </p:tgtEl>
                                        <p:attrNameLst>
                                          <p:attrName>ppt_y</p:attrName>
                                        </p:attrNameLst>
                                      </p:cBhvr>
                                      <p:tavLst>
                                        <p:tav tm="0">
                                          <p:val>
                                            <p:strVal val="#ppt_y"/>
                                          </p:val>
                                        </p:tav>
                                        <p:tav tm="100000">
                                          <p:val>
                                            <p:strVal val="#ppt_y"/>
                                          </p:val>
                                        </p:tav>
                                      </p:tavLst>
                                    </p:anim>
                                    <p:anim calcmode="lin" valueType="num">
                                      <p:cBhvr>
                                        <p:cTn id="39" dur="500" fill="hold"/>
                                        <p:tgtEl>
                                          <p:spTgt spid="31752"/>
                                        </p:tgtEl>
                                        <p:attrNameLst>
                                          <p:attrName>ppt_w</p:attrName>
                                        </p:attrNameLst>
                                      </p:cBhvr>
                                      <p:tavLst>
                                        <p:tav tm="0">
                                          <p:val>
                                            <p:fltVal val="0.000000"/>
                                          </p:val>
                                        </p:tav>
                                        <p:tav tm="100000">
                                          <p:val>
                                            <p:strVal val="#ppt_w"/>
                                          </p:val>
                                        </p:tav>
                                      </p:tavLst>
                                    </p:anim>
                                    <p:anim calcmode="lin" valueType="num">
                                      <p:cBhvr>
                                        <p:cTn id="40" dur="500" fill="hold"/>
                                        <p:tgtEl>
                                          <p:spTgt spid="31752"/>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8" fill="hold" grpId="0" nodeType="clickEffect">
                                  <p:stCondLst>
                                    <p:cond delay="0"/>
                                  </p:stCondLst>
                                  <p:childTnLst>
                                    <p:set>
                                      <p:cBhvr>
                                        <p:cTn id="44" dur="1" fill="hold">
                                          <p:stCondLst>
                                            <p:cond delay="0"/>
                                          </p:stCondLst>
                                        </p:cTn>
                                        <p:tgtEl>
                                          <p:spTgt spid="31752">
                                            <p:txEl>
                                              <p:charRg st="0" end="9"/>
                                            </p:txEl>
                                          </p:spTgt>
                                        </p:tgtEl>
                                        <p:attrNameLst>
                                          <p:attrName>style.visibility</p:attrName>
                                        </p:attrNameLst>
                                      </p:cBhvr>
                                      <p:to>
                                        <p:strVal val="visible"/>
                                      </p:to>
                                    </p:set>
                                    <p:anim calcmode="lin" valueType="num">
                                      <p:cBhvr>
                                        <p:cTn id="45" dur="500" fill="hold"/>
                                        <p:tgtEl>
                                          <p:spTgt spid="31752">
                                            <p:txEl>
                                              <p:charRg st="0" end="9"/>
                                            </p:txEl>
                                          </p:spTgt>
                                        </p:tgtEl>
                                        <p:attrNameLst>
                                          <p:attrName>ppt_x</p:attrName>
                                        </p:attrNameLst>
                                      </p:cBhvr>
                                      <p:tavLst>
                                        <p:tav tm="0">
                                          <p:val>
                                            <p:strVal val="#ppt_x-#ppt_w/2"/>
                                          </p:val>
                                        </p:tav>
                                        <p:tav tm="100000">
                                          <p:val>
                                            <p:strVal val="#ppt_x"/>
                                          </p:val>
                                        </p:tav>
                                      </p:tavLst>
                                    </p:anim>
                                    <p:anim calcmode="lin" valueType="num">
                                      <p:cBhvr>
                                        <p:cTn id="46" dur="500" fill="hold"/>
                                        <p:tgtEl>
                                          <p:spTgt spid="31752">
                                            <p:txEl>
                                              <p:charRg st="0" end="9"/>
                                            </p:txEl>
                                          </p:spTgt>
                                        </p:tgtEl>
                                        <p:attrNameLst>
                                          <p:attrName>ppt_y</p:attrName>
                                        </p:attrNameLst>
                                      </p:cBhvr>
                                      <p:tavLst>
                                        <p:tav tm="0">
                                          <p:val>
                                            <p:strVal val="#ppt_y"/>
                                          </p:val>
                                        </p:tav>
                                        <p:tav tm="100000">
                                          <p:val>
                                            <p:strVal val="#ppt_y"/>
                                          </p:val>
                                        </p:tav>
                                      </p:tavLst>
                                    </p:anim>
                                    <p:anim calcmode="lin" valueType="num">
                                      <p:cBhvr>
                                        <p:cTn id="47" dur="500" fill="hold"/>
                                        <p:tgtEl>
                                          <p:spTgt spid="31752">
                                            <p:txEl>
                                              <p:charRg st="0" end="9"/>
                                            </p:txEl>
                                          </p:spTgt>
                                        </p:tgtEl>
                                        <p:attrNameLst>
                                          <p:attrName>ppt_w</p:attrName>
                                        </p:attrNameLst>
                                      </p:cBhvr>
                                      <p:tavLst>
                                        <p:tav tm="0">
                                          <p:val>
                                            <p:fltVal val="0.000000"/>
                                          </p:val>
                                        </p:tav>
                                        <p:tav tm="100000">
                                          <p:val>
                                            <p:strVal val="#ppt_w"/>
                                          </p:val>
                                        </p:tav>
                                      </p:tavLst>
                                    </p:anim>
                                    <p:anim calcmode="lin" valueType="num">
                                      <p:cBhvr>
                                        <p:cTn id="48" dur="500" fill="hold"/>
                                        <p:tgtEl>
                                          <p:spTgt spid="31752">
                                            <p:txEl>
                                              <p:charRg st="0" end="9"/>
                                            </p:txEl>
                                          </p:spTgt>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8" fill="hold" grpId="0" nodeType="clickEffect">
                                  <p:stCondLst>
                                    <p:cond delay="0"/>
                                  </p:stCondLst>
                                  <p:childTnLst>
                                    <p:set>
                                      <p:cBhvr>
                                        <p:cTn id="52" dur="1" fill="hold">
                                          <p:stCondLst>
                                            <p:cond delay="0"/>
                                          </p:stCondLst>
                                        </p:cTn>
                                        <p:tgtEl>
                                          <p:spTgt spid="31751"/>
                                        </p:tgtEl>
                                        <p:attrNameLst>
                                          <p:attrName>style.visibility</p:attrName>
                                        </p:attrNameLst>
                                      </p:cBhvr>
                                      <p:to>
                                        <p:strVal val="visible"/>
                                      </p:to>
                                    </p:set>
                                    <p:anim calcmode="lin" valueType="num">
                                      <p:cBhvr>
                                        <p:cTn id="53" dur="500" fill="hold"/>
                                        <p:tgtEl>
                                          <p:spTgt spid="31751"/>
                                        </p:tgtEl>
                                        <p:attrNameLst>
                                          <p:attrName>ppt_x</p:attrName>
                                        </p:attrNameLst>
                                      </p:cBhvr>
                                      <p:tavLst>
                                        <p:tav tm="0">
                                          <p:val>
                                            <p:strVal val="#ppt_x-#ppt_w/2"/>
                                          </p:val>
                                        </p:tav>
                                        <p:tav tm="100000">
                                          <p:val>
                                            <p:strVal val="#ppt_x"/>
                                          </p:val>
                                        </p:tav>
                                      </p:tavLst>
                                    </p:anim>
                                    <p:anim calcmode="lin" valueType="num">
                                      <p:cBhvr>
                                        <p:cTn id="54" dur="500" fill="hold"/>
                                        <p:tgtEl>
                                          <p:spTgt spid="31751"/>
                                        </p:tgtEl>
                                        <p:attrNameLst>
                                          <p:attrName>ppt_y</p:attrName>
                                        </p:attrNameLst>
                                      </p:cBhvr>
                                      <p:tavLst>
                                        <p:tav tm="0">
                                          <p:val>
                                            <p:strVal val="#ppt_y"/>
                                          </p:val>
                                        </p:tav>
                                        <p:tav tm="100000">
                                          <p:val>
                                            <p:strVal val="#ppt_y"/>
                                          </p:val>
                                        </p:tav>
                                      </p:tavLst>
                                    </p:anim>
                                    <p:anim calcmode="lin" valueType="num">
                                      <p:cBhvr>
                                        <p:cTn id="55" dur="500" fill="hold"/>
                                        <p:tgtEl>
                                          <p:spTgt spid="31751"/>
                                        </p:tgtEl>
                                        <p:attrNameLst>
                                          <p:attrName>ppt_w</p:attrName>
                                        </p:attrNameLst>
                                      </p:cBhvr>
                                      <p:tavLst>
                                        <p:tav tm="0">
                                          <p:val>
                                            <p:fltVal val="0.000000"/>
                                          </p:val>
                                        </p:tav>
                                        <p:tav tm="100000">
                                          <p:val>
                                            <p:strVal val="#ppt_w"/>
                                          </p:val>
                                        </p:tav>
                                      </p:tavLst>
                                    </p:anim>
                                    <p:anim calcmode="lin" valueType="num">
                                      <p:cBhvr>
                                        <p:cTn id="56" dur="500" fill="hold"/>
                                        <p:tgtEl>
                                          <p:spTgt spid="31751"/>
                                        </p:tgtEl>
                                        <p:attrNameLst>
                                          <p:attrName>ppt_h</p:attrName>
                                        </p:attrNameLst>
                                      </p:cBhvr>
                                      <p:tavLst>
                                        <p:tav tm="0">
                                          <p:val>
                                            <p:strVal val="#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7" presetClass="entr" presetSubtype="8" fill="hold" grpId="0" nodeType="clickEffect">
                                  <p:stCondLst>
                                    <p:cond delay="0"/>
                                  </p:stCondLst>
                                  <p:childTnLst>
                                    <p:set>
                                      <p:cBhvr>
                                        <p:cTn id="60" dur="1" fill="hold">
                                          <p:stCondLst>
                                            <p:cond delay="0"/>
                                          </p:stCondLst>
                                        </p:cTn>
                                        <p:tgtEl>
                                          <p:spTgt spid="31751">
                                            <p:txEl>
                                              <p:charRg st="0" end="9"/>
                                            </p:txEl>
                                          </p:spTgt>
                                        </p:tgtEl>
                                        <p:attrNameLst>
                                          <p:attrName>style.visibility</p:attrName>
                                        </p:attrNameLst>
                                      </p:cBhvr>
                                      <p:to>
                                        <p:strVal val="visible"/>
                                      </p:to>
                                    </p:set>
                                    <p:anim calcmode="lin" valueType="num">
                                      <p:cBhvr>
                                        <p:cTn id="61" dur="500" fill="hold"/>
                                        <p:tgtEl>
                                          <p:spTgt spid="31751">
                                            <p:txEl>
                                              <p:charRg st="0" end="9"/>
                                            </p:txEl>
                                          </p:spTgt>
                                        </p:tgtEl>
                                        <p:attrNameLst>
                                          <p:attrName>ppt_x</p:attrName>
                                        </p:attrNameLst>
                                      </p:cBhvr>
                                      <p:tavLst>
                                        <p:tav tm="0">
                                          <p:val>
                                            <p:strVal val="#ppt_x-#ppt_w/2"/>
                                          </p:val>
                                        </p:tav>
                                        <p:tav tm="100000">
                                          <p:val>
                                            <p:strVal val="#ppt_x"/>
                                          </p:val>
                                        </p:tav>
                                      </p:tavLst>
                                    </p:anim>
                                    <p:anim calcmode="lin" valueType="num">
                                      <p:cBhvr>
                                        <p:cTn id="62" dur="500" fill="hold"/>
                                        <p:tgtEl>
                                          <p:spTgt spid="31751">
                                            <p:txEl>
                                              <p:charRg st="0" end="9"/>
                                            </p:txEl>
                                          </p:spTgt>
                                        </p:tgtEl>
                                        <p:attrNameLst>
                                          <p:attrName>ppt_y</p:attrName>
                                        </p:attrNameLst>
                                      </p:cBhvr>
                                      <p:tavLst>
                                        <p:tav tm="0">
                                          <p:val>
                                            <p:strVal val="#ppt_y"/>
                                          </p:val>
                                        </p:tav>
                                        <p:tav tm="100000">
                                          <p:val>
                                            <p:strVal val="#ppt_y"/>
                                          </p:val>
                                        </p:tav>
                                      </p:tavLst>
                                    </p:anim>
                                    <p:anim calcmode="lin" valueType="num">
                                      <p:cBhvr>
                                        <p:cTn id="63" dur="500" fill="hold"/>
                                        <p:tgtEl>
                                          <p:spTgt spid="31751">
                                            <p:txEl>
                                              <p:charRg st="0" end="9"/>
                                            </p:txEl>
                                          </p:spTgt>
                                        </p:tgtEl>
                                        <p:attrNameLst>
                                          <p:attrName>ppt_w</p:attrName>
                                        </p:attrNameLst>
                                      </p:cBhvr>
                                      <p:tavLst>
                                        <p:tav tm="0">
                                          <p:val>
                                            <p:fltVal val="0.000000"/>
                                          </p:val>
                                        </p:tav>
                                        <p:tav tm="100000">
                                          <p:val>
                                            <p:strVal val="#ppt_w"/>
                                          </p:val>
                                        </p:tav>
                                      </p:tavLst>
                                    </p:anim>
                                    <p:anim calcmode="lin" valueType="num">
                                      <p:cBhvr>
                                        <p:cTn id="64" dur="500" fill="hold"/>
                                        <p:tgtEl>
                                          <p:spTgt spid="31751">
                                            <p:txEl>
                                              <p:charRg st="0" end="9"/>
                                            </p:txEl>
                                          </p:spTgt>
                                        </p:tgtEl>
                                        <p:attrNameLst>
                                          <p:attrName>ppt_h</p:attrName>
                                        </p:attrNameLst>
                                      </p:cBhvr>
                                      <p:tavLst>
                                        <p:tav tm="0">
                                          <p:val>
                                            <p:strVal val="#ppt_h"/>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17" presetClass="entr" presetSubtype="8" fill="hold" grpId="0" nodeType="clickEffect">
                                  <p:stCondLst>
                                    <p:cond delay="0"/>
                                  </p:stCondLst>
                                  <p:childTnLst>
                                    <p:set>
                                      <p:cBhvr>
                                        <p:cTn id="68" dur="1" fill="hold">
                                          <p:stCondLst>
                                            <p:cond delay="0"/>
                                          </p:stCondLst>
                                        </p:cTn>
                                        <p:tgtEl>
                                          <p:spTgt spid="31751">
                                            <p:txEl>
                                              <p:charRg st="9" end="39"/>
                                            </p:txEl>
                                          </p:spTgt>
                                        </p:tgtEl>
                                        <p:attrNameLst>
                                          <p:attrName>style.visibility</p:attrName>
                                        </p:attrNameLst>
                                      </p:cBhvr>
                                      <p:to>
                                        <p:strVal val="visible"/>
                                      </p:to>
                                    </p:set>
                                    <p:anim calcmode="lin" valueType="num">
                                      <p:cBhvr>
                                        <p:cTn id="69" dur="500" fill="hold"/>
                                        <p:tgtEl>
                                          <p:spTgt spid="31751">
                                            <p:txEl>
                                              <p:charRg st="9" end="39"/>
                                            </p:txEl>
                                          </p:spTgt>
                                        </p:tgtEl>
                                        <p:attrNameLst>
                                          <p:attrName>ppt_x</p:attrName>
                                        </p:attrNameLst>
                                      </p:cBhvr>
                                      <p:tavLst>
                                        <p:tav tm="0">
                                          <p:val>
                                            <p:strVal val="#ppt_x-#ppt_w/2"/>
                                          </p:val>
                                        </p:tav>
                                        <p:tav tm="100000">
                                          <p:val>
                                            <p:strVal val="#ppt_x"/>
                                          </p:val>
                                        </p:tav>
                                      </p:tavLst>
                                    </p:anim>
                                    <p:anim calcmode="lin" valueType="num">
                                      <p:cBhvr>
                                        <p:cTn id="70" dur="500" fill="hold"/>
                                        <p:tgtEl>
                                          <p:spTgt spid="31751">
                                            <p:txEl>
                                              <p:charRg st="9" end="39"/>
                                            </p:txEl>
                                          </p:spTgt>
                                        </p:tgtEl>
                                        <p:attrNameLst>
                                          <p:attrName>ppt_y</p:attrName>
                                        </p:attrNameLst>
                                      </p:cBhvr>
                                      <p:tavLst>
                                        <p:tav tm="0">
                                          <p:val>
                                            <p:strVal val="#ppt_y"/>
                                          </p:val>
                                        </p:tav>
                                        <p:tav tm="100000">
                                          <p:val>
                                            <p:strVal val="#ppt_y"/>
                                          </p:val>
                                        </p:tav>
                                      </p:tavLst>
                                    </p:anim>
                                    <p:anim calcmode="lin" valueType="num">
                                      <p:cBhvr>
                                        <p:cTn id="71" dur="500" fill="hold"/>
                                        <p:tgtEl>
                                          <p:spTgt spid="31751">
                                            <p:txEl>
                                              <p:charRg st="9" end="39"/>
                                            </p:txEl>
                                          </p:spTgt>
                                        </p:tgtEl>
                                        <p:attrNameLst>
                                          <p:attrName>ppt_w</p:attrName>
                                        </p:attrNameLst>
                                      </p:cBhvr>
                                      <p:tavLst>
                                        <p:tav tm="0">
                                          <p:val>
                                            <p:fltVal val="0.000000"/>
                                          </p:val>
                                        </p:tav>
                                        <p:tav tm="100000">
                                          <p:val>
                                            <p:strVal val="#ppt_w"/>
                                          </p:val>
                                        </p:tav>
                                      </p:tavLst>
                                    </p:anim>
                                    <p:anim calcmode="lin" valueType="num">
                                      <p:cBhvr>
                                        <p:cTn id="72" dur="500" fill="hold"/>
                                        <p:tgtEl>
                                          <p:spTgt spid="31751">
                                            <p:txEl>
                                              <p:charRg st="9" end="39"/>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animBg="1"/>
      <p:bldP spid="31748" grpId="0" animBg="1"/>
      <p:bldP spid="31749" grpId="0" animBg="1"/>
      <p:bldP spid="31750" grpId="0" animBg="1" build="p"/>
      <p:bldP spid="31751" grpId="0" animBg="1" build="p"/>
      <p:bldP spid="31752" grpId="0" animBg="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12643" name="Rectangle 2"/>
          <p:cNvSpPr>
            <a:spLocks noGrp="1"/>
          </p:cNvSpPr>
          <p:nvPr>
            <p:ph type="title" idx="4294967295"/>
          </p:nvPr>
        </p:nvSpPr>
        <p:spPr/>
        <p:txBody>
          <a:bodyPr vert="horz" wrap="square" lIns="91440" tIns="45720" rIns="91440" bIns="45720" anchor="b" anchorCtr="0"/>
          <a:p>
            <a:pPr eaLnBrk="1" hangingPunct="1"/>
            <a:r>
              <a:rPr lang="zh-CN" altLang="en-US" sz="4000" b="1" dirty="0"/>
              <a:t>8088/8086</a:t>
            </a:r>
            <a:r>
              <a:rPr lang="zh-CN" altLang="en-US" dirty="0"/>
              <a:t>的</a:t>
            </a:r>
            <a:r>
              <a:rPr lang="en-US" altLang="zh-CN" sz="4000" b="1" dirty="0"/>
              <a:t>I/O</a:t>
            </a:r>
            <a:r>
              <a:rPr lang="zh-CN" altLang="en-US" dirty="0"/>
              <a:t>端口编址</a:t>
            </a:r>
            <a:endParaRPr lang="zh-CN" altLang="en-US" dirty="0"/>
          </a:p>
        </p:txBody>
      </p:sp>
      <p:sp>
        <p:nvSpPr>
          <p:cNvPr id="32772" name="Rectangle 3"/>
          <p:cNvSpPr>
            <a:spLocks noGrp="1"/>
          </p:cNvSpPr>
          <p:nvPr>
            <p:ph type="body" idx="4294967295"/>
          </p:nvPr>
        </p:nvSpPr>
        <p:spPr>
          <a:xfrm>
            <a:off x="468313" y="2017713"/>
            <a:ext cx="8486775" cy="4114800"/>
          </a:xfrm>
        </p:spPr>
        <p:txBody>
          <a:bodyPr vert="horz" wrap="square" lIns="91440" tIns="45720" rIns="91440" bIns="45720" anchor="t" anchorCtr="0"/>
          <a:p>
            <a:pPr eaLnBrk="1" hangingPunct="1">
              <a:lnSpc>
                <a:spcPct val="120000"/>
              </a:lnSpc>
              <a:spcAft>
                <a:spcPct val="10000"/>
              </a:spcAft>
            </a:pPr>
            <a:r>
              <a:rPr lang="zh-CN" altLang="en-US" dirty="0"/>
              <a:t>采用</a:t>
            </a:r>
            <a:r>
              <a:rPr lang="en-GB" altLang="en-US" dirty="0"/>
              <a:t>I/O</a:t>
            </a:r>
            <a:r>
              <a:rPr lang="zh-CN" altLang="en-US" dirty="0"/>
              <a:t>独立编址方式</a:t>
            </a:r>
            <a:r>
              <a:rPr lang="en-US" altLang="zh-CN" dirty="0"/>
              <a:t>(</a:t>
            </a:r>
            <a:r>
              <a:rPr lang="zh-CN" altLang="en-US" dirty="0"/>
              <a:t>地址线与存储器共用</a:t>
            </a:r>
            <a:r>
              <a:rPr lang="en-US" altLang="zh-CN" dirty="0"/>
              <a:t>)</a:t>
            </a:r>
            <a:endParaRPr lang="en-US" altLang="zh-CN" dirty="0"/>
          </a:p>
          <a:p>
            <a:pPr eaLnBrk="1" hangingPunct="1">
              <a:lnSpc>
                <a:spcPct val="120000"/>
              </a:lnSpc>
              <a:spcAft>
                <a:spcPct val="10000"/>
              </a:spcAft>
            </a:pPr>
            <a:r>
              <a:rPr lang="zh-CN" altLang="en-US" dirty="0"/>
              <a:t>地址线上的地址信号用</a:t>
            </a:r>
            <a:r>
              <a:rPr lang="en-GB" altLang="en-US" dirty="0"/>
              <a:t>IO/M</a:t>
            </a:r>
            <a:r>
              <a:rPr lang="zh-CN" altLang="en-US" dirty="0"/>
              <a:t>来区分</a:t>
            </a:r>
            <a:endParaRPr lang="zh-CN" altLang="en-US" dirty="0"/>
          </a:p>
          <a:p>
            <a:pPr eaLnBrk="1" hangingPunct="1">
              <a:lnSpc>
                <a:spcPct val="120000"/>
              </a:lnSpc>
              <a:spcAft>
                <a:spcPct val="10000"/>
              </a:spcAft>
            </a:pPr>
            <a:r>
              <a:rPr lang="en-GB" altLang="en-US" dirty="0"/>
              <a:t>I/O</a:t>
            </a:r>
            <a:r>
              <a:rPr lang="zh-CN" altLang="en-US" dirty="0"/>
              <a:t>操作只使用</a:t>
            </a:r>
            <a:r>
              <a:rPr lang="en-GB" altLang="en-US" dirty="0"/>
              <a:t>20</a:t>
            </a:r>
            <a:r>
              <a:rPr lang="zh-CN" altLang="en-US" dirty="0"/>
              <a:t>根地址线中的</a:t>
            </a:r>
            <a:r>
              <a:rPr lang="en-GB" altLang="en-US" dirty="0">
                <a:solidFill>
                  <a:schemeClr val="hlink"/>
                </a:solidFill>
              </a:rPr>
              <a:t>16</a:t>
            </a:r>
            <a:r>
              <a:rPr lang="zh-CN" altLang="en-US" dirty="0">
                <a:solidFill>
                  <a:schemeClr val="hlink"/>
                </a:solidFill>
              </a:rPr>
              <a:t>根：</a:t>
            </a:r>
            <a:r>
              <a:rPr lang="en-GB" altLang="en-US" dirty="0">
                <a:solidFill>
                  <a:schemeClr val="hlink"/>
                </a:solidFill>
              </a:rPr>
              <a:t>A</a:t>
            </a:r>
            <a:r>
              <a:rPr lang="en-GB" altLang="en-US" baseline="-10000" dirty="0">
                <a:solidFill>
                  <a:schemeClr val="hlink"/>
                </a:solidFill>
              </a:rPr>
              <a:t>15</a:t>
            </a:r>
            <a:r>
              <a:rPr lang="zh-CN" altLang="en-US" dirty="0">
                <a:solidFill>
                  <a:schemeClr val="hlink"/>
                </a:solidFill>
              </a:rPr>
              <a:t>～</a:t>
            </a:r>
            <a:r>
              <a:rPr lang="en-GB" altLang="en-US" dirty="0">
                <a:solidFill>
                  <a:schemeClr val="hlink"/>
                </a:solidFill>
              </a:rPr>
              <a:t>A</a:t>
            </a:r>
            <a:r>
              <a:rPr lang="en-GB" altLang="en-US" baseline="-10000" dirty="0">
                <a:solidFill>
                  <a:schemeClr val="hlink"/>
                </a:solidFill>
              </a:rPr>
              <a:t>0</a:t>
            </a:r>
            <a:endParaRPr lang="en-GB" altLang="en-US" baseline="-10000" dirty="0">
              <a:solidFill>
                <a:schemeClr val="hlink"/>
              </a:solidFill>
            </a:endParaRPr>
          </a:p>
          <a:p>
            <a:pPr eaLnBrk="1" hangingPunct="1">
              <a:lnSpc>
                <a:spcPct val="120000"/>
              </a:lnSpc>
              <a:spcAft>
                <a:spcPct val="10000"/>
              </a:spcAft>
            </a:pPr>
            <a:r>
              <a:rPr lang="zh-CN" altLang="en-US" dirty="0"/>
              <a:t>可寻址的</a:t>
            </a:r>
            <a:r>
              <a:rPr lang="en-GB" altLang="en-US" dirty="0"/>
              <a:t>I/O</a:t>
            </a:r>
            <a:r>
              <a:rPr lang="zh-CN" altLang="en-US" dirty="0"/>
              <a:t>端口数为</a:t>
            </a:r>
            <a:r>
              <a:rPr lang="en-GB" altLang="en-US" dirty="0"/>
              <a:t>64K(65536)</a:t>
            </a:r>
            <a:r>
              <a:rPr lang="zh-CN" altLang="en-US" dirty="0"/>
              <a:t>个</a:t>
            </a:r>
            <a:endParaRPr lang="zh-CN" altLang="en-US" dirty="0"/>
          </a:p>
          <a:p>
            <a:pPr eaLnBrk="1" hangingPunct="1">
              <a:lnSpc>
                <a:spcPct val="120000"/>
              </a:lnSpc>
              <a:spcAft>
                <a:spcPct val="10000"/>
              </a:spcAft>
            </a:pPr>
            <a:r>
              <a:rPr lang="en-GB" altLang="en-US" dirty="0"/>
              <a:t>I/O</a:t>
            </a:r>
            <a:r>
              <a:rPr lang="zh-CN" altLang="en-US" dirty="0"/>
              <a:t>地址范围为</a:t>
            </a:r>
            <a:r>
              <a:rPr lang="en-GB" altLang="en-US" dirty="0"/>
              <a:t>0</a:t>
            </a:r>
            <a:r>
              <a:rPr lang="zh-CN" altLang="en-US" dirty="0"/>
              <a:t>～</a:t>
            </a:r>
            <a:r>
              <a:rPr lang="en-GB" altLang="en-US" dirty="0"/>
              <a:t>FFFFH</a:t>
            </a:r>
            <a:endParaRPr lang="en-GB" altLang="en-US" dirty="0"/>
          </a:p>
          <a:p>
            <a:pPr eaLnBrk="1" hangingPunct="1">
              <a:lnSpc>
                <a:spcPct val="120000"/>
              </a:lnSpc>
              <a:spcAft>
                <a:spcPct val="10000"/>
              </a:spcAft>
            </a:pPr>
            <a:r>
              <a:rPr lang="en-GB" altLang="en-US" dirty="0"/>
              <a:t>IBM PC</a:t>
            </a:r>
            <a:r>
              <a:rPr lang="zh-CN" altLang="en-US" dirty="0"/>
              <a:t>只使用了</a:t>
            </a:r>
            <a:r>
              <a:rPr lang="en-GB" altLang="en-US" dirty="0"/>
              <a:t>1024</a:t>
            </a:r>
            <a:r>
              <a:rPr lang="zh-CN" altLang="en-US" dirty="0"/>
              <a:t>个</a:t>
            </a:r>
            <a:r>
              <a:rPr lang="en-GB" altLang="en-US" dirty="0"/>
              <a:t>I/O</a:t>
            </a:r>
            <a:r>
              <a:rPr lang="zh-CN" altLang="en-US" dirty="0"/>
              <a:t>地址</a:t>
            </a:r>
            <a:r>
              <a:rPr lang="en-GB" altLang="en-US" dirty="0"/>
              <a:t>(0</a:t>
            </a:r>
            <a:r>
              <a:rPr lang="zh-CN" altLang="en-US" dirty="0"/>
              <a:t>～</a:t>
            </a:r>
            <a:r>
              <a:rPr lang="en-GB" altLang="en-US" dirty="0"/>
              <a:t>3FFH)</a:t>
            </a:r>
            <a:endParaRPr lang="zh-CN" altLang="en-US" sz="3200" b="0" dirty="0"/>
          </a:p>
        </p:txBody>
      </p:sp>
      <p:sp>
        <p:nvSpPr>
          <p:cNvPr id="32773" name="Line 30"/>
          <p:cNvSpPr/>
          <p:nvPr/>
        </p:nvSpPr>
        <p:spPr>
          <a:xfrm>
            <a:off x="5157788" y="2781300"/>
            <a:ext cx="228600" cy="0"/>
          </a:xfrm>
          <a:prstGeom prst="line">
            <a:avLst/>
          </a:prstGeom>
          <a:ln w="25400" cap="sq" cmpd="sng">
            <a:solidFill>
              <a:schemeClr val="tx1"/>
            </a:solidFill>
            <a:prstDash val="solid"/>
            <a:bevel/>
            <a:headEnd type="none" w="med" len="med"/>
            <a:tailEnd type="none" w="med" len="med"/>
          </a:ln>
        </p:spPr>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2772">
                                            <p:txEl>
                                              <p:charRg st="0" end="23"/>
                                            </p:txEl>
                                          </p:spTgt>
                                        </p:tgtEl>
                                        <p:attrNameLst>
                                          <p:attrName>style.visibility</p:attrName>
                                        </p:attrNameLst>
                                      </p:cBhvr>
                                      <p:to>
                                        <p:strVal val="visible"/>
                                      </p:to>
                                    </p:set>
                                    <p:animEffect transition="in" filter="wipe(left)">
                                      <p:cBhvr>
                                        <p:cTn id="7" dur="500"/>
                                        <p:tgtEl>
                                          <p:spTgt spid="32772">
                                            <p:txEl>
                                              <p:charRg st="0" end="2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772">
                                            <p:txEl>
                                              <p:charRg st="23" end="41"/>
                                            </p:txEl>
                                          </p:spTgt>
                                        </p:tgtEl>
                                        <p:attrNameLst>
                                          <p:attrName>style.visibility</p:attrName>
                                        </p:attrNameLst>
                                      </p:cBhvr>
                                      <p:to>
                                        <p:strVal val="visible"/>
                                      </p:to>
                                    </p:set>
                                    <p:animEffect transition="in" filter="wipe(left)">
                                      <p:cBhvr>
                                        <p:cTn id="12" dur="500"/>
                                        <p:tgtEl>
                                          <p:spTgt spid="32772">
                                            <p:txEl>
                                              <p:charRg st="23" end="41"/>
                                            </p:txEl>
                                          </p:spTgt>
                                        </p:tgtEl>
                                      </p:cBhvr>
                                    </p:animEffect>
                                  </p:childTnLst>
                                </p:cTn>
                              </p:par>
                            </p:childTnLst>
                          </p:cTn>
                        </p:par>
                        <p:par>
                          <p:cTn id="13" fill="hold">
                            <p:stCondLst>
                              <p:cond delay="500"/>
                            </p:stCondLst>
                            <p:childTnLst>
                              <p:par>
                                <p:cTn id="14" presetID="18" presetClass="entr" presetSubtype="6" fill="hold" nodeType="afterEffect">
                                  <p:stCondLst>
                                    <p:cond delay="0"/>
                                  </p:stCondLst>
                                  <p:childTnLst>
                                    <p:set>
                                      <p:cBhvr>
                                        <p:cTn id="15" dur="1" fill="hold">
                                          <p:stCondLst>
                                            <p:cond delay="0"/>
                                          </p:stCondLst>
                                        </p:cTn>
                                        <p:tgtEl>
                                          <p:spTgt spid="32773"/>
                                        </p:tgtEl>
                                        <p:attrNameLst>
                                          <p:attrName>style.visibility</p:attrName>
                                        </p:attrNameLst>
                                      </p:cBhvr>
                                      <p:to>
                                        <p:strVal val="visible"/>
                                      </p:to>
                                    </p:set>
                                    <p:animEffect transition="in" filter="strips(downRight)">
                                      <p:cBhvr>
                                        <p:cTn id="16" dur="500"/>
                                        <p:tgtEl>
                                          <p:spTgt spid="3277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2772">
                                            <p:txEl>
                                              <p:charRg st="41" end="68"/>
                                            </p:txEl>
                                          </p:spTgt>
                                        </p:tgtEl>
                                        <p:attrNameLst>
                                          <p:attrName>style.visibility</p:attrName>
                                        </p:attrNameLst>
                                      </p:cBhvr>
                                      <p:to>
                                        <p:strVal val="visible"/>
                                      </p:to>
                                    </p:set>
                                    <p:animEffect transition="in" filter="wipe(left)">
                                      <p:cBhvr>
                                        <p:cTn id="21" dur="500"/>
                                        <p:tgtEl>
                                          <p:spTgt spid="32772">
                                            <p:txEl>
                                              <p:charRg st="41" end="6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2772">
                                            <p:txEl>
                                              <p:charRg st="68" end="91"/>
                                            </p:txEl>
                                          </p:spTgt>
                                        </p:tgtEl>
                                        <p:attrNameLst>
                                          <p:attrName>style.visibility</p:attrName>
                                        </p:attrNameLst>
                                      </p:cBhvr>
                                      <p:to>
                                        <p:strVal val="visible"/>
                                      </p:to>
                                    </p:set>
                                    <p:animEffect transition="in" filter="wipe(left)">
                                      <p:cBhvr>
                                        <p:cTn id="26" dur="500"/>
                                        <p:tgtEl>
                                          <p:spTgt spid="32772">
                                            <p:txEl>
                                              <p:charRg st="68" end="9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2772">
                                            <p:txEl>
                                              <p:charRg st="91" end="107"/>
                                            </p:txEl>
                                          </p:spTgt>
                                        </p:tgtEl>
                                        <p:attrNameLst>
                                          <p:attrName>style.visibility</p:attrName>
                                        </p:attrNameLst>
                                      </p:cBhvr>
                                      <p:to>
                                        <p:strVal val="visible"/>
                                      </p:to>
                                    </p:set>
                                    <p:animEffect transition="in" filter="wipe(left)">
                                      <p:cBhvr>
                                        <p:cTn id="31" dur="500"/>
                                        <p:tgtEl>
                                          <p:spTgt spid="32772">
                                            <p:txEl>
                                              <p:charRg st="91" end="10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2772">
                                            <p:txEl>
                                              <p:charRg st="107" end="136"/>
                                            </p:txEl>
                                          </p:spTgt>
                                        </p:tgtEl>
                                        <p:attrNameLst>
                                          <p:attrName>style.visibility</p:attrName>
                                        </p:attrNameLst>
                                      </p:cBhvr>
                                      <p:to>
                                        <p:strVal val="visible"/>
                                      </p:to>
                                    </p:set>
                                    <p:animEffect transition="in" filter="wipe(left)">
                                      <p:cBhvr>
                                        <p:cTn id="36" dur="500"/>
                                        <p:tgtEl>
                                          <p:spTgt spid="32772">
                                            <p:txEl>
                                              <p:charRg st="107" end="1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13667" name="Rectangle 2"/>
          <p:cNvSpPr>
            <a:spLocks noGrp="1"/>
          </p:cNvSpPr>
          <p:nvPr>
            <p:ph type="title" idx="4294967295"/>
          </p:nvPr>
        </p:nvSpPr>
        <p:spPr/>
        <p:txBody>
          <a:bodyPr vert="horz" wrap="square" lIns="91440" tIns="45720" rIns="91440" bIns="45720" anchor="b" anchorCtr="0"/>
          <a:p>
            <a:pPr eaLnBrk="1" hangingPunct="1"/>
            <a:r>
              <a:rPr lang="zh-CN" altLang="en-US" dirty="0"/>
              <a:t>四、</a:t>
            </a:r>
            <a:r>
              <a:rPr lang="en-US" altLang="zh-CN" sz="4000" b="1" dirty="0"/>
              <a:t>I/O</a:t>
            </a:r>
            <a:r>
              <a:rPr lang="zh-CN" altLang="en-US" dirty="0"/>
              <a:t>地址的译码</a:t>
            </a:r>
            <a:endParaRPr lang="zh-CN" altLang="en-US" dirty="0"/>
          </a:p>
        </p:txBody>
      </p:sp>
      <p:sp>
        <p:nvSpPr>
          <p:cNvPr id="33796" name="Rectangle 3"/>
          <p:cNvSpPr>
            <a:spLocks noGrp="1"/>
          </p:cNvSpPr>
          <p:nvPr>
            <p:ph type="body" idx="4294967295"/>
          </p:nvPr>
        </p:nvSpPr>
        <p:spPr>
          <a:xfrm>
            <a:off x="1192213" y="1965325"/>
            <a:ext cx="6548437" cy="4343400"/>
          </a:xfrm>
        </p:spPr>
        <p:txBody>
          <a:bodyPr vert="horz" wrap="square" lIns="91440" tIns="45720" rIns="91440" bIns="45720" anchor="t" anchorCtr="0"/>
          <a:p>
            <a:pPr eaLnBrk="1" hangingPunct="1">
              <a:spcAft>
                <a:spcPct val="30000"/>
              </a:spcAft>
              <a:buNone/>
            </a:pPr>
            <a:r>
              <a:rPr lang="zh-CN" altLang="en-US" u="sng" dirty="0">
                <a:solidFill>
                  <a:schemeClr val="tx1"/>
                </a:solidFill>
              </a:rPr>
              <a:t>目的：</a:t>
            </a:r>
            <a:endParaRPr lang="zh-CN" altLang="en-US" u="sng" dirty="0">
              <a:solidFill>
                <a:schemeClr val="tx1"/>
              </a:solidFill>
            </a:endParaRPr>
          </a:p>
          <a:p>
            <a:pPr eaLnBrk="1" hangingPunct="1">
              <a:spcAft>
                <a:spcPct val="30000"/>
              </a:spcAft>
            </a:pPr>
            <a:r>
              <a:rPr lang="zh-CN" altLang="en-US" dirty="0"/>
              <a:t>确定端口的地址</a:t>
            </a:r>
            <a:endParaRPr lang="zh-CN" altLang="en-US" dirty="0"/>
          </a:p>
          <a:p>
            <a:pPr eaLnBrk="1" hangingPunct="1">
              <a:spcBef>
                <a:spcPct val="40000"/>
              </a:spcBef>
              <a:spcAft>
                <a:spcPct val="30000"/>
              </a:spcAft>
              <a:buNone/>
            </a:pPr>
            <a:r>
              <a:rPr lang="zh-CN" altLang="en-US" u="sng" dirty="0">
                <a:solidFill>
                  <a:schemeClr val="tx1"/>
                </a:solidFill>
              </a:rPr>
              <a:t>参加译码的信号：</a:t>
            </a:r>
            <a:endParaRPr lang="zh-CN" altLang="en-US" u="sng" dirty="0">
              <a:solidFill>
                <a:schemeClr val="tx1"/>
              </a:solidFill>
            </a:endParaRPr>
          </a:p>
          <a:p>
            <a:pPr eaLnBrk="1" hangingPunct="1"/>
            <a:r>
              <a:rPr lang="en-US" altLang="zh-CN" dirty="0"/>
              <a:t>IOR，IOW，</a:t>
            </a:r>
            <a:r>
              <a:rPr lang="zh-CN" altLang="en-US" dirty="0">
                <a:latin typeface="Times New Roman" panose="02020603050405020304" pitchFamily="18" charset="0"/>
              </a:rPr>
              <a:t>高位地址信号</a:t>
            </a:r>
            <a:endParaRPr lang="zh-CN" altLang="en-US" baseline="-10000" dirty="0">
              <a:latin typeface="Times New Roman" panose="02020603050405020304" pitchFamily="18" charset="0"/>
            </a:endParaRPr>
          </a:p>
          <a:p>
            <a:pPr eaLnBrk="1" hangingPunct="1"/>
            <a:r>
              <a:rPr lang="en-US" altLang="zh-CN" dirty="0"/>
              <a:t>OUT</a:t>
            </a:r>
            <a:r>
              <a:rPr lang="zh-CN" altLang="en-US" dirty="0"/>
              <a:t>指令将使总线的</a:t>
            </a:r>
            <a:r>
              <a:rPr lang="en-US" altLang="zh-CN" dirty="0"/>
              <a:t>IOW</a:t>
            </a:r>
            <a:r>
              <a:rPr lang="zh-CN" altLang="en-US" dirty="0"/>
              <a:t>信号有效</a:t>
            </a:r>
            <a:endParaRPr lang="en-US" altLang="zh-CN" dirty="0">
              <a:latin typeface="Times New Roman" panose="02020603050405020304" pitchFamily="18" charset="0"/>
            </a:endParaRPr>
          </a:p>
          <a:p>
            <a:pPr eaLnBrk="1" hangingPunct="1"/>
            <a:r>
              <a:rPr lang="en-US" altLang="zh-CN" dirty="0"/>
              <a:t>IN</a:t>
            </a:r>
            <a:r>
              <a:rPr lang="zh-CN" altLang="en-US" dirty="0"/>
              <a:t>指令将使总线的</a:t>
            </a:r>
            <a:r>
              <a:rPr lang="en-US" altLang="zh-CN" dirty="0"/>
              <a:t>IOR</a:t>
            </a:r>
            <a:r>
              <a:rPr lang="zh-CN" altLang="en-US" dirty="0"/>
              <a:t>信号有效</a:t>
            </a:r>
            <a:endParaRPr lang="en-US" altLang="zh-CN" dirty="0"/>
          </a:p>
        </p:txBody>
      </p:sp>
      <p:sp>
        <p:nvSpPr>
          <p:cNvPr id="33797" name="Line 4"/>
          <p:cNvSpPr/>
          <p:nvPr/>
        </p:nvSpPr>
        <p:spPr>
          <a:xfrm>
            <a:off x="1665288" y="4189413"/>
            <a:ext cx="587375" cy="1587"/>
          </a:xfrm>
          <a:prstGeom prst="line">
            <a:avLst/>
          </a:prstGeom>
          <a:ln w="25400" cap="sq" cmpd="sng">
            <a:solidFill>
              <a:schemeClr val="tx1"/>
            </a:solidFill>
            <a:prstDash val="solid"/>
            <a:bevel/>
            <a:headEnd type="none" w="med" len="med"/>
            <a:tailEnd type="none" w="med" len="med"/>
          </a:ln>
        </p:spPr>
      </p:sp>
      <p:sp>
        <p:nvSpPr>
          <p:cNvPr id="33798" name="Line 5"/>
          <p:cNvSpPr/>
          <p:nvPr/>
        </p:nvSpPr>
        <p:spPr>
          <a:xfrm>
            <a:off x="2706688" y="4191000"/>
            <a:ext cx="784225" cy="1588"/>
          </a:xfrm>
          <a:prstGeom prst="line">
            <a:avLst/>
          </a:prstGeom>
          <a:ln w="25400" cap="sq" cmpd="sng">
            <a:solidFill>
              <a:schemeClr val="tx1"/>
            </a:solidFill>
            <a:prstDash val="solid"/>
            <a:bevel/>
            <a:headEnd type="none" w="med" len="med"/>
            <a:tailEnd type="none" w="med" len="med"/>
          </a:ln>
        </p:spPr>
      </p:sp>
      <p:sp>
        <p:nvSpPr>
          <p:cNvPr id="33799" name="Line 6"/>
          <p:cNvSpPr/>
          <p:nvPr/>
        </p:nvSpPr>
        <p:spPr>
          <a:xfrm>
            <a:off x="4605338" y="5300663"/>
            <a:ext cx="647700" cy="0"/>
          </a:xfrm>
          <a:prstGeom prst="line">
            <a:avLst/>
          </a:prstGeom>
          <a:ln w="25400" cap="sq" cmpd="sng">
            <a:solidFill>
              <a:schemeClr val="tx1"/>
            </a:solidFill>
            <a:prstDash val="solid"/>
            <a:bevel/>
            <a:headEnd type="none" w="med" len="med"/>
            <a:tailEnd type="none" w="med" len="med"/>
          </a:ln>
        </p:spPr>
      </p:sp>
      <p:sp>
        <p:nvSpPr>
          <p:cNvPr id="33800" name="Line 7"/>
          <p:cNvSpPr/>
          <p:nvPr/>
        </p:nvSpPr>
        <p:spPr>
          <a:xfrm>
            <a:off x="4918075" y="4752975"/>
            <a:ext cx="749300" cy="1588"/>
          </a:xfrm>
          <a:prstGeom prst="line">
            <a:avLst/>
          </a:prstGeom>
          <a:ln w="25400" cap="sq" cmpd="sng">
            <a:solidFill>
              <a:schemeClr val="tx1"/>
            </a:solidFill>
            <a:prstDash val="solid"/>
            <a:bevel/>
            <a:headEnd type="none" w="med" len="med"/>
            <a:tailEnd type="none" w="med" len="med"/>
          </a:ln>
        </p:spPr>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3796">
                                            <p:txEl>
                                              <p:charRg st="0" end="4"/>
                                            </p:txEl>
                                          </p:spTgt>
                                        </p:tgtEl>
                                        <p:attrNameLst>
                                          <p:attrName>style.visibility</p:attrName>
                                        </p:attrNameLst>
                                      </p:cBhvr>
                                      <p:to>
                                        <p:strVal val="visible"/>
                                      </p:to>
                                    </p:set>
                                    <p:animEffect transition="in" filter="wipe(left)">
                                      <p:cBhvr>
                                        <p:cTn id="7" dur="500"/>
                                        <p:tgtEl>
                                          <p:spTgt spid="33796">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3796">
                                            <p:txEl>
                                              <p:charRg st="4" end="12"/>
                                            </p:txEl>
                                          </p:spTgt>
                                        </p:tgtEl>
                                        <p:attrNameLst>
                                          <p:attrName>style.visibility</p:attrName>
                                        </p:attrNameLst>
                                      </p:cBhvr>
                                      <p:to>
                                        <p:strVal val="visible"/>
                                      </p:to>
                                    </p:set>
                                    <p:animEffect transition="in" filter="wipe(left)">
                                      <p:cBhvr>
                                        <p:cTn id="11" dur="500"/>
                                        <p:tgtEl>
                                          <p:spTgt spid="33796">
                                            <p:txEl>
                                              <p:charRg st="4" end="1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3796">
                                            <p:txEl>
                                              <p:charRg st="12" end="21"/>
                                            </p:txEl>
                                          </p:spTgt>
                                        </p:tgtEl>
                                        <p:attrNameLst>
                                          <p:attrName>style.visibility</p:attrName>
                                        </p:attrNameLst>
                                      </p:cBhvr>
                                      <p:to>
                                        <p:strVal val="visible"/>
                                      </p:to>
                                    </p:set>
                                    <p:animEffect transition="in" filter="wipe(left)">
                                      <p:cBhvr>
                                        <p:cTn id="16" dur="500"/>
                                        <p:tgtEl>
                                          <p:spTgt spid="33796">
                                            <p:txEl>
                                              <p:charRg st="12" end="2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3796">
                                            <p:txEl>
                                              <p:charRg st="21" end="36"/>
                                            </p:txEl>
                                          </p:spTgt>
                                        </p:tgtEl>
                                        <p:attrNameLst>
                                          <p:attrName>style.visibility</p:attrName>
                                        </p:attrNameLst>
                                      </p:cBhvr>
                                      <p:to>
                                        <p:strVal val="visible"/>
                                      </p:to>
                                    </p:set>
                                    <p:animEffect transition="in" filter="wipe(left)">
                                      <p:cBhvr>
                                        <p:cTn id="21" dur="500"/>
                                        <p:tgtEl>
                                          <p:spTgt spid="33796">
                                            <p:txEl>
                                              <p:charRg st="21" end="36"/>
                                            </p:txEl>
                                          </p:spTgt>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33797"/>
                                        </p:tgtEl>
                                        <p:attrNameLst>
                                          <p:attrName>style.visibility</p:attrName>
                                        </p:attrNameLst>
                                      </p:cBhvr>
                                      <p:to>
                                        <p:strVal val="visible"/>
                                      </p:to>
                                    </p:set>
                                    <p:animEffect transition="in" filter="wipe(left)">
                                      <p:cBhvr>
                                        <p:cTn id="25" dur="500"/>
                                        <p:tgtEl>
                                          <p:spTgt spid="33797"/>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33798"/>
                                        </p:tgtEl>
                                        <p:attrNameLst>
                                          <p:attrName>style.visibility</p:attrName>
                                        </p:attrNameLst>
                                      </p:cBhvr>
                                      <p:to>
                                        <p:strVal val="visible"/>
                                      </p:to>
                                    </p:set>
                                    <p:animEffect transition="in" filter="wipe(left)">
                                      <p:cBhvr>
                                        <p:cTn id="29" dur="500"/>
                                        <p:tgtEl>
                                          <p:spTgt spid="3379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3796">
                                            <p:txEl>
                                              <p:charRg st="36" end="54"/>
                                            </p:txEl>
                                          </p:spTgt>
                                        </p:tgtEl>
                                        <p:attrNameLst>
                                          <p:attrName>style.visibility</p:attrName>
                                        </p:attrNameLst>
                                      </p:cBhvr>
                                      <p:to>
                                        <p:strVal val="visible"/>
                                      </p:to>
                                    </p:set>
                                    <p:animEffect transition="in" filter="wipe(left)">
                                      <p:cBhvr>
                                        <p:cTn id="34" dur="500"/>
                                        <p:tgtEl>
                                          <p:spTgt spid="33796">
                                            <p:txEl>
                                              <p:charRg st="36" end="54"/>
                                            </p:txEl>
                                          </p:spTgt>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33800"/>
                                        </p:tgtEl>
                                        <p:attrNameLst>
                                          <p:attrName>style.visibility</p:attrName>
                                        </p:attrNameLst>
                                      </p:cBhvr>
                                      <p:to>
                                        <p:strVal val="visible"/>
                                      </p:to>
                                    </p:set>
                                    <p:animEffect transition="in" filter="wipe(left)">
                                      <p:cBhvr>
                                        <p:cTn id="38" dur="500"/>
                                        <p:tgtEl>
                                          <p:spTgt spid="3380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3796">
                                            <p:txEl>
                                              <p:charRg st="54" end="71"/>
                                            </p:txEl>
                                          </p:spTgt>
                                        </p:tgtEl>
                                        <p:attrNameLst>
                                          <p:attrName>style.visibility</p:attrName>
                                        </p:attrNameLst>
                                      </p:cBhvr>
                                      <p:to>
                                        <p:strVal val="visible"/>
                                      </p:to>
                                    </p:set>
                                    <p:animEffect transition="in" filter="wipe(left)">
                                      <p:cBhvr>
                                        <p:cTn id="43" dur="500"/>
                                        <p:tgtEl>
                                          <p:spTgt spid="33796">
                                            <p:txEl>
                                              <p:charRg st="54" end="71"/>
                                            </p:txEl>
                                          </p:spTgt>
                                        </p:tgtEl>
                                      </p:cBhvr>
                                    </p:animEffect>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33799"/>
                                        </p:tgtEl>
                                        <p:attrNameLst>
                                          <p:attrName>style.visibility</p:attrName>
                                        </p:attrNameLst>
                                      </p:cBhvr>
                                      <p:to>
                                        <p:strVal val="visible"/>
                                      </p:to>
                                    </p:set>
                                    <p:animEffect transition="in" filter="wipe(left)">
                                      <p:cBhvr>
                                        <p:cTn id="47" dur="500"/>
                                        <p:tgtEl>
                                          <p:spTgt spid="33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14691" name="Rectangle 2"/>
          <p:cNvSpPr>
            <a:spLocks noGrp="1"/>
          </p:cNvSpPr>
          <p:nvPr>
            <p:ph type="title" idx="4294967295"/>
          </p:nvPr>
        </p:nvSpPr>
        <p:spPr/>
        <p:txBody>
          <a:bodyPr vert="horz" wrap="square" lIns="91440" tIns="45720" rIns="91440" bIns="45720" anchor="b" anchorCtr="0"/>
          <a:p>
            <a:pPr eaLnBrk="1" hangingPunct="1"/>
            <a:r>
              <a:rPr lang="en-US" altLang="zh-CN" sz="4000" b="1" dirty="0"/>
              <a:t>I/O</a:t>
            </a:r>
            <a:r>
              <a:rPr lang="zh-CN" altLang="en-US" dirty="0"/>
              <a:t>译码的地址信号</a:t>
            </a:r>
            <a:endParaRPr lang="zh-CN" altLang="en-US" dirty="0"/>
          </a:p>
        </p:txBody>
      </p:sp>
      <p:sp>
        <p:nvSpPr>
          <p:cNvPr id="34820" name="Rectangle 3"/>
          <p:cNvSpPr>
            <a:spLocks noGrp="1"/>
          </p:cNvSpPr>
          <p:nvPr>
            <p:ph type="body" idx="4294967295"/>
          </p:nvPr>
        </p:nvSpPr>
        <p:spPr>
          <a:xfrm>
            <a:off x="508000" y="2120900"/>
            <a:ext cx="7486650" cy="4114800"/>
          </a:xfrm>
        </p:spPr>
        <p:txBody>
          <a:bodyPr vert="horz" wrap="square" lIns="91440" tIns="45720" rIns="91440" bIns="45720" anchor="t" anchorCtr="0"/>
          <a:p>
            <a:pPr eaLnBrk="1" hangingPunct="1">
              <a:lnSpc>
                <a:spcPct val="130000"/>
              </a:lnSpc>
            </a:pPr>
            <a:r>
              <a:rPr lang="zh-CN" altLang="en-US" dirty="0"/>
              <a:t>当接口只有一个端口时，</a:t>
            </a:r>
            <a:r>
              <a:rPr lang="en-GB" altLang="en-US" dirty="0"/>
              <a:t>16</a:t>
            </a:r>
            <a:r>
              <a:rPr lang="zh-CN" altLang="en-US" dirty="0"/>
              <a:t>位地址线一般应</a:t>
            </a:r>
            <a:endParaRPr lang="zh-CN" altLang="en-US" dirty="0"/>
          </a:p>
          <a:p>
            <a:pPr eaLnBrk="1" hangingPunct="1">
              <a:lnSpc>
                <a:spcPct val="130000"/>
              </a:lnSpc>
              <a:spcBef>
                <a:spcPct val="0"/>
              </a:spcBef>
              <a:buNone/>
            </a:pPr>
            <a:r>
              <a:rPr lang="zh-CN" altLang="en-US" dirty="0"/>
              <a:t>   全部参与译码，译码输出直接选择该端口；</a:t>
            </a:r>
            <a:endParaRPr lang="zh-CN" altLang="en-US" dirty="0"/>
          </a:p>
          <a:p>
            <a:pPr eaLnBrk="1" hangingPunct="1">
              <a:lnSpc>
                <a:spcPct val="130000"/>
              </a:lnSpc>
            </a:pPr>
            <a:r>
              <a:rPr lang="zh-CN" altLang="en-US" dirty="0"/>
              <a:t>当接口具有多个端口时，则</a:t>
            </a:r>
            <a:r>
              <a:rPr lang="en-GB" altLang="en-US" dirty="0"/>
              <a:t>16</a:t>
            </a:r>
            <a:r>
              <a:rPr lang="zh-CN" altLang="en-US" dirty="0"/>
              <a:t>位地址线的高</a:t>
            </a:r>
            <a:endParaRPr lang="zh-CN" altLang="en-US" dirty="0"/>
          </a:p>
          <a:p>
            <a:pPr eaLnBrk="1" hangingPunct="1">
              <a:lnSpc>
                <a:spcPct val="130000"/>
              </a:lnSpc>
              <a:spcBef>
                <a:spcPct val="0"/>
              </a:spcBef>
              <a:buNone/>
            </a:pPr>
            <a:r>
              <a:rPr lang="zh-CN" altLang="en-US" dirty="0"/>
              <a:t>   位参与译码（决定接口的基地址），而低位</a:t>
            </a:r>
            <a:endParaRPr lang="zh-CN" altLang="en-US" dirty="0"/>
          </a:p>
          <a:p>
            <a:pPr eaLnBrk="1" hangingPunct="1">
              <a:lnSpc>
                <a:spcPct val="130000"/>
              </a:lnSpc>
              <a:spcBef>
                <a:spcPct val="0"/>
              </a:spcBef>
              <a:buNone/>
            </a:pPr>
            <a:r>
              <a:rPr lang="zh-CN" altLang="en-US" dirty="0"/>
              <a:t>   则用于确定要访问哪一个端口。</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4820">
                                            <p:txEl>
                                              <p:charRg st="0" end="21"/>
                                            </p:txEl>
                                          </p:spTgt>
                                        </p:tgtEl>
                                        <p:attrNameLst>
                                          <p:attrName>style.visibility</p:attrName>
                                        </p:attrNameLst>
                                      </p:cBhvr>
                                      <p:to>
                                        <p:strVal val="visible"/>
                                      </p:to>
                                    </p:set>
                                    <p:animEffect transition="in" filter="wipe(left)">
                                      <p:cBhvr>
                                        <p:cTn id="7" dur="500"/>
                                        <p:tgtEl>
                                          <p:spTgt spid="34820">
                                            <p:txEl>
                                              <p:charRg st="0" end="21"/>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4820">
                                            <p:txEl>
                                              <p:charRg st="21" end="44"/>
                                            </p:txEl>
                                          </p:spTgt>
                                        </p:tgtEl>
                                        <p:attrNameLst>
                                          <p:attrName>style.visibility</p:attrName>
                                        </p:attrNameLst>
                                      </p:cBhvr>
                                      <p:to>
                                        <p:strVal val="visible"/>
                                      </p:to>
                                    </p:set>
                                    <p:animEffect transition="in" filter="wipe(left)">
                                      <p:cBhvr>
                                        <p:cTn id="11" dur="500"/>
                                        <p:tgtEl>
                                          <p:spTgt spid="34820">
                                            <p:txEl>
                                              <p:charRg st="21" end="4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4820">
                                            <p:txEl>
                                              <p:charRg st="44" end="65"/>
                                            </p:txEl>
                                          </p:spTgt>
                                        </p:tgtEl>
                                        <p:attrNameLst>
                                          <p:attrName>style.visibility</p:attrName>
                                        </p:attrNameLst>
                                      </p:cBhvr>
                                      <p:to>
                                        <p:strVal val="visible"/>
                                      </p:to>
                                    </p:set>
                                    <p:animEffect transition="in" filter="wipe(left)">
                                      <p:cBhvr>
                                        <p:cTn id="16" dur="500"/>
                                        <p:tgtEl>
                                          <p:spTgt spid="34820">
                                            <p:txEl>
                                              <p:charRg st="44" end="65"/>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34820">
                                            <p:txEl>
                                              <p:charRg st="65" end="88"/>
                                            </p:txEl>
                                          </p:spTgt>
                                        </p:tgtEl>
                                        <p:attrNameLst>
                                          <p:attrName>style.visibility</p:attrName>
                                        </p:attrNameLst>
                                      </p:cBhvr>
                                      <p:to>
                                        <p:strVal val="visible"/>
                                      </p:to>
                                    </p:set>
                                    <p:animEffect transition="in" filter="wipe(left)">
                                      <p:cBhvr>
                                        <p:cTn id="20" dur="500"/>
                                        <p:tgtEl>
                                          <p:spTgt spid="34820">
                                            <p:txEl>
                                              <p:charRg st="65" end="88"/>
                                            </p:txEl>
                                          </p:spTgt>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34820">
                                            <p:txEl>
                                              <p:charRg st="88" end="106"/>
                                            </p:txEl>
                                          </p:spTgt>
                                        </p:tgtEl>
                                        <p:attrNameLst>
                                          <p:attrName>style.visibility</p:attrName>
                                        </p:attrNameLst>
                                      </p:cBhvr>
                                      <p:to>
                                        <p:strVal val="visible"/>
                                      </p:to>
                                    </p:set>
                                    <p:animEffect transition="in" filter="wipe(left)">
                                      <p:cBhvr>
                                        <p:cTn id="24" dur="500"/>
                                        <p:tgtEl>
                                          <p:spTgt spid="34820">
                                            <p:txEl>
                                              <p:charRg st="88" end="10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15715" name="Rectangle 2"/>
          <p:cNvSpPr>
            <a:spLocks noGrp="1"/>
          </p:cNvSpPr>
          <p:nvPr>
            <p:ph type="title" idx="4294967295"/>
          </p:nvPr>
        </p:nvSpPr>
        <p:spPr/>
        <p:txBody>
          <a:bodyPr vert="horz" wrap="square" lIns="91440" tIns="45720" rIns="91440" bIns="45720" anchor="b" anchorCtr="0"/>
          <a:p>
            <a:pPr eaLnBrk="1" hangingPunct="1"/>
            <a:r>
              <a:rPr lang="en-US" altLang="zh-CN" sz="4000" b="1" dirty="0"/>
              <a:t>I/O</a:t>
            </a:r>
            <a:r>
              <a:rPr lang="zh-CN" altLang="en-US" dirty="0"/>
              <a:t>地址译码例</a:t>
            </a:r>
            <a:endParaRPr lang="zh-CN" altLang="en-US" dirty="0"/>
          </a:p>
        </p:txBody>
      </p:sp>
      <p:sp>
        <p:nvSpPr>
          <p:cNvPr id="115716" name="Rectangle 3"/>
          <p:cNvSpPr>
            <a:spLocks noGrp="1"/>
          </p:cNvSpPr>
          <p:nvPr>
            <p:ph type="body" idx="4294967295"/>
          </p:nvPr>
        </p:nvSpPr>
        <p:spPr>
          <a:xfrm>
            <a:off x="252413" y="2017713"/>
            <a:ext cx="8345487" cy="4114800"/>
          </a:xfrm>
        </p:spPr>
        <p:txBody>
          <a:bodyPr vert="horz" wrap="square" lIns="91440" tIns="45720" rIns="91440" bIns="45720" anchor="t" anchorCtr="0"/>
          <a:p>
            <a:pPr eaLnBrk="1" hangingPunct="1">
              <a:lnSpc>
                <a:spcPct val="120000"/>
              </a:lnSpc>
              <a:spcAft>
                <a:spcPct val="10000"/>
              </a:spcAft>
            </a:pPr>
            <a:r>
              <a:rPr lang="zh-CN" altLang="en-US" dirty="0"/>
              <a:t>某外设接口有</a:t>
            </a:r>
            <a:r>
              <a:rPr lang="en-US" altLang="zh-CN" dirty="0"/>
              <a:t>4</a:t>
            </a:r>
            <a:r>
              <a:rPr lang="zh-CN" altLang="en-US" dirty="0"/>
              <a:t>个端口，地址为</a:t>
            </a:r>
            <a:r>
              <a:rPr lang="en-US" altLang="zh-CN" dirty="0"/>
              <a:t>2F0H</a:t>
            </a:r>
            <a:r>
              <a:rPr lang="en-GB" altLang="en-US" dirty="0"/>
              <a:t>——2F3H</a:t>
            </a:r>
            <a:r>
              <a:rPr lang="zh-CN" altLang="en-US" dirty="0"/>
              <a:t>，由</a:t>
            </a:r>
            <a:r>
              <a:rPr lang="en-GB" altLang="en-US" dirty="0"/>
              <a:t>A</a:t>
            </a:r>
            <a:r>
              <a:rPr lang="en-GB" altLang="en-US" baseline="-10000" dirty="0"/>
              <a:t>15</a:t>
            </a:r>
            <a:r>
              <a:rPr lang="zh-CN" altLang="en-US" dirty="0"/>
              <a:t>～</a:t>
            </a:r>
            <a:r>
              <a:rPr lang="en-GB" altLang="en-US" dirty="0"/>
              <a:t>A</a:t>
            </a:r>
            <a:r>
              <a:rPr lang="en-GB" altLang="en-US" baseline="-10000" dirty="0"/>
              <a:t>2</a:t>
            </a:r>
            <a:r>
              <a:rPr lang="zh-CN" altLang="en-US" dirty="0"/>
              <a:t>译码得到，而</a:t>
            </a:r>
            <a:r>
              <a:rPr lang="en-GB" altLang="en-US" dirty="0"/>
              <a:t>A</a:t>
            </a:r>
            <a:r>
              <a:rPr lang="en-GB" altLang="en-US" baseline="-10000" dirty="0"/>
              <a:t>1</a:t>
            </a:r>
            <a:r>
              <a:rPr lang="zh-CN" altLang="en-US" baseline="-10000" dirty="0"/>
              <a:t>、</a:t>
            </a:r>
            <a:r>
              <a:rPr lang="en-GB" altLang="en-US" dirty="0"/>
              <a:t>A</a:t>
            </a:r>
            <a:r>
              <a:rPr lang="en-GB" altLang="en-US" baseline="-10000" dirty="0"/>
              <a:t>0</a:t>
            </a:r>
            <a:r>
              <a:rPr lang="zh-CN" altLang="en-US" dirty="0"/>
              <a:t>用来区分接口中的</a:t>
            </a:r>
            <a:r>
              <a:rPr lang="en-US" altLang="zh-CN" dirty="0"/>
              <a:t>4</a:t>
            </a:r>
            <a:r>
              <a:rPr lang="zh-CN" altLang="en-US" dirty="0"/>
              <a:t>个端口。试画该接口与系统的连接图。</a:t>
            </a:r>
            <a:endParaRPr lang="zh-CN" altLang="en-US" dirty="0"/>
          </a:p>
        </p:txBody>
      </p:sp>
    </p:spTree>
  </p:cSld>
  <p:clrMapOvr>
    <a:masterClrMapping/>
  </p:clrMapOvr>
  <p:transition spd="slow">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16739" name="Rectangle 2"/>
          <p:cNvSpPr>
            <a:spLocks noGrp="1"/>
          </p:cNvSpPr>
          <p:nvPr>
            <p:ph type="title" idx="4294967295"/>
          </p:nvPr>
        </p:nvSpPr>
        <p:spPr/>
        <p:txBody>
          <a:bodyPr vert="horz" wrap="square" lIns="91440" tIns="45720" rIns="91440" bIns="45720" anchor="b" anchorCtr="0"/>
          <a:p>
            <a:pPr eaLnBrk="1" hangingPunct="1"/>
            <a:r>
              <a:rPr lang="en-US" altLang="zh-CN" sz="4000" b="1" dirty="0"/>
              <a:t>I/O</a:t>
            </a:r>
            <a:r>
              <a:rPr lang="zh-CN" altLang="en-US" dirty="0"/>
              <a:t>地址译码例</a:t>
            </a:r>
            <a:endParaRPr lang="zh-CN" altLang="en-US" dirty="0"/>
          </a:p>
        </p:txBody>
      </p:sp>
      <p:sp>
        <p:nvSpPr>
          <p:cNvPr id="36868" name="Rectangle 3"/>
          <p:cNvSpPr>
            <a:spLocks noGrp="1"/>
          </p:cNvSpPr>
          <p:nvPr>
            <p:ph type="body" idx="4294967295"/>
          </p:nvPr>
        </p:nvSpPr>
        <p:spPr>
          <a:xfrm>
            <a:off x="1184275" y="2162175"/>
            <a:ext cx="6629400" cy="1771650"/>
          </a:xfrm>
        </p:spPr>
        <p:txBody>
          <a:bodyPr vert="horz" wrap="square" lIns="91440" tIns="45720" rIns="91440" bIns="45720" anchor="t" anchorCtr="0"/>
          <a:p>
            <a:pPr eaLnBrk="1" hangingPunct="1">
              <a:spcAft>
                <a:spcPct val="35000"/>
              </a:spcAft>
            </a:pPr>
            <a:r>
              <a:rPr lang="zh-CN" altLang="en-US" dirty="0"/>
              <a:t>地址范围：</a:t>
            </a:r>
            <a:endParaRPr lang="zh-CN" altLang="en-US" dirty="0"/>
          </a:p>
          <a:p>
            <a:pPr lvl="1" eaLnBrk="1" hangingPunct="1"/>
            <a:r>
              <a:rPr lang="en-US" altLang="zh-CN" dirty="0">
                <a:cs typeface="Tahoma" panose="020B0604030504040204" pitchFamily="34" charset="0"/>
              </a:rPr>
              <a:t>× × × × </a:t>
            </a:r>
            <a:r>
              <a:rPr lang="en-US" altLang="zh-CN" dirty="0"/>
              <a:t>0 0 1 0 1 1 1 1 0 0 </a:t>
            </a:r>
            <a:r>
              <a:rPr lang="en-US" altLang="zh-CN" dirty="0">
                <a:solidFill>
                  <a:schemeClr val="hlink"/>
                </a:solidFill>
              </a:rPr>
              <a:t>0 0</a:t>
            </a:r>
            <a:endParaRPr lang="en-US" altLang="zh-CN" dirty="0">
              <a:solidFill>
                <a:schemeClr val="hlink"/>
              </a:solidFill>
            </a:endParaRPr>
          </a:p>
          <a:p>
            <a:pPr lvl="1" eaLnBrk="1" hangingPunct="1"/>
            <a:r>
              <a:rPr lang="en-US" altLang="zh-CN" dirty="0">
                <a:cs typeface="Tahoma" panose="020B0604030504040204" pitchFamily="34" charset="0"/>
              </a:rPr>
              <a:t>× × × × </a:t>
            </a:r>
            <a:r>
              <a:rPr lang="en-US" altLang="zh-CN" dirty="0"/>
              <a:t>0 0 1 0 1 1 1 1 0 0 </a:t>
            </a:r>
            <a:r>
              <a:rPr lang="en-US" altLang="zh-CN" dirty="0">
                <a:solidFill>
                  <a:schemeClr val="hlink"/>
                </a:solidFill>
              </a:rPr>
              <a:t>1 1</a:t>
            </a:r>
            <a:endParaRPr lang="en-US" altLang="zh-CN" dirty="0"/>
          </a:p>
        </p:txBody>
      </p:sp>
      <p:sp>
        <p:nvSpPr>
          <p:cNvPr id="36869" name="AutoShape 4"/>
          <p:cNvSpPr/>
          <p:nvPr/>
        </p:nvSpPr>
        <p:spPr>
          <a:xfrm rot="-5400000">
            <a:off x="2555875" y="3270250"/>
            <a:ext cx="215900" cy="1079500"/>
          </a:xfrm>
          <a:prstGeom prst="leftBrace">
            <a:avLst>
              <a:gd name="adj1" fmla="val 41412"/>
              <a:gd name="adj2" fmla="val 50000"/>
            </a:avLst>
          </a:prstGeom>
          <a:noFill/>
          <a:ln w="25400" cap="sq" cmpd="sng">
            <a:solidFill>
              <a:srgbClr val="339966"/>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36870" name="Line 5"/>
          <p:cNvSpPr/>
          <p:nvPr/>
        </p:nvSpPr>
        <p:spPr>
          <a:xfrm flipH="1">
            <a:off x="2555875" y="3990975"/>
            <a:ext cx="215900" cy="877888"/>
          </a:xfrm>
          <a:prstGeom prst="line">
            <a:avLst/>
          </a:prstGeom>
          <a:ln w="25400" cap="sq" cmpd="sng">
            <a:solidFill>
              <a:srgbClr val="FF6600"/>
            </a:solidFill>
            <a:prstDash val="solid"/>
            <a:bevel/>
            <a:headEnd type="none" w="med" len="med"/>
            <a:tailEnd type="triangle" w="lg" len="lg"/>
          </a:ln>
        </p:spPr>
      </p:sp>
      <p:sp>
        <p:nvSpPr>
          <p:cNvPr id="36871" name="Text Box 6"/>
          <p:cNvSpPr txBox="1"/>
          <p:nvPr/>
        </p:nvSpPr>
        <p:spPr>
          <a:xfrm>
            <a:off x="1835150" y="4843463"/>
            <a:ext cx="15113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任意状态</a:t>
            </a:r>
            <a:endParaRPr lang="zh-CN" altLang="en-US" sz="2400" dirty="0">
              <a:solidFill>
                <a:srgbClr val="000000"/>
              </a:solidFill>
              <a:latin typeface="Times New Roman" panose="02020603050405020304" pitchFamily="18" charset="0"/>
              <a:ea typeface="楷体_GB2312"/>
            </a:endParaRPr>
          </a:p>
        </p:txBody>
      </p:sp>
      <p:sp>
        <p:nvSpPr>
          <p:cNvPr id="36872" name="Text Box 8"/>
          <p:cNvSpPr txBox="1"/>
          <p:nvPr/>
        </p:nvSpPr>
        <p:spPr>
          <a:xfrm>
            <a:off x="3132138" y="2493963"/>
            <a:ext cx="647700"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990033"/>
                </a:solidFill>
                <a:latin typeface="Times New Roman" panose="02020603050405020304" pitchFamily="18" charset="0"/>
                <a:ea typeface="楷体_GB2312"/>
              </a:rPr>
              <a:t>A</a:t>
            </a:r>
            <a:r>
              <a:rPr lang="en-US" altLang="zh-CN" sz="1600" dirty="0">
                <a:solidFill>
                  <a:srgbClr val="990033"/>
                </a:solidFill>
                <a:latin typeface="Times New Roman" panose="02020603050405020304" pitchFamily="18" charset="0"/>
                <a:ea typeface="楷体_GB2312"/>
              </a:rPr>
              <a:t>11</a:t>
            </a:r>
            <a:endParaRPr lang="en-US" altLang="zh-CN" sz="1600" dirty="0">
              <a:solidFill>
                <a:srgbClr val="990033"/>
              </a:solidFill>
              <a:latin typeface="Times New Roman" panose="02020603050405020304" pitchFamily="18" charset="0"/>
              <a:ea typeface="楷体_GB2312"/>
            </a:endParaRPr>
          </a:p>
        </p:txBody>
      </p:sp>
      <p:sp>
        <p:nvSpPr>
          <p:cNvPr id="36873" name="AutoShape 9"/>
          <p:cNvSpPr/>
          <p:nvPr/>
        </p:nvSpPr>
        <p:spPr>
          <a:xfrm rot="-5400000">
            <a:off x="6011863" y="3717925"/>
            <a:ext cx="144462" cy="287338"/>
          </a:xfrm>
          <a:prstGeom prst="leftBrace">
            <a:avLst>
              <a:gd name="adj1" fmla="val 16464"/>
              <a:gd name="adj2" fmla="val 50000"/>
            </a:avLst>
          </a:prstGeom>
          <a:noFill/>
          <a:ln w="25400" cap="sq" cmpd="sng">
            <a:solidFill>
              <a:srgbClr val="339966"/>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36874" name="Line 10"/>
          <p:cNvSpPr/>
          <p:nvPr/>
        </p:nvSpPr>
        <p:spPr>
          <a:xfrm flipH="1">
            <a:off x="6084888" y="4005263"/>
            <a:ext cx="0" cy="863600"/>
          </a:xfrm>
          <a:prstGeom prst="line">
            <a:avLst/>
          </a:prstGeom>
          <a:ln w="25400" cap="sq" cmpd="sng">
            <a:solidFill>
              <a:srgbClr val="FF6600"/>
            </a:solidFill>
            <a:prstDash val="solid"/>
            <a:bevel/>
            <a:headEnd type="none" w="med" len="med"/>
            <a:tailEnd type="triangle" w="lg" len="lg"/>
          </a:ln>
        </p:spPr>
      </p:sp>
      <p:sp>
        <p:nvSpPr>
          <p:cNvPr id="36875" name="Text Box 11"/>
          <p:cNvSpPr txBox="1"/>
          <p:nvPr/>
        </p:nvSpPr>
        <p:spPr>
          <a:xfrm>
            <a:off x="5435600" y="4797425"/>
            <a:ext cx="15113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片内地址</a:t>
            </a:r>
            <a:endParaRPr lang="zh-CN" altLang="en-US" sz="2400" dirty="0">
              <a:solidFill>
                <a:srgbClr val="000000"/>
              </a:solidFill>
              <a:latin typeface="Times New Roman" panose="02020603050405020304" pitchFamily="18" charset="0"/>
              <a:ea typeface="楷体_GB2312"/>
            </a:endParaRPr>
          </a:p>
        </p:txBody>
      </p:sp>
      <p:sp>
        <p:nvSpPr>
          <p:cNvPr id="36876" name="Line 12"/>
          <p:cNvSpPr/>
          <p:nvPr/>
        </p:nvSpPr>
        <p:spPr>
          <a:xfrm flipH="1">
            <a:off x="2484438" y="5300663"/>
            <a:ext cx="0" cy="720725"/>
          </a:xfrm>
          <a:prstGeom prst="line">
            <a:avLst/>
          </a:prstGeom>
          <a:ln w="25400" cap="sq" cmpd="sng">
            <a:solidFill>
              <a:srgbClr val="FF6600"/>
            </a:solidFill>
            <a:prstDash val="solid"/>
            <a:bevel/>
            <a:headEnd type="none" w="med" len="med"/>
            <a:tailEnd type="triangle" w="lg" len="lg"/>
          </a:ln>
        </p:spPr>
      </p:sp>
      <p:sp>
        <p:nvSpPr>
          <p:cNvPr id="36877" name="Text Box 13"/>
          <p:cNvSpPr txBox="1"/>
          <p:nvPr/>
        </p:nvSpPr>
        <p:spPr>
          <a:xfrm>
            <a:off x="1619250" y="6021388"/>
            <a:ext cx="2016125"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图中不接入</a:t>
            </a:r>
            <a:endParaRPr lang="zh-CN" altLang="en-US" sz="2400" dirty="0">
              <a:solidFill>
                <a:srgbClr val="000000"/>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6868">
                                            <p:txEl>
                                              <p:charRg st="0" end="6"/>
                                            </p:txEl>
                                          </p:spTgt>
                                        </p:tgtEl>
                                        <p:attrNameLst>
                                          <p:attrName>style.visibility</p:attrName>
                                        </p:attrNameLst>
                                      </p:cBhvr>
                                      <p:to>
                                        <p:strVal val="visible"/>
                                      </p:to>
                                    </p:set>
                                    <p:animEffect transition="in" filter="strips(downRight)">
                                      <p:cBhvr>
                                        <p:cTn id="7" dur="500"/>
                                        <p:tgtEl>
                                          <p:spTgt spid="36868">
                                            <p:txEl>
                                              <p:charRg st="0"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868">
                                            <p:txEl>
                                              <p:charRg st="6" end="38"/>
                                            </p:txEl>
                                          </p:spTgt>
                                        </p:tgtEl>
                                        <p:attrNameLst>
                                          <p:attrName>style.visibility</p:attrName>
                                        </p:attrNameLst>
                                      </p:cBhvr>
                                      <p:to>
                                        <p:strVal val="visible"/>
                                      </p:to>
                                    </p:set>
                                    <p:animEffect transition="in" filter="wipe(left)">
                                      <p:cBhvr>
                                        <p:cTn id="12" dur="500"/>
                                        <p:tgtEl>
                                          <p:spTgt spid="36868">
                                            <p:txEl>
                                              <p:charRg st="6" end="3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6868">
                                            <p:txEl>
                                              <p:charRg st="38" end="70"/>
                                            </p:txEl>
                                          </p:spTgt>
                                        </p:tgtEl>
                                        <p:attrNameLst>
                                          <p:attrName>style.visibility</p:attrName>
                                        </p:attrNameLst>
                                      </p:cBhvr>
                                      <p:to>
                                        <p:strVal val="visible"/>
                                      </p:to>
                                    </p:set>
                                    <p:animEffect transition="in" filter="wipe(left)">
                                      <p:cBhvr>
                                        <p:cTn id="17" dur="500"/>
                                        <p:tgtEl>
                                          <p:spTgt spid="36868">
                                            <p:txEl>
                                              <p:charRg st="38" end="7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869"/>
                                        </p:tgtEl>
                                        <p:attrNameLst>
                                          <p:attrName>style.visibility</p:attrName>
                                        </p:attrNameLst>
                                      </p:cBhvr>
                                      <p:to>
                                        <p:strVal val="visible"/>
                                      </p:to>
                                    </p:set>
                                    <p:animEffect transition="in" filter="wipe(left)">
                                      <p:cBhvr>
                                        <p:cTn id="22" dur="500"/>
                                        <p:tgtEl>
                                          <p:spTgt spid="36869"/>
                                        </p:tgtEl>
                                      </p:cBhvr>
                                    </p:animEffect>
                                  </p:childTnLst>
                                </p:cTn>
                              </p:par>
                            </p:childTnLst>
                          </p:cTn>
                        </p:par>
                        <p:par>
                          <p:cTn id="23" fill="hold">
                            <p:stCondLst>
                              <p:cond delay="500"/>
                            </p:stCondLst>
                            <p:childTnLst>
                              <p:par>
                                <p:cTn id="24" presetID="18" presetClass="entr" presetSubtype="12" fill="hold" nodeType="afterEffect">
                                  <p:stCondLst>
                                    <p:cond delay="0"/>
                                  </p:stCondLst>
                                  <p:childTnLst>
                                    <p:set>
                                      <p:cBhvr>
                                        <p:cTn id="25" dur="1" fill="hold">
                                          <p:stCondLst>
                                            <p:cond delay="0"/>
                                          </p:stCondLst>
                                        </p:cTn>
                                        <p:tgtEl>
                                          <p:spTgt spid="36870"/>
                                        </p:tgtEl>
                                        <p:attrNameLst>
                                          <p:attrName>style.visibility</p:attrName>
                                        </p:attrNameLst>
                                      </p:cBhvr>
                                      <p:to>
                                        <p:strVal val="visible"/>
                                      </p:to>
                                    </p:set>
                                    <p:animEffect transition="in" filter="strips(downLeft)">
                                      <p:cBhvr>
                                        <p:cTn id="26" dur="500"/>
                                        <p:tgtEl>
                                          <p:spTgt spid="36870"/>
                                        </p:tgtEl>
                                      </p:cBhvr>
                                    </p:animEffect>
                                  </p:childTnLst>
                                </p:cTn>
                              </p:par>
                            </p:childTnLst>
                          </p:cTn>
                        </p:par>
                        <p:par>
                          <p:cTn id="27" fill="hold">
                            <p:stCondLst>
                              <p:cond delay="1000"/>
                            </p:stCondLst>
                            <p:childTnLst>
                              <p:par>
                                <p:cTn id="28" presetID="5" presetClass="entr" presetSubtype="10" fill="hold" grpId="0" nodeType="afterEffect">
                                  <p:stCondLst>
                                    <p:cond delay="0"/>
                                  </p:stCondLst>
                                  <p:childTnLst>
                                    <p:set>
                                      <p:cBhvr>
                                        <p:cTn id="29" dur="1" fill="hold">
                                          <p:stCondLst>
                                            <p:cond delay="0"/>
                                          </p:stCondLst>
                                        </p:cTn>
                                        <p:tgtEl>
                                          <p:spTgt spid="36871"/>
                                        </p:tgtEl>
                                        <p:attrNameLst>
                                          <p:attrName>style.visibility</p:attrName>
                                        </p:attrNameLst>
                                      </p:cBhvr>
                                      <p:to>
                                        <p:strVal val="visible"/>
                                      </p:to>
                                    </p:set>
                                    <p:animEffect transition="in" filter="checkerboard(across)">
                                      <p:cBhvr>
                                        <p:cTn id="30" dur="500"/>
                                        <p:tgtEl>
                                          <p:spTgt spid="36871"/>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nodeType="clickEffect">
                                  <p:stCondLst>
                                    <p:cond delay="0"/>
                                  </p:stCondLst>
                                  <p:childTnLst>
                                    <p:set>
                                      <p:cBhvr>
                                        <p:cTn id="34" dur="1" fill="hold">
                                          <p:stCondLst>
                                            <p:cond delay="0"/>
                                          </p:stCondLst>
                                        </p:cTn>
                                        <p:tgtEl>
                                          <p:spTgt spid="36876"/>
                                        </p:tgtEl>
                                        <p:attrNameLst>
                                          <p:attrName>style.visibility</p:attrName>
                                        </p:attrNameLst>
                                      </p:cBhvr>
                                      <p:to>
                                        <p:strVal val="visible"/>
                                      </p:to>
                                    </p:set>
                                    <p:animEffect transition="in" filter="strips(downLeft)">
                                      <p:cBhvr>
                                        <p:cTn id="35" dur="500"/>
                                        <p:tgtEl>
                                          <p:spTgt spid="36876"/>
                                        </p:tgtEl>
                                      </p:cBhvr>
                                    </p:animEffect>
                                  </p:childTnLst>
                                </p:cTn>
                              </p:par>
                            </p:childTnLst>
                          </p:cTn>
                        </p:par>
                        <p:par>
                          <p:cTn id="36" fill="hold">
                            <p:stCondLst>
                              <p:cond delay="500"/>
                            </p:stCondLst>
                            <p:childTnLst>
                              <p:par>
                                <p:cTn id="37" presetID="5" presetClass="entr" presetSubtype="10" fill="hold" grpId="0" nodeType="afterEffect">
                                  <p:stCondLst>
                                    <p:cond delay="0"/>
                                  </p:stCondLst>
                                  <p:childTnLst>
                                    <p:set>
                                      <p:cBhvr>
                                        <p:cTn id="38" dur="1" fill="hold">
                                          <p:stCondLst>
                                            <p:cond delay="0"/>
                                          </p:stCondLst>
                                        </p:cTn>
                                        <p:tgtEl>
                                          <p:spTgt spid="36877"/>
                                        </p:tgtEl>
                                        <p:attrNameLst>
                                          <p:attrName>style.visibility</p:attrName>
                                        </p:attrNameLst>
                                      </p:cBhvr>
                                      <p:to>
                                        <p:strVal val="visible"/>
                                      </p:to>
                                    </p:set>
                                    <p:animEffect transition="in" filter="checkerboard(across)">
                                      <p:cBhvr>
                                        <p:cTn id="39" dur="500"/>
                                        <p:tgtEl>
                                          <p:spTgt spid="36877"/>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6872"/>
                                        </p:tgtEl>
                                        <p:attrNameLst>
                                          <p:attrName>style.visibility</p:attrName>
                                        </p:attrNameLst>
                                      </p:cBhvr>
                                      <p:to>
                                        <p:strVal val="visible"/>
                                      </p:to>
                                    </p:set>
                                    <p:animEffect transition="in" filter="blinds(horizontal)">
                                      <p:cBhvr>
                                        <p:cTn id="44" dur="500"/>
                                        <p:tgtEl>
                                          <p:spTgt spid="3687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6873"/>
                                        </p:tgtEl>
                                        <p:attrNameLst>
                                          <p:attrName>style.visibility</p:attrName>
                                        </p:attrNameLst>
                                      </p:cBhvr>
                                      <p:to>
                                        <p:strVal val="visible"/>
                                      </p:to>
                                    </p:set>
                                    <p:animEffect transition="in" filter="wipe(left)">
                                      <p:cBhvr>
                                        <p:cTn id="49" dur="500"/>
                                        <p:tgtEl>
                                          <p:spTgt spid="36873"/>
                                        </p:tgtEl>
                                      </p:cBhvr>
                                    </p:animEffect>
                                  </p:childTnLst>
                                </p:cTn>
                              </p:par>
                            </p:childTnLst>
                          </p:cTn>
                        </p:par>
                        <p:par>
                          <p:cTn id="50" fill="hold">
                            <p:stCondLst>
                              <p:cond delay="500"/>
                            </p:stCondLst>
                            <p:childTnLst>
                              <p:par>
                                <p:cTn id="51" presetID="18" presetClass="entr" presetSubtype="12" fill="hold" nodeType="afterEffect">
                                  <p:stCondLst>
                                    <p:cond delay="0"/>
                                  </p:stCondLst>
                                  <p:childTnLst>
                                    <p:set>
                                      <p:cBhvr>
                                        <p:cTn id="52" dur="1" fill="hold">
                                          <p:stCondLst>
                                            <p:cond delay="0"/>
                                          </p:stCondLst>
                                        </p:cTn>
                                        <p:tgtEl>
                                          <p:spTgt spid="36874"/>
                                        </p:tgtEl>
                                        <p:attrNameLst>
                                          <p:attrName>style.visibility</p:attrName>
                                        </p:attrNameLst>
                                      </p:cBhvr>
                                      <p:to>
                                        <p:strVal val="visible"/>
                                      </p:to>
                                    </p:set>
                                    <p:animEffect transition="in" filter="strips(downLeft)">
                                      <p:cBhvr>
                                        <p:cTn id="53" dur="1000"/>
                                        <p:tgtEl>
                                          <p:spTgt spid="36874"/>
                                        </p:tgtEl>
                                      </p:cBhvr>
                                    </p:animEffect>
                                  </p:childTnLst>
                                </p:cTn>
                              </p:par>
                            </p:childTnLst>
                          </p:cTn>
                        </p:par>
                        <p:par>
                          <p:cTn id="54" fill="hold">
                            <p:stCondLst>
                              <p:cond delay="1500"/>
                            </p:stCondLst>
                            <p:childTnLst>
                              <p:par>
                                <p:cTn id="55" presetID="18" presetClass="entr" presetSubtype="6" fill="hold" grpId="0" nodeType="afterEffect">
                                  <p:stCondLst>
                                    <p:cond delay="0"/>
                                  </p:stCondLst>
                                  <p:childTnLst>
                                    <p:set>
                                      <p:cBhvr>
                                        <p:cTn id="56" dur="1" fill="hold">
                                          <p:stCondLst>
                                            <p:cond delay="0"/>
                                          </p:stCondLst>
                                        </p:cTn>
                                        <p:tgtEl>
                                          <p:spTgt spid="36875"/>
                                        </p:tgtEl>
                                        <p:attrNameLst>
                                          <p:attrName>style.visibility</p:attrName>
                                        </p:attrNameLst>
                                      </p:cBhvr>
                                      <p:to>
                                        <p:strVal val="visible"/>
                                      </p:to>
                                    </p:set>
                                    <p:animEffect transition="in" filter="strips(downRight)">
                                      <p:cBhvr>
                                        <p:cTn id="57" dur="1000"/>
                                        <p:tgtEl>
                                          <p:spTgt spid="36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bldLvl="0" animBg="1"/>
      <p:bldP spid="36871" grpId="0"/>
      <p:bldP spid="36872" grpId="0"/>
      <p:bldP spid="36873" grpId="0" bldLvl="0" animBg="1"/>
      <p:bldP spid="36875" grpId="0"/>
      <p:bldP spid="3687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17763" name="Rectangle 2"/>
          <p:cNvSpPr>
            <a:spLocks noGrp="1"/>
          </p:cNvSpPr>
          <p:nvPr>
            <p:ph type="title" idx="4294967295"/>
          </p:nvPr>
        </p:nvSpPr>
        <p:spPr/>
        <p:txBody>
          <a:bodyPr vert="horz" wrap="square" lIns="91440" tIns="45720" rIns="91440" bIns="45720" anchor="b" anchorCtr="0"/>
          <a:p>
            <a:pPr eaLnBrk="1" hangingPunct="1"/>
            <a:r>
              <a:rPr lang="en-US" altLang="zh-CN" sz="4000" b="1" dirty="0"/>
              <a:t>I/O</a:t>
            </a:r>
            <a:r>
              <a:rPr lang="zh-CN" altLang="en-US" dirty="0"/>
              <a:t>地址译码例</a:t>
            </a:r>
            <a:endParaRPr lang="zh-CN" altLang="en-US" dirty="0"/>
          </a:p>
        </p:txBody>
      </p:sp>
      <p:sp>
        <p:nvSpPr>
          <p:cNvPr id="117764" name="Rectangle 3"/>
          <p:cNvSpPr>
            <a:spLocks noGrp="1"/>
          </p:cNvSpPr>
          <p:nvPr>
            <p:ph type="body" idx="4294967295"/>
          </p:nvPr>
        </p:nvSpPr>
        <p:spPr>
          <a:xfrm>
            <a:off x="971550" y="1989138"/>
            <a:ext cx="4321175" cy="619125"/>
          </a:xfrm>
        </p:spPr>
        <p:txBody>
          <a:bodyPr vert="horz" wrap="square" lIns="91440" tIns="45720" rIns="91440" bIns="45720" anchor="t" anchorCtr="0"/>
          <a:p>
            <a:pPr eaLnBrk="1" hangingPunct="1"/>
            <a:r>
              <a:rPr lang="zh-CN" altLang="en-US" dirty="0"/>
              <a:t>译码电路图：</a:t>
            </a:r>
            <a:endParaRPr lang="zh-CN" altLang="en-US" dirty="0"/>
          </a:p>
        </p:txBody>
      </p:sp>
      <p:sp>
        <p:nvSpPr>
          <p:cNvPr id="117765" name="Rectangle 4"/>
          <p:cNvSpPr/>
          <p:nvPr/>
        </p:nvSpPr>
        <p:spPr>
          <a:xfrm>
            <a:off x="7002463" y="2351088"/>
            <a:ext cx="1314450" cy="2592387"/>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37894" name="Rectangle 5"/>
          <p:cNvSpPr/>
          <p:nvPr/>
        </p:nvSpPr>
        <p:spPr>
          <a:xfrm>
            <a:off x="4554538" y="4006850"/>
            <a:ext cx="1027112" cy="2735263"/>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37895" name="Rectangle 6"/>
          <p:cNvSpPr/>
          <p:nvPr/>
        </p:nvSpPr>
        <p:spPr>
          <a:xfrm>
            <a:off x="2754313" y="3860800"/>
            <a:ext cx="936625" cy="1655763"/>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17768" name="Text Box 7"/>
          <p:cNvSpPr txBox="1"/>
          <p:nvPr/>
        </p:nvSpPr>
        <p:spPr>
          <a:xfrm>
            <a:off x="2827338" y="4338638"/>
            <a:ext cx="865187"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FFFFFF"/>
                </a:solidFill>
                <a:latin typeface="Times New Roman" panose="02020603050405020304" pitchFamily="18" charset="0"/>
                <a:ea typeface="楷体_GB2312"/>
              </a:rPr>
              <a:t>≥ 1</a:t>
            </a:r>
            <a:endParaRPr lang="en-US" altLang="zh-CN" sz="2400" dirty="0">
              <a:solidFill>
                <a:srgbClr val="FFFFFF"/>
              </a:solidFill>
              <a:latin typeface="Times New Roman" panose="02020603050405020304" pitchFamily="18" charset="0"/>
              <a:ea typeface="楷体_GB2312"/>
            </a:endParaRPr>
          </a:p>
        </p:txBody>
      </p:sp>
      <p:sp>
        <p:nvSpPr>
          <p:cNvPr id="117769" name="Line 8"/>
          <p:cNvSpPr/>
          <p:nvPr/>
        </p:nvSpPr>
        <p:spPr>
          <a:xfrm>
            <a:off x="1889125" y="4076700"/>
            <a:ext cx="863600" cy="0"/>
          </a:xfrm>
          <a:prstGeom prst="line">
            <a:avLst/>
          </a:prstGeom>
          <a:ln w="25400" cap="sq" cmpd="sng">
            <a:solidFill>
              <a:srgbClr val="FF6600"/>
            </a:solidFill>
            <a:prstDash val="solid"/>
            <a:bevel/>
            <a:headEnd type="none" w="med" len="med"/>
            <a:tailEnd type="none" w="med" len="med"/>
          </a:ln>
        </p:spPr>
      </p:sp>
      <p:sp>
        <p:nvSpPr>
          <p:cNvPr id="117770" name="Line 9"/>
          <p:cNvSpPr/>
          <p:nvPr/>
        </p:nvSpPr>
        <p:spPr>
          <a:xfrm>
            <a:off x="1890713" y="4364038"/>
            <a:ext cx="863600" cy="0"/>
          </a:xfrm>
          <a:prstGeom prst="line">
            <a:avLst/>
          </a:prstGeom>
          <a:ln w="25400" cap="sq" cmpd="sng">
            <a:solidFill>
              <a:srgbClr val="FF6600"/>
            </a:solidFill>
            <a:prstDash val="solid"/>
            <a:bevel/>
            <a:headEnd type="none" w="med" len="med"/>
            <a:tailEnd type="none" w="med" len="med"/>
          </a:ln>
        </p:spPr>
      </p:sp>
      <p:sp>
        <p:nvSpPr>
          <p:cNvPr id="117771" name="Line 10"/>
          <p:cNvSpPr/>
          <p:nvPr/>
        </p:nvSpPr>
        <p:spPr>
          <a:xfrm>
            <a:off x="1890713" y="4695825"/>
            <a:ext cx="863600" cy="0"/>
          </a:xfrm>
          <a:prstGeom prst="line">
            <a:avLst/>
          </a:prstGeom>
          <a:ln w="25400" cap="sq" cmpd="sng">
            <a:solidFill>
              <a:srgbClr val="FF6600"/>
            </a:solidFill>
            <a:prstDash val="solid"/>
            <a:bevel/>
            <a:headEnd type="none" w="med" len="med"/>
            <a:tailEnd type="none" w="med" len="med"/>
          </a:ln>
        </p:spPr>
      </p:sp>
      <p:sp>
        <p:nvSpPr>
          <p:cNvPr id="117772" name="Line 11"/>
          <p:cNvSpPr/>
          <p:nvPr/>
        </p:nvSpPr>
        <p:spPr>
          <a:xfrm>
            <a:off x="1890713" y="5011738"/>
            <a:ext cx="863600" cy="0"/>
          </a:xfrm>
          <a:prstGeom prst="line">
            <a:avLst/>
          </a:prstGeom>
          <a:ln w="25400" cap="sq" cmpd="sng">
            <a:solidFill>
              <a:srgbClr val="FF6600"/>
            </a:solidFill>
            <a:prstDash val="solid"/>
            <a:bevel/>
            <a:headEnd type="none" w="med" len="med"/>
            <a:tailEnd type="none" w="med" len="med"/>
          </a:ln>
        </p:spPr>
      </p:sp>
      <p:sp>
        <p:nvSpPr>
          <p:cNvPr id="117773" name="Line 12"/>
          <p:cNvSpPr/>
          <p:nvPr/>
        </p:nvSpPr>
        <p:spPr>
          <a:xfrm>
            <a:off x="1890713" y="5300663"/>
            <a:ext cx="863600" cy="0"/>
          </a:xfrm>
          <a:prstGeom prst="line">
            <a:avLst/>
          </a:prstGeom>
          <a:ln w="25400" cap="sq" cmpd="sng">
            <a:solidFill>
              <a:srgbClr val="FF6600"/>
            </a:solidFill>
            <a:prstDash val="solid"/>
            <a:bevel/>
            <a:headEnd type="none" w="med" len="med"/>
            <a:tailEnd type="none" w="med" len="med"/>
          </a:ln>
        </p:spPr>
      </p:sp>
      <p:sp>
        <p:nvSpPr>
          <p:cNvPr id="117774" name="Text Box 13"/>
          <p:cNvSpPr txBox="1"/>
          <p:nvPr/>
        </p:nvSpPr>
        <p:spPr>
          <a:xfrm>
            <a:off x="1300163" y="3832225"/>
            <a:ext cx="720725"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A</a:t>
            </a:r>
            <a:r>
              <a:rPr lang="en-US" altLang="zh-CN" sz="1600" dirty="0">
                <a:solidFill>
                  <a:srgbClr val="000000"/>
                </a:solidFill>
                <a:latin typeface="宋体" panose="02010600030101010101" pitchFamily="2" charset="-122"/>
                <a:ea typeface="楷体_GB2312"/>
              </a:rPr>
              <a:t>11</a:t>
            </a:r>
            <a:endParaRPr lang="en-US" altLang="zh-CN" sz="1600" dirty="0">
              <a:solidFill>
                <a:srgbClr val="000000"/>
              </a:solidFill>
              <a:latin typeface="宋体" panose="02010600030101010101" pitchFamily="2" charset="-122"/>
              <a:ea typeface="楷体_GB2312"/>
            </a:endParaRPr>
          </a:p>
        </p:txBody>
      </p:sp>
      <p:sp>
        <p:nvSpPr>
          <p:cNvPr id="117775" name="Text Box 14"/>
          <p:cNvSpPr txBox="1"/>
          <p:nvPr/>
        </p:nvSpPr>
        <p:spPr>
          <a:xfrm>
            <a:off x="1300163" y="4148138"/>
            <a:ext cx="720725"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A</a:t>
            </a:r>
            <a:r>
              <a:rPr lang="en-US" altLang="zh-CN" sz="1600" dirty="0">
                <a:solidFill>
                  <a:srgbClr val="000000"/>
                </a:solidFill>
                <a:latin typeface="宋体" panose="02010600030101010101" pitchFamily="2" charset="-122"/>
                <a:ea typeface="楷体_GB2312"/>
              </a:rPr>
              <a:t>10</a:t>
            </a:r>
            <a:endParaRPr lang="en-US" altLang="zh-CN" sz="1600" dirty="0">
              <a:solidFill>
                <a:srgbClr val="000000"/>
              </a:solidFill>
              <a:latin typeface="宋体" panose="02010600030101010101" pitchFamily="2" charset="-122"/>
              <a:ea typeface="楷体_GB2312"/>
            </a:endParaRPr>
          </a:p>
        </p:txBody>
      </p:sp>
      <p:sp>
        <p:nvSpPr>
          <p:cNvPr id="117776" name="Text Box 15"/>
          <p:cNvSpPr txBox="1"/>
          <p:nvPr/>
        </p:nvSpPr>
        <p:spPr>
          <a:xfrm>
            <a:off x="1300163" y="4465638"/>
            <a:ext cx="720725"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A</a:t>
            </a:r>
            <a:r>
              <a:rPr lang="en-US" altLang="zh-CN" sz="1600" dirty="0">
                <a:solidFill>
                  <a:srgbClr val="000000"/>
                </a:solidFill>
                <a:latin typeface="宋体" panose="02010600030101010101" pitchFamily="2" charset="-122"/>
                <a:ea typeface="楷体_GB2312"/>
              </a:rPr>
              <a:t>18</a:t>
            </a:r>
            <a:endParaRPr lang="en-US" altLang="zh-CN" sz="1600" dirty="0">
              <a:solidFill>
                <a:srgbClr val="000000"/>
              </a:solidFill>
              <a:latin typeface="宋体" panose="02010600030101010101" pitchFamily="2" charset="-122"/>
              <a:ea typeface="楷体_GB2312"/>
            </a:endParaRPr>
          </a:p>
        </p:txBody>
      </p:sp>
      <p:sp>
        <p:nvSpPr>
          <p:cNvPr id="117777" name="Text Box 16"/>
          <p:cNvSpPr txBox="1"/>
          <p:nvPr/>
        </p:nvSpPr>
        <p:spPr>
          <a:xfrm>
            <a:off x="1314450" y="4781550"/>
            <a:ext cx="576263"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A</a:t>
            </a:r>
            <a:r>
              <a:rPr lang="en-US" altLang="zh-CN" sz="1600" dirty="0">
                <a:solidFill>
                  <a:srgbClr val="000000"/>
                </a:solidFill>
                <a:latin typeface="宋体" panose="02010600030101010101" pitchFamily="2" charset="-122"/>
                <a:ea typeface="楷体_GB2312"/>
              </a:rPr>
              <a:t>3</a:t>
            </a:r>
            <a:endParaRPr lang="en-US" altLang="zh-CN" sz="1600" dirty="0">
              <a:solidFill>
                <a:srgbClr val="000000"/>
              </a:solidFill>
              <a:latin typeface="宋体" panose="02010600030101010101" pitchFamily="2" charset="-122"/>
              <a:ea typeface="楷体_GB2312"/>
            </a:endParaRPr>
          </a:p>
        </p:txBody>
      </p:sp>
      <p:sp>
        <p:nvSpPr>
          <p:cNvPr id="117778" name="Text Box 17"/>
          <p:cNvSpPr txBox="1"/>
          <p:nvPr/>
        </p:nvSpPr>
        <p:spPr>
          <a:xfrm>
            <a:off x="1314450" y="5084763"/>
            <a:ext cx="576263"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A</a:t>
            </a:r>
            <a:r>
              <a:rPr lang="en-US" altLang="zh-CN" sz="1600" dirty="0">
                <a:solidFill>
                  <a:srgbClr val="000000"/>
                </a:solidFill>
                <a:latin typeface="宋体" panose="02010600030101010101" pitchFamily="2" charset="-122"/>
                <a:ea typeface="楷体_GB2312"/>
              </a:rPr>
              <a:t>2</a:t>
            </a:r>
            <a:endParaRPr lang="en-US" altLang="zh-CN" sz="1600" dirty="0">
              <a:solidFill>
                <a:srgbClr val="000000"/>
              </a:solidFill>
              <a:latin typeface="宋体" panose="02010600030101010101" pitchFamily="2" charset="-122"/>
              <a:ea typeface="楷体_GB2312"/>
            </a:endParaRPr>
          </a:p>
        </p:txBody>
      </p:sp>
      <p:sp>
        <p:nvSpPr>
          <p:cNvPr id="117779" name="Line 18"/>
          <p:cNvSpPr/>
          <p:nvPr/>
        </p:nvSpPr>
        <p:spPr>
          <a:xfrm>
            <a:off x="3690938" y="4652963"/>
            <a:ext cx="863600" cy="0"/>
          </a:xfrm>
          <a:prstGeom prst="line">
            <a:avLst/>
          </a:prstGeom>
          <a:ln w="25400" cap="sq" cmpd="sng">
            <a:solidFill>
              <a:srgbClr val="FF6600"/>
            </a:solidFill>
            <a:prstDash val="solid"/>
            <a:bevel/>
            <a:headEnd type="none" w="med" len="med"/>
            <a:tailEnd type="none" w="med" len="med"/>
          </a:ln>
        </p:spPr>
      </p:sp>
      <p:sp>
        <p:nvSpPr>
          <p:cNvPr id="117780" name="Line 19"/>
          <p:cNvSpPr/>
          <p:nvPr/>
        </p:nvSpPr>
        <p:spPr>
          <a:xfrm>
            <a:off x="1890713" y="5805488"/>
            <a:ext cx="2663825" cy="0"/>
          </a:xfrm>
          <a:prstGeom prst="line">
            <a:avLst/>
          </a:prstGeom>
          <a:ln w="25400" cap="sq" cmpd="sng">
            <a:solidFill>
              <a:srgbClr val="FF6600"/>
            </a:solidFill>
            <a:prstDash val="solid"/>
            <a:bevel/>
            <a:headEnd type="none" w="med" len="med"/>
            <a:tailEnd type="none" w="med" len="med"/>
          </a:ln>
        </p:spPr>
      </p:sp>
      <p:sp>
        <p:nvSpPr>
          <p:cNvPr id="117781" name="Line 20"/>
          <p:cNvSpPr/>
          <p:nvPr/>
        </p:nvSpPr>
        <p:spPr>
          <a:xfrm>
            <a:off x="1890713" y="6092825"/>
            <a:ext cx="2663825" cy="0"/>
          </a:xfrm>
          <a:prstGeom prst="line">
            <a:avLst/>
          </a:prstGeom>
          <a:ln w="25400" cap="sq" cmpd="sng">
            <a:solidFill>
              <a:srgbClr val="FF6600"/>
            </a:solidFill>
            <a:prstDash val="solid"/>
            <a:bevel/>
            <a:headEnd type="none" w="med" len="med"/>
            <a:tailEnd type="none" w="med" len="med"/>
          </a:ln>
        </p:spPr>
      </p:sp>
      <p:sp>
        <p:nvSpPr>
          <p:cNvPr id="117782" name="Line 22"/>
          <p:cNvSpPr/>
          <p:nvPr/>
        </p:nvSpPr>
        <p:spPr>
          <a:xfrm>
            <a:off x="1890713" y="6597650"/>
            <a:ext cx="2663825" cy="0"/>
          </a:xfrm>
          <a:prstGeom prst="line">
            <a:avLst/>
          </a:prstGeom>
          <a:ln w="25400" cap="sq" cmpd="sng">
            <a:solidFill>
              <a:srgbClr val="FF6600"/>
            </a:solidFill>
            <a:prstDash val="solid"/>
            <a:bevel/>
            <a:headEnd type="none" w="med" len="med"/>
            <a:tailEnd type="none" w="med" len="med"/>
          </a:ln>
        </p:spPr>
      </p:sp>
      <p:sp>
        <p:nvSpPr>
          <p:cNvPr id="117783" name="Text Box 23"/>
          <p:cNvSpPr txBox="1"/>
          <p:nvPr/>
        </p:nvSpPr>
        <p:spPr>
          <a:xfrm>
            <a:off x="1385888" y="5553075"/>
            <a:ext cx="576262"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A</a:t>
            </a:r>
            <a:r>
              <a:rPr lang="en-US" altLang="zh-CN" sz="1600" dirty="0">
                <a:solidFill>
                  <a:srgbClr val="000000"/>
                </a:solidFill>
                <a:latin typeface="宋体" panose="02010600030101010101" pitchFamily="2" charset="-122"/>
                <a:ea typeface="楷体_GB2312"/>
              </a:rPr>
              <a:t>9</a:t>
            </a:r>
            <a:endParaRPr lang="en-US" altLang="zh-CN" sz="1600" dirty="0">
              <a:solidFill>
                <a:srgbClr val="000000"/>
              </a:solidFill>
              <a:latin typeface="宋体" panose="02010600030101010101" pitchFamily="2" charset="-122"/>
              <a:ea typeface="楷体_GB2312"/>
            </a:endParaRPr>
          </a:p>
        </p:txBody>
      </p:sp>
      <p:sp>
        <p:nvSpPr>
          <p:cNvPr id="117784" name="Text Box 24"/>
          <p:cNvSpPr txBox="1"/>
          <p:nvPr/>
        </p:nvSpPr>
        <p:spPr>
          <a:xfrm>
            <a:off x="1385888" y="5889625"/>
            <a:ext cx="576262"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A</a:t>
            </a:r>
            <a:r>
              <a:rPr lang="en-US" altLang="zh-CN" sz="1600" dirty="0">
                <a:solidFill>
                  <a:srgbClr val="000000"/>
                </a:solidFill>
                <a:latin typeface="宋体" panose="02010600030101010101" pitchFamily="2" charset="-122"/>
                <a:ea typeface="楷体_GB2312"/>
              </a:rPr>
              <a:t>7</a:t>
            </a:r>
            <a:endParaRPr lang="en-US" altLang="zh-CN" sz="1600" dirty="0">
              <a:solidFill>
                <a:srgbClr val="000000"/>
              </a:solidFill>
              <a:latin typeface="宋体" panose="02010600030101010101" pitchFamily="2" charset="-122"/>
              <a:ea typeface="楷体_GB2312"/>
            </a:endParaRPr>
          </a:p>
        </p:txBody>
      </p:sp>
      <p:sp>
        <p:nvSpPr>
          <p:cNvPr id="117785" name="Text Box 25"/>
          <p:cNvSpPr txBox="1"/>
          <p:nvPr/>
        </p:nvSpPr>
        <p:spPr>
          <a:xfrm>
            <a:off x="1385888" y="6345238"/>
            <a:ext cx="576262"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A</a:t>
            </a:r>
            <a:r>
              <a:rPr lang="en-US" altLang="zh-CN" sz="1600" dirty="0">
                <a:solidFill>
                  <a:srgbClr val="000000"/>
                </a:solidFill>
                <a:latin typeface="宋体" panose="02010600030101010101" pitchFamily="2" charset="-122"/>
                <a:ea typeface="楷体_GB2312"/>
              </a:rPr>
              <a:t>4</a:t>
            </a:r>
            <a:endParaRPr lang="en-US" altLang="zh-CN" sz="1600" dirty="0">
              <a:solidFill>
                <a:srgbClr val="000000"/>
              </a:solidFill>
              <a:latin typeface="宋体" panose="02010600030101010101" pitchFamily="2" charset="-122"/>
              <a:ea typeface="楷体_GB2312"/>
            </a:endParaRPr>
          </a:p>
        </p:txBody>
      </p:sp>
      <p:sp>
        <p:nvSpPr>
          <p:cNvPr id="117786" name="Text Box 26"/>
          <p:cNvSpPr txBox="1"/>
          <p:nvPr/>
        </p:nvSpPr>
        <p:spPr>
          <a:xfrm>
            <a:off x="2827338" y="6165850"/>
            <a:ext cx="576262"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宋体" panose="02010600030101010101" pitchFamily="2" charset="-122"/>
                <a:ea typeface="楷体_GB2312"/>
              </a:rPr>
              <a:t>┇</a:t>
            </a:r>
            <a:endParaRPr lang="en-US" altLang="zh-CN" sz="2000" dirty="0">
              <a:solidFill>
                <a:srgbClr val="000000"/>
              </a:solidFill>
              <a:latin typeface="宋体" panose="02010600030101010101" pitchFamily="2" charset="-122"/>
              <a:ea typeface="楷体_GB2312"/>
            </a:endParaRPr>
          </a:p>
        </p:txBody>
      </p:sp>
      <p:sp>
        <p:nvSpPr>
          <p:cNvPr id="37915" name="Oval 27"/>
          <p:cNvSpPr/>
          <p:nvPr/>
        </p:nvSpPr>
        <p:spPr>
          <a:xfrm>
            <a:off x="3690938" y="4565650"/>
            <a:ext cx="144462" cy="144463"/>
          </a:xfrm>
          <a:prstGeom prst="ellipse">
            <a:avLst/>
          </a:prstGeom>
          <a:solidFill>
            <a:srgbClr val="339966"/>
          </a:solidFill>
          <a:ln w="25400" cap="sq" cmpd="sng">
            <a:solidFill>
              <a:srgbClr val="339966"/>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37916" name="Oval 28"/>
          <p:cNvSpPr/>
          <p:nvPr/>
        </p:nvSpPr>
        <p:spPr>
          <a:xfrm>
            <a:off x="5562600" y="5302250"/>
            <a:ext cx="144463" cy="144463"/>
          </a:xfrm>
          <a:prstGeom prst="ellipse">
            <a:avLst/>
          </a:prstGeom>
          <a:solidFill>
            <a:srgbClr val="339966"/>
          </a:solidFill>
          <a:ln w="25400" cap="sq" cmpd="sng">
            <a:solidFill>
              <a:srgbClr val="339966"/>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17789" name="Text Box 29"/>
          <p:cNvSpPr txBox="1"/>
          <p:nvPr/>
        </p:nvSpPr>
        <p:spPr>
          <a:xfrm>
            <a:off x="4843463" y="5159375"/>
            <a:ext cx="6477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FFFFFF"/>
                </a:solidFill>
                <a:latin typeface="Times New Roman" panose="02020603050405020304" pitchFamily="18" charset="0"/>
                <a:ea typeface="楷体_GB2312"/>
              </a:rPr>
              <a:t>&amp;</a:t>
            </a:r>
            <a:endParaRPr lang="en-US" altLang="zh-CN" sz="2400" dirty="0">
              <a:solidFill>
                <a:srgbClr val="FFFFFF"/>
              </a:solidFill>
              <a:latin typeface="Times New Roman" panose="02020603050405020304" pitchFamily="18" charset="0"/>
              <a:ea typeface="楷体_GB2312"/>
            </a:endParaRPr>
          </a:p>
        </p:txBody>
      </p:sp>
      <p:sp>
        <p:nvSpPr>
          <p:cNvPr id="117790" name="Line 30"/>
          <p:cNvSpPr/>
          <p:nvPr/>
        </p:nvSpPr>
        <p:spPr>
          <a:xfrm>
            <a:off x="5707063" y="5375275"/>
            <a:ext cx="863600" cy="0"/>
          </a:xfrm>
          <a:prstGeom prst="line">
            <a:avLst/>
          </a:prstGeom>
          <a:ln w="25400" cap="sq" cmpd="sng">
            <a:solidFill>
              <a:srgbClr val="FF6600"/>
            </a:solidFill>
            <a:prstDash val="solid"/>
            <a:bevel/>
            <a:headEnd type="none" w="med" len="med"/>
            <a:tailEnd type="none" w="med" len="med"/>
          </a:ln>
        </p:spPr>
      </p:sp>
      <p:sp>
        <p:nvSpPr>
          <p:cNvPr id="117791" name="Line 31"/>
          <p:cNvSpPr/>
          <p:nvPr/>
        </p:nvSpPr>
        <p:spPr>
          <a:xfrm flipV="1">
            <a:off x="6570663" y="4583113"/>
            <a:ext cx="0" cy="792162"/>
          </a:xfrm>
          <a:prstGeom prst="line">
            <a:avLst/>
          </a:prstGeom>
          <a:ln w="25400" cap="sq" cmpd="sng">
            <a:solidFill>
              <a:srgbClr val="FF6600"/>
            </a:solidFill>
            <a:prstDash val="solid"/>
            <a:bevel/>
            <a:headEnd type="none" w="med" len="med"/>
            <a:tailEnd type="none" w="med" len="med"/>
          </a:ln>
        </p:spPr>
      </p:sp>
      <p:sp>
        <p:nvSpPr>
          <p:cNvPr id="117792" name="Line 32"/>
          <p:cNvSpPr/>
          <p:nvPr/>
        </p:nvSpPr>
        <p:spPr>
          <a:xfrm>
            <a:off x="6570663" y="4583113"/>
            <a:ext cx="431800" cy="0"/>
          </a:xfrm>
          <a:prstGeom prst="line">
            <a:avLst/>
          </a:prstGeom>
          <a:ln w="25400" cap="sq" cmpd="sng">
            <a:solidFill>
              <a:srgbClr val="FF6600"/>
            </a:solidFill>
            <a:prstDash val="solid"/>
            <a:bevel/>
            <a:headEnd type="none" w="med" len="med"/>
            <a:tailEnd type="none" w="med" len="med"/>
          </a:ln>
        </p:spPr>
      </p:sp>
      <p:sp>
        <p:nvSpPr>
          <p:cNvPr id="117793" name="Text Box 33"/>
          <p:cNvSpPr txBox="1"/>
          <p:nvPr/>
        </p:nvSpPr>
        <p:spPr>
          <a:xfrm>
            <a:off x="7002463" y="4341813"/>
            <a:ext cx="6477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FFFFFF"/>
                </a:solidFill>
                <a:latin typeface="Times New Roman" panose="02020603050405020304" pitchFamily="18" charset="0"/>
                <a:ea typeface="楷体_GB2312"/>
              </a:rPr>
              <a:t>CE</a:t>
            </a:r>
            <a:endParaRPr lang="en-US" altLang="zh-CN" sz="2400" dirty="0">
              <a:solidFill>
                <a:srgbClr val="FFFFFF"/>
              </a:solidFill>
              <a:latin typeface="Times New Roman" panose="02020603050405020304" pitchFamily="18" charset="0"/>
              <a:ea typeface="楷体_GB2312"/>
            </a:endParaRPr>
          </a:p>
        </p:txBody>
      </p:sp>
      <p:sp>
        <p:nvSpPr>
          <p:cNvPr id="117794" name="Line 34"/>
          <p:cNvSpPr/>
          <p:nvPr/>
        </p:nvSpPr>
        <p:spPr>
          <a:xfrm>
            <a:off x="7104063" y="4381500"/>
            <a:ext cx="360362" cy="0"/>
          </a:xfrm>
          <a:prstGeom prst="line">
            <a:avLst/>
          </a:prstGeom>
          <a:ln w="25400" cap="sq" cmpd="sng">
            <a:solidFill>
              <a:schemeClr val="bg1"/>
            </a:solidFill>
            <a:prstDash val="solid"/>
            <a:bevel/>
            <a:headEnd type="none" w="med" len="med"/>
            <a:tailEnd type="none" w="med" len="med"/>
          </a:ln>
        </p:spPr>
      </p:sp>
      <p:sp>
        <p:nvSpPr>
          <p:cNvPr id="117795" name="Line 35"/>
          <p:cNvSpPr/>
          <p:nvPr/>
        </p:nvSpPr>
        <p:spPr>
          <a:xfrm>
            <a:off x="6138863" y="3646488"/>
            <a:ext cx="863600" cy="0"/>
          </a:xfrm>
          <a:prstGeom prst="line">
            <a:avLst/>
          </a:prstGeom>
          <a:ln w="25400" cap="sq" cmpd="sng">
            <a:solidFill>
              <a:srgbClr val="FF6600"/>
            </a:solidFill>
            <a:prstDash val="solid"/>
            <a:bevel/>
            <a:headEnd type="none" w="med" len="med"/>
            <a:tailEnd type="none" w="med" len="med"/>
          </a:ln>
        </p:spPr>
      </p:sp>
      <p:sp>
        <p:nvSpPr>
          <p:cNvPr id="117796" name="Line 36"/>
          <p:cNvSpPr/>
          <p:nvPr/>
        </p:nvSpPr>
        <p:spPr>
          <a:xfrm>
            <a:off x="6138863" y="3214688"/>
            <a:ext cx="863600" cy="0"/>
          </a:xfrm>
          <a:prstGeom prst="line">
            <a:avLst/>
          </a:prstGeom>
          <a:ln w="25400" cap="sq" cmpd="sng">
            <a:solidFill>
              <a:srgbClr val="FF6600"/>
            </a:solidFill>
            <a:prstDash val="solid"/>
            <a:bevel/>
            <a:headEnd type="none" w="med" len="med"/>
            <a:tailEnd type="none" w="med" len="med"/>
          </a:ln>
        </p:spPr>
      </p:sp>
      <p:sp>
        <p:nvSpPr>
          <p:cNvPr id="117797" name="Text Box 37"/>
          <p:cNvSpPr txBox="1"/>
          <p:nvPr/>
        </p:nvSpPr>
        <p:spPr>
          <a:xfrm>
            <a:off x="5707063" y="2998788"/>
            <a:ext cx="576262"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A</a:t>
            </a:r>
            <a:r>
              <a:rPr lang="en-US" altLang="zh-CN" sz="1600" dirty="0">
                <a:solidFill>
                  <a:srgbClr val="000000"/>
                </a:solidFill>
                <a:latin typeface="宋体" panose="02010600030101010101" pitchFamily="2" charset="-122"/>
                <a:ea typeface="楷体_GB2312"/>
              </a:rPr>
              <a:t>1</a:t>
            </a:r>
            <a:endParaRPr lang="en-US" altLang="zh-CN" sz="1600" dirty="0">
              <a:solidFill>
                <a:srgbClr val="000000"/>
              </a:solidFill>
              <a:latin typeface="宋体" panose="02010600030101010101" pitchFamily="2" charset="-122"/>
              <a:ea typeface="楷体_GB2312"/>
            </a:endParaRPr>
          </a:p>
        </p:txBody>
      </p:sp>
      <p:sp>
        <p:nvSpPr>
          <p:cNvPr id="117798" name="Text Box 38"/>
          <p:cNvSpPr txBox="1"/>
          <p:nvPr/>
        </p:nvSpPr>
        <p:spPr>
          <a:xfrm>
            <a:off x="5692775" y="3416300"/>
            <a:ext cx="576263"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A</a:t>
            </a:r>
            <a:r>
              <a:rPr lang="en-US" altLang="zh-CN" sz="1600" dirty="0">
                <a:solidFill>
                  <a:srgbClr val="000000"/>
                </a:solidFill>
                <a:latin typeface="宋体" panose="02010600030101010101" pitchFamily="2" charset="-122"/>
                <a:ea typeface="楷体_GB2312"/>
              </a:rPr>
              <a:t>0</a:t>
            </a:r>
            <a:endParaRPr lang="en-US" altLang="zh-CN" sz="1600" dirty="0">
              <a:solidFill>
                <a:srgbClr val="000000"/>
              </a:solidFill>
              <a:latin typeface="宋体" panose="02010600030101010101" pitchFamily="2" charset="-122"/>
              <a:ea typeface="楷体_GB2312"/>
            </a:endParaRPr>
          </a:p>
        </p:txBody>
      </p:sp>
      <p:sp>
        <p:nvSpPr>
          <p:cNvPr id="117799" name="Text Box 39"/>
          <p:cNvSpPr txBox="1"/>
          <p:nvPr/>
        </p:nvSpPr>
        <p:spPr>
          <a:xfrm>
            <a:off x="7019925" y="1879600"/>
            <a:ext cx="1439863"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接口芯片</a:t>
            </a:r>
            <a:endParaRPr lang="zh-CN" altLang="en-US" sz="1600" dirty="0">
              <a:solidFill>
                <a:srgbClr val="000000"/>
              </a:solidFill>
              <a:latin typeface="宋体" panose="02010600030101010101" pitchFamily="2" charset="-122"/>
              <a:ea typeface="楷体_GB2312"/>
            </a:endParaRPr>
          </a:p>
        </p:txBody>
      </p:sp>
      <p:sp>
        <p:nvSpPr>
          <p:cNvPr id="37928" name="Rectangle 49"/>
          <p:cNvSpPr/>
          <p:nvPr/>
        </p:nvSpPr>
        <p:spPr>
          <a:xfrm>
            <a:off x="2987675" y="2708275"/>
            <a:ext cx="647700" cy="865188"/>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17801" name="Line 50"/>
          <p:cNvSpPr/>
          <p:nvPr/>
        </p:nvSpPr>
        <p:spPr>
          <a:xfrm>
            <a:off x="2124075" y="2924175"/>
            <a:ext cx="863600" cy="0"/>
          </a:xfrm>
          <a:prstGeom prst="line">
            <a:avLst/>
          </a:prstGeom>
          <a:ln w="25400" cap="sq" cmpd="sng">
            <a:solidFill>
              <a:srgbClr val="FF6600"/>
            </a:solidFill>
            <a:prstDash val="solid"/>
            <a:bevel/>
            <a:headEnd type="none" w="med" len="med"/>
            <a:tailEnd type="none" w="med" len="med"/>
          </a:ln>
        </p:spPr>
      </p:sp>
      <p:sp>
        <p:nvSpPr>
          <p:cNvPr id="117802" name="Line 51"/>
          <p:cNvSpPr/>
          <p:nvPr/>
        </p:nvSpPr>
        <p:spPr>
          <a:xfrm>
            <a:off x="2124075" y="3357563"/>
            <a:ext cx="863600" cy="0"/>
          </a:xfrm>
          <a:prstGeom prst="line">
            <a:avLst/>
          </a:prstGeom>
          <a:ln w="25400" cap="sq" cmpd="sng">
            <a:solidFill>
              <a:srgbClr val="FF6600"/>
            </a:solidFill>
            <a:prstDash val="solid"/>
            <a:bevel/>
            <a:headEnd type="none" w="med" len="med"/>
            <a:tailEnd type="none" w="med" len="med"/>
          </a:ln>
        </p:spPr>
      </p:sp>
      <p:sp>
        <p:nvSpPr>
          <p:cNvPr id="117803" name="Text Box 52"/>
          <p:cNvSpPr txBox="1"/>
          <p:nvPr/>
        </p:nvSpPr>
        <p:spPr>
          <a:xfrm>
            <a:off x="1258888" y="2708275"/>
            <a:ext cx="865187"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IOR</a:t>
            </a:r>
            <a:endParaRPr lang="en-US" altLang="zh-CN" sz="1600" dirty="0">
              <a:solidFill>
                <a:srgbClr val="000000"/>
              </a:solidFill>
              <a:latin typeface="宋体" panose="02010600030101010101" pitchFamily="2" charset="-122"/>
              <a:ea typeface="楷体_GB2312"/>
            </a:endParaRPr>
          </a:p>
        </p:txBody>
      </p:sp>
      <p:sp>
        <p:nvSpPr>
          <p:cNvPr id="117804" name="Text Box 53"/>
          <p:cNvSpPr txBox="1"/>
          <p:nvPr/>
        </p:nvSpPr>
        <p:spPr>
          <a:xfrm>
            <a:off x="1258888" y="3141663"/>
            <a:ext cx="865187"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楷体_GB2312"/>
              </a:rPr>
              <a:t>IOW</a:t>
            </a:r>
            <a:endParaRPr lang="en-US" altLang="zh-CN" sz="1600" dirty="0">
              <a:solidFill>
                <a:srgbClr val="000000"/>
              </a:solidFill>
              <a:latin typeface="宋体" panose="02010600030101010101" pitchFamily="2" charset="-122"/>
              <a:ea typeface="楷体_GB2312"/>
            </a:endParaRPr>
          </a:p>
        </p:txBody>
      </p:sp>
      <p:sp>
        <p:nvSpPr>
          <p:cNvPr id="117805" name="Line 54"/>
          <p:cNvSpPr/>
          <p:nvPr/>
        </p:nvSpPr>
        <p:spPr>
          <a:xfrm>
            <a:off x="1320800" y="2747963"/>
            <a:ext cx="539750" cy="0"/>
          </a:xfrm>
          <a:prstGeom prst="line">
            <a:avLst/>
          </a:prstGeom>
          <a:ln w="25400" cap="sq" cmpd="sng">
            <a:solidFill>
              <a:schemeClr val="tx1"/>
            </a:solidFill>
            <a:prstDash val="solid"/>
            <a:bevel/>
            <a:headEnd type="none" w="med" len="med"/>
            <a:tailEnd type="none" w="med" len="med"/>
          </a:ln>
        </p:spPr>
      </p:sp>
      <p:sp>
        <p:nvSpPr>
          <p:cNvPr id="117806" name="Line 55"/>
          <p:cNvSpPr/>
          <p:nvPr/>
        </p:nvSpPr>
        <p:spPr>
          <a:xfrm>
            <a:off x="1354138" y="3179763"/>
            <a:ext cx="576262" cy="0"/>
          </a:xfrm>
          <a:prstGeom prst="line">
            <a:avLst/>
          </a:prstGeom>
          <a:ln w="25400" cap="sq" cmpd="sng">
            <a:solidFill>
              <a:schemeClr val="tx1"/>
            </a:solidFill>
            <a:prstDash val="solid"/>
            <a:bevel/>
            <a:headEnd type="none" w="med" len="med"/>
            <a:tailEnd type="none" w="med" len="med"/>
          </a:ln>
        </p:spPr>
      </p:sp>
      <p:sp>
        <p:nvSpPr>
          <p:cNvPr id="117807" name="Text Box 56"/>
          <p:cNvSpPr txBox="1"/>
          <p:nvPr/>
        </p:nvSpPr>
        <p:spPr>
          <a:xfrm>
            <a:off x="3097213" y="2924175"/>
            <a:ext cx="504825"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FFFFFF"/>
                </a:solidFill>
                <a:latin typeface="Times New Roman" panose="02020603050405020304" pitchFamily="18" charset="0"/>
                <a:ea typeface="楷体_GB2312"/>
              </a:rPr>
              <a:t>&amp;</a:t>
            </a:r>
            <a:endParaRPr lang="en-US" altLang="zh-CN" sz="2000" dirty="0">
              <a:solidFill>
                <a:srgbClr val="FFFFFF"/>
              </a:solidFill>
              <a:latin typeface="Times New Roman" panose="02020603050405020304" pitchFamily="18" charset="0"/>
              <a:ea typeface="楷体_GB2312"/>
            </a:endParaRPr>
          </a:p>
        </p:txBody>
      </p:sp>
      <p:sp>
        <p:nvSpPr>
          <p:cNvPr id="37936" name="Oval 57"/>
          <p:cNvSpPr/>
          <p:nvPr/>
        </p:nvSpPr>
        <p:spPr>
          <a:xfrm>
            <a:off x="3635375" y="3068638"/>
            <a:ext cx="144463" cy="144462"/>
          </a:xfrm>
          <a:prstGeom prst="ellipse">
            <a:avLst/>
          </a:prstGeom>
          <a:solidFill>
            <a:srgbClr val="339966"/>
          </a:solidFill>
          <a:ln w="25400" cap="sq" cmpd="sng">
            <a:solidFill>
              <a:srgbClr val="339966"/>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17809" name="Line 58"/>
          <p:cNvSpPr/>
          <p:nvPr/>
        </p:nvSpPr>
        <p:spPr>
          <a:xfrm>
            <a:off x="3779838" y="3141663"/>
            <a:ext cx="360362" cy="0"/>
          </a:xfrm>
          <a:prstGeom prst="line">
            <a:avLst/>
          </a:prstGeom>
          <a:ln w="25400" cap="sq" cmpd="sng">
            <a:solidFill>
              <a:srgbClr val="FF6600"/>
            </a:solidFill>
            <a:prstDash val="solid"/>
            <a:bevel/>
            <a:headEnd type="none" w="med" len="med"/>
            <a:tailEnd type="none" w="med" len="med"/>
          </a:ln>
        </p:spPr>
      </p:sp>
      <p:sp>
        <p:nvSpPr>
          <p:cNvPr id="117810" name="Line 59"/>
          <p:cNvSpPr/>
          <p:nvPr/>
        </p:nvSpPr>
        <p:spPr>
          <a:xfrm flipV="1">
            <a:off x="4140200" y="3141663"/>
            <a:ext cx="0" cy="1079500"/>
          </a:xfrm>
          <a:prstGeom prst="line">
            <a:avLst/>
          </a:prstGeom>
          <a:ln w="25400" cap="sq" cmpd="sng">
            <a:solidFill>
              <a:srgbClr val="FF6600"/>
            </a:solidFill>
            <a:prstDash val="solid"/>
            <a:bevel/>
            <a:headEnd type="none" w="med" len="med"/>
            <a:tailEnd type="none" w="med" len="med"/>
          </a:ln>
        </p:spPr>
      </p:sp>
      <p:sp>
        <p:nvSpPr>
          <p:cNvPr id="117811" name="Line 60"/>
          <p:cNvSpPr/>
          <p:nvPr/>
        </p:nvSpPr>
        <p:spPr>
          <a:xfrm>
            <a:off x="4140200" y="4221163"/>
            <a:ext cx="409575" cy="0"/>
          </a:xfrm>
          <a:prstGeom prst="line">
            <a:avLst/>
          </a:prstGeom>
          <a:ln w="25400" cap="sq" cmpd="sng">
            <a:solidFill>
              <a:srgbClr val="FF6600"/>
            </a:solidFill>
            <a:prstDash val="solid"/>
            <a:bevel/>
            <a:headEnd type="none" w="med" len="med"/>
            <a:tailEnd type="none" w="med" len="med"/>
          </a:ln>
        </p:spPr>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4"/>
                                        </p:tgtEl>
                                        <p:attrNameLst>
                                          <p:attrName>style.visibility</p:attrName>
                                        </p:attrNameLst>
                                      </p:cBhvr>
                                      <p:to>
                                        <p:strVal val="visible"/>
                                      </p:to>
                                    </p:set>
                                    <p:anim calcmode="lin" valueType="num">
                                      <p:cBhvr>
                                        <p:cTn id="7" dur="500" fill="hold"/>
                                        <p:tgtEl>
                                          <p:spTgt spid="37894"/>
                                        </p:tgtEl>
                                        <p:attrNameLst>
                                          <p:attrName>ppt_x</p:attrName>
                                        </p:attrNameLst>
                                      </p:cBhvr>
                                      <p:tavLst>
                                        <p:tav tm="0">
                                          <p:val>
                                            <p:strVal val="#ppt_x"/>
                                          </p:val>
                                        </p:tav>
                                        <p:tav tm="100000">
                                          <p:val>
                                            <p:strVal val="#ppt_x"/>
                                          </p:val>
                                        </p:tav>
                                      </p:tavLst>
                                    </p:anim>
                                    <p:anim calcmode="lin" valueType="num">
                                      <p:cBhvr>
                                        <p:cTn id="8" dur="500" fill="hold"/>
                                        <p:tgtEl>
                                          <p:spTgt spid="3789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7916"/>
                                        </p:tgtEl>
                                        <p:attrNameLst>
                                          <p:attrName>style.visibility</p:attrName>
                                        </p:attrNameLst>
                                      </p:cBhvr>
                                      <p:to>
                                        <p:strVal val="visible"/>
                                      </p:to>
                                    </p:set>
                                    <p:anim calcmode="lin" valueType="num">
                                      <p:cBhvr>
                                        <p:cTn id="11" dur="500" fill="hold"/>
                                        <p:tgtEl>
                                          <p:spTgt spid="37916"/>
                                        </p:tgtEl>
                                        <p:attrNameLst>
                                          <p:attrName>ppt_x</p:attrName>
                                        </p:attrNameLst>
                                      </p:cBhvr>
                                      <p:tavLst>
                                        <p:tav tm="0">
                                          <p:val>
                                            <p:strVal val="#ppt_x"/>
                                          </p:val>
                                        </p:tav>
                                        <p:tav tm="100000">
                                          <p:val>
                                            <p:strVal val="#ppt_x"/>
                                          </p:val>
                                        </p:tav>
                                      </p:tavLst>
                                    </p:anim>
                                    <p:anim calcmode="lin" valueType="num">
                                      <p:cBhvr>
                                        <p:cTn id="12" dur="500" fill="hold"/>
                                        <p:tgtEl>
                                          <p:spTgt spid="379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895"/>
                                        </p:tgtEl>
                                        <p:attrNameLst>
                                          <p:attrName>style.visibility</p:attrName>
                                        </p:attrNameLst>
                                      </p:cBhvr>
                                      <p:to>
                                        <p:strVal val="visible"/>
                                      </p:to>
                                    </p:set>
                                    <p:animEffect transition="in" filter="blinds(horizontal)">
                                      <p:cBhvr>
                                        <p:cTn id="17" dur="500"/>
                                        <p:tgtEl>
                                          <p:spTgt spid="37895"/>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7915"/>
                                        </p:tgtEl>
                                        <p:attrNameLst>
                                          <p:attrName>style.visibility</p:attrName>
                                        </p:attrNameLst>
                                      </p:cBhvr>
                                      <p:to>
                                        <p:strVal val="visible"/>
                                      </p:to>
                                    </p:set>
                                    <p:animEffect transition="in" filter="blinds(horizontal)">
                                      <p:cBhvr>
                                        <p:cTn id="20" dur="500"/>
                                        <p:tgtEl>
                                          <p:spTgt spid="3791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7928"/>
                                        </p:tgtEl>
                                        <p:attrNameLst>
                                          <p:attrName>style.visibility</p:attrName>
                                        </p:attrNameLst>
                                      </p:cBhvr>
                                      <p:to>
                                        <p:strVal val="visible"/>
                                      </p:to>
                                    </p:set>
                                    <p:animEffect transition="in" filter="blinds(horizontal)">
                                      <p:cBhvr>
                                        <p:cTn id="25" dur="500"/>
                                        <p:tgtEl>
                                          <p:spTgt spid="37928"/>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7936"/>
                                        </p:tgtEl>
                                        <p:attrNameLst>
                                          <p:attrName>style.visibility</p:attrName>
                                        </p:attrNameLst>
                                      </p:cBhvr>
                                      <p:to>
                                        <p:strVal val="visible"/>
                                      </p:to>
                                    </p:set>
                                    <p:animEffect transition="in" filter="blinds(horizontal)">
                                      <p:cBhvr>
                                        <p:cTn id="28" dur="500"/>
                                        <p:tgtEl>
                                          <p:spTgt spid="379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4" grpId="0" animBg="1"/>
      <p:bldP spid="37895" grpId="0" animBg="1"/>
      <p:bldP spid="37915" grpId="0" animBg="1"/>
      <p:bldP spid="37916" grpId="0" animBg="1"/>
      <p:bldP spid="37928" grpId="0" animBg="1"/>
      <p:bldP spid="3793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16"/>
          <p:cNvSpPr txBox="1">
            <a:spLocks noGrp="1"/>
          </p:cNvSpPr>
          <p:nvPr/>
        </p:nvSpPr>
        <p:spPr>
          <a:xfrm>
            <a:off x="6858000" y="6248400"/>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eaLnBrk="1" hangingPunct="1">
              <a:lnSpc>
                <a:spcPct val="100000"/>
              </a:lnSpc>
              <a:spcBef>
                <a:spcPct val="0"/>
              </a:spcBef>
              <a:spcAft>
                <a:spcPct val="0"/>
              </a:spcAft>
              <a:buClrTx/>
              <a:buSzTx/>
              <a:buNone/>
            </a:pPr>
            <a:fld id="{9A0DB2DC-4C9A-4742-B13C-FB6460FD3503}" type="slidenum">
              <a:rPr lang="zh-CN" altLang="en-US" sz="1400" b="0" dirty="0">
                <a:solidFill>
                  <a:srgbClr val="1C1C1C"/>
                </a:solidFill>
                <a:ea typeface="楷体_GB2312"/>
              </a:rPr>
            </a:fld>
            <a:endParaRPr lang="zh-CN" altLang="en-US" sz="1400" b="0" dirty="0">
              <a:solidFill>
                <a:srgbClr val="1C1C1C"/>
              </a:solidFill>
              <a:latin typeface="Tahoma" panose="020B0604030504040204" pitchFamily="34" charset="0"/>
              <a:ea typeface="楷体_GB2312"/>
            </a:endParaRPr>
          </a:p>
        </p:txBody>
      </p:sp>
      <p:sp>
        <p:nvSpPr>
          <p:cNvPr id="118787" name="Rectangle 2"/>
          <p:cNvSpPr>
            <a:spLocks noGrp="1"/>
          </p:cNvSpPr>
          <p:nvPr>
            <p:ph type="ctrTitle" idx="4294967295"/>
          </p:nvPr>
        </p:nvSpPr>
        <p:spPr>
          <a:xfrm>
            <a:off x="990600" y="1676400"/>
            <a:ext cx="7110413" cy="1462088"/>
          </a:xfrm>
        </p:spPr>
        <p:txBody>
          <a:bodyPr vert="horz" wrap="square" lIns="91440" tIns="45720" rIns="91440" bIns="45720" anchor="b" anchorCtr="0"/>
          <a:lstStyle>
            <a:lvl1pPr lvl="0">
              <a:buClrTx/>
              <a:buSzTx/>
              <a:buFontTx/>
              <a:defRPr/>
            </a:lvl1pPr>
          </a:lstStyle>
          <a:p>
            <a:pPr lvl="0" algn="ctr" eaLnBrk="1" hangingPunct="1"/>
            <a:r>
              <a:rPr lang="en-US" altLang="zh-CN" dirty="0">
                <a:latin typeface="隶书" panose="02010509060101010101" pitchFamily="49" charset="-122"/>
              </a:rPr>
              <a:t>§6.2 </a:t>
            </a:r>
            <a:r>
              <a:rPr lang="zh-CN" altLang="en-US" sz="4800" dirty="0">
                <a:latin typeface="华文行楷" panose="02010800040101010101" pitchFamily="2" charset="-122"/>
                <a:ea typeface="华文行楷" panose="02010800040101010101" pitchFamily="2" charset="-122"/>
              </a:rPr>
              <a:t>简单接口电路</a:t>
            </a:r>
            <a:endParaRPr lang="zh-CN" altLang="en-US" sz="4800" dirty="0">
              <a:latin typeface="华文行楷" panose="02010800040101010101" pitchFamily="2" charset="-122"/>
              <a:ea typeface="华文行楷" panose="02010800040101010101" pitchFamily="2" charset="-122"/>
            </a:endParaRPr>
          </a:p>
        </p:txBody>
      </p:sp>
    </p:spTree>
  </p:cSld>
  <p:clrMapOvr>
    <a:masterClrMapping/>
  </p:clrMapOvr>
  <p:transition spd="slow">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19811" name="Rectangle 2"/>
          <p:cNvSpPr>
            <a:spLocks noGrp="1"/>
          </p:cNvSpPr>
          <p:nvPr>
            <p:ph type="title" idx="4294967295"/>
          </p:nvPr>
        </p:nvSpPr>
        <p:spPr/>
        <p:txBody>
          <a:bodyPr vert="horz" wrap="square" lIns="91440" tIns="45720" rIns="91440" bIns="45720" anchor="b" anchorCtr="0"/>
          <a:p>
            <a:pPr eaLnBrk="1" hangingPunct="1"/>
            <a:r>
              <a:rPr lang="zh-CN" altLang="en-US" dirty="0"/>
              <a:t>掌握：</a:t>
            </a:r>
            <a:endParaRPr lang="zh-CN" altLang="en-US" dirty="0"/>
          </a:p>
        </p:txBody>
      </p:sp>
      <p:sp>
        <p:nvSpPr>
          <p:cNvPr id="119812" name="Rectangle 3"/>
          <p:cNvSpPr>
            <a:spLocks noGrp="1"/>
          </p:cNvSpPr>
          <p:nvPr>
            <p:ph type="body" idx="4294967295"/>
          </p:nvPr>
        </p:nvSpPr>
        <p:spPr/>
        <p:txBody>
          <a:bodyPr vert="horz" wrap="square" lIns="91440" tIns="45720" rIns="91440" bIns="45720" anchor="t" anchorCtr="0"/>
          <a:p>
            <a:pPr eaLnBrk="1" hangingPunct="1">
              <a:lnSpc>
                <a:spcPct val="125000"/>
              </a:lnSpc>
            </a:pPr>
            <a:r>
              <a:rPr lang="zh-CN" altLang="en-US" sz="3200" dirty="0"/>
              <a:t>接口电路的分类及特点；</a:t>
            </a:r>
            <a:endParaRPr lang="zh-CN" altLang="en-US" sz="3200" dirty="0"/>
          </a:p>
          <a:p>
            <a:pPr eaLnBrk="1" hangingPunct="1">
              <a:lnSpc>
                <a:spcPct val="125000"/>
              </a:lnSpc>
            </a:pPr>
            <a:r>
              <a:rPr lang="zh-CN" altLang="en-US" sz="3200" dirty="0"/>
              <a:t>两类简单接口芯片的应用</a:t>
            </a:r>
            <a:endParaRPr lang="zh-CN" altLang="en-US" sz="3200" dirty="0"/>
          </a:p>
          <a:p>
            <a:pPr eaLnBrk="1" hangingPunct="1"/>
            <a:endParaRPr lang="en-US" altLang="zh-CN" sz="3200" dirty="0"/>
          </a:p>
        </p:txBody>
      </p:sp>
    </p:spTree>
  </p:cSld>
  <p:clrMapOvr>
    <a:masterClrMapping/>
  </p:clrMapOvr>
  <p:transition spd="slow">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20835" name="Rectangle 2050"/>
          <p:cNvSpPr>
            <a:spLocks noGrp="1"/>
          </p:cNvSpPr>
          <p:nvPr>
            <p:ph type="title" idx="4294967295"/>
          </p:nvPr>
        </p:nvSpPr>
        <p:spPr/>
        <p:txBody>
          <a:bodyPr vert="horz" wrap="square" lIns="91440" tIns="45720" rIns="91440" bIns="45720" anchor="b" anchorCtr="0"/>
          <a:p>
            <a:pPr eaLnBrk="1" hangingPunct="1"/>
            <a:r>
              <a:rPr lang="zh-CN" altLang="en-US" dirty="0"/>
              <a:t>一、接口的基本构成</a:t>
            </a:r>
            <a:endParaRPr lang="zh-CN" altLang="en-US" dirty="0"/>
          </a:p>
        </p:txBody>
      </p:sp>
      <p:sp>
        <p:nvSpPr>
          <p:cNvPr id="120836" name="Text Box 2053"/>
          <p:cNvSpPr txBox="1"/>
          <p:nvPr/>
        </p:nvSpPr>
        <p:spPr>
          <a:xfrm>
            <a:off x="7620000" y="2514600"/>
            <a:ext cx="984250" cy="369888"/>
          </a:xfrm>
          <a:prstGeom prst="rect">
            <a:avLst/>
          </a:prstGeom>
          <a:noFill/>
          <a:ln w="9525">
            <a:noFill/>
          </a:ln>
        </p:spPr>
        <p:txBody>
          <a:bodyPr t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None/>
            </a:pPr>
            <a:r>
              <a:rPr lang="zh-CN" altLang="en-US" sz="2000" dirty="0">
                <a:solidFill>
                  <a:srgbClr val="000000"/>
                </a:solidFill>
                <a:latin typeface="Times New Roman" panose="02020603050405020304" pitchFamily="18" charset="0"/>
                <a:ea typeface="楷体_GB2312"/>
              </a:rPr>
              <a:t>数据线</a:t>
            </a:r>
            <a:endParaRPr lang="zh-CN" altLang="en-US" sz="2000" dirty="0">
              <a:solidFill>
                <a:srgbClr val="000000"/>
              </a:solidFill>
              <a:latin typeface="Times New Roman" panose="02020603050405020304" pitchFamily="18" charset="0"/>
              <a:ea typeface="楷体_GB2312"/>
            </a:endParaRPr>
          </a:p>
        </p:txBody>
      </p:sp>
      <p:sp>
        <p:nvSpPr>
          <p:cNvPr id="120837" name="Text Box 2054"/>
          <p:cNvSpPr txBox="1"/>
          <p:nvPr/>
        </p:nvSpPr>
        <p:spPr>
          <a:xfrm>
            <a:off x="7702550" y="4841875"/>
            <a:ext cx="984250" cy="369888"/>
          </a:xfrm>
          <a:prstGeom prst="rect">
            <a:avLst/>
          </a:prstGeom>
          <a:noFill/>
          <a:ln w="9525">
            <a:noFill/>
          </a:ln>
        </p:spPr>
        <p:txBody>
          <a:bodyPr t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None/>
            </a:pPr>
            <a:r>
              <a:rPr lang="zh-CN" altLang="en-US" sz="2000" dirty="0">
                <a:solidFill>
                  <a:srgbClr val="000000"/>
                </a:solidFill>
                <a:latin typeface="Times New Roman" panose="02020603050405020304" pitchFamily="18" charset="0"/>
                <a:ea typeface="楷体_GB2312"/>
              </a:rPr>
              <a:t>控制线</a:t>
            </a:r>
            <a:endParaRPr lang="zh-CN" altLang="en-US" sz="2000" dirty="0">
              <a:solidFill>
                <a:srgbClr val="000000"/>
              </a:solidFill>
              <a:latin typeface="Times New Roman" panose="02020603050405020304" pitchFamily="18" charset="0"/>
              <a:ea typeface="楷体_GB2312"/>
            </a:endParaRPr>
          </a:p>
        </p:txBody>
      </p:sp>
      <p:sp>
        <p:nvSpPr>
          <p:cNvPr id="120838" name="Text Box 2055"/>
          <p:cNvSpPr txBox="1"/>
          <p:nvPr/>
        </p:nvSpPr>
        <p:spPr>
          <a:xfrm>
            <a:off x="7696200" y="3962400"/>
            <a:ext cx="984250" cy="369888"/>
          </a:xfrm>
          <a:prstGeom prst="rect">
            <a:avLst/>
          </a:prstGeom>
          <a:noFill/>
          <a:ln w="9525">
            <a:noFill/>
          </a:ln>
        </p:spPr>
        <p:txBody>
          <a:bodyPr t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None/>
            </a:pPr>
            <a:r>
              <a:rPr lang="zh-CN" altLang="en-US" sz="2000" dirty="0">
                <a:solidFill>
                  <a:srgbClr val="000000"/>
                </a:solidFill>
                <a:latin typeface="Times New Roman" panose="02020603050405020304" pitchFamily="18" charset="0"/>
                <a:ea typeface="楷体_GB2312"/>
              </a:rPr>
              <a:t>状态线</a:t>
            </a:r>
            <a:endParaRPr lang="zh-CN" altLang="en-US" sz="2000" dirty="0">
              <a:solidFill>
                <a:srgbClr val="000000"/>
              </a:solidFill>
              <a:latin typeface="Times New Roman" panose="02020603050405020304" pitchFamily="18" charset="0"/>
              <a:ea typeface="楷体_GB2312"/>
            </a:endParaRPr>
          </a:p>
        </p:txBody>
      </p:sp>
      <p:sp>
        <p:nvSpPr>
          <p:cNvPr id="120839" name="Text Box 2056"/>
          <p:cNvSpPr txBox="1"/>
          <p:nvPr/>
        </p:nvSpPr>
        <p:spPr>
          <a:xfrm>
            <a:off x="771525" y="3686175"/>
            <a:ext cx="654050" cy="369888"/>
          </a:xfrm>
          <a:prstGeom prst="rect">
            <a:avLst/>
          </a:prstGeom>
          <a:noFill/>
          <a:ln w="9525">
            <a:noFill/>
          </a:ln>
        </p:spPr>
        <p:txBody>
          <a:bodyPr t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None/>
            </a:pPr>
            <a:r>
              <a:rPr lang="en-US" altLang="zh-CN" sz="2000" dirty="0">
                <a:solidFill>
                  <a:srgbClr val="000000"/>
                </a:solidFill>
                <a:latin typeface="Times New Roman" panose="02020603050405020304" pitchFamily="18" charset="0"/>
                <a:ea typeface="楷体_GB2312"/>
              </a:rPr>
              <a:t>DB</a:t>
            </a:r>
            <a:endParaRPr lang="en-US" altLang="zh-CN" sz="2000" dirty="0">
              <a:solidFill>
                <a:srgbClr val="000000"/>
              </a:solidFill>
              <a:latin typeface="Times New Roman" panose="02020603050405020304" pitchFamily="18" charset="0"/>
              <a:ea typeface="楷体_GB2312"/>
            </a:endParaRPr>
          </a:p>
        </p:txBody>
      </p:sp>
      <p:sp>
        <p:nvSpPr>
          <p:cNvPr id="120840" name="Text Box 2057"/>
          <p:cNvSpPr txBox="1"/>
          <p:nvPr/>
        </p:nvSpPr>
        <p:spPr>
          <a:xfrm>
            <a:off x="771525" y="4519613"/>
            <a:ext cx="654050" cy="369887"/>
          </a:xfrm>
          <a:prstGeom prst="rect">
            <a:avLst/>
          </a:prstGeom>
          <a:noFill/>
          <a:ln w="9525">
            <a:noFill/>
          </a:ln>
        </p:spPr>
        <p:txBody>
          <a:bodyPr t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None/>
            </a:pPr>
            <a:r>
              <a:rPr lang="en-US" altLang="zh-CN" sz="2000" dirty="0">
                <a:solidFill>
                  <a:srgbClr val="000000"/>
                </a:solidFill>
                <a:latin typeface="Times New Roman" panose="02020603050405020304" pitchFamily="18" charset="0"/>
                <a:ea typeface="楷体_GB2312"/>
              </a:rPr>
              <a:t>CB</a:t>
            </a:r>
            <a:endParaRPr lang="en-US" altLang="zh-CN" sz="2000" dirty="0">
              <a:solidFill>
                <a:srgbClr val="000000"/>
              </a:solidFill>
              <a:latin typeface="Times New Roman" panose="02020603050405020304" pitchFamily="18" charset="0"/>
              <a:ea typeface="楷体_GB2312"/>
            </a:endParaRPr>
          </a:p>
        </p:txBody>
      </p:sp>
      <p:sp>
        <p:nvSpPr>
          <p:cNvPr id="120841" name="Text Box 2058"/>
          <p:cNvSpPr txBox="1"/>
          <p:nvPr/>
        </p:nvSpPr>
        <p:spPr>
          <a:xfrm>
            <a:off x="757238" y="2824163"/>
            <a:ext cx="654050" cy="369887"/>
          </a:xfrm>
          <a:prstGeom prst="rect">
            <a:avLst/>
          </a:prstGeom>
          <a:noFill/>
          <a:ln w="9525">
            <a:noFill/>
          </a:ln>
        </p:spPr>
        <p:txBody>
          <a:bodyPr t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None/>
            </a:pPr>
            <a:r>
              <a:rPr lang="en-US" altLang="zh-CN" sz="2000" dirty="0">
                <a:solidFill>
                  <a:srgbClr val="000000"/>
                </a:solidFill>
                <a:latin typeface="Times New Roman" panose="02020603050405020304" pitchFamily="18" charset="0"/>
                <a:ea typeface="楷体_GB2312"/>
              </a:rPr>
              <a:t>AB</a:t>
            </a:r>
            <a:endParaRPr lang="en-US" altLang="zh-CN" sz="2000" dirty="0">
              <a:solidFill>
                <a:srgbClr val="000000"/>
              </a:solidFill>
              <a:latin typeface="Times New Roman" panose="02020603050405020304" pitchFamily="18" charset="0"/>
              <a:ea typeface="楷体_GB2312"/>
            </a:endParaRPr>
          </a:p>
        </p:txBody>
      </p:sp>
      <p:sp>
        <p:nvSpPr>
          <p:cNvPr id="120842" name="Rectangle 2059"/>
          <p:cNvSpPr/>
          <p:nvPr/>
        </p:nvSpPr>
        <p:spPr>
          <a:xfrm>
            <a:off x="4430713" y="2379663"/>
            <a:ext cx="2298700" cy="515937"/>
          </a:xfrm>
          <a:prstGeom prst="rect">
            <a:avLst/>
          </a:prstGeom>
          <a:solidFill>
            <a:srgbClr val="339966"/>
          </a:solidFill>
          <a:ln w="9525" cap="flat" cmpd="sng">
            <a:solidFill>
              <a:srgbClr val="339966"/>
            </a:solidFill>
            <a:prstDash val="solid"/>
            <a:miter/>
            <a:headEnd type="none" w="med" len="med"/>
            <a:tailEnd type="none" w="med" len="med"/>
          </a:ln>
        </p:spPr>
        <p:txBody>
          <a:bodyPr t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1600" dirty="0">
                <a:solidFill>
                  <a:srgbClr val="FFFFFF"/>
                </a:solidFill>
                <a:latin typeface="Times New Roman" panose="02020603050405020304" pitchFamily="18" charset="0"/>
                <a:ea typeface="楷体_GB2312"/>
              </a:rPr>
              <a:t>数据输入寄存器</a:t>
            </a:r>
            <a:endParaRPr lang="zh-CN" altLang="en-US" sz="1600" dirty="0">
              <a:solidFill>
                <a:srgbClr val="FFFFFF"/>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en-US" altLang="zh-CN" sz="1600" dirty="0">
                <a:solidFill>
                  <a:srgbClr val="FFFFFF"/>
                </a:solidFill>
                <a:latin typeface="Times New Roman" panose="02020603050405020304" pitchFamily="18" charset="0"/>
                <a:ea typeface="楷体_GB2312"/>
              </a:rPr>
              <a:t>(or </a:t>
            </a:r>
            <a:r>
              <a:rPr lang="zh-CN" altLang="en-US" sz="1600" dirty="0">
                <a:solidFill>
                  <a:srgbClr val="FFFFFF"/>
                </a:solidFill>
                <a:latin typeface="Times New Roman" panose="02020603050405020304" pitchFamily="18" charset="0"/>
                <a:ea typeface="楷体_GB2312"/>
              </a:rPr>
              <a:t>三态门</a:t>
            </a:r>
            <a:r>
              <a:rPr lang="en-US" altLang="zh-CN" sz="1600" dirty="0">
                <a:solidFill>
                  <a:srgbClr val="FFFFFF"/>
                </a:solidFill>
                <a:latin typeface="Times New Roman" panose="02020603050405020304" pitchFamily="18" charset="0"/>
                <a:ea typeface="楷体_GB2312"/>
              </a:rPr>
              <a:t>)</a:t>
            </a:r>
            <a:endParaRPr lang="en-US" altLang="zh-CN" sz="1600" dirty="0">
              <a:solidFill>
                <a:srgbClr val="FFFFFF"/>
              </a:solidFill>
              <a:latin typeface="Times New Roman" panose="02020603050405020304" pitchFamily="18" charset="0"/>
              <a:ea typeface="楷体_GB2312"/>
            </a:endParaRPr>
          </a:p>
        </p:txBody>
      </p:sp>
      <p:sp>
        <p:nvSpPr>
          <p:cNvPr id="120843" name="Rectangle 2060"/>
          <p:cNvSpPr/>
          <p:nvPr/>
        </p:nvSpPr>
        <p:spPr>
          <a:xfrm>
            <a:off x="4430713" y="3241675"/>
            <a:ext cx="2298700" cy="492125"/>
          </a:xfrm>
          <a:prstGeom prst="rect">
            <a:avLst/>
          </a:prstGeom>
          <a:solidFill>
            <a:srgbClr val="339966"/>
          </a:solidFill>
          <a:ln w="9525" cap="flat" cmpd="sng">
            <a:solidFill>
              <a:srgbClr val="339966"/>
            </a:solidFill>
            <a:prstDash val="solid"/>
            <a:miter/>
            <a:headEnd type="none" w="med" len="med"/>
            <a:tailEnd type="none" w="med" len="med"/>
          </a:ln>
        </p:spPr>
        <p:txBody>
          <a:bodyPr t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1600" dirty="0">
                <a:solidFill>
                  <a:srgbClr val="FFFFFF"/>
                </a:solidFill>
                <a:latin typeface="Times New Roman" panose="02020603050405020304" pitchFamily="18" charset="0"/>
                <a:ea typeface="楷体_GB2312"/>
              </a:rPr>
              <a:t>数据输出寄存器</a:t>
            </a:r>
            <a:endParaRPr lang="zh-CN" altLang="en-US" sz="1600" dirty="0">
              <a:solidFill>
                <a:srgbClr val="FFFFFF"/>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en-US" altLang="zh-CN" sz="1600" dirty="0">
                <a:solidFill>
                  <a:srgbClr val="FFFFFF"/>
                </a:solidFill>
                <a:latin typeface="Times New Roman" panose="02020603050405020304" pitchFamily="18" charset="0"/>
                <a:ea typeface="楷体_GB2312"/>
              </a:rPr>
              <a:t>(</a:t>
            </a:r>
            <a:r>
              <a:rPr lang="zh-CN" altLang="en-US" sz="1600" dirty="0">
                <a:solidFill>
                  <a:srgbClr val="FFFFFF"/>
                </a:solidFill>
                <a:latin typeface="Times New Roman" panose="02020603050405020304" pitchFamily="18" charset="0"/>
                <a:ea typeface="楷体_GB2312"/>
              </a:rPr>
              <a:t>锁存器</a:t>
            </a:r>
            <a:r>
              <a:rPr lang="en-US" altLang="zh-CN" sz="1600" dirty="0">
                <a:solidFill>
                  <a:srgbClr val="FFFFFF"/>
                </a:solidFill>
                <a:latin typeface="Times New Roman" panose="02020603050405020304" pitchFamily="18" charset="0"/>
                <a:ea typeface="楷体_GB2312"/>
              </a:rPr>
              <a:t>)</a:t>
            </a:r>
            <a:endParaRPr lang="en-US" altLang="zh-CN" sz="1600" dirty="0">
              <a:solidFill>
                <a:srgbClr val="FFFFFF"/>
              </a:solidFill>
              <a:latin typeface="Times New Roman" panose="02020603050405020304" pitchFamily="18" charset="0"/>
              <a:ea typeface="楷体_GB2312"/>
            </a:endParaRPr>
          </a:p>
        </p:txBody>
      </p:sp>
      <p:sp>
        <p:nvSpPr>
          <p:cNvPr id="120844" name="Rectangle 2061"/>
          <p:cNvSpPr/>
          <p:nvPr/>
        </p:nvSpPr>
        <p:spPr>
          <a:xfrm>
            <a:off x="4430713" y="4103688"/>
            <a:ext cx="2298700" cy="492125"/>
          </a:xfrm>
          <a:prstGeom prst="rect">
            <a:avLst/>
          </a:prstGeom>
          <a:solidFill>
            <a:srgbClr val="339966"/>
          </a:solidFill>
          <a:ln w="9525" cap="flat" cmpd="sng">
            <a:solidFill>
              <a:srgbClr val="339966"/>
            </a:solidFill>
            <a:prstDash val="solid"/>
            <a:miter/>
            <a:headEnd type="none" w="med" len="med"/>
            <a:tailEnd type="none" w="med" len="med"/>
          </a:ln>
        </p:spPr>
        <p:txBody>
          <a:bodyPr t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1600" dirty="0">
                <a:solidFill>
                  <a:srgbClr val="FFFFFF"/>
                </a:solidFill>
                <a:latin typeface="Times New Roman" panose="02020603050405020304" pitchFamily="18" charset="0"/>
                <a:ea typeface="楷体_GB2312"/>
              </a:rPr>
              <a:t>状态寄存器</a:t>
            </a:r>
            <a:endParaRPr lang="zh-CN" altLang="en-US" sz="1600" dirty="0">
              <a:solidFill>
                <a:srgbClr val="FFFFFF"/>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en-US" altLang="zh-CN" sz="1600" dirty="0">
                <a:solidFill>
                  <a:srgbClr val="FFFFFF"/>
                </a:solidFill>
                <a:latin typeface="Times New Roman" panose="02020603050405020304" pitchFamily="18" charset="0"/>
                <a:ea typeface="楷体_GB2312"/>
              </a:rPr>
              <a:t>(or </a:t>
            </a:r>
            <a:r>
              <a:rPr lang="zh-CN" altLang="en-US" sz="1600" dirty="0">
                <a:solidFill>
                  <a:srgbClr val="FFFFFF"/>
                </a:solidFill>
                <a:latin typeface="Times New Roman" panose="02020603050405020304" pitchFamily="18" charset="0"/>
                <a:ea typeface="楷体_GB2312"/>
              </a:rPr>
              <a:t>三态门</a:t>
            </a:r>
            <a:r>
              <a:rPr lang="en-US" altLang="zh-CN" sz="1600" dirty="0">
                <a:solidFill>
                  <a:srgbClr val="FFFFFF"/>
                </a:solidFill>
                <a:latin typeface="Times New Roman" panose="02020603050405020304" pitchFamily="18" charset="0"/>
                <a:ea typeface="楷体_GB2312"/>
              </a:rPr>
              <a:t>)</a:t>
            </a:r>
            <a:endParaRPr lang="en-US" altLang="zh-CN" sz="1600" dirty="0">
              <a:solidFill>
                <a:srgbClr val="FFFFFF"/>
              </a:solidFill>
              <a:latin typeface="Times New Roman" panose="02020603050405020304" pitchFamily="18" charset="0"/>
              <a:ea typeface="楷体_GB2312"/>
            </a:endParaRPr>
          </a:p>
        </p:txBody>
      </p:sp>
      <p:sp>
        <p:nvSpPr>
          <p:cNvPr id="120845" name="Rectangle 2062"/>
          <p:cNvSpPr/>
          <p:nvPr/>
        </p:nvSpPr>
        <p:spPr>
          <a:xfrm>
            <a:off x="4430713" y="4965700"/>
            <a:ext cx="2298700" cy="492125"/>
          </a:xfrm>
          <a:prstGeom prst="rect">
            <a:avLst/>
          </a:prstGeom>
          <a:solidFill>
            <a:srgbClr val="339966"/>
          </a:solidFill>
          <a:ln w="9525" cap="flat" cmpd="sng">
            <a:solidFill>
              <a:srgbClr val="339966"/>
            </a:solidFill>
            <a:prstDash val="solid"/>
            <a:miter/>
            <a:headEnd type="none" w="med" len="med"/>
            <a:tailEnd type="none" w="med" len="med"/>
          </a:ln>
        </p:spPr>
        <p:txBody>
          <a:bodyPr t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60000"/>
              </a:spcBef>
              <a:spcAft>
                <a:spcPct val="0"/>
              </a:spcAft>
              <a:buClrTx/>
              <a:buSzTx/>
              <a:buNone/>
            </a:pPr>
            <a:r>
              <a:rPr lang="zh-CN" altLang="en-US" sz="2400" dirty="0">
                <a:solidFill>
                  <a:srgbClr val="FFFFFF"/>
                </a:solidFill>
                <a:latin typeface="Times New Roman" panose="02020603050405020304" pitchFamily="18" charset="0"/>
                <a:ea typeface="楷体_GB2312"/>
              </a:rPr>
              <a:t>命令寄存器</a:t>
            </a:r>
            <a:endParaRPr lang="zh-CN" altLang="en-US" sz="2400" dirty="0">
              <a:solidFill>
                <a:srgbClr val="FFFFFF"/>
              </a:solidFill>
              <a:latin typeface="Times New Roman" panose="02020603050405020304" pitchFamily="18" charset="0"/>
              <a:ea typeface="楷体_GB2312"/>
            </a:endParaRPr>
          </a:p>
        </p:txBody>
      </p:sp>
      <p:sp>
        <p:nvSpPr>
          <p:cNvPr id="120846" name="Line 2063"/>
          <p:cNvSpPr/>
          <p:nvPr/>
        </p:nvSpPr>
        <p:spPr>
          <a:xfrm>
            <a:off x="6729413" y="4349750"/>
            <a:ext cx="1147762" cy="0"/>
          </a:xfrm>
          <a:prstGeom prst="line">
            <a:avLst/>
          </a:prstGeom>
          <a:ln w="38100" cap="flat" cmpd="dbl">
            <a:solidFill>
              <a:schemeClr val="tx1"/>
            </a:solidFill>
            <a:prstDash val="solid"/>
            <a:bevel/>
            <a:headEnd type="triangle" w="sm" len="med"/>
            <a:tailEnd type="none" w="med" len="med"/>
          </a:ln>
        </p:spPr>
      </p:sp>
      <p:sp>
        <p:nvSpPr>
          <p:cNvPr id="120847" name="Line 2064"/>
          <p:cNvSpPr/>
          <p:nvPr/>
        </p:nvSpPr>
        <p:spPr>
          <a:xfrm flipH="1">
            <a:off x="3938588" y="2625725"/>
            <a:ext cx="492125" cy="0"/>
          </a:xfrm>
          <a:prstGeom prst="line">
            <a:avLst/>
          </a:prstGeom>
          <a:ln w="38100" cap="flat" cmpd="dbl">
            <a:solidFill>
              <a:schemeClr val="tx1"/>
            </a:solidFill>
            <a:prstDash val="solid"/>
            <a:bevel/>
            <a:headEnd type="none" w="med" len="med"/>
            <a:tailEnd type="triangle" w="sm" len="med"/>
          </a:ln>
        </p:spPr>
      </p:sp>
      <p:sp>
        <p:nvSpPr>
          <p:cNvPr id="120848" name="Line 2065"/>
          <p:cNvSpPr/>
          <p:nvPr/>
        </p:nvSpPr>
        <p:spPr>
          <a:xfrm>
            <a:off x="3938588" y="3487738"/>
            <a:ext cx="492125" cy="0"/>
          </a:xfrm>
          <a:prstGeom prst="line">
            <a:avLst/>
          </a:prstGeom>
          <a:ln w="38100" cap="flat" cmpd="dbl">
            <a:solidFill>
              <a:schemeClr val="tx1"/>
            </a:solidFill>
            <a:prstDash val="solid"/>
            <a:bevel/>
            <a:headEnd type="none" w="med" len="med"/>
            <a:tailEnd type="triangle" w="sm" len="med"/>
          </a:ln>
        </p:spPr>
      </p:sp>
      <p:sp>
        <p:nvSpPr>
          <p:cNvPr id="120849" name="Line 2066"/>
          <p:cNvSpPr/>
          <p:nvPr/>
        </p:nvSpPr>
        <p:spPr>
          <a:xfrm>
            <a:off x="3938588" y="2625725"/>
            <a:ext cx="0" cy="2586038"/>
          </a:xfrm>
          <a:prstGeom prst="line">
            <a:avLst/>
          </a:prstGeom>
          <a:ln w="38100" cap="flat" cmpd="dbl">
            <a:solidFill>
              <a:schemeClr val="tx1"/>
            </a:solidFill>
            <a:prstDash val="solid"/>
            <a:bevel/>
            <a:headEnd type="none" w="med" len="med"/>
            <a:tailEnd type="none" w="med" len="med"/>
          </a:ln>
        </p:spPr>
      </p:sp>
      <p:sp>
        <p:nvSpPr>
          <p:cNvPr id="120850" name="Line 2067"/>
          <p:cNvSpPr/>
          <p:nvPr/>
        </p:nvSpPr>
        <p:spPr>
          <a:xfrm>
            <a:off x="6729413" y="3487738"/>
            <a:ext cx="492125" cy="0"/>
          </a:xfrm>
          <a:prstGeom prst="line">
            <a:avLst/>
          </a:prstGeom>
          <a:ln w="38100" cap="flat" cmpd="dbl">
            <a:solidFill>
              <a:schemeClr val="tx1"/>
            </a:solidFill>
            <a:prstDash val="solid"/>
            <a:bevel/>
            <a:headEnd type="none" w="med" len="med"/>
            <a:tailEnd type="triangle" w="sm" len="med"/>
          </a:ln>
        </p:spPr>
      </p:sp>
      <p:sp>
        <p:nvSpPr>
          <p:cNvPr id="120851" name="Line 2068"/>
          <p:cNvSpPr/>
          <p:nvPr/>
        </p:nvSpPr>
        <p:spPr>
          <a:xfrm>
            <a:off x="6729413" y="2625725"/>
            <a:ext cx="492125" cy="0"/>
          </a:xfrm>
          <a:prstGeom prst="line">
            <a:avLst/>
          </a:prstGeom>
          <a:ln w="38100" cap="flat" cmpd="dbl">
            <a:solidFill>
              <a:schemeClr val="tx1"/>
            </a:solidFill>
            <a:prstDash val="solid"/>
            <a:bevel/>
            <a:headEnd type="triangle" w="sm" len="med"/>
            <a:tailEnd type="none" w="med" len="med"/>
          </a:ln>
        </p:spPr>
      </p:sp>
      <p:sp>
        <p:nvSpPr>
          <p:cNvPr id="120852" name="Line 2069"/>
          <p:cNvSpPr/>
          <p:nvPr/>
        </p:nvSpPr>
        <p:spPr>
          <a:xfrm>
            <a:off x="7221538" y="2625725"/>
            <a:ext cx="0" cy="862013"/>
          </a:xfrm>
          <a:prstGeom prst="line">
            <a:avLst/>
          </a:prstGeom>
          <a:ln w="38100" cap="flat" cmpd="dbl">
            <a:solidFill>
              <a:schemeClr val="tx1"/>
            </a:solidFill>
            <a:prstDash val="solid"/>
            <a:bevel/>
            <a:headEnd type="none" w="med" len="med"/>
            <a:tailEnd type="none" w="med" len="med"/>
          </a:ln>
        </p:spPr>
      </p:sp>
      <p:sp>
        <p:nvSpPr>
          <p:cNvPr id="120853" name="Line 2070"/>
          <p:cNvSpPr/>
          <p:nvPr/>
        </p:nvSpPr>
        <p:spPr>
          <a:xfrm>
            <a:off x="7221538" y="2995613"/>
            <a:ext cx="820737" cy="0"/>
          </a:xfrm>
          <a:prstGeom prst="line">
            <a:avLst/>
          </a:prstGeom>
          <a:ln w="38100" cap="flat" cmpd="dbl">
            <a:solidFill>
              <a:schemeClr val="tx1"/>
            </a:solidFill>
            <a:prstDash val="solid"/>
            <a:bevel/>
            <a:headEnd type="triangle" w="sm" len="med"/>
            <a:tailEnd type="triangle" w="sm" len="med"/>
          </a:ln>
        </p:spPr>
      </p:sp>
      <p:sp>
        <p:nvSpPr>
          <p:cNvPr id="120854" name="Line 2071"/>
          <p:cNvSpPr/>
          <p:nvPr/>
        </p:nvSpPr>
        <p:spPr>
          <a:xfrm>
            <a:off x="6729413" y="5211763"/>
            <a:ext cx="1147762" cy="0"/>
          </a:xfrm>
          <a:prstGeom prst="line">
            <a:avLst/>
          </a:prstGeom>
          <a:ln w="38100" cap="flat" cmpd="dbl">
            <a:solidFill>
              <a:schemeClr val="tx1"/>
            </a:solidFill>
            <a:prstDash val="solid"/>
            <a:bevel/>
            <a:headEnd type="none" w="med" len="med"/>
            <a:tailEnd type="triangle" w="sm" len="med"/>
          </a:ln>
        </p:spPr>
      </p:sp>
      <p:sp>
        <p:nvSpPr>
          <p:cNvPr id="120855" name="Line 2072"/>
          <p:cNvSpPr/>
          <p:nvPr/>
        </p:nvSpPr>
        <p:spPr>
          <a:xfrm flipH="1">
            <a:off x="3938588" y="5211763"/>
            <a:ext cx="492125" cy="0"/>
          </a:xfrm>
          <a:prstGeom prst="line">
            <a:avLst/>
          </a:prstGeom>
          <a:ln w="38100" cap="flat" cmpd="dbl">
            <a:solidFill>
              <a:schemeClr val="tx1"/>
            </a:solidFill>
            <a:prstDash val="solid"/>
            <a:bevel/>
            <a:headEnd type="triangle" w="sm" len="med"/>
            <a:tailEnd type="none" w="med" len="med"/>
          </a:ln>
        </p:spPr>
      </p:sp>
      <p:sp>
        <p:nvSpPr>
          <p:cNvPr id="120856" name="Line 2073"/>
          <p:cNvSpPr/>
          <p:nvPr/>
        </p:nvSpPr>
        <p:spPr>
          <a:xfrm>
            <a:off x="3938588" y="4349750"/>
            <a:ext cx="492125" cy="0"/>
          </a:xfrm>
          <a:prstGeom prst="line">
            <a:avLst/>
          </a:prstGeom>
          <a:ln w="38100" cap="flat" cmpd="dbl">
            <a:solidFill>
              <a:schemeClr val="tx1"/>
            </a:solidFill>
            <a:prstDash val="solid"/>
            <a:bevel/>
            <a:headEnd type="triangle" w="sm" len="med"/>
            <a:tailEnd type="none" w="med" len="med"/>
          </a:ln>
        </p:spPr>
      </p:sp>
      <p:sp>
        <p:nvSpPr>
          <p:cNvPr id="120857" name="Line 2074"/>
          <p:cNvSpPr/>
          <p:nvPr/>
        </p:nvSpPr>
        <p:spPr>
          <a:xfrm>
            <a:off x="1309688" y="3857625"/>
            <a:ext cx="2625725" cy="0"/>
          </a:xfrm>
          <a:prstGeom prst="line">
            <a:avLst/>
          </a:prstGeom>
          <a:ln w="38100" cap="flat" cmpd="dbl">
            <a:solidFill>
              <a:schemeClr val="tx1"/>
            </a:solidFill>
            <a:prstDash val="solid"/>
            <a:bevel/>
            <a:headEnd type="triangle" w="sm" len="med"/>
            <a:tailEnd type="triangle" w="sm" len="med"/>
          </a:ln>
        </p:spPr>
      </p:sp>
      <p:sp>
        <p:nvSpPr>
          <p:cNvPr id="120858" name="Rectangle 2075"/>
          <p:cNvSpPr/>
          <p:nvPr/>
        </p:nvSpPr>
        <p:spPr>
          <a:xfrm>
            <a:off x="2133600" y="2643188"/>
            <a:ext cx="820738" cy="738187"/>
          </a:xfrm>
          <a:prstGeom prst="rect">
            <a:avLst/>
          </a:prstGeom>
          <a:solidFill>
            <a:srgbClr val="339966"/>
          </a:solidFill>
          <a:ln w="9525" cap="flat" cmpd="sng">
            <a:solidFill>
              <a:srgbClr val="339966"/>
            </a:solidFill>
            <a:prstDash val="solid"/>
            <a:miter/>
            <a:headEnd type="none" w="med" len="med"/>
            <a:tailEnd type="none" w="med" len="med"/>
          </a:ln>
        </p:spPr>
        <p:txBody>
          <a:bodyPr t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译码</a:t>
            </a:r>
            <a:endParaRPr lang="zh-CN" altLang="en-US" sz="2000" dirty="0">
              <a:solidFill>
                <a:srgbClr val="FFFFFF"/>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电路</a:t>
            </a:r>
            <a:endParaRPr lang="zh-CN" altLang="en-US" sz="2000" dirty="0">
              <a:solidFill>
                <a:srgbClr val="FFFFFF"/>
              </a:solidFill>
              <a:latin typeface="Times New Roman" panose="02020603050405020304" pitchFamily="18" charset="0"/>
              <a:ea typeface="楷体_GB2312"/>
            </a:endParaRPr>
          </a:p>
        </p:txBody>
      </p:sp>
      <p:sp>
        <p:nvSpPr>
          <p:cNvPr id="120859" name="Rectangle 2076"/>
          <p:cNvSpPr/>
          <p:nvPr/>
        </p:nvSpPr>
        <p:spPr>
          <a:xfrm>
            <a:off x="2133600" y="4367213"/>
            <a:ext cx="820738" cy="738187"/>
          </a:xfrm>
          <a:prstGeom prst="rect">
            <a:avLst/>
          </a:prstGeom>
          <a:solidFill>
            <a:srgbClr val="339966"/>
          </a:solidFill>
          <a:ln w="9525" cap="flat" cmpd="sng">
            <a:solidFill>
              <a:srgbClr val="339966"/>
            </a:solidFill>
            <a:prstDash val="solid"/>
            <a:miter/>
            <a:headEnd type="none" w="med" len="med"/>
            <a:tailEnd type="none" w="med" len="med"/>
          </a:ln>
        </p:spPr>
        <p:txBody>
          <a:bodyPr t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控制</a:t>
            </a:r>
            <a:endParaRPr lang="zh-CN" altLang="en-US" sz="2000" dirty="0">
              <a:solidFill>
                <a:srgbClr val="FFFFFF"/>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逻辑</a:t>
            </a:r>
            <a:endParaRPr lang="zh-CN" altLang="en-US" sz="2000" dirty="0">
              <a:solidFill>
                <a:srgbClr val="FFFFFF"/>
              </a:solidFill>
              <a:latin typeface="Times New Roman" panose="02020603050405020304" pitchFamily="18" charset="0"/>
              <a:ea typeface="楷体_GB2312"/>
            </a:endParaRPr>
          </a:p>
        </p:txBody>
      </p:sp>
      <p:sp>
        <p:nvSpPr>
          <p:cNvPr id="120860" name="Line 2077"/>
          <p:cNvSpPr/>
          <p:nvPr/>
        </p:nvSpPr>
        <p:spPr>
          <a:xfrm flipV="1">
            <a:off x="2952750" y="2749550"/>
            <a:ext cx="1477963" cy="0"/>
          </a:xfrm>
          <a:prstGeom prst="line">
            <a:avLst/>
          </a:prstGeom>
          <a:ln w="9525" cap="flat" cmpd="sng">
            <a:solidFill>
              <a:schemeClr val="tx1"/>
            </a:solidFill>
            <a:prstDash val="dash"/>
            <a:bevel/>
            <a:headEnd type="none" w="med" len="med"/>
            <a:tailEnd type="triangle" w="sm" len="med"/>
          </a:ln>
        </p:spPr>
      </p:sp>
      <p:grpSp>
        <p:nvGrpSpPr>
          <p:cNvPr id="120861" name="Group 2078"/>
          <p:cNvGrpSpPr/>
          <p:nvPr/>
        </p:nvGrpSpPr>
        <p:grpSpPr>
          <a:xfrm>
            <a:off x="2952750" y="2871788"/>
            <a:ext cx="1477963" cy="739775"/>
            <a:chOff x="0" y="0"/>
            <a:chExt cx="1620" cy="936"/>
          </a:xfrm>
        </p:grpSpPr>
        <p:sp>
          <p:nvSpPr>
            <p:cNvPr id="120887" name="Line 2079"/>
            <p:cNvSpPr/>
            <p:nvPr/>
          </p:nvSpPr>
          <p:spPr>
            <a:xfrm>
              <a:off x="0" y="16"/>
              <a:ext cx="720" cy="0"/>
            </a:xfrm>
            <a:prstGeom prst="line">
              <a:avLst/>
            </a:prstGeom>
            <a:ln w="9525" cap="flat" cmpd="sng">
              <a:solidFill>
                <a:schemeClr val="tx1"/>
              </a:solidFill>
              <a:prstDash val="dash"/>
              <a:bevel/>
              <a:headEnd type="none" w="med" len="med"/>
              <a:tailEnd type="none" w="med" len="med"/>
            </a:ln>
          </p:spPr>
        </p:sp>
        <p:sp>
          <p:nvSpPr>
            <p:cNvPr id="120888" name="Line 2080"/>
            <p:cNvSpPr/>
            <p:nvPr/>
          </p:nvSpPr>
          <p:spPr>
            <a:xfrm>
              <a:off x="720" y="0"/>
              <a:ext cx="0" cy="936"/>
            </a:xfrm>
            <a:prstGeom prst="line">
              <a:avLst/>
            </a:prstGeom>
            <a:ln w="9525" cap="flat" cmpd="sng">
              <a:solidFill>
                <a:schemeClr val="tx1"/>
              </a:solidFill>
              <a:prstDash val="dash"/>
              <a:bevel/>
              <a:headEnd type="none" w="med" len="med"/>
              <a:tailEnd type="none" w="med" len="med"/>
            </a:ln>
          </p:spPr>
        </p:sp>
        <p:sp>
          <p:nvSpPr>
            <p:cNvPr id="120889" name="Line 2081"/>
            <p:cNvSpPr/>
            <p:nvPr/>
          </p:nvSpPr>
          <p:spPr>
            <a:xfrm>
              <a:off x="720" y="936"/>
              <a:ext cx="900" cy="0"/>
            </a:xfrm>
            <a:prstGeom prst="line">
              <a:avLst/>
            </a:prstGeom>
            <a:ln w="9525" cap="flat" cmpd="sng">
              <a:solidFill>
                <a:schemeClr val="tx1"/>
              </a:solidFill>
              <a:prstDash val="dash"/>
              <a:bevel/>
              <a:headEnd type="none" w="med" len="med"/>
              <a:tailEnd type="triangle" w="sm" len="med"/>
            </a:ln>
          </p:spPr>
        </p:sp>
      </p:grpSp>
      <p:grpSp>
        <p:nvGrpSpPr>
          <p:cNvPr id="120862" name="Group 2082"/>
          <p:cNvGrpSpPr/>
          <p:nvPr/>
        </p:nvGrpSpPr>
        <p:grpSpPr>
          <a:xfrm>
            <a:off x="2952750" y="3046413"/>
            <a:ext cx="1477963" cy="1425575"/>
            <a:chOff x="0" y="0"/>
            <a:chExt cx="1620" cy="1808"/>
          </a:xfrm>
        </p:grpSpPr>
        <p:sp>
          <p:nvSpPr>
            <p:cNvPr id="120884" name="Line 2083"/>
            <p:cNvSpPr/>
            <p:nvPr/>
          </p:nvSpPr>
          <p:spPr>
            <a:xfrm>
              <a:off x="0" y="0"/>
              <a:ext cx="540" cy="0"/>
            </a:xfrm>
            <a:prstGeom prst="line">
              <a:avLst/>
            </a:prstGeom>
            <a:ln w="9525" cap="flat" cmpd="sng">
              <a:solidFill>
                <a:schemeClr val="tx1"/>
              </a:solidFill>
              <a:prstDash val="dash"/>
              <a:bevel/>
              <a:headEnd type="none" w="med" len="med"/>
              <a:tailEnd type="none" w="med" len="med"/>
            </a:ln>
          </p:spPr>
        </p:sp>
        <p:sp>
          <p:nvSpPr>
            <p:cNvPr id="120885" name="Line 2084"/>
            <p:cNvSpPr/>
            <p:nvPr/>
          </p:nvSpPr>
          <p:spPr>
            <a:xfrm>
              <a:off x="540" y="16"/>
              <a:ext cx="0" cy="1792"/>
            </a:xfrm>
            <a:prstGeom prst="line">
              <a:avLst/>
            </a:prstGeom>
            <a:ln w="9525" cap="flat" cmpd="sng">
              <a:solidFill>
                <a:schemeClr val="tx1"/>
              </a:solidFill>
              <a:prstDash val="dash"/>
              <a:bevel/>
              <a:headEnd type="none" w="med" len="med"/>
              <a:tailEnd type="none" w="med" len="med"/>
            </a:ln>
          </p:spPr>
        </p:sp>
        <p:sp>
          <p:nvSpPr>
            <p:cNvPr id="120886" name="Line 2085"/>
            <p:cNvSpPr/>
            <p:nvPr/>
          </p:nvSpPr>
          <p:spPr>
            <a:xfrm>
              <a:off x="540" y="1808"/>
              <a:ext cx="1080" cy="0"/>
            </a:xfrm>
            <a:prstGeom prst="line">
              <a:avLst/>
            </a:prstGeom>
            <a:ln w="9525" cap="flat" cmpd="sng">
              <a:solidFill>
                <a:schemeClr val="tx1"/>
              </a:solidFill>
              <a:prstDash val="dash"/>
              <a:bevel/>
              <a:headEnd type="none" w="med" len="med"/>
              <a:tailEnd type="triangle" w="sm" len="med"/>
            </a:ln>
          </p:spPr>
        </p:sp>
      </p:grpSp>
      <p:grpSp>
        <p:nvGrpSpPr>
          <p:cNvPr id="120863" name="Group 2086"/>
          <p:cNvGrpSpPr/>
          <p:nvPr/>
        </p:nvGrpSpPr>
        <p:grpSpPr>
          <a:xfrm>
            <a:off x="2952750" y="3194050"/>
            <a:ext cx="1477963" cy="2139950"/>
            <a:chOff x="0" y="0"/>
            <a:chExt cx="1620" cy="2712"/>
          </a:xfrm>
        </p:grpSpPr>
        <p:sp>
          <p:nvSpPr>
            <p:cNvPr id="120881" name="Line 2087"/>
            <p:cNvSpPr/>
            <p:nvPr/>
          </p:nvSpPr>
          <p:spPr>
            <a:xfrm>
              <a:off x="0" y="0"/>
              <a:ext cx="360" cy="0"/>
            </a:xfrm>
            <a:prstGeom prst="line">
              <a:avLst/>
            </a:prstGeom>
            <a:ln w="9525" cap="flat" cmpd="sng">
              <a:solidFill>
                <a:schemeClr val="tx1"/>
              </a:solidFill>
              <a:prstDash val="dash"/>
              <a:bevel/>
              <a:headEnd type="none" w="med" len="med"/>
              <a:tailEnd type="none" w="med" len="med"/>
            </a:ln>
          </p:spPr>
        </p:sp>
        <p:sp>
          <p:nvSpPr>
            <p:cNvPr id="120882" name="Line 2088"/>
            <p:cNvSpPr/>
            <p:nvPr/>
          </p:nvSpPr>
          <p:spPr>
            <a:xfrm>
              <a:off x="360" y="12"/>
              <a:ext cx="0" cy="2700"/>
            </a:xfrm>
            <a:prstGeom prst="line">
              <a:avLst/>
            </a:prstGeom>
            <a:ln w="9525" cap="flat" cmpd="sng">
              <a:solidFill>
                <a:schemeClr val="tx1"/>
              </a:solidFill>
              <a:prstDash val="dash"/>
              <a:bevel/>
              <a:headEnd type="none" w="med" len="med"/>
              <a:tailEnd type="none" w="med" len="med"/>
            </a:ln>
          </p:spPr>
        </p:sp>
        <p:sp>
          <p:nvSpPr>
            <p:cNvPr id="120883" name="Line 2089"/>
            <p:cNvSpPr/>
            <p:nvPr/>
          </p:nvSpPr>
          <p:spPr>
            <a:xfrm>
              <a:off x="360" y="2712"/>
              <a:ext cx="1260" cy="0"/>
            </a:xfrm>
            <a:prstGeom prst="line">
              <a:avLst/>
            </a:prstGeom>
            <a:ln w="9525" cap="flat" cmpd="sng">
              <a:solidFill>
                <a:schemeClr val="tx1"/>
              </a:solidFill>
              <a:prstDash val="dash"/>
              <a:bevel/>
              <a:headEnd type="none" w="med" len="med"/>
              <a:tailEnd type="triangle" w="sm" len="med"/>
            </a:ln>
          </p:spPr>
        </p:sp>
      </p:grpSp>
      <p:sp>
        <p:nvSpPr>
          <p:cNvPr id="120864" name="Line 2090"/>
          <p:cNvSpPr/>
          <p:nvPr/>
        </p:nvSpPr>
        <p:spPr>
          <a:xfrm>
            <a:off x="1309688" y="2995613"/>
            <a:ext cx="820737" cy="0"/>
          </a:xfrm>
          <a:prstGeom prst="line">
            <a:avLst/>
          </a:prstGeom>
          <a:ln w="38100" cap="flat" cmpd="dbl">
            <a:solidFill>
              <a:schemeClr val="tx1"/>
            </a:solidFill>
            <a:prstDash val="solid"/>
            <a:bevel/>
            <a:headEnd type="none" w="med" len="med"/>
            <a:tailEnd type="triangle" w="sm" len="med"/>
          </a:ln>
        </p:spPr>
      </p:sp>
      <p:sp>
        <p:nvSpPr>
          <p:cNvPr id="120865" name="Line 2091"/>
          <p:cNvSpPr/>
          <p:nvPr/>
        </p:nvSpPr>
        <p:spPr>
          <a:xfrm>
            <a:off x="1309688" y="4719638"/>
            <a:ext cx="820737" cy="0"/>
          </a:xfrm>
          <a:prstGeom prst="line">
            <a:avLst/>
          </a:prstGeom>
          <a:ln w="38100" cap="flat" cmpd="dbl">
            <a:solidFill>
              <a:schemeClr val="tx1"/>
            </a:solidFill>
            <a:prstDash val="solid"/>
            <a:bevel/>
            <a:headEnd type="none" w="med" len="med"/>
            <a:tailEnd type="triangle" w="sm" len="med"/>
          </a:ln>
        </p:spPr>
      </p:sp>
      <p:sp>
        <p:nvSpPr>
          <p:cNvPr id="120866" name="Line 2092"/>
          <p:cNvSpPr/>
          <p:nvPr/>
        </p:nvSpPr>
        <p:spPr>
          <a:xfrm flipV="1">
            <a:off x="2460625" y="3363913"/>
            <a:ext cx="0" cy="985837"/>
          </a:xfrm>
          <a:prstGeom prst="line">
            <a:avLst/>
          </a:prstGeom>
          <a:ln w="12700" cap="flat" cmpd="sng">
            <a:solidFill>
              <a:schemeClr val="tx1"/>
            </a:solidFill>
            <a:prstDash val="solid"/>
            <a:bevel/>
            <a:headEnd type="none" w="med" len="med"/>
            <a:tailEnd type="triangle" w="sm" len="med"/>
          </a:ln>
        </p:spPr>
      </p:sp>
      <p:sp>
        <p:nvSpPr>
          <p:cNvPr id="120867" name="Line 2093"/>
          <p:cNvSpPr/>
          <p:nvPr/>
        </p:nvSpPr>
        <p:spPr>
          <a:xfrm>
            <a:off x="3773488" y="5703888"/>
            <a:ext cx="985837" cy="0"/>
          </a:xfrm>
          <a:prstGeom prst="line">
            <a:avLst/>
          </a:prstGeom>
          <a:ln w="12700" cap="flat" cmpd="sng">
            <a:solidFill>
              <a:schemeClr val="tx1"/>
            </a:solidFill>
            <a:prstDash val="solid"/>
            <a:bevel/>
            <a:headEnd type="none" w="med" len="med"/>
            <a:tailEnd type="none" w="med" len="med"/>
          </a:ln>
        </p:spPr>
      </p:sp>
      <p:sp>
        <p:nvSpPr>
          <p:cNvPr id="120868" name="Line 2094"/>
          <p:cNvSpPr/>
          <p:nvPr/>
        </p:nvSpPr>
        <p:spPr>
          <a:xfrm>
            <a:off x="4759325" y="5457825"/>
            <a:ext cx="0" cy="246063"/>
          </a:xfrm>
          <a:prstGeom prst="line">
            <a:avLst/>
          </a:prstGeom>
          <a:ln w="9525" cap="flat" cmpd="sng">
            <a:solidFill>
              <a:schemeClr val="tx1"/>
            </a:solidFill>
            <a:prstDash val="solid"/>
            <a:bevel/>
            <a:headEnd type="triangle" w="med" len="med"/>
            <a:tailEnd type="none" w="med" len="med"/>
          </a:ln>
        </p:spPr>
      </p:sp>
      <p:sp>
        <p:nvSpPr>
          <p:cNvPr id="120869" name="Line 2095"/>
          <p:cNvSpPr/>
          <p:nvPr/>
        </p:nvSpPr>
        <p:spPr>
          <a:xfrm>
            <a:off x="4759325" y="3733800"/>
            <a:ext cx="0" cy="246063"/>
          </a:xfrm>
          <a:prstGeom prst="line">
            <a:avLst/>
          </a:prstGeom>
          <a:ln w="9525" cap="flat" cmpd="sng">
            <a:solidFill>
              <a:schemeClr val="tx1"/>
            </a:solidFill>
            <a:prstDash val="solid"/>
            <a:bevel/>
            <a:headEnd type="triangle" w="med" len="med"/>
            <a:tailEnd type="none" w="med" len="med"/>
          </a:ln>
        </p:spPr>
      </p:sp>
      <p:sp>
        <p:nvSpPr>
          <p:cNvPr id="120870" name="Line 2096"/>
          <p:cNvSpPr/>
          <p:nvPr/>
        </p:nvSpPr>
        <p:spPr>
          <a:xfrm>
            <a:off x="4759325" y="4595813"/>
            <a:ext cx="0" cy="246062"/>
          </a:xfrm>
          <a:prstGeom prst="line">
            <a:avLst/>
          </a:prstGeom>
          <a:ln w="9525" cap="flat" cmpd="sng">
            <a:solidFill>
              <a:schemeClr val="tx1"/>
            </a:solidFill>
            <a:prstDash val="solid"/>
            <a:bevel/>
            <a:headEnd type="triangle" w="med" len="med"/>
            <a:tailEnd type="none" w="med" len="med"/>
          </a:ln>
        </p:spPr>
      </p:sp>
      <p:sp>
        <p:nvSpPr>
          <p:cNvPr id="120871" name="Line 2097"/>
          <p:cNvSpPr/>
          <p:nvPr/>
        </p:nvSpPr>
        <p:spPr>
          <a:xfrm>
            <a:off x="4759325" y="2871788"/>
            <a:ext cx="0" cy="246062"/>
          </a:xfrm>
          <a:prstGeom prst="line">
            <a:avLst/>
          </a:prstGeom>
          <a:ln w="9525" cap="flat" cmpd="sng">
            <a:solidFill>
              <a:schemeClr val="tx1"/>
            </a:solidFill>
            <a:prstDash val="solid"/>
            <a:bevel/>
            <a:headEnd type="triangle" w="med" len="med"/>
            <a:tailEnd type="none" w="med" len="med"/>
          </a:ln>
        </p:spPr>
      </p:sp>
      <p:sp>
        <p:nvSpPr>
          <p:cNvPr id="120872" name="Line 2098"/>
          <p:cNvSpPr/>
          <p:nvPr/>
        </p:nvSpPr>
        <p:spPr>
          <a:xfrm flipH="1">
            <a:off x="3773488" y="3117850"/>
            <a:ext cx="985837" cy="0"/>
          </a:xfrm>
          <a:prstGeom prst="line">
            <a:avLst/>
          </a:prstGeom>
          <a:ln w="9525" cap="flat" cmpd="sng">
            <a:solidFill>
              <a:schemeClr val="tx1"/>
            </a:solidFill>
            <a:prstDash val="solid"/>
            <a:bevel/>
            <a:headEnd type="none" w="med" len="med"/>
            <a:tailEnd type="none" w="med" len="med"/>
          </a:ln>
        </p:spPr>
      </p:sp>
      <p:sp>
        <p:nvSpPr>
          <p:cNvPr id="120873" name="Line 2099"/>
          <p:cNvSpPr/>
          <p:nvPr/>
        </p:nvSpPr>
        <p:spPr>
          <a:xfrm>
            <a:off x="3773488" y="3117850"/>
            <a:ext cx="0" cy="2586038"/>
          </a:xfrm>
          <a:prstGeom prst="line">
            <a:avLst/>
          </a:prstGeom>
          <a:ln w="9525" cap="flat" cmpd="sng">
            <a:solidFill>
              <a:schemeClr val="tx1"/>
            </a:solidFill>
            <a:prstDash val="solid"/>
            <a:bevel/>
            <a:headEnd type="none" w="med" len="med"/>
            <a:tailEnd type="none" w="med" len="med"/>
          </a:ln>
        </p:spPr>
      </p:sp>
      <p:sp>
        <p:nvSpPr>
          <p:cNvPr id="120874" name="Line 2100"/>
          <p:cNvSpPr/>
          <p:nvPr/>
        </p:nvSpPr>
        <p:spPr>
          <a:xfrm>
            <a:off x="2952750" y="4719638"/>
            <a:ext cx="820738" cy="0"/>
          </a:xfrm>
          <a:prstGeom prst="line">
            <a:avLst/>
          </a:prstGeom>
          <a:ln w="9525" cap="flat" cmpd="sng">
            <a:solidFill>
              <a:schemeClr val="tx1"/>
            </a:solidFill>
            <a:prstDash val="solid"/>
            <a:bevel/>
            <a:headEnd type="none" w="med" len="med"/>
            <a:tailEnd type="none" w="med" len="med"/>
          </a:ln>
        </p:spPr>
      </p:sp>
      <p:sp>
        <p:nvSpPr>
          <p:cNvPr id="120875" name="Line 2101"/>
          <p:cNvSpPr/>
          <p:nvPr/>
        </p:nvSpPr>
        <p:spPr>
          <a:xfrm flipH="1">
            <a:off x="3773488" y="3979863"/>
            <a:ext cx="985837" cy="0"/>
          </a:xfrm>
          <a:prstGeom prst="line">
            <a:avLst/>
          </a:prstGeom>
          <a:ln w="9525" cap="flat" cmpd="sng">
            <a:solidFill>
              <a:schemeClr val="tx1"/>
            </a:solidFill>
            <a:prstDash val="solid"/>
            <a:bevel/>
            <a:headEnd type="none" w="med" len="med"/>
            <a:tailEnd type="none" w="med" len="med"/>
          </a:ln>
        </p:spPr>
      </p:sp>
      <p:sp>
        <p:nvSpPr>
          <p:cNvPr id="120876" name="Line 2102"/>
          <p:cNvSpPr/>
          <p:nvPr/>
        </p:nvSpPr>
        <p:spPr>
          <a:xfrm>
            <a:off x="3773488" y="4841875"/>
            <a:ext cx="985837" cy="0"/>
          </a:xfrm>
          <a:prstGeom prst="line">
            <a:avLst/>
          </a:prstGeom>
          <a:ln w="9525" cap="flat" cmpd="sng">
            <a:solidFill>
              <a:schemeClr val="tx1"/>
            </a:solidFill>
            <a:prstDash val="solid"/>
            <a:bevel/>
            <a:headEnd type="none" w="med" len="med"/>
            <a:tailEnd type="none" w="med" len="med"/>
          </a:ln>
        </p:spPr>
      </p:sp>
      <p:sp>
        <p:nvSpPr>
          <p:cNvPr id="120877" name="Line 2103"/>
          <p:cNvSpPr/>
          <p:nvPr/>
        </p:nvSpPr>
        <p:spPr>
          <a:xfrm>
            <a:off x="7550150" y="2133600"/>
            <a:ext cx="0" cy="3816350"/>
          </a:xfrm>
          <a:prstGeom prst="line">
            <a:avLst/>
          </a:prstGeom>
          <a:ln w="28575" cap="flat" cmpd="sng">
            <a:solidFill>
              <a:schemeClr val="tx1"/>
            </a:solidFill>
            <a:prstDash val="dash"/>
            <a:bevel/>
            <a:headEnd type="none" w="med" len="med"/>
            <a:tailEnd type="none" w="med" len="med"/>
          </a:ln>
        </p:spPr>
      </p:sp>
      <p:sp>
        <p:nvSpPr>
          <p:cNvPr id="120878" name="Line 2104"/>
          <p:cNvSpPr/>
          <p:nvPr/>
        </p:nvSpPr>
        <p:spPr>
          <a:xfrm>
            <a:off x="1639888" y="2133600"/>
            <a:ext cx="0" cy="3816350"/>
          </a:xfrm>
          <a:prstGeom prst="line">
            <a:avLst/>
          </a:prstGeom>
          <a:ln w="28575" cap="flat" cmpd="sng">
            <a:solidFill>
              <a:schemeClr val="tx1"/>
            </a:solidFill>
            <a:prstDash val="dash"/>
            <a:bevel/>
            <a:headEnd type="none" w="med" len="med"/>
            <a:tailEnd type="none" w="med" len="med"/>
          </a:ln>
        </p:spPr>
      </p:sp>
      <p:sp>
        <p:nvSpPr>
          <p:cNvPr id="120879" name="Line 2105"/>
          <p:cNvSpPr/>
          <p:nvPr/>
        </p:nvSpPr>
        <p:spPr>
          <a:xfrm>
            <a:off x="1639888" y="2133600"/>
            <a:ext cx="5910262" cy="0"/>
          </a:xfrm>
          <a:prstGeom prst="line">
            <a:avLst/>
          </a:prstGeom>
          <a:ln w="28575" cap="flat" cmpd="sng">
            <a:solidFill>
              <a:schemeClr val="tx1"/>
            </a:solidFill>
            <a:prstDash val="dash"/>
            <a:bevel/>
            <a:headEnd type="none" w="med" len="med"/>
            <a:tailEnd type="none" w="med" len="med"/>
          </a:ln>
        </p:spPr>
      </p:sp>
      <p:sp>
        <p:nvSpPr>
          <p:cNvPr id="120880" name="Line 2106"/>
          <p:cNvSpPr/>
          <p:nvPr/>
        </p:nvSpPr>
        <p:spPr>
          <a:xfrm>
            <a:off x="1639888" y="5949950"/>
            <a:ext cx="5910262" cy="0"/>
          </a:xfrm>
          <a:prstGeom prst="line">
            <a:avLst/>
          </a:prstGeom>
          <a:ln w="28575" cap="flat" cmpd="sng">
            <a:solidFill>
              <a:schemeClr val="tx1"/>
            </a:solidFill>
            <a:prstDash val="dash"/>
            <a:bevel/>
            <a:headEnd type="none" w="med" len="med"/>
            <a:tailEnd type="none" w="med" len="med"/>
          </a:ln>
        </p:spPr>
      </p:sp>
    </p:spTree>
  </p:cSld>
  <p:clrMapOvr>
    <a:masterClrMapping/>
  </p:clrMapOvr>
  <p:transition spd="slow">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21859" name="Rectangle 2"/>
          <p:cNvSpPr>
            <a:spLocks noGrp="1"/>
          </p:cNvSpPr>
          <p:nvPr>
            <p:ph type="title" idx="4294967295"/>
          </p:nvPr>
        </p:nvSpPr>
        <p:spPr/>
        <p:txBody>
          <a:bodyPr vert="horz" wrap="square" lIns="91440" tIns="45720" rIns="91440" bIns="45720" anchor="b" anchorCtr="0"/>
          <a:p>
            <a:pPr eaLnBrk="1" hangingPunct="1"/>
            <a:r>
              <a:rPr lang="zh-CN" altLang="en-US" dirty="0"/>
              <a:t>接口的基本构成</a:t>
            </a:r>
            <a:endParaRPr lang="zh-CN" altLang="en-US" dirty="0"/>
          </a:p>
        </p:txBody>
      </p:sp>
      <p:sp>
        <p:nvSpPr>
          <p:cNvPr id="121860" name="Rectangle 3"/>
          <p:cNvSpPr>
            <a:spLocks noGrp="1"/>
          </p:cNvSpPr>
          <p:nvPr>
            <p:ph type="body" idx="4294967295"/>
          </p:nvPr>
        </p:nvSpPr>
        <p:spPr>
          <a:xfrm>
            <a:off x="323850" y="1746250"/>
            <a:ext cx="8620125" cy="4954588"/>
          </a:xfrm>
        </p:spPr>
        <p:txBody>
          <a:bodyPr vert="horz" wrap="square" lIns="91440" tIns="45720" rIns="91440" bIns="45720" anchor="t" anchorCtr="0"/>
          <a:p>
            <a:pPr eaLnBrk="1" hangingPunct="1">
              <a:lnSpc>
                <a:spcPct val="100000"/>
              </a:lnSpc>
              <a:spcAft>
                <a:spcPct val="10000"/>
              </a:spcAft>
            </a:pPr>
            <a:r>
              <a:rPr lang="zh-CN" altLang="en-US" sz="2000" dirty="0"/>
              <a:t>数据输入</a:t>
            </a:r>
            <a:r>
              <a:rPr lang="en-US" altLang="zh-CN" sz="2000" dirty="0"/>
              <a:t>/</a:t>
            </a:r>
            <a:r>
              <a:rPr lang="zh-CN" altLang="en-US" sz="2000" dirty="0"/>
              <a:t>输出寄存器 </a:t>
            </a:r>
            <a:endParaRPr lang="en-US" altLang="zh-CN" sz="2000" dirty="0"/>
          </a:p>
          <a:p>
            <a:pPr eaLnBrk="1" hangingPunct="1">
              <a:lnSpc>
                <a:spcPct val="100000"/>
              </a:lnSpc>
              <a:spcAft>
                <a:spcPct val="10000"/>
              </a:spcAft>
              <a:buNone/>
            </a:pPr>
            <a:r>
              <a:rPr lang="en-US" altLang="zh-CN" sz="2000" dirty="0"/>
              <a:t>     </a:t>
            </a:r>
            <a:r>
              <a:rPr lang="zh-CN" altLang="en-US" sz="1800" dirty="0">
                <a:solidFill>
                  <a:schemeClr val="tx1"/>
                </a:solidFill>
                <a:latin typeface="楷体_GB2312"/>
              </a:rPr>
              <a:t>暂存输入</a:t>
            </a:r>
            <a:r>
              <a:rPr lang="en-US" altLang="zh-CN" sz="1800" dirty="0">
                <a:solidFill>
                  <a:schemeClr val="tx1"/>
                </a:solidFill>
                <a:latin typeface="楷体_GB2312"/>
              </a:rPr>
              <a:t>/</a:t>
            </a:r>
            <a:r>
              <a:rPr lang="zh-CN" altLang="en-US" sz="1800" dirty="0">
                <a:solidFill>
                  <a:schemeClr val="tx1"/>
                </a:solidFill>
                <a:latin typeface="楷体_GB2312"/>
              </a:rPr>
              <a:t>输出的数据，又称数据输入端口、数据输出端口，合成数据端口。暂存输入</a:t>
            </a:r>
            <a:r>
              <a:rPr lang="en-US" altLang="zh-CN" sz="1800" dirty="0">
                <a:solidFill>
                  <a:schemeClr val="tx1"/>
                </a:solidFill>
                <a:latin typeface="楷体_GB2312"/>
              </a:rPr>
              <a:t>/</a:t>
            </a:r>
            <a:r>
              <a:rPr lang="zh-CN" altLang="en-US" sz="1800" dirty="0">
                <a:solidFill>
                  <a:schemeClr val="tx1"/>
                </a:solidFill>
                <a:latin typeface="楷体_GB2312"/>
              </a:rPr>
              <a:t>输出的数据。输入端口具有三态输出能力；输出常用锁存器实现；</a:t>
            </a:r>
            <a:endParaRPr lang="zh-CN" altLang="en-US" sz="1800" dirty="0">
              <a:solidFill>
                <a:schemeClr val="tx1"/>
              </a:solidFill>
              <a:latin typeface="楷体_GB2312"/>
            </a:endParaRPr>
          </a:p>
          <a:p>
            <a:pPr eaLnBrk="1" hangingPunct="1">
              <a:lnSpc>
                <a:spcPct val="100000"/>
              </a:lnSpc>
              <a:spcAft>
                <a:spcPct val="10000"/>
              </a:spcAft>
            </a:pPr>
            <a:r>
              <a:rPr lang="zh-CN" altLang="en-US" sz="2000" dirty="0"/>
              <a:t>命令寄存器 </a:t>
            </a:r>
            <a:endParaRPr lang="en-US" altLang="zh-CN" sz="2000" dirty="0"/>
          </a:p>
          <a:p>
            <a:pPr eaLnBrk="1" hangingPunct="1">
              <a:lnSpc>
                <a:spcPct val="100000"/>
              </a:lnSpc>
              <a:spcAft>
                <a:spcPct val="10000"/>
              </a:spcAft>
              <a:buNone/>
            </a:pPr>
            <a:r>
              <a:rPr lang="zh-CN" altLang="en-US" sz="2000" dirty="0"/>
              <a:t>     </a:t>
            </a:r>
            <a:r>
              <a:rPr lang="zh-CN" altLang="en-US" sz="1800" dirty="0">
                <a:solidFill>
                  <a:schemeClr val="tx1"/>
                </a:solidFill>
              </a:rPr>
              <a:t>又称命令端口或控制端口。存放</a:t>
            </a:r>
            <a:r>
              <a:rPr lang="en-US" altLang="zh-CN" sz="1800" dirty="0">
                <a:solidFill>
                  <a:schemeClr val="tx1"/>
                </a:solidFill>
              </a:rPr>
              <a:t>CPU</a:t>
            </a:r>
            <a:r>
              <a:rPr lang="zh-CN" altLang="en-US" sz="1800" dirty="0">
                <a:solidFill>
                  <a:schemeClr val="tx1"/>
                </a:solidFill>
              </a:rPr>
              <a:t>发出的控制命令</a:t>
            </a:r>
            <a:r>
              <a:rPr lang="en-US" altLang="zh-CN" sz="1800" dirty="0">
                <a:solidFill>
                  <a:schemeClr val="tx1"/>
                </a:solidFill>
              </a:rPr>
              <a:t>(</a:t>
            </a:r>
            <a:r>
              <a:rPr lang="zh-CN" altLang="en-US" sz="1800" dirty="0">
                <a:solidFill>
                  <a:schemeClr val="tx1"/>
                </a:solidFill>
              </a:rPr>
              <a:t>信息</a:t>
            </a:r>
            <a:r>
              <a:rPr lang="en-US" altLang="zh-CN" sz="1800" dirty="0">
                <a:solidFill>
                  <a:schemeClr val="tx1"/>
                </a:solidFill>
              </a:rPr>
              <a:t>)</a:t>
            </a:r>
            <a:r>
              <a:rPr lang="zh-CN" altLang="en-US" sz="1800" dirty="0">
                <a:solidFill>
                  <a:schemeClr val="tx1"/>
                </a:solidFill>
              </a:rPr>
              <a:t>，控制接口的工作方式及功能和控制外设按命令要求动作；</a:t>
            </a:r>
            <a:endParaRPr lang="zh-CN" altLang="en-US" sz="1800" dirty="0">
              <a:solidFill>
                <a:schemeClr val="tx1"/>
              </a:solidFill>
            </a:endParaRPr>
          </a:p>
          <a:p>
            <a:pPr eaLnBrk="1" hangingPunct="1">
              <a:lnSpc>
                <a:spcPct val="100000"/>
              </a:lnSpc>
              <a:spcAft>
                <a:spcPct val="10000"/>
              </a:spcAft>
            </a:pPr>
            <a:r>
              <a:rPr lang="zh-CN" altLang="en-US" sz="2000" dirty="0"/>
              <a:t>状态寄存器 </a:t>
            </a:r>
            <a:endParaRPr lang="en-US" altLang="zh-CN" sz="2000" dirty="0"/>
          </a:p>
          <a:p>
            <a:pPr eaLnBrk="1" hangingPunct="1">
              <a:lnSpc>
                <a:spcPct val="100000"/>
              </a:lnSpc>
              <a:spcAft>
                <a:spcPct val="10000"/>
              </a:spcAft>
              <a:buNone/>
            </a:pPr>
            <a:r>
              <a:rPr lang="zh-CN" altLang="en-US" sz="1800" dirty="0">
                <a:solidFill>
                  <a:schemeClr val="tx1"/>
                </a:solidFill>
              </a:rPr>
              <a:t>     又称状态端口，存放外设或接口的状态信息，供</a:t>
            </a:r>
            <a:r>
              <a:rPr lang="en-US" altLang="zh-CN" sz="1800" dirty="0">
                <a:solidFill>
                  <a:schemeClr val="tx1"/>
                </a:solidFill>
              </a:rPr>
              <a:t>CPU</a:t>
            </a:r>
            <a:r>
              <a:rPr lang="zh-CN" altLang="en-US" sz="1800" dirty="0">
                <a:solidFill>
                  <a:schemeClr val="tx1"/>
                </a:solidFill>
              </a:rPr>
              <a:t>读；</a:t>
            </a:r>
            <a:endParaRPr lang="en-US" altLang="zh-CN" sz="1800" dirty="0">
              <a:solidFill>
                <a:schemeClr val="tx1"/>
              </a:solidFill>
            </a:endParaRPr>
          </a:p>
          <a:p>
            <a:pPr eaLnBrk="1" hangingPunct="1">
              <a:lnSpc>
                <a:spcPct val="100000"/>
              </a:lnSpc>
              <a:spcAft>
                <a:spcPct val="10000"/>
              </a:spcAft>
            </a:pPr>
            <a:r>
              <a:rPr lang="zh-CN" altLang="en-US" sz="2000" dirty="0">
                <a:solidFill>
                  <a:srgbClr val="262673"/>
                </a:solidFill>
              </a:rPr>
              <a:t>译码电路</a:t>
            </a:r>
            <a:endParaRPr lang="en-US" altLang="zh-CN" sz="2000" dirty="0">
              <a:solidFill>
                <a:srgbClr val="262673"/>
              </a:solidFill>
            </a:endParaRPr>
          </a:p>
          <a:p>
            <a:pPr eaLnBrk="1" hangingPunct="1">
              <a:lnSpc>
                <a:spcPct val="100000"/>
              </a:lnSpc>
              <a:spcAft>
                <a:spcPct val="10000"/>
              </a:spcAft>
              <a:buNone/>
            </a:pPr>
            <a:r>
              <a:rPr lang="en-US" altLang="zh-CN" sz="1800" dirty="0">
                <a:solidFill>
                  <a:schemeClr val="tx1"/>
                </a:solidFill>
              </a:rPr>
              <a:t>     CPU</a:t>
            </a:r>
            <a:r>
              <a:rPr lang="zh-CN" altLang="en-US" sz="1800" dirty="0">
                <a:solidFill>
                  <a:schemeClr val="tx1"/>
                </a:solidFill>
              </a:rPr>
              <a:t>执行</a:t>
            </a:r>
            <a:r>
              <a:rPr lang="en-US" altLang="zh-CN" sz="1800" dirty="0">
                <a:solidFill>
                  <a:schemeClr val="tx1"/>
                </a:solidFill>
              </a:rPr>
              <a:t>I/O</a:t>
            </a:r>
            <a:r>
              <a:rPr lang="zh-CN" altLang="en-US" sz="1800" dirty="0">
                <a:solidFill>
                  <a:schemeClr val="tx1"/>
                </a:solidFill>
              </a:rPr>
              <a:t>指令时，从地址总线发送</a:t>
            </a:r>
            <a:r>
              <a:rPr lang="en-US" altLang="zh-CN" sz="1800" dirty="0">
                <a:solidFill>
                  <a:schemeClr val="tx1"/>
                </a:solidFill>
              </a:rPr>
              <a:t>16</a:t>
            </a:r>
            <a:r>
              <a:rPr lang="zh-CN" altLang="en-US" sz="1800" dirty="0">
                <a:solidFill>
                  <a:schemeClr val="tx1"/>
                </a:solidFill>
              </a:rPr>
              <a:t>位外部设备端口地址，其中高位地址线通过译码选中某接口芯片，低位地址线用来选择该接口芯片内不同端口；</a:t>
            </a:r>
            <a:endParaRPr lang="en-US" altLang="zh-CN" sz="1800" dirty="0">
              <a:solidFill>
                <a:schemeClr val="tx1"/>
              </a:solidFill>
            </a:endParaRPr>
          </a:p>
          <a:p>
            <a:pPr eaLnBrk="1" hangingPunct="1">
              <a:lnSpc>
                <a:spcPct val="100000"/>
              </a:lnSpc>
              <a:spcAft>
                <a:spcPct val="10000"/>
              </a:spcAft>
            </a:pPr>
            <a:r>
              <a:rPr lang="zh-CN" altLang="en-US" sz="2000" dirty="0">
                <a:solidFill>
                  <a:srgbClr val="262673"/>
                </a:solidFill>
                <a:latin typeface="楷体_GB2312"/>
              </a:rPr>
              <a:t>控制逻辑</a:t>
            </a:r>
            <a:endParaRPr lang="en-US" altLang="zh-CN" sz="2000" dirty="0">
              <a:solidFill>
                <a:srgbClr val="262673"/>
              </a:solidFill>
              <a:latin typeface="楷体_GB2312"/>
            </a:endParaRPr>
          </a:p>
          <a:p>
            <a:pPr eaLnBrk="1" hangingPunct="1">
              <a:lnSpc>
                <a:spcPct val="100000"/>
              </a:lnSpc>
              <a:spcAft>
                <a:spcPct val="10000"/>
              </a:spcAft>
              <a:buNone/>
            </a:pPr>
            <a:r>
              <a:rPr lang="zh-CN" altLang="en-US" sz="1800" dirty="0">
                <a:solidFill>
                  <a:schemeClr val="tx1"/>
                </a:solidFill>
              </a:rPr>
              <a:t>     产生接口内部控制信号和对外控制信号，以协调处理器和外设间的输入</a:t>
            </a:r>
            <a:r>
              <a:rPr lang="en-US" altLang="zh-CN" sz="1800" dirty="0">
                <a:solidFill>
                  <a:schemeClr val="tx1"/>
                </a:solidFill>
              </a:rPr>
              <a:t>/</a:t>
            </a:r>
            <a:r>
              <a:rPr lang="zh-CN" altLang="en-US" sz="1800" dirty="0">
                <a:solidFill>
                  <a:schemeClr val="tx1"/>
                </a:solidFill>
              </a:rPr>
              <a:t>输出操作 。 </a:t>
            </a:r>
            <a:endParaRPr lang="zh-CN" altLang="en-US" sz="1800" dirty="0">
              <a:solidFill>
                <a:schemeClr val="tx1"/>
              </a:solidFill>
            </a:endParaRPr>
          </a:p>
          <a:p>
            <a:pPr eaLnBrk="1" hangingPunct="1">
              <a:lnSpc>
                <a:spcPct val="120000"/>
              </a:lnSpc>
              <a:spcAft>
                <a:spcPct val="10000"/>
              </a:spcAft>
              <a:buNone/>
            </a:pPr>
            <a:endParaRPr lang="zh-CN" altLang="en-US" sz="1800" dirty="0">
              <a:solidFill>
                <a:schemeClr val="tx1"/>
              </a:solidFill>
            </a:endParaRPr>
          </a:p>
        </p:txBody>
      </p:sp>
    </p:spTree>
  </p:cSld>
  <p:clrMapOvr>
    <a:masterClrMapping/>
  </p:clrMapOvr>
  <p:transition spd="slow">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22883" name="Rectangle 2"/>
          <p:cNvSpPr>
            <a:spLocks noGrp="1"/>
          </p:cNvSpPr>
          <p:nvPr>
            <p:ph type="title" idx="4294967295"/>
          </p:nvPr>
        </p:nvSpPr>
        <p:spPr/>
        <p:txBody>
          <a:bodyPr vert="horz" wrap="square" lIns="91440" tIns="45720" rIns="91440" bIns="45720" anchor="b" anchorCtr="0"/>
          <a:p>
            <a:pPr eaLnBrk="1" hangingPunct="1"/>
            <a:r>
              <a:rPr lang="zh-CN" altLang="en-US" dirty="0"/>
              <a:t>二、接口的类型及特点</a:t>
            </a:r>
            <a:endParaRPr lang="zh-CN" altLang="en-US" dirty="0"/>
          </a:p>
        </p:txBody>
      </p:sp>
      <p:sp>
        <p:nvSpPr>
          <p:cNvPr id="43012" name="Rectangle 5"/>
          <p:cNvSpPr>
            <a:spLocks noGrp="1"/>
          </p:cNvSpPr>
          <p:nvPr>
            <p:ph type="body" idx="4294967295"/>
          </p:nvPr>
        </p:nvSpPr>
        <p:spPr>
          <a:xfrm>
            <a:off x="1042988" y="1844675"/>
            <a:ext cx="6985000" cy="4752975"/>
          </a:xfrm>
        </p:spPr>
        <p:txBody>
          <a:bodyPr vert="horz" wrap="square" lIns="92075" tIns="46038" rIns="92075" bIns="46038" anchor="t" anchorCtr="0"/>
          <a:p>
            <a:pPr eaLnBrk="1" hangingPunct="1"/>
            <a:r>
              <a:rPr lang="zh-CN" altLang="en-US" dirty="0"/>
              <a:t>按传输信息的方向分类：</a:t>
            </a:r>
            <a:endParaRPr lang="zh-CN" altLang="en-US" dirty="0"/>
          </a:p>
          <a:p>
            <a:pPr lvl="1" eaLnBrk="1" hangingPunct="1"/>
            <a:r>
              <a:rPr lang="zh-CN" altLang="en-US" dirty="0"/>
              <a:t>输入接口</a:t>
            </a:r>
            <a:endParaRPr lang="zh-CN" altLang="en-US" dirty="0"/>
          </a:p>
          <a:p>
            <a:pPr lvl="1" eaLnBrk="1" hangingPunct="1"/>
            <a:r>
              <a:rPr lang="zh-CN" altLang="en-US" dirty="0"/>
              <a:t>输出接口</a:t>
            </a:r>
            <a:endParaRPr lang="zh-CN" altLang="en-US" dirty="0"/>
          </a:p>
          <a:p>
            <a:pPr eaLnBrk="1" hangingPunct="1"/>
            <a:r>
              <a:rPr lang="zh-CN" altLang="en-US" dirty="0"/>
              <a:t>按传输信息的类型分类：</a:t>
            </a:r>
            <a:endParaRPr lang="zh-CN" altLang="en-US" dirty="0"/>
          </a:p>
          <a:p>
            <a:pPr lvl="1" eaLnBrk="1" hangingPunct="1"/>
            <a:r>
              <a:rPr lang="zh-CN" altLang="en-US" dirty="0"/>
              <a:t>数字接口</a:t>
            </a:r>
            <a:endParaRPr lang="zh-CN" altLang="en-US" dirty="0"/>
          </a:p>
          <a:p>
            <a:pPr lvl="1" eaLnBrk="1" hangingPunct="1"/>
            <a:r>
              <a:rPr lang="zh-CN" altLang="en-US" dirty="0"/>
              <a:t>模拟接口</a:t>
            </a:r>
            <a:endParaRPr lang="zh-CN" altLang="en-US" dirty="0"/>
          </a:p>
          <a:p>
            <a:pPr eaLnBrk="1" hangingPunct="1"/>
            <a:r>
              <a:rPr lang="zh-CN" altLang="en-US" dirty="0"/>
              <a:t>按传输信息的方式分类：</a:t>
            </a:r>
            <a:endParaRPr lang="zh-CN" altLang="en-US" dirty="0"/>
          </a:p>
          <a:p>
            <a:pPr lvl="1" eaLnBrk="1" hangingPunct="1"/>
            <a:r>
              <a:rPr lang="zh-CN" altLang="en-US" dirty="0"/>
              <a:t>并行接口</a:t>
            </a:r>
            <a:endParaRPr lang="zh-CN" altLang="en-US" dirty="0"/>
          </a:p>
          <a:p>
            <a:pPr lvl="1" eaLnBrk="1" hangingPunct="1"/>
            <a:r>
              <a:rPr lang="zh-CN" altLang="en-US" dirty="0"/>
              <a:t>串行接口</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3012">
                                            <p:txEl>
                                              <p:charRg st="0" end="12"/>
                                            </p:txEl>
                                          </p:spTgt>
                                        </p:tgtEl>
                                        <p:attrNameLst>
                                          <p:attrName>style.visibility</p:attrName>
                                        </p:attrNameLst>
                                      </p:cBhvr>
                                      <p:to>
                                        <p:strVal val="visible"/>
                                      </p:to>
                                    </p:set>
                                    <p:animEffect transition="in" filter="wipe(left)">
                                      <p:cBhvr>
                                        <p:cTn id="7" dur="500"/>
                                        <p:tgtEl>
                                          <p:spTgt spid="43012">
                                            <p:txEl>
                                              <p:charRg st="0" end="12"/>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3012">
                                            <p:txEl>
                                              <p:charRg st="22" end="34"/>
                                            </p:txEl>
                                          </p:spTgt>
                                        </p:tgtEl>
                                        <p:attrNameLst>
                                          <p:attrName>style.visibility</p:attrName>
                                        </p:attrNameLst>
                                      </p:cBhvr>
                                      <p:to>
                                        <p:strVal val="visible"/>
                                      </p:to>
                                    </p:set>
                                    <p:animEffect transition="in" filter="wipe(left)">
                                      <p:cBhvr>
                                        <p:cTn id="11" dur="500"/>
                                        <p:tgtEl>
                                          <p:spTgt spid="43012">
                                            <p:txEl>
                                              <p:charRg st="22" end="34"/>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3012">
                                            <p:txEl>
                                              <p:charRg st="44" end="56"/>
                                            </p:txEl>
                                          </p:spTgt>
                                        </p:tgtEl>
                                        <p:attrNameLst>
                                          <p:attrName>style.visibility</p:attrName>
                                        </p:attrNameLst>
                                      </p:cBhvr>
                                      <p:to>
                                        <p:strVal val="visible"/>
                                      </p:to>
                                    </p:set>
                                    <p:animEffect transition="in" filter="wipe(left)">
                                      <p:cBhvr>
                                        <p:cTn id="15" dur="500"/>
                                        <p:tgtEl>
                                          <p:spTgt spid="43012">
                                            <p:txEl>
                                              <p:charRg st="44" end="5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3012">
                                            <p:txEl>
                                              <p:charRg st="12" end="17"/>
                                            </p:txEl>
                                          </p:spTgt>
                                        </p:tgtEl>
                                        <p:attrNameLst>
                                          <p:attrName>style.visibility</p:attrName>
                                        </p:attrNameLst>
                                      </p:cBhvr>
                                      <p:to>
                                        <p:strVal val="visible"/>
                                      </p:to>
                                    </p:set>
                                    <p:animEffect transition="in" filter="wipe(left)">
                                      <p:cBhvr>
                                        <p:cTn id="20" dur="500"/>
                                        <p:tgtEl>
                                          <p:spTgt spid="43012">
                                            <p:txEl>
                                              <p:charRg st="12" end="17"/>
                                            </p:txEl>
                                          </p:spTgt>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43012">
                                            <p:txEl>
                                              <p:charRg st="17" end="22"/>
                                            </p:txEl>
                                          </p:spTgt>
                                        </p:tgtEl>
                                        <p:attrNameLst>
                                          <p:attrName>style.visibility</p:attrName>
                                        </p:attrNameLst>
                                      </p:cBhvr>
                                      <p:to>
                                        <p:strVal val="visible"/>
                                      </p:to>
                                    </p:set>
                                    <p:animEffect transition="in" filter="wipe(left)">
                                      <p:cBhvr>
                                        <p:cTn id="24" dur="500"/>
                                        <p:tgtEl>
                                          <p:spTgt spid="43012">
                                            <p:txEl>
                                              <p:charRg st="17" end="2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3012">
                                            <p:txEl>
                                              <p:charRg st="34" end="39"/>
                                            </p:txEl>
                                          </p:spTgt>
                                        </p:tgtEl>
                                        <p:attrNameLst>
                                          <p:attrName>style.visibility</p:attrName>
                                        </p:attrNameLst>
                                      </p:cBhvr>
                                      <p:to>
                                        <p:strVal val="visible"/>
                                      </p:to>
                                    </p:set>
                                    <p:animEffect transition="in" filter="wipe(left)">
                                      <p:cBhvr>
                                        <p:cTn id="29" dur="500"/>
                                        <p:tgtEl>
                                          <p:spTgt spid="43012">
                                            <p:txEl>
                                              <p:charRg st="34" end="39"/>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43012">
                                            <p:txEl>
                                              <p:charRg st="39" end="44"/>
                                            </p:txEl>
                                          </p:spTgt>
                                        </p:tgtEl>
                                        <p:attrNameLst>
                                          <p:attrName>style.visibility</p:attrName>
                                        </p:attrNameLst>
                                      </p:cBhvr>
                                      <p:to>
                                        <p:strVal val="visible"/>
                                      </p:to>
                                    </p:set>
                                    <p:animEffect transition="in" filter="wipe(left)">
                                      <p:cBhvr>
                                        <p:cTn id="33" dur="500"/>
                                        <p:tgtEl>
                                          <p:spTgt spid="43012">
                                            <p:txEl>
                                              <p:charRg st="39" end="4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43012">
                                            <p:txEl>
                                              <p:charRg st="56" end="61"/>
                                            </p:txEl>
                                          </p:spTgt>
                                        </p:tgtEl>
                                        <p:attrNameLst>
                                          <p:attrName>style.visibility</p:attrName>
                                        </p:attrNameLst>
                                      </p:cBhvr>
                                      <p:to>
                                        <p:strVal val="visible"/>
                                      </p:to>
                                    </p:set>
                                    <p:animEffect transition="in" filter="wipe(left)">
                                      <p:cBhvr>
                                        <p:cTn id="38" dur="500"/>
                                        <p:tgtEl>
                                          <p:spTgt spid="43012">
                                            <p:txEl>
                                              <p:charRg st="56" end="61"/>
                                            </p:txEl>
                                          </p:spTgt>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43012">
                                            <p:txEl>
                                              <p:charRg st="61" end="66"/>
                                            </p:txEl>
                                          </p:spTgt>
                                        </p:tgtEl>
                                        <p:attrNameLst>
                                          <p:attrName>style.visibility</p:attrName>
                                        </p:attrNameLst>
                                      </p:cBhvr>
                                      <p:to>
                                        <p:strVal val="visible"/>
                                      </p:to>
                                    </p:set>
                                    <p:animEffect transition="in" filter="wipe(left)">
                                      <p:cBhvr>
                                        <p:cTn id="42" dur="500"/>
                                        <p:tgtEl>
                                          <p:spTgt spid="43012">
                                            <p:txEl>
                                              <p:charRg st="61" end="6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23907" name="Rectangle 2"/>
          <p:cNvSpPr>
            <a:spLocks noGrp="1"/>
          </p:cNvSpPr>
          <p:nvPr>
            <p:ph type="title" idx="4294967295"/>
          </p:nvPr>
        </p:nvSpPr>
        <p:spPr/>
        <p:txBody>
          <a:bodyPr vert="horz" wrap="square" lIns="91440" tIns="45720" rIns="91440" bIns="45720" anchor="b" anchorCtr="0"/>
          <a:p>
            <a:pPr eaLnBrk="1" hangingPunct="1"/>
            <a:r>
              <a:rPr lang="zh-CN" altLang="en-US" dirty="0"/>
              <a:t>接口特点</a:t>
            </a:r>
            <a:endParaRPr lang="zh-CN" altLang="en-US" dirty="0"/>
          </a:p>
        </p:txBody>
      </p:sp>
      <p:sp>
        <p:nvSpPr>
          <p:cNvPr id="44036" name="Rectangle 3"/>
          <p:cNvSpPr>
            <a:spLocks noGrp="1"/>
          </p:cNvSpPr>
          <p:nvPr>
            <p:ph type="body" idx="4294967295"/>
          </p:nvPr>
        </p:nvSpPr>
        <p:spPr>
          <a:xfrm>
            <a:off x="971550" y="2066925"/>
            <a:ext cx="7345363" cy="3810000"/>
          </a:xfrm>
        </p:spPr>
        <p:txBody>
          <a:bodyPr vert="horz" wrap="square" lIns="91440" tIns="45720" rIns="91440" bIns="45720" anchor="t" anchorCtr="0"/>
          <a:p>
            <a:pPr eaLnBrk="1" hangingPunct="1">
              <a:spcAft>
                <a:spcPct val="20000"/>
              </a:spcAft>
            </a:pPr>
            <a:r>
              <a:rPr lang="zh-CN" altLang="en-US" dirty="0"/>
              <a:t>输入接口：</a:t>
            </a:r>
            <a:endParaRPr lang="zh-CN" altLang="en-US" dirty="0"/>
          </a:p>
          <a:p>
            <a:pPr lvl="1" eaLnBrk="1" hangingPunct="1">
              <a:spcAft>
                <a:spcPct val="40000"/>
              </a:spcAft>
            </a:pPr>
            <a:r>
              <a:rPr lang="zh-CN" altLang="en-US" dirty="0"/>
              <a:t>要求对数据具有控制能力（缓冲）</a:t>
            </a:r>
            <a:endParaRPr lang="zh-CN" altLang="en-US" dirty="0"/>
          </a:p>
          <a:p>
            <a:pPr lvl="1" eaLnBrk="1" hangingPunct="1">
              <a:spcAft>
                <a:spcPct val="40000"/>
              </a:spcAft>
            </a:pPr>
            <a:r>
              <a:rPr lang="zh-CN" altLang="en-US" dirty="0"/>
              <a:t>常用三态门实现</a:t>
            </a:r>
            <a:endParaRPr lang="zh-CN" altLang="en-US" dirty="0"/>
          </a:p>
          <a:p>
            <a:pPr eaLnBrk="1" hangingPunct="1">
              <a:spcAft>
                <a:spcPct val="20000"/>
              </a:spcAft>
            </a:pPr>
            <a:r>
              <a:rPr lang="zh-CN" altLang="en-US" dirty="0"/>
              <a:t>输出接口：</a:t>
            </a:r>
            <a:endParaRPr lang="zh-CN" altLang="en-US" dirty="0"/>
          </a:p>
          <a:p>
            <a:pPr lvl="1" eaLnBrk="1" hangingPunct="1"/>
            <a:r>
              <a:rPr lang="zh-CN" altLang="en-US" dirty="0"/>
              <a:t>要求对数据具有锁存能力</a:t>
            </a:r>
            <a:endParaRPr lang="zh-CN" altLang="en-US" dirty="0"/>
          </a:p>
          <a:p>
            <a:pPr lvl="1" eaLnBrk="1" hangingPunct="1"/>
            <a:r>
              <a:rPr lang="zh-CN" altLang="en-US" dirty="0"/>
              <a:t>常用锁存器实现</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4036">
                                            <p:txEl>
                                              <p:charRg st="0" end="6"/>
                                            </p:txEl>
                                          </p:spTgt>
                                        </p:tgtEl>
                                        <p:attrNameLst>
                                          <p:attrName>style.visibility</p:attrName>
                                        </p:attrNameLst>
                                      </p:cBhvr>
                                      <p:to>
                                        <p:strVal val="visible"/>
                                      </p:to>
                                    </p:set>
                                    <p:animEffect transition="in" filter="wipe(left)">
                                      <p:cBhvr>
                                        <p:cTn id="7" dur="500"/>
                                        <p:tgtEl>
                                          <p:spTgt spid="44036">
                                            <p:txEl>
                                              <p:charRg st="0"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036">
                                            <p:txEl>
                                              <p:charRg st="6" end="22"/>
                                            </p:txEl>
                                          </p:spTgt>
                                        </p:tgtEl>
                                        <p:attrNameLst>
                                          <p:attrName>style.visibility</p:attrName>
                                        </p:attrNameLst>
                                      </p:cBhvr>
                                      <p:to>
                                        <p:strVal val="visible"/>
                                      </p:to>
                                    </p:set>
                                    <p:animEffect transition="in" filter="wipe(left)">
                                      <p:cBhvr>
                                        <p:cTn id="12" dur="500"/>
                                        <p:tgtEl>
                                          <p:spTgt spid="44036">
                                            <p:txEl>
                                              <p:charRg st="6" end="22"/>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4036">
                                            <p:txEl>
                                              <p:charRg st="22" end="30"/>
                                            </p:txEl>
                                          </p:spTgt>
                                        </p:tgtEl>
                                        <p:attrNameLst>
                                          <p:attrName>style.visibility</p:attrName>
                                        </p:attrNameLst>
                                      </p:cBhvr>
                                      <p:to>
                                        <p:strVal val="visible"/>
                                      </p:to>
                                    </p:set>
                                    <p:animEffect transition="in" filter="wipe(left)">
                                      <p:cBhvr>
                                        <p:cTn id="16" dur="500"/>
                                        <p:tgtEl>
                                          <p:spTgt spid="44036">
                                            <p:txEl>
                                              <p:charRg st="22" end="3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4036">
                                            <p:txEl>
                                              <p:charRg st="30" end="36"/>
                                            </p:txEl>
                                          </p:spTgt>
                                        </p:tgtEl>
                                        <p:attrNameLst>
                                          <p:attrName>style.visibility</p:attrName>
                                        </p:attrNameLst>
                                      </p:cBhvr>
                                      <p:to>
                                        <p:strVal val="visible"/>
                                      </p:to>
                                    </p:set>
                                    <p:animEffect transition="in" filter="wipe(left)">
                                      <p:cBhvr>
                                        <p:cTn id="21" dur="500"/>
                                        <p:tgtEl>
                                          <p:spTgt spid="44036">
                                            <p:txEl>
                                              <p:charRg st="30" end="3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4036">
                                            <p:txEl>
                                              <p:charRg st="36" end="48"/>
                                            </p:txEl>
                                          </p:spTgt>
                                        </p:tgtEl>
                                        <p:attrNameLst>
                                          <p:attrName>style.visibility</p:attrName>
                                        </p:attrNameLst>
                                      </p:cBhvr>
                                      <p:to>
                                        <p:strVal val="visible"/>
                                      </p:to>
                                    </p:set>
                                    <p:animEffect transition="in" filter="wipe(left)">
                                      <p:cBhvr>
                                        <p:cTn id="26" dur="500"/>
                                        <p:tgtEl>
                                          <p:spTgt spid="44036">
                                            <p:txEl>
                                              <p:charRg st="36" end="48"/>
                                            </p:txEl>
                                          </p:spTgt>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44036">
                                            <p:txEl>
                                              <p:charRg st="48" end="56"/>
                                            </p:txEl>
                                          </p:spTgt>
                                        </p:tgtEl>
                                        <p:attrNameLst>
                                          <p:attrName>style.visibility</p:attrName>
                                        </p:attrNameLst>
                                      </p:cBhvr>
                                      <p:to>
                                        <p:strVal val="visible"/>
                                      </p:to>
                                    </p:set>
                                    <p:animEffect transition="in" filter="wipe(left)">
                                      <p:cBhvr>
                                        <p:cTn id="30" dur="500"/>
                                        <p:tgtEl>
                                          <p:spTgt spid="44036">
                                            <p:txEl>
                                              <p:charRg st="48" end="5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24931" name="Rectangle 2"/>
          <p:cNvSpPr>
            <a:spLocks noGrp="1"/>
          </p:cNvSpPr>
          <p:nvPr>
            <p:ph type="title" idx="4294967295"/>
          </p:nvPr>
        </p:nvSpPr>
        <p:spPr/>
        <p:txBody>
          <a:bodyPr vert="horz" wrap="square" lIns="91440" tIns="45720" rIns="91440" bIns="45720" anchor="b" anchorCtr="0"/>
          <a:p>
            <a:pPr eaLnBrk="1" hangingPunct="1"/>
            <a:r>
              <a:rPr lang="zh-CN" altLang="en-US" dirty="0"/>
              <a:t>三、三态门接口</a:t>
            </a:r>
            <a:endParaRPr lang="zh-CN" altLang="en-US" dirty="0"/>
          </a:p>
        </p:txBody>
      </p:sp>
      <p:sp>
        <p:nvSpPr>
          <p:cNvPr id="124932" name="Rectangle 3"/>
          <p:cNvSpPr>
            <a:spLocks noGrp="1"/>
          </p:cNvSpPr>
          <p:nvPr>
            <p:ph type="body" idx="4294967295"/>
          </p:nvPr>
        </p:nvSpPr>
        <p:spPr>
          <a:xfrm>
            <a:off x="831850" y="2049463"/>
            <a:ext cx="7772400" cy="947737"/>
          </a:xfrm>
        </p:spPr>
        <p:txBody>
          <a:bodyPr vert="horz" wrap="square" lIns="91440" tIns="45720" rIns="91440" bIns="45720" anchor="t" anchorCtr="0"/>
          <a:p>
            <a:pPr eaLnBrk="1" hangingPunct="1"/>
            <a:r>
              <a:rPr lang="zh-CN" altLang="en-US" dirty="0"/>
              <a:t>高电平、低电平、</a:t>
            </a:r>
            <a:r>
              <a:rPr lang="zh-CN" altLang="en-US" u="sng" dirty="0"/>
              <a:t>高阻态</a:t>
            </a:r>
            <a:endParaRPr lang="zh-CN" altLang="en-US" u="sng" dirty="0"/>
          </a:p>
          <a:p>
            <a:pPr eaLnBrk="1" hangingPunct="1"/>
            <a:endParaRPr lang="en-US" altLang="zh-CN" dirty="0"/>
          </a:p>
        </p:txBody>
      </p:sp>
      <p:sp>
        <p:nvSpPr>
          <p:cNvPr id="124933" name="AutoShape 37"/>
          <p:cNvSpPr/>
          <p:nvPr/>
        </p:nvSpPr>
        <p:spPr>
          <a:xfrm rot="-5464849">
            <a:off x="2667000" y="3581400"/>
            <a:ext cx="762000" cy="609600"/>
          </a:xfrm>
          <a:prstGeom prst="triangle">
            <a:avLst>
              <a:gd name="adj" fmla="val 50000"/>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24934" name="Line 39"/>
          <p:cNvSpPr/>
          <p:nvPr/>
        </p:nvSpPr>
        <p:spPr>
          <a:xfrm>
            <a:off x="1828800" y="3886200"/>
            <a:ext cx="914400" cy="0"/>
          </a:xfrm>
          <a:prstGeom prst="line">
            <a:avLst/>
          </a:prstGeom>
          <a:ln w="25400" cap="sq" cmpd="sng">
            <a:solidFill>
              <a:srgbClr val="339966"/>
            </a:solidFill>
            <a:prstDash val="solid"/>
            <a:bevel/>
            <a:headEnd type="triangle" w="med" len="med"/>
            <a:tailEnd type="none" w="med" len="med"/>
          </a:ln>
        </p:spPr>
      </p:sp>
      <p:sp>
        <p:nvSpPr>
          <p:cNvPr id="124935" name="Line 40"/>
          <p:cNvSpPr/>
          <p:nvPr/>
        </p:nvSpPr>
        <p:spPr>
          <a:xfrm flipV="1">
            <a:off x="3371850" y="3886200"/>
            <a:ext cx="1123950" cy="14288"/>
          </a:xfrm>
          <a:prstGeom prst="line">
            <a:avLst/>
          </a:prstGeom>
          <a:ln w="25400" cap="sq" cmpd="sng">
            <a:solidFill>
              <a:srgbClr val="339966"/>
            </a:solidFill>
            <a:prstDash val="solid"/>
            <a:bevel/>
            <a:headEnd type="triangle" w="med" len="med"/>
            <a:tailEnd type="none" w="med" len="med"/>
          </a:ln>
        </p:spPr>
      </p:sp>
      <p:sp>
        <p:nvSpPr>
          <p:cNvPr id="124936" name="Line 41"/>
          <p:cNvSpPr/>
          <p:nvPr/>
        </p:nvSpPr>
        <p:spPr>
          <a:xfrm>
            <a:off x="3067050" y="4114800"/>
            <a:ext cx="0" cy="1066800"/>
          </a:xfrm>
          <a:prstGeom prst="line">
            <a:avLst/>
          </a:prstGeom>
          <a:ln w="25400" cap="sq" cmpd="sng">
            <a:solidFill>
              <a:srgbClr val="339966"/>
            </a:solidFill>
            <a:prstDash val="solid"/>
            <a:bevel/>
            <a:headEnd type="none" w="med" len="med"/>
            <a:tailEnd type="none" w="med" len="med"/>
          </a:ln>
        </p:spPr>
      </p:sp>
      <p:sp>
        <p:nvSpPr>
          <p:cNvPr id="124937" name="AutoShape 42"/>
          <p:cNvSpPr/>
          <p:nvPr/>
        </p:nvSpPr>
        <p:spPr>
          <a:xfrm rot="-5464849">
            <a:off x="6324600" y="3657600"/>
            <a:ext cx="762000" cy="609600"/>
          </a:xfrm>
          <a:prstGeom prst="triangle">
            <a:avLst>
              <a:gd name="adj" fmla="val 50000"/>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24938" name="Line 43"/>
          <p:cNvSpPr/>
          <p:nvPr/>
        </p:nvSpPr>
        <p:spPr>
          <a:xfrm>
            <a:off x="5486400" y="3962400"/>
            <a:ext cx="914400" cy="0"/>
          </a:xfrm>
          <a:prstGeom prst="line">
            <a:avLst/>
          </a:prstGeom>
          <a:ln w="25400" cap="sq" cmpd="sng">
            <a:solidFill>
              <a:srgbClr val="339966"/>
            </a:solidFill>
            <a:prstDash val="solid"/>
            <a:bevel/>
            <a:headEnd type="triangle" w="med" len="med"/>
            <a:tailEnd type="none" w="med" len="med"/>
          </a:ln>
        </p:spPr>
      </p:sp>
      <p:sp>
        <p:nvSpPr>
          <p:cNvPr id="124939" name="Line 44"/>
          <p:cNvSpPr/>
          <p:nvPr/>
        </p:nvSpPr>
        <p:spPr>
          <a:xfrm flipV="1">
            <a:off x="7029450" y="3962400"/>
            <a:ext cx="1123950" cy="14288"/>
          </a:xfrm>
          <a:prstGeom prst="line">
            <a:avLst/>
          </a:prstGeom>
          <a:ln w="25400" cap="sq" cmpd="sng">
            <a:solidFill>
              <a:srgbClr val="339966"/>
            </a:solidFill>
            <a:prstDash val="solid"/>
            <a:bevel/>
            <a:headEnd type="triangle" w="med" len="med"/>
            <a:tailEnd type="none" w="med" len="med"/>
          </a:ln>
        </p:spPr>
      </p:sp>
      <p:sp>
        <p:nvSpPr>
          <p:cNvPr id="124940" name="Line 45"/>
          <p:cNvSpPr/>
          <p:nvPr/>
        </p:nvSpPr>
        <p:spPr>
          <a:xfrm>
            <a:off x="6710363" y="4262438"/>
            <a:ext cx="0" cy="1066800"/>
          </a:xfrm>
          <a:prstGeom prst="line">
            <a:avLst/>
          </a:prstGeom>
          <a:ln w="25400" cap="sq" cmpd="sng">
            <a:solidFill>
              <a:srgbClr val="339966"/>
            </a:solidFill>
            <a:prstDash val="solid"/>
            <a:bevel/>
            <a:headEnd type="none" w="med" len="med"/>
            <a:tailEnd type="none" w="med" len="med"/>
          </a:ln>
        </p:spPr>
      </p:sp>
      <p:sp>
        <p:nvSpPr>
          <p:cNvPr id="124941" name="Oval 46"/>
          <p:cNvSpPr/>
          <p:nvPr/>
        </p:nvSpPr>
        <p:spPr>
          <a:xfrm>
            <a:off x="6629400" y="4157663"/>
            <a:ext cx="152400" cy="152400"/>
          </a:xfrm>
          <a:prstGeom prst="ellipse">
            <a:avLst/>
          </a:prstGeom>
          <a:solidFill>
            <a:srgbClr val="FF6600"/>
          </a:solidFill>
          <a:ln w="25400" cap="sq"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24942" name="Line 47"/>
          <p:cNvSpPr/>
          <p:nvPr/>
        </p:nvSpPr>
        <p:spPr>
          <a:xfrm>
            <a:off x="2819400" y="5791200"/>
            <a:ext cx="304800" cy="0"/>
          </a:xfrm>
          <a:prstGeom prst="line">
            <a:avLst/>
          </a:prstGeom>
          <a:ln w="25400" cap="sq" cmpd="sng">
            <a:solidFill>
              <a:srgbClr val="FF6600"/>
            </a:solidFill>
            <a:prstDash val="solid"/>
            <a:bevel/>
            <a:headEnd type="none" w="med" len="med"/>
            <a:tailEnd type="none" w="med" len="med"/>
          </a:ln>
        </p:spPr>
      </p:sp>
      <p:sp>
        <p:nvSpPr>
          <p:cNvPr id="124943" name="Line 48"/>
          <p:cNvSpPr/>
          <p:nvPr/>
        </p:nvSpPr>
        <p:spPr>
          <a:xfrm flipV="1">
            <a:off x="3124200" y="5410200"/>
            <a:ext cx="0" cy="381000"/>
          </a:xfrm>
          <a:prstGeom prst="line">
            <a:avLst/>
          </a:prstGeom>
          <a:ln w="25400" cap="sq" cmpd="sng">
            <a:solidFill>
              <a:srgbClr val="FF6600"/>
            </a:solidFill>
            <a:prstDash val="solid"/>
            <a:bevel/>
            <a:headEnd type="none" w="med" len="med"/>
            <a:tailEnd type="none" w="med" len="med"/>
          </a:ln>
        </p:spPr>
      </p:sp>
      <p:sp>
        <p:nvSpPr>
          <p:cNvPr id="124944" name="Line 50"/>
          <p:cNvSpPr/>
          <p:nvPr/>
        </p:nvSpPr>
        <p:spPr>
          <a:xfrm>
            <a:off x="3124200" y="5410200"/>
            <a:ext cx="381000" cy="0"/>
          </a:xfrm>
          <a:prstGeom prst="line">
            <a:avLst/>
          </a:prstGeom>
          <a:ln w="25400" cap="sq" cmpd="sng">
            <a:solidFill>
              <a:srgbClr val="FF6600"/>
            </a:solidFill>
            <a:prstDash val="solid"/>
            <a:bevel/>
            <a:headEnd type="none" w="med" len="med"/>
            <a:tailEnd type="none" w="med" len="med"/>
          </a:ln>
        </p:spPr>
      </p:sp>
      <p:sp>
        <p:nvSpPr>
          <p:cNvPr id="124945" name="Line 51"/>
          <p:cNvSpPr/>
          <p:nvPr/>
        </p:nvSpPr>
        <p:spPr>
          <a:xfrm>
            <a:off x="3505200" y="5410200"/>
            <a:ext cx="0" cy="381000"/>
          </a:xfrm>
          <a:prstGeom prst="line">
            <a:avLst/>
          </a:prstGeom>
          <a:ln w="25400" cap="sq" cmpd="sng">
            <a:solidFill>
              <a:srgbClr val="FF6600"/>
            </a:solidFill>
            <a:prstDash val="solid"/>
            <a:bevel/>
            <a:headEnd type="none" w="med" len="med"/>
            <a:tailEnd type="none" w="med" len="med"/>
          </a:ln>
        </p:spPr>
      </p:sp>
      <p:sp>
        <p:nvSpPr>
          <p:cNvPr id="124946" name="Line 52"/>
          <p:cNvSpPr/>
          <p:nvPr/>
        </p:nvSpPr>
        <p:spPr>
          <a:xfrm>
            <a:off x="3505200" y="5791200"/>
            <a:ext cx="381000" cy="0"/>
          </a:xfrm>
          <a:prstGeom prst="line">
            <a:avLst/>
          </a:prstGeom>
          <a:ln w="25400" cap="sq" cmpd="sng">
            <a:solidFill>
              <a:srgbClr val="FF6600"/>
            </a:solidFill>
            <a:prstDash val="solid"/>
            <a:bevel/>
            <a:headEnd type="none" w="med" len="med"/>
            <a:tailEnd type="none" w="med" len="med"/>
          </a:ln>
        </p:spPr>
      </p:sp>
      <p:sp>
        <p:nvSpPr>
          <p:cNvPr id="124947" name="Line 53"/>
          <p:cNvSpPr/>
          <p:nvPr/>
        </p:nvSpPr>
        <p:spPr>
          <a:xfrm>
            <a:off x="6019800" y="5486400"/>
            <a:ext cx="304800" cy="0"/>
          </a:xfrm>
          <a:prstGeom prst="line">
            <a:avLst/>
          </a:prstGeom>
          <a:ln w="25400" cap="sq" cmpd="sng">
            <a:solidFill>
              <a:srgbClr val="FF6600"/>
            </a:solidFill>
            <a:prstDash val="solid"/>
            <a:bevel/>
            <a:headEnd type="none" w="med" len="med"/>
            <a:tailEnd type="none" w="med" len="med"/>
          </a:ln>
        </p:spPr>
      </p:sp>
      <p:sp>
        <p:nvSpPr>
          <p:cNvPr id="124948" name="Line 54"/>
          <p:cNvSpPr/>
          <p:nvPr/>
        </p:nvSpPr>
        <p:spPr>
          <a:xfrm flipV="1">
            <a:off x="6705600" y="5486400"/>
            <a:ext cx="0" cy="381000"/>
          </a:xfrm>
          <a:prstGeom prst="line">
            <a:avLst/>
          </a:prstGeom>
          <a:ln w="25400" cap="sq" cmpd="sng">
            <a:solidFill>
              <a:srgbClr val="FF6600"/>
            </a:solidFill>
            <a:prstDash val="solid"/>
            <a:bevel/>
            <a:headEnd type="none" w="med" len="med"/>
            <a:tailEnd type="none" w="med" len="med"/>
          </a:ln>
        </p:spPr>
      </p:sp>
      <p:sp>
        <p:nvSpPr>
          <p:cNvPr id="124949" name="Line 55"/>
          <p:cNvSpPr/>
          <p:nvPr/>
        </p:nvSpPr>
        <p:spPr>
          <a:xfrm>
            <a:off x="6705600" y="5486400"/>
            <a:ext cx="381000" cy="0"/>
          </a:xfrm>
          <a:prstGeom prst="line">
            <a:avLst/>
          </a:prstGeom>
          <a:ln w="25400" cap="sq" cmpd="sng">
            <a:solidFill>
              <a:srgbClr val="FF6600"/>
            </a:solidFill>
            <a:prstDash val="solid"/>
            <a:bevel/>
            <a:headEnd type="none" w="med" len="med"/>
            <a:tailEnd type="none" w="med" len="med"/>
          </a:ln>
        </p:spPr>
      </p:sp>
      <p:sp>
        <p:nvSpPr>
          <p:cNvPr id="124950" name="Line 56"/>
          <p:cNvSpPr/>
          <p:nvPr/>
        </p:nvSpPr>
        <p:spPr>
          <a:xfrm>
            <a:off x="6324600" y="5486400"/>
            <a:ext cx="0" cy="381000"/>
          </a:xfrm>
          <a:prstGeom prst="line">
            <a:avLst/>
          </a:prstGeom>
          <a:ln w="25400" cap="sq" cmpd="sng">
            <a:solidFill>
              <a:srgbClr val="FF6600"/>
            </a:solidFill>
            <a:prstDash val="solid"/>
            <a:bevel/>
            <a:headEnd type="none" w="med" len="med"/>
            <a:tailEnd type="none" w="med" len="med"/>
          </a:ln>
        </p:spPr>
      </p:sp>
      <p:sp>
        <p:nvSpPr>
          <p:cNvPr id="124951" name="Line 57"/>
          <p:cNvSpPr/>
          <p:nvPr/>
        </p:nvSpPr>
        <p:spPr>
          <a:xfrm>
            <a:off x="6324600" y="5867400"/>
            <a:ext cx="381000" cy="0"/>
          </a:xfrm>
          <a:prstGeom prst="line">
            <a:avLst/>
          </a:prstGeom>
          <a:ln w="25400" cap="sq" cmpd="sng">
            <a:solidFill>
              <a:srgbClr val="FF6600"/>
            </a:solidFill>
            <a:prstDash val="solid"/>
            <a:bevel/>
            <a:headEnd type="none" w="med" len="med"/>
            <a:tailEnd type="none" w="med" len="med"/>
          </a:ln>
        </p:spPr>
      </p:sp>
    </p:spTree>
  </p:cSld>
  <p:clrMapOvr>
    <a:masterClrMapping/>
  </p:clrMapOvr>
  <p:transition spd="slow">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25955" name="Rectangle 2"/>
          <p:cNvSpPr>
            <a:spLocks noGrp="1"/>
          </p:cNvSpPr>
          <p:nvPr>
            <p:ph type="title" idx="4294967295"/>
          </p:nvPr>
        </p:nvSpPr>
        <p:spPr/>
        <p:txBody>
          <a:bodyPr vert="horz" wrap="square" lIns="91440" tIns="45720" rIns="91440" bIns="45720" anchor="b" anchorCtr="0"/>
          <a:p>
            <a:pPr eaLnBrk="1" hangingPunct="1"/>
            <a:r>
              <a:rPr lang="zh-CN" altLang="en-US" sz="4000" b="1" dirty="0"/>
              <a:t>74</a:t>
            </a:r>
            <a:r>
              <a:rPr lang="en-US" altLang="zh-CN" sz="4000" b="1" dirty="0"/>
              <a:t>LS244</a:t>
            </a:r>
            <a:endParaRPr lang="en-US" altLang="zh-CN" sz="4000" b="1" dirty="0"/>
          </a:p>
        </p:txBody>
      </p:sp>
      <p:pic>
        <p:nvPicPr>
          <p:cNvPr id="125956" name="Picture 160" descr="1"/>
          <p:cNvPicPr>
            <a:picLocks noChangeAspect="1"/>
          </p:cNvPicPr>
          <p:nvPr/>
        </p:nvPicPr>
        <p:blipFill>
          <a:blip r:embed="rId1"/>
          <a:srcRect l="2158" t="3812" b="4985"/>
          <a:stretch>
            <a:fillRect/>
          </a:stretch>
        </p:blipFill>
        <p:spPr>
          <a:xfrm>
            <a:off x="5421313" y="2871788"/>
            <a:ext cx="3240087" cy="3600450"/>
          </a:xfrm>
          <a:prstGeom prst="rect">
            <a:avLst/>
          </a:prstGeom>
          <a:noFill/>
          <a:ln w="9525">
            <a:noFill/>
          </a:ln>
        </p:spPr>
      </p:pic>
      <p:sp>
        <p:nvSpPr>
          <p:cNvPr id="125957" name="Rectangle 6"/>
          <p:cNvSpPr/>
          <p:nvPr/>
        </p:nvSpPr>
        <p:spPr>
          <a:xfrm>
            <a:off x="684213" y="2060575"/>
            <a:ext cx="7704137" cy="210026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spcBef>
                <a:spcPct val="0"/>
              </a:spcBef>
              <a:spcAft>
                <a:spcPct val="0"/>
              </a:spcAft>
              <a:buClrTx/>
              <a:buSzTx/>
              <a:buNone/>
            </a:pPr>
            <a:r>
              <a:rPr lang="zh-CN" altLang="en-US" sz="2400" dirty="0">
                <a:solidFill>
                  <a:schemeClr val="tx1"/>
                </a:solidFill>
                <a:latin typeface="Tahoma" panose="020B0604030504040204" pitchFamily="34" charset="0"/>
                <a:ea typeface="楷体_GB2312"/>
              </a:rPr>
              <a:t>       </a:t>
            </a:r>
            <a:r>
              <a:rPr lang="zh-CN" altLang="en-US" sz="2400" b="0" dirty="0">
                <a:solidFill>
                  <a:schemeClr val="tx1"/>
                </a:solidFill>
                <a:latin typeface="Tahoma" panose="020B0604030504040204" pitchFamily="34" charset="0"/>
                <a:ea typeface="楷体_GB2312"/>
              </a:rPr>
              <a:t>典型芯片74</a:t>
            </a:r>
            <a:r>
              <a:rPr lang="en-US" altLang="zh-CN" sz="2400" b="0" dirty="0">
                <a:solidFill>
                  <a:schemeClr val="tx1"/>
                </a:solidFill>
                <a:latin typeface="Tahoma" panose="020B0604030504040204" pitchFamily="34" charset="0"/>
                <a:ea typeface="楷体_GB2312"/>
              </a:rPr>
              <a:t>LS244</a:t>
            </a:r>
            <a:r>
              <a:rPr lang="zh-CN" altLang="en-US" sz="2400" b="0" dirty="0">
                <a:solidFill>
                  <a:schemeClr val="tx1"/>
                </a:solidFill>
                <a:latin typeface="Tahoma" panose="020B0604030504040204" pitchFamily="34" charset="0"/>
                <a:ea typeface="楷体_GB2312"/>
              </a:rPr>
              <a:t>，</a:t>
            </a:r>
            <a:r>
              <a:rPr lang="zh-CN" altLang="en-US" sz="2400" b="0" dirty="0">
                <a:solidFill>
                  <a:srgbClr val="FF0000"/>
                </a:solidFill>
                <a:latin typeface="Tahoma" panose="020B0604030504040204" pitchFamily="34" charset="0"/>
                <a:ea typeface="楷体_GB2312"/>
              </a:rPr>
              <a:t>没有锁存功能</a:t>
            </a:r>
            <a:r>
              <a:rPr lang="zh-CN" altLang="en-US" sz="2400" b="0" dirty="0">
                <a:solidFill>
                  <a:schemeClr val="tx1"/>
                </a:solidFill>
                <a:latin typeface="Tahoma" panose="020B0604030504040204" pitchFamily="34" charset="0"/>
                <a:ea typeface="楷体_GB2312"/>
              </a:rPr>
              <a:t>的</a:t>
            </a:r>
            <a:r>
              <a:rPr lang="en-US" altLang="zh-CN" sz="2400" b="0" dirty="0">
                <a:solidFill>
                  <a:schemeClr val="tx1"/>
                </a:solidFill>
                <a:latin typeface="Tahoma" panose="020B0604030504040204" pitchFamily="34" charset="0"/>
                <a:ea typeface="楷体_GB2312"/>
              </a:rPr>
              <a:t>3</a:t>
            </a:r>
            <a:r>
              <a:rPr lang="zh-CN" altLang="en-US" sz="2400" b="0" dirty="0">
                <a:solidFill>
                  <a:schemeClr val="tx1"/>
                </a:solidFill>
                <a:latin typeface="Tahoma" panose="020B0604030504040204" pitchFamily="34" charset="0"/>
                <a:ea typeface="楷体_GB2312"/>
              </a:rPr>
              <a:t>态</a:t>
            </a:r>
            <a:r>
              <a:rPr lang="en-US" altLang="zh-CN" sz="2400" b="0" dirty="0">
                <a:solidFill>
                  <a:schemeClr val="tx1"/>
                </a:solidFill>
                <a:latin typeface="Tahoma" panose="020B0604030504040204" pitchFamily="34" charset="0"/>
                <a:ea typeface="楷体_GB2312"/>
              </a:rPr>
              <a:t>8</a:t>
            </a:r>
            <a:r>
              <a:rPr lang="zh-CN" altLang="en-US" sz="2400" b="0" dirty="0">
                <a:solidFill>
                  <a:schemeClr val="tx1"/>
                </a:solidFill>
                <a:latin typeface="Tahoma" panose="020B0604030504040204" pitchFamily="34" charset="0"/>
                <a:ea typeface="楷体_GB2312"/>
              </a:rPr>
              <a:t>位缓冲器（</a:t>
            </a:r>
            <a:r>
              <a:rPr lang="zh-CN" altLang="en-US" sz="2400" dirty="0">
                <a:solidFill>
                  <a:schemeClr val="tx1"/>
                </a:solidFill>
                <a:latin typeface="Tahoma" panose="020B0604030504040204" pitchFamily="34" charset="0"/>
                <a:ea typeface="楷体_GB2312"/>
              </a:rPr>
              <a:t>含</a:t>
            </a:r>
            <a:r>
              <a:rPr lang="en-US" altLang="zh-CN" sz="2400" b="0" dirty="0">
                <a:solidFill>
                  <a:schemeClr val="tx1"/>
                </a:solidFill>
                <a:latin typeface="Tahoma" panose="020B0604030504040204" pitchFamily="34" charset="0"/>
                <a:ea typeface="楷体_GB2312"/>
              </a:rPr>
              <a:t>8</a:t>
            </a:r>
            <a:r>
              <a:rPr lang="zh-CN" altLang="en-US" sz="2400" dirty="0">
                <a:solidFill>
                  <a:schemeClr val="tx1"/>
                </a:solidFill>
                <a:latin typeface="Tahoma" panose="020B0604030504040204" pitchFamily="34" charset="0"/>
                <a:ea typeface="楷体_GB2312"/>
              </a:rPr>
              <a:t>个三态门）</a:t>
            </a:r>
            <a:r>
              <a:rPr lang="zh-CN" altLang="en-US" sz="2400" b="0" dirty="0">
                <a:solidFill>
                  <a:schemeClr val="tx1"/>
                </a:solidFill>
                <a:latin typeface="Tahoma" panose="020B0604030504040204" pitchFamily="34" charset="0"/>
                <a:ea typeface="楷体_GB2312"/>
              </a:rPr>
              <a:t>，</a:t>
            </a:r>
            <a:r>
              <a:rPr lang="en-US" altLang="zh-CN" sz="2400" b="0" dirty="0">
                <a:solidFill>
                  <a:schemeClr val="tx1"/>
                </a:solidFill>
                <a:latin typeface="Tahoma" panose="020B0604030504040204" pitchFamily="34" charset="0"/>
                <a:ea typeface="楷体_GB2312"/>
              </a:rPr>
              <a:t>3</a:t>
            </a:r>
            <a:r>
              <a:rPr lang="zh-CN" altLang="en-US" sz="2400" b="0" dirty="0">
                <a:solidFill>
                  <a:schemeClr val="tx1"/>
                </a:solidFill>
                <a:latin typeface="Tahoma" panose="020B0604030504040204" pitchFamily="34" charset="0"/>
                <a:ea typeface="楷体_GB2312"/>
              </a:rPr>
              <a:t>态是：</a:t>
            </a:r>
            <a:r>
              <a:rPr lang="zh-CN" altLang="en-US" sz="2400" dirty="0">
                <a:solidFill>
                  <a:schemeClr val="tx1"/>
                </a:solidFill>
                <a:latin typeface="Tahoma" panose="020B0604030504040204" pitchFamily="34" charset="0"/>
                <a:ea typeface="楷体_GB2312"/>
              </a:rPr>
              <a:t>高电平、</a:t>
            </a:r>
            <a:endParaRPr lang="zh-CN" altLang="en-US" sz="2400" dirty="0">
              <a:solidFill>
                <a:schemeClr val="tx1"/>
              </a:solidFill>
              <a:latin typeface="Tahoma" panose="020B0604030504040204" pitchFamily="34" charset="0"/>
              <a:ea typeface="楷体_GB2312"/>
            </a:endParaRPr>
          </a:p>
          <a:p>
            <a:pPr marL="0" lvl="0" indent="0">
              <a:spcBef>
                <a:spcPct val="0"/>
              </a:spcBef>
              <a:spcAft>
                <a:spcPct val="0"/>
              </a:spcAft>
              <a:buClrTx/>
              <a:buSzTx/>
              <a:buNone/>
            </a:pPr>
            <a:r>
              <a:rPr lang="zh-CN" altLang="en-US" sz="2400" dirty="0">
                <a:solidFill>
                  <a:schemeClr val="tx1"/>
                </a:solidFill>
                <a:latin typeface="Tahoma" panose="020B0604030504040204" pitchFamily="34" charset="0"/>
                <a:ea typeface="楷体_GB2312"/>
              </a:rPr>
              <a:t>低电平、高阻态。当控制端有效时，</a:t>
            </a:r>
            <a:endParaRPr lang="zh-CN" altLang="en-US" sz="2400" dirty="0">
              <a:solidFill>
                <a:schemeClr val="tx1"/>
              </a:solidFill>
              <a:latin typeface="Tahoma" panose="020B0604030504040204" pitchFamily="34" charset="0"/>
              <a:ea typeface="楷体_GB2312"/>
            </a:endParaRPr>
          </a:p>
          <a:p>
            <a:pPr marL="0" lvl="0" indent="0">
              <a:spcBef>
                <a:spcPct val="0"/>
              </a:spcBef>
              <a:spcAft>
                <a:spcPct val="0"/>
              </a:spcAft>
              <a:buClrTx/>
              <a:buSzTx/>
              <a:buNone/>
            </a:pPr>
            <a:r>
              <a:rPr lang="zh-CN" altLang="en-US" sz="2400" dirty="0">
                <a:solidFill>
                  <a:schemeClr val="tx1"/>
                </a:solidFill>
                <a:latin typeface="Tahoma" panose="020B0604030504040204" pitchFamily="34" charset="0"/>
                <a:ea typeface="楷体_GB2312"/>
              </a:rPr>
              <a:t>三态门导通，输出等于输入；</a:t>
            </a:r>
            <a:endParaRPr lang="zh-CN" altLang="en-US" sz="2400" dirty="0">
              <a:solidFill>
                <a:schemeClr val="tx1"/>
              </a:solidFill>
              <a:latin typeface="Tahoma" panose="020B0604030504040204" pitchFamily="34" charset="0"/>
              <a:ea typeface="楷体_GB2312"/>
            </a:endParaRPr>
          </a:p>
          <a:p>
            <a:pPr marL="0" lvl="0" indent="0">
              <a:spcBef>
                <a:spcPct val="0"/>
              </a:spcBef>
              <a:spcAft>
                <a:spcPct val="0"/>
              </a:spcAft>
              <a:buClrTx/>
              <a:buSzTx/>
              <a:buNone/>
            </a:pPr>
            <a:r>
              <a:rPr lang="zh-CN" altLang="en-US" sz="2400" dirty="0">
                <a:solidFill>
                  <a:schemeClr val="tx1"/>
                </a:solidFill>
                <a:latin typeface="Tahoma" panose="020B0604030504040204" pitchFamily="34" charset="0"/>
                <a:ea typeface="楷体_GB2312"/>
              </a:rPr>
              <a:t>否则输出高阻态。</a:t>
            </a:r>
            <a:endParaRPr lang="zh-CN" altLang="en-US" sz="2400" dirty="0">
              <a:solidFill>
                <a:schemeClr val="tx1"/>
              </a:solidFill>
              <a:latin typeface="Tahoma" panose="020B0604030504040204" pitchFamily="34" charset="0"/>
              <a:ea typeface="楷体_GB2312"/>
            </a:endParaRPr>
          </a:p>
        </p:txBody>
      </p:sp>
      <p:sp>
        <p:nvSpPr>
          <p:cNvPr id="46086" name="Rectangle 3"/>
          <p:cNvSpPr txBox="1"/>
          <p:nvPr/>
        </p:nvSpPr>
        <p:spPr>
          <a:xfrm>
            <a:off x="684213" y="4672013"/>
            <a:ext cx="4608512" cy="1871662"/>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20000"/>
              </a:lnSpc>
              <a:buNone/>
            </a:pPr>
            <a:r>
              <a:rPr lang="zh-CN" altLang="en-US" sz="2400" dirty="0">
                <a:solidFill>
                  <a:srgbClr val="660066"/>
                </a:solidFill>
                <a:latin typeface="宋体" panose="02010600030101010101" pitchFamily="2" charset="-122"/>
                <a:ea typeface="黑体" panose="02010609060101010101" pitchFamily="49" charset="-122"/>
              </a:rPr>
              <a:t>例</a:t>
            </a:r>
            <a:r>
              <a:rPr lang="zh-CN" altLang="en-US" sz="2400" dirty="0">
                <a:solidFill>
                  <a:srgbClr val="660066"/>
                </a:solidFill>
                <a:latin typeface="Tahoma" panose="020B0604030504040204" pitchFamily="34" charset="0"/>
                <a:ea typeface="黑体" panose="02010609060101010101" pitchFamily="49" charset="-122"/>
              </a:rPr>
              <a:t>：</a:t>
            </a:r>
            <a:r>
              <a:rPr lang="zh-CN" altLang="en-US" sz="2400" dirty="0">
                <a:latin typeface="宋体" panose="02010600030101010101" pitchFamily="2" charset="-122"/>
                <a:ea typeface="黑体" panose="02010609060101010101" pitchFamily="49" charset="-122"/>
              </a:rPr>
              <a:t>编写程序判断下图中的开关状态。如果所有开关都闭合，则程序转向标号</a:t>
            </a:r>
            <a:r>
              <a:rPr lang="en-US" altLang="zh-CN" sz="2400" dirty="0">
                <a:latin typeface="Tahoma" panose="020B0604030504040204" pitchFamily="34" charset="0"/>
                <a:ea typeface="黑体" panose="02010609060101010101" pitchFamily="49" charset="-122"/>
              </a:rPr>
              <a:t>NEXT1</a:t>
            </a:r>
            <a:r>
              <a:rPr lang="zh-CN" altLang="en-US" sz="2400" dirty="0">
                <a:latin typeface="宋体" panose="02010600030101010101" pitchFamily="2" charset="-122"/>
                <a:ea typeface="黑体" panose="02010609060101010101" pitchFamily="49" charset="-122"/>
              </a:rPr>
              <a:t>执行，否则转向标号为</a:t>
            </a:r>
            <a:r>
              <a:rPr lang="en-US" altLang="zh-CN" sz="2400" dirty="0">
                <a:latin typeface="Tahoma" panose="020B0604030504040204" pitchFamily="34" charset="0"/>
                <a:ea typeface="黑体" panose="02010609060101010101" pitchFamily="49" charset="-122"/>
              </a:rPr>
              <a:t>NEXT2</a:t>
            </a:r>
            <a:r>
              <a:rPr lang="zh-CN" altLang="en-US" sz="2400" dirty="0">
                <a:latin typeface="宋体" panose="02010600030101010101" pitchFamily="2" charset="-122"/>
                <a:ea typeface="黑体" panose="02010609060101010101" pitchFamily="49" charset="-122"/>
              </a:rPr>
              <a:t>执行。</a:t>
            </a:r>
            <a:r>
              <a:rPr lang="zh-CN" altLang="en-US" sz="2400" dirty="0">
                <a:latin typeface="Tahoma" panose="020B0604030504040204" pitchFamily="34" charset="0"/>
                <a:ea typeface="黑体" panose="02010609060101010101" pitchFamily="49" charset="-122"/>
              </a:rPr>
              <a:t> </a:t>
            </a:r>
            <a:endParaRPr lang="zh-CN" altLang="en-US" sz="2400" dirty="0">
              <a:latin typeface="Tahoma" panose="020B0604030504040204" pitchFamily="34" charset="0"/>
              <a:ea typeface="黑体" panose="02010609060101010101" pitchFamily="49" charset="-122"/>
            </a:endParaRPr>
          </a:p>
        </p:txBody>
      </p:sp>
      <p:sp>
        <p:nvSpPr>
          <p:cNvPr id="46087" name="Rectangle 7"/>
          <p:cNvSpPr/>
          <p:nvPr/>
        </p:nvSpPr>
        <p:spPr>
          <a:xfrm>
            <a:off x="334963" y="4160838"/>
            <a:ext cx="3887787" cy="53022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457200" lvl="1" indent="0" eaLnBrk="1" hangingPunct="1">
              <a:lnSpc>
                <a:spcPct val="120000"/>
              </a:lnSpc>
              <a:spcAft>
                <a:spcPct val="0"/>
              </a:spcAft>
              <a:buClr>
                <a:srgbClr val="660066"/>
              </a:buClr>
              <a:buSzTx/>
              <a:buFont typeface="Wingdings" panose="05000000000000000000" pitchFamily="2" charset="2"/>
              <a:buChar char="Ø"/>
            </a:pPr>
            <a:r>
              <a:rPr lang="zh-CN" altLang="en-US" i="1" dirty="0">
                <a:solidFill>
                  <a:srgbClr val="660066"/>
                </a:solidFill>
                <a:latin typeface="Times New Roman" panose="02020603050405020304" pitchFamily="18" charset="0"/>
                <a:ea typeface="黑体" panose="02010609060101010101" pitchFamily="49" charset="-122"/>
              </a:rPr>
              <a:t>典型应用：</a:t>
            </a:r>
            <a:r>
              <a:rPr lang="zh-CN" altLang="en-US" i="1" dirty="0">
                <a:latin typeface="Times New Roman" panose="02020603050405020304" pitchFamily="18" charset="0"/>
                <a:ea typeface="黑体" panose="02010609060101010101" pitchFamily="49" charset="-122"/>
              </a:rPr>
              <a:t>开关接口</a:t>
            </a:r>
            <a:endParaRPr lang="zh-CN" altLang="en-US" i="1" dirty="0">
              <a:latin typeface="Times New Roman" panose="02020603050405020304" pitchFamily="18" charset="0"/>
              <a:ea typeface="黑体" panose="020106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46086">
                                            <p:txEl>
                                              <p:charRg st="0" end="59"/>
                                            </p:txEl>
                                          </p:spTgt>
                                        </p:tgtEl>
                                        <p:attrNameLst>
                                          <p:attrName>style.visibility</p:attrName>
                                        </p:attrNameLst>
                                      </p:cBhvr>
                                      <p:to>
                                        <p:strVal val="visible"/>
                                      </p:to>
                                    </p:set>
                                    <p:animEffect transition="in" filter="checkerboard(down)">
                                      <p:cBhvr>
                                        <p:cTn id="7" dur="500"/>
                                        <p:tgtEl>
                                          <p:spTgt spid="46086">
                                            <p:txEl>
                                              <p:charRg st="0" end="5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6087"/>
                                        </p:tgtEl>
                                        <p:attrNameLst>
                                          <p:attrName>style.visibility</p:attrName>
                                        </p:attrNameLst>
                                      </p:cBhvr>
                                      <p:to>
                                        <p:strVal val="visible"/>
                                      </p:to>
                                    </p:set>
                                    <p:anim calcmode="lin" valueType="num">
                                      <p:cBhvr>
                                        <p:cTn id="12" dur="500" fill="hold"/>
                                        <p:tgtEl>
                                          <p:spTgt spid="46087"/>
                                        </p:tgtEl>
                                        <p:attrNameLst>
                                          <p:attrName>ppt_x</p:attrName>
                                        </p:attrNameLst>
                                      </p:cBhvr>
                                      <p:tavLst>
                                        <p:tav tm="0">
                                          <p:val>
                                            <p:strVal val="#ppt_x"/>
                                          </p:val>
                                        </p:tav>
                                        <p:tav tm="100000">
                                          <p:val>
                                            <p:strVal val="#ppt_x"/>
                                          </p:val>
                                        </p:tav>
                                      </p:tavLst>
                                    </p:anim>
                                    <p:anim calcmode="lin" valueType="num">
                                      <p:cBhvr>
                                        <p:cTn id="13" dur="500" fill="hold"/>
                                        <p:tgtEl>
                                          <p:spTgt spid="460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6" grpId="0" build="p"/>
      <p:bldP spid="4608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5"/>
          <p:cNvSpPr/>
          <p:nvPr/>
        </p:nvSpPr>
        <p:spPr>
          <a:xfrm>
            <a:off x="2800350" y="1185863"/>
            <a:ext cx="9144000" cy="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graphicFrame>
        <p:nvGraphicFramePr>
          <p:cNvPr id="126979" name="Object 7"/>
          <p:cNvGraphicFramePr>
            <a:graphicFrameLocks noChangeAspect="1"/>
          </p:cNvGraphicFramePr>
          <p:nvPr/>
        </p:nvGraphicFramePr>
        <p:xfrm>
          <a:off x="609600" y="457200"/>
          <a:ext cx="7343775" cy="5472113"/>
        </p:xfrm>
        <a:graphic>
          <a:graphicData uri="http://schemas.openxmlformats.org/presentationml/2006/ole">
            <mc:AlternateContent xmlns:mc="http://schemas.openxmlformats.org/markup-compatibility/2006">
              <mc:Choice xmlns:v="urn:schemas-microsoft-com:vml" Requires="v">
                <p:oleObj spid="_x0000_s3076" name="" r:id="rId1" imgW="3939540" imgH="3827145" progId="">
                  <p:embed/>
                </p:oleObj>
              </mc:Choice>
              <mc:Fallback>
                <p:oleObj name="" r:id="rId1" imgW="3939540" imgH="3827145" progId="">
                  <p:embed/>
                  <p:pic>
                    <p:nvPicPr>
                      <p:cNvPr id="0" name="图片 3075"/>
                      <p:cNvPicPr/>
                      <p:nvPr/>
                    </p:nvPicPr>
                    <p:blipFill>
                      <a:blip r:embed="rId2"/>
                      <a:stretch>
                        <a:fillRect/>
                      </a:stretch>
                    </p:blipFill>
                    <p:spPr>
                      <a:xfrm>
                        <a:off x="609600" y="457200"/>
                        <a:ext cx="7343775" cy="5472113"/>
                      </a:xfrm>
                      <a:prstGeom prst="rect">
                        <a:avLst/>
                      </a:prstGeom>
                      <a:noFill/>
                      <a:ln w="38100">
                        <a:noFill/>
                        <a:miter/>
                      </a:ln>
                    </p:spPr>
                  </p:pic>
                </p:oleObj>
              </mc:Fallback>
            </mc:AlternateContent>
          </a:graphicData>
        </a:graphic>
      </p:graphicFrame>
      <p:sp>
        <p:nvSpPr>
          <p:cNvPr id="126980" name="Text Box 8"/>
          <p:cNvSpPr txBox="1"/>
          <p:nvPr/>
        </p:nvSpPr>
        <p:spPr>
          <a:xfrm>
            <a:off x="228600" y="609600"/>
            <a:ext cx="3313113"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58775" lvl="2" indent="0" eaLnBrk="1" hangingPunct="1">
              <a:lnSpc>
                <a:spcPct val="100000"/>
              </a:lnSpc>
              <a:spcAft>
                <a:spcPct val="0"/>
              </a:spcAft>
            </a:pPr>
            <a:r>
              <a:rPr lang="en-US" altLang="zh-CN" sz="2400" i="1" dirty="0">
                <a:solidFill>
                  <a:srgbClr val="0000FF"/>
                </a:solidFill>
                <a:latin typeface="Times New Roman" panose="02020603050405020304" pitchFamily="18" charset="0"/>
                <a:ea typeface="楷体_GB2312"/>
              </a:rPr>
              <a:t> </a:t>
            </a:r>
            <a:r>
              <a:rPr lang="zh-CN" altLang="en-US" sz="2400" i="1" dirty="0">
                <a:solidFill>
                  <a:srgbClr val="0000FF"/>
                </a:solidFill>
                <a:latin typeface="Times New Roman" panose="02020603050405020304" pitchFamily="18" charset="0"/>
                <a:ea typeface="楷体_GB2312"/>
              </a:rPr>
              <a:t>接口电路图如下：</a:t>
            </a:r>
            <a:endParaRPr lang="zh-CN" altLang="en-US" sz="2400" i="1" dirty="0">
              <a:solidFill>
                <a:srgbClr val="0000FF"/>
              </a:solidFill>
              <a:latin typeface="Times New Roman" panose="02020603050405020304" pitchFamily="18" charset="0"/>
              <a:ea typeface="楷体_GB2312"/>
            </a:endParaRPr>
          </a:p>
        </p:txBody>
      </p:sp>
      <p:sp>
        <p:nvSpPr>
          <p:cNvPr id="126981" name="Text Box 9"/>
          <p:cNvSpPr txBox="1"/>
          <p:nvPr/>
        </p:nvSpPr>
        <p:spPr>
          <a:xfrm>
            <a:off x="3259138" y="4633913"/>
            <a:ext cx="792162" cy="58578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80000"/>
              </a:lnSpc>
              <a:spcBef>
                <a:spcPct val="0"/>
              </a:spcBef>
              <a:spcAft>
                <a:spcPct val="0"/>
              </a:spcAft>
              <a:buClrTx/>
              <a:buSzTx/>
              <a:buNone/>
            </a:pPr>
            <a:r>
              <a:rPr lang="en-US" altLang="zh-CN" sz="1600" dirty="0">
                <a:solidFill>
                  <a:srgbClr val="0000FF"/>
                </a:solidFill>
                <a:latin typeface="Times New Roman" panose="02020603050405020304" pitchFamily="18" charset="0"/>
                <a:ea typeface="楷体_GB2312"/>
              </a:rPr>
              <a:t>83FCH</a:t>
            </a:r>
            <a:endParaRPr lang="en-US" altLang="zh-CN" sz="1600" dirty="0">
              <a:solidFill>
                <a:srgbClr val="0000FF"/>
              </a:solidFill>
              <a:latin typeface="Times New Roman" panose="02020603050405020304" pitchFamily="18" charset="0"/>
              <a:ea typeface="楷体_GB2312"/>
            </a:endParaRPr>
          </a:p>
          <a:p>
            <a:pPr marL="0" lvl="0" indent="0" algn="ctr">
              <a:lnSpc>
                <a:spcPct val="80000"/>
              </a:lnSpc>
              <a:spcBef>
                <a:spcPct val="0"/>
              </a:spcBef>
              <a:spcAft>
                <a:spcPct val="0"/>
              </a:spcAft>
              <a:buClrTx/>
              <a:buSzTx/>
              <a:buNone/>
            </a:pPr>
            <a:r>
              <a:rPr lang="zh-CN" altLang="en-US" sz="1600" dirty="0">
                <a:solidFill>
                  <a:srgbClr val="0000FF"/>
                </a:solidFill>
                <a:latin typeface="Times New Roman" panose="02020603050405020304" pitchFamily="18" charset="0"/>
                <a:ea typeface="楷体_GB2312"/>
              </a:rPr>
              <a:t>～</a:t>
            </a:r>
            <a:r>
              <a:rPr lang="en-US" altLang="zh-CN" sz="1600" dirty="0">
                <a:solidFill>
                  <a:srgbClr val="0000FF"/>
                </a:solidFill>
                <a:latin typeface="Times New Roman" panose="02020603050405020304" pitchFamily="18" charset="0"/>
                <a:ea typeface="楷体_GB2312"/>
              </a:rPr>
              <a:t>83FFH</a:t>
            </a:r>
            <a:endParaRPr lang="en-US" altLang="zh-CN" sz="1600" dirty="0">
              <a:solidFill>
                <a:srgbClr val="0000FF"/>
              </a:solidFill>
              <a:latin typeface="Times New Roman" panose="02020603050405020304" pitchFamily="18" charset="0"/>
              <a:ea typeface="楷体_GB2312"/>
            </a:endParaRPr>
          </a:p>
        </p:txBody>
      </p:sp>
      <p:sp>
        <p:nvSpPr>
          <p:cNvPr id="126982" name="Text Box 10"/>
          <p:cNvSpPr txBox="1"/>
          <p:nvPr/>
        </p:nvSpPr>
        <p:spPr>
          <a:xfrm>
            <a:off x="2538413" y="2401888"/>
            <a:ext cx="935037" cy="3667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1800" b="0" dirty="0">
                <a:solidFill>
                  <a:schemeClr val="tx1"/>
                </a:solidFill>
                <a:latin typeface="Times New Roman" panose="02020603050405020304" pitchFamily="18" charset="0"/>
                <a:ea typeface="楷体_GB2312"/>
              </a:rPr>
              <a:t>译码器</a:t>
            </a:r>
            <a:endParaRPr lang="zh-CN" altLang="en-US" sz="1800" b="0" dirty="0">
              <a:solidFill>
                <a:schemeClr val="tx1"/>
              </a:solidFill>
              <a:latin typeface="Times New Roman" panose="02020603050405020304" pitchFamily="18" charset="0"/>
              <a:ea typeface="楷体_GB2312"/>
            </a:endParaRPr>
          </a:p>
        </p:txBody>
      </p:sp>
      <p:sp>
        <p:nvSpPr>
          <p:cNvPr id="47111" name="Text Box 11"/>
          <p:cNvSpPr txBox="1"/>
          <p:nvPr/>
        </p:nvSpPr>
        <p:spPr>
          <a:xfrm>
            <a:off x="6705600" y="4945063"/>
            <a:ext cx="2209800" cy="1684337"/>
          </a:xfrm>
          <a:prstGeom prst="rect">
            <a:avLst/>
          </a:prstGeom>
          <a:noFill/>
          <a:ln w="9525" cap="flat" cmpd="sng">
            <a:solidFill>
              <a:srgbClr val="FF00FF"/>
            </a:solidFill>
            <a:prstDash val="solid"/>
            <a:miter/>
            <a:headEnd type="none" w="med" len="med"/>
            <a:tailEnd type="none" w="med" len="med"/>
          </a:ln>
        </p:spPr>
        <p:txBody>
          <a:bodyPr lIns="7200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spcBef>
                <a:spcPct val="0"/>
              </a:spcBef>
              <a:spcAft>
                <a:spcPct val="0"/>
              </a:spcAft>
              <a:buClrTx/>
              <a:buSzTx/>
              <a:buNone/>
            </a:pPr>
            <a:r>
              <a:rPr lang="en-US" altLang="zh-CN" sz="2000" dirty="0">
                <a:solidFill>
                  <a:srgbClr val="0000FF"/>
                </a:solidFill>
                <a:latin typeface="Times New Roman" panose="02020603050405020304" pitchFamily="18" charset="0"/>
                <a:ea typeface="楷体_GB2312"/>
              </a:rPr>
              <a:t>MOV  DX,83FCH</a:t>
            </a:r>
            <a:endParaRPr lang="en-US" altLang="zh-CN" sz="2000" dirty="0">
              <a:solidFill>
                <a:srgbClr val="0000FF"/>
              </a:solidFill>
              <a:latin typeface="Times New Roman" panose="02020603050405020304" pitchFamily="18" charset="0"/>
              <a:ea typeface="楷体_GB2312"/>
            </a:endParaRPr>
          </a:p>
          <a:p>
            <a:pPr marL="0" lvl="0" indent="0">
              <a:spcBef>
                <a:spcPct val="0"/>
              </a:spcBef>
              <a:spcAft>
                <a:spcPct val="0"/>
              </a:spcAft>
              <a:buClrTx/>
              <a:buSzTx/>
              <a:buNone/>
            </a:pPr>
            <a:r>
              <a:rPr lang="en-US" altLang="zh-CN" sz="2000" dirty="0">
                <a:solidFill>
                  <a:srgbClr val="0000FF"/>
                </a:solidFill>
                <a:latin typeface="Times New Roman" panose="02020603050405020304" pitchFamily="18" charset="0"/>
                <a:ea typeface="楷体_GB2312"/>
              </a:rPr>
              <a:t>IN       AL,DX</a:t>
            </a:r>
            <a:endParaRPr lang="en-US" altLang="zh-CN" sz="2000" dirty="0">
              <a:solidFill>
                <a:srgbClr val="0000FF"/>
              </a:solidFill>
              <a:latin typeface="Times New Roman" panose="02020603050405020304" pitchFamily="18" charset="0"/>
              <a:ea typeface="楷体_GB2312"/>
            </a:endParaRPr>
          </a:p>
          <a:p>
            <a:pPr marL="0" lvl="0" indent="0">
              <a:spcBef>
                <a:spcPct val="0"/>
              </a:spcBef>
              <a:spcAft>
                <a:spcPct val="0"/>
              </a:spcAft>
              <a:buClrTx/>
              <a:buSzTx/>
              <a:buNone/>
            </a:pPr>
            <a:r>
              <a:rPr lang="en-US" altLang="zh-CN" sz="2000" dirty="0">
                <a:solidFill>
                  <a:srgbClr val="0000FF"/>
                </a:solidFill>
                <a:latin typeface="Times New Roman" panose="02020603050405020304" pitchFamily="18" charset="0"/>
                <a:ea typeface="楷体_GB2312"/>
              </a:rPr>
              <a:t>AND   AL,0FFH</a:t>
            </a:r>
            <a:endParaRPr lang="en-US" altLang="zh-CN" sz="2000" dirty="0">
              <a:solidFill>
                <a:srgbClr val="0000FF"/>
              </a:solidFill>
              <a:latin typeface="Times New Roman" panose="02020603050405020304" pitchFamily="18" charset="0"/>
              <a:ea typeface="楷体_GB2312"/>
            </a:endParaRPr>
          </a:p>
          <a:p>
            <a:pPr marL="0" lvl="0" indent="0">
              <a:spcBef>
                <a:spcPct val="0"/>
              </a:spcBef>
              <a:spcAft>
                <a:spcPct val="0"/>
              </a:spcAft>
              <a:buClrTx/>
              <a:buSzTx/>
              <a:buNone/>
            </a:pPr>
            <a:r>
              <a:rPr lang="en-US" altLang="zh-CN" sz="2000" dirty="0">
                <a:solidFill>
                  <a:srgbClr val="0000FF"/>
                </a:solidFill>
                <a:latin typeface="Times New Roman" panose="02020603050405020304" pitchFamily="18" charset="0"/>
                <a:ea typeface="楷体_GB2312"/>
              </a:rPr>
              <a:t>JZ       NEXT1</a:t>
            </a:r>
            <a:endParaRPr lang="en-US" altLang="zh-CN" sz="2000" dirty="0">
              <a:solidFill>
                <a:srgbClr val="0000FF"/>
              </a:solidFill>
              <a:latin typeface="Times New Roman" panose="02020603050405020304" pitchFamily="18" charset="0"/>
              <a:ea typeface="楷体_GB2312"/>
            </a:endParaRPr>
          </a:p>
          <a:p>
            <a:pPr marL="0" lvl="0" indent="0">
              <a:spcBef>
                <a:spcPct val="0"/>
              </a:spcBef>
              <a:spcAft>
                <a:spcPct val="0"/>
              </a:spcAft>
              <a:buClrTx/>
              <a:buSzTx/>
              <a:buNone/>
            </a:pPr>
            <a:r>
              <a:rPr lang="en-US" altLang="zh-CN" sz="2000" dirty="0">
                <a:solidFill>
                  <a:srgbClr val="0000FF"/>
                </a:solidFill>
                <a:latin typeface="Times New Roman" panose="02020603050405020304" pitchFamily="18" charset="0"/>
                <a:ea typeface="楷体_GB2312"/>
              </a:rPr>
              <a:t>JMP   NEXT2</a:t>
            </a:r>
            <a:endParaRPr lang="en-US" altLang="zh-CN" sz="2000" dirty="0">
              <a:solidFill>
                <a:srgbClr val="0000FF"/>
              </a:solidFill>
              <a:latin typeface="Times New Roman" panose="02020603050405020304" pitchFamily="18" charset="0"/>
              <a:ea typeface="楷体_GB2312"/>
            </a:endParaRPr>
          </a:p>
        </p:txBody>
      </p:sp>
      <p:sp>
        <p:nvSpPr>
          <p:cNvPr id="47112" name="Text Box 12"/>
          <p:cNvSpPr txBox="1"/>
          <p:nvPr/>
        </p:nvSpPr>
        <p:spPr>
          <a:xfrm>
            <a:off x="4572000" y="5334000"/>
            <a:ext cx="1828800" cy="1014413"/>
          </a:xfrm>
          <a:prstGeom prst="rect">
            <a:avLst/>
          </a:prstGeom>
          <a:noFill/>
          <a:ln w="9525" cap="flat" cmpd="sng">
            <a:solidFill>
              <a:srgbClr val="FF00FF"/>
            </a:solidFill>
            <a:prstDash val="solid"/>
            <a:miter/>
            <a:headEnd type="none" w="med" len="med"/>
            <a:tailEnd type="none" w="med" len="med"/>
          </a:ln>
        </p:spPr>
        <p:txBody>
          <a:bodyPr lIns="7200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spcBef>
                <a:spcPct val="0"/>
              </a:spcBef>
              <a:spcAft>
                <a:spcPct val="0"/>
              </a:spcAft>
              <a:buClrTx/>
              <a:buSzTx/>
              <a:buNone/>
            </a:pPr>
            <a:r>
              <a:rPr lang="zh-CN" altLang="en-US" sz="2000" dirty="0">
                <a:solidFill>
                  <a:srgbClr val="0000FF"/>
                </a:solidFill>
                <a:latin typeface="Times New Roman" panose="02020603050405020304" pitchFamily="18" charset="0"/>
                <a:ea typeface="楷体_GB2312"/>
              </a:rPr>
              <a:t>所有开关全闭合转</a:t>
            </a:r>
            <a:r>
              <a:rPr lang="en-US" altLang="zh-CN" sz="2000" dirty="0">
                <a:solidFill>
                  <a:srgbClr val="0000FF"/>
                </a:solidFill>
                <a:latin typeface="Times New Roman" panose="02020603050405020304" pitchFamily="18" charset="0"/>
                <a:ea typeface="楷体_GB2312"/>
              </a:rPr>
              <a:t>NEXT1</a:t>
            </a:r>
            <a:r>
              <a:rPr lang="zh-CN" altLang="en-US" sz="2000" dirty="0">
                <a:solidFill>
                  <a:srgbClr val="0000FF"/>
                </a:solidFill>
                <a:latin typeface="Times New Roman" panose="02020603050405020304" pitchFamily="18" charset="0"/>
                <a:ea typeface="楷体_GB2312"/>
              </a:rPr>
              <a:t>，否则转</a:t>
            </a:r>
            <a:r>
              <a:rPr lang="en-US" altLang="zh-CN" sz="2000" dirty="0">
                <a:solidFill>
                  <a:srgbClr val="0000FF"/>
                </a:solidFill>
                <a:latin typeface="Times New Roman" panose="02020603050405020304" pitchFamily="18" charset="0"/>
                <a:ea typeface="楷体_GB2312"/>
              </a:rPr>
              <a:t>NEXT2</a:t>
            </a:r>
            <a:r>
              <a:rPr lang="zh-CN" altLang="en-US" sz="2000" dirty="0">
                <a:solidFill>
                  <a:srgbClr val="0000FF"/>
                </a:solidFill>
                <a:latin typeface="Times New Roman" panose="02020603050405020304" pitchFamily="18" charset="0"/>
                <a:ea typeface="楷体_GB2312"/>
              </a:rPr>
              <a:t>。</a:t>
            </a:r>
            <a:endParaRPr lang="zh-CN" altLang="en-US" sz="2000" dirty="0">
              <a:solidFill>
                <a:srgbClr val="0000FF"/>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7112"/>
                                        </p:tgtEl>
                                        <p:attrNameLst>
                                          <p:attrName>style.visibility</p:attrName>
                                        </p:attrNameLst>
                                      </p:cBhvr>
                                      <p:to>
                                        <p:strVal val="visible"/>
                                      </p:to>
                                    </p:set>
                                    <p:anim calcmode="lin" valueType="num">
                                      <p:cBhvr>
                                        <p:cTn id="7" dur="500" fill="hold"/>
                                        <p:tgtEl>
                                          <p:spTgt spid="47112"/>
                                        </p:tgtEl>
                                        <p:attrNameLst>
                                          <p:attrName>ppt_x</p:attrName>
                                        </p:attrNameLst>
                                      </p:cBhvr>
                                      <p:tavLst>
                                        <p:tav tm="0">
                                          <p:val>
                                            <p:strVal val="0-#ppt_w/2"/>
                                          </p:val>
                                        </p:tav>
                                        <p:tav tm="100000">
                                          <p:val>
                                            <p:strVal val="#ppt_x"/>
                                          </p:val>
                                        </p:tav>
                                      </p:tavLst>
                                    </p:anim>
                                    <p:anim calcmode="lin" valueType="num">
                                      <p:cBhvr>
                                        <p:cTn id="8" dur="500" fill="hold"/>
                                        <p:tgtEl>
                                          <p:spTgt spid="471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111"/>
                                        </p:tgtEl>
                                        <p:attrNameLst>
                                          <p:attrName>style.visibility</p:attrName>
                                        </p:attrNameLst>
                                      </p:cBhvr>
                                      <p:to>
                                        <p:strVal val="visible"/>
                                      </p:to>
                                    </p:set>
                                    <p:anim calcmode="lin" valueType="num">
                                      <p:cBhvr>
                                        <p:cTn id="13" dur="500" fill="hold"/>
                                        <p:tgtEl>
                                          <p:spTgt spid="47111"/>
                                        </p:tgtEl>
                                        <p:attrNameLst>
                                          <p:attrName>ppt_x</p:attrName>
                                        </p:attrNameLst>
                                      </p:cBhvr>
                                      <p:tavLst>
                                        <p:tav tm="0">
                                          <p:val>
                                            <p:strVal val="0-#ppt_w/2"/>
                                          </p:val>
                                        </p:tav>
                                        <p:tav tm="100000">
                                          <p:val>
                                            <p:strVal val="#ppt_x"/>
                                          </p:val>
                                        </p:tav>
                                      </p:tavLst>
                                    </p:anim>
                                    <p:anim calcmode="lin" valueType="num">
                                      <p:cBhvr>
                                        <p:cTn id="14" dur="500" fill="hold"/>
                                        <p:tgtEl>
                                          <p:spTgt spid="471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1" grpId="0" animBg="1"/>
      <p:bldP spid="4711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28003" name="Rectangle 2"/>
          <p:cNvSpPr>
            <a:spLocks noGrp="1"/>
          </p:cNvSpPr>
          <p:nvPr>
            <p:ph type="title" idx="4294967295"/>
          </p:nvPr>
        </p:nvSpPr>
        <p:spPr/>
        <p:txBody>
          <a:bodyPr vert="horz" wrap="square" lIns="91440" tIns="45720" rIns="91440" bIns="45720" anchor="b" anchorCtr="0"/>
          <a:p>
            <a:pPr eaLnBrk="1" hangingPunct="1"/>
            <a:r>
              <a:rPr lang="zh-CN" altLang="en-US" sz="4000" dirty="0"/>
              <a:t>四、锁存器接口</a:t>
            </a:r>
            <a:endParaRPr lang="zh-CN" altLang="en-US" sz="4000" dirty="0"/>
          </a:p>
        </p:txBody>
      </p:sp>
      <p:sp>
        <p:nvSpPr>
          <p:cNvPr id="128004" name="Rectangle 3"/>
          <p:cNvSpPr>
            <a:spLocks noGrp="1"/>
          </p:cNvSpPr>
          <p:nvPr>
            <p:ph type="body" idx="4294967295"/>
          </p:nvPr>
        </p:nvSpPr>
        <p:spPr>
          <a:xfrm>
            <a:off x="900113" y="2192338"/>
            <a:ext cx="7772400" cy="3468687"/>
          </a:xfrm>
        </p:spPr>
        <p:txBody>
          <a:bodyPr vert="horz" wrap="square" lIns="91440" tIns="45720" rIns="91440" bIns="45720" anchor="t" anchorCtr="0"/>
          <a:p>
            <a:pPr eaLnBrk="1" hangingPunct="1">
              <a:spcAft>
                <a:spcPct val="30000"/>
              </a:spcAft>
            </a:pPr>
            <a:r>
              <a:rPr lang="zh-CN" altLang="en-US" dirty="0"/>
              <a:t>通常由</a:t>
            </a:r>
            <a:r>
              <a:rPr lang="en-US" altLang="zh-CN" dirty="0"/>
              <a:t>D</a:t>
            </a:r>
            <a:r>
              <a:rPr lang="zh-CN" altLang="en-US" dirty="0"/>
              <a:t>触发器构成；</a:t>
            </a:r>
            <a:endParaRPr lang="zh-CN" altLang="en-US" dirty="0"/>
          </a:p>
          <a:p>
            <a:pPr eaLnBrk="1" hangingPunct="1">
              <a:spcAft>
                <a:spcPct val="25000"/>
              </a:spcAft>
            </a:pPr>
            <a:r>
              <a:rPr lang="zh-CN" altLang="en-US" dirty="0"/>
              <a:t>特点：</a:t>
            </a:r>
            <a:endParaRPr lang="zh-CN" altLang="en-US" dirty="0"/>
          </a:p>
          <a:p>
            <a:pPr lvl="1" eaLnBrk="1" hangingPunct="1">
              <a:spcAft>
                <a:spcPct val="25000"/>
              </a:spcAft>
            </a:pPr>
            <a:r>
              <a:rPr lang="zh-CN" altLang="en-US" dirty="0"/>
              <a:t>具有对数据的锁存能力；</a:t>
            </a:r>
            <a:endParaRPr lang="zh-CN" altLang="en-US" dirty="0"/>
          </a:p>
          <a:p>
            <a:pPr lvl="1" eaLnBrk="1" hangingPunct="1">
              <a:spcAft>
                <a:spcPct val="25000"/>
              </a:spcAft>
            </a:pPr>
            <a:r>
              <a:rPr lang="zh-CN" altLang="en-US" dirty="0"/>
              <a:t>不具备对数据的控制能力</a:t>
            </a:r>
            <a:endParaRPr lang="zh-CN" altLang="en-US" dirty="0"/>
          </a:p>
        </p:txBody>
      </p:sp>
    </p:spTree>
  </p:cSld>
  <p:clrMapOvr>
    <a:masterClrMapping/>
  </p:clrMapOvr>
  <p:transition spd="slow">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7"/>
          <p:cNvSpPr>
            <a:spLocks noGrp="1"/>
          </p:cNvSpPr>
          <p:nvPr>
            <p:ph type="body" idx="4294967295"/>
          </p:nvPr>
        </p:nvSpPr>
        <p:spPr>
          <a:xfrm>
            <a:off x="49213" y="2063750"/>
            <a:ext cx="7975600" cy="1657350"/>
          </a:xfrm>
        </p:spPr>
        <p:txBody>
          <a:bodyPr vert="horz" wrap="square" lIns="91440" tIns="45720" rIns="91440" bIns="45720" anchor="t" anchorCtr="0"/>
          <a:p>
            <a:pPr lvl="2" eaLnBrk="1" hangingPunct="1">
              <a:lnSpc>
                <a:spcPct val="120000"/>
              </a:lnSpc>
              <a:spcBef>
                <a:spcPct val="10000"/>
              </a:spcBef>
              <a:buFont typeface="Wingdings" panose="05000000000000000000" pitchFamily="2" charset="2"/>
              <a:buChar char="Ø"/>
            </a:pPr>
            <a:r>
              <a:rPr lang="en-US" altLang="zh-CN" sz="2400" b="0" dirty="0">
                <a:solidFill>
                  <a:schemeClr val="tx1"/>
                </a:solidFill>
                <a:latin typeface="楷体_GB2312"/>
              </a:rPr>
              <a:t>74LS273(</a:t>
            </a:r>
            <a:r>
              <a:rPr lang="zh-CN" altLang="en-US" sz="2400" b="0" dirty="0">
                <a:solidFill>
                  <a:schemeClr val="tx1"/>
                </a:solidFill>
                <a:latin typeface="楷体_GB2312"/>
              </a:rPr>
              <a:t>二态锁存）：是一种带清除功能的</a:t>
            </a:r>
            <a:r>
              <a:rPr lang="en-US" altLang="zh-CN" sz="2400" b="0" dirty="0">
                <a:solidFill>
                  <a:schemeClr val="tx1"/>
                </a:solidFill>
                <a:latin typeface="楷体_GB2312"/>
              </a:rPr>
              <a:t>8D</a:t>
            </a:r>
            <a:r>
              <a:rPr lang="zh-CN" altLang="en-US" sz="2400" b="0" dirty="0">
                <a:solidFill>
                  <a:schemeClr val="tx1"/>
                </a:solidFill>
                <a:latin typeface="楷体_GB2312"/>
              </a:rPr>
              <a:t>触发器， </a:t>
            </a:r>
            <a:r>
              <a:rPr lang="en-US" altLang="zh-CN" sz="2400" b="0" dirty="0">
                <a:solidFill>
                  <a:schemeClr val="tx1"/>
                </a:solidFill>
                <a:latin typeface="楷体_GB2312"/>
              </a:rPr>
              <a:t>D</a:t>
            </a:r>
            <a:r>
              <a:rPr lang="en-US" altLang="zh-CN" sz="2400" b="0" baseline="-25000" dirty="0">
                <a:solidFill>
                  <a:schemeClr val="tx1"/>
                </a:solidFill>
                <a:latin typeface="楷体_GB2312"/>
              </a:rPr>
              <a:t>0</a:t>
            </a:r>
            <a:r>
              <a:rPr lang="zh-CN" altLang="en-US" sz="2400" b="0" dirty="0">
                <a:solidFill>
                  <a:schemeClr val="tx1"/>
                </a:solidFill>
                <a:latin typeface="楷体_GB2312"/>
              </a:rPr>
              <a:t>～</a:t>
            </a:r>
            <a:r>
              <a:rPr lang="en-US" altLang="zh-CN" sz="2400" b="0" dirty="0">
                <a:solidFill>
                  <a:schemeClr val="tx1"/>
                </a:solidFill>
                <a:latin typeface="楷体_GB2312"/>
              </a:rPr>
              <a:t>D</a:t>
            </a:r>
            <a:r>
              <a:rPr lang="en-US" altLang="zh-CN" sz="2400" b="0" baseline="-25000" dirty="0">
                <a:solidFill>
                  <a:schemeClr val="tx1"/>
                </a:solidFill>
                <a:latin typeface="楷体_GB2312"/>
              </a:rPr>
              <a:t>7</a:t>
            </a:r>
            <a:r>
              <a:rPr lang="zh-CN" altLang="en-US" sz="2400" b="0" dirty="0">
                <a:solidFill>
                  <a:schemeClr val="tx1"/>
                </a:solidFill>
                <a:latin typeface="楷体_GB2312"/>
              </a:rPr>
              <a:t>为数据输入端，</a:t>
            </a:r>
            <a:r>
              <a:rPr lang="en-US" altLang="zh-CN" sz="2400" b="0" dirty="0">
                <a:solidFill>
                  <a:schemeClr val="tx1"/>
                </a:solidFill>
                <a:latin typeface="楷体_GB2312"/>
              </a:rPr>
              <a:t>Q</a:t>
            </a:r>
            <a:r>
              <a:rPr lang="en-US" altLang="zh-CN" sz="2400" b="0" baseline="-25000" dirty="0">
                <a:solidFill>
                  <a:schemeClr val="tx1"/>
                </a:solidFill>
                <a:latin typeface="楷体_GB2312"/>
              </a:rPr>
              <a:t>0</a:t>
            </a:r>
            <a:r>
              <a:rPr lang="zh-CN" altLang="en-US" sz="2400" b="0" dirty="0">
                <a:solidFill>
                  <a:schemeClr val="tx1"/>
                </a:solidFill>
                <a:latin typeface="楷体_GB2312"/>
              </a:rPr>
              <a:t>～</a:t>
            </a:r>
            <a:r>
              <a:rPr lang="en-US" altLang="zh-CN" sz="2400" b="0" dirty="0">
                <a:solidFill>
                  <a:schemeClr val="tx1"/>
                </a:solidFill>
                <a:latin typeface="楷体_GB2312"/>
              </a:rPr>
              <a:t>Q</a:t>
            </a:r>
            <a:r>
              <a:rPr lang="en-US" altLang="zh-CN" sz="2400" b="0" baseline="-25000" dirty="0">
                <a:solidFill>
                  <a:schemeClr val="tx1"/>
                </a:solidFill>
                <a:latin typeface="楷体_GB2312"/>
              </a:rPr>
              <a:t>7</a:t>
            </a:r>
            <a:r>
              <a:rPr lang="zh-CN" altLang="en-US" sz="2400" b="0" dirty="0">
                <a:solidFill>
                  <a:schemeClr val="tx1"/>
                </a:solidFill>
                <a:latin typeface="楷体_GB2312"/>
              </a:rPr>
              <a:t>为数据输出端，</a:t>
            </a:r>
            <a:r>
              <a:rPr lang="en-US" altLang="zh-CN" sz="2400" b="0" dirty="0">
                <a:solidFill>
                  <a:schemeClr val="tx1"/>
                </a:solidFill>
                <a:latin typeface="楷体_GB2312"/>
              </a:rPr>
              <a:t>CP</a:t>
            </a:r>
            <a:r>
              <a:rPr lang="zh-CN" altLang="en-US" sz="2400" b="0" dirty="0">
                <a:solidFill>
                  <a:schemeClr val="tx1"/>
                </a:solidFill>
                <a:latin typeface="楷体_GB2312"/>
              </a:rPr>
              <a:t>正脉冲（上升沿）触发将</a:t>
            </a:r>
            <a:r>
              <a:rPr lang="en-US" altLang="zh-CN" sz="2400" b="0" dirty="0">
                <a:solidFill>
                  <a:schemeClr val="tx1"/>
                </a:solidFill>
                <a:latin typeface="楷体_GB2312"/>
              </a:rPr>
              <a:t>D</a:t>
            </a:r>
            <a:r>
              <a:rPr lang="en-US" altLang="zh-CN" sz="2400" b="0" baseline="-25000" dirty="0">
                <a:solidFill>
                  <a:schemeClr val="tx1"/>
                </a:solidFill>
                <a:latin typeface="楷体_GB2312"/>
              </a:rPr>
              <a:t>i</a:t>
            </a:r>
            <a:r>
              <a:rPr lang="zh-CN" altLang="en-US" sz="2400" b="0" dirty="0">
                <a:solidFill>
                  <a:schemeClr val="tx1"/>
                </a:solidFill>
                <a:latin typeface="楷体_GB2312"/>
              </a:rPr>
              <a:t>端数据锁存到</a:t>
            </a:r>
            <a:r>
              <a:rPr lang="en-US" altLang="zh-CN" sz="2400" b="0" dirty="0">
                <a:solidFill>
                  <a:schemeClr val="tx1"/>
                </a:solidFill>
                <a:latin typeface="楷体_GB2312"/>
              </a:rPr>
              <a:t>Q</a:t>
            </a:r>
            <a:r>
              <a:rPr lang="en-US" altLang="zh-CN" sz="2400" b="0" baseline="-25000" dirty="0">
                <a:solidFill>
                  <a:schemeClr val="tx1"/>
                </a:solidFill>
                <a:latin typeface="楷体_GB2312"/>
              </a:rPr>
              <a:t>i</a:t>
            </a:r>
            <a:r>
              <a:rPr lang="zh-CN" altLang="en-US" sz="2400" b="0" dirty="0">
                <a:solidFill>
                  <a:schemeClr val="tx1"/>
                </a:solidFill>
                <a:latin typeface="楷体_GB2312"/>
              </a:rPr>
              <a:t>端，</a:t>
            </a:r>
            <a:r>
              <a:rPr lang="en-US" altLang="zh-CN" sz="2400" b="0" dirty="0">
                <a:solidFill>
                  <a:schemeClr val="tx1"/>
                </a:solidFill>
                <a:latin typeface="楷体_GB2312"/>
              </a:rPr>
              <a:t>S</a:t>
            </a:r>
            <a:r>
              <a:rPr lang="zh-CN" altLang="en-US" sz="2400" b="0" dirty="0">
                <a:solidFill>
                  <a:schemeClr val="tx1"/>
                </a:solidFill>
                <a:latin typeface="楷体_GB2312"/>
              </a:rPr>
              <a:t>低电平清除</a:t>
            </a:r>
            <a:r>
              <a:rPr lang="en-US" altLang="zh-CN" sz="2400" b="0" dirty="0">
                <a:solidFill>
                  <a:schemeClr val="tx1"/>
                </a:solidFill>
                <a:latin typeface="楷体_GB2312"/>
              </a:rPr>
              <a:t>Q</a:t>
            </a:r>
            <a:r>
              <a:rPr lang="en-US" altLang="zh-CN" sz="2400" b="0" baseline="-25000" dirty="0">
                <a:solidFill>
                  <a:schemeClr val="tx1"/>
                </a:solidFill>
                <a:latin typeface="楷体_GB2312"/>
              </a:rPr>
              <a:t>i</a:t>
            </a:r>
            <a:r>
              <a:rPr lang="zh-CN" altLang="en-US" sz="2400" b="0" dirty="0">
                <a:solidFill>
                  <a:schemeClr val="tx1"/>
                </a:solidFill>
                <a:latin typeface="楷体_GB2312"/>
              </a:rPr>
              <a:t>端。常用作</a:t>
            </a:r>
            <a:r>
              <a:rPr lang="en-US" altLang="zh-CN" sz="2400" b="0" dirty="0">
                <a:solidFill>
                  <a:schemeClr val="hlink"/>
                </a:solidFill>
                <a:latin typeface="楷体_GB2312"/>
              </a:rPr>
              <a:t>8</a:t>
            </a:r>
            <a:r>
              <a:rPr lang="zh-CN" altLang="en-US" sz="2400" b="0" dirty="0">
                <a:solidFill>
                  <a:schemeClr val="hlink"/>
                </a:solidFill>
                <a:latin typeface="楷体_GB2312"/>
              </a:rPr>
              <a:t>位地址锁存器或输出接口</a:t>
            </a:r>
            <a:r>
              <a:rPr lang="zh-CN" altLang="en-US" sz="2400" b="0" dirty="0">
                <a:solidFill>
                  <a:schemeClr val="tx1"/>
                </a:solidFill>
                <a:latin typeface="楷体_GB2312"/>
              </a:rPr>
              <a:t>。 </a:t>
            </a:r>
            <a:endParaRPr lang="en-US" altLang="zh-CN" sz="2400" b="0" dirty="0">
              <a:solidFill>
                <a:schemeClr val="tx1"/>
              </a:solidFill>
              <a:latin typeface="楷体_GB2312"/>
            </a:endParaRPr>
          </a:p>
        </p:txBody>
      </p:sp>
      <p:sp>
        <p:nvSpPr>
          <p:cNvPr id="49155" name="Rectangle 57"/>
          <p:cNvSpPr/>
          <p:nvPr/>
        </p:nvSpPr>
        <p:spPr>
          <a:xfrm>
            <a:off x="0" y="4437063"/>
            <a:ext cx="7993063" cy="165735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1257300" lvl="2" indent="-342900" eaLnBrk="1" hangingPunct="1">
              <a:spcBef>
                <a:spcPct val="0"/>
              </a:spcBef>
              <a:spcAft>
                <a:spcPct val="0"/>
              </a:spcAft>
              <a:buSzTx/>
              <a:buFont typeface="Wingdings" panose="05000000000000000000" pitchFamily="2" charset="2"/>
              <a:buChar char="Ø"/>
            </a:pPr>
            <a:r>
              <a:rPr lang="en-US" altLang="zh-CN" sz="2400" i="1" dirty="0">
                <a:solidFill>
                  <a:schemeClr val="tx1"/>
                </a:solidFill>
                <a:latin typeface="楷体_GB2312"/>
                <a:ea typeface="楷体_GB2312"/>
              </a:rPr>
              <a:t>74LS374(</a:t>
            </a:r>
            <a:r>
              <a:rPr lang="zh-CN" altLang="en-US" sz="2400" i="1" dirty="0">
                <a:solidFill>
                  <a:schemeClr val="tx1"/>
                </a:solidFill>
                <a:latin typeface="楷体_GB2312"/>
                <a:ea typeface="楷体_GB2312"/>
              </a:rPr>
              <a:t>三态锁存器</a:t>
            </a:r>
            <a:r>
              <a:rPr lang="en-US" altLang="zh-CN" sz="2400" i="1" dirty="0">
                <a:solidFill>
                  <a:schemeClr val="tx1"/>
                </a:solidFill>
                <a:latin typeface="楷体_GB2312"/>
                <a:ea typeface="楷体_GB2312"/>
              </a:rPr>
              <a:t>)</a:t>
            </a:r>
            <a:r>
              <a:rPr lang="zh-CN" altLang="en-US" sz="2400" i="1" dirty="0">
                <a:solidFill>
                  <a:schemeClr val="tx1"/>
                </a:solidFill>
                <a:latin typeface="楷体_GB2312"/>
                <a:ea typeface="楷体_GB2312"/>
              </a:rPr>
              <a:t>：可作输入</a:t>
            </a:r>
            <a:r>
              <a:rPr lang="en-US" altLang="zh-CN" sz="2400" i="1" dirty="0">
                <a:solidFill>
                  <a:schemeClr val="tx1"/>
                </a:solidFill>
                <a:latin typeface="楷体_GB2312"/>
                <a:ea typeface="楷体_GB2312"/>
              </a:rPr>
              <a:t>/</a:t>
            </a:r>
            <a:r>
              <a:rPr lang="zh-CN" altLang="en-US" sz="2400" i="1" dirty="0">
                <a:solidFill>
                  <a:schemeClr val="tx1"/>
                </a:solidFill>
                <a:latin typeface="楷体_GB2312"/>
                <a:ea typeface="楷体_GB2312"/>
              </a:rPr>
              <a:t>输出缓冲器接口。</a:t>
            </a:r>
            <a:r>
              <a:rPr lang="en-US" altLang="zh-CN" sz="2400" i="1" dirty="0">
                <a:solidFill>
                  <a:schemeClr val="tx1"/>
                </a:solidFill>
                <a:latin typeface="楷体_GB2312"/>
                <a:ea typeface="楷体_GB2312"/>
              </a:rPr>
              <a:t>74LS374</a:t>
            </a:r>
            <a:r>
              <a:rPr lang="zh-CN" altLang="en-US" sz="2400" i="1" dirty="0">
                <a:solidFill>
                  <a:schemeClr val="tx1"/>
                </a:solidFill>
                <a:latin typeface="楷体_GB2312"/>
                <a:ea typeface="楷体_GB2312"/>
              </a:rPr>
              <a:t>带了三态门，它比</a:t>
            </a:r>
            <a:r>
              <a:rPr lang="en-US" altLang="zh-CN" sz="2400" i="1" dirty="0">
                <a:solidFill>
                  <a:schemeClr val="tx1"/>
                </a:solidFill>
                <a:latin typeface="楷体_GB2312"/>
                <a:ea typeface="楷体_GB2312"/>
              </a:rPr>
              <a:t>74LS273</a:t>
            </a:r>
            <a:r>
              <a:rPr lang="zh-CN" altLang="en-US" sz="2400" i="1" dirty="0">
                <a:solidFill>
                  <a:schemeClr val="tx1"/>
                </a:solidFill>
                <a:latin typeface="楷体_GB2312"/>
                <a:ea typeface="楷体_GB2312"/>
              </a:rPr>
              <a:t>多了一个输出允许端</a:t>
            </a:r>
            <a:r>
              <a:rPr lang="en-US" altLang="zh-CN" sz="2400" i="1" dirty="0">
                <a:solidFill>
                  <a:schemeClr val="tx1"/>
                </a:solidFill>
                <a:latin typeface="楷体_GB2312"/>
                <a:ea typeface="楷体_GB2312"/>
              </a:rPr>
              <a:t>OE</a:t>
            </a:r>
            <a:r>
              <a:rPr lang="zh-CN" altLang="en-US" sz="2400" i="1" dirty="0">
                <a:solidFill>
                  <a:schemeClr val="tx1"/>
                </a:solidFill>
                <a:latin typeface="楷体_GB2312"/>
                <a:ea typeface="楷体_GB2312"/>
              </a:rPr>
              <a:t>。只有当 </a:t>
            </a:r>
            <a:r>
              <a:rPr lang="en-US" altLang="zh-CN" sz="2400" i="1" dirty="0">
                <a:solidFill>
                  <a:schemeClr val="tx1"/>
                </a:solidFill>
                <a:latin typeface="楷体_GB2312"/>
                <a:ea typeface="楷体_GB2312"/>
              </a:rPr>
              <a:t>OE=0</a:t>
            </a:r>
            <a:r>
              <a:rPr lang="zh-CN" altLang="en-US" sz="2400" i="1" dirty="0">
                <a:solidFill>
                  <a:schemeClr val="tx1"/>
                </a:solidFill>
                <a:latin typeface="楷体_GB2312"/>
                <a:ea typeface="楷体_GB2312"/>
              </a:rPr>
              <a:t>时，</a:t>
            </a:r>
            <a:r>
              <a:rPr lang="en-US" altLang="zh-CN" sz="2400" i="1" dirty="0">
                <a:solidFill>
                  <a:schemeClr val="tx1"/>
                </a:solidFill>
                <a:latin typeface="楷体_GB2312"/>
                <a:ea typeface="楷体_GB2312"/>
              </a:rPr>
              <a:t>74LS374</a:t>
            </a:r>
            <a:r>
              <a:rPr lang="zh-CN" altLang="en-US" sz="2400" i="1" dirty="0">
                <a:solidFill>
                  <a:schemeClr val="tx1"/>
                </a:solidFill>
                <a:latin typeface="楷体_GB2312"/>
                <a:ea typeface="楷体_GB2312"/>
              </a:rPr>
              <a:t>的输出三态门才导通， </a:t>
            </a:r>
            <a:r>
              <a:rPr lang="en-US" altLang="zh-CN" sz="2400" i="1" dirty="0">
                <a:solidFill>
                  <a:schemeClr val="tx1"/>
                </a:solidFill>
                <a:latin typeface="楷体_GB2312"/>
                <a:ea typeface="楷体_GB2312"/>
              </a:rPr>
              <a:t>OE=1</a:t>
            </a:r>
            <a:r>
              <a:rPr lang="zh-CN" altLang="en-US" sz="2400" i="1" dirty="0">
                <a:solidFill>
                  <a:schemeClr val="tx1"/>
                </a:solidFill>
                <a:latin typeface="楷体_GB2312"/>
                <a:ea typeface="楷体_GB2312"/>
              </a:rPr>
              <a:t>时呈高阻态</a:t>
            </a:r>
            <a:r>
              <a:rPr lang="zh-CN" altLang="en-US" sz="2400" i="1" dirty="0">
                <a:solidFill>
                  <a:schemeClr val="tx1"/>
                </a:solidFill>
                <a:ea typeface="楷体_GB2312"/>
              </a:rPr>
              <a:t>。</a:t>
            </a:r>
            <a:endParaRPr lang="en-US" altLang="zh-CN" sz="2400" i="1" dirty="0">
              <a:solidFill>
                <a:schemeClr val="tx1"/>
              </a:solidFill>
              <a:ea typeface="楷体_GB2312"/>
            </a:endParaRPr>
          </a:p>
        </p:txBody>
      </p:sp>
      <p:sp>
        <p:nvSpPr>
          <p:cNvPr id="129028" name="Line 58"/>
          <p:cNvSpPr/>
          <p:nvPr/>
        </p:nvSpPr>
        <p:spPr>
          <a:xfrm>
            <a:off x="1906588" y="3500438"/>
            <a:ext cx="144462" cy="0"/>
          </a:xfrm>
          <a:prstGeom prst="line">
            <a:avLst/>
          </a:prstGeom>
          <a:ln w="9525" cap="flat" cmpd="sng">
            <a:solidFill>
              <a:schemeClr val="tx1"/>
            </a:solidFill>
            <a:prstDash val="solid"/>
            <a:bevel/>
            <a:headEnd type="none" w="med" len="med"/>
            <a:tailEnd type="none" w="med" len="med"/>
          </a:ln>
        </p:spPr>
      </p:sp>
      <p:sp>
        <p:nvSpPr>
          <p:cNvPr id="49157" name="Line 59"/>
          <p:cNvSpPr/>
          <p:nvPr/>
        </p:nvSpPr>
        <p:spPr>
          <a:xfrm>
            <a:off x="3635375" y="5734050"/>
            <a:ext cx="358775" cy="0"/>
          </a:xfrm>
          <a:prstGeom prst="line">
            <a:avLst/>
          </a:prstGeom>
          <a:ln w="22225" cap="flat" cmpd="sng">
            <a:solidFill>
              <a:schemeClr val="tx1"/>
            </a:solidFill>
            <a:prstDash val="solid"/>
            <a:bevel/>
            <a:headEnd type="none" w="med" len="med"/>
            <a:tailEnd type="none" w="med" len="med"/>
          </a:ln>
        </p:spPr>
      </p:sp>
      <p:sp>
        <p:nvSpPr>
          <p:cNvPr id="49158" name="Line 60"/>
          <p:cNvSpPr/>
          <p:nvPr/>
        </p:nvSpPr>
        <p:spPr>
          <a:xfrm>
            <a:off x="4500563" y="5373688"/>
            <a:ext cx="360362" cy="0"/>
          </a:xfrm>
          <a:prstGeom prst="line">
            <a:avLst/>
          </a:prstGeom>
          <a:ln w="22225" cap="flat" cmpd="sng">
            <a:solidFill>
              <a:schemeClr val="tx1"/>
            </a:solidFill>
            <a:prstDash val="solid"/>
            <a:bevel/>
            <a:headEnd type="none" w="med" len="med"/>
            <a:tailEnd type="none" w="med" len="med"/>
          </a:ln>
        </p:spPr>
      </p:sp>
      <p:sp>
        <p:nvSpPr>
          <p:cNvPr id="49159" name="Line 61"/>
          <p:cNvSpPr/>
          <p:nvPr/>
        </p:nvSpPr>
        <p:spPr>
          <a:xfrm>
            <a:off x="2844800" y="5373688"/>
            <a:ext cx="285750" cy="0"/>
          </a:xfrm>
          <a:prstGeom prst="line">
            <a:avLst/>
          </a:prstGeom>
          <a:ln w="22225" cap="flat" cmpd="sng">
            <a:solidFill>
              <a:schemeClr val="tx1"/>
            </a:solidFill>
            <a:prstDash val="solid"/>
            <a:bevel/>
            <a:headEnd type="none" w="med" len="med"/>
            <a:tailEnd type="none" w="med" len="med"/>
          </a:ln>
        </p:spPr>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9155"/>
                                        </p:tgtEl>
                                        <p:attrNameLst>
                                          <p:attrName>style.visibility</p:attrName>
                                        </p:attrNameLst>
                                      </p:cBhvr>
                                      <p:to>
                                        <p:strVal val="visible"/>
                                      </p:to>
                                    </p:set>
                                    <p:animEffect transition="in" filter="checkerboard(across)">
                                      <p:cBhvr>
                                        <p:cTn id="7" dur="500"/>
                                        <p:tgtEl>
                                          <p:spTgt spid="49155"/>
                                        </p:tgtEl>
                                      </p:cBhvr>
                                    </p:animEffect>
                                  </p:childTnLst>
                                </p:cTn>
                              </p:par>
                              <p:par>
                                <p:cTn id="8" presetID="5" presetClass="entr" presetSubtype="10" fill="hold" nodeType="withEffect">
                                  <p:stCondLst>
                                    <p:cond delay="0"/>
                                  </p:stCondLst>
                                  <p:childTnLst>
                                    <p:set>
                                      <p:cBhvr>
                                        <p:cTn id="9" dur="1" fill="hold">
                                          <p:stCondLst>
                                            <p:cond delay="0"/>
                                          </p:stCondLst>
                                        </p:cTn>
                                        <p:tgtEl>
                                          <p:spTgt spid="49157"/>
                                        </p:tgtEl>
                                        <p:attrNameLst>
                                          <p:attrName>style.visibility</p:attrName>
                                        </p:attrNameLst>
                                      </p:cBhvr>
                                      <p:to>
                                        <p:strVal val="visible"/>
                                      </p:to>
                                    </p:set>
                                    <p:animEffect transition="in" filter="checkerboard(across)">
                                      <p:cBhvr>
                                        <p:cTn id="10" dur="500"/>
                                        <p:tgtEl>
                                          <p:spTgt spid="49157"/>
                                        </p:tgtEl>
                                      </p:cBhvr>
                                    </p:animEffect>
                                  </p:childTnLst>
                                </p:cTn>
                              </p:par>
                              <p:par>
                                <p:cTn id="11" presetID="5" presetClass="entr" presetSubtype="10" fill="hold" nodeType="withEffect">
                                  <p:stCondLst>
                                    <p:cond delay="0"/>
                                  </p:stCondLst>
                                  <p:childTnLst>
                                    <p:set>
                                      <p:cBhvr>
                                        <p:cTn id="12" dur="1" fill="hold">
                                          <p:stCondLst>
                                            <p:cond delay="0"/>
                                          </p:stCondLst>
                                        </p:cTn>
                                        <p:tgtEl>
                                          <p:spTgt spid="49158"/>
                                        </p:tgtEl>
                                        <p:attrNameLst>
                                          <p:attrName>style.visibility</p:attrName>
                                        </p:attrNameLst>
                                      </p:cBhvr>
                                      <p:to>
                                        <p:strVal val="visible"/>
                                      </p:to>
                                    </p:set>
                                    <p:animEffect transition="in" filter="checkerboard(across)">
                                      <p:cBhvr>
                                        <p:cTn id="13" dur="500"/>
                                        <p:tgtEl>
                                          <p:spTgt spid="49158"/>
                                        </p:tgtEl>
                                      </p:cBhvr>
                                    </p:animEffect>
                                  </p:childTnLst>
                                </p:cTn>
                              </p:par>
                              <p:par>
                                <p:cTn id="14" presetID="5" presetClass="entr" presetSubtype="10" fill="hold" nodeType="withEffect">
                                  <p:stCondLst>
                                    <p:cond delay="0"/>
                                  </p:stCondLst>
                                  <p:childTnLst>
                                    <p:set>
                                      <p:cBhvr>
                                        <p:cTn id="15" dur="1" fill="hold">
                                          <p:stCondLst>
                                            <p:cond delay="0"/>
                                          </p:stCondLst>
                                        </p:cTn>
                                        <p:tgtEl>
                                          <p:spTgt spid="49159"/>
                                        </p:tgtEl>
                                        <p:attrNameLst>
                                          <p:attrName>style.visibility</p:attrName>
                                        </p:attrNameLst>
                                      </p:cBhvr>
                                      <p:to>
                                        <p:strVal val="visible"/>
                                      </p:to>
                                    </p:set>
                                    <p:animEffect transition="in" filter="checkerboard(across)">
                                      <p:cBhvr>
                                        <p:cTn id="16" dur="500"/>
                                        <p:tgtEl>
                                          <p:spTgt spid="49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6"/>
          <p:cNvSpPr/>
          <p:nvPr/>
        </p:nvSpPr>
        <p:spPr>
          <a:xfrm>
            <a:off x="4211638" y="2924175"/>
            <a:ext cx="719137" cy="1871663"/>
          </a:xfrm>
          <a:prstGeom prst="rect">
            <a:avLst/>
          </a:prstGeom>
          <a:solidFill>
            <a:srgbClr val="99C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0051" name="AutoShape 7"/>
          <p:cNvSpPr/>
          <p:nvPr/>
        </p:nvSpPr>
        <p:spPr>
          <a:xfrm>
            <a:off x="2122488" y="3211513"/>
            <a:ext cx="2089150" cy="288925"/>
          </a:xfrm>
          <a:prstGeom prst="rightArrow">
            <a:avLst>
              <a:gd name="adj1" fmla="val 49453"/>
              <a:gd name="adj2" fmla="val 85664"/>
            </a:avLst>
          </a:prstGeom>
          <a:solidFill>
            <a:srgbClr val="00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0052" name="Rectangle 8"/>
          <p:cNvSpPr/>
          <p:nvPr/>
        </p:nvSpPr>
        <p:spPr>
          <a:xfrm>
            <a:off x="2914650" y="3787775"/>
            <a:ext cx="576263" cy="863600"/>
          </a:xfrm>
          <a:prstGeom prst="rect">
            <a:avLst/>
          </a:prstGeom>
          <a:solidFill>
            <a:srgbClr val="99C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1600" dirty="0">
                <a:solidFill>
                  <a:schemeClr val="tx1"/>
                </a:solidFill>
                <a:latin typeface="Times New Roman" panose="02020603050405020304" pitchFamily="18" charset="0"/>
                <a:ea typeface="楷体_GB2312"/>
              </a:rPr>
              <a:t>译</a:t>
            </a:r>
            <a:endParaRPr lang="zh-CN" altLang="en-US" sz="16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zh-CN" altLang="en-US" sz="1600" dirty="0">
                <a:solidFill>
                  <a:schemeClr val="tx1"/>
                </a:solidFill>
                <a:latin typeface="Times New Roman" panose="02020603050405020304" pitchFamily="18" charset="0"/>
                <a:ea typeface="楷体_GB2312"/>
              </a:rPr>
              <a:t>码</a:t>
            </a:r>
            <a:endParaRPr lang="zh-CN" altLang="en-US" sz="16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zh-CN" altLang="en-US" sz="1600" dirty="0">
                <a:solidFill>
                  <a:schemeClr val="tx1"/>
                </a:solidFill>
                <a:latin typeface="Times New Roman" panose="02020603050405020304" pitchFamily="18" charset="0"/>
                <a:ea typeface="楷体_GB2312"/>
              </a:rPr>
              <a:t>器</a:t>
            </a:r>
            <a:endParaRPr lang="zh-CN" altLang="en-US" sz="1600" dirty="0">
              <a:solidFill>
                <a:schemeClr val="tx1"/>
              </a:solidFill>
              <a:latin typeface="Times New Roman" panose="02020603050405020304" pitchFamily="18" charset="0"/>
              <a:ea typeface="楷体_GB2312"/>
            </a:endParaRPr>
          </a:p>
        </p:txBody>
      </p:sp>
      <p:sp>
        <p:nvSpPr>
          <p:cNvPr id="130053" name="AutoShape 9"/>
          <p:cNvSpPr/>
          <p:nvPr/>
        </p:nvSpPr>
        <p:spPr>
          <a:xfrm>
            <a:off x="2135188" y="3859213"/>
            <a:ext cx="766762" cy="288925"/>
          </a:xfrm>
          <a:prstGeom prst="rightArrow">
            <a:avLst>
              <a:gd name="adj1" fmla="val 49453"/>
              <a:gd name="adj2" fmla="val 31440"/>
            </a:avLst>
          </a:prstGeom>
          <a:solidFill>
            <a:srgbClr val="00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0054" name="Line 10"/>
          <p:cNvSpPr/>
          <p:nvPr/>
        </p:nvSpPr>
        <p:spPr>
          <a:xfrm>
            <a:off x="2122488" y="4508500"/>
            <a:ext cx="792162" cy="0"/>
          </a:xfrm>
          <a:prstGeom prst="line">
            <a:avLst/>
          </a:prstGeom>
          <a:ln w="9525" cap="flat" cmpd="sng">
            <a:solidFill>
              <a:schemeClr val="tx1"/>
            </a:solidFill>
            <a:prstDash val="solid"/>
            <a:bevel/>
            <a:headEnd type="none" w="med" len="med"/>
            <a:tailEnd type="triangle" w="med" len="med"/>
          </a:ln>
        </p:spPr>
      </p:sp>
      <p:sp>
        <p:nvSpPr>
          <p:cNvPr id="130055" name="Line 11"/>
          <p:cNvSpPr/>
          <p:nvPr/>
        </p:nvSpPr>
        <p:spPr>
          <a:xfrm>
            <a:off x="3490913" y="4219575"/>
            <a:ext cx="720725" cy="0"/>
          </a:xfrm>
          <a:prstGeom prst="line">
            <a:avLst/>
          </a:prstGeom>
          <a:ln w="9525" cap="flat" cmpd="sng">
            <a:solidFill>
              <a:schemeClr val="tx1"/>
            </a:solidFill>
            <a:prstDash val="solid"/>
            <a:bevel/>
            <a:headEnd type="none" w="med" len="med"/>
            <a:tailEnd type="triangle" w="med" len="med"/>
          </a:ln>
        </p:spPr>
      </p:sp>
      <p:sp>
        <p:nvSpPr>
          <p:cNvPr id="130056" name="Rectangle 12"/>
          <p:cNvSpPr/>
          <p:nvPr/>
        </p:nvSpPr>
        <p:spPr>
          <a:xfrm>
            <a:off x="5364163" y="3067050"/>
            <a:ext cx="360362" cy="360363"/>
          </a:xfrm>
          <a:prstGeom prst="rect">
            <a:avLst/>
          </a:prstGeom>
          <a:solidFill>
            <a:srgbClr val="99CCFF"/>
          </a:solidFill>
          <a:ln w="9525" cap="flat" cmpd="sng">
            <a:solidFill>
              <a:schemeClr val="tx1"/>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1</a:t>
            </a:r>
            <a:endParaRPr lang="en-US" altLang="zh-CN" sz="1800" b="0" dirty="0">
              <a:solidFill>
                <a:schemeClr val="tx1"/>
              </a:solidFill>
              <a:latin typeface="Times New Roman" panose="02020603050405020304" pitchFamily="18" charset="0"/>
              <a:ea typeface="楷体_GB2312"/>
            </a:endParaRPr>
          </a:p>
        </p:txBody>
      </p:sp>
      <p:sp>
        <p:nvSpPr>
          <p:cNvPr id="130057" name="Line 13"/>
          <p:cNvSpPr/>
          <p:nvPr/>
        </p:nvSpPr>
        <p:spPr>
          <a:xfrm>
            <a:off x="4930775" y="3257550"/>
            <a:ext cx="433388" cy="0"/>
          </a:xfrm>
          <a:prstGeom prst="line">
            <a:avLst/>
          </a:prstGeom>
          <a:ln w="9525" cap="flat" cmpd="sng">
            <a:solidFill>
              <a:schemeClr val="tx1"/>
            </a:solidFill>
            <a:prstDash val="solid"/>
            <a:bevel/>
            <a:headEnd type="none" w="med" len="med"/>
            <a:tailEnd type="none" w="med" len="med"/>
          </a:ln>
        </p:spPr>
      </p:sp>
      <p:sp>
        <p:nvSpPr>
          <p:cNvPr id="130058" name="Line 14"/>
          <p:cNvSpPr/>
          <p:nvPr/>
        </p:nvSpPr>
        <p:spPr>
          <a:xfrm>
            <a:off x="6083300" y="3151188"/>
            <a:ext cx="0" cy="215900"/>
          </a:xfrm>
          <a:prstGeom prst="line">
            <a:avLst/>
          </a:prstGeom>
          <a:ln w="9525" cap="flat" cmpd="sng">
            <a:solidFill>
              <a:schemeClr val="tx1"/>
            </a:solidFill>
            <a:prstDash val="solid"/>
            <a:bevel/>
            <a:headEnd type="none" w="med" len="med"/>
            <a:tailEnd type="none" w="med" len="med"/>
          </a:ln>
        </p:spPr>
      </p:sp>
      <p:sp>
        <p:nvSpPr>
          <p:cNvPr id="130059" name="AutoShape 15"/>
          <p:cNvSpPr/>
          <p:nvPr/>
        </p:nvSpPr>
        <p:spPr>
          <a:xfrm rot="-5400000">
            <a:off x="6083300" y="3151188"/>
            <a:ext cx="215900" cy="215900"/>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0060" name="Oval 16"/>
          <p:cNvSpPr/>
          <p:nvPr/>
        </p:nvSpPr>
        <p:spPr>
          <a:xfrm>
            <a:off x="5722938" y="3224213"/>
            <a:ext cx="71437" cy="71437"/>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0061" name="Line 17"/>
          <p:cNvSpPr/>
          <p:nvPr/>
        </p:nvSpPr>
        <p:spPr>
          <a:xfrm>
            <a:off x="5795963" y="3257550"/>
            <a:ext cx="287337" cy="0"/>
          </a:xfrm>
          <a:prstGeom prst="line">
            <a:avLst/>
          </a:prstGeom>
          <a:ln w="9525" cap="flat" cmpd="sng">
            <a:solidFill>
              <a:schemeClr val="tx1"/>
            </a:solidFill>
            <a:prstDash val="solid"/>
            <a:bevel/>
            <a:headEnd type="none" w="med" len="med"/>
            <a:tailEnd type="none" w="med" len="med"/>
          </a:ln>
        </p:spPr>
      </p:sp>
      <p:sp>
        <p:nvSpPr>
          <p:cNvPr id="130062" name="Line 18"/>
          <p:cNvSpPr/>
          <p:nvPr/>
        </p:nvSpPr>
        <p:spPr>
          <a:xfrm>
            <a:off x="7091363" y="2779713"/>
            <a:ext cx="0" cy="1695450"/>
          </a:xfrm>
          <a:prstGeom prst="line">
            <a:avLst/>
          </a:prstGeom>
          <a:ln w="9525" cap="flat" cmpd="sng">
            <a:solidFill>
              <a:schemeClr val="tx1"/>
            </a:solidFill>
            <a:prstDash val="solid"/>
            <a:bevel/>
            <a:headEnd type="none" w="med" len="med"/>
            <a:tailEnd type="none" w="med" len="med"/>
          </a:ln>
        </p:spPr>
      </p:sp>
      <p:sp>
        <p:nvSpPr>
          <p:cNvPr id="130063" name="Rectangle 19"/>
          <p:cNvSpPr/>
          <p:nvPr/>
        </p:nvSpPr>
        <p:spPr>
          <a:xfrm>
            <a:off x="5364163" y="4292600"/>
            <a:ext cx="360362" cy="360363"/>
          </a:xfrm>
          <a:prstGeom prst="rect">
            <a:avLst/>
          </a:prstGeom>
          <a:solidFill>
            <a:srgbClr val="99CCFF"/>
          </a:solidFill>
          <a:ln w="9525" cap="flat" cmpd="sng">
            <a:solidFill>
              <a:schemeClr val="tx1"/>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1</a:t>
            </a:r>
            <a:endParaRPr lang="en-US" altLang="zh-CN" sz="1800" b="0" dirty="0">
              <a:solidFill>
                <a:schemeClr val="tx1"/>
              </a:solidFill>
              <a:latin typeface="Times New Roman" panose="02020603050405020304" pitchFamily="18" charset="0"/>
              <a:ea typeface="楷体_GB2312"/>
            </a:endParaRPr>
          </a:p>
        </p:txBody>
      </p:sp>
      <p:sp>
        <p:nvSpPr>
          <p:cNvPr id="130064" name="Line 20"/>
          <p:cNvSpPr/>
          <p:nvPr/>
        </p:nvSpPr>
        <p:spPr>
          <a:xfrm>
            <a:off x="4930775" y="4483100"/>
            <a:ext cx="433388" cy="0"/>
          </a:xfrm>
          <a:prstGeom prst="line">
            <a:avLst/>
          </a:prstGeom>
          <a:ln w="9525" cap="flat" cmpd="sng">
            <a:solidFill>
              <a:schemeClr val="tx1"/>
            </a:solidFill>
            <a:prstDash val="solid"/>
            <a:bevel/>
            <a:headEnd type="none" w="med" len="med"/>
            <a:tailEnd type="none" w="med" len="med"/>
          </a:ln>
        </p:spPr>
      </p:sp>
      <p:sp>
        <p:nvSpPr>
          <p:cNvPr id="130065" name="Line 21"/>
          <p:cNvSpPr/>
          <p:nvPr/>
        </p:nvSpPr>
        <p:spPr>
          <a:xfrm>
            <a:off x="6083300" y="4376738"/>
            <a:ext cx="0" cy="215900"/>
          </a:xfrm>
          <a:prstGeom prst="line">
            <a:avLst/>
          </a:prstGeom>
          <a:ln w="9525" cap="flat" cmpd="sng">
            <a:solidFill>
              <a:schemeClr val="tx1"/>
            </a:solidFill>
            <a:prstDash val="solid"/>
            <a:bevel/>
            <a:headEnd type="none" w="med" len="med"/>
            <a:tailEnd type="none" w="med" len="med"/>
          </a:ln>
        </p:spPr>
      </p:sp>
      <p:sp>
        <p:nvSpPr>
          <p:cNvPr id="130066" name="AutoShape 22"/>
          <p:cNvSpPr/>
          <p:nvPr/>
        </p:nvSpPr>
        <p:spPr>
          <a:xfrm rot="-5400000">
            <a:off x="6083300" y="4376738"/>
            <a:ext cx="215900" cy="215900"/>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0067" name="Oval 23"/>
          <p:cNvSpPr/>
          <p:nvPr/>
        </p:nvSpPr>
        <p:spPr>
          <a:xfrm>
            <a:off x="5722938" y="4449763"/>
            <a:ext cx="71437" cy="71437"/>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0068" name="Line 24"/>
          <p:cNvSpPr/>
          <p:nvPr/>
        </p:nvSpPr>
        <p:spPr>
          <a:xfrm>
            <a:off x="5795963" y="4483100"/>
            <a:ext cx="287337" cy="0"/>
          </a:xfrm>
          <a:prstGeom prst="line">
            <a:avLst/>
          </a:prstGeom>
          <a:ln w="9525" cap="flat" cmpd="sng">
            <a:solidFill>
              <a:schemeClr val="tx1"/>
            </a:solidFill>
            <a:prstDash val="solid"/>
            <a:bevel/>
            <a:headEnd type="none" w="med" len="med"/>
            <a:tailEnd type="none" w="med" len="med"/>
          </a:ln>
        </p:spPr>
      </p:sp>
      <p:sp>
        <p:nvSpPr>
          <p:cNvPr id="130069" name="Line 25"/>
          <p:cNvSpPr/>
          <p:nvPr/>
        </p:nvSpPr>
        <p:spPr>
          <a:xfrm>
            <a:off x="6299200" y="4483100"/>
            <a:ext cx="288925" cy="0"/>
          </a:xfrm>
          <a:prstGeom prst="line">
            <a:avLst/>
          </a:prstGeom>
          <a:ln w="9525" cap="flat" cmpd="sng">
            <a:solidFill>
              <a:schemeClr val="tx1"/>
            </a:solidFill>
            <a:prstDash val="solid"/>
            <a:bevel/>
            <a:headEnd type="none" w="med" len="med"/>
            <a:tailEnd type="none" w="med" len="med"/>
          </a:ln>
        </p:spPr>
      </p:sp>
      <p:sp>
        <p:nvSpPr>
          <p:cNvPr id="130070" name="Rectangle 26"/>
          <p:cNvSpPr/>
          <p:nvPr/>
        </p:nvSpPr>
        <p:spPr>
          <a:xfrm>
            <a:off x="6588125" y="4410075"/>
            <a:ext cx="215900" cy="144463"/>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0071" name="Rectangle 27"/>
          <p:cNvSpPr/>
          <p:nvPr/>
        </p:nvSpPr>
        <p:spPr>
          <a:xfrm>
            <a:off x="6588125" y="3198813"/>
            <a:ext cx="215900" cy="14446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0072" name="Line 28"/>
          <p:cNvSpPr/>
          <p:nvPr/>
        </p:nvSpPr>
        <p:spPr>
          <a:xfrm>
            <a:off x="6299200" y="3259138"/>
            <a:ext cx="288925" cy="0"/>
          </a:xfrm>
          <a:prstGeom prst="line">
            <a:avLst/>
          </a:prstGeom>
          <a:ln w="9525" cap="flat" cmpd="sng">
            <a:solidFill>
              <a:schemeClr val="tx1"/>
            </a:solidFill>
            <a:prstDash val="solid"/>
            <a:bevel/>
            <a:headEnd type="none" w="med" len="med"/>
            <a:tailEnd type="none" w="med" len="med"/>
          </a:ln>
        </p:spPr>
      </p:sp>
      <p:sp>
        <p:nvSpPr>
          <p:cNvPr id="130073" name="Line 29"/>
          <p:cNvSpPr/>
          <p:nvPr/>
        </p:nvSpPr>
        <p:spPr>
          <a:xfrm>
            <a:off x="6804025" y="4483100"/>
            <a:ext cx="288925" cy="0"/>
          </a:xfrm>
          <a:prstGeom prst="line">
            <a:avLst/>
          </a:prstGeom>
          <a:ln w="9525" cap="flat" cmpd="sng">
            <a:solidFill>
              <a:schemeClr val="tx1"/>
            </a:solidFill>
            <a:prstDash val="solid"/>
            <a:bevel/>
            <a:headEnd type="none" w="med" len="med"/>
            <a:tailEnd type="none" w="med" len="med"/>
          </a:ln>
        </p:spPr>
      </p:sp>
      <p:sp>
        <p:nvSpPr>
          <p:cNvPr id="130074" name="Line 30"/>
          <p:cNvSpPr/>
          <p:nvPr/>
        </p:nvSpPr>
        <p:spPr>
          <a:xfrm>
            <a:off x="6804025" y="3259138"/>
            <a:ext cx="288925" cy="0"/>
          </a:xfrm>
          <a:prstGeom prst="line">
            <a:avLst/>
          </a:prstGeom>
          <a:ln w="9525" cap="flat" cmpd="sng">
            <a:solidFill>
              <a:schemeClr val="tx1"/>
            </a:solidFill>
            <a:prstDash val="solid"/>
            <a:bevel/>
            <a:headEnd type="none" w="med" len="med"/>
            <a:tailEnd type="none" w="med" len="med"/>
          </a:ln>
        </p:spPr>
      </p:sp>
      <p:sp>
        <p:nvSpPr>
          <p:cNvPr id="130075" name="Oval 31"/>
          <p:cNvSpPr/>
          <p:nvPr/>
        </p:nvSpPr>
        <p:spPr>
          <a:xfrm>
            <a:off x="7045325" y="2708275"/>
            <a:ext cx="71438" cy="71438"/>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0076" name="Text Box 32"/>
          <p:cNvSpPr txBox="1"/>
          <p:nvPr/>
        </p:nvSpPr>
        <p:spPr>
          <a:xfrm>
            <a:off x="5467350" y="3559175"/>
            <a:ext cx="153988" cy="4143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50000"/>
              </a:lnSpc>
              <a:spcBef>
                <a:spcPct val="0"/>
              </a:spcBef>
              <a:spcAft>
                <a:spcPct val="0"/>
              </a:spcAft>
              <a:buClrTx/>
              <a:buSzTx/>
              <a:buNone/>
            </a:pPr>
            <a:r>
              <a:rPr lang="en-US" altLang="zh-CN" sz="1800" dirty="0">
                <a:solidFill>
                  <a:schemeClr val="tx1"/>
                </a:solidFill>
                <a:latin typeface="Times New Roman" panose="02020603050405020304" pitchFamily="18" charset="0"/>
                <a:ea typeface="楷体_GB2312"/>
              </a:rPr>
              <a:t>.</a:t>
            </a:r>
            <a:endParaRPr lang="en-US" altLang="zh-CN" sz="1800" dirty="0">
              <a:solidFill>
                <a:schemeClr val="tx1"/>
              </a:solidFill>
              <a:latin typeface="Times New Roman" panose="02020603050405020304" pitchFamily="18" charset="0"/>
              <a:ea typeface="楷体_GB2312"/>
            </a:endParaRPr>
          </a:p>
          <a:p>
            <a:pPr marL="0" lvl="0" indent="0" algn="ctr">
              <a:lnSpc>
                <a:spcPct val="50000"/>
              </a:lnSpc>
              <a:spcBef>
                <a:spcPct val="0"/>
              </a:spcBef>
              <a:spcAft>
                <a:spcPct val="0"/>
              </a:spcAft>
              <a:buClrTx/>
              <a:buSzTx/>
              <a:buNone/>
            </a:pPr>
            <a:r>
              <a:rPr lang="en-US" altLang="zh-CN" sz="1800" dirty="0">
                <a:solidFill>
                  <a:schemeClr val="tx1"/>
                </a:solidFill>
                <a:latin typeface="Times New Roman" panose="02020603050405020304" pitchFamily="18" charset="0"/>
                <a:ea typeface="楷体_GB2312"/>
              </a:rPr>
              <a:t>.</a:t>
            </a:r>
            <a:endParaRPr lang="en-US" altLang="zh-CN" sz="1800" dirty="0">
              <a:solidFill>
                <a:schemeClr val="tx1"/>
              </a:solidFill>
              <a:latin typeface="Times New Roman" panose="02020603050405020304" pitchFamily="18" charset="0"/>
              <a:ea typeface="楷体_GB2312"/>
            </a:endParaRPr>
          </a:p>
          <a:p>
            <a:pPr marL="0" lvl="0" indent="0" algn="ctr">
              <a:lnSpc>
                <a:spcPct val="50000"/>
              </a:lnSpc>
              <a:spcBef>
                <a:spcPct val="0"/>
              </a:spcBef>
              <a:spcAft>
                <a:spcPct val="0"/>
              </a:spcAft>
              <a:buClrTx/>
              <a:buSzTx/>
              <a:buNone/>
            </a:pPr>
            <a:r>
              <a:rPr lang="en-US" altLang="zh-CN" sz="1800" dirty="0">
                <a:solidFill>
                  <a:schemeClr val="tx1"/>
                </a:solidFill>
                <a:latin typeface="Times New Roman" panose="02020603050405020304" pitchFamily="18" charset="0"/>
                <a:ea typeface="楷体_GB2312"/>
              </a:rPr>
              <a:t>.</a:t>
            </a:r>
            <a:endParaRPr lang="en-US" altLang="zh-CN" sz="1800" dirty="0">
              <a:solidFill>
                <a:schemeClr val="tx1"/>
              </a:solidFill>
              <a:latin typeface="Times New Roman" panose="02020603050405020304" pitchFamily="18" charset="0"/>
              <a:ea typeface="楷体_GB2312"/>
            </a:endParaRPr>
          </a:p>
        </p:txBody>
      </p:sp>
      <p:sp>
        <p:nvSpPr>
          <p:cNvPr id="130077" name="Text Box 33"/>
          <p:cNvSpPr txBox="1"/>
          <p:nvPr/>
        </p:nvSpPr>
        <p:spPr>
          <a:xfrm>
            <a:off x="6108700" y="3567113"/>
            <a:ext cx="153988" cy="4143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50000"/>
              </a:lnSpc>
              <a:spcBef>
                <a:spcPct val="0"/>
              </a:spcBef>
              <a:spcAft>
                <a:spcPct val="0"/>
              </a:spcAft>
              <a:buClrTx/>
              <a:buSzTx/>
              <a:buNone/>
            </a:pPr>
            <a:r>
              <a:rPr lang="en-US" altLang="zh-CN" sz="1800" dirty="0">
                <a:solidFill>
                  <a:schemeClr val="tx1"/>
                </a:solidFill>
                <a:latin typeface="Times New Roman" panose="02020603050405020304" pitchFamily="18" charset="0"/>
                <a:ea typeface="楷体_GB2312"/>
              </a:rPr>
              <a:t>.</a:t>
            </a:r>
            <a:endParaRPr lang="en-US" altLang="zh-CN" sz="1800" dirty="0">
              <a:solidFill>
                <a:schemeClr val="tx1"/>
              </a:solidFill>
              <a:latin typeface="Times New Roman" panose="02020603050405020304" pitchFamily="18" charset="0"/>
              <a:ea typeface="楷体_GB2312"/>
            </a:endParaRPr>
          </a:p>
          <a:p>
            <a:pPr marL="0" lvl="0" indent="0" algn="ctr">
              <a:lnSpc>
                <a:spcPct val="50000"/>
              </a:lnSpc>
              <a:spcBef>
                <a:spcPct val="0"/>
              </a:spcBef>
              <a:spcAft>
                <a:spcPct val="0"/>
              </a:spcAft>
              <a:buClrTx/>
              <a:buSzTx/>
              <a:buNone/>
            </a:pPr>
            <a:r>
              <a:rPr lang="en-US" altLang="zh-CN" sz="1800" dirty="0">
                <a:solidFill>
                  <a:schemeClr val="tx1"/>
                </a:solidFill>
                <a:latin typeface="Times New Roman" panose="02020603050405020304" pitchFamily="18" charset="0"/>
                <a:ea typeface="楷体_GB2312"/>
              </a:rPr>
              <a:t>.</a:t>
            </a:r>
            <a:endParaRPr lang="en-US" altLang="zh-CN" sz="1800" dirty="0">
              <a:solidFill>
                <a:schemeClr val="tx1"/>
              </a:solidFill>
              <a:latin typeface="Times New Roman" panose="02020603050405020304" pitchFamily="18" charset="0"/>
              <a:ea typeface="楷体_GB2312"/>
            </a:endParaRPr>
          </a:p>
          <a:p>
            <a:pPr marL="0" lvl="0" indent="0" algn="ctr">
              <a:lnSpc>
                <a:spcPct val="50000"/>
              </a:lnSpc>
              <a:spcBef>
                <a:spcPct val="0"/>
              </a:spcBef>
              <a:spcAft>
                <a:spcPct val="0"/>
              </a:spcAft>
              <a:buClrTx/>
              <a:buSzTx/>
              <a:buNone/>
            </a:pPr>
            <a:r>
              <a:rPr lang="en-US" altLang="zh-CN" sz="1800" dirty="0">
                <a:solidFill>
                  <a:schemeClr val="tx1"/>
                </a:solidFill>
                <a:latin typeface="Times New Roman" panose="02020603050405020304" pitchFamily="18" charset="0"/>
                <a:ea typeface="楷体_GB2312"/>
              </a:rPr>
              <a:t>.</a:t>
            </a:r>
            <a:endParaRPr lang="en-US" altLang="zh-CN" sz="1800" dirty="0">
              <a:solidFill>
                <a:schemeClr val="tx1"/>
              </a:solidFill>
              <a:latin typeface="Times New Roman" panose="02020603050405020304" pitchFamily="18" charset="0"/>
              <a:ea typeface="楷体_GB2312"/>
            </a:endParaRPr>
          </a:p>
        </p:txBody>
      </p:sp>
      <p:sp>
        <p:nvSpPr>
          <p:cNvPr id="130078" name="Text Box 34"/>
          <p:cNvSpPr txBox="1"/>
          <p:nvPr/>
        </p:nvSpPr>
        <p:spPr>
          <a:xfrm>
            <a:off x="6588125" y="3567113"/>
            <a:ext cx="153988" cy="4143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50000"/>
              </a:lnSpc>
              <a:spcBef>
                <a:spcPct val="0"/>
              </a:spcBef>
              <a:spcAft>
                <a:spcPct val="0"/>
              </a:spcAft>
              <a:buClrTx/>
              <a:buSzTx/>
              <a:buNone/>
            </a:pPr>
            <a:r>
              <a:rPr lang="en-US" altLang="zh-CN" sz="1800" dirty="0">
                <a:solidFill>
                  <a:schemeClr val="tx1"/>
                </a:solidFill>
                <a:latin typeface="Times New Roman" panose="02020603050405020304" pitchFamily="18" charset="0"/>
                <a:ea typeface="楷体_GB2312"/>
              </a:rPr>
              <a:t>.</a:t>
            </a:r>
            <a:endParaRPr lang="en-US" altLang="zh-CN" sz="1800" dirty="0">
              <a:solidFill>
                <a:schemeClr val="tx1"/>
              </a:solidFill>
              <a:latin typeface="Times New Roman" panose="02020603050405020304" pitchFamily="18" charset="0"/>
              <a:ea typeface="楷体_GB2312"/>
            </a:endParaRPr>
          </a:p>
          <a:p>
            <a:pPr marL="0" lvl="0" indent="0" algn="ctr">
              <a:lnSpc>
                <a:spcPct val="50000"/>
              </a:lnSpc>
              <a:spcBef>
                <a:spcPct val="0"/>
              </a:spcBef>
              <a:spcAft>
                <a:spcPct val="0"/>
              </a:spcAft>
              <a:buClrTx/>
              <a:buSzTx/>
              <a:buNone/>
            </a:pPr>
            <a:r>
              <a:rPr lang="en-US" altLang="zh-CN" sz="1800" dirty="0">
                <a:solidFill>
                  <a:schemeClr val="tx1"/>
                </a:solidFill>
                <a:latin typeface="Times New Roman" panose="02020603050405020304" pitchFamily="18" charset="0"/>
                <a:ea typeface="楷体_GB2312"/>
              </a:rPr>
              <a:t>.</a:t>
            </a:r>
            <a:endParaRPr lang="en-US" altLang="zh-CN" sz="1800" dirty="0">
              <a:solidFill>
                <a:schemeClr val="tx1"/>
              </a:solidFill>
              <a:latin typeface="Times New Roman" panose="02020603050405020304" pitchFamily="18" charset="0"/>
              <a:ea typeface="楷体_GB2312"/>
            </a:endParaRPr>
          </a:p>
          <a:p>
            <a:pPr marL="0" lvl="0" indent="0" algn="ctr">
              <a:lnSpc>
                <a:spcPct val="50000"/>
              </a:lnSpc>
              <a:spcBef>
                <a:spcPct val="0"/>
              </a:spcBef>
              <a:spcAft>
                <a:spcPct val="0"/>
              </a:spcAft>
              <a:buClrTx/>
              <a:buSzTx/>
              <a:buNone/>
            </a:pPr>
            <a:r>
              <a:rPr lang="en-US" altLang="zh-CN" sz="1800" dirty="0">
                <a:solidFill>
                  <a:schemeClr val="tx1"/>
                </a:solidFill>
                <a:latin typeface="Times New Roman" panose="02020603050405020304" pitchFamily="18" charset="0"/>
                <a:ea typeface="楷体_GB2312"/>
              </a:rPr>
              <a:t>.</a:t>
            </a:r>
            <a:endParaRPr lang="en-US" altLang="zh-CN" sz="1800" dirty="0">
              <a:solidFill>
                <a:schemeClr val="tx1"/>
              </a:solidFill>
              <a:latin typeface="Times New Roman" panose="02020603050405020304" pitchFamily="18" charset="0"/>
              <a:ea typeface="楷体_GB2312"/>
            </a:endParaRPr>
          </a:p>
        </p:txBody>
      </p:sp>
      <p:sp>
        <p:nvSpPr>
          <p:cNvPr id="130079" name="Text Box 35"/>
          <p:cNvSpPr txBox="1"/>
          <p:nvPr/>
        </p:nvSpPr>
        <p:spPr>
          <a:xfrm>
            <a:off x="6884988" y="2432050"/>
            <a:ext cx="431800"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800" b="0" dirty="0">
                <a:solidFill>
                  <a:schemeClr val="tx1"/>
                </a:solidFill>
                <a:latin typeface="Times New Roman" panose="02020603050405020304" pitchFamily="18" charset="0"/>
                <a:ea typeface="楷体_GB2312"/>
              </a:rPr>
              <a:t>+5V</a:t>
            </a:r>
            <a:endParaRPr lang="en-US" altLang="zh-CN" sz="1800" b="0" dirty="0">
              <a:solidFill>
                <a:schemeClr val="tx1"/>
              </a:solidFill>
              <a:latin typeface="Times New Roman" panose="02020603050405020304" pitchFamily="18" charset="0"/>
              <a:ea typeface="楷体_GB2312"/>
            </a:endParaRPr>
          </a:p>
        </p:txBody>
      </p:sp>
      <p:sp>
        <p:nvSpPr>
          <p:cNvPr id="130080" name="Text Box 36"/>
          <p:cNvSpPr txBox="1"/>
          <p:nvPr/>
        </p:nvSpPr>
        <p:spPr>
          <a:xfrm>
            <a:off x="6586538" y="2995613"/>
            <a:ext cx="215900" cy="21272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1400" dirty="0">
                <a:solidFill>
                  <a:schemeClr val="tx1"/>
                </a:solidFill>
                <a:latin typeface="Times New Roman" panose="02020603050405020304" pitchFamily="18" charset="0"/>
                <a:ea typeface="楷体_GB2312"/>
              </a:rPr>
              <a:t>R</a:t>
            </a:r>
            <a:endParaRPr lang="en-US" altLang="zh-CN" sz="1400" dirty="0">
              <a:solidFill>
                <a:schemeClr val="tx1"/>
              </a:solidFill>
              <a:latin typeface="Times New Roman" panose="02020603050405020304" pitchFamily="18" charset="0"/>
              <a:ea typeface="楷体_GB2312"/>
            </a:endParaRPr>
          </a:p>
        </p:txBody>
      </p:sp>
      <p:sp>
        <p:nvSpPr>
          <p:cNvPr id="130081" name="Text Box 37"/>
          <p:cNvSpPr txBox="1"/>
          <p:nvPr/>
        </p:nvSpPr>
        <p:spPr>
          <a:xfrm>
            <a:off x="4198938" y="3109913"/>
            <a:ext cx="334962" cy="50958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80000"/>
              </a:lnSpc>
              <a:spcBef>
                <a:spcPct val="0"/>
              </a:spcBef>
              <a:spcAft>
                <a:spcPct val="0"/>
              </a:spcAft>
              <a:buClrTx/>
              <a:buSzTx/>
              <a:buNone/>
            </a:pPr>
            <a:r>
              <a:rPr lang="en-US" altLang="zh-CN" sz="1400" b="0" dirty="0">
                <a:solidFill>
                  <a:schemeClr val="tx1"/>
                </a:solidFill>
                <a:latin typeface="Times New Roman" panose="02020603050405020304" pitchFamily="18" charset="0"/>
                <a:ea typeface="楷体_GB2312"/>
              </a:rPr>
              <a:t>D</a:t>
            </a:r>
            <a:r>
              <a:rPr lang="en-US" altLang="zh-CN" sz="1000" b="0" dirty="0">
                <a:solidFill>
                  <a:schemeClr val="tx1"/>
                </a:solidFill>
                <a:latin typeface="Times New Roman" panose="02020603050405020304" pitchFamily="18" charset="0"/>
                <a:ea typeface="楷体_GB2312"/>
              </a:rPr>
              <a:t>0</a:t>
            </a:r>
            <a:endParaRPr lang="en-US" altLang="zh-CN" sz="1000" b="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None/>
            </a:pPr>
            <a:r>
              <a:rPr lang="zh-CN" altLang="en-US" sz="1400" b="0" dirty="0">
                <a:solidFill>
                  <a:schemeClr val="tx1"/>
                </a:solidFill>
                <a:latin typeface="Times New Roman" panose="02020603050405020304" pitchFamily="18" charset="0"/>
                <a:ea typeface="楷体_GB2312"/>
              </a:rPr>
              <a:t>｜</a:t>
            </a:r>
            <a:endParaRPr lang="zh-CN" altLang="en-US" sz="1400" b="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None/>
            </a:pPr>
            <a:r>
              <a:rPr lang="en-US" altLang="zh-CN" sz="1400" b="0" dirty="0">
                <a:solidFill>
                  <a:schemeClr val="tx1"/>
                </a:solidFill>
                <a:latin typeface="Times New Roman" panose="02020603050405020304" pitchFamily="18" charset="0"/>
                <a:ea typeface="楷体_GB2312"/>
              </a:rPr>
              <a:t>D</a:t>
            </a:r>
            <a:r>
              <a:rPr lang="en-US" altLang="zh-CN" sz="1000" b="0" dirty="0">
                <a:solidFill>
                  <a:schemeClr val="tx1"/>
                </a:solidFill>
                <a:latin typeface="Times New Roman" panose="02020603050405020304" pitchFamily="18" charset="0"/>
                <a:ea typeface="楷体_GB2312"/>
              </a:rPr>
              <a:t>7</a:t>
            </a:r>
            <a:endParaRPr lang="en-US" altLang="zh-CN" sz="1000" b="0" dirty="0">
              <a:solidFill>
                <a:schemeClr val="tx1"/>
              </a:solidFill>
              <a:latin typeface="Times New Roman" panose="02020603050405020304" pitchFamily="18" charset="0"/>
              <a:ea typeface="楷体_GB2312"/>
            </a:endParaRPr>
          </a:p>
        </p:txBody>
      </p:sp>
      <p:sp>
        <p:nvSpPr>
          <p:cNvPr id="130082" name="Text Box 38"/>
          <p:cNvSpPr txBox="1"/>
          <p:nvPr/>
        </p:nvSpPr>
        <p:spPr>
          <a:xfrm>
            <a:off x="4270375" y="4102100"/>
            <a:ext cx="288925" cy="21272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400" b="0" dirty="0">
                <a:solidFill>
                  <a:schemeClr val="tx1"/>
                </a:solidFill>
                <a:latin typeface="Times New Roman" panose="02020603050405020304" pitchFamily="18" charset="0"/>
                <a:ea typeface="楷体_GB2312"/>
              </a:rPr>
              <a:t>CP</a:t>
            </a:r>
            <a:endParaRPr lang="en-US" altLang="zh-CN" sz="800" b="0" dirty="0">
              <a:solidFill>
                <a:schemeClr val="tx1"/>
              </a:solidFill>
              <a:latin typeface="Times New Roman" panose="02020603050405020304" pitchFamily="18" charset="0"/>
              <a:ea typeface="楷体_GB2312"/>
            </a:endParaRPr>
          </a:p>
        </p:txBody>
      </p:sp>
      <p:sp>
        <p:nvSpPr>
          <p:cNvPr id="130083" name="Text Box 39"/>
          <p:cNvSpPr txBox="1"/>
          <p:nvPr/>
        </p:nvSpPr>
        <p:spPr>
          <a:xfrm>
            <a:off x="4668838" y="3140075"/>
            <a:ext cx="287337" cy="21272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1400" b="0" dirty="0">
                <a:solidFill>
                  <a:schemeClr val="tx1"/>
                </a:solidFill>
                <a:latin typeface="Times New Roman" panose="02020603050405020304" pitchFamily="18" charset="0"/>
                <a:ea typeface="楷体_GB2312"/>
              </a:rPr>
              <a:t>Q</a:t>
            </a:r>
            <a:r>
              <a:rPr lang="en-US" altLang="zh-CN" sz="1000" b="0" dirty="0">
                <a:solidFill>
                  <a:schemeClr val="tx1"/>
                </a:solidFill>
                <a:latin typeface="Times New Roman" panose="02020603050405020304" pitchFamily="18" charset="0"/>
                <a:ea typeface="楷体_GB2312"/>
              </a:rPr>
              <a:t>0</a:t>
            </a:r>
            <a:endParaRPr lang="en-US" altLang="zh-CN" sz="1000" b="0" dirty="0">
              <a:solidFill>
                <a:schemeClr val="tx1"/>
              </a:solidFill>
              <a:latin typeface="Times New Roman" panose="02020603050405020304" pitchFamily="18" charset="0"/>
              <a:ea typeface="楷体_GB2312"/>
            </a:endParaRPr>
          </a:p>
        </p:txBody>
      </p:sp>
      <p:sp>
        <p:nvSpPr>
          <p:cNvPr id="130084" name="Text Box 40"/>
          <p:cNvSpPr txBox="1"/>
          <p:nvPr/>
        </p:nvSpPr>
        <p:spPr>
          <a:xfrm>
            <a:off x="4668838" y="4364038"/>
            <a:ext cx="287337" cy="21272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1400" b="0" dirty="0">
                <a:solidFill>
                  <a:schemeClr val="tx1"/>
                </a:solidFill>
                <a:latin typeface="Times New Roman" panose="02020603050405020304" pitchFamily="18" charset="0"/>
                <a:ea typeface="楷体_GB2312"/>
              </a:rPr>
              <a:t>Q</a:t>
            </a:r>
            <a:r>
              <a:rPr lang="en-US" altLang="zh-CN" sz="1000" b="0" dirty="0">
                <a:solidFill>
                  <a:schemeClr val="tx1"/>
                </a:solidFill>
                <a:latin typeface="Times New Roman" panose="02020603050405020304" pitchFamily="18" charset="0"/>
                <a:ea typeface="楷体_GB2312"/>
              </a:rPr>
              <a:t>7</a:t>
            </a:r>
            <a:endParaRPr lang="en-US" altLang="zh-CN" sz="1000" b="0" dirty="0">
              <a:solidFill>
                <a:schemeClr val="tx1"/>
              </a:solidFill>
              <a:latin typeface="Times New Roman" panose="02020603050405020304" pitchFamily="18" charset="0"/>
              <a:ea typeface="楷体_GB2312"/>
            </a:endParaRPr>
          </a:p>
        </p:txBody>
      </p:sp>
      <p:sp>
        <p:nvSpPr>
          <p:cNvPr id="130085" name="Text Box 41"/>
          <p:cNvSpPr txBox="1"/>
          <p:nvPr/>
        </p:nvSpPr>
        <p:spPr>
          <a:xfrm>
            <a:off x="4714875" y="3554413"/>
            <a:ext cx="153988" cy="4143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50000"/>
              </a:lnSpc>
              <a:spcBef>
                <a:spcPct val="0"/>
              </a:spcBef>
              <a:spcAft>
                <a:spcPct val="0"/>
              </a:spcAft>
              <a:buClrTx/>
              <a:buSzTx/>
              <a:buNone/>
            </a:pPr>
            <a:r>
              <a:rPr lang="en-US" altLang="zh-CN" sz="1800" dirty="0">
                <a:solidFill>
                  <a:schemeClr val="tx1"/>
                </a:solidFill>
                <a:latin typeface="Times New Roman" panose="02020603050405020304" pitchFamily="18" charset="0"/>
                <a:ea typeface="楷体_GB2312"/>
              </a:rPr>
              <a:t>.</a:t>
            </a:r>
            <a:endParaRPr lang="en-US" altLang="zh-CN" sz="1800" dirty="0">
              <a:solidFill>
                <a:schemeClr val="tx1"/>
              </a:solidFill>
              <a:latin typeface="Times New Roman" panose="02020603050405020304" pitchFamily="18" charset="0"/>
              <a:ea typeface="楷体_GB2312"/>
            </a:endParaRPr>
          </a:p>
          <a:p>
            <a:pPr marL="0" lvl="0" indent="0" algn="ctr">
              <a:lnSpc>
                <a:spcPct val="50000"/>
              </a:lnSpc>
              <a:spcBef>
                <a:spcPct val="0"/>
              </a:spcBef>
              <a:spcAft>
                <a:spcPct val="0"/>
              </a:spcAft>
              <a:buClrTx/>
              <a:buSzTx/>
              <a:buNone/>
            </a:pPr>
            <a:r>
              <a:rPr lang="en-US" altLang="zh-CN" sz="1800" dirty="0">
                <a:solidFill>
                  <a:schemeClr val="tx1"/>
                </a:solidFill>
                <a:latin typeface="Times New Roman" panose="02020603050405020304" pitchFamily="18" charset="0"/>
                <a:ea typeface="楷体_GB2312"/>
              </a:rPr>
              <a:t>.</a:t>
            </a:r>
            <a:endParaRPr lang="en-US" altLang="zh-CN" sz="1800" dirty="0">
              <a:solidFill>
                <a:schemeClr val="tx1"/>
              </a:solidFill>
              <a:latin typeface="Times New Roman" panose="02020603050405020304" pitchFamily="18" charset="0"/>
              <a:ea typeface="楷体_GB2312"/>
            </a:endParaRPr>
          </a:p>
          <a:p>
            <a:pPr marL="0" lvl="0" indent="0" algn="ctr">
              <a:lnSpc>
                <a:spcPct val="50000"/>
              </a:lnSpc>
              <a:spcBef>
                <a:spcPct val="0"/>
              </a:spcBef>
              <a:spcAft>
                <a:spcPct val="0"/>
              </a:spcAft>
              <a:buClrTx/>
              <a:buSzTx/>
              <a:buNone/>
            </a:pPr>
            <a:r>
              <a:rPr lang="en-US" altLang="zh-CN" sz="1800" dirty="0">
                <a:solidFill>
                  <a:schemeClr val="tx1"/>
                </a:solidFill>
                <a:latin typeface="Times New Roman" panose="02020603050405020304" pitchFamily="18" charset="0"/>
                <a:ea typeface="楷体_GB2312"/>
              </a:rPr>
              <a:t>.</a:t>
            </a:r>
            <a:endParaRPr lang="en-US" altLang="zh-CN" sz="1800" dirty="0">
              <a:solidFill>
                <a:schemeClr val="tx1"/>
              </a:solidFill>
              <a:latin typeface="Times New Roman" panose="02020603050405020304" pitchFamily="18" charset="0"/>
              <a:ea typeface="楷体_GB2312"/>
            </a:endParaRPr>
          </a:p>
        </p:txBody>
      </p:sp>
      <p:sp>
        <p:nvSpPr>
          <p:cNvPr id="130086" name="Text Box 42"/>
          <p:cNvSpPr txBox="1"/>
          <p:nvPr/>
        </p:nvSpPr>
        <p:spPr>
          <a:xfrm>
            <a:off x="1331913" y="3284538"/>
            <a:ext cx="720725" cy="169862"/>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80000"/>
              </a:lnSpc>
              <a:spcBef>
                <a:spcPct val="0"/>
              </a:spcBef>
              <a:spcAft>
                <a:spcPct val="0"/>
              </a:spcAft>
              <a:buClrTx/>
              <a:buSzTx/>
              <a:buNone/>
            </a:pPr>
            <a:r>
              <a:rPr lang="en-US" altLang="zh-CN" sz="1400" b="0" dirty="0">
                <a:solidFill>
                  <a:schemeClr val="tx1"/>
                </a:solidFill>
                <a:latin typeface="Times New Roman" panose="02020603050405020304" pitchFamily="18" charset="0"/>
                <a:ea typeface="楷体_GB2312"/>
              </a:rPr>
              <a:t>D</a:t>
            </a:r>
            <a:r>
              <a:rPr lang="en-US" altLang="zh-CN" sz="1000" b="0" dirty="0">
                <a:solidFill>
                  <a:schemeClr val="tx1"/>
                </a:solidFill>
                <a:latin typeface="Times New Roman" panose="02020603050405020304" pitchFamily="18" charset="0"/>
                <a:ea typeface="楷体_GB2312"/>
              </a:rPr>
              <a:t>0</a:t>
            </a:r>
            <a:r>
              <a:rPr lang="zh-CN" altLang="en-US" sz="1000" b="0" dirty="0">
                <a:solidFill>
                  <a:schemeClr val="tx1"/>
                </a:solidFill>
                <a:latin typeface="Times New Roman" panose="02020603050405020304" pitchFamily="18" charset="0"/>
                <a:ea typeface="楷体_GB2312"/>
              </a:rPr>
              <a:t>～</a:t>
            </a:r>
            <a:r>
              <a:rPr lang="en-US" altLang="zh-CN" sz="1400" b="0" dirty="0">
                <a:solidFill>
                  <a:schemeClr val="tx1"/>
                </a:solidFill>
                <a:latin typeface="Times New Roman" panose="02020603050405020304" pitchFamily="18" charset="0"/>
                <a:ea typeface="楷体_GB2312"/>
              </a:rPr>
              <a:t>D</a:t>
            </a:r>
            <a:r>
              <a:rPr lang="en-US" altLang="zh-CN" sz="1000" b="0" dirty="0">
                <a:solidFill>
                  <a:schemeClr val="tx1"/>
                </a:solidFill>
                <a:latin typeface="Times New Roman" panose="02020603050405020304" pitchFamily="18" charset="0"/>
                <a:ea typeface="楷体_GB2312"/>
              </a:rPr>
              <a:t>7</a:t>
            </a:r>
            <a:endParaRPr lang="en-US" altLang="zh-CN" sz="1000" b="0" dirty="0">
              <a:solidFill>
                <a:schemeClr val="tx1"/>
              </a:solidFill>
              <a:latin typeface="Times New Roman" panose="02020603050405020304" pitchFamily="18" charset="0"/>
              <a:ea typeface="楷体_GB2312"/>
            </a:endParaRPr>
          </a:p>
        </p:txBody>
      </p:sp>
      <p:sp>
        <p:nvSpPr>
          <p:cNvPr id="130087" name="Text Box 43"/>
          <p:cNvSpPr txBox="1"/>
          <p:nvPr/>
        </p:nvSpPr>
        <p:spPr>
          <a:xfrm>
            <a:off x="1331913" y="3932238"/>
            <a:ext cx="720725" cy="169862"/>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80000"/>
              </a:lnSpc>
              <a:spcBef>
                <a:spcPct val="0"/>
              </a:spcBef>
              <a:spcAft>
                <a:spcPct val="0"/>
              </a:spcAft>
              <a:buClrTx/>
              <a:buSzTx/>
              <a:buNone/>
            </a:pPr>
            <a:r>
              <a:rPr lang="en-US" altLang="zh-CN" sz="1400" b="0" dirty="0">
                <a:solidFill>
                  <a:schemeClr val="tx1"/>
                </a:solidFill>
                <a:latin typeface="Times New Roman" panose="02020603050405020304" pitchFamily="18" charset="0"/>
                <a:ea typeface="楷体_GB2312"/>
              </a:rPr>
              <a:t>A</a:t>
            </a:r>
            <a:r>
              <a:rPr lang="en-US" altLang="zh-CN" sz="1000" b="0" dirty="0">
                <a:solidFill>
                  <a:schemeClr val="tx1"/>
                </a:solidFill>
                <a:latin typeface="Times New Roman" panose="02020603050405020304" pitchFamily="18" charset="0"/>
                <a:ea typeface="楷体_GB2312"/>
              </a:rPr>
              <a:t>0</a:t>
            </a:r>
            <a:r>
              <a:rPr lang="zh-CN" altLang="en-US" sz="1000" b="0" dirty="0">
                <a:solidFill>
                  <a:schemeClr val="tx1"/>
                </a:solidFill>
                <a:latin typeface="Times New Roman" panose="02020603050405020304" pitchFamily="18" charset="0"/>
                <a:ea typeface="楷体_GB2312"/>
              </a:rPr>
              <a:t>～</a:t>
            </a:r>
            <a:r>
              <a:rPr lang="en-US" altLang="zh-CN" sz="1400" b="0" dirty="0">
                <a:solidFill>
                  <a:schemeClr val="tx1"/>
                </a:solidFill>
                <a:latin typeface="Times New Roman" panose="02020603050405020304" pitchFamily="18" charset="0"/>
                <a:ea typeface="楷体_GB2312"/>
              </a:rPr>
              <a:t>A</a:t>
            </a:r>
            <a:r>
              <a:rPr lang="en-US" altLang="zh-CN" sz="1000" b="0" dirty="0">
                <a:solidFill>
                  <a:schemeClr val="tx1"/>
                </a:solidFill>
                <a:latin typeface="Times New Roman" panose="02020603050405020304" pitchFamily="18" charset="0"/>
                <a:ea typeface="楷体_GB2312"/>
              </a:rPr>
              <a:t>15</a:t>
            </a:r>
            <a:endParaRPr lang="en-US" altLang="zh-CN" sz="1000" b="0" dirty="0">
              <a:solidFill>
                <a:schemeClr val="tx1"/>
              </a:solidFill>
              <a:latin typeface="Times New Roman" panose="02020603050405020304" pitchFamily="18" charset="0"/>
              <a:ea typeface="楷体_GB2312"/>
            </a:endParaRPr>
          </a:p>
        </p:txBody>
      </p:sp>
      <p:sp>
        <p:nvSpPr>
          <p:cNvPr id="130088" name="Text Box 44"/>
          <p:cNvSpPr txBox="1"/>
          <p:nvPr/>
        </p:nvSpPr>
        <p:spPr>
          <a:xfrm>
            <a:off x="1331913" y="4435475"/>
            <a:ext cx="720725" cy="169863"/>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80000"/>
              </a:lnSpc>
              <a:spcBef>
                <a:spcPct val="0"/>
              </a:spcBef>
              <a:spcAft>
                <a:spcPct val="0"/>
              </a:spcAft>
              <a:buClrTx/>
              <a:buSzTx/>
              <a:buNone/>
            </a:pPr>
            <a:r>
              <a:rPr lang="en-US" altLang="zh-CN" sz="1400" b="0" dirty="0">
                <a:solidFill>
                  <a:schemeClr val="tx1"/>
                </a:solidFill>
                <a:latin typeface="Times New Roman" panose="02020603050405020304" pitchFamily="18" charset="0"/>
                <a:ea typeface="楷体_GB2312"/>
              </a:rPr>
              <a:t>IOW#</a:t>
            </a:r>
            <a:endParaRPr lang="en-US" altLang="zh-CN" sz="1000" b="0" dirty="0">
              <a:solidFill>
                <a:schemeClr val="tx1"/>
              </a:solidFill>
              <a:latin typeface="Times New Roman" panose="02020603050405020304" pitchFamily="18" charset="0"/>
              <a:ea typeface="楷体_GB2312"/>
            </a:endParaRPr>
          </a:p>
        </p:txBody>
      </p:sp>
      <p:grpSp>
        <p:nvGrpSpPr>
          <p:cNvPr id="130089" name="Group 45"/>
          <p:cNvGrpSpPr/>
          <p:nvPr/>
        </p:nvGrpSpPr>
        <p:grpSpPr>
          <a:xfrm>
            <a:off x="6083300" y="2851150"/>
            <a:ext cx="360363" cy="215900"/>
            <a:chOff x="0" y="0"/>
            <a:chExt cx="227" cy="136"/>
          </a:xfrm>
        </p:grpSpPr>
        <p:sp>
          <p:nvSpPr>
            <p:cNvPr id="130098" name="Line 46"/>
            <p:cNvSpPr/>
            <p:nvPr/>
          </p:nvSpPr>
          <p:spPr>
            <a:xfrm flipV="1">
              <a:off x="0" y="46"/>
              <a:ext cx="91" cy="90"/>
            </a:xfrm>
            <a:prstGeom prst="line">
              <a:avLst/>
            </a:prstGeom>
            <a:ln w="9525" cap="flat" cmpd="sng">
              <a:solidFill>
                <a:srgbClr val="FF0000"/>
              </a:solidFill>
              <a:prstDash val="solid"/>
              <a:bevel/>
              <a:headEnd type="none" w="med" len="med"/>
              <a:tailEnd type="none" w="med" len="med"/>
            </a:ln>
          </p:spPr>
        </p:sp>
        <p:sp>
          <p:nvSpPr>
            <p:cNvPr id="130099" name="Line 47"/>
            <p:cNvSpPr/>
            <p:nvPr/>
          </p:nvSpPr>
          <p:spPr>
            <a:xfrm>
              <a:off x="91" y="46"/>
              <a:ext cx="0" cy="90"/>
            </a:xfrm>
            <a:prstGeom prst="line">
              <a:avLst/>
            </a:prstGeom>
            <a:ln w="9525" cap="flat" cmpd="sng">
              <a:solidFill>
                <a:srgbClr val="FF0000"/>
              </a:solidFill>
              <a:prstDash val="solid"/>
              <a:bevel/>
              <a:headEnd type="none" w="med" len="med"/>
              <a:tailEnd type="none" w="med" len="med"/>
            </a:ln>
          </p:spPr>
        </p:sp>
        <p:sp>
          <p:nvSpPr>
            <p:cNvPr id="130100" name="Line 48"/>
            <p:cNvSpPr/>
            <p:nvPr/>
          </p:nvSpPr>
          <p:spPr>
            <a:xfrm flipV="1">
              <a:off x="91" y="0"/>
              <a:ext cx="136" cy="136"/>
            </a:xfrm>
            <a:prstGeom prst="line">
              <a:avLst/>
            </a:prstGeom>
            <a:ln w="9525" cap="flat" cmpd="sng">
              <a:solidFill>
                <a:srgbClr val="FF0000"/>
              </a:solidFill>
              <a:prstDash val="solid"/>
              <a:bevel/>
              <a:headEnd type="none" w="med" len="med"/>
              <a:tailEnd type="triangle" w="med" len="med"/>
            </a:ln>
          </p:spPr>
        </p:sp>
      </p:grpSp>
      <p:grpSp>
        <p:nvGrpSpPr>
          <p:cNvPr id="130090" name="Group 49"/>
          <p:cNvGrpSpPr/>
          <p:nvPr/>
        </p:nvGrpSpPr>
        <p:grpSpPr>
          <a:xfrm>
            <a:off x="6083300" y="4075113"/>
            <a:ext cx="360363" cy="215900"/>
            <a:chOff x="0" y="0"/>
            <a:chExt cx="227" cy="136"/>
          </a:xfrm>
        </p:grpSpPr>
        <p:sp>
          <p:nvSpPr>
            <p:cNvPr id="130095" name="Line 50"/>
            <p:cNvSpPr/>
            <p:nvPr/>
          </p:nvSpPr>
          <p:spPr>
            <a:xfrm flipV="1">
              <a:off x="0" y="46"/>
              <a:ext cx="91" cy="90"/>
            </a:xfrm>
            <a:prstGeom prst="line">
              <a:avLst/>
            </a:prstGeom>
            <a:ln w="9525" cap="flat" cmpd="sng">
              <a:solidFill>
                <a:srgbClr val="FF0000"/>
              </a:solidFill>
              <a:prstDash val="solid"/>
              <a:bevel/>
              <a:headEnd type="none" w="med" len="med"/>
              <a:tailEnd type="none" w="med" len="med"/>
            </a:ln>
          </p:spPr>
        </p:sp>
        <p:sp>
          <p:nvSpPr>
            <p:cNvPr id="130096" name="Line 51"/>
            <p:cNvSpPr/>
            <p:nvPr/>
          </p:nvSpPr>
          <p:spPr>
            <a:xfrm>
              <a:off x="91" y="46"/>
              <a:ext cx="0" cy="90"/>
            </a:xfrm>
            <a:prstGeom prst="line">
              <a:avLst/>
            </a:prstGeom>
            <a:ln w="9525" cap="flat" cmpd="sng">
              <a:solidFill>
                <a:srgbClr val="FF0000"/>
              </a:solidFill>
              <a:prstDash val="solid"/>
              <a:bevel/>
              <a:headEnd type="none" w="med" len="med"/>
              <a:tailEnd type="none" w="med" len="med"/>
            </a:ln>
          </p:spPr>
        </p:sp>
        <p:sp>
          <p:nvSpPr>
            <p:cNvPr id="130097" name="Line 52"/>
            <p:cNvSpPr/>
            <p:nvPr/>
          </p:nvSpPr>
          <p:spPr>
            <a:xfrm flipV="1">
              <a:off x="91" y="0"/>
              <a:ext cx="136" cy="136"/>
            </a:xfrm>
            <a:prstGeom prst="line">
              <a:avLst/>
            </a:prstGeom>
            <a:ln w="9525" cap="flat" cmpd="sng">
              <a:solidFill>
                <a:srgbClr val="FF0000"/>
              </a:solidFill>
              <a:prstDash val="solid"/>
              <a:bevel/>
              <a:headEnd type="none" w="med" len="med"/>
              <a:tailEnd type="triangle" w="med" len="med"/>
            </a:ln>
          </p:spPr>
        </p:sp>
      </p:grpSp>
      <p:sp>
        <p:nvSpPr>
          <p:cNvPr id="130091" name="Text Box 53"/>
          <p:cNvSpPr txBox="1"/>
          <p:nvPr/>
        </p:nvSpPr>
        <p:spPr>
          <a:xfrm>
            <a:off x="4143375" y="4867275"/>
            <a:ext cx="865188" cy="195263"/>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80000"/>
              </a:lnSpc>
              <a:spcBef>
                <a:spcPct val="0"/>
              </a:spcBef>
              <a:spcAft>
                <a:spcPct val="0"/>
              </a:spcAft>
              <a:buClrTx/>
              <a:buSzTx/>
              <a:buNone/>
            </a:pPr>
            <a:r>
              <a:rPr lang="en-US" altLang="zh-CN" sz="1600" dirty="0">
                <a:solidFill>
                  <a:schemeClr val="tx1"/>
                </a:solidFill>
                <a:ea typeface="楷体_GB2312"/>
              </a:rPr>
              <a:t>74LS273</a:t>
            </a:r>
            <a:endParaRPr lang="en-US" altLang="zh-CN" sz="1600" dirty="0">
              <a:solidFill>
                <a:schemeClr val="tx1"/>
              </a:solidFill>
              <a:ea typeface="楷体_GB2312"/>
            </a:endParaRPr>
          </a:p>
        </p:txBody>
      </p:sp>
      <p:sp>
        <p:nvSpPr>
          <p:cNvPr id="130092" name="Text Box 54"/>
          <p:cNvSpPr txBox="1"/>
          <p:nvPr/>
        </p:nvSpPr>
        <p:spPr>
          <a:xfrm>
            <a:off x="6586538" y="4219575"/>
            <a:ext cx="215900" cy="21272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1400" dirty="0">
                <a:solidFill>
                  <a:schemeClr val="tx1"/>
                </a:solidFill>
                <a:latin typeface="Times New Roman" panose="02020603050405020304" pitchFamily="18" charset="0"/>
                <a:ea typeface="楷体_GB2312"/>
              </a:rPr>
              <a:t>R</a:t>
            </a:r>
            <a:endParaRPr lang="en-US" altLang="zh-CN" sz="1400" dirty="0">
              <a:solidFill>
                <a:schemeClr val="tx1"/>
              </a:solidFill>
              <a:latin typeface="Times New Roman" panose="02020603050405020304" pitchFamily="18" charset="0"/>
              <a:ea typeface="楷体_GB2312"/>
            </a:endParaRPr>
          </a:p>
        </p:txBody>
      </p:sp>
      <p:sp>
        <p:nvSpPr>
          <p:cNvPr id="50227" name="Text Box 55"/>
          <p:cNvSpPr txBox="1"/>
          <p:nvPr/>
        </p:nvSpPr>
        <p:spPr>
          <a:xfrm>
            <a:off x="1116013" y="5157788"/>
            <a:ext cx="7777162" cy="1562100"/>
          </a:xfrm>
          <a:prstGeom prst="rect">
            <a:avLst/>
          </a:prstGeom>
          <a:noFill/>
          <a:ln w="9525" cap="flat" cmpd="sng">
            <a:solidFill>
              <a:srgbClr val="FF00FF"/>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400" dirty="0">
                <a:solidFill>
                  <a:srgbClr val="660066"/>
                </a:solidFill>
                <a:latin typeface="Tahoma" panose="020B0604030504040204" pitchFamily="34" charset="0"/>
                <a:ea typeface="楷体_GB2312"/>
              </a:rPr>
              <a:t>设该输出接口地址是</a:t>
            </a:r>
            <a:r>
              <a:rPr lang="en-US" altLang="zh-CN" sz="2400" dirty="0">
                <a:solidFill>
                  <a:srgbClr val="660066"/>
                </a:solidFill>
                <a:latin typeface="Tahoma" panose="020B0604030504040204" pitchFamily="34" charset="0"/>
                <a:ea typeface="楷体_GB2312"/>
              </a:rPr>
              <a:t>0FFFFH</a:t>
            </a:r>
            <a:r>
              <a:rPr lang="zh-CN" altLang="en-US" sz="2400" dirty="0">
                <a:solidFill>
                  <a:srgbClr val="660066"/>
                </a:solidFill>
                <a:latin typeface="Tahoma" panose="020B0604030504040204" pitchFamily="34" charset="0"/>
                <a:ea typeface="楷体_GB2312"/>
              </a:rPr>
              <a:t>，则下列程序段的功能？</a:t>
            </a:r>
            <a:endParaRPr lang="zh-CN" altLang="en-US" sz="2400" dirty="0">
              <a:solidFill>
                <a:srgbClr val="660066"/>
              </a:solidFill>
              <a:latin typeface="Tahoma" panose="020B0604030504040204" pitchFamily="34" charset="0"/>
              <a:ea typeface="楷体_GB2312"/>
            </a:endParaRPr>
          </a:p>
          <a:p>
            <a:pPr marL="0" lvl="0" indent="0">
              <a:lnSpc>
                <a:spcPct val="100000"/>
              </a:lnSpc>
              <a:spcBef>
                <a:spcPct val="0"/>
              </a:spcBef>
              <a:spcAft>
                <a:spcPct val="0"/>
              </a:spcAft>
              <a:buClrTx/>
              <a:buSzTx/>
              <a:buNone/>
            </a:pPr>
            <a:r>
              <a:rPr lang="en-US" altLang="zh-CN" sz="2400" b="0" dirty="0">
                <a:solidFill>
                  <a:schemeClr val="tx1"/>
                </a:solidFill>
                <a:latin typeface="Tahoma" panose="020B0604030504040204" pitchFamily="34" charset="0"/>
                <a:ea typeface="楷体_GB2312"/>
              </a:rPr>
              <a:t>	NOV  DX, 0FFFFH</a:t>
            </a:r>
            <a:endParaRPr lang="en-US" altLang="zh-CN" sz="2400" b="0" dirty="0">
              <a:solidFill>
                <a:schemeClr val="tx1"/>
              </a:solidFill>
              <a:latin typeface="Tahoma" panose="020B0604030504040204" pitchFamily="34" charset="0"/>
              <a:ea typeface="楷体_GB2312"/>
            </a:endParaRPr>
          </a:p>
          <a:p>
            <a:pPr marL="0" lvl="0" indent="0">
              <a:lnSpc>
                <a:spcPct val="100000"/>
              </a:lnSpc>
              <a:spcBef>
                <a:spcPct val="0"/>
              </a:spcBef>
              <a:spcAft>
                <a:spcPct val="0"/>
              </a:spcAft>
              <a:buClrTx/>
              <a:buSzTx/>
              <a:buNone/>
            </a:pPr>
            <a:r>
              <a:rPr lang="en-US" altLang="zh-CN" sz="2400" b="0" dirty="0">
                <a:solidFill>
                  <a:schemeClr val="tx1"/>
                </a:solidFill>
                <a:latin typeface="Tahoma" panose="020B0604030504040204" pitchFamily="34" charset="0"/>
                <a:ea typeface="楷体_GB2312"/>
              </a:rPr>
              <a:t>	MOV  AL, 01000001B</a:t>
            </a:r>
            <a:endParaRPr lang="en-US" altLang="zh-CN" sz="2400" b="0" dirty="0">
              <a:solidFill>
                <a:schemeClr val="tx1"/>
              </a:solidFill>
              <a:latin typeface="Tahoma" panose="020B0604030504040204" pitchFamily="34" charset="0"/>
              <a:ea typeface="楷体_GB2312"/>
            </a:endParaRPr>
          </a:p>
          <a:p>
            <a:pPr marL="0" lvl="0" indent="0">
              <a:lnSpc>
                <a:spcPct val="100000"/>
              </a:lnSpc>
              <a:spcBef>
                <a:spcPct val="0"/>
              </a:spcBef>
              <a:spcAft>
                <a:spcPct val="0"/>
              </a:spcAft>
              <a:buClrTx/>
              <a:buSzTx/>
              <a:buNone/>
            </a:pPr>
            <a:r>
              <a:rPr lang="en-US" altLang="zh-CN" sz="2400" b="0" dirty="0">
                <a:solidFill>
                  <a:schemeClr val="tx1"/>
                </a:solidFill>
                <a:latin typeface="Tahoma" panose="020B0604030504040204" pitchFamily="34" charset="0"/>
                <a:ea typeface="楷体_GB2312"/>
              </a:rPr>
              <a:t>	OUT  DX, AL</a:t>
            </a:r>
            <a:endParaRPr lang="en-US" altLang="zh-CN" sz="2400" b="0" dirty="0">
              <a:solidFill>
                <a:schemeClr val="tx1"/>
              </a:solidFill>
              <a:latin typeface="Tahoma" panose="020B0604030504040204" pitchFamily="34" charset="0"/>
              <a:ea typeface="楷体_GB2312"/>
            </a:endParaRPr>
          </a:p>
        </p:txBody>
      </p:sp>
      <p:sp>
        <p:nvSpPr>
          <p:cNvPr id="130094" name="Rectangle 4"/>
          <p:cNvSpPr>
            <a:spLocks noGrp="1"/>
          </p:cNvSpPr>
          <p:nvPr>
            <p:ph type="title" idx="4294967295"/>
          </p:nvPr>
        </p:nvSpPr>
        <p:spPr>
          <a:xfrm>
            <a:off x="1125538" y="1301750"/>
            <a:ext cx="3241675" cy="433388"/>
          </a:xfrm>
        </p:spPr>
        <p:txBody>
          <a:bodyPr vert="horz" wrap="square" lIns="91440" tIns="45720" rIns="91440" bIns="45720" anchor="ctr" anchorCtr="0"/>
          <a:p>
            <a:pPr eaLnBrk="1" hangingPunct="1">
              <a:buClr>
                <a:srgbClr val="660066"/>
              </a:buClr>
            </a:pPr>
            <a:r>
              <a:rPr lang="zh-CN" altLang="en-US" sz="2400" dirty="0">
                <a:solidFill>
                  <a:schemeClr val="tx1"/>
                </a:solidFill>
                <a:latin typeface="黑体" panose="02010609060101010101" pitchFamily="49" charset="-122"/>
                <a:ea typeface="黑体" panose="02010609060101010101" pitchFamily="49" charset="-122"/>
              </a:rPr>
              <a:t>锁存器芯片</a:t>
            </a:r>
            <a:r>
              <a:rPr lang="en-US" altLang="zh-CN" sz="2400" dirty="0">
                <a:solidFill>
                  <a:schemeClr val="tx1"/>
                </a:solidFill>
                <a:ea typeface="黑体" panose="02010609060101010101" pitchFamily="49" charset="-122"/>
              </a:rPr>
              <a:t>74LS273</a:t>
            </a:r>
            <a:endParaRPr lang="en-US" altLang="zh-CN" sz="2400" dirty="0">
              <a:solidFill>
                <a:schemeClr val="tx1"/>
              </a:solidFill>
              <a:ea typeface="黑体" panose="020106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0227"/>
                                        </p:tgtEl>
                                        <p:attrNameLst>
                                          <p:attrName>style.visibility</p:attrName>
                                        </p:attrNameLst>
                                      </p:cBhvr>
                                      <p:to>
                                        <p:strVal val="visible"/>
                                      </p:to>
                                    </p:set>
                                    <p:animEffect transition="in" filter="checkerboard(across)">
                                      <p:cBhvr>
                                        <p:cTn id="7" dur="500"/>
                                        <p:tgtEl>
                                          <p:spTgt spid="50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2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4"/>
          <p:cNvSpPr>
            <a:spLocks noGrp="1"/>
          </p:cNvSpPr>
          <p:nvPr>
            <p:ph type="title" idx="4294967295"/>
          </p:nvPr>
        </p:nvSpPr>
        <p:spPr>
          <a:xfrm>
            <a:off x="1042988" y="1341438"/>
            <a:ext cx="3241675" cy="433387"/>
          </a:xfrm>
        </p:spPr>
        <p:txBody>
          <a:bodyPr vert="horz" wrap="square" lIns="91440" tIns="45720" rIns="91440" bIns="45720" anchor="ctr" anchorCtr="0"/>
          <a:p>
            <a:pPr eaLnBrk="1" hangingPunct="1">
              <a:buClr>
                <a:srgbClr val="660066"/>
              </a:buClr>
            </a:pPr>
            <a:r>
              <a:rPr lang="zh-CN" altLang="en-US" sz="2400" dirty="0">
                <a:solidFill>
                  <a:schemeClr val="tx1"/>
                </a:solidFill>
                <a:latin typeface="黑体" panose="02010609060101010101" pitchFamily="49" charset="-122"/>
                <a:ea typeface="黑体" panose="02010609060101010101" pitchFamily="49" charset="-122"/>
              </a:rPr>
              <a:t> 锁存器芯片</a:t>
            </a:r>
            <a:r>
              <a:rPr lang="en-US" altLang="zh-CN" sz="2400" dirty="0">
                <a:solidFill>
                  <a:schemeClr val="tx1"/>
                </a:solidFill>
                <a:ea typeface="黑体" panose="02010609060101010101" pitchFamily="49" charset="-122"/>
              </a:rPr>
              <a:t>74LS374</a:t>
            </a:r>
            <a:endParaRPr lang="en-US" altLang="zh-CN" sz="2400" dirty="0">
              <a:solidFill>
                <a:schemeClr val="tx1"/>
              </a:solidFill>
              <a:ea typeface="黑体" panose="02010609060101010101" pitchFamily="49" charset="-122"/>
            </a:endParaRPr>
          </a:p>
        </p:txBody>
      </p:sp>
      <p:sp>
        <p:nvSpPr>
          <p:cNvPr id="131075" name="Text Box 6"/>
          <p:cNvSpPr txBox="1"/>
          <p:nvPr/>
        </p:nvSpPr>
        <p:spPr>
          <a:xfrm>
            <a:off x="1077913" y="1814513"/>
            <a:ext cx="3206750" cy="82232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CC00CC"/>
                </a:solidFill>
                <a:latin typeface="Times New Roman" panose="02020603050405020304" pitchFamily="18" charset="0"/>
                <a:ea typeface="楷体_GB2312"/>
                <a:sym typeface="Wingdings" panose="05000000000000000000" pitchFamily="2" charset="2"/>
              </a:rPr>
              <a:t></a:t>
            </a:r>
            <a:r>
              <a:rPr lang="zh-CN" altLang="en-US" sz="2400" dirty="0">
                <a:solidFill>
                  <a:srgbClr val="0000FF"/>
                </a:solidFill>
                <a:latin typeface="Times New Roman" panose="02020603050405020304" pitchFamily="18" charset="0"/>
                <a:ea typeface="楷体_GB2312"/>
              </a:rPr>
              <a:t>做输出端口</a:t>
            </a:r>
            <a:r>
              <a:rPr lang="en-US" altLang="zh-CN" sz="2400" dirty="0">
                <a:solidFill>
                  <a:srgbClr val="0000FF"/>
                </a:solidFill>
                <a:latin typeface="Times New Roman" panose="02020603050405020304" pitchFamily="18" charset="0"/>
                <a:ea typeface="楷体_GB2312"/>
              </a:rPr>
              <a:t>:</a:t>
            </a:r>
            <a:r>
              <a:rPr lang="zh-CN" altLang="en-US" sz="2400" dirty="0">
                <a:solidFill>
                  <a:srgbClr val="0000FF"/>
                </a:solidFill>
                <a:latin typeface="Times New Roman" panose="02020603050405020304" pitchFamily="18" charset="0"/>
                <a:ea typeface="楷体_GB2312"/>
              </a:rPr>
              <a:t>三态门一直处于导通状态。</a:t>
            </a:r>
            <a:endParaRPr lang="zh-CN" altLang="en-US" sz="2400" dirty="0">
              <a:solidFill>
                <a:srgbClr val="0000FF"/>
              </a:solidFill>
              <a:latin typeface="Times New Roman" panose="02020603050405020304" pitchFamily="18" charset="0"/>
              <a:ea typeface="楷体_GB2312"/>
            </a:endParaRPr>
          </a:p>
        </p:txBody>
      </p:sp>
      <p:sp>
        <p:nvSpPr>
          <p:cNvPr id="51204" name="Text Box 7"/>
          <p:cNvSpPr txBox="1"/>
          <p:nvPr/>
        </p:nvSpPr>
        <p:spPr>
          <a:xfrm>
            <a:off x="5219700" y="1774825"/>
            <a:ext cx="3744913" cy="11874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CC00CC"/>
                </a:solidFill>
                <a:latin typeface="Times New Roman" panose="02020603050405020304" pitchFamily="18" charset="0"/>
                <a:ea typeface="楷体_GB2312"/>
                <a:sym typeface="Wingdings" panose="05000000000000000000" pitchFamily="2" charset="2"/>
              </a:rPr>
              <a:t></a:t>
            </a:r>
            <a:r>
              <a:rPr lang="zh-CN" altLang="en-US" sz="2400" dirty="0">
                <a:solidFill>
                  <a:srgbClr val="0000FF"/>
                </a:solidFill>
                <a:latin typeface="Times New Roman" panose="02020603050405020304" pitchFamily="18" charset="0"/>
                <a:ea typeface="楷体_GB2312"/>
              </a:rPr>
              <a:t>做输入端口</a:t>
            </a:r>
            <a:r>
              <a:rPr lang="en-US" altLang="zh-CN" sz="2400" dirty="0">
                <a:solidFill>
                  <a:srgbClr val="0000FF"/>
                </a:solidFill>
                <a:latin typeface="Times New Roman" panose="02020603050405020304" pitchFamily="18" charset="0"/>
                <a:ea typeface="楷体_GB2312"/>
              </a:rPr>
              <a:t>:CP</a:t>
            </a:r>
            <a:r>
              <a:rPr lang="zh-CN" altLang="en-US" sz="2400" dirty="0">
                <a:solidFill>
                  <a:srgbClr val="0000FF"/>
                </a:solidFill>
                <a:latin typeface="Times New Roman" panose="02020603050405020304" pitchFamily="18" charset="0"/>
                <a:ea typeface="楷体_GB2312"/>
              </a:rPr>
              <a:t>正脉冲锁存输入数据，译码选中时</a:t>
            </a:r>
            <a:r>
              <a:rPr lang="en-US" altLang="zh-CN" sz="2400" dirty="0">
                <a:solidFill>
                  <a:srgbClr val="0000FF"/>
                </a:solidFill>
                <a:latin typeface="Times New Roman" panose="02020603050405020304" pitchFamily="18" charset="0"/>
                <a:ea typeface="楷体_GB2312"/>
              </a:rPr>
              <a:t>OE=0</a:t>
            </a:r>
            <a:r>
              <a:rPr lang="zh-CN" altLang="en-US" sz="2400" dirty="0">
                <a:solidFill>
                  <a:srgbClr val="0000FF"/>
                </a:solidFill>
                <a:latin typeface="Times New Roman" panose="02020603050405020304" pitchFamily="18" charset="0"/>
                <a:ea typeface="楷体_GB2312"/>
              </a:rPr>
              <a:t>，</a:t>
            </a:r>
            <a:r>
              <a:rPr lang="en-US" altLang="zh-CN" sz="2400" dirty="0">
                <a:solidFill>
                  <a:srgbClr val="0000FF"/>
                </a:solidFill>
                <a:latin typeface="Times New Roman" panose="02020603050405020304" pitchFamily="18" charset="0"/>
                <a:ea typeface="楷体_GB2312"/>
              </a:rPr>
              <a:t>CPU</a:t>
            </a:r>
            <a:r>
              <a:rPr lang="zh-CN" altLang="en-US" sz="2400" dirty="0">
                <a:solidFill>
                  <a:srgbClr val="0000FF"/>
                </a:solidFill>
                <a:latin typeface="Times New Roman" panose="02020603050405020304" pitchFamily="18" charset="0"/>
                <a:ea typeface="楷体_GB2312"/>
              </a:rPr>
              <a:t>读取数据。</a:t>
            </a:r>
            <a:endParaRPr lang="zh-CN" altLang="en-US" sz="2400" dirty="0">
              <a:solidFill>
                <a:srgbClr val="0000FF"/>
              </a:solidFill>
              <a:latin typeface="Times New Roman" panose="02020603050405020304" pitchFamily="18" charset="0"/>
              <a:ea typeface="楷体_GB2312"/>
            </a:endParaRPr>
          </a:p>
        </p:txBody>
      </p:sp>
      <p:sp>
        <p:nvSpPr>
          <p:cNvPr id="131077" name="Rectangle 9"/>
          <p:cNvSpPr/>
          <p:nvPr/>
        </p:nvSpPr>
        <p:spPr>
          <a:xfrm>
            <a:off x="0" y="1549400"/>
            <a:ext cx="9144000" cy="0"/>
          </a:xfrm>
          <a:prstGeom prst="rect">
            <a:avLst/>
          </a:prstGeom>
          <a:noFill/>
          <a:ln w="9525">
            <a:noFill/>
          </a:ln>
        </p:spPr>
        <p:txBody>
          <a:bodyPr wrap="none" anchor="ctr" anchorCtr="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graphicFrame>
        <p:nvGraphicFramePr>
          <p:cNvPr id="51206" name="Object 8"/>
          <p:cNvGraphicFramePr>
            <a:graphicFrameLocks noChangeAspect="1"/>
          </p:cNvGraphicFramePr>
          <p:nvPr/>
        </p:nvGraphicFramePr>
        <p:xfrm>
          <a:off x="827088" y="2781300"/>
          <a:ext cx="3959225" cy="4005263"/>
        </p:xfrm>
        <a:graphic>
          <a:graphicData uri="http://schemas.openxmlformats.org/presentationml/2006/ole">
            <mc:AlternateContent xmlns:mc="http://schemas.openxmlformats.org/markup-compatibility/2006">
              <mc:Choice xmlns:v="urn:schemas-microsoft-com:vml" Requires="v">
                <p:oleObj spid="_x0000_s3078" name="" r:id="rId1" imgW="5441315" imgH="3782060" progId="">
                  <p:embed/>
                </p:oleObj>
              </mc:Choice>
              <mc:Fallback>
                <p:oleObj name="" r:id="rId1" imgW="5441315" imgH="3782060" progId="">
                  <p:embed/>
                  <p:pic>
                    <p:nvPicPr>
                      <p:cNvPr id="0" name="图片 3077"/>
                      <p:cNvPicPr/>
                      <p:nvPr/>
                    </p:nvPicPr>
                    <p:blipFill>
                      <a:blip r:embed="rId2"/>
                      <a:srcRect l="5115" t="2328" r="53316" b="26709"/>
                      <a:stretch>
                        <a:fillRect/>
                      </a:stretch>
                    </p:blipFill>
                    <p:spPr>
                      <a:xfrm>
                        <a:off x="827088" y="2781300"/>
                        <a:ext cx="3959225" cy="4005263"/>
                      </a:xfrm>
                      <a:prstGeom prst="rect">
                        <a:avLst/>
                      </a:prstGeom>
                      <a:noFill/>
                      <a:ln w="38100">
                        <a:noFill/>
                        <a:miter/>
                      </a:ln>
                    </p:spPr>
                  </p:pic>
                </p:oleObj>
              </mc:Fallback>
            </mc:AlternateContent>
          </a:graphicData>
        </a:graphic>
      </p:graphicFrame>
      <p:sp>
        <p:nvSpPr>
          <p:cNvPr id="131079" name="Rectangle 11"/>
          <p:cNvSpPr/>
          <p:nvPr/>
        </p:nvSpPr>
        <p:spPr>
          <a:xfrm>
            <a:off x="0" y="1549400"/>
            <a:ext cx="9144000" cy="0"/>
          </a:xfrm>
          <a:prstGeom prst="rect">
            <a:avLst/>
          </a:prstGeom>
          <a:noFill/>
          <a:ln w="9525">
            <a:noFill/>
          </a:ln>
        </p:spPr>
        <p:txBody>
          <a:bodyPr wrap="none" anchor="ctr" anchorCtr="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graphicFrame>
        <p:nvGraphicFramePr>
          <p:cNvPr id="51208" name="Object 10"/>
          <p:cNvGraphicFramePr>
            <a:graphicFrameLocks noChangeAspect="1"/>
          </p:cNvGraphicFramePr>
          <p:nvPr/>
        </p:nvGraphicFramePr>
        <p:xfrm>
          <a:off x="4932363" y="2852738"/>
          <a:ext cx="3995737" cy="2665412"/>
        </p:xfrm>
        <a:graphic>
          <a:graphicData uri="http://schemas.openxmlformats.org/presentationml/2006/ole">
            <mc:AlternateContent xmlns:mc="http://schemas.openxmlformats.org/markup-compatibility/2006">
              <mc:Choice xmlns:v="urn:schemas-microsoft-com:vml" Requires="v">
                <p:oleObj spid="_x0000_s3079" name="" r:id="rId3" imgW="5441315" imgH="3782060" progId="">
                  <p:embed/>
                </p:oleObj>
              </mc:Choice>
              <mc:Fallback>
                <p:oleObj name="" r:id="rId3" imgW="5441315" imgH="3782060" progId="">
                  <p:embed/>
                  <p:pic>
                    <p:nvPicPr>
                      <p:cNvPr id="0" name="图片 3078"/>
                      <p:cNvPicPr/>
                      <p:nvPr/>
                    </p:nvPicPr>
                    <p:blipFill>
                      <a:blip r:embed="rId2"/>
                      <a:srcRect l="49063" t="24214" r="11499" b="43007"/>
                      <a:stretch>
                        <a:fillRect/>
                      </a:stretch>
                    </p:blipFill>
                    <p:spPr>
                      <a:xfrm>
                        <a:off x="4932363" y="2852738"/>
                        <a:ext cx="3995737" cy="2665412"/>
                      </a:xfrm>
                      <a:prstGeom prst="rect">
                        <a:avLst/>
                      </a:prstGeom>
                      <a:noFill/>
                      <a:ln w="38100">
                        <a:noFill/>
                        <a:miter/>
                      </a:ln>
                    </p:spPr>
                  </p:pic>
                </p:oleObj>
              </mc:Fallback>
            </mc:AlternateContent>
          </a:graphicData>
        </a:graphic>
      </p:graphicFrame>
      <p:sp>
        <p:nvSpPr>
          <p:cNvPr id="51209" name="Line 12"/>
          <p:cNvSpPr/>
          <p:nvPr/>
        </p:nvSpPr>
        <p:spPr>
          <a:xfrm>
            <a:off x="5292725" y="2601913"/>
            <a:ext cx="431800" cy="0"/>
          </a:xfrm>
          <a:prstGeom prst="line">
            <a:avLst/>
          </a:prstGeom>
          <a:ln w="22225" cap="flat" cmpd="sng">
            <a:solidFill>
              <a:srgbClr val="0000FF"/>
            </a:solidFill>
            <a:prstDash val="solid"/>
            <a:bevel/>
            <a:headEnd type="none" w="med" len="med"/>
            <a:tailEnd type="none" w="med" len="med"/>
          </a:ln>
        </p:spPr>
      </p:sp>
      <p:sp>
        <p:nvSpPr>
          <p:cNvPr id="131082" name="Line 13"/>
          <p:cNvSpPr/>
          <p:nvPr/>
        </p:nvSpPr>
        <p:spPr>
          <a:xfrm>
            <a:off x="4859338" y="1916113"/>
            <a:ext cx="0" cy="4681537"/>
          </a:xfrm>
          <a:prstGeom prst="line">
            <a:avLst/>
          </a:prstGeom>
          <a:ln w="9525" cap="flat" cmpd="sng">
            <a:solidFill>
              <a:srgbClr val="660066"/>
            </a:solidFill>
            <a:prstDash val="solid"/>
            <a:bevel/>
            <a:headEnd type="none" w="med" len="med"/>
            <a:tailEnd type="none" w="med" len="med"/>
          </a:ln>
        </p:spPr>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06"/>
                                        </p:tgtEl>
                                        <p:attrNameLst>
                                          <p:attrName>style.visibility</p:attrName>
                                        </p:attrNameLst>
                                      </p:cBhvr>
                                      <p:to>
                                        <p:strVal val="visible"/>
                                      </p:to>
                                    </p:set>
                                    <p:animEffect transition="in" filter="blinds(horizontal)">
                                      <p:cBhvr>
                                        <p:cTn id="7" dur="500"/>
                                        <p:tgtEl>
                                          <p:spTgt spid="5120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1204"/>
                                        </p:tgtEl>
                                        <p:attrNameLst>
                                          <p:attrName>style.visibility</p:attrName>
                                        </p:attrNameLst>
                                      </p:cBhvr>
                                      <p:to>
                                        <p:strVal val="visible"/>
                                      </p:to>
                                    </p:set>
                                    <p:animEffect transition="in" filter="checkerboard(across)">
                                      <p:cBhvr>
                                        <p:cTn id="12" dur="500"/>
                                        <p:tgtEl>
                                          <p:spTgt spid="51204"/>
                                        </p:tgtEl>
                                      </p:cBhvr>
                                    </p:animEffect>
                                  </p:childTnLst>
                                </p:cTn>
                              </p:par>
                              <p:par>
                                <p:cTn id="13" presetID="5" presetClass="entr" presetSubtype="10" fill="hold" nodeType="withEffect">
                                  <p:stCondLst>
                                    <p:cond delay="0"/>
                                  </p:stCondLst>
                                  <p:childTnLst>
                                    <p:set>
                                      <p:cBhvr>
                                        <p:cTn id="14" dur="1" fill="hold">
                                          <p:stCondLst>
                                            <p:cond delay="0"/>
                                          </p:stCondLst>
                                        </p:cTn>
                                        <p:tgtEl>
                                          <p:spTgt spid="51209"/>
                                        </p:tgtEl>
                                        <p:attrNameLst>
                                          <p:attrName>style.visibility</p:attrName>
                                        </p:attrNameLst>
                                      </p:cBhvr>
                                      <p:to>
                                        <p:strVal val="visible"/>
                                      </p:to>
                                    </p:set>
                                    <p:animEffect transition="in" filter="checkerboard(across)">
                                      <p:cBhvr>
                                        <p:cTn id="15" dur="500"/>
                                        <p:tgtEl>
                                          <p:spTgt spid="51209"/>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51208"/>
                                        </p:tgtEl>
                                        <p:attrNameLst>
                                          <p:attrName>style.visibility</p:attrName>
                                        </p:attrNameLst>
                                      </p:cBhvr>
                                      <p:to>
                                        <p:strVal val="visible"/>
                                      </p:to>
                                    </p:set>
                                    <p:animEffect transition="in" filter="checkerboard(across)">
                                      <p:cBhvr>
                                        <p:cTn id="20" dur="500"/>
                                        <p:tgtEl>
                                          <p:spTgt spid="51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32099" name="Rectangle 2"/>
          <p:cNvSpPr>
            <a:spLocks noGrp="1"/>
          </p:cNvSpPr>
          <p:nvPr>
            <p:ph type="title" idx="4294967295"/>
          </p:nvPr>
        </p:nvSpPr>
        <p:spPr>
          <a:xfrm>
            <a:off x="1293813" y="214313"/>
            <a:ext cx="7435850" cy="1462087"/>
          </a:xfrm>
        </p:spPr>
        <p:txBody>
          <a:bodyPr vert="horz" wrap="square" lIns="91440" tIns="45720" rIns="91440" bIns="45720" anchor="b" anchorCtr="0"/>
          <a:p>
            <a:pPr eaLnBrk="1" hangingPunct="1"/>
            <a:r>
              <a:rPr lang="en-US" altLang="zh-CN" sz="3600" b="1" dirty="0"/>
              <a:t>I/O</a:t>
            </a:r>
            <a:r>
              <a:rPr lang="zh-CN" altLang="en-US" sz="4000" dirty="0"/>
              <a:t>接口综合应用例</a:t>
            </a:r>
            <a:endParaRPr lang="zh-CN" altLang="en-US" sz="4000" dirty="0"/>
          </a:p>
        </p:txBody>
      </p:sp>
      <p:sp>
        <p:nvSpPr>
          <p:cNvPr id="52228" name="Rectangle 3"/>
          <p:cNvSpPr>
            <a:spLocks noGrp="1"/>
          </p:cNvSpPr>
          <p:nvPr>
            <p:ph type="body" idx="4294967295"/>
          </p:nvPr>
        </p:nvSpPr>
        <p:spPr>
          <a:xfrm>
            <a:off x="760413" y="3540125"/>
            <a:ext cx="7626350" cy="3252788"/>
          </a:xfrm>
        </p:spPr>
        <p:txBody>
          <a:bodyPr vert="horz" wrap="square" lIns="91440" tIns="45720" rIns="91440" bIns="45720" anchor="t" anchorCtr="0"/>
          <a:p>
            <a:pPr eaLnBrk="1" hangingPunct="1"/>
            <a:r>
              <a:rPr lang="zh-CN" altLang="en-US" sz="2400" dirty="0"/>
              <a:t>根据开关状态在</a:t>
            </a:r>
            <a:r>
              <a:rPr lang="en-US" altLang="zh-CN" sz="2400" dirty="0"/>
              <a:t>7</a:t>
            </a:r>
            <a:r>
              <a:rPr lang="zh-CN" altLang="en-US" sz="2400" dirty="0"/>
              <a:t>段数码管上显示数字或符号</a:t>
            </a:r>
            <a:endParaRPr lang="zh-CN" altLang="en-US" sz="2400" dirty="0"/>
          </a:p>
          <a:p>
            <a:pPr eaLnBrk="1" hangingPunct="1"/>
            <a:r>
              <a:rPr lang="zh-CN" altLang="en-US" sz="2400" dirty="0"/>
              <a:t>设输出接口的地址为</a:t>
            </a:r>
            <a:r>
              <a:rPr lang="en-US" altLang="zh-CN" sz="2400" dirty="0"/>
              <a:t>F0H</a:t>
            </a:r>
            <a:endParaRPr lang="en-US" altLang="zh-CN" sz="2400" dirty="0"/>
          </a:p>
          <a:p>
            <a:pPr eaLnBrk="1" hangingPunct="1"/>
            <a:r>
              <a:rPr lang="zh-CN" altLang="en-US" sz="2400" dirty="0"/>
              <a:t>设输入接口地址为</a:t>
            </a:r>
            <a:r>
              <a:rPr lang="en-US" altLang="zh-CN" sz="2400" dirty="0"/>
              <a:t>F1H</a:t>
            </a:r>
            <a:endParaRPr lang="en-US" altLang="zh-CN" sz="2400" dirty="0"/>
          </a:p>
          <a:p>
            <a:pPr eaLnBrk="1" hangingPunct="1"/>
            <a:r>
              <a:rPr lang="zh-CN" altLang="en-US" sz="2400" dirty="0"/>
              <a:t>当开关的状态分别为</a:t>
            </a:r>
            <a:r>
              <a:rPr lang="en-US" altLang="zh-CN" sz="2400" dirty="0"/>
              <a:t>0000</a:t>
            </a:r>
            <a:r>
              <a:rPr lang="zh-CN" altLang="en-US" sz="2400" dirty="0"/>
              <a:t>～</a:t>
            </a:r>
            <a:r>
              <a:rPr lang="en-US" altLang="zh-CN" sz="2400" dirty="0"/>
              <a:t>1111</a:t>
            </a:r>
            <a:r>
              <a:rPr lang="zh-CN" altLang="en-US" sz="2400" dirty="0"/>
              <a:t>时，在</a:t>
            </a:r>
            <a:r>
              <a:rPr lang="en-US" altLang="zh-CN" sz="2400" dirty="0"/>
              <a:t>7</a:t>
            </a:r>
            <a:r>
              <a:rPr lang="zh-CN" altLang="en-US" sz="2400" dirty="0"/>
              <a:t>段数码管上对应显示</a:t>
            </a:r>
            <a:r>
              <a:rPr lang="en-US" altLang="zh-CN" sz="2400" dirty="0"/>
              <a:t>’0’</a:t>
            </a:r>
            <a:r>
              <a:rPr lang="zh-CN" altLang="en-US" sz="2400" dirty="0"/>
              <a:t>～</a:t>
            </a:r>
            <a:r>
              <a:rPr lang="en-US" altLang="zh-CN" sz="2400" dirty="0"/>
              <a:t>’F’</a:t>
            </a:r>
            <a:endParaRPr lang="zh-CN" altLang="en-US" sz="2400" dirty="0"/>
          </a:p>
        </p:txBody>
      </p:sp>
      <p:sp>
        <p:nvSpPr>
          <p:cNvPr id="132101" name="矩形 1"/>
          <p:cNvSpPr/>
          <p:nvPr/>
        </p:nvSpPr>
        <p:spPr>
          <a:xfrm>
            <a:off x="782638" y="1962150"/>
            <a:ext cx="7697787" cy="1385888"/>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zh-CN" altLang="en-US" b="0" dirty="0">
                <a:solidFill>
                  <a:schemeClr val="tx1"/>
                </a:solidFill>
                <a:latin typeface="楷体_GB2312"/>
                <a:ea typeface="楷体_GB2312"/>
              </a:rPr>
              <a:t>利用74</a:t>
            </a:r>
            <a:r>
              <a:rPr lang="en-US" altLang="zh-CN" b="0" dirty="0">
                <a:solidFill>
                  <a:schemeClr val="tx1"/>
                </a:solidFill>
                <a:latin typeface="楷体_GB2312"/>
                <a:ea typeface="楷体_GB2312"/>
              </a:rPr>
              <a:t>LS244</a:t>
            </a:r>
            <a:r>
              <a:rPr lang="zh-CN" altLang="en-US" b="0" dirty="0">
                <a:solidFill>
                  <a:schemeClr val="tx1"/>
                </a:solidFill>
                <a:latin typeface="楷体_GB2312"/>
                <a:ea typeface="楷体_GB2312"/>
              </a:rPr>
              <a:t>和74</a:t>
            </a:r>
            <a:r>
              <a:rPr lang="en-US" altLang="zh-CN" b="0" dirty="0">
                <a:solidFill>
                  <a:schemeClr val="tx1"/>
                </a:solidFill>
                <a:latin typeface="楷体_GB2312"/>
                <a:ea typeface="楷体_GB2312"/>
              </a:rPr>
              <a:t>LS273</a:t>
            </a:r>
            <a:r>
              <a:rPr lang="zh-CN" altLang="en-US" b="0" dirty="0">
                <a:solidFill>
                  <a:schemeClr val="tx1"/>
                </a:solidFill>
                <a:latin typeface="楷体_GB2312"/>
                <a:ea typeface="楷体_GB2312"/>
              </a:rPr>
              <a:t>作为输入和输出接口，编写程序，</a:t>
            </a:r>
            <a:r>
              <a:rPr lang="zh-CN" altLang="en-US" dirty="0">
                <a:solidFill>
                  <a:srgbClr val="FF0000"/>
                </a:solidFill>
                <a:latin typeface="楷体_GB2312"/>
                <a:ea typeface="楷体_GB2312"/>
              </a:rPr>
              <a:t>根据开关状态</a:t>
            </a:r>
            <a:r>
              <a:rPr lang="zh-CN" altLang="en-US" b="0" dirty="0">
                <a:solidFill>
                  <a:schemeClr val="tx1"/>
                </a:solidFill>
                <a:latin typeface="楷体_GB2312"/>
                <a:ea typeface="楷体_GB2312"/>
              </a:rPr>
              <a:t>在</a:t>
            </a:r>
            <a:r>
              <a:rPr lang="en-US" altLang="zh-CN" b="0" dirty="0">
                <a:solidFill>
                  <a:schemeClr val="tx1"/>
                </a:solidFill>
                <a:latin typeface="楷体_GB2312"/>
                <a:ea typeface="楷体_GB2312"/>
              </a:rPr>
              <a:t>LED</a:t>
            </a:r>
            <a:r>
              <a:rPr lang="zh-CN" altLang="en-US" b="0" dirty="0">
                <a:solidFill>
                  <a:schemeClr val="tx1"/>
                </a:solidFill>
                <a:latin typeface="楷体_GB2312"/>
                <a:ea typeface="楷体_GB2312"/>
              </a:rPr>
              <a:t>数码管显示十六进制数码。 </a:t>
            </a:r>
            <a:endParaRPr lang="zh-CN" altLang="en-US" b="0" dirty="0">
              <a:solidFill>
                <a:schemeClr val="tx1"/>
              </a:solidFill>
              <a:latin typeface="楷体_GB2312"/>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228">
                                            <p:txEl>
                                              <p:charRg st="0" end="21"/>
                                            </p:txEl>
                                          </p:spTgt>
                                        </p:tgtEl>
                                        <p:attrNameLst>
                                          <p:attrName>style.visibility</p:attrName>
                                        </p:attrNameLst>
                                      </p:cBhvr>
                                      <p:to>
                                        <p:strVal val="visible"/>
                                      </p:to>
                                    </p:set>
                                    <p:animEffect transition="in" filter="wipe(left)">
                                      <p:cBhvr>
                                        <p:cTn id="7" dur="500"/>
                                        <p:tgtEl>
                                          <p:spTgt spid="52228">
                                            <p:txEl>
                                              <p:charRg st="0" end="2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2228">
                                            <p:txEl>
                                              <p:charRg st="21" end="34"/>
                                            </p:txEl>
                                          </p:spTgt>
                                        </p:tgtEl>
                                        <p:attrNameLst>
                                          <p:attrName>style.visibility</p:attrName>
                                        </p:attrNameLst>
                                      </p:cBhvr>
                                      <p:to>
                                        <p:strVal val="visible"/>
                                      </p:to>
                                    </p:set>
                                    <p:animEffect transition="in" filter="wipe(left)">
                                      <p:cBhvr>
                                        <p:cTn id="12" dur="500"/>
                                        <p:tgtEl>
                                          <p:spTgt spid="52228">
                                            <p:txEl>
                                              <p:charRg st="21" end="3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2228">
                                            <p:txEl>
                                              <p:charRg st="34" end="46"/>
                                            </p:txEl>
                                          </p:spTgt>
                                        </p:tgtEl>
                                        <p:attrNameLst>
                                          <p:attrName>style.visibility</p:attrName>
                                        </p:attrNameLst>
                                      </p:cBhvr>
                                      <p:to>
                                        <p:strVal val="visible"/>
                                      </p:to>
                                    </p:set>
                                    <p:animEffect transition="in" filter="wipe(left)">
                                      <p:cBhvr>
                                        <p:cTn id="17" dur="500"/>
                                        <p:tgtEl>
                                          <p:spTgt spid="52228">
                                            <p:txEl>
                                              <p:charRg st="34" end="4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2228">
                                            <p:txEl>
                                              <p:charRg st="46" end="85"/>
                                            </p:txEl>
                                          </p:spTgt>
                                        </p:tgtEl>
                                        <p:attrNameLst>
                                          <p:attrName>style.visibility</p:attrName>
                                        </p:attrNameLst>
                                      </p:cBhvr>
                                      <p:to>
                                        <p:strVal val="visible"/>
                                      </p:to>
                                    </p:set>
                                    <p:animEffect transition="in" filter="blinds(horizontal)">
                                      <p:cBhvr>
                                        <p:cTn id="22" dur="500"/>
                                        <p:tgtEl>
                                          <p:spTgt spid="52228">
                                            <p:txEl>
                                              <p:charRg st="46" end="8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5"/>
          <p:cNvSpPr/>
          <p:nvPr/>
        </p:nvSpPr>
        <p:spPr>
          <a:xfrm>
            <a:off x="611188" y="1844675"/>
            <a:ext cx="6840537" cy="504825"/>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742950" lvl="1" indent="-285750" eaLnBrk="1" hangingPunct="1">
              <a:lnSpc>
                <a:spcPct val="120000"/>
              </a:lnSpc>
              <a:spcBef>
                <a:spcPct val="0"/>
              </a:spcBef>
              <a:spcAft>
                <a:spcPct val="0"/>
              </a:spcAft>
              <a:buClr>
                <a:srgbClr val="0000FF"/>
              </a:buClr>
              <a:buSzTx/>
              <a:buNone/>
            </a:pPr>
            <a:r>
              <a:rPr lang="zh-CN" altLang="en-US" i="1" dirty="0">
                <a:latin typeface="Times New Roman" panose="02020603050405020304" pitchFamily="18" charset="0"/>
                <a:ea typeface="楷体_GB2312"/>
              </a:rPr>
              <a:t>共阳极</a:t>
            </a:r>
            <a:r>
              <a:rPr lang="en-US" altLang="zh-CN" i="1" dirty="0">
                <a:latin typeface="Times New Roman" panose="02020603050405020304" pitchFamily="18" charset="0"/>
                <a:ea typeface="楷体_GB2312"/>
              </a:rPr>
              <a:t>7</a:t>
            </a:r>
            <a:r>
              <a:rPr lang="zh-CN" altLang="en-US" i="1" dirty="0">
                <a:latin typeface="Times New Roman" panose="02020603050405020304" pitchFamily="18" charset="0"/>
                <a:ea typeface="楷体_GB2312"/>
              </a:rPr>
              <a:t>段</a:t>
            </a:r>
            <a:r>
              <a:rPr lang="en-US" altLang="zh-CN" i="1" dirty="0">
                <a:latin typeface="Times New Roman" panose="02020603050405020304" pitchFamily="18" charset="0"/>
                <a:ea typeface="楷体_GB2312"/>
              </a:rPr>
              <a:t>LED</a:t>
            </a:r>
            <a:r>
              <a:rPr lang="zh-CN" altLang="en-US" i="1" dirty="0">
                <a:latin typeface="Times New Roman" panose="02020603050405020304" pitchFamily="18" charset="0"/>
                <a:ea typeface="楷体_GB2312"/>
              </a:rPr>
              <a:t>数码管结构</a:t>
            </a:r>
            <a:r>
              <a:rPr lang="en-US" altLang="zh-CN" i="1" dirty="0">
                <a:latin typeface="Times New Roman" panose="02020603050405020304" pitchFamily="18" charset="0"/>
                <a:ea typeface="楷体_GB2312"/>
              </a:rPr>
              <a:t>(7</a:t>
            </a:r>
            <a:r>
              <a:rPr lang="zh-CN" altLang="en-US" i="1" dirty="0">
                <a:latin typeface="Times New Roman" panose="02020603050405020304" pitchFamily="18" charset="0"/>
                <a:ea typeface="楷体_GB2312"/>
              </a:rPr>
              <a:t>段码表见下页</a:t>
            </a:r>
            <a:r>
              <a:rPr lang="en-US" altLang="zh-CN" i="1" dirty="0">
                <a:latin typeface="Times New Roman" panose="02020603050405020304" pitchFamily="18" charset="0"/>
                <a:ea typeface="楷体_GB2312"/>
              </a:rPr>
              <a:t>)</a:t>
            </a:r>
            <a:endParaRPr lang="zh-CN" altLang="en-US" i="1" dirty="0">
              <a:latin typeface="Times New Roman" panose="02020603050405020304" pitchFamily="18" charset="0"/>
              <a:ea typeface="楷体_GB2312"/>
            </a:endParaRPr>
          </a:p>
        </p:txBody>
      </p:sp>
      <p:sp>
        <p:nvSpPr>
          <p:cNvPr id="133123" name="Rectangle 7"/>
          <p:cNvSpPr/>
          <p:nvPr/>
        </p:nvSpPr>
        <p:spPr>
          <a:xfrm>
            <a:off x="0" y="2019300"/>
            <a:ext cx="9144000" cy="0"/>
          </a:xfrm>
          <a:prstGeom prst="rect">
            <a:avLst/>
          </a:prstGeom>
          <a:noFill/>
          <a:ln w="9525">
            <a:noFill/>
          </a:ln>
        </p:spPr>
        <p:txBody>
          <a:bodyPr wrap="none" anchor="ctr" anchorCtr="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graphicFrame>
        <p:nvGraphicFramePr>
          <p:cNvPr id="133124" name="Object 6"/>
          <p:cNvGraphicFramePr>
            <a:graphicFrameLocks noChangeAspect="1"/>
          </p:cNvGraphicFramePr>
          <p:nvPr/>
        </p:nvGraphicFramePr>
        <p:xfrm>
          <a:off x="1476375" y="2276475"/>
          <a:ext cx="6624638" cy="4360863"/>
        </p:xfrm>
        <a:graphic>
          <a:graphicData uri="http://schemas.openxmlformats.org/presentationml/2006/ole">
            <mc:AlternateContent xmlns:mc="http://schemas.openxmlformats.org/markup-compatibility/2006">
              <mc:Choice xmlns:v="urn:schemas-microsoft-com:vml" Requires="v">
                <p:oleObj spid="_x0000_s3077" name="" r:id="rId1" imgW="7134860" imgH="5824855" progId="">
                  <p:embed/>
                </p:oleObj>
              </mc:Choice>
              <mc:Fallback>
                <p:oleObj name="" r:id="rId1" imgW="7134860" imgH="5824855" progId="">
                  <p:embed/>
                  <p:pic>
                    <p:nvPicPr>
                      <p:cNvPr id="0" name="图片 3076"/>
                      <p:cNvPicPr/>
                      <p:nvPr/>
                    </p:nvPicPr>
                    <p:blipFill>
                      <a:blip r:embed="rId2"/>
                      <a:srcRect b="19606"/>
                      <a:stretch>
                        <a:fillRect/>
                      </a:stretch>
                    </p:blipFill>
                    <p:spPr>
                      <a:xfrm>
                        <a:off x="1476375" y="2276475"/>
                        <a:ext cx="6624638" cy="4360863"/>
                      </a:xfrm>
                      <a:prstGeom prst="rect">
                        <a:avLst/>
                      </a:prstGeom>
                      <a:noFill/>
                      <a:ln w="38100">
                        <a:noFill/>
                        <a:miter/>
                      </a:ln>
                    </p:spPr>
                  </p:pic>
                </p:oleObj>
              </mc:Fallback>
            </mc:AlternateContent>
          </a:graphicData>
        </a:graphic>
      </p:graphicFrame>
    </p:spTree>
  </p:cSld>
  <p:clrMapOvr>
    <a:masterClrMapping/>
  </p:clrMapOvr>
  <p:transition spd="slow">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4274" name="表格 54273"/>
          <p:cNvGraphicFramePr/>
          <p:nvPr/>
        </p:nvGraphicFramePr>
        <p:xfrm>
          <a:off x="323850" y="765175"/>
          <a:ext cx="8486775" cy="5472113"/>
        </p:xfrm>
        <a:graphic>
          <a:graphicData uri="http://schemas.openxmlformats.org/drawingml/2006/table">
            <a:tbl>
              <a:tblPr/>
              <a:tblGrid>
                <a:gridCol w="1368425"/>
                <a:gridCol w="1223963"/>
                <a:gridCol w="1651000"/>
                <a:gridCol w="1414462"/>
                <a:gridCol w="1182688"/>
                <a:gridCol w="1646237"/>
              </a:tblGrid>
              <a:tr h="627871">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zh-CN" altLang="en-US" sz="2400" b="0">
                          <a:solidFill>
                            <a:schemeClr val="tx2"/>
                          </a:solidFill>
                          <a:latin typeface="Tahoma" panose="020B0604030504040204" pitchFamily="34" charset="0"/>
                          <a:ea typeface="楷体_GB2312" pitchFamily="1" charset="-122"/>
                        </a:rPr>
                        <a:t>符号</a:t>
                      </a:r>
                      <a:endParaRPr lang="zh-CN" altLang="en-US" sz="2400" b="0">
                        <a:solidFill>
                          <a:schemeClr val="tx2"/>
                        </a:solidFill>
                        <a:latin typeface="Tahoma" panose="020B0604030504040204" pitchFamily="34" charset="0"/>
                      </a:endParaRPr>
                    </a:p>
                  </a:txBody>
                  <a:tcPr marT="45712" marB="45712" anchor="ct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zh-CN" altLang="en-US" sz="2400" b="0">
                          <a:solidFill>
                            <a:schemeClr val="tx2"/>
                          </a:solidFill>
                          <a:latin typeface="Tahoma" panose="020B0604030504040204" pitchFamily="34" charset="0"/>
                          <a:ea typeface="楷体_GB2312" pitchFamily="1" charset="-122"/>
                        </a:rPr>
                        <a:t>形状</a:t>
                      </a: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0"/>
                        </a:spcBef>
                        <a:spcAft>
                          <a:spcPct val="0"/>
                        </a:spcAft>
                        <a:buClr>
                          <a:schemeClr val="folHlink"/>
                        </a:buClr>
                        <a:buSzPct val="60000"/>
                        <a:buFont typeface="Wingdings" panose="05000000000000000000" pitchFamily="2" charset="2"/>
                        <a:buNone/>
                      </a:pPr>
                      <a:r>
                        <a:rPr lang="en-US" altLang="x-none" sz="1600" b="0" dirty="0">
                          <a:solidFill>
                            <a:schemeClr val="tx2"/>
                          </a:solidFill>
                          <a:latin typeface="Tahoma" panose="020B0604030504040204" pitchFamily="34" charset="0"/>
                          <a:ea typeface="楷体_GB2312" pitchFamily="1" charset="-122"/>
                        </a:rPr>
                        <a:t>7</a:t>
                      </a:r>
                      <a:r>
                        <a:rPr lang="zh-CN" altLang="en-US" sz="1600" b="0" dirty="0">
                          <a:solidFill>
                            <a:schemeClr val="tx2"/>
                          </a:solidFill>
                          <a:latin typeface="Tahoma" panose="020B0604030504040204" pitchFamily="34" charset="0"/>
                          <a:ea typeface="楷体_GB2312" pitchFamily="1" charset="-122"/>
                        </a:rPr>
                        <a:t>段码</a:t>
                      </a:r>
                      <a:endParaRPr lang="zh-CN" altLang="en-US" sz="1600" b="0" dirty="0">
                        <a:solidFill>
                          <a:schemeClr val="tx2"/>
                        </a:solidFill>
                        <a:latin typeface="Tahoma" panose="020B0604030504040204" pitchFamily="34" charset="0"/>
                        <a:ea typeface="楷体_GB2312" pitchFamily="1" charset="-122"/>
                      </a:endParaRPr>
                    </a:p>
                    <a:p>
                      <a:pPr marL="0" lvl="0" indent="0" algn="ctr" eaLnBrk="1" hangingPunct="1">
                        <a:spcBef>
                          <a:spcPct val="0"/>
                        </a:spcBef>
                        <a:spcAft>
                          <a:spcPct val="0"/>
                        </a:spcAft>
                        <a:buClr>
                          <a:schemeClr val="folHlink"/>
                        </a:buClr>
                        <a:buSzPct val="60000"/>
                        <a:buFont typeface="Wingdings" panose="05000000000000000000" pitchFamily="2" charset="2"/>
                        <a:buNone/>
                      </a:pPr>
                      <a:r>
                        <a:rPr lang="en-US" altLang="x-none" sz="1600" b="0" dirty="0">
                          <a:solidFill>
                            <a:schemeClr val="tx2"/>
                          </a:solidFill>
                          <a:latin typeface="Tahoma" panose="020B0604030504040204" pitchFamily="34" charset="0"/>
                          <a:ea typeface="楷体_GB2312" pitchFamily="1" charset="-122"/>
                        </a:rPr>
                        <a:t>.gfedcba</a:t>
                      </a:r>
                      <a:endParaRPr lang="en-US" altLang="x-none" sz="1600" b="0" dirty="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zh-CN" altLang="en-US" sz="2400" b="0" dirty="0">
                          <a:solidFill>
                            <a:schemeClr val="tx2"/>
                          </a:solidFill>
                          <a:latin typeface="Tahoma" panose="020B0604030504040204" pitchFamily="34" charset="0"/>
                          <a:ea typeface="楷体_GB2312" pitchFamily="1" charset="-122"/>
                        </a:rPr>
                        <a:t>符号</a:t>
                      </a:r>
                      <a:endParaRPr lang="en-US" altLang="x-none" sz="2400" b="0" dirty="0">
                        <a:solidFill>
                          <a:schemeClr val="tx2"/>
                        </a:solidFill>
                        <a:latin typeface="Tahoma" panose="020B0604030504040204" pitchFamily="34" charset="0"/>
                      </a:endParaRPr>
                    </a:p>
                  </a:txBody>
                  <a:tcPr marT="45712" marB="45712">
                    <a:lnL w="381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zh-CN" altLang="en-US" sz="2400" b="0">
                          <a:solidFill>
                            <a:schemeClr val="tx2"/>
                          </a:solidFill>
                          <a:latin typeface="Tahoma" panose="020B0604030504040204" pitchFamily="34" charset="0"/>
                          <a:ea typeface="楷体_GB2312" pitchFamily="1" charset="-122"/>
                        </a:rPr>
                        <a:t>形状</a:t>
                      </a: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0"/>
                        </a:spcBef>
                        <a:spcAft>
                          <a:spcPct val="0"/>
                        </a:spcAft>
                        <a:buClr>
                          <a:schemeClr val="folHlink"/>
                        </a:buClr>
                        <a:buSzPct val="60000"/>
                        <a:buFont typeface="Wingdings" panose="05000000000000000000" pitchFamily="2" charset="2"/>
                        <a:buNone/>
                      </a:pPr>
                      <a:r>
                        <a:rPr lang="en-US" altLang="x-none" sz="1600" b="0" dirty="0">
                          <a:solidFill>
                            <a:schemeClr val="tx2"/>
                          </a:solidFill>
                          <a:latin typeface="Tahoma" panose="020B0604030504040204" pitchFamily="34" charset="0"/>
                          <a:ea typeface="楷体_GB2312" pitchFamily="1" charset="-122"/>
                        </a:rPr>
                        <a:t>7</a:t>
                      </a:r>
                      <a:r>
                        <a:rPr lang="zh-CN" altLang="en-US" sz="1600" b="0" dirty="0">
                          <a:solidFill>
                            <a:schemeClr val="tx2"/>
                          </a:solidFill>
                          <a:latin typeface="Tahoma" panose="020B0604030504040204" pitchFamily="34" charset="0"/>
                          <a:ea typeface="楷体_GB2312" pitchFamily="1" charset="-122"/>
                        </a:rPr>
                        <a:t>段码</a:t>
                      </a:r>
                      <a:endParaRPr lang="zh-CN" altLang="en-US" sz="1600" b="0" dirty="0">
                        <a:solidFill>
                          <a:schemeClr val="tx2"/>
                        </a:solidFill>
                        <a:latin typeface="Tahoma" panose="020B0604030504040204" pitchFamily="34" charset="0"/>
                        <a:ea typeface="楷体_GB2312" pitchFamily="1" charset="-122"/>
                      </a:endParaRPr>
                    </a:p>
                    <a:p>
                      <a:pPr marL="0" lvl="0" indent="0" algn="ctr" eaLnBrk="1" hangingPunct="1">
                        <a:spcBef>
                          <a:spcPct val="0"/>
                        </a:spcBef>
                        <a:spcAft>
                          <a:spcPct val="0"/>
                        </a:spcAft>
                        <a:buClr>
                          <a:schemeClr val="folHlink"/>
                        </a:buClr>
                        <a:buSzPct val="60000"/>
                        <a:buFont typeface="Wingdings" panose="05000000000000000000" pitchFamily="2" charset="2"/>
                        <a:buNone/>
                      </a:pPr>
                      <a:r>
                        <a:rPr lang="en-US" altLang="x-none" sz="1600" b="0" dirty="0">
                          <a:solidFill>
                            <a:schemeClr val="tx2"/>
                          </a:solidFill>
                          <a:latin typeface="Tahoma" panose="020B0604030504040204" pitchFamily="34" charset="0"/>
                          <a:ea typeface="楷体_GB2312" pitchFamily="1" charset="-122"/>
                        </a:rPr>
                        <a:t>.gfedcba</a:t>
                      </a:r>
                      <a:endParaRPr lang="zh-CN" altLang="en-US" sz="1600" b="0" dirty="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93626">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’0’</a:t>
                      </a:r>
                      <a:endParaRPr lang="en-US" altLang="x-none" sz="2400" b="0" dirty="0">
                        <a:solidFill>
                          <a:schemeClr val="tx2"/>
                        </a:solidFill>
                        <a:latin typeface="Tahoma" panose="020B0604030504040204" pitchFamily="34" charset="0"/>
                      </a:endParaRPr>
                    </a:p>
                  </a:txBody>
                  <a:tcPr marT="45712" marB="45712" anchor="ct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00111111</a:t>
                      </a:r>
                      <a:endParaRPr lang="en-US" altLang="x-none"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’8’</a:t>
                      </a:r>
                      <a:endParaRPr lang="en-US" altLang="x-none" sz="2400" b="0" dirty="0">
                        <a:solidFill>
                          <a:schemeClr val="tx2"/>
                        </a:solidFill>
                        <a:latin typeface="Tahoma" panose="020B0604030504040204" pitchFamily="34" charset="0"/>
                      </a:endParaRPr>
                    </a:p>
                  </a:txBody>
                  <a:tcPr marT="45712" marB="45712">
                    <a:lnL w="381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01111111</a:t>
                      </a:r>
                      <a:endParaRPr lang="zh-CN" altLang="en-US"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95213">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’1’</a:t>
                      </a:r>
                      <a:endParaRPr lang="en-US" altLang="x-none" sz="2400" b="0" dirty="0">
                        <a:solidFill>
                          <a:schemeClr val="tx2"/>
                        </a:solidFill>
                        <a:latin typeface="Tahoma" panose="020B0604030504040204" pitchFamily="34" charset="0"/>
                      </a:endParaRPr>
                    </a:p>
                  </a:txBody>
                  <a:tcPr marT="45712" marB="45712" anchor="ct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00000110</a:t>
                      </a:r>
                      <a:endParaRPr lang="en-US" altLang="x-none"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’9’</a:t>
                      </a:r>
                      <a:endParaRPr lang="en-US" altLang="x-none" sz="2400" b="0" dirty="0">
                        <a:solidFill>
                          <a:schemeClr val="tx2"/>
                        </a:solidFill>
                        <a:latin typeface="Tahoma" panose="020B0604030504040204" pitchFamily="34" charset="0"/>
                      </a:endParaRPr>
                    </a:p>
                  </a:txBody>
                  <a:tcPr marT="45712" marB="45712">
                    <a:lnL w="381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01100111</a:t>
                      </a:r>
                      <a:endParaRPr lang="zh-CN" altLang="en-US"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85686">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’2’</a:t>
                      </a:r>
                      <a:endParaRPr lang="en-US" altLang="x-none" sz="2400" b="0" dirty="0">
                        <a:solidFill>
                          <a:schemeClr val="tx2"/>
                        </a:solidFill>
                        <a:latin typeface="Tahoma" panose="020B0604030504040204" pitchFamily="34" charset="0"/>
                      </a:endParaRPr>
                    </a:p>
                  </a:txBody>
                  <a:tcPr marT="45712" marB="45712" anchor="ct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01011011</a:t>
                      </a:r>
                      <a:endParaRPr lang="en-US" altLang="x-none"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’A’</a:t>
                      </a:r>
                      <a:endParaRPr lang="en-US" altLang="x-none" sz="2400" b="0" dirty="0">
                        <a:solidFill>
                          <a:schemeClr val="tx2"/>
                        </a:solidFill>
                        <a:latin typeface="Tahoma" panose="020B0604030504040204" pitchFamily="34" charset="0"/>
                      </a:endParaRPr>
                    </a:p>
                  </a:txBody>
                  <a:tcPr marT="45712" marB="45712">
                    <a:lnL w="381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01110111</a:t>
                      </a:r>
                      <a:endParaRPr lang="zh-CN" altLang="en-US"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93626">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’3’</a:t>
                      </a:r>
                      <a:endParaRPr lang="en-US" altLang="x-none" sz="2400" b="0" dirty="0">
                        <a:solidFill>
                          <a:schemeClr val="tx2"/>
                        </a:solidFill>
                        <a:latin typeface="Tahoma" panose="020B0604030504040204" pitchFamily="34" charset="0"/>
                      </a:endParaRPr>
                    </a:p>
                  </a:txBody>
                  <a:tcPr marT="45712" marB="45712" anchor="ct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01001111</a:t>
                      </a:r>
                      <a:endParaRPr lang="zh-CN" altLang="en-US"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’B’</a:t>
                      </a:r>
                      <a:endParaRPr lang="en-US" altLang="x-none" sz="2400" b="0" dirty="0">
                        <a:solidFill>
                          <a:schemeClr val="tx2"/>
                        </a:solidFill>
                        <a:latin typeface="Tahoma" panose="020B0604030504040204" pitchFamily="34" charset="0"/>
                      </a:endParaRPr>
                    </a:p>
                  </a:txBody>
                  <a:tcPr marT="45712" marB="45712">
                    <a:lnL w="381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01111100</a:t>
                      </a:r>
                      <a:endParaRPr lang="zh-CN" altLang="en-US"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93626">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’4’</a:t>
                      </a:r>
                      <a:endParaRPr lang="en-US" altLang="x-none" sz="2400" b="0" dirty="0">
                        <a:solidFill>
                          <a:schemeClr val="tx2"/>
                        </a:solidFill>
                        <a:latin typeface="Tahoma" panose="020B0604030504040204" pitchFamily="34" charset="0"/>
                      </a:endParaRPr>
                    </a:p>
                  </a:txBody>
                  <a:tcPr marT="45712" marB="45712" anchor="ct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01100110</a:t>
                      </a:r>
                      <a:endParaRPr lang="zh-CN" altLang="en-US"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’C’</a:t>
                      </a:r>
                      <a:endParaRPr lang="en-US" altLang="x-none" sz="2400" b="0" dirty="0">
                        <a:solidFill>
                          <a:schemeClr val="tx2"/>
                        </a:solidFill>
                        <a:latin typeface="Tahoma" panose="020B0604030504040204" pitchFamily="34" charset="0"/>
                      </a:endParaRPr>
                    </a:p>
                  </a:txBody>
                  <a:tcPr marT="45712" marB="45712">
                    <a:lnL w="381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00111001</a:t>
                      </a:r>
                      <a:endParaRPr lang="zh-CN" altLang="en-US"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95212">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’5’</a:t>
                      </a:r>
                      <a:endParaRPr lang="en-US" altLang="x-none" sz="2400" b="0" dirty="0">
                        <a:solidFill>
                          <a:schemeClr val="tx2"/>
                        </a:solidFill>
                        <a:latin typeface="Tahoma" panose="020B0604030504040204" pitchFamily="34" charset="0"/>
                      </a:endParaRPr>
                    </a:p>
                  </a:txBody>
                  <a:tcPr marT="45712" marB="45712" anchor="ct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01101101</a:t>
                      </a:r>
                      <a:endParaRPr lang="zh-CN" altLang="en-US"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’D’</a:t>
                      </a:r>
                      <a:endParaRPr lang="en-US" altLang="x-none" sz="2400" b="0" dirty="0">
                        <a:solidFill>
                          <a:schemeClr val="tx2"/>
                        </a:solidFill>
                        <a:latin typeface="Tahoma" panose="020B0604030504040204" pitchFamily="34" charset="0"/>
                      </a:endParaRPr>
                    </a:p>
                  </a:txBody>
                  <a:tcPr marT="45712" marB="45712">
                    <a:lnL w="381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01011110</a:t>
                      </a:r>
                      <a:endParaRPr lang="zh-CN" altLang="en-US"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93626">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’6’</a:t>
                      </a:r>
                      <a:endParaRPr lang="en-US" altLang="x-none" sz="2400" b="0" dirty="0">
                        <a:solidFill>
                          <a:schemeClr val="tx2"/>
                        </a:solidFill>
                        <a:latin typeface="Tahoma" panose="020B0604030504040204" pitchFamily="34" charset="0"/>
                      </a:endParaRPr>
                    </a:p>
                  </a:txBody>
                  <a:tcPr marT="45712" marB="45712" anchor="ct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01111101</a:t>
                      </a:r>
                      <a:endParaRPr lang="zh-CN" altLang="en-US"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’E’</a:t>
                      </a:r>
                      <a:endParaRPr lang="en-US" altLang="x-none" sz="2400" b="0" dirty="0">
                        <a:solidFill>
                          <a:schemeClr val="tx2"/>
                        </a:solidFill>
                        <a:latin typeface="Tahoma" panose="020B0604030504040204" pitchFamily="34" charset="0"/>
                      </a:endParaRPr>
                    </a:p>
                  </a:txBody>
                  <a:tcPr marT="45712" marB="45712">
                    <a:lnL w="381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01111001</a:t>
                      </a:r>
                      <a:endParaRPr lang="zh-CN" altLang="en-US"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93626">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’7’</a:t>
                      </a:r>
                      <a:endParaRPr lang="en-US" altLang="x-none" sz="2400" b="0" dirty="0">
                        <a:solidFill>
                          <a:schemeClr val="tx2"/>
                        </a:solidFill>
                        <a:latin typeface="Tahoma" panose="020B0604030504040204" pitchFamily="34" charset="0"/>
                      </a:endParaRPr>
                    </a:p>
                  </a:txBody>
                  <a:tcPr marT="45712" marB="45712" anchor="ct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00000111</a:t>
                      </a:r>
                      <a:endParaRPr lang="zh-CN" altLang="en-US"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2400" b="0" dirty="0">
                          <a:solidFill>
                            <a:schemeClr val="tx2"/>
                          </a:solidFill>
                          <a:latin typeface="Tahoma" panose="020B0604030504040204" pitchFamily="34" charset="0"/>
                          <a:ea typeface="楷体_GB2312" pitchFamily="1" charset="-122"/>
                        </a:rPr>
                        <a:t>’F’</a:t>
                      </a:r>
                      <a:endParaRPr lang="en-US" altLang="x-none" sz="2400" b="0" dirty="0">
                        <a:solidFill>
                          <a:schemeClr val="tx2"/>
                        </a:solidFill>
                        <a:latin typeface="Tahoma" panose="020B0604030504040204" pitchFamily="34" charset="0"/>
                      </a:endParaRPr>
                    </a:p>
                  </a:txBody>
                  <a:tcPr marT="45712" marB="45712">
                    <a:lnL w="381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endParaRPr lang="zh-CN" altLang="en-US" sz="2400" b="0">
                        <a:solidFill>
                          <a:schemeClr val="tx2"/>
                        </a:solidFill>
                        <a:latin typeface="Tahoma" panose="020B0604030504040204" pitchFamily="34" charset="0"/>
                      </a:endParaRPr>
                    </a:p>
                  </a:txBody>
                  <a:tcPr marT="45712" marB="45712">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60000"/>
                        <a:buFont typeface="Wingdings" panose="05000000000000000000" pitchFamily="2" charset="2"/>
                        <a:buNone/>
                      </a:pPr>
                      <a:r>
                        <a:rPr lang="en-US" altLang="x-none" sz="1800" b="0" dirty="0">
                          <a:solidFill>
                            <a:schemeClr val="tx2"/>
                          </a:solidFill>
                          <a:latin typeface="Tahoma" panose="020B0604030504040204" pitchFamily="34" charset="0"/>
                          <a:ea typeface="楷体_GB2312" pitchFamily="1" charset="-122"/>
                        </a:rPr>
                        <a:t>01110001</a:t>
                      </a:r>
                      <a:endParaRPr lang="zh-CN" altLang="en-US" sz="2400" b="0" dirty="0">
                        <a:solidFill>
                          <a:schemeClr val="tx2"/>
                        </a:solidFill>
                        <a:latin typeface="Tahoma" panose="020B0604030504040204" pitchFamily="34" charset="0"/>
                      </a:endParaRPr>
                    </a:p>
                  </a:txBody>
                  <a:tcPr marT="45712" marB="45712" anchor="ct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134218" name="Line 78"/>
          <p:cNvSpPr/>
          <p:nvPr/>
        </p:nvSpPr>
        <p:spPr>
          <a:xfrm>
            <a:off x="2124075" y="1487488"/>
            <a:ext cx="215900" cy="0"/>
          </a:xfrm>
          <a:prstGeom prst="line">
            <a:avLst/>
          </a:prstGeom>
          <a:ln w="31750" cap="flat" cmpd="sng">
            <a:solidFill>
              <a:srgbClr val="FF0000"/>
            </a:solidFill>
            <a:prstDash val="solid"/>
            <a:bevel/>
            <a:headEnd type="none" w="med" len="med"/>
            <a:tailEnd type="none" w="med" len="med"/>
          </a:ln>
        </p:spPr>
      </p:sp>
      <p:sp>
        <p:nvSpPr>
          <p:cNvPr id="134219" name="Line 79"/>
          <p:cNvSpPr/>
          <p:nvPr/>
        </p:nvSpPr>
        <p:spPr>
          <a:xfrm>
            <a:off x="2095500" y="1516063"/>
            <a:ext cx="0" cy="144462"/>
          </a:xfrm>
          <a:prstGeom prst="line">
            <a:avLst/>
          </a:prstGeom>
          <a:ln w="31750" cap="flat" cmpd="sng">
            <a:solidFill>
              <a:srgbClr val="FF0000"/>
            </a:solidFill>
            <a:prstDash val="solid"/>
            <a:bevel/>
            <a:headEnd type="none" w="med" len="med"/>
            <a:tailEnd type="none" w="med" len="med"/>
          </a:ln>
        </p:spPr>
      </p:sp>
      <p:sp>
        <p:nvSpPr>
          <p:cNvPr id="134220" name="Line 80"/>
          <p:cNvSpPr/>
          <p:nvPr/>
        </p:nvSpPr>
        <p:spPr>
          <a:xfrm>
            <a:off x="2368550" y="1516063"/>
            <a:ext cx="0" cy="144462"/>
          </a:xfrm>
          <a:prstGeom prst="line">
            <a:avLst/>
          </a:prstGeom>
          <a:ln w="31750" cap="flat" cmpd="sng">
            <a:solidFill>
              <a:srgbClr val="FF0000"/>
            </a:solidFill>
            <a:prstDash val="solid"/>
            <a:bevel/>
            <a:headEnd type="none" w="med" len="med"/>
            <a:tailEnd type="none" w="med" len="med"/>
          </a:ln>
        </p:spPr>
      </p:sp>
      <p:sp>
        <p:nvSpPr>
          <p:cNvPr id="134221" name="Line 81"/>
          <p:cNvSpPr/>
          <p:nvPr/>
        </p:nvSpPr>
        <p:spPr>
          <a:xfrm>
            <a:off x="2124075" y="1919288"/>
            <a:ext cx="215900" cy="0"/>
          </a:xfrm>
          <a:prstGeom prst="line">
            <a:avLst/>
          </a:prstGeom>
          <a:ln w="31750" cap="flat" cmpd="sng">
            <a:solidFill>
              <a:srgbClr val="FF0000"/>
            </a:solidFill>
            <a:prstDash val="solid"/>
            <a:bevel/>
            <a:headEnd type="none" w="med" len="med"/>
            <a:tailEnd type="none" w="med" len="med"/>
          </a:ln>
        </p:spPr>
      </p:sp>
      <p:sp>
        <p:nvSpPr>
          <p:cNvPr id="134222" name="Line 82"/>
          <p:cNvSpPr/>
          <p:nvPr/>
        </p:nvSpPr>
        <p:spPr>
          <a:xfrm>
            <a:off x="2095500" y="1731963"/>
            <a:ext cx="0" cy="144462"/>
          </a:xfrm>
          <a:prstGeom prst="line">
            <a:avLst/>
          </a:prstGeom>
          <a:ln w="31750" cap="flat" cmpd="sng">
            <a:solidFill>
              <a:srgbClr val="FF0000"/>
            </a:solidFill>
            <a:prstDash val="solid"/>
            <a:bevel/>
            <a:headEnd type="none" w="med" len="med"/>
            <a:tailEnd type="none" w="med" len="med"/>
          </a:ln>
        </p:spPr>
      </p:sp>
      <p:sp>
        <p:nvSpPr>
          <p:cNvPr id="134223" name="Line 83"/>
          <p:cNvSpPr/>
          <p:nvPr/>
        </p:nvSpPr>
        <p:spPr>
          <a:xfrm>
            <a:off x="2368550" y="1731963"/>
            <a:ext cx="0" cy="144462"/>
          </a:xfrm>
          <a:prstGeom prst="line">
            <a:avLst/>
          </a:prstGeom>
          <a:ln w="31750" cap="flat" cmpd="sng">
            <a:solidFill>
              <a:srgbClr val="FF0000"/>
            </a:solidFill>
            <a:prstDash val="solid"/>
            <a:bevel/>
            <a:headEnd type="none" w="med" len="med"/>
            <a:tailEnd type="none" w="med" len="med"/>
          </a:ln>
        </p:spPr>
      </p:sp>
      <p:sp>
        <p:nvSpPr>
          <p:cNvPr id="134224" name="Line 84"/>
          <p:cNvSpPr/>
          <p:nvPr/>
        </p:nvSpPr>
        <p:spPr>
          <a:xfrm>
            <a:off x="2368550" y="2136775"/>
            <a:ext cx="0" cy="144463"/>
          </a:xfrm>
          <a:prstGeom prst="line">
            <a:avLst/>
          </a:prstGeom>
          <a:ln w="31750" cap="flat" cmpd="sng">
            <a:solidFill>
              <a:srgbClr val="FF0000"/>
            </a:solidFill>
            <a:prstDash val="solid"/>
            <a:bevel/>
            <a:headEnd type="none" w="med" len="med"/>
            <a:tailEnd type="none" w="med" len="med"/>
          </a:ln>
        </p:spPr>
      </p:sp>
      <p:sp>
        <p:nvSpPr>
          <p:cNvPr id="134225" name="Line 85"/>
          <p:cNvSpPr/>
          <p:nvPr/>
        </p:nvSpPr>
        <p:spPr>
          <a:xfrm>
            <a:off x="2368550" y="2352675"/>
            <a:ext cx="0" cy="144463"/>
          </a:xfrm>
          <a:prstGeom prst="line">
            <a:avLst/>
          </a:prstGeom>
          <a:ln w="31750" cap="flat" cmpd="sng">
            <a:solidFill>
              <a:srgbClr val="FF0000"/>
            </a:solidFill>
            <a:prstDash val="solid"/>
            <a:bevel/>
            <a:headEnd type="none" w="med" len="med"/>
            <a:tailEnd type="none" w="med" len="med"/>
          </a:ln>
        </p:spPr>
      </p:sp>
      <p:sp>
        <p:nvSpPr>
          <p:cNvPr id="134226" name="Line 86"/>
          <p:cNvSpPr/>
          <p:nvPr/>
        </p:nvSpPr>
        <p:spPr>
          <a:xfrm>
            <a:off x="2124075" y="2703513"/>
            <a:ext cx="215900" cy="0"/>
          </a:xfrm>
          <a:prstGeom prst="line">
            <a:avLst/>
          </a:prstGeom>
          <a:ln w="31750" cap="flat" cmpd="sng">
            <a:solidFill>
              <a:srgbClr val="FF0000"/>
            </a:solidFill>
            <a:prstDash val="solid"/>
            <a:bevel/>
            <a:headEnd type="none" w="med" len="med"/>
            <a:tailEnd type="none" w="med" len="med"/>
          </a:ln>
        </p:spPr>
      </p:sp>
      <p:sp>
        <p:nvSpPr>
          <p:cNvPr id="134227" name="Line 87"/>
          <p:cNvSpPr/>
          <p:nvPr/>
        </p:nvSpPr>
        <p:spPr>
          <a:xfrm>
            <a:off x="2368550" y="2732088"/>
            <a:ext cx="0" cy="144462"/>
          </a:xfrm>
          <a:prstGeom prst="line">
            <a:avLst/>
          </a:prstGeom>
          <a:ln w="31750" cap="flat" cmpd="sng">
            <a:solidFill>
              <a:srgbClr val="FF0000"/>
            </a:solidFill>
            <a:prstDash val="solid"/>
            <a:bevel/>
            <a:headEnd type="none" w="med" len="med"/>
            <a:tailEnd type="none" w="med" len="med"/>
          </a:ln>
        </p:spPr>
      </p:sp>
      <p:sp>
        <p:nvSpPr>
          <p:cNvPr id="134228" name="Line 88"/>
          <p:cNvSpPr/>
          <p:nvPr/>
        </p:nvSpPr>
        <p:spPr>
          <a:xfrm>
            <a:off x="2124075" y="2919413"/>
            <a:ext cx="215900" cy="0"/>
          </a:xfrm>
          <a:prstGeom prst="line">
            <a:avLst/>
          </a:prstGeom>
          <a:ln w="31750" cap="flat" cmpd="sng">
            <a:solidFill>
              <a:srgbClr val="FF0000"/>
            </a:solidFill>
            <a:prstDash val="solid"/>
            <a:bevel/>
            <a:headEnd type="none" w="med" len="med"/>
            <a:tailEnd type="none" w="med" len="med"/>
          </a:ln>
        </p:spPr>
      </p:sp>
      <p:sp>
        <p:nvSpPr>
          <p:cNvPr id="134229" name="Line 89"/>
          <p:cNvSpPr/>
          <p:nvPr/>
        </p:nvSpPr>
        <p:spPr>
          <a:xfrm>
            <a:off x="2124075" y="3135313"/>
            <a:ext cx="215900" cy="0"/>
          </a:xfrm>
          <a:prstGeom prst="line">
            <a:avLst/>
          </a:prstGeom>
          <a:ln w="31750" cap="flat" cmpd="sng">
            <a:solidFill>
              <a:srgbClr val="FF0000"/>
            </a:solidFill>
            <a:prstDash val="solid"/>
            <a:bevel/>
            <a:headEnd type="none" w="med" len="med"/>
            <a:tailEnd type="none" w="med" len="med"/>
          </a:ln>
        </p:spPr>
      </p:sp>
      <p:sp>
        <p:nvSpPr>
          <p:cNvPr id="134230" name="Line 90"/>
          <p:cNvSpPr/>
          <p:nvPr/>
        </p:nvSpPr>
        <p:spPr>
          <a:xfrm>
            <a:off x="2095500" y="2947988"/>
            <a:ext cx="0" cy="144462"/>
          </a:xfrm>
          <a:prstGeom prst="line">
            <a:avLst/>
          </a:prstGeom>
          <a:ln w="31750" cap="flat" cmpd="sng">
            <a:solidFill>
              <a:srgbClr val="FF0000"/>
            </a:solidFill>
            <a:prstDash val="solid"/>
            <a:bevel/>
            <a:headEnd type="none" w="med" len="med"/>
            <a:tailEnd type="none" w="med" len="med"/>
          </a:ln>
        </p:spPr>
      </p:sp>
      <p:sp>
        <p:nvSpPr>
          <p:cNvPr id="134231" name="Line 91"/>
          <p:cNvSpPr/>
          <p:nvPr/>
        </p:nvSpPr>
        <p:spPr>
          <a:xfrm>
            <a:off x="2124075" y="3355975"/>
            <a:ext cx="215900" cy="0"/>
          </a:xfrm>
          <a:prstGeom prst="line">
            <a:avLst/>
          </a:prstGeom>
          <a:ln w="31750" cap="flat" cmpd="sng">
            <a:solidFill>
              <a:srgbClr val="FF0000"/>
            </a:solidFill>
            <a:prstDash val="solid"/>
            <a:bevel/>
            <a:headEnd type="none" w="med" len="med"/>
            <a:tailEnd type="none" w="med" len="med"/>
          </a:ln>
        </p:spPr>
      </p:sp>
      <p:sp>
        <p:nvSpPr>
          <p:cNvPr id="134232" name="Line 92"/>
          <p:cNvSpPr/>
          <p:nvPr/>
        </p:nvSpPr>
        <p:spPr>
          <a:xfrm>
            <a:off x="2368550" y="3406775"/>
            <a:ext cx="0" cy="144463"/>
          </a:xfrm>
          <a:prstGeom prst="line">
            <a:avLst/>
          </a:prstGeom>
          <a:ln w="31750" cap="flat" cmpd="sng">
            <a:solidFill>
              <a:srgbClr val="FF0000"/>
            </a:solidFill>
            <a:prstDash val="solid"/>
            <a:bevel/>
            <a:headEnd type="none" w="med" len="med"/>
            <a:tailEnd type="none" w="med" len="med"/>
          </a:ln>
        </p:spPr>
      </p:sp>
      <p:sp>
        <p:nvSpPr>
          <p:cNvPr id="134233" name="Line 93"/>
          <p:cNvSpPr/>
          <p:nvPr/>
        </p:nvSpPr>
        <p:spPr>
          <a:xfrm>
            <a:off x="2124075" y="3594100"/>
            <a:ext cx="215900" cy="0"/>
          </a:xfrm>
          <a:prstGeom prst="line">
            <a:avLst/>
          </a:prstGeom>
          <a:ln w="31750" cap="flat" cmpd="sng">
            <a:solidFill>
              <a:srgbClr val="FF0000"/>
            </a:solidFill>
            <a:prstDash val="solid"/>
            <a:bevel/>
            <a:headEnd type="none" w="med" len="med"/>
            <a:tailEnd type="none" w="med" len="med"/>
          </a:ln>
        </p:spPr>
      </p:sp>
      <p:sp>
        <p:nvSpPr>
          <p:cNvPr id="134234" name="Line 94"/>
          <p:cNvSpPr/>
          <p:nvPr/>
        </p:nvSpPr>
        <p:spPr>
          <a:xfrm>
            <a:off x="2124075" y="3810000"/>
            <a:ext cx="215900" cy="0"/>
          </a:xfrm>
          <a:prstGeom prst="line">
            <a:avLst/>
          </a:prstGeom>
          <a:ln w="31750" cap="flat" cmpd="sng">
            <a:solidFill>
              <a:srgbClr val="FF0000"/>
            </a:solidFill>
            <a:prstDash val="solid"/>
            <a:bevel/>
            <a:headEnd type="none" w="med" len="med"/>
            <a:tailEnd type="none" w="med" len="med"/>
          </a:ln>
        </p:spPr>
      </p:sp>
      <p:sp>
        <p:nvSpPr>
          <p:cNvPr id="134235" name="Line 95"/>
          <p:cNvSpPr/>
          <p:nvPr/>
        </p:nvSpPr>
        <p:spPr>
          <a:xfrm>
            <a:off x="2368550" y="3622675"/>
            <a:ext cx="0" cy="144463"/>
          </a:xfrm>
          <a:prstGeom prst="line">
            <a:avLst/>
          </a:prstGeom>
          <a:ln w="31750" cap="flat" cmpd="sng">
            <a:solidFill>
              <a:srgbClr val="FF0000"/>
            </a:solidFill>
            <a:prstDash val="solid"/>
            <a:bevel/>
            <a:headEnd type="none" w="med" len="med"/>
            <a:tailEnd type="none" w="med" len="med"/>
          </a:ln>
        </p:spPr>
      </p:sp>
      <p:sp>
        <p:nvSpPr>
          <p:cNvPr id="134236" name="Line 96"/>
          <p:cNvSpPr/>
          <p:nvPr/>
        </p:nvSpPr>
        <p:spPr>
          <a:xfrm>
            <a:off x="2095500" y="3983038"/>
            <a:ext cx="0" cy="144462"/>
          </a:xfrm>
          <a:prstGeom prst="line">
            <a:avLst/>
          </a:prstGeom>
          <a:ln w="31750" cap="flat" cmpd="sng">
            <a:solidFill>
              <a:srgbClr val="FF0000"/>
            </a:solidFill>
            <a:prstDash val="solid"/>
            <a:bevel/>
            <a:headEnd type="none" w="med" len="med"/>
            <a:tailEnd type="none" w="med" len="med"/>
          </a:ln>
        </p:spPr>
      </p:sp>
      <p:sp>
        <p:nvSpPr>
          <p:cNvPr id="134237" name="Line 97"/>
          <p:cNvSpPr/>
          <p:nvPr/>
        </p:nvSpPr>
        <p:spPr>
          <a:xfrm>
            <a:off x="2368550" y="3983038"/>
            <a:ext cx="0" cy="144462"/>
          </a:xfrm>
          <a:prstGeom prst="line">
            <a:avLst/>
          </a:prstGeom>
          <a:ln w="31750" cap="flat" cmpd="sng">
            <a:solidFill>
              <a:srgbClr val="FF0000"/>
            </a:solidFill>
            <a:prstDash val="solid"/>
            <a:bevel/>
            <a:headEnd type="none" w="med" len="med"/>
            <a:tailEnd type="none" w="med" len="med"/>
          </a:ln>
        </p:spPr>
      </p:sp>
      <p:sp>
        <p:nvSpPr>
          <p:cNvPr id="134238" name="Line 98"/>
          <p:cNvSpPr/>
          <p:nvPr/>
        </p:nvSpPr>
        <p:spPr>
          <a:xfrm>
            <a:off x="2124075" y="4170363"/>
            <a:ext cx="215900" cy="0"/>
          </a:xfrm>
          <a:prstGeom prst="line">
            <a:avLst/>
          </a:prstGeom>
          <a:ln w="31750" cap="flat" cmpd="sng">
            <a:solidFill>
              <a:srgbClr val="FF0000"/>
            </a:solidFill>
            <a:prstDash val="solid"/>
            <a:bevel/>
            <a:headEnd type="none" w="med" len="med"/>
            <a:tailEnd type="none" w="med" len="med"/>
          </a:ln>
        </p:spPr>
      </p:sp>
      <p:sp>
        <p:nvSpPr>
          <p:cNvPr id="134239" name="Line 99"/>
          <p:cNvSpPr/>
          <p:nvPr/>
        </p:nvSpPr>
        <p:spPr>
          <a:xfrm>
            <a:off x="2368550" y="4198938"/>
            <a:ext cx="0" cy="144462"/>
          </a:xfrm>
          <a:prstGeom prst="line">
            <a:avLst/>
          </a:prstGeom>
          <a:ln w="31750" cap="flat" cmpd="sng">
            <a:solidFill>
              <a:srgbClr val="FF0000"/>
            </a:solidFill>
            <a:prstDash val="solid"/>
            <a:bevel/>
            <a:headEnd type="none" w="med" len="med"/>
            <a:tailEnd type="none" w="med" len="med"/>
          </a:ln>
        </p:spPr>
      </p:sp>
      <p:sp>
        <p:nvSpPr>
          <p:cNvPr id="134240" name="Line 100"/>
          <p:cNvSpPr/>
          <p:nvPr/>
        </p:nvSpPr>
        <p:spPr>
          <a:xfrm>
            <a:off x="2124075" y="4602163"/>
            <a:ext cx="215900" cy="0"/>
          </a:xfrm>
          <a:prstGeom prst="line">
            <a:avLst/>
          </a:prstGeom>
          <a:ln w="31750" cap="flat" cmpd="sng">
            <a:solidFill>
              <a:srgbClr val="FF0000"/>
            </a:solidFill>
            <a:prstDash val="solid"/>
            <a:bevel/>
            <a:headEnd type="none" w="med" len="med"/>
            <a:tailEnd type="none" w="med" len="med"/>
          </a:ln>
        </p:spPr>
      </p:sp>
      <p:sp>
        <p:nvSpPr>
          <p:cNvPr id="134241" name="Line 101"/>
          <p:cNvSpPr/>
          <p:nvPr/>
        </p:nvSpPr>
        <p:spPr>
          <a:xfrm>
            <a:off x="2095500" y="4630738"/>
            <a:ext cx="0" cy="144462"/>
          </a:xfrm>
          <a:prstGeom prst="line">
            <a:avLst/>
          </a:prstGeom>
          <a:ln w="31750" cap="flat" cmpd="sng">
            <a:solidFill>
              <a:srgbClr val="FF0000"/>
            </a:solidFill>
            <a:prstDash val="solid"/>
            <a:bevel/>
            <a:headEnd type="none" w="med" len="med"/>
            <a:tailEnd type="none" w="med" len="med"/>
          </a:ln>
        </p:spPr>
      </p:sp>
      <p:sp>
        <p:nvSpPr>
          <p:cNvPr id="134242" name="Line 102"/>
          <p:cNvSpPr/>
          <p:nvPr/>
        </p:nvSpPr>
        <p:spPr>
          <a:xfrm>
            <a:off x="2124075" y="4818063"/>
            <a:ext cx="215900" cy="0"/>
          </a:xfrm>
          <a:prstGeom prst="line">
            <a:avLst/>
          </a:prstGeom>
          <a:ln w="31750" cap="flat" cmpd="sng">
            <a:solidFill>
              <a:srgbClr val="FF0000"/>
            </a:solidFill>
            <a:prstDash val="solid"/>
            <a:bevel/>
            <a:headEnd type="none" w="med" len="med"/>
            <a:tailEnd type="none" w="med" len="med"/>
          </a:ln>
        </p:spPr>
      </p:sp>
      <p:sp>
        <p:nvSpPr>
          <p:cNvPr id="134243" name="Line 103"/>
          <p:cNvSpPr/>
          <p:nvPr/>
        </p:nvSpPr>
        <p:spPr>
          <a:xfrm>
            <a:off x="2124075" y="5033963"/>
            <a:ext cx="215900" cy="0"/>
          </a:xfrm>
          <a:prstGeom prst="line">
            <a:avLst/>
          </a:prstGeom>
          <a:ln w="31750" cap="flat" cmpd="sng">
            <a:solidFill>
              <a:srgbClr val="FF0000"/>
            </a:solidFill>
            <a:prstDash val="solid"/>
            <a:bevel/>
            <a:headEnd type="none" w="med" len="med"/>
            <a:tailEnd type="none" w="med" len="med"/>
          </a:ln>
        </p:spPr>
      </p:sp>
      <p:sp>
        <p:nvSpPr>
          <p:cNvPr id="134244" name="Line 104"/>
          <p:cNvSpPr/>
          <p:nvPr/>
        </p:nvSpPr>
        <p:spPr>
          <a:xfrm>
            <a:off x="2368550" y="4846638"/>
            <a:ext cx="0" cy="144462"/>
          </a:xfrm>
          <a:prstGeom prst="line">
            <a:avLst/>
          </a:prstGeom>
          <a:ln w="31750" cap="flat" cmpd="sng">
            <a:solidFill>
              <a:srgbClr val="FF0000"/>
            </a:solidFill>
            <a:prstDash val="solid"/>
            <a:bevel/>
            <a:headEnd type="none" w="med" len="med"/>
            <a:tailEnd type="none" w="med" len="med"/>
          </a:ln>
        </p:spPr>
      </p:sp>
      <p:sp>
        <p:nvSpPr>
          <p:cNvPr id="134245" name="Line 105"/>
          <p:cNvSpPr/>
          <p:nvPr/>
        </p:nvSpPr>
        <p:spPr>
          <a:xfrm>
            <a:off x="2124075" y="5178425"/>
            <a:ext cx="215900" cy="0"/>
          </a:xfrm>
          <a:prstGeom prst="line">
            <a:avLst/>
          </a:prstGeom>
          <a:ln w="31750" cap="flat" cmpd="sng">
            <a:solidFill>
              <a:srgbClr val="FF0000"/>
            </a:solidFill>
            <a:prstDash val="solid"/>
            <a:bevel/>
            <a:headEnd type="none" w="med" len="med"/>
            <a:tailEnd type="none" w="med" len="med"/>
          </a:ln>
        </p:spPr>
      </p:sp>
      <p:sp>
        <p:nvSpPr>
          <p:cNvPr id="134246" name="Line 106"/>
          <p:cNvSpPr/>
          <p:nvPr/>
        </p:nvSpPr>
        <p:spPr>
          <a:xfrm>
            <a:off x="2095500" y="5207000"/>
            <a:ext cx="0" cy="144463"/>
          </a:xfrm>
          <a:prstGeom prst="line">
            <a:avLst/>
          </a:prstGeom>
          <a:ln w="31750" cap="flat" cmpd="sng">
            <a:solidFill>
              <a:srgbClr val="FF0000"/>
            </a:solidFill>
            <a:prstDash val="solid"/>
            <a:bevel/>
            <a:headEnd type="none" w="med" len="med"/>
            <a:tailEnd type="none" w="med" len="med"/>
          </a:ln>
        </p:spPr>
      </p:sp>
      <p:sp>
        <p:nvSpPr>
          <p:cNvPr id="134247" name="Line 107"/>
          <p:cNvSpPr/>
          <p:nvPr/>
        </p:nvSpPr>
        <p:spPr>
          <a:xfrm>
            <a:off x="2124075" y="5394325"/>
            <a:ext cx="215900" cy="0"/>
          </a:xfrm>
          <a:prstGeom prst="line">
            <a:avLst/>
          </a:prstGeom>
          <a:ln w="31750" cap="flat" cmpd="sng">
            <a:solidFill>
              <a:srgbClr val="FF0000"/>
            </a:solidFill>
            <a:prstDash val="solid"/>
            <a:bevel/>
            <a:headEnd type="none" w="med" len="med"/>
            <a:tailEnd type="none" w="med" len="med"/>
          </a:ln>
        </p:spPr>
      </p:sp>
      <p:sp>
        <p:nvSpPr>
          <p:cNvPr id="134248" name="Line 108"/>
          <p:cNvSpPr/>
          <p:nvPr/>
        </p:nvSpPr>
        <p:spPr>
          <a:xfrm>
            <a:off x="2124075" y="5610225"/>
            <a:ext cx="215900" cy="0"/>
          </a:xfrm>
          <a:prstGeom prst="line">
            <a:avLst/>
          </a:prstGeom>
          <a:ln w="31750" cap="flat" cmpd="sng">
            <a:solidFill>
              <a:srgbClr val="FF0000"/>
            </a:solidFill>
            <a:prstDash val="solid"/>
            <a:bevel/>
            <a:headEnd type="none" w="med" len="med"/>
            <a:tailEnd type="none" w="med" len="med"/>
          </a:ln>
        </p:spPr>
      </p:sp>
      <p:sp>
        <p:nvSpPr>
          <p:cNvPr id="134249" name="Line 109"/>
          <p:cNvSpPr/>
          <p:nvPr/>
        </p:nvSpPr>
        <p:spPr>
          <a:xfrm>
            <a:off x="2095500" y="5422900"/>
            <a:ext cx="0" cy="144463"/>
          </a:xfrm>
          <a:prstGeom prst="line">
            <a:avLst/>
          </a:prstGeom>
          <a:ln w="31750" cap="flat" cmpd="sng">
            <a:solidFill>
              <a:srgbClr val="FF0000"/>
            </a:solidFill>
            <a:prstDash val="solid"/>
            <a:bevel/>
            <a:headEnd type="none" w="med" len="med"/>
            <a:tailEnd type="none" w="med" len="med"/>
          </a:ln>
        </p:spPr>
      </p:sp>
      <p:sp>
        <p:nvSpPr>
          <p:cNvPr id="134250" name="Line 110"/>
          <p:cNvSpPr/>
          <p:nvPr/>
        </p:nvSpPr>
        <p:spPr>
          <a:xfrm>
            <a:off x="2368550" y="5422900"/>
            <a:ext cx="0" cy="144463"/>
          </a:xfrm>
          <a:prstGeom prst="line">
            <a:avLst/>
          </a:prstGeom>
          <a:ln w="31750" cap="flat" cmpd="sng">
            <a:solidFill>
              <a:srgbClr val="FF0000"/>
            </a:solidFill>
            <a:prstDash val="solid"/>
            <a:bevel/>
            <a:headEnd type="none" w="med" len="med"/>
            <a:tailEnd type="none" w="med" len="med"/>
          </a:ln>
        </p:spPr>
      </p:sp>
      <p:sp>
        <p:nvSpPr>
          <p:cNvPr id="134251" name="Line 111"/>
          <p:cNvSpPr/>
          <p:nvPr/>
        </p:nvSpPr>
        <p:spPr>
          <a:xfrm>
            <a:off x="2124075" y="5754688"/>
            <a:ext cx="215900" cy="0"/>
          </a:xfrm>
          <a:prstGeom prst="line">
            <a:avLst/>
          </a:prstGeom>
          <a:ln w="31750" cap="flat" cmpd="sng">
            <a:solidFill>
              <a:srgbClr val="FF0000"/>
            </a:solidFill>
            <a:prstDash val="solid"/>
            <a:bevel/>
            <a:headEnd type="none" w="med" len="med"/>
            <a:tailEnd type="none" w="med" len="med"/>
          </a:ln>
        </p:spPr>
      </p:sp>
      <p:sp>
        <p:nvSpPr>
          <p:cNvPr id="134252" name="Line 112"/>
          <p:cNvSpPr/>
          <p:nvPr/>
        </p:nvSpPr>
        <p:spPr>
          <a:xfrm>
            <a:off x="2368550" y="5783263"/>
            <a:ext cx="0" cy="144462"/>
          </a:xfrm>
          <a:prstGeom prst="line">
            <a:avLst/>
          </a:prstGeom>
          <a:ln w="31750" cap="flat" cmpd="sng">
            <a:solidFill>
              <a:srgbClr val="FF0000"/>
            </a:solidFill>
            <a:prstDash val="solid"/>
            <a:bevel/>
            <a:headEnd type="none" w="med" len="med"/>
            <a:tailEnd type="none" w="med" len="med"/>
          </a:ln>
        </p:spPr>
      </p:sp>
      <p:sp>
        <p:nvSpPr>
          <p:cNvPr id="134253" name="Line 113"/>
          <p:cNvSpPr/>
          <p:nvPr/>
        </p:nvSpPr>
        <p:spPr>
          <a:xfrm>
            <a:off x="2368550" y="5999163"/>
            <a:ext cx="0" cy="144462"/>
          </a:xfrm>
          <a:prstGeom prst="line">
            <a:avLst/>
          </a:prstGeom>
          <a:ln w="31750" cap="flat" cmpd="sng">
            <a:solidFill>
              <a:srgbClr val="FF0000"/>
            </a:solidFill>
            <a:prstDash val="solid"/>
            <a:bevel/>
            <a:headEnd type="none" w="med" len="med"/>
            <a:tailEnd type="none" w="med" len="med"/>
          </a:ln>
        </p:spPr>
      </p:sp>
      <p:sp>
        <p:nvSpPr>
          <p:cNvPr id="134254" name="Line 114"/>
          <p:cNvSpPr/>
          <p:nvPr/>
        </p:nvSpPr>
        <p:spPr>
          <a:xfrm>
            <a:off x="6516688" y="1520825"/>
            <a:ext cx="215900" cy="0"/>
          </a:xfrm>
          <a:prstGeom prst="line">
            <a:avLst/>
          </a:prstGeom>
          <a:ln w="28575" cap="flat" cmpd="sng">
            <a:solidFill>
              <a:srgbClr val="FF0000"/>
            </a:solidFill>
            <a:prstDash val="solid"/>
            <a:bevel/>
            <a:headEnd type="none" w="med" len="med"/>
            <a:tailEnd type="none" w="med" len="med"/>
          </a:ln>
        </p:spPr>
      </p:sp>
      <p:sp>
        <p:nvSpPr>
          <p:cNvPr id="134255" name="Line 115"/>
          <p:cNvSpPr/>
          <p:nvPr/>
        </p:nvSpPr>
        <p:spPr>
          <a:xfrm>
            <a:off x="6488113" y="1549400"/>
            <a:ext cx="0" cy="144463"/>
          </a:xfrm>
          <a:prstGeom prst="line">
            <a:avLst/>
          </a:prstGeom>
          <a:ln w="28575" cap="flat" cmpd="sng">
            <a:solidFill>
              <a:srgbClr val="FF0000"/>
            </a:solidFill>
            <a:prstDash val="solid"/>
            <a:bevel/>
            <a:headEnd type="none" w="med" len="med"/>
            <a:tailEnd type="none" w="med" len="med"/>
          </a:ln>
        </p:spPr>
      </p:sp>
      <p:sp>
        <p:nvSpPr>
          <p:cNvPr id="134256" name="Line 116"/>
          <p:cNvSpPr/>
          <p:nvPr/>
        </p:nvSpPr>
        <p:spPr>
          <a:xfrm>
            <a:off x="6761163" y="1549400"/>
            <a:ext cx="0" cy="144463"/>
          </a:xfrm>
          <a:prstGeom prst="line">
            <a:avLst/>
          </a:prstGeom>
          <a:ln w="28575" cap="flat" cmpd="sng">
            <a:solidFill>
              <a:srgbClr val="FF0000"/>
            </a:solidFill>
            <a:prstDash val="solid"/>
            <a:bevel/>
            <a:headEnd type="none" w="med" len="med"/>
            <a:tailEnd type="none" w="med" len="med"/>
          </a:ln>
        </p:spPr>
      </p:sp>
      <p:sp>
        <p:nvSpPr>
          <p:cNvPr id="134257" name="Line 117"/>
          <p:cNvSpPr/>
          <p:nvPr/>
        </p:nvSpPr>
        <p:spPr>
          <a:xfrm>
            <a:off x="6516688" y="1736725"/>
            <a:ext cx="215900" cy="0"/>
          </a:xfrm>
          <a:prstGeom prst="line">
            <a:avLst/>
          </a:prstGeom>
          <a:ln w="28575" cap="flat" cmpd="sng">
            <a:solidFill>
              <a:srgbClr val="FF0000"/>
            </a:solidFill>
            <a:prstDash val="solid"/>
            <a:bevel/>
            <a:headEnd type="none" w="med" len="med"/>
            <a:tailEnd type="none" w="med" len="med"/>
          </a:ln>
        </p:spPr>
      </p:sp>
      <p:sp>
        <p:nvSpPr>
          <p:cNvPr id="134258" name="Line 118"/>
          <p:cNvSpPr/>
          <p:nvPr/>
        </p:nvSpPr>
        <p:spPr>
          <a:xfrm>
            <a:off x="6516688" y="1952625"/>
            <a:ext cx="215900" cy="0"/>
          </a:xfrm>
          <a:prstGeom prst="line">
            <a:avLst/>
          </a:prstGeom>
          <a:ln w="28575" cap="flat" cmpd="sng">
            <a:solidFill>
              <a:srgbClr val="FF0000"/>
            </a:solidFill>
            <a:prstDash val="solid"/>
            <a:bevel/>
            <a:headEnd type="none" w="med" len="med"/>
            <a:tailEnd type="none" w="med" len="med"/>
          </a:ln>
        </p:spPr>
      </p:sp>
      <p:sp>
        <p:nvSpPr>
          <p:cNvPr id="134259" name="Line 119"/>
          <p:cNvSpPr/>
          <p:nvPr/>
        </p:nvSpPr>
        <p:spPr>
          <a:xfrm>
            <a:off x="6488113" y="1765300"/>
            <a:ext cx="0" cy="144463"/>
          </a:xfrm>
          <a:prstGeom prst="line">
            <a:avLst/>
          </a:prstGeom>
          <a:ln w="28575" cap="flat" cmpd="sng">
            <a:solidFill>
              <a:srgbClr val="FF0000"/>
            </a:solidFill>
            <a:prstDash val="solid"/>
            <a:bevel/>
            <a:headEnd type="none" w="med" len="med"/>
            <a:tailEnd type="none" w="med" len="med"/>
          </a:ln>
        </p:spPr>
      </p:sp>
      <p:sp>
        <p:nvSpPr>
          <p:cNvPr id="134260" name="Line 120"/>
          <p:cNvSpPr/>
          <p:nvPr/>
        </p:nvSpPr>
        <p:spPr>
          <a:xfrm>
            <a:off x="6761163" y="1765300"/>
            <a:ext cx="0" cy="144463"/>
          </a:xfrm>
          <a:prstGeom prst="line">
            <a:avLst/>
          </a:prstGeom>
          <a:ln w="28575" cap="flat" cmpd="sng">
            <a:solidFill>
              <a:srgbClr val="FF0000"/>
            </a:solidFill>
            <a:prstDash val="solid"/>
            <a:bevel/>
            <a:headEnd type="none" w="med" len="med"/>
            <a:tailEnd type="none" w="med" len="med"/>
          </a:ln>
        </p:spPr>
      </p:sp>
      <p:sp>
        <p:nvSpPr>
          <p:cNvPr id="134261" name="Line 121"/>
          <p:cNvSpPr/>
          <p:nvPr/>
        </p:nvSpPr>
        <p:spPr>
          <a:xfrm>
            <a:off x="6516688" y="2154238"/>
            <a:ext cx="215900" cy="0"/>
          </a:xfrm>
          <a:prstGeom prst="line">
            <a:avLst/>
          </a:prstGeom>
          <a:ln w="28575" cap="flat" cmpd="sng">
            <a:solidFill>
              <a:srgbClr val="FF0000"/>
            </a:solidFill>
            <a:prstDash val="solid"/>
            <a:bevel/>
            <a:headEnd type="none" w="med" len="med"/>
            <a:tailEnd type="none" w="med" len="med"/>
          </a:ln>
        </p:spPr>
      </p:sp>
      <p:sp>
        <p:nvSpPr>
          <p:cNvPr id="134262" name="Line 122"/>
          <p:cNvSpPr/>
          <p:nvPr/>
        </p:nvSpPr>
        <p:spPr>
          <a:xfrm>
            <a:off x="6488113" y="2182813"/>
            <a:ext cx="0" cy="144462"/>
          </a:xfrm>
          <a:prstGeom prst="line">
            <a:avLst/>
          </a:prstGeom>
          <a:ln w="28575" cap="flat" cmpd="sng">
            <a:solidFill>
              <a:srgbClr val="FF0000"/>
            </a:solidFill>
            <a:prstDash val="solid"/>
            <a:bevel/>
            <a:headEnd type="none" w="med" len="med"/>
            <a:tailEnd type="none" w="med" len="med"/>
          </a:ln>
        </p:spPr>
      </p:sp>
      <p:sp>
        <p:nvSpPr>
          <p:cNvPr id="134263" name="Line 123"/>
          <p:cNvSpPr/>
          <p:nvPr/>
        </p:nvSpPr>
        <p:spPr>
          <a:xfrm>
            <a:off x="6761163" y="2182813"/>
            <a:ext cx="0" cy="144462"/>
          </a:xfrm>
          <a:prstGeom prst="line">
            <a:avLst/>
          </a:prstGeom>
          <a:ln w="28575" cap="flat" cmpd="sng">
            <a:solidFill>
              <a:srgbClr val="FF0000"/>
            </a:solidFill>
            <a:prstDash val="solid"/>
            <a:bevel/>
            <a:headEnd type="none" w="med" len="med"/>
            <a:tailEnd type="none" w="med" len="med"/>
          </a:ln>
        </p:spPr>
      </p:sp>
      <p:sp>
        <p:nvSpPr>
          <p:cNvPr id="134264" name="Line 124"/>
          <p:cNvSpPr/>
          <p:nvPr/>
        </p:nvSpPr>
        <p:spPr>
          <a:xfrm>
            <a:off x="6516688" y="2370138"/>
            <a:ext cx="215900" cy="0"/>
          </a:xfrm>
          <a:prstGeom prst="line">
            <a:avLst/>
          </a:prstGeom>
          <a:ln w="28575" cap="flat" cmpd="sng">
            <a:solidFill>
              <a:srgbClr val="FF0000"/>
            </a:solidFill>
            <a:prstDash val="solid"/>
            <a:bevel/>
            <a:headEnd type="none" w="med" len="med"/>
            <a:tailEnd type="none" w="med" len="med"/>
          </a:ln>
        </p:spPr>
      </p:sp>
      <p:sp>
        <p:nvSpPr>
          <p:cNvPr id="134265" name="Line 125"/>
          <p:cNvSpPr/>
          <p:nvPr/>
        </p:nvSpPr>
        <p:spPr>
          <a:xfrm>
            <a:off x="6761163" y="2398713"/>
            <a:ext cx="0" cy="144462"/>
          </a:xfrm>
          <a:prstGeom prst="line">
            <a:avLst/>
          </a:prstGeom>
          <a:ln w="28575" cap="flat" cmpd="sng">
            <a:solidFill>
              <a:srgbClr val="FF0000"/>
            </a:solidFill>
            <a:prstDash val="solid"/>
            <a:bevel/>
            <a:headEnd type="none" w="med" len="med"/>
            <a:tailEnd type="none" w="med" len="med"/>
          </a:ln>
        </p:spPr>
      </p:sp>
      <p:sp>
        <p:nvSpPr>
          <p:cNvPr id="134266" name="Line 126"/>
          <p:cNvSpPr/>
          <p:nvPr/>
        </p:nvSpPr>
        <p:spPr>
          <a:xfrm>
            <a:off x="6516688" y="2801938"/>
            <a:ext cx="215900" cy="0"/>
          </a:xfrm>
          <a:prstGeom prst="line">
            <a:avLst/>
          </a:prstGeom>
          <a:ln w="28575" cap="flat" cmpd="sng">
            <a:solidFill>
              <a:srgbClr val="FF0000"/>
            </a:solidFill>
            <a:prstDash val="solid"/>
            <a:bevel/>
            <a:headEnd type="none" w="med" len="med"/>
            <a:tailEnd type="none" w="med" len="med"/>
          </a:ln>
        </p:spPr>
      </p:sp>
      <p:sp>
        <p:nvSpPr>
          <p:cNvPr id="134267" name="Line 127"/>
          <p:cNvSpPr/>
          <p:nvPr/>
        </p:nvSpPr>
        <p:spPr>
          <a:xfrm>
            <a:off x="6488113" y="2830513"/>
            <a:ext cx="0" cy="144462"/>
          </a:xfrm>
          <a:prstGeom prst="line">
            <a:avLst/>
          </a:prstGeom>
          <a:ln w="28575" cap="flat" cmpd="sng">
            <a:solidFill>
              <a:srgbClr val="FF0000"/>
            </a:solidFill>
            <a:prstDash val="solid"/>
            <a:bevel/>
            <a:headEnd type="none" w="med" len="med"/>
            <a:tailEnd type="none" w="med" len="med"/>
          </a:ln>
        </p:spPr>
      </p:sp>
      <p:sp>
        <p:nvSpPr>
          <p:cNvPr id="134268" name="Line 128"/>
          <p:cNvSpPr/>
          <p:nvPr/>
        </p:nvSpPr>
        <p:spPr>
          <a:xfrm>
            <a:off x="6761163" y="2830513"/>
            <a:ext cx="0" cy="144462"/>
          </a:xfrm>
          <a:prstGeom prst="line">
            <a:avLst/>
          </a:prstGeom>
          <a:ln w="28575" cap="flat" cmpd="sng">
            <a:solidFill>
              <a:srgbClr val="FF0000"/>
            </a:solidFill>
            <a:prstDash val="solid"/>
            <a:bevel/>
            <a:headEnd type="none" w="med" len="med"/>
            <a:tailEnd type="none" w="med" len="med"/>
          </a:ln>
        </p:spPr>
      </p:sp>
      <p:sp>
        <p:nvSpPr>
          <p:cNvPr id="134269" name="Line 129"/>
          <p:cNvSpPr/>
          <p:nvPr/>
        </p:nvSpPr>
        <p:spPr>
          <a:xfrm>
            <a:off x="6516688" y="3017838"/>
            <a:ext cx="215900" cy="0"/>
          </a:xfrm>
          <a:prstGeom prst="line">
            <a:avLst/>
          </a:prstGeom>
          <a:ln w="28575" cap="flat" cmpd="sng">
            <a:solidFill>
              <a:srgbClr val="FF0000"/>
            </a:solidFill>
            <a:prstDash val="solid"/>
            <a:bevel/>
            <a:headEnd type="none" w="med" len="med"/>
            <a:tailEnd type="none" w="med" len="med"/>
          </a:ln>
        </p:spPr>
      </p:sp>
      <p:sp>
        <p:nvSpPr>
          <p:cNvPr id="134270" name="Line 130"/>
          <p:cNvSpPr/>
          <p:nvPr/>
        </p:nvSpPr>
        <p:spPr>
          <a:xfrm>
            <a:off x="6488113" y="3046413"/>
            <a:ext cx="0" cy="144462"/>
          </a:xfrm>
          <a:prstGeom prst="line">
            <a:avLst/>
          </a:prstGeom>
          <a:ln w="28575" cap="flat" cmpd="sng">
            <a:solidFill>
              <a:srgbClr val="FF0000"/>
            </a:solidFill>
            <a:prstDash val="solid"/>
            <a:bevel/>
            <a:headEnd type="none" w="med" len="med"/>
            <a:tailEnd type="none" w="med" len="med"/>
          </a:ln>
        </p:spPr>
      </p:sp>
      <p:sp>
        <p:nvSpPr>
          <p:cNvPr id="134271" name="Line 131"/>
          <p:cNvSpPr/>
          <p:nvPr/>
        </p:nvSpPr>
        <p:spPr>
          <a:xfrm>
            <a:off x="6761163" y="3046413"/>
            <a:ext cx="0" cy="144462"/>
          </a:xfrm>
          <a:prstGeom prst="line">
            <a:avLst/>
          </a:prstGeom>
          <a:ln w="28575" cap="flat" cmpd="sng">
            <a:solidFill>
              <a:srgbClr val="FF0000"/>
            </a:solidFill>
            <a:prstDash val="solid"/>
            <a:bevel/>
            <a:headEnd type="none" w="med" len="med"/>
            <a:tailEnd type="none" w="med" len="med"/>
          </a:ln>
        </p:spPr>
      </p:sp>
      <p:sp>
        <p:nvSpPr>
          <p:cNvPr id="134272" name="Line 132"/>
          <p:cNvSpPr/>
          <p:nvPr/>
        </p:nvSpPr>
        <p:spPr>
          <a:xfrm>
            <a:off x="6488113" y="3406775"/>
            <a:ext cx="0" cy="144463"/>
          </a:xfrm>
          <a:prstGeom prst="line">
            <a:avLst/>
          </a:prstGeom>
          <a:ln w="28575" cap="flat" cmpd="sng">
            <a:solidFill>
              <a:srgbClr val="FF0000"/>
            </a:solidFill>
            <a:prstDash val="solid"/>
            <a:bevel/>
            <a:headEnd type="none" w="med" len="med"/>
            <a:tailEnd type="none" w="med" len="med"/>
          </a:ln>
        </p:spPr>
      </p:sp>
      <p:sp>
        <p:nvSpPr>
          <p:cNvPr id="134273" name="Line 133"/>
          <p:cNvSpPr/>
          <p:nvPr/>
        </p:nvSpPr>
        <p:spPr>
          <a:xfrm>
            <a:off x="6516688" y="3594100"/>
            <a:ext cx="215900" cy="0"/>
          </a:xfrm>
          <a:prstGeom prst="line">
            <a:avLst/>
          </a:prstGeom>
          <a:ln w="28575" cap="flat" cmpd="sng">
            <a:solidFill>
              <a:srgbClr val="FF0000"/>
            </a:solidFill>
            <a:prstDash val="solid"/>
            <a:bevel/>
            <a:headEnd type="none" w="med" len="med"/>
            <a:tailEnd type="none" w="med" len="med"/>
          </a:ln>
        </p:spPr>
      </p:sp>
      <p:sp>
        <p:nvSpPr>
          <p:cNvPr id="134274" name="Line 134"/>
          <p:cNvSpPr/>
          <p:nvPr/>
        </p:nvSpPr>
        <p:spPr>
          <a:xfrm>
            <a:off x="6516688" y="3810000"/>
            <a:ext cx="215900" cy="0"/>
          </a:xfrm>
          <a:prstGeom prst="line">
            <a:avLst/>
          </a:prstGeom>
          <a:ln w="28575" cap="flat" cmpd="sng">
            <a:solidFill>
              <a:srgbClr val="FF0000"/>
            </a:solidFill>
            <a:prstDash val="solid"/>
            <a:bevel/>
            <a:headEnd type="none" w="med" len="med"/>
            <a:tailEnd type="none" w="med" len="med"/>
          </a:ln>
        </p:spPr>
      </p:sp>
      <p:sp>
        <p:nvSpPr>
          <p:cNvPr id="134275" name="Line 135"/>
          <p:cNvSpPr/>
          <p:nvPr/>
        </p:nvSpPr>
        <p:spPr>
          <a:xfrm>
            <a:off x="6488113" y="3622675"/>
            <a:ext cx="0" cy="144463"/>
          </a:xfrm>
          <a:prstGeom prst="line">
            <a:avLst/>
          </a:prstGeom>
          <a:ln w="28575" cap="flat" cmpd="sng">
            <a:solidFill>
              <a:srgbClr val="FF0000"/>
            </a:solidFill>
            <a:prstDash val="solid"/>
            <a:bevel/>
            <a:headEnd type="none" w="med" len="med"/>
            <a:tailEnd type="none" w="med" len="med"/>
          </a:ln>
        </p:spPr>
      </p:sp>
      <p:sp>
        <p:nvSpPr>
          <p:cNvPr id="134276" name="Line 136"/>
          <p:cNvSpPr/>
          <p:nvPr/>
        </p:nvSpPr>
        <p:spPr>
          <a:xfrm>
            <a:off x="6761163" y="3622675"/>
            <a:ext cx="0" cy="144463"/>
          </a:xfrm>
          <a:prstGeom prst="line">
            <a:avLst/>
          </a:prstGeom>
          <a:ln w="28575" cap="flat" cmpd="sng">
            <a:solidFill>
              <a:srgbClr val="FF0000"/>
            </a:solidFill>
            <a:prstDash val="solid"/>
            <a:bevel/>
            <a:headEnd type="none" w="med" len="med"/>
            <a:tailEnd type="none" w="med" len="med"/>
          </a:ln>
        </p:spPr>
      </p:sp>
      <p:sp>
        <p:nvSpPr>
          <p:cNvPr id="134277" name="Line 137"/>
          <p:cNvSpPr/>
          <p:nvPr/>
        </p:nvSpPr>
        <p:spPr>
          <a:xfrm>
            <a:off x="6516688" y="3954463"/>
            <a:ext cx="215900" cy="0"/>
          </a:xfrm>
          <a:prstGeom prst="line">
            <a:avLst/>
          </a:prstGeom>
          <a:ln w="28575" cap="flat" cmpd="sng">
            <a:solidFill>
              <a:srgbClr val="FF0000"/>
            </a:solidFill>
            <a:prstDash val="solid"/>
            <a:bevel/>
            <a:headEnd type="none" w="med" len="med"/>
            <a:tailEnd type="none" w="med" len="med"/>
          </a:ln>
        </p:spPr>
      </p:sp>
      <p:sp>
        <p:nvSpPr>
          <p:cNvPr id="134278" name="Line 138"/>
          <p:cNvSpPr/>
          <p:nvPr/>
        </p:nvSpPr>
        <p:spPr>
          <a:xfrm>
            <a:off x="6488113" y="3983038"/>
            <a:ext cx="0" cy="144462"/>
          </a:xfrm>
          <a:prstGeom prst="line">
            <a:avLst/>
          </a:prstGeom>
          <a:ln w="28575" cap="flat" cmpd="sng">
            <a:solidFill>
              <a:srgbClr val="FF0000"/>
            </a:solidFill>
            <a:prstDash val="solid"/>
            <a:bevel/>
            <a:headEnd type="none" w="med" len="med"/>
            <a:tailEnd type="none" w="med" len="med"/>
          </a:ln>
        </p:spPr>
      </p:sp>
      <p:sp>
        <p:nvSpPr>
          <p:cNvPr id="134279" name="Line 139"/>
          <p:cNvSpPr/>
          <p:nvPr/>
        </p:nvSpPr>
        <p:spPr>
          <a:xfrm>
            <a:off x="6516688" y="4386263"/>
            <a:ext cx="215900" cy="0"/>
          </a:xfrm>
          <a:prstGeom prst="line">
            <a:avLst/>
          </a:prstGeom>
          <a:ln w="28575" cap="flat" cmpd="sng">
            <a:solidFill>
              <a:srgbClr val="FF0000"/>
            </a:solidFill>
            <a:prstDash val="solid"/>
            <a:bevel/>
            <a:headEnd type="none" w="med" len="med"/>
            <a:tailEnd type="none" w="med" len="med"/>
          </a:ln>
        </p:spPr>
      </p:sp>
      <p:sp>
        <p:nvSpPr>
          <p:cNvPr id="134280" name="Line 140"/>
          <p:cNvSpPr/>
          <p:nvPr/>
        </p:nvSpPr>
        <p:spPr>
          <a:xfrm>
            <a:off x="6488113" y="4198938"/>
            <a:ext cx="0" cy="144462"/>
          </a:xfrm>
          <a:prstGeom prst="line">
            <a:avLst/>
          </a:prstGeom>
          <a:ln w="28575" cap="flat" cmpd="sng">
            <a:solidFill>
              <a:srgbClr val="FF0000"/>
            </a:solidFill>
            <a:prstDash val="solid"/>
            <a:bevel/>
            <a:headEnd type="none" w="med" len="med"/>
            <a:tailEnd type="none" w="med" len="med"/>
          </a:ln>
        </p:spPr>
      </p:sp>
      <p:sp>
        <p:nvSpPr>
          <p:cNvPr id="134281" name="Line 141"/>
          <p:cNvSpPr/>
          <p:nvPr/>
        </p:nvSpPr>
        <p:spPr>
          <a:xfrm>
            <a:off x="6761163" y="4602163"/>
            <a:ext cx="0" cy="144462"/>
          </a:xfrm>
          <a:prstGeom prst="line">
            <a:avLst/>
          </a:prstGeom>
          <a:ln w="28575" cap="flat" cmpd="sng">
            <a:solidFill>
              <a:srgbClr val="FF0000"/>
            </a:solidFill>
            <a:prstDash val="solid"/>
            <a:bevel/>
            <a:headEnd type="none" w="med" len="med"/>
            <a:tailEnd type="none" w="med" len="med"/>
          </a:ln>
        </p:spPr>
      </p:sp>
      <p:sp>
        <p:nvSpPr>
          <p:cNvPr id="134282" name="Line 142"/>
          <p:cNvSpPr/>
          <p:nvPr/>
        </p:nvSpPr>
        <p:spPr>
          <a:xfrm>
            <a:off x="6516688" y="4789488"/>
            <a:ext cx="215900" cy="0"/>
          </a:xfrm>
          <a:prstGeom prst="line">
            <a:avLst/>
          </a:prstGeom>
          <a:ln w="28575" cap="flat" cmpd="sng">
            <a:solidFill>
              <a:srgbClr val="FF0000"/>
            </a:solidFill>
            <a:prstDash val="solid"/>
            <a:bevel/>
            <a:headEnd type="none" w="med" len="med"/>
            <a:tailEnd type="none" w="med" len="med"/>
          </a:ln>
        </p:spPr>
      </p:sp>
      <p:sp>
        <p:nvSpPr>
          <p:cNvPr id="134283" name="Line 143"/>
          <p:cNvSpPr/>
          <p:nvPr/>
        </p:nvSpPr>
        <p:spPr>
          <a:xfrm>
            <a:off x="6516688" y="5005388"/>
            <a:ext cx="215900" cy="0"/>
          </a:xfrm>
          <a:prstGeom prst="line">
            <a:avLst/>
          </a:prstGeom>
          <a:ln w="28575" cap="flat" cmpd="sng">
            <a:solidFill>
              <a:srgbClr val="FF0000"/>
            </a:solidFill>
            <a:prstDash val="solid"/>
            <a:bevel/>
            <a:headEnd type="none" w="med" len="med"/>
            <a:tailEnd type="none" w="med" len="med"/>
          </a:ln>
        </p:spPr>
      </p:sp>
      <p:sp>
        <p:nvSpPr>
          <p:cNvPr id="134284" name="Line 144"/>
          <p:cNvSpPr/>
          <p:nvPr/>
        </p:nvSpPr>
        <p:spPr>
          <a:xfrm>
            <a:off x="6488113" y="4818063"/>
            <a:ext cx="0" cy="144462"/>
          </a:xfrm>
          <a:prstGeom prst="line">
            <a:avLst/>
          </a:prstGeom>
          <a:ln w="28575" cap="flat" cmpd="sng">
            <a:solidFill>
              <a:srgbClr val="FF0000"/>
            </a:solidFill>
            <a:prstDash val="solid"/>
            <a:bevel/>
            <a:headEnd type="none" w="med" len="med"/>
            <a:tailEnd type="none" w="med" len="med"/>
          </a:ln>
        </p:spPr>
      </p:sp>
      <p:sp>
        <p:nvSpPr>
          <p:cNvPr id="134285" name="Line 145"/>
          <p:cNvSpPr/>
          <p:nvPr/>
        </p:nvSpPr>
        <p:spPr>
          <a:xfrm>
            <a:off x="6761163" y="4818063"/>
            <a:ext cx="0" cy="144462"/>
          </a:xfrm>
          <a:prstGeom prst="line">
            <a:avLst/>
          </a:prstGeom>
          <a:ln w="28575" cap="flat" cmpd="sng">
            <a:solidFill>
              <a:srgbClr val="FF0000"/>
            </a:solidFill>
            <a:prstDash val="solid"/>
            <a:bevel/>
            <a:headEnd type="none" w="med" len="med"/>
            <a:tailEnd type="none" w="med" len="med"/>
          </a:ln>
        </p:spPr>
      </p:sp>
      <p:sp>
        <p:nvSpPr>
          <p:cNvPr id="134286" name="Line 146"/>
          <p:cNvSpPr/>
          <p:nvPr/>
        </p:nvSpPr>
        <p:spPr>
          <a:xfrm>
            <a:off x="6516688" y="5178425"/>
            <a:ext cx="215900" cy="0"/>
          </a:xfrm>
          <a:prstGeom prst="line">
            <a:avLst/>
          </a:prstGeom>
          <a:ln w="28575" cap="flat" cmpd="sng">
            <a:solidFill>
              <a:srgbClr val="FF0000"/>
            </a:solidFill>
            <a:prstDash val="solid"/>
            <a:bevel/>
            <a:headEnd type="none" w="med" len="med"/>
            <a:tailEnd type="none" w="med" len="med"/>
          </a:ln>
        </p:spPr>
      </p:sp>
      <p:sp>
        <p:nvSpPr>
          <p:cNvPr id="134287" name="Line 147"/>
          <p:cNvSpPr/>
          <p:nvPr/>
        </p:nvSpPr>
        <p:spPr>
          <a:xfrm>
            <a:off x="6488113" y="5207000"/>
            <a:ext cx="0" cy="144463"/>
          </a:xfrm>
          <a:prstGeom prst="line">
            <a:avLst/>
          </a:prstGeom>
          <a:ln w="28575" cap="flat" cmpd="sng">
            <a:solidFill>
              <a:srgbClr val="FF0000"/>
            </a:solidFill>
            <a:prstDash val="solid"/>
            <a:bevel/>
            <a:headEnd type="none" w="med" len="med"/>
            <a:tailEnd type="none" w="med" len="med"/>
          </a:ln>
        </p:spPr>
      </p:sp>
      <p:sp>
        <p:nvSpPr>
          <p:cNvPr id="134288" name="Line 148"/>
          <p:cNvSpPr/>
          <p:nvPr/>
        </p:nvSpPr>
        <p:spPr>
          <a:xfrm>
            <a:off x="6516688" y="5394325"/>
            <a:ext cx="215900" cy="0"/>
          </a:xfrm>
          <a:prstGeom prst="line">
            <a:avLst/>
          </a:prstGeom>
          <a:ln w="28575" cap="flat" cmpd="sng">
            <a:solidFill>
              <a:srgbClr val="FF0000"/>
            </a:solidFill>
            <a:prstDash val="solid"/>
            <a:bevel/>
            <a:headEnd type="none" w="med" len="med"/>
            <a:tailEnd type="none" w="med" len="med"/>
          </a:ln>
        </p:spPr>
      </p:sp>
      <p:sp>
        <p:nvSpPr>
          <p:cNvPr id="134289" name="Line 149"/>
          <p:cNvSpPr/>
          <p:nvPr/>
        </p:nvSpPr>
        <p:spPr>
          <a:xfrm>
            <a:off x="6516688" y="5610225"/>
            <a:ext cx="215900" cy="0"/>
          </a:xfrm>
          <a:prstGeom prst="line">
            <a:avLst/>
          </a:prstGeom>
          <a:ln w="28575" cap="flat" cmpd="sng">
            <a:solidFill>
              <a:srgbClr val="FF0000"/>
            </a:solidFill>
            <a:prstDash val="solid"/>
            <a:bevel/>
            <a:headEnd type="none" w="med" len="med"/>
            <a:tailEnd type="none" w="med" len="med"/>
          </a:ln>
        </p:spPr>
      </p:sp>
      <p:sp>
        <p:nvSpPr>
          <p:cNvPr id="134290" name="Line 150"/>
          <p:cNvSpPr/>
          <p:nvPr/>
        </p:nvSpPr>
        <p:spPr>
          <a:xfrm>
            <a:off x="6488113" y="5422900"/>
            <a:ext cx="0" cy="144463"/>
          </a:xfrm>
          <a:prstGeom prst="line">
            <a:avLst/>
          </a:prstGeom>
          <a:ln w="28575" cap="flat" cmpd="sng">
            <a:solidFill>
              <a:srgbClr val="FF0000"/>
            </a:solidFill>
            <a:prstDash val="solid"/>
            <a:bevel/>
            <a:headEnd type="none" w="med" len="med"/>
            <a:tailEnd type="none" w="med" len="med"/>
          </a:ln>
        </p:spPr>
      </p:sp>
      <p:sp>
        <p:nvSpPr>
          <p:cNvPr id="134291" name="Line 151"/>
          <p:cNvSpPr/>
          <p:nvPr/>
        </p:nvSpPr>
        <p:spPr>
          <a:xfrm>
            <a:off x="6516688" y="5754688"/>
            <a:ext cx="215900" cy="0"/>
          </a:xfrm>
          <a:prstGeom prst="line">
            <a:avLst/>
          </a:prstGeom>
          <a:ln w="28575" cap="flat" cmpd="sng">
            <a:solidFill>
              <a:srgbClr val="FF0000"/>
            </a:solidFill>
            <a:prstDash val="solid"/>
            <a:bevel/>
            <a:headEnd type="none" w="med" len="med"/>
            <a:tailEnd type="none" w="med" len="med"/>
          </a:ln>
        </p:spPr>
      </p:sp>
      <p:sp>
        <p:nvSpPr>
          <p:cNvPr id="134292" name="Line 152"/>
          <p:cNvSpPr/>
          <p:nvPr/>
        </p:nvSpPr>
        <p:spPr>
          <a:xfrm>
            <a:off x="6488113" y="5783263"/>
            <a:ext cx="0" cy="144462"/>
          </a:xfrm>
          <a:prstGeom prst="line">
            <a:avLst/>
          </a:prstGeom>
          <a:ln w="28575" cap="flat" cmpd="sng">
            <a:solidFill>
              <a:srgbClr val="FF0000"/>
            </a:solidFill>
            <a:prstDash val="solid"/>
            <a:bevel/>
            <a:headEnd type="none" w="med" len="med"/>
            <a:tailEnd type="none" w="med" len="med"/>
          </a:ln>
        </p:spPr>
      </p:sp>
      <p:sp>
        <p:nvSpPr>
          <p:cNvPr id="134293" name="Line 153"/>
          <p:cNvSpPr/>
          <p:nvPr/>
        </p:nvSpPr>
        <p:spPr>
          <a:xfrm>
            <a:off x="6516688" y="5970588"/>
            <a:ext cx="215900" cy="0"/>
          </a:xfrm>
          <a:prstGeom prst="line">
            <a:avLst/>
          </a:prstGeom>
          <a:ln w="28575" cap="flat" cmpd="sng">
            <a:solidFill>
              <a:srgbClr val="FF0000"/>
            </a:solidFill>
            <a:prstDash val="solid"/>
            <a:bevel/>
            <a:headEnd type="none" w="med" len="med"/>
            <a:tailEnd type="none" w="med" len="med"/>
          </a:ln>
        </p:spPr>
      </p:sp>
      <p:sp>
        <p:nvSpPr>
          <p:cNvPr id="134294" name="Line 154"/>
          <p:cNvSpPr/>
          <p:nvPr/>
        </p:nvSpPr>
        <p:spPr>
          <a:xfrm>
            <a:off x="6488113" y="5999163"/>
            <a:ext cx="0" cy="144462"/>
          </a:xfrm>
          <a:prstGeom prst="line">
            <a:avLst/>
          </a:prstGeom>
          <a:ln w="28575" cap="flat" cmpd="sng">
            <a:solidFill>
              <a:srgbClr val="FF0000"/>
            </a:solidFill>
            <a:prstDash val="solid"/>
            <a:bevel/>
            <a:headEnd type="none" w="med" len="med"/>
            <a:tailEnd type="none" w="med" len="med"/>
          </a:ln>
        </p:spPr>
      </p:sp>
    </p:spTree>
  </p:cSld>
  <p:clrMapOvr>
    <a:masterClrMapping/>
  </p:clrMapOvr>
  <p:transition spd="slow">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5"/>
          <p:cNvSpPr/>
          <p:nvPr/>
        </p:nvSpPr>
        <p:spPr>
          <a:xfrm>
            <a:off x="1603375" y="2468563"/>
            <a:ext cx="2736850" cy="4392612"/>
          </a:xfrm>
          <a:prstGeom prst="rect">
            <a:avLst/>
          </a:prstGeom>
          <a:solidFill>
            <a:srgbClr val="E8D8DE"/>
          </a:solidFill>
          <a:ln w="12700"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171" name="Rectangle 6"/>
          <p:cNvSpPr/>
          <p:nvPr/>
        </p:nvSpPr>
        <p:spPr>
          <a:xfrm>
            <a:off x="7796213" y="1316038"/>
            <a:ext cx="433387" cy="2447925"/>
          </a:xfrm>
          <a:prstGeom prst="rect">
            <a:avLst/>
          </a:prstGeom>
          <a:solidFill>
            <a:srgbClr val="E9D6EA"/>
          </a:solidFill>
          <a:ln w="12700"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172" name="Rectangle 7"/>
          <p:cNvSpPr/>
          <p:nvPr/>
        </p:nvSpPr>
        <p:spPr>
          <a:xfrm>
            <a:off x="5421313" y="4772025"/>
            <a:ext cx="647700" cy="1800225"/>
          </a:xfrm>
          <a:prstGeom prst="rect">
            <a:avLst/>
          </a:prstGeom>
          <a:noFill/>
          <a:ln w="9525" cap="flat" cmpd="sng">
            <a:solidFill>
              <a:schemeClr val="tx1"/>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spcAft>
                <a:spcPct val="0"/>
              </a:spcAft>
              <a:buClrTx/>
              <a:buSzTx/>
              <a:buNone/>
            </a:pPr>
            <a:r>
              <a:rPr lang="en-US" altLang="zh-CN" sz="1800" b="0" dirty="0">
                <a:solidFill>
                  <a:schemeClr val="tx1"/>
                </a:solidFill>
                <a:latin typeface="Times New Roman" panose="02020603050405020304" pitchFamily="18" charset="0"/>
                <a:ea typeface="楷体_GB2312"/>
              </a:rPr>
              <a:t>O1   I1</a:t>
            </a:r>
            <a:endParaRPr lang="en-US" altLang="zh-CN" sz="1800" b="0" dirty="0">
              <a:solidFill>
                <a:schemeClr val="tx1"/>
              </a:solidFill>
              <a:latin typeface="Times New Roman" panose="02020603050405020304" pitchFamily="18" charset="0"/>
              <a:ea typeface="楷体_GB2312"/>
            </a:endParaRPr>
          </a:p>
          <a:p>
            <a:pPr marL="0" lvl="0" indent="0" algn="ctr">
              <a:spcAft>
                <a:spcPct val="0"/>
              </a:spcAft>
              <a:buClrTx/>
              <a:buSzTx/>
              <a:buNone/>
            </a:pPr>
            <a:r>
              <a:rPr lang="en-US" altLang="zh-CN" sz="1800" b="0" dirty="0">
                <a:solidFill>
                  <a:schemeClr val="tx1"/>
                </a:solidFill>
                <a:latin typeface="Times New Roman" panose="02020603050405020304" pitchFamily="18" charset="0"/>
                <a:ea typeface="楷体_GB2312"/>
              </a:rPr>
              <a:t>O2   I2</a:t>
            </a:r>
            <a:endParaRPr lang="en-US" altLang="zh-CN" sz="1800" b="0" dirty="0">
              <a:solidFill>
                <a:schemeClr val="tx1"/>
              </a:solidFill>
              <a:latin typeface="Times New Roman" panose="02020603050405020304" pitchFamily="18" charset="0"/>
              <a:ea typeface="楷体_GB2312"/>
            </a:endParaRPr>
          </a:p>
          <a:p>
            <a:pPr marL="0" lvl="0" indent="0" algn="ctr">
              <a:spcAft>
                <a:spcPct val="0"/>
              </a:spcAft>
              <a:buClrTx/>
              <a:buSzTx/>
              <a:buNone/>
            </a:pPr>
            <a:r>
              <a:rPr lang="en-US" altLang="zh-CN" sz="1800" b="0" dirty="0">
                <a:solidFill>
                  <a:schemeClr val="tx1"/>
                </a:solidFill>
                <a:latin typeface="Times New Roman" panose="02020603050405020304" pitchFamily="18" charset="0"/>
                <a:ea typeface="楷体_GB2312"/>
              </a:rPr>
              <a:t>O3   I3</a:t>
            </a:r>
            <a:endParaRPr lang="en-US" altLang="zh-CN" sz="1800" b="0" dirty="0">
              <a:solidFill>
                <a:schemeClr val="tx1"/>
              </a:solidFill>
              <a:latin typeface="Times New Roman" panose="02020603050405020304" pitchFamily="18" charset="0"/>
              <a:ea typeface="楷体_GB2312"/>
            </a:endParaRPr>
          </a:p>
          <a:p>
            <a:pPr marL="0" lvl="0" indent="0" algn="ctr">
              <a:spcAft>
                <a:spcPct val="0"/>
              </a:spcAft>
              <a:buClrTx/>
              <a:buSzTx/>
              <a:buNone/>
            </a:pPr>
            <a:r>
              <a:rPr lang="en-US" altLang="zh-CN" sz="1800" b="0" dirty="0">
                <a:solidFill>
                  <a:schemeClr val="tx1"/>
                </a:solidFill>
                <a:latin typeface="Times New Roman" panose="02020603050405020304" pitchFamily="18" charset="0"/>
                <a:ea typeface="楷体_GB2312"/>
              </a:rPr>
              <a:t>O4   I4</a:t>
            </a:r>
            <a:endParaRPr lang="en-US" altLang="zh-CN" sz="1800" b="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en-US" altLang="zh-CN" sz="1600" b="0" dirty="0">
                <a:solidFill>
                  <a:schemeClr val="tx1"/>
                </a:solidFill>
                <a:ea typeface="楷体_GB2312"/>
              </a:rPr>
              <a:t>#E1</a:t>
            </a:r>
            <a:r>
              <a:rPr lang="en-US" altLang="zh-CN" sz="1800" b="0" dirty="0">
                <a:solidFill>
                  <a:schemeClr val="tx1"/>
                </a:solidFill>
                <a:latin typeface="Times New Roman" panose="02020603050405020304" pitchFamily="18" charset="0"/>
                <a:ea typeface="楷体_GB2312"/>
              </a:rPr>
              <a:t>    </a:t>
            </a:r>
            <a:endParaRPr lang="en-US" altLang="zh-CN" sz="1800" b="0" dirty="0">
              <a:solidFill>
                <a:schemeClr val="tx1"/>
              </a:solidFill>
              <a:latin typeface="Times New Roman" panose="02020603050405020304" pitchFamily="18" charset="0"/>
              <a:ea typeface="楷体_GB2312"/>
            </a:endParaRPr>
          </a:p>
        </p:txBody>
      </p:sp>
      <p:sp>
        <p:nvSpPr>
          <p:cNvPr id="135173" name="Line 8"/>
          <p:cNvSpPr/>
          <p:nvPr/>
        </p:nvSpPr>
        <p:spPr>
          <a:xfrm>
            <a:off x="6069013" y="4987925"/>
            <a:ext cx="1511300" cy="0"/>
          </a:xfrm>
          <a:prstGeom prst="line">
            <a:avLst/>
          </a:prstGeom>
          <a:ln w="9525" cap="flat" cmpd="sng">
            <a:solidFill>
              <a:schemeClr val="tx1"/>
            </a:solidFill>
            <a:prstDash val="solid"/>
            <a:bevel/>
            <a:headEnd type="none" w="med" len="med"/>
            <a:tailEnd type="none" w="med" len="med"/>
          </a:ln>
        </p:spPr>
      </p:sp>
      <p:sp>
        <p:nvSpPr>
          <p:cNvPr id="135174" name="Oval 9"/>
          <p:cNvSpPr/>
          <p:nvPr/>
        </p:nvSpPr>
        <p:spPr>
          <a:xfrm>
            <a:off x="7580313" y="4945063"/>
            <a:ext cx="107950" cy="107950"/>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175" name="Oval 10"/>
          <p:cNvSpPr/>
          <p:nvPr/>
        </p:nvSpPr>
        <p:spPr>
          <a:xfrm>
            <a:off x="8040688" y="4930775"/>
            <a:ext cx="107950" cy="107950"/>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176" name="Line 11"/>
          <p:cNvSpPr/>
          <p:nvPr/>
        </p:nvSpPr>
        <p:spPr>
          <a:xfrm flipV="1">
            <a:off x="7696200" y="4830763"/>
            <a:ext cx="315913" cy="142875"/>
          </a:xfrm>
          <a:prstGeom prst="line">
            <a:avLst/>
          </a:prstGeom>
          <a:ln w="9525" cap="flat" cmpd="sng">
            <a:solidFill>
              <a:schemeClr val="tx1"/>
            </a:solidFill>
            <a:prstDash val="solid"/>
            <a:bevel/>
            <a:headEnd type="none" w="med" len="med"/>
            <a:tailEnd type="none" w="med" len="med"/>
          </a:ln>
        </p:spPr>
      </p:sp>
      <p:sp>
        <p:nvSpPr>
          <p:cNvPr id="135177" name="Line 12"/>
          <p:cNvSpPr/>
          <p:nvPr/>
        </p:nvSpPr>
        <p:spPr>
          <a:xfrm>
            <a:off x="8156575" y="4987925"/>
            <a:ext cx="288925" cy="0"/>
          </a:xfrm>
          <a:prstGeom prst="line">
            <a:avLst/>
          </a:prstGeom>
          <a:ln w="9525" cap="flat" cmpd="sng">
            <a:solidFill>
              <a:schemeClr val="tx1"/>
            </a:solidFill>
            <a:prstDash val="solid"/>
            <a:bevel/>
            <a:headEnd type="none" w="med" len="med"/>
            <a:tailEnd type="none" w="med" len="med"/>
          </a:ln>
        </p:spPr>
      </p:sp>
      <p:sp>
        <p:nvSpPr>
          <p:cNvPr id="135178" name="Line 13"/>
          <p:cNvSpPr/>
          <p:nvPr/>
        </p:nvSpPr>
        <p:spPr>
          <a:xfrm>
            <a:off x="6069013" y="5348288"/>
            <a:ext cx="1511300" cy="0"/>
          </a:xfrm>
          <a:prstGeom prst="line">
            <a:avLst/>
          </a:prstGeom>
          <a:ln w="9525" cap="flat" cmpd="sng">
            <a:solidFill>
              <a:schemeClr val="tx1"/>
            </a:solidFill>
            <a:prstDash val="solid"/>
            <a:bevel/>
            <a:headEnd type="none" w="med" len="med"/>
            <a:tailEnd type="none" w="med" len="med"/>
          </a:ln>
        </p:spPr>
      </p:sp>
      <p:sp>
        <p:nvSpPr>
          <p:cNvPr id="135179" name="Oval 14"/>
          <p:cNvSpPr/>
          <p:nvPr/>
        </p:nvSpPr>
        <p:spPr>
          <a:xfrm>
            <a:off x="7580313" y="5305425"/>
            <a:ext cx="107950" cy="107950"/>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180" name="Oval 15"/>
          <p:cNvSpPr/>
          <p:nvPr/>
        </p:nvSpPr>
        <p:spPr>
          <a:xfrm>
            <a:off x="8040688" y="5291138"/>
            <a:ext cx="107950" cy="107950"/>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181" name="Line 16"/>
          <p:cNvSpPr/>
          <p:nvPr/>
        </p:nvSpPr>
        <p:spPr>
          <a:xfrm flipV="1">
            <a:off x="7696200" y="5191125"/>
            <a:ext cx="315913" cy="142875"/>
          </a:xfrm>
          <a:prstGeom prst="line">
            <a:avLst/>
          </a:prstGeom>
          <a:ln w="9525" cap="flat" cmpd="sng">
            <a:solidFill>
              <a:schemeClr val="tx1"/>
            </a:solidFill>
            <a:prstDash val="solid"/>
            <a:bevel/>
            <a:headEnd type="none" w="med" len="med"/>
            <a:tailEnd type="none" w="med" len="med"/>
          </a:ln>
        </p:spPr>
      </p:sp>
      <p:sp>
        <p:nvSpPr>
          <p:cNvPr id="135182" name="Line 17"/>
          <p:cNvSpPr/>
          <p:nvPr/>
        </p:nvSpPr>
        <p:spPr>
          <a:xfrm>
            <a:off x="8156575" y="5348288"/>
            <a:ext cx="288925" cy="0"/>
          </a:xfrm>
          <a:prstGeom prst="line">
            <a:avLst/>
          </a:prstGeom>
          <a:ln w="9525" cap="flat" cmpd="sng">
            <a:solidFill>
              <a:schemeClr val="tx1"/>
            </a:solidFill>
            <a:prstDash val="solid"/>
            <a:bevel/>
            <a:headEnd type="none" w="med" len="med"/>
            <a:tailEnd type="oval" w="sm" len="sm"/>
          </a:ln>
        </p:spPr>
      </p:sp>
      <p:sp>
        <p:nvSpPr>
          <p:cNvPr id="135183" name="Line 18"/>
          <p:cNvSpPr/>
          <p:nvPr/>
        </p:nvSpPr>
        <p:spPr>
          <a:xfrm>
            <a:off x="6069013" y="5708650"/>
            <a:ext cx="1511300" cy="0"/>
          </a:xfrm>
          <a:prstGeom prst="line">
            <a:avLst/>
          </a:prstGeom>
          <a:ln w="9525" cap="flat" cmpd="sng">
            <a:solidFill>
              <a:schemeClr val="tx1"/>
            </a:solidFill>
            <a:prstDash val="solid"/>
            <a:bevel/>
            <a:headEnd type="none" w="med" len="med"/>
            <a:tailEnd type="none" w="med" len="med"/>
          </a:ln>
        </p:spPr>
      </p:sp>
      <p:sp>
        <p:nvSpPr>
          <p:cNvPr id="135184" name="Oval 19"/>
          <p:cNvSpPr/>
          <p:nvPr/>
        </p:nvSpPr>
        <p:spPr>
          <a:xfrm>
            <a:off x="7580313" y="5665788"/>
            <a:ext cx="107950" cy="107950"/>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185" name="Oval 20"/>
          <p:cNvSpPr/>
          <p:nvPr/>
        </p:nvSpPr>
        <p:spPr>
          <a:xfrm>
            <a:off x="8040688" y="5651500"/>
            <a:ext cx="107950" cy="107950"/>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186" name="Line 21"/>
          <p:cNvSpPr/>
          <p:nvPr/>
        </p:nvSpPr>
        <p:spPr>
          <a:xfrm flipV="1">
            <a:off x="7696200" y="5551488"/>
            <a:ext cx="315913" cy="142875"/>
          </a:xfrm>
          <a:prstGeom prst="line">
            <a:avLst/>
          </a:prstGeom>
          <a:ln w="9525" cap="flat" cmpd="sng">
            <a:solidFill>
              <a:schemeClr val="tx1"/>
            </a:solidFill>
            <a:prstDash val="solid"/>
            <a:bevel/>
            <a:headEnd type="none" w="med" len="med"/>
            <a:tailEnd type="none" w="med" len="med"/>
          </a:ln>
        </p:spPr>
      </p:sp>
      <p:sp>
        <p:nvSpPr>
          <p:cNvPr id="135187" name="Line 22"/>
          <p:cNvSpPr/>
          <p:nvPr/>
        </p:nvSpPr>
        <p:spPr>
          <a:xfrm>
            <a:off x="8156575" y="5708650"/>
            <a:ext cx="288925" cy="0"/>
          </a:xfrm>
          <a:prstGeom prst="line">
            <a:avLst/>
          </a:prstGeom>
          <a:ln w="9525" cap="flat" cmpd="sng">
            <a:solidFill>
              <a:schemeClr val="tx1"/>
            </a:solidFill>
            <a:prstDash val="solid"/>
            <a:bevel/>
            <a:headEnd type="none" w="med" len="med"/>
            <a:tailEnd type="oval" w="sm" len="sm"/>
          </a:ln>
        </p:spPr>
      </p:sp>
      <p:sp>
        <p:nvSpPr>
          <p:cNvPr id="135188" name="Line 23"/>
          <p:cNvSpPr/>
          <p:nvPr/>
        </p:nvSpPr>
        <p:spPr>
          <a:xfrm>
            <a:off x="6069013" y="6069013"/>
            <a:ext cx="1511300" cy="0"/>
          </a:xfrm>
          <a:prstGeom prst="line">
            <a:avLst/>
          </a:prstGeom>
          <a:ln w="9525" cap="flat" cmpd="sng">
            <a:solidFill>
              <a:schemeClr val="tx1"/>
            </a:solidFill>
            <a:prstDash val="solid"/>
            <a:bevel/>
            <a:headEnd type="none" w="med" len="med"/>
            <a:tailEnd type="none" w="med" len="med"/>
          </a:ln>
        </p:spPr>
      </p:sp>
      <p:sp>
        <p:nvSpPr>
          <p:cNvPr id="135189" name="Oval 24"/>
          <p:cNvSpPr/>
          <p:nvPr/>
        </p:nvSpPr>
        <p:spPr>
          <a:xfrm>
            <a:off x="7580313" y="6026150"/>
            <a:ext cx="107950" cy="107950"/>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190" name="Oval 25"/>
          <p:cNvSpPr/>
          <p:nvPr/>
        </p:nvSpPr>
        <p:spPr>
          <a:xfrm>
            <a:off x="8040688" y="6011863"/>
            <a:ext cx="107950" cy="107950"/>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191" name="Line 26"/>
          <p:cNvSpPr/>
          <p:nvPr/>
        </p:nvSpPr>
        <p:spPr>
          <a:xfrm flipV="1">
            <a:off x="7696200" y="5911850"/>
            <a:ext cx="315913" cy="142875"/>
          </a:xfrm>
          <a:prstGeom prst="line">
            <a:avLst/>
          </a:prstGeom>
          <a:ln w="9525" cap="flat" cmpd="sng">
            <a:solidFill>
              <a:schemeClr val="tx1"/>
            </a:solidFill>
            <a:prstDash val="solid"/>
            <a:bevel/>
            <a:headEnd type="none" w="med" len="med"/>
            <a:tailEnd type="none" w="med" len="med"/>
          </a:ln>
        </p:spPr>
      </p:sp>
      <p:sp>
        <p:nvSpPr>
          <p:cNvPr id="135192" name="Line 27"/>
          <p:cNvSpPr/>
          <p:nvPr/>
        </p:nvSpPr>
        <p:spPr>
          <a:xfrm>
            <a:off x="8156575" y="6069013"/>
            <a:ext cx="288925" cy="0"/>
          </a:xfrm>
          <a:prstGeom prst="line">
            <a:avLst/>
          </a:prstGeom>
          <a:ln w="9525" cap="flat" cmpd="sng">
            <a:solidFill>
              <a:schemeClr val="tx1"/>
            </a:solidFill>
            <a:prstDash val="solid"/>
            <a:bevel/>
            <a:headEnd type="none" w="med" len="med"/>
            <a:tailEnd type="oval" w="sm" len="sm"/>
          </a:ln>
        </p:spPr>
      </p:sp>
      <p:sp>
        <p:nvSpPr>
          <p:cNvPr id="135193" name="Line 28"/>
          <p:cNvSpPr/>
          <p:nvPr/>
        </p:nvSpPr>
        <p:spPr>
          <a:xfrm>
            <a:off x="8445500" y="4987925"/>
            <a:ext cx="0" cy="1296988"/>
          </a:xfrm>
          <a:prstGeom prst="line">
            <a:avLst/>
          </a:prstGeom>
          <a:ln w="9525" cap="flat" cmpd="sng">
            <a:solidFill>
              <a:schemeClr val="tx1"/>
            </a:solidFill>
            <a:prstDash val="solid"/>
            <a:bevel/>
            <a:headEnd type="none" w="med" len="med"/>
            <a:tailEnd type="none" w="med" len="med"/>
          </a:ln>
        </p:spPr>
      </p:sp>
      <p:sp>
        <p:nvSpPr>
          <p:cNvPr id="135194" name="Line 29"/>
          <p:cNvSpPr/>
          <p:nvPr/>
        </p:nvSpPr>
        <p:spPr>
          <a:xfrm>
            <a:off x="8301038" y="6284913"/>
            <a:ext cx="287337" cy="0"/>
          </a:xfrm>
          <a:prstGeom prst="line">
            <a:avLst/>
          </a:prstGeom>
          <a:ln w="9525" cap="flat" cmpd="sng">
            <a:solidFill>
              <a:schemeClr val="tx1"/>
            </a:solidFill>
            <a:prstDash val="solid"/>
            <a:bevel/>
            <a:headEnd type="none" w="med" len="med"/>
            <a:tailEnd type="none" w="med" len="med"/>
          </a:ln>
        </p:spPr>
      </p:sp>
      <p:sp>
        <p:nvSpPr>
          <p:cNvPr id="135195" name="Line 30"/>
          <p:cNvSpPr/>
          <p:nvPr/>
        </p:nvSpPr>
        <p:spPr>
          <a:xfrm>
            <a:off x="8372475" y="6343650"/>
            <a:ext cx="144463" cy="0"/>
          </a:xfrm>
          <a:prstGeom prst="line">
            <a:avLst/>
          </a:prstGeom>
          <a:ln w="9525" cap="flat" cmpd="sng">
            <a:solidFill>
              <a:schemeClr val="tx1"/>
            </a:solidFill>
            <a:prstDash val="solid"/>
            <a:bevel/>
            <a:headEnd type="none" w="med" len="med"/>
            <a:tailEnd type="none" w="med" len="med"/>
          </a:ln>
        </p:spPr>
      </p:sp>
      <p:sp>
        <p:nvSpPr>
          <p:cNvPr id="135196" name="Line 31"/>
          <p:cNvSpPr/>
          <p:nvPr/>
        </p:nvSpPr>
        <p:spPr>
          <a:xfrm>
            <a:off x="8416925" y="6415088"/>
            <a:ext cx="71438" cy="0"/>
          </a:xfrm>
          <a:prstGeom prst="line">
            <a:avLst/>
          </a:prstGeom>
          <a:ln w="9525" cap="flat" cmpd="sng">
            <a:solidFill>
              <a:schemeClr val="tx1"/>
            </a:solidFill>
            <a:prstDash val="solid"/>
            <a:bevel/>
            <a:headEnd type="none" w="med" len="med"/>
            <a:tailEnd type="none" w="med" len="med"/>
          </a:ln>
        </p:spPr>
      </p:sp>
      <p:sp>
        <p:nvSpPr>
          <p:cNvPr id="135197" name="Rectangle 32"/>
          <p:cNvSpPr/>
          <p:nvPr/>
        </p:nvSpPr>
        <p:spPr>
          <a:xfrm>
            <a:off x="6356350" y="4484688"/>
            <a:ext cx="144463" cy="287337"/>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198" name="Line 33"/>
          <p:cNvSpPr/>
          <p:nvPr/>
        </p:nvSpPr>
        <p:spPr>
          <a:xfrm>
            <a:off x="6429375" y="4772025"/>
            <a:ext cx="0" cy="215900"/>
          </a:xfrm>
          <a:prstGeom prst="line">
            <a:avLst/>
          </a:prstGeom>
          <a:ln w="9525" cap="flat" cmpd="sng">
            <a:solidFill>
              <a:schemeClr val="tx1"/>
            </a:solidFill>
            <a:prstDash val="solid"/>
            <a:bevel/>
            <a:headEnd type="none" w="med" len="med"/>
            <a:tailEnd type="oval" w="sm" len="sm"/>
          </a:ln>
        </p:spPr>
      </p:sp>
      <p:sp>
        <p:nvSpPr>
          <p:cNvPr id="135199" name="Line 34"/>
          <p:cNvSpPr/>
          <p:nvPr/>
        </p:nvSpPr>
        <p:spPr>
          <a:xfrm flipV="1">
            <a:off x="6429375" y="4413250"/>
            <a:ext cx="0" cy="71438"/>
          </a:xfrm>
          <a:prstGeom prst="line">
            <a:avLst/>
          </a:prstGeom>
          <a:ln w="9525" cap="flat" cmpd="sng">
            <a:solidFill>
              <a:schemeClr val="tx1"/>
            </a:solidFill>
            <a:prstDash val="solid"/>
            <a:bevel/>
            <a:headEnd type="none" w="med" len="med"/>
            <a:tailEnd type="none" w="med" len="med"/>
          </a:ln>
        </p:spPr>
      </p:sp>
      <p:sp>
        <p:nvSpPr>
          <p:cNvPr id="135200" name="Line 35"/>
          <p:cNvSpPr/>
          <p:nvPr/>
        </p:nvSpPr>
        <p:spPr>
          <a:xfrm>
            <a:off x="6429375" y="4413250"/>
            <a:ext cx="2016125" cy="0"/>
          </a:xfrm>
          <a:prstGeom prst="line">
            <a:avLst/>
          </a:prstGeom>
          <a:ln w="9525" cap="flat" cmpd="sng">
            <a:solidFill>
              <a:schemeClr val="tx1"/>
            </a:solidFill>
            <a:prstDash val="solid"/>
            <a:bevel/>
            <a:headEnd type="none" w="med" len="med"/>
            <a:tailEnd type="none" w="med" len="med"/>
          </a:ln>
        </p:spPr>
      </p:sp>
      <p:sp>
        <p:nvSpPr>
          <p:cNvPr id="135201" name="Rectangle 36"/>
          <p:cNvSpPr/>
          <p:nvPr/>
        </p:nvSpPr>
        <p:spPr>
          <a:xfrm>
            <a:off x="6645275" y="4484688"/>
            <a:ext cx="144463" cy="287337"/>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02" name="Line 37"/>
          <p:cNvSpPr/>
          <p:nvPr/>
        </p:nvSpPr>
        <p:spPr>
          <a:xfrm flipH="1">
            <a:off x="6716713" y="4772025"/>
            <a:ext cx="1587" cy="576263"/>
          </a:xfrm>
          <a:prstGeom prst="line">
            <a:avLst/>
          </a:prstGeom>
          <a:ln w="9525" cap="flat" cmpd="sng">
            <a:solidFill>
              <a:schemeClr val="tx1"/>
            </a:solidFill>
            <a:prstDash val="solid"/>
            <a:bevel/>
            <a:headEnd type="none" w="med" len="med"/>
            <a:tailEnd type="oval" w="sm" len="sm"/>
          </a:ln>
        </p:spPr>
      </p:sp>
      <p:sp>
        <p:nvSpPr>
          <p:cNvPr id="135203" name="Line 38"/>
          <p:cNvSpPr/>
          <p:nvPr/>
        </p:nvSpPr>
        <p:spPr>
          <a:xfrm flipV="1">
            <a:off x="6718300" y="4413250"/>
            <a:ext cx="0" cy="71438"/>
          </a:xfrm>
          <a:prstGeom prst="line">
            <a:avLst/>
          </a:prstGeom>
          <a:ln w="9525" cap="flat" cmpd="sng">
            <a:solidFill>
              <a:schemeClr val="tx1"/>
            </a:solidFill>
            <a:prstDash val="solid"/>
            <a:bevel/>
            <a:headEnd type="none" w="med" len="med"/>
            <a:tailEnd type="oval" w="sm" len="sm"/>
          </a:ln>
        </p:spPr>
      </p:sp>
      <p:sp>
        <p:nvSpPr>
          <p:cNvPr id="135204" name="Rectangle 39"/>
          <p:cNvSpPr/>
          <p:nvPr/>
        </p:nvSpPr>
        <p:spPr>
          <a:xfrm>
            <a:off x="6932613" y="4484688"/>
            <a:ext cx="144462" cy="287337"/>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05" name="Line 40"/>
          <p:cNvSpPr/>
          <p:nvPr/>
        </p:nvSpPr>
        <p:spPr>
          <a:xfrm flipH="1">
            <a:off x="7004050" y="4772025"/>
            <a:ext cx="1588" cy="936625"/>
          </a:xfrm>
          <a:prstGeom prst="line">
            <a:avLst/>
          </a:prstGeom>
          <a:ln w="9525" cap="flat" cmpd="sng">
            <a:solidFill>
              <a:schemeClr val="tx1"/>
            </a:solidFill>
            <a:prstDash val="solid"/>
            <a:bevel/>
            <a:headEnd type="none" w="med" len="med"/>
            <a:tailEnd type="oval" w="sm" len="sm"/>
          </a:ln>
        </p:spPr>
      </p:sp>
      <p:sp>
        <p:nvSpPr>
          <p:cNvPr id="135206" name="Line 41"/>
          <p:cNvSpPr/>
          <p:nvPr/>
        </p:nvSpPr>
        <p:spPr>
          <a:xfrm flipV="1">
            <a:off x="7005638" y="4413250"/>
            <a:ext cx="0" cy="71438"/>
          </a:xfrm>
          <a:prstGeom prst="line">
            <a:avLst/>
          </a:prstGeom>
          <a:ln w="9525" cap="flat" cmpd="sng">
            <a:solidFill>
              <a:schemeClr val="tx1"/>
            </a:solidFill>
            <a:prstDash val="solid"/>
            <a:bevel/>
            <a:headEnd type="none" w="med" len="med"/>
            <a:tailEnd type="oval" w="sm" len="sm"/>
          </a:ln>
        </p:spPr>
      </p:sp>
      <p:sp>
        <p:nvSpPr>
          <p:cNvPr id="135207" name="Rectangle 42"/>
          <p:cNvSpPr/>
          <p:nvPr/>
        </p:nvSpPr>
        <p:spPr>
          <a:xfrm>
            <a:off x="7221538" y="4484688"/>
            <a:ext cx="144462" cy="287337"/>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08" name="Line 43"/>
          <p:cNvSpPr/>
          <p:nvPr/>
        </p:nvSpPr>
        <p:spPr>
          <a:xfrm flipH="1">
            <a:off x="7292975" y="4772025"/>
            <a:ext cx="1588" cy="1296988"/>
          </a:xfrm>
          <a:prstGeom prst="line">
            <a:avLst/>
          </a:prstGeom>
          <a:ln w="9525" cap="flat" cmpd="sng">
            <a:solidFill>
              <a:schemeClr val="tx1"/>
            </a:solidFill>
            <a:prstDash val="solid"/>
            <a:bevel/>
            <a:headEnd type="none" w="med" len="med"/>
            <a:tailEnd type="oval" w="sm" len="sm"/>
          </a:ln>
        </p:spPr>
      </p:sp>
      <p:sp>
        <p:nvSpPr>
          <p:cNvPr id="135209" name="Line 44"/>
          <p:cNvSpPr/>
          <p:nvPr/>
        </p:nvSpPr>
        <p:spPr>
          <a:xfrm flipV="1">
            <a:off x="7294563" y="4413250"/>
            <a:ext cx="0" cy="71438"/>
          </a:xfrm>
          <a:prstGeom prst="line">
            <a:avLst/>
          </a:prstGeom>
          <a:ln w="9525" cap="flat" cmpd="sng">
            <a:solidFill>
              <a:schemeClr val="tx1"/>
            </a:solidFill>
            <a:prstDash val="solid"/>
            <a:bevel/>
            <a:headEnd type="none" w="med" len="med"/>
            <a:tailEnd type="oval" w="sm" len="sm"/>
          </a:ln>
        </p:spPr>
      </p:sp>
      <p:sp>
        <p:nvSpPr>
          <p:cNvPr id="135210" name="Oval 45"/>
          <p:cNvSpPr/>
          <p:nvPr/>
        </p:nvSpPr>
        <p:spPr>
          <a:xfrm>
            <a:off x="8445500" y="4340225"/>
            <a:ext cx="107950" cy="107950"/>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11" name="Text Box 46"/>
          <p:cNvSpPr txBox="1"/>
          <p:nvPr/>
        </p:nvSpPr>
        <p:spPr>
          <a:xfrm>
            <a:off x="7580313" y="4484688"/>
            <a:ext cx="792162" cy="336550"/>
          </a:xfrm>
          <a:prstGeom prst="rect">
            <a:avLst/>
          </a:prstGeom>
          <a:noFill/>
          <a:ln w="9525">
            <a:noFill/>
          </a:ln>
        </p:spPr>
        <p:txBody>
          <a:bodyPr lIns="0" r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600" dirty="0">
                <a:solidFill>
                  <a:schemeClr val="tx1"/>
                </a:solidFill>
                <a:ea typeface="楷体_GB2312"/>
              </a:rPr>
              <a:t>K0</a:t>
            </a:r>
            <a:r>
              <a:rPr lang="zh-CN" altLang="en-US" sz="1600" dirty="0">
                <a:solidFill>
                  <a:schemeClr val="tx1"/>
                </a:solidFill>
                <a:ea typeface="楷体_GB2312"/>
              </a:rPr>
              <a:t>～</a:t>
            </a:r>
            <a:r>
              <a:rPr lang="en-US" altLang="zh-CN" sz="1600" dirty="0">
                <a:solidFill>
                  <a:schemeClr val="tx1"/>
                </a:solidFill>
                <a:ea typeface="楷体_GB2312"/>
              </a:rPr>
              <a:t>K3</a:t>
            </a:r>
            <a:endParaRPr lang="en-US" altLang="zh-CN" sz="1600" dirty="0">
              <a:solidFill>
                <a:schemeClr val="tx1"/>
              </a:solidFill>
              <a:ea typeface="楷体_GB2312"/>
            </a:endParaRPr>
          </a:p>
        </p:txBody>
      </p:sp>
      <p:sp>
        <p:nvSpPr>
          <p:cNvPr id="135212" name="Text Box 47"/>
          <p:cNvSpPr txBox="1"/>
          <p:nvPr/>
        </p:nvSpPr>
        <p:spPr>
          <a:xfrm>
            <a:off x="8639175" y="4225925"/>
            <a:ext cx="396875" cy="336550"/>
          </a:xfrm>
          <a:prstGeom prst="rect">
            <a:avLst/>
          </a:prstGeom>
          <a:noFill/>
          <a:ln w="9525">
            <a:noFill/>
          </a:ln>
        </p:spPr>
        <p:txBody>
          <a:bodyPr lIns="0" r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600" dirty="0">
                <a:solidFill>
                  <a:schemeClr val="tx1"/>
                </a:solidFill>
                <a:ea typeface="楷体_GB2312"/>
              </a:rPr>
              <a:t>+5V</a:t>
            </a:r>
            <a:endParaRPr lang="en-US" altLang="zh-CN" sz="1600" dirty="0">
              <a:solidFill>
                <a:schemeClr val="tx1"/>
              </a:solidFill>
              <a:ea typeface="楷体_GB2312"/>
            </a:endParaRPr>
          </a:p>
        </p:txBody>
      </p:sp>
      <p:sp>
        <p:nvSpPr>
          <p:cNvPr id="135213" name="Rectangle 48"/>
          <p:cNvSpPr/>
          <p:nvPr/>
        </p:nvSpPr>
        <p:spPr>
          <a:xfrm>
            <a:off x="2395538" y="3692525"/>
            <a:ext cx="792162" cy="2160588"/>
          </a:xfrm>
          <a:prstGeom prst="rect">
            <a:avLst/>
          </a:prstGeom>
          <a:noFill/>
          <a:ln w="9525" cap="flat" cmpd="sng">
            <a:solidFill>
              <a:schemeClr val="tx1"/>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G</a:t>
            </a:r>
            <a:endParaRPr lang="en-US" altLang="zh-CN" sz="1800" b="0" dirty="0">
              <a:solidFill>
                <a:schemeClr val="tx1"/>
              </a:solidFill>
              <a:ea typeface="楷体_GB2312"/>
            </a:endParaRPr>
          </a:p>
          <a:p>
            <a:pPr marL="0" lvl="0" indent="0">
              <a:lnSpc>
                <a:spcPct val="100000"/>
              </a:lnSpc>
              <a:spcBef>
                <a:spcPct val="0"/>
              </a:spcBef>
              <a:spcAft>
                <a:spcPct val="0"/>
              </a:spcAft>
              <a:buClrTx/>
              <a:buSzTx/>
              <a:buNone/>
            </a:pPr>
            <a:endParaRPr lang="en-US" altLang="zh-CN" sz="1800" b="0" dirty="0">
              <a:solidFill>
                <a:schemeClr val="tx1"/>
              </a:solidFill>
              <a:ea typeface="楷体_GB2312"/>
            </a:endParaRPr>
          </a:p>
          <a:p>
            <a:pPr marL="0" lvl="0" indent="0">
              <a:lnSpc>
                <a:spcPct val="100000"/>
              </a:lnSpc>
              <a:spcBef>
                <a:spcPct val="0"/>
              </a:spcBef>
              <a:spcAft>
                <a:spcPct val="0"/>
              </a:spcAft>
              <a:buClrTx/>
              <a:buSzTx/>
              <a:buNone/>
            </a:pPr>
            <a:r>
              <a:rPr lang="en-US" altLang="zh-CN" sz="1800" b="0" dirty="0">
                <a:solidFill>
                  <a:schemeClr val="tx1"/>
                </a:solidFill>
                <a:ea typeface="楷体_GB2312"/>
              </a:rPr>
              <a:t>G</a:t>
            </a:r>
            <a:r>
              <a:rPr lang="en-US" altLang="zh-CN" sz="1200" b="0" dirty="0">
                <a:solidFill>
                  <a:schemeClr val="tx1"/>
                </a:solidFill>
                <a:ea typeface="楷体_GB2312"/>
              </a:rPr>
              <a:t>2A</a:t>
            </a:r>
            <a:endParaRPr lang="en-US" altLang="zh-CN" sz="1200" b="0" dirty="0">
              <a:solidFill>
                <a:schemeClr val="tx1"/>
              </a:solidFill>
              <a:ea typeface="楷体_GB2312"/>
            </a:endParaRPr>
          </a:p>
          <a:p>
            <a:pPr marL="0" lvl="0" indent="0">
              <a:lnSpc>
                <a:spcPct val="100000"/>
              </a:lnSpc>
              <a:spcBef>
                <a:spcPct val="0"/>
              </a:spcBef>
              <a:spcAft>
                <a:spcPct val="0"/>
              </a:spcAft>
              <a:buClrTx/>
              <a:buSzTx/>
              <a:buNone/>
            </a:pPr>
            <a:endParaRPr lang="en-US" altLang="zh-CN" sz="1800" b="0" dirty="0">
              <a:solidFill>
                <a:schemeClr val="tx1"/>
              </a:solidFill>
              <a:ea typeface="楷体_GB2312"/>
            </a:endParaRPr>
          </a:p>
          <a:p>
            <a:pPr marL="0" lvl="0" indent="0">
              <a:lnSpc>
                <a:spcPct val="100000"/>
              </a:lnSpc>
              <a:spcBef>
                <a:spcPct val="0"/>
              </a:spcBef>
              <a:spcAft>
                <a:spcPct val="0"/>
              </a:spcAft>
              <a:buClrTx/>
              <a:buSzTx/>
              <a:buNone/>
            </a:pPr>
            <a:r>
              <a:rPr lang="en-US" altLang="zh-CN" sz="1800" b="0" dirty="0">
                <a:solidFill>
                  <a:schemeClr val="tx1"/>
                </a:solidFill>
                <a:ea typeface="楷体_GB2312"/>
              </a:rPr>
              <a:t>G</a:t>
            </a:r>
            <a:r>
              <a:rPr lang="en-US" altLang="zh-CN" sz="1200" b="0" dirty="0">
                <a:solidFill>
                  <a:schemeClr val="tx1"/>
                </a:solidFill>
                <a:ea typeface="楷体_GB2312"/>
              </a:rPr>
              <a:t>2B</a:t>
            </a:r>
            <a:endParaRPr lang="en-US" altLang="zh-CN" sz="1200" b="0" dirty="0">
              <a:solidFill>
                <a:schemeClr val="tx1"/>
              </a:solidFill>
              <a:ea typeface="楷体_GB2312"/>
            </a:endParaRPr>
          </a:p>
          <a:p>
            <a:pPr marL="0" lvl="0" indent="0">
              <a:lnSpc>
                <a:spcPct val="100000"/>
              </a:lnSpc>
              <a:spcBef>
                <a:spcPct val="0"/>
              </a:spcBef>
              <a:spcAft>
                <a:spcPct val="0"/>
              </a:spcAft>
              <a:buClrTx/>
              <a:buSzTx/>
              <a:buNone/>
            </a:pPr>
            <a:r>
              <a:rPr lang="en-US" altLang="zh-CN" sz="1800" b="0" dirty="0">
                <a:solidFill>
                  <a:schemeClr val="tx1"/>
                </a:solidFill>
                <a:ea typeface="楷体_GB2312"/>
              </a:rPr>
              <a:t>C</a:t>
            </a:r>
            <a:endParaRPr lang="en-US" altLang="zh-CN" sz="1800" b="0" dirty="0">
              <a:solidFill>
                <a:schemeClr val="tx1"/>
              </a:solidFill>
              <a:ea typeface="楷体_GB2312"/>
            </a:endParaRPr>
          </a:p>
          <a:p>
            <a:pPr marL="0" lvl="0" indent="0">
              <a:lnSpc>
                <a:spcPct val="90000"/>
              </a:lnSpc>
              <a:spcBef>
                <a:spcPct val="0"/>
              </a:spcBef>
              <a:spcAft>
                <a:spcPct val="0"/>
              </a:spcAft>
              <a:buClrTx/>
              <a:buSzTx/>
              <a:buNone/>
            </a:pPr>
            <a:r>
              <a:rPr lang="en-US" altLang="zh-CN" sz="1800" b="0" dirty="0">
                <a:solidFill>
                  <a:schemeClr val="tx1"/>
                </a:solidFill>
                <a:ea typeface="楷体_GB2312"/>
              </a:rPr>
              <a:t>B</a:t>
            </a:r>
            <a:endParaRPr lang="en-US" altLang="zh-CN" sz="1800" b="0" dirty="0">
              <a:solidFill>
                <a:schemeClr val="tx1"/>
              </a:solidFill>
              <a:ea typeface="楷体_GB2312"/>
            </a:endParaRPr>
          </a:p>
          <a:p>
            <a:pPr marL="0" lvl="0" indent="0">
              <a:lnSpc>
                <a:spcPct val="90000"/>
              </a:lnSpc>
              <a:spcBef>
                <a:spcPct val="0"/>
              </a:spcBef>
              <a:spcAft>
                <a:spcPct val="0"/>
              </a:spcAft>
              <a:buClrTx/>
              <a:buSzTx/>
              <a:buNone/>
            </a:pPr>
            <a:r>
              <a:rPr lang="en-US" altLang="zh-CN" sz="1800" b="0" dirty="0">
                <a:solidFill>
                  <a:schemeClr val="tx1"/>
                </a:solidFill>
                <a:ea typeface="楷体_GB2312"/>
              </a:rPr>
              <a:t>A</a:t>
            </a:r>
            <a:endParaRPr lang="en-US" altLang="zh-CN" sz="1800" b="0" dirty="0">
              <a:solidFill>
                <a:schemeClr val="tx1"/>
              </a:solidFill>
              <a:ea typeface="楷体_GB2312"/>
            </a:endParaRPr>
          </a:p>
        </p:txBody>
      </p:sp>
      <p:sp>
        <p:nvSpPr>
          <p:cNvPr id="135214" name="Rectangle 49"/>
          <p:cNvSpPr/>
          <p:nvPr/>
        </p:nvSpPr>
        <p:spPr>
          <a:xfrm>
            <a:off x="3763963" y="6069013"/>
            <a:ext cx="358775" cy="6477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1600" dirty="0">
                <a:solidFill>
                  <a:schemeClr val="tx1"/>
                </a:solidFill>
                <a:latin typeface="宋体" panose="02010600030101010101" pitchFamily="2" charset="-122"/>
                <a:ea typeface="楷体_GB2312"/>
              </a:rPr>
              <a:t>≥</a:t>
            </a:r>
            <a:r>
              <a:rPr lang="en-US" altLang="zh-CN" sz="1600" dirty="0">
                <a:solidFill>
                  <a:schemeClr val="tx1"/>
                </a:solidFill>
                <a:latin typeface="宋体" panose="02010600030101010101" pitchFamily="2" charset="-122"/>
                <a:ea typeface="楷体_GB2312"/>
              </a:rPr>
              <a:t>1</a:t>
            </a:r>
            <a:endParaRPr lang="en-US" altLang="zh-CN" sz="1600" dirty="0">
              <a:solidFill>
                <a:schemeClr val="tx1"/>
              </a:solidFill>
              <a:latin typeface="宋体" panose="02010600030101010101" pitchFamily="2" charset="-122"/>
              <a:ea typeface="楷体_GB2312"/>
            </a:endParaRPr>
          </a:p>
        </p:txBody>
      </p:sp>
      <p:sp>
        <p:nvSpPr>
          <p:cNvPr id="135215" name="Line 50"/>
          <p:cNvSpPr/>
          <p:nvPr/>
        </p:nvSpPr>
        <p:spPr>
          <a:xfrm flipV="1">
            <a:off x="4124325" y="6386513"/>
            <a:ext cx="1296988" cy="0"/>
          </a:xfrm>
          <a:prstGeom prst="line">
            <a:avLst/>
          </a:prstGeom>
          <a:ln w="9525" cap="flat" cmpd="sng">
            <a:solidFill>
              <a:schemeClr val="tx1"/>
            </a:solidFill>
            <a:prstDash val="solid"/>
            <a:bevel/>
            <a:headEnd type="none" w="med" len="med"/>
            <a:tailEnd type="none" w="med" len="med"/>
          </a:ln>
        </p:spPr>
      </p:sp>
      <p:sp>
        <p:nvSpPr>
          <p:cNvPr id="135216" name="Line 51"/>
          <p:cNvSpPr/>
          <p:nvPr/>
        </p:nvSpPr>
        <p:spPr>
          <a:xfrm flipV="1">
            <a:off x="1460500" y="6500813"/>
            <a:ext cx="2303463" cy="0"/>
          </a:xfrm>
          <a:prstGeom prst="line">
            <a:avLst/>
          </a:prstGeom>
          <a:ln w="9525" cap="flat" cmpd="sng">
            <a:solidFill>
              <a:schemeClr val="tx1"/>
            </a:solidFill>
            <a:prstDash val="solid"/>
            <a:bevel/>
            <a:headEnd type="none" w="med" len="med"/>
            <a:tailEnd type="none" w="med" len="med"/>
          </a:ln>
        </p:spPr>
      </p:sp>
      <p:sp>
        <p:nvSpPr>
          <p:cNvPr id="135217" name="Line 52"/>
          <p:cNvSpPr/>
          <p:nvPr/>
        </p:nvSpPr>
        <p:spPr>
          <a:xfrm>
            <a:off x="3187700" y="5492750"/>
            <a:ext cx="288925" cy="0"/>
          </a:xfrm>
          <a:prstGeom prst="line">
            <a:avLst/>
          </a:prstGeom>
          <a:ln w="9525" cap="flat" cmpd="sng">
            <a:solidFill>
              <a:schemeClr val="tx1"/>
            </a:solidFill>
            <a:prstDash val="solid"/>
            <a:bevel/>
            <a:headEnd type="none" w="med" len="med"/>
            <a:tailEnd type="none" w="med" len="med"/>
          </a:ln>
        </p:spPr>
      </p:sp>
      <p:sp>
        <p:nvSpPr>
          <p:cNvPr id="135218" name="Line 53"/>
          <p:cNvSpPr/>
          <p:nvPr/>
        </p:nvSpPr>
        <p:spPr>
          <a:xfrm>
            <a:off x="3476625" y="5492750"/>
            <a:ext cx="0" cy="720725"/>
          </a:xfrm>
          <a:prstGeom prst="line">
            <a:avLst/>
          </a:prstGeom>
          <a:ln w="9525" cap="flat" cmpd="sng">
            <a:solidFill>
              <a:schemeClr val="tx1"/>
            </a:solidFill>
            <a:prstDash val="solid"/>
            <a:bevel/>
            <a:headEnd type="none" w="med" len="med"/>
            <a:tailEnd type="none" w="med" len="med"/>
          </a:ln>
        </p:spPr>
      </p:sp>
      <p:sp>
        <p:nvSpPr>
          <p:cNvPr id="135219" name="Line 54"/>
          <p:cNvSpPr/>
          <p:nvPr/>
        </p:nvSpPr>
        <p:spPr>
          <a:xfrm>
            <a:off x="3476625" y="6227763"/>
            <a:ext cx="288925" cy="0"/>
          </a:xfrm>
          <a:prstGeom prst="line">
            <a:avLst/>
          </a:prstGeom>
          <a:ln w="9525" cap="flat" cmpd="sng">
            <a:solidFill>
              <a:schemeClr val="tx1"/>
            </a:solidFill>
            <a:prstDash val="solid"/>
            <a:bevel/>
            <a:headEnd type="none" w="med" len="med"/>
            <a:tailEnd type="none" w="med" len="med"/>
          </a:ln>
        </p:spPr>
      </p:sp>
      <p:sp>
        <p:nvSpPr>
          <p:cNvPr id="135220" name="Text Box 55"/>
          <p:cNvSpPr txBox="1"/>
          <p:nvPr/>
        </p:nvSpPr>
        <p:spPr>
          <a:xfrm>
            <a:off x="5276850" y="4484688"/>
            <a:ext cx="936625" cy="24447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600" dirty="0">
                <a:solidFill>
                  <a:schemeClr val="tx1"/>
                </a:solidFill>
                <a:ea typeface="楷体_GB2312"/>
              </a:rPr>
              <a:t>74LS244</a:t>
            </a:r>
            <a:endParaRPr lang="en-US" altLang="zh-CN" sz="1600" dirty="0">
              <a:solidFill>
                <a:schemeClr val="tx1"/>
              </a:solidFill>
              <a:ea typeface="楷体_GB2312"/>
            </a:endParaRPr>
          </a:p>
        </p:txBody>
      </p:sp>
      <p:sp>
        <p:nvSpPr>
          <p:cNvPr id="135221" name="Line 56"/>
          <p:cNvSpPr/>
          <p:nvPr/>
        </p:nvSpPr>
        <p:spPr>
          <a:xfrm>
            <a:off x="4556125" y="1820863"/>
            <a:ext cx="0" cy="4103687"/>
          </a:xfrm>
          <a:prstGeom prst="line">
            <a:avLst/>
          </a:prstGeom>
          <a:ln w="57150" cap="flat" cmpd="sng">
            <a:solidFill>
              <a:srgbClr val="0033CC"/>
            </a:solidFill>
            <a:prstDash val="solid"/>
            <a:bevel/>
            <a:headEnd type="none" w="med" len="med"/>
            <a:tailEnd type="none" w="med" len="med"/>
          </a:ln>
        </p:spPr>
      </p:sp>
      <p:sp>
        <p:nvSpPr>
          <p:cNvPr id="135222" name="Line 57"/>
          <p:cNvSpPr/>
          <p:nvPr/>
        </p:nvSpPr>
        <p:spPr>
          <a:xfrm>
            <a:off x="4700588" y="6069013"/>
            <a:ext cx="720725" cy="0"/>
          </a:xfrm>
          <a:prstGeom prst="line">
            <a:avLst/>
          </a:prstGeom>
          <a:ln w="9525" cap="flat" cmpd="sng">
            <a:solidFill>
              <a:srgbClr val="0000FF"/>
            </a:solidFill>
            <a:prstDash val="solid"/>
            <a:bevel/>
            <a:headEnd type="none" w="med" len="med"/>
            <a:tailEnd type="none" w="med" len="med"/>
          </a:ln>
        </p:spPr>
      </p:sp>
      <p:sp>
        <p:nvSpPr>
          <p:cNvPr id="135223" name="Line 58"/>
          <p:cNvSpPr/>
          <p:nvPr/>
        </p:nvSpPr>
        <p:spPr>
          <a:xfrm>
            <a:off x="4556125" y="5924550"/>
            <a:ext cx="144463" cy="144463"/>
          </a:xfrm>
          <a:prstGeom prst="line">
            <a:avLst/>
          </a:prstGeom>
          <a:ln w="28575" cap="flat" cmpd="sng">
            <a:solidFill>
              <a:srgbClr val="0000FF"/>
            </a:solidFill>
            <a:prstDash val="solid"/>
            <a:bevel/>
            <a:headEnd type="none" w="med" len="med"/>
            <a:tailEnd type="none" w="med" len="med"/>
          </a:ln>
        </p:spPr>
      </p:sp>
      <p:sp>
        <p:nvSpPr>
          <p:cNvPr id="135224" name="Line 59"/>
          <p:cNvSpPr/>
          <p:nvPr/>
        </p:nvSpPr>
        <p:spPr>
          <a:xfrm>
            <a:off x="4700588" y="5708650"/>
            <a:ext cx="720725" cy="0"/>
          </a:xfrm>
          <a:prstGeom prst="line">
            <a:avLst/>
          </a:prstGeom>
          <a:ln w="9525" cap="flat" cmpd="sng">
            <a:solidFill>
              <a:srgbClr val="0000FF"/>
            </a:solidFill>
            <a:prstDash val="solid"/>
            <a:bevel/>
            <a:headEnd type="none" w="med" len="med"/>
            <a:tailEnd type="none" w="med" len="med"/>
          </a:ln>
        </p:spPr>
      </p:sp>
      <p:sp>
        <p:nvSpPr>
          <p:cNvPr id="135225" name="Line 60"/>
          <p:cNvSpPr/>
          <p:nvPr/>
        </p:nvSpPr>
        <p:spPr>
          <a:xfrm>
            <a:off x="4700588" y="5348288"/>
            <a:ext cx="720725" cy="0"/>
          </a:xfrm>
          <a:prstGeom prst="line">
            <a:avLst/>
          </a:prstGeom>
          <a:ln w="9525" cap="flat" cmpd="sng">
            <a:solidFill>
              <a:srgbClr val="0000FF"/>
            </a:solidFill>
            <a:prstDash val="solid"/>
            <a:bevel/>
            <a:headEnd type="none" w="med" len="med"/>
            <a:tailEnd type="none" w="med" len="med"/>
          </a:ln>
        </p:spPr>
      </p:sp>
      <p:sp>
        <p:nvSpPr>
          <p:cNvPr id="135226" name="Line 61"/>
          <p:cNvSpPr/>
          <p:nvPr/>
        </p:nvSpPr>
        <p:spPr>
          <a:xfrm>
            <a:off x="4700588" y="4987925"/>
            <a:ext cx="720725" cy="0"/>
          </a:xfrm>
          <a:prstGeom prst="line">
            <a:avLst/>
          </a:prstGeom>
          <a:ln w="9525" cap="flat" cmpd="sng">
            <a:solidFill>
              <a:srgbClr val="0000FF"/>
            </a:solidFill>
            <a:prstDash val="solid"/>
            <a:bevel/>
            <a:headEnd type="none" w="med" len="med"/>
            <a:tailEnd type="none" w="med" len="med"/>
          </a:ln>
        </p:spPr>
      </p:sp>
      <p:sp>
        <p:nvSpPr>
          <p:cNvPr id="135227" name="Line 62"/>
          <p:cNvSpPr/>
          <p:nvPr/>
        </p:nvSpPr>
        <p:spPr>
          <a:xfrm>
            <a:off x="4556125" y="5564188"/>
            <a:ext cx="144463" cy="144462"/>
          </a:xfrm>
          <a:prstGeom prst="line">
            <a:avLst/>
          </a:prstGeom>
          <a:ln w="28575" cap="flat" cmpd="sng">
            <a:solidFill>
              <a:srgbClr val="0000FF"/>
            </a:solidFill>
            <a:prstDash val="solid"/>
            <a:bevel/>
            <a:headEnd type="none" w="med" len="med"/>
            <a:tailEnd type="none" w="med" len="med"/>
          </a:ln>
        </p:spPr>
      </p:sp>
      <p:sp>
        <p:nvSpPr>
          <p:cNvPr id="135228" name="Line 63"/>
          <p:cNvSpPr/>
          <p:nvPr/>
        </p:nvSpPr>
        <p:spPr>
          <a:xfrm>
            <a:off x="4556125" y="5205413"/>
            <a:ext cx="144463" cy="144462"/>
          </a:xfrm>
          <a:prstGeom prst="line">
            <a:avLst/>
          </a:prstGeom>
          <a:ln w="28575" cap="flat" cmpd="sng">
            <a:solidFill>
              <a:srgbClr val="0000FF"/>
            </a:solidFill>
            <a:prstDash val="solid"/>
            <a:bevel/>
            <a:headEnd type="none" w="med" len="med"/>
            <a:tailEnd type="none" w="med" len="med"/>
          </a:ln>
        </p:spPr>
      </p:sp>
      <p:sp>
        <p:nvSpPr>
          <p:cNvPr id="135229" name="Line 64"/>
          <p:cNvSpPr/>
          <p:nvPr/>
        </p:nvSpPr>
        <p:spPr>
          <a:xfrm>
            <a:off x="4556125" y="4845050"/>
            <a:ext cx="144463" cy="144463"/>
          </a:xfrm>
          <a:prstGeom prst="line">
            <a:avLst/>
          </a:prstGeom>
          <a:ln w="28575" cap="flat" cmpd="sng">
            <a:solidFill>
              <a:srgbClr val="0000FF"/>
            </a:solidFill>
            <a:prstDash val="solid"/>
            <a:bevel/>
            <a:headEnd type="none" w="med" len="med"/>
            <a:tailEnd type="none" w="med" len="med"/>
          </a:ln>
        </p:spPr>
      </p:sp>
      <p:sp>
        <p:nvSpPr>
          <p:cNvPr id="135230" name="Rectangle 65"/>
          <p:cNvSpPr/>
          <p:nvPr/>
        </p:nvSpPr>
        <p:spPr>
          <a:xfrm>
            <a:off x="4987925" y="1389063"/>
            <a:ext cx="720725" cy="2305050"/>
          </a:xfrm>
          <a:prstGeom prst="rect">
            <a:avLst/>
          </a:prstGeom>
          <a:noFill/>
          <a:ln w="9525" cap="flat" cmpd="sng">
            <a:solidFill>
              <a:schemeClr val="tx1"/>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D</a:t>
            </a:r>
            <a:r>
              <a:rPr lang="en-US" altLang="zh-CN" sz="1200" b="0" dirty="0">
                <a:solidFill>
                  <a:schemeClr val="tx1"/>
                </a:solidFill>
                <a:latin typeface="Times New Roman" panose="02020603050405020304" pitchFamily="18" charset="0"/>
                <a:ea typeface="楷体_GB2312"/>
              </a:rPr>
              <a:t>0</a:t>
            </a:r>
            <a:r>
              <a:rPr lang="en-US" altLang="zh-CN" sz="1800" b="0" dirty="0">
                <a:solidFill>
                  <a:schemeClr val="tx1"/>
                </a:solidFill>
                <a:latin typeface="Times New Roman" panose="02020603050405020304" pitchFamily="18" charset="0"/>
                <a:ea typeface="楷体_GB2312"/>
              </a:rPr>
              <a:t>  Q</a:t>
            </a:r>
            <a:r>
              <a:rPr lang="en-US" altLang="zh-CN" sz="1200" b="0" dirty="0">
                <a:solidFill>
                  <a:schemeClr val="tx1"/>
                </a:solidFill>
                <a:latin typeface="Times New Roman" panose="02020603050405020304" pitchFamily="18" charset="0"/>
                <a:ea typeface="楷体_GB2312"/>
              </a:rPr>
              <a:t>0</a:t>
            </a:r>
            <a:endParaRPr lang="en-US" altLang="zh-CN" sz="1200" b="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 |     Q</a:t>
            </a:r>
            <a:r>
              <a:rPr lang="en-US" altLang="zh-CN" sz="1200" b="0" dirty="0">
                <a:solidFill>
                  <a:schemeClr val="tx1"/>
                </a:solidFill>
                <a:latin typeface="Times New Roman" panose="02020603050405020304" pitchFamily="18" charset="0"/>
                <a:ea typeface="楷体_GB2312"/>
              </a:rPr>
              <a:t>1</a:t>
            </a:r>
            <a:endParaRPr lang="en-US" altLang="zh-CN" sz="1200" b="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D</a:t>
            </a:r>
            <a:r>
              <a:rPr lang="en-US" altLang="zh-CN" sz="1200" b="0" dirty="0">
                <a:solidFill>
                  <a:schemeClr val="tx1"/>
                </a:solidFill>
                <a:latin typeface="Times New Roman" panose="02020603050405020304" pitchFamily="18" charset="0"/>
                <a:ea typeface="楷体_GB2312"/>
              </a:rPr>
              <a:t>7</a:t>
            </a:r>
            <a:r>
              <a:rPr lang="en-US" altLang="zh-CN" sz="1800" b="0" dirty="0">
                <a:solidFill>
                  <a:schemeClr val="tx1"/>
                </a:solidFill>
                <a:latin typeface="Times New Roman" panose="02020603050405020304" pitchFamily="18" charset="0"/>
                <a:ea typeface="楷体_GB2312"/>
              </a:rPr>
              <a:t>  Q</a:t>
            </a:r>
            <a:r>
              <a:rPr lang="en-US" altLang="zh-CN" sz="1200" b="0" dirty="0">
                <a:solidFill>
                  <a:schemeClr val="tx1"/>
                </a:solidFill>
                <a:latin typeface="Times New Roman" panose="02020603050405020304" pitchFamily="18" charset="0"/>
                <a:ea typeface="楷体_GB2312"/>
              </a:rPr>
              <a:t>2</a:t>
            </a:r>
            <a:endParaRPr lang="en-US" altLang="zh-CN" sz="1200" b="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       Q</a:t>
            </a:r>
            <a:r>
              <a:rPr lang="en-US" altLang="zh-CN" sz="1200" b="0" dirty="0">
                <a:solidFill>
                  <a:schemeClr val="tx1"/>
                </a:solidFill>
                <a:latin typeface="Times New Roman" panose="02020603050405020304" pitchFamily="18" charset="0"/>
                <a:ea typeface="楷体_GB2312"/>
              </a:rPr>
              <a:t>3</a:t>
            </a:r>
            <a:endParaRPr lang="en-US" altLang="zh-CN" sz="1200" b="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       Q</a:t>
            </a:r>
            <a:r>
              <a:rPr lang="en-US" altLang="zh-CN" sz="1200" b="0" dirty="0">
                <a:solidFill>
                  <a:schemeClr val="tx1"/>
                </a:solidFill>
                <a:latin typeface="Times New Roman" panose="02020603050405020304" pitchFamily="18" charset="0"/>
                <a:ea typeface="楷体_GB2312"/>
              </a:rPr>
              <a:t>4</a:t>
            </a:r>
            <a:endParaRPr lang="en-US" altLang="zh-CN" sz="1200" b="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CP  Q</a:t>
            </a:r>
            <a:r>
              <a:rPr lang="en-US" altLang="zh-CN" sz="1200" b="0" dirty="0">
                <a:solidFill>
                  <a:schemeClr val="tx1"/>
                </a:solidFill>
                <a:latin typeface="Times New Roman" panose="02020603050405020304" pitchFamily="18" charset="0"/>
                <a:ea typeface="楷体_GB2312"/>
              </a:rPr>
              <a:t>5 </a:t>
            </a:r>
            <a:endParaRPr lang="en-US" altLang="zh-CN" sz="1200" b="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       Q</a:t>
            </a:r>
            <a:r>
              <a:rPr lang="en-US" altLang="zh-CN" sz="1200" b="0" dirty="0">
                <a:solidFill>
                  <a:schemeClr val="tx1"/>
                </a:solidFill>
                <a:latin typeface="Times New Roman" panose="02020603050405020304" pitchFamily="18" charset="0"/>
                <a:ea typeface="楷体_GB2312"/>
              </a:rPr>
              <a:t>6</a:t>
            </a:r>
            <a:endParaRPr lang="en-US" altLang="zh-CN" sz="1200" b="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       Q</a:t>
            </a:r>
            <a:r>
              <a:rPr lang="en-US" altLang="zh-CN" sz="1200" b="0" dirty="0">
                <a:solidFill>
                  <a:schemeClr val="tx1"/>
                </a:solidFill>
                <a:latin typeface="Times New Roman" panose="02020603050405020304" pitchFamily="18" charset="0"/>
                <a:ea typeface="楷体_GB2312"/>
              </a:rPr>
              <a:t>7</a:t>
            </a:r>
            <a:endParaRPr lang="en-US" altLang="zh-CN" sz="1200" b="0" dirty="0">
              <a:solidFill>
                <a:schemeClr val="tx1"/>
              </a:solidFill>
              <a:latin typeface="Times New Roman" panose="02020603050405020304" pitchFamily="18" charset="0"/>
              <a:ea typeface="楷体_GB2312"/>
            </a:endParaRPr>
          </a:p>
        </p:txBody>
      </p:sp>
      <p:sp>
        <p:nvSpPr>
          <p:cNvPr id="135231" name="AutoShape 66"/>
          <p:cNvSpPr/>
          <p:nvPr/>
        </p:nvSpPr>
        <p:spPr>
          <a:xfrm>
            <a:off x="1676400" y="1604963"/>
            <a:ext cx="3311525" cy="358775"/>
          </a:xfrm>
          <a:prstGeom prst="leftRightArrow">
            <a:avLst>
              <a:gd name="adj1" fmla="val 49555"/>
              <a:gd name="adj2" fmla="val 55893"/>
            </a:avLst>
          </a:prstGeom>
          <a:solidFill>
            <a:srgbClr val="0000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endParaRPr lang="zh-CN" altLang="zh-CN" sz="1800" b="0" dirty="0">
              <a:solidFill>
                <a:schemeClr val="bg2"/>
              </a:solidFill>
              <a:latin typeface="Times New Roman" panose="02020603050405020304" pitchFamily="18" charset="0"/>
              <a:ea typeface="楷体_GB2312"/>
            </a:endParaRPr>
          </a:p>
        </p:txBody>
      </p:sp>
      <p:sp>
        <p:nvSpPr>
          <p:cNvPr id="135232" name="Rectangle 67"/>
          <p:cNvSpPr/>
          <p:nvPr/>
        </p:nvSpPr>
        <p:spPr>
          <a:xfrm>
            <a:off x="7221538" y="1460500"/>
            <a:ext cx="433387" cy="144463"/>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33" name="Line 68"/>
          <p:cNvSpPr/>
          <p:nvPr/>
        </p:nvSpPr>
        <p:spPr>
          <a:xfrm>
            <a:off x="6997700" y="1531938"/>
            <a:ext cx="215900" cy="0"/>
          </a:xfrm>
          <a:prstGeom prst="line">
            <a:avLst/>
          </a:prstGeom>
          <a:ln w="9525" cap="flat" cmpd="sng">
            <a:solidFill>
              <a:schemeClr val="tx1"/>
            </a:solidFill>
            <a:prstDash val="solid"/>
            <a:bevel/>
            <a:headEnd type="none" w="med" len="med"/>
            <a:tailEnd type="none" w="med" len="med"/>
          </a:ln>
        </p:spPr>
      </p:sp>
      <p:sp>
        <p:nvSpPr>
          <p:cNvPr id="135234" name="Line 69"/>
          <p:cNvSpPr/>
          <p:nvPr/>
        </p:nvSpPr>
        <p:spPr>
          <a:xfrm>
            <a:off x="7669213" y="1531938"/>
            <a:ext cx="215900" cy="0"/>
          </a:xfrm>
          <a:prstGeom prst="line">
            <a:avLst/>
          </a:prstGeom>
          <a:ln w="9525" cap="flat" cmpd="sng">
            <a:solidFill>
              <a:schemeClr val="tx1"/>
            </a:solidFill>
            <a:prstDash val="solid"/>
            <a:bevel/>
            <a:headEnd type="none" w="med" len="med"/>
            <a:tailEnd type="none" w="med" len="med"/>
          </a:ln>
        </p:spPr>
      </p:sp>
      <p:sp>
        <p:nvSpPr>
          <p:cNvPr id="135235" name="Line 70"/>
          <p:cNvSpPr/>
          <p:nvPr/>
        </p:nvSpPr>
        <p:spPr>
          <a:xfrm>
            <a:off x="7899400" y="1417638"/>
            <a:ext cx="0" cy="215900"/>
          </a:xfrm>
          <a:prstGeom prst="line">
            <a:avLst/>
          </a:prstGeom>
          <a:ln w="28575" cap="flat" cmpd="sng">
            <a:solidFill>
              <a:schemeClr val="tx1"/>
            </a:solidFill>
            <a:prstDash val="solid"/>
            <a:bevel/>
            <a:headEnd type="none" w="med" len="med"/>
            <a:tailEnd type="none" w="med" len="med"/>
          </a:ln>
        </p:spPr>
      </p:sp>
      <p:sp>
        <p:nvSpPr>
          <p:cNvPr id="135236" name="AutoShape 71"/>
          <p:cNvSpPr/>
          <p:nvPr/>
        </p:nvSpPr>
        <p:spPr>
          <a:xfrm rot="-5400000">
            <a:off x="7916863" y="1417638"/>
            <a:ext cx="215900" cy="215900"/>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37" name="Line 72"/>
          <p:cNvSpPr/>
          <p:nvPr/>
        </p:nvSpPr>
        <p:spPr>
          <a:xfrm>
            <a:off x="8115300" y="1531938"/>
            <a:ext cx="215900" cy="0"/>
          </a:xfrm>
          <a:prstGeom prst="line">
            <a:avLst/>
          </a:prstGeom>
          <a:ln w="9525" cap="flat" cmpd="sng">
            <a:solidFill>
              <a:schemeClr val="tx1"/>
            </a:solidFill>
            <a:prstDash val="solid"/>
            <a:bevel/>
            <a:headEnd type="none" w="med" len="med"/>
            <a:tailEnd type="none" w="med" len="med"/>
          </a:ln>
        </p:spPr>
      </p:sp>
      <p:sp>
        <p:nvSpPr>
          <p:cNvPr id="135238" name="Rectangle 73"/>
          <p:cNvSpPr/>
          <p:nvPr/>
        </p:nvSpPr>
        <p:spPr>
          <a:xfrm>
            <a:off x="7221538" y="1747838"/>
            <a:ext cx="433387" cy="14446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39" name="Line 74"/>
          <p:cNvSpPr/>
          <p:nvPr/>
        </p:nvSpPr>
        <p:spPr>
          <a:xfrm>
            <a:off x="6997700" y="1819275"/>
            <a:ext cx="215900" cy="0"/>
          </a:xfrm>
          <a:prstGeom prst="line">
            <a:avLst/>
          </a:prstGeom>
          <a:ln w="9525" cap="flat" cmpd="sng">
            <a:solidFill>
              <a:schemeClr val="tx1"/>
            </a:solidFill>
            <a:prstDash val="solid"/>
            <a:bevel/>
            <a:headEnd type="none" w="med" len="med"/>
            <a:tailEnd type="none" w="med" len="med"/>
          </a:ln>
        </p:spPr>
      </p:sp>
      <p:sp>
        <p:nvSpPr>
          <p:cNvPr id="135240" name="Line 75"/>
          <p:cNvSpPr/>
          <p:nvPr/>
        </p:nvSpPr>
        <p:spPr>
          <a:xfrm>
            <a:off x="7669213" y="1819275"/>
            <a:ext cx="215900" cy="0"/>
          </a:xfrm>
          <a:prstGeom prst="line">
            <a:avLst/>
          </a:prstGeom>
          <a:ln w="9525" cap="flat" cmpd="sng">
            <a:solidFill>
              <a:schemeClr val="tx1"/>
            </a:solidFill>
            <a:prstDash val="solid"/>
            <a:bevel/>
            <a:headEnd type="none" w="med" len="med"/>
            <a:tailEnd type="none" w="med" len="med"/>
          </a:ln>
        </p:spPr>
      </p:sp>
      <p:sp>
        <p:nvSpPr>
          <p:cNvPr id="135241" name="Line 76"/>
          <p:cNvSpPr/>
          <p:nvPr/>
        </p:nvSpPr>
        <p:spPr>
          <a:xfrm>
            <a:off x="7899400" y="1704975"/>
            <a:ext cx="0" cy="215900"/>
          </a:xfrm>
          <a:prstGeom prst="line">
            <a:avLst/>
          </a:prstGeom>
          <a:ln w="28575" cap="flat" cmpd="sng">
            <a:solidFill>
              <a:schemeClr val="tx1"/>
            </a:solidFill>
            <a:prstDash val="solid"/>
            <a:bevel/>
            <a:headEnd type="none" w="med" len="med"/>
            <a:tailEnd type="none" w="med" len="med"/>
          </a:ln>
        </p:spPr>
      </p:sp>
      <p:sp>
        <p:nvSpPr>
          <p:cNvPr id="135242" name="AutoShape 77"/>
          <p:cNvSpPr/>
          <p:nvPr/>
        </p:nvSpPr>
        <p:spPr>
          <a:xfrm rot="-5400000">
            <a:off x="7916863" y="1704975"/>
            <a:ext cx="215900" cy="215900"/>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43" name="Line 78"/>
          <p:cNvSpPr/>
          <p:nvPr/>
        </p:nvSpPr>
        <p:spPr>
          <a:xfrm>
            <a:off x="8115300" y="1819275"/>
            <a:ext cx="215900" cy="0"/>
          </a:xfrm>
          <a:prstGeom prst="line">
            <a:avLst/>
          </a:prstGeom>
          <a:ln w="9525" cap="flat" cmpd="sng">
            <a:solidFill>
              <a:schemeClr val="tx1"/>
            </a:solidFill>
            <a:prstDash val="solid"/>
            <a:bevel/>
            <a:headEnd type="none" w="med" len="med"/>
            <a:tailEnd type="oval" w="sm" len="sm"/>
          </a:ln>
        </p:spPr>
      </p:sp>
      <p:sp>
        <p:nvSpPr>
          <p:cNvPr id="135244" name="Rectangle 79"/>
          <p:cNvSpPr/>
          <p:nvPr/>
        </p:nvSpPr>
        <p:spPr>
          <a:xfrm>
            <a:off x="7221538" y="2035175"/>
            <a:ext cx="433387" cy="144463"/>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45" name="Line 80"/>
          <p:cNvSpPr/>
          <p:nvPr/>
        </p:nvSpPr>
        <p:spPr>
          <a:xfrm>
            <a:off x="6997700" y="2106613"/>
            <a:ext cx="215900" cy="0"/>
          </a:xfrm>
          <a:prstGeom prst="line">
            <a:avLst/>
          </a:prstGeom>
          <a:ln w="9525" cap="flat" cmpd="sng">
            <a:solidFill>
              <a:schemeClr val="tx1"/>
            </a:solidFill>
            <a:prstDash val="solid"/>
            <a:bevel/>
            <a:headEnd type="none" w="med" len="med"/>
            <a:tailEnd type="none" w="med" len="med"/>
          </a:ln>
        </p:spPr>
      </p:sp>
      <p:sp>
        <p:nvSpPr>
          <p:cNvPr id="135246" name="Line 81"/>
          <p:cNvSpPr/>
          <p:nvPr/>
        </p:nvSpPr>
        <p:spPr>
          <a:xfrm>
            <a:off x="7669213" y="2106613"/>
            <a:ext cx="215900" cy="0"/>
          </a:xfrm>
          <a:prstGeom prst="line">
            <a:avLst/>
          </a:prstGeom>
          <a:ln w="9525" cap="flat" cmpd="sng">
            <a:solidFill>
              <a:schemeClr val="tx1"/>
            </a:solidFill>
            <a:prstDash val="solid"/>
            <a:bevel/>
            <a:headEnd type="none" w="med" len="med"/>
            <a:tailEnd type="none" w="med" len="med"/>
          </a:ln>
        </p:spPr>
      </p:sp>
      <p:sp>
        <p:nvSpPr>
          <p:cNvPr id="135247" name="Line 82"/>
          <p:cNvSpPr/>
          <p:nvPr/>
        </p:nvSpPr>
        <p:spPr>
          <a:xfrm>
            <a:off x="7899400" y="1992313"/>
            <a:ext cx="0" cy="215900"/>
          </a:xfrm>
          <a:prstGeom prst="line">
            <a:avLst/>
          </a:prstGeom>
          <a:ln w="28575" cap="flat" cmpd="sng">
            <a:solidFill>
              <a:schemeClr val="tx1"/>
            </a:solidFill>
            <a:prstDash val="solid"/>
            <a:bevel/>
            <a:headEnd type="none" w="med" len="med"/>
            <a:tailEnd type="none" w="med" len="med"/>
          </a:ln>
        </p:spPr>
      </p:sp>
      <p:sp>
        <p:nvSpPr>
          <p:cNvPr id="135248" name="AutoShape 83"/>
          <p:cNvSpPr/>
          <p:nvPr/>
        </p:nvSpPr>
        <p:spPr>
          <a:xfrm rot="-5400000">
            <a:off x="7916863" y="1992313"/>
            <a:ext cx="215900" cy="215900"/>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49" name="Line 84"/>
          <p:cNvSpPr/>
          <p:nvPr/>
        </p:nvSpPr>
        <p:spPr>
          <a:xfrm>
            <a:off x="8115300" y="2106613"/>
            <a:ext cx="215900" cy="0"/>
          </a:xfrm>
          <a:prstGeom prst="line">
            <a:avLst/>
          </a:prstGeom>
          <a:ln w="9525" cap="flat" cmpd="sng">
            <a:solidFill>
              <a:schemeClr val="tx1"/>
            </a:solidFill>
            <a:prstDash val="solid"/>
            <a:bevel/>
            <a:headEnd type="none" w="med" len="med"/>
            <a:tailEnd type="oval" w="sm" len="sm"/>
          </a:ln>
        </p:spPr>
      </p:sp>
      <p:sp>
        <p:nvSpPr>
          <p:cNvPr id="135250" name="Rectangle 85"/>
          <p:cNvSpPr/>
          <p:nvPr/>
        </p:nvSpPr>
        <p:spPr>
          <a:xfrm>
            <a:off x="6211888" y="1389063"/>
            <a:ext cx="792162" cy="230346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      </a:t>
            </a:r>
            <a:endParaRPr lang="en-US" altLang="zh-CN" sz="1800" b="0" dirty="0">
              <a:solidFill>
                <a:schemeClr val="tx1"/>
              </a:solidFill>
              <a:latin typeface="Times New Roman" panose="02020603050405020304" pitchFamily="18" charset="0"/>
              <a:ea typeface="楷体_GB2312"/>
            </a:endParaRPr>
          </a:p>
        </p:txBody>
      </p:sp>
      <p:sp>
        <p:nvSpPr>
          <p:cNvPr id="135251" name="AutoShape 86"/>
          <p:cNvSpPr/>
          <p:nvPr/>
        </p:nvSpPr>
        <p:spPr>
          <a:xfrm rot="5400000">
            <a:off x="6389688" y="2405063"/>
            <a:ext cx="346075" cy="238125"/>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52" name="Oval 87"/>
          <p:cNvSpPr/>
          <p:nvPr/>
        </p:nvSpPr>
        <p:spPr>
          <a:xfrm>
            <a:off x="6681788" y="2487613"/>
            <a:ext cx="71437" cy="71437"/>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53" name="Line 88"/>
          <p:cNvSpPr/>
          <p:nvPr/>
        </p:nvSpPr>
        <p:spPr>
          <a:xfrm>
            <a:off x="6302375" y="2533650"/>
            <a:ext cx="144463" cy="0"/>
          </a:xfrm>
          <a:prstGeom prst="line">
            <a:avLst/>
          </a:prstGeom>
          <a:ln w="28575" cap="flat" cmpd="sng">
            <a:solidFill>
              <a:schemeClr val="tx1"/>
            </a:solidFill>
            <a:prstDash val="solid"/>
            <a:bevel/>
            <a:headEnd type="none" w="med" len="med"/>
            <a:tailEnd type="none" w="med" len="med"/>
          </a:ln>
        </p:spPr>
      </p:sp>
      <p:sp>
        <p:nvSpPr>
          <p:cNvPr id="135254" name="Line 89"/>
          <p:cNvSpPr/>
          <p:nvPr/>
        </p:nvSpPr>
        <p:spPr>
          <a:xfrm>
            <a:off x="6751638" y="2525713"/>
            <a:ext cx="144462" cy="0"/>
          </a:xfrm>
          <a:prstGeom prst="line">
            <a:avLst/>
          </a:prstGeom>
          <a:ln w="28575" cap="flat" cmpd="sng">
            <a:solidFill>
              <a:schemeClr val="tx1"/>
            </a:solidFill>
            <a:prstDash val="solid"/>
            <a:bevel/>
            <a:headEnd type="none" w="med" len="med"/>
            <a:tailEnd type="none" w="med" len="med"/>
          </a:ln>
        </p:spPr>
      </p:sp>
      <p:sp>
        <p:nvSpPr>
          <p:cNvPr id="135255" name="Rectangle 90"/>
          <p:cNvSpPr/>
          <p:nvPr/>
        </p:nvSpPr>
        <p:spPr>
          <a:xfrm>
            <a:off x="7221538" y="2325688"/>
            <a:ext cx="433387" cy="14446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56" name="Line 91"/>
          <p:cNvSpPr/>
          <p:nvPr/>
        </p:nvSpPr>
        <p:spPr>
          <a:xfrm>
            <a:off x="6997700" y="2397125"/>
            <a:ext cx="215900" cy="0"/>
          </a:xfrm>
          <a:prstGeom prst="line">
            <a:avLst/>
          </a:prstGeom>
          <a:ln w="9525" cap="flat" cmpd="sng">
            <a:solidFill>
              <a:schemeClr val="tx1"/>
            </a:solidFill>
            <a:prstDash val="solid"/>
            <a:bevel/>
            <a:headEnd type="none" w="med" len="med"/>
            <a:tailEnd type="none" w="med" len="med"/>
          </a:ln>
        </p:spPr>
      </p:sp>
      <p:sp>
        <p:nvSpPr>
          <p:cNvPr id="135257" name="Line 92"/>
          <p:cNvSpPr/>
          <p:nvPr/>
        </p:nvSpPr>
        <p:spPr>
          <a:xfrm>
            <a:off x="7669213" y="2397125"/>
            <a:ext cx="215900" cy="0"/>
          </a:xfrm>
          <a:prstGeom prst="line">
            <a:avLst/>
          </a:prstGeom>
          <a:ln w="9525" cap="flat" cmpd="sng">
            <a:solidFill>
              <a:schemeClr val="tx1"/>
            </a:solidFill>
            <a:prstDash val="solid"/>
            <a:bevel/>
            <a:headEnd type="none" w="med" len="med"/>
            <a:tailEnd type="none" w="med" len="med"/>
          </a:ln>
        </p:spPr>
      </p:sp>
      <p:sp>
        <p:nvSpPr>
          <p:cNvPr id="135258" name="Line 93"/>
          <p:cNvSpPr/>
          <p:nvPr/>
        </p:nvSpPr>
        <p:spPr>
          <a:xfrm>
            <a:off x="7899400" y="2282825"/>
            <a:ext cx="0" cy="215900"/>
          </a:xfrm>
          <a:prstGeom prst="line">
            <a:avLst/>
          </a:prstGeom>
          <a:ln w="28575" cap="flat" cmpd="sng">
            <a:solidFill>
              <a:schemeClr val="tx1"/>
            </a:solidFill>
            <a:prstDash val="solid"/>
            <a:bevel/>
            <a:headEnd type="none" w="med" len="med"/>
            <a:tailEnd type="none" w="med" len="med"/>
          </a:ln>
        </p:spPr>
      </p:sp>
      <p:sp>
        <p:nvSpPr>
          <p:cNvPr id="135259" name="AutoShape 94"/>
          <p:cNvSpPr/>
          <p:nvPr/>
        </p:nvSpPr>
        <p:spPr>
          <a:xfrm rot="-5400000">
            <a:off x="7916863" y="2282825"/>
            <a:ext cx="215900" cy="215900"/>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60" name="Line 95"/>
          <p:cNvSpPr/>
          <p:nvPr/>
        </p:nvSpPr>
        <p:spPr>
          <a:xfrm>
            <a:off x="8115300" y="2397125"/>
            <a:ext cx="215900" cy="0"/>
          </a:xfrm>
          <a:prstGeom prst="line">
            <a:avLst/>
          </a:prstGeom>
          <a:ln w="9525" cap="flat" cmpd="sng">
            <a:solidFill>
              <a:schemeClr val="tx1"/>
            </a:solidFill>
            <a:prstDash val="solid"/>
            <a:bevel/>
            <a:headEnd type="none" w="med" len="med"/>
            <a:tailEnd type="oval" w="sm" len="sm"/>
          </a:ln>
        </p:spPr>
      </p:sp>
      <p:sp>
        <p:nvSpPr>
          <p:cNvPr id="135261" name="Rectangle 96"/>
          <p:cNvSpPr/>
          <p:nvPr/>
        </p:nvSpPr>
        <p:spPr>
          <a:xfrm>
            <a:off x="7221538" y="3189288"/>
            <a:ext cx="433387" cy="14446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62" name="Line 97"/>
          <p:cNvSpPr/>
          <p:nvPr/>
        </p:nvSpPr>
        <p:spPr>
          <a:xfrm>
            <a:off x="7010400" y="3260725"/>
            <a:ext cx="215900" cy="0"/>
          </a:xfrm>
          <a:prstGeom prst="line">
            <a:avLst/>
          </a:prstGeom>
          <a:ln w="9525" cap="flat" cmpd="sng">
            <a:solidFill>
              <a:schemeClr val="tx1"/>
            </a:solidFill>
            <a:prstDash val="solid"/>
            <a:bevel/>
            <a:headEnd type="none" w="med" len="med"/>
            <a:tailEnd type="none" w="med" len="med"/>
          </a:ln>
        </p:spPr>
      </p:sp>
      <p:sp>
        <p:nvSpPr>
          <p:cNvPr id="135263" name="Line 98"/>
          <p:cNvSpPr/>
          <p:nvPr/>
        </p:nvSpPr>
        <p:spPr>
          <a:xfrm>
            <a:off x="7662863" y="3260725"/>
            <a:ext cx="223837" cy="0"/>
          </a:xfrm>
          <a:prstGeom prst="line">
            <a:avLst/>
          </a:prstGeom>
          <a:ln w="9525" cap="flat" cmpd="sng">
            <a:solidFill>
              <a:schemeClr val="tx1"/>
            </a:solidFill>
            <a:prstDash val="solid"/>
            <a:bevel/>
            <a:headEnd type="none" w="med" len="med"/>
            <a:tailEnd type="none" w="med" len="med"/>
          </a:ln>
        </p:spPr>
      </p:sp>
      <p:sp>
        <p:nvSpPr>
          <p:cNvPr id="135264" name="Line 99"/>
          <p:cNvSpPr/>
          <p:nvPr/>
        </p:nvSpPr>
        <p:spPr>
          <a:xfrm>
            <a:off x="7912100" y="3146425"/>
            <a:ext cx="0" cy="215900"/>
          </a:xfrm>
          <a:prstGeom prst="line">
            <a:avLst/>
          </a:prstGeom>
          <a:ln w="28575" cap="flat" cmpd="sng">
            <a:solidFill>
              <a:schemeClr val="tx1"/>
            </a:solidFill>
            <a:prstDash val="solid"/>
            <a:bevel/>
            <a:headEnd type="none" w="med" len="med"/>
            <a:tailEnd type="none" w="med" len="med"/>
          </a:ln>
        </p:spPr>
      </p:sp>
      <p:sp>
        <p:nvSpPr>
          <p:cNvPr id="135265" name="AutoShape 100"/>
          <p:cNvSpPr/>
          <p:nvPr/>
        </p:nvSpPr>
        <p:spPr>
          <a:xfrm rot="-5400000">
            <a:off x="7929563" y="3146425"/>
            <a:ext cx="215900" cy="215900"/>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66" name="Line 101"/>
          <p:cNvSpPr/>
          <p:nvPr/>
        </p:nvSpPr>
        <p:spPr>
          <a:xfrm>
            <a:off x="8128000" y="3260725"/>
            <a:ext cx="215900" cy="0"/>
          </a:xfrm>
          <a:prstGeom prst="line">
            <a:avLst/>
          </a:prstGeom>
          <a:ln w="9525" cap="flat" cmpd="sng">
            <a:solidFill>
              <a:schemeClr val="tx1"/>
            </a:solidFill>
            <a:prstDash val="solid"/>
            <a:bevel/>
            <a:headEnd type="none" w="med" len="med"/>
            <a:tailEnd type="oval" w="sm" len="sm"/>
          </a:ln>
        </p:spPr>
      </p:sp>
      <p:sp>
        <p:nvSpPr>
          <p:cNvPr id="135267" name="Rectangle 102"/>
          <p:cNvSpPr/>
          <p:nvPr/>
        </p:nvSpPr>
        <p:spPr>
          <a:xfrm>
            <a:off x="7221538" y="3476625"/>
            <a:ext cx="433387" cy="144463"/>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68" name="Line 103"/>
          <p:cNvSpPr/>
          <p:nvPr/>
        </p:nvSpPr>
        <p:spPr>
          <a:xfrm>
            <a:off x="7010400" y="3548063"/>
            <a:ext cx="215900" cy="0"/>
          </a:xfrm>
          <a:prstGeom prst="line">
            <a:avLst/>
          </a:prstGeom>
          <a:ln w="9525" cap="flat" cmpd="sng">
            <a:solidFill>
              <a:schemeClr val="tx1"/>
            </a:solidFill>
            <a:prstDash val="solid"/>
            <a:bevel/>
            <a:headEnd type="none" w="med" len="med"/>
            <a:tailEnd type="none" w="med" len="med"/>
          </a:ln>
        </p:spPr>
      </p:sp>
      <p:sp>
        <p:nvSpPr>
          <p:cNvPr id="135269" name="Line 104"/>
          <p:cNvSpPr/>
          <p:nvPr/>
        </p:nvSpPr>
        <p:spPr>
          <a:xfrm>
            <a:off x="7662863" y="3548063"/>
            <a:ext cx="223837" cy="0"/>
          </a:xfrm>
          <a:prstGeom prst="line">
            <a:avLst/>
          </a:prstGeom>
          <a:ln w="9525" cap="flat" cmpd="sng">
            <a:solidFill>
              <a:schemeClr val="tx1"/>
            </a:solidFill>
            <a:prstDash val="solid"/>
            <a:bevel/>
            <a:headEnd type="none" w="med" len="med"/>
            <a:tailEnd type="none" w="med" len="med"/>
          </a:ln>
        </p:spPr>
      </p:sp>
      <p:sp>
        <p:nvSpPr>
          <p:cNvPr id="135270" name="Line 105"/>
          <p:cNvSpPr/>
          <p:nvPr/>
        </p:nvSpPr>
        <p:spPr>
          <a:xfrm>
            <a:off x="7912100" y="3433763"/>
            <a:ext cx="0" cy="215900"/>
          </a:xfrm>
          <a:prstGeom prst="line">
            <a:avLst/>
          </a:prstGeom>
          <a:ln w="28575" cap="flat" cmpd="sng">
            <a:solidFill>
              <a:schemeClr val="tx1"/>
            </a:solidFill>
            <a:prstDash val="solid"/>
            <a:bevel/>
            <a:headEnd type="none" w="med" len="med"/>
            <a:tailEnd type="none" w="med" len="med"/>
          </a:ln>
        </p:spPr>
      </p:sp>
      <p:sp>
        <p:nvSpPr>
          <p:cNvPr id="135271" name="AutoShape 106"/>
          <p:cNvSpPr/>
          <p:nvPr/>
        </p:nvSpPr>
        <p:spPr>
          <a:xfrm rot="-5400000">
            <a:off x="7929563" y="3433763"/>
            <a:ext cx="215900" cy="215900"/>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72" name="Line 107"/>
          <p:cNvSpPr/>
          <p:nvPr/>
        </p:nvSpPr>
        <p:spPr>
          <a:xfrm>
            <a:off x="8128000" y="3548063"/>
            <a:ext cx="215900" cy="0"/>
          </a:xfrm>
          <a:prstGeom prst="line">
            <a:avLst/>
          </a:prstGeom>
          <a:ln w="9525" cap="flat" cmpd="sng">
            <a:solidFill>
              <a:schemeClr val="tx1"/>
            </a:solidFill>
            <a:prstDash val="solid"/>
            <a:bevel/>
            <a:headEnd type="none" w="med" len="med"/>
            <a:tailEnd type="oval" w="sm" len="sm"/>
          </a:ln>
        </p:spPr>
      </p:sp>
      <p:sp>
        <p:nvSpPr>
          <p:cNvPr id="135273" name="Rectangle 108"/>
          <p:cNvSpPr/>
          <p:nvPr/>
        </p:nvSpPr>
        <p:spPr>
          <a:xfrm>
            <a:off x="7221538" y="2613025"/>
            <a:ext cx="433387" cy="144463"/>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74" name="Line 109"/>
          <p:cNvSpPr/>
          <p:nvPr/>
        </p:nvSpPr>
        <p:spPr>
          <a:xfrm>
            <a:off x="6997700" y="2684463"/>
            <a:ext cx="215900" cy="0"/>
          </a:xfrm>
          <a:prstGeom prst="line">
            <a:avLst/>
          </a:prstGeom>
          <a:ln w="9525" cap="flat" cmpd="sng">
            <a:solidFill>
              <a:schemeClr val="tx1"/>
            </a:solidFill>
            <a:prstDash val="solid"/>
            <a:bevel/>
            <a:headEnd type="none" w="med" len="med"/>
            <a:tailEnd type="none" w="med" len="med"/>
          </a:ln>
        </p:spPr>
      </p:sp>
      <p:sp>
        <p:nvSpPr>
          <p:cNvPr id="135275" name="Line 110"/>
          <p:cNvSpPr/>
          <p:nvPr/>
        </p:nvSpPr>
        <p:spPr>
          <a:xfrm>
            <a:off x="7669213" y="2684463"/>
            <a:ext cx="215900" cy="0"/>
          </a:xfrm>
          <a:prstGeom prst="line">
            <a:avLst/>
          </a:prstGeom>
          <a:ln w="9525" cap="flat" cmpd="sng">
            <a:solidFill>
              <a:schemeClr val="tx1"/>
            </a:solidFill>
            <a:prstDash val="solid"/>
            <a:bevel/>
            <a:headEnd type="none" w="med" len="med"/>
            <a:tailEnd type="none" w="med" len="med"/>
          </a:ln>
        </p:spPr>
      </p:sp>
      <p:sp>
        <p:nvSpPr>
          <p:cNvPr id="135276" name="Line 111"/>
          <p:cNvSpPr/>
          <p:nvPr/>
        </p:nvSpPr>
        <p:spPr>
          <a:xfrm>
            <a:off x="7899400" y="2570163"/>
            <a:ext cx="0" cy="215900"/>
          </a:xfrm>
          <a:prstGeom prst="line">
            <a:avLst/>
          </a:prstGeom>
          <a:ln w="28575" cap="flat" cmpd="sng">
            <a:solidFill>
              <a:schemeClr val="tx1"/>
            </a:solidFill>
            <a:prstDash val="solid"/>
            <a:bevel/>
            <a:headEnd type="none" w="med" len="med"/>
            <a:tailEnd type="none" w="med" len="med"/>
          </a:ln>
        </p:spPr>
      </p:sp>
      <p:sp>
        <p:nvSpPr>
          <p:cNvPr id="135277" name="AutoShape 112"/>
          <p:cNvSpPr/>
          <p:nvPr/>
        </p:nvSpPr>
        <p:spPr>
          <a:xfrm rot="-5400000">
            <a:off x="7916863" y="2570163"/>
            <a:ext cx="215900" cy="215900"/>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78" name="Line 113"/>
          <p:cNvSpPr/>
          <p:nvPr/>
        </p:nvSpPr>
        <p:spPr>
          <a:xfrm>
            <a:off x="8115300" y="2684463"/>
            <a:ext cx="215900" cy="0"/>
          </a:xfrm>
          <a:prstGeom prst="line">
            <a:avLst/>
          </a:prstGeom>
          <a:ln w="9525" cap="flat" cmpd="sng">
            <a:solidFill>
              <a:schemeClr val="tx1"/>
            </a:solidFill>
            <a:prstDash val="solid"/>
            <a:bevel/>
            <a:headEnd type="none" w="med" len="med"/>
            <a:tailEnd type="oval" w="sm" len="sm"/>
          </a:ln>
        </p:spPr>
      </p:sp>
      <p:sp>
        <p:nvSpPr>
          <p:cNvPr id="135279" name="Rectangle 114"/>
          <p:cNvSpPr/>
          <p:nvPr/>
        </p:nvSpPr>
        <p:spPr>
          <a:xfrm>
            <a:off x="7221538" y="2900363"/>
            <a:ext cx="433387" cy="14446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80" name="Line 115"/>
          <p:cNvSpPr/>
          <p:nvPr/>
        </p:nvSpPr>
        <p:spPr>
          <a:xfrm>
            <a:off x="6997700" y="2971800"/>
            <a:ext cx="215900" cy="0"/>
          </a:xfrm>
          <a:prstGeom prst="line">
            <a:avLst/>
          </a:prstGeom>
          <a:ln w="9525" cap="flat" cmpd="sng">
            <a:solidFill>
              <a:schemeClr val="tx1"/>
            </a:solidFill>
            <a:prstDash val="solid"/>
            <a:bevel/>
            <a:headEnd type="none" w="med" len="med"/>
            <a:tailEnd type="none" w="med" len="med"/>
          </a:ln>
        </p:spPr>
      </p:sp>
      <p:sp>
        <p:nvSpPr>
          <p:cNvPr id="135281" name="Line 116"/>
          <p:cNvSpPr/>
          <p:nvPr/>
        </p:nvSpPr>
        <p:spPr>
          <a:xfrm>
            <a:off x="7669213" y="2971800"/>
            <a:ext cx="215900" cy="0"/>
          </a:xfrm>
          <a:prstGeom prst="line">
            <a:avLst/>
          </a:prstGeom>
          <a:ln w="9525" cap="flat" cmpd="sng">
            <a:solidFill>
              <a:schemeClr val="tx1"/>
            </a:solidFill>
            <a:prstDash val="solid"/>
            <a:bevel/>
            <a:headEnd type="none" w="med" len="med"/>
            <a:tailEnd type="none" w="med" len="med"/>
          </a:ln>
        </p:spPr>
      </p:sp>
      <p:sp>
        <p:nvSpPr>
          <p:cNvPr id="135282" name="Line 117"/>
          <p:cNvSpPr/>
          <p:nvPr/>
        </p:nvSpPr>
        <p:spPr>
          <a:xfrm>
            <a:off x="7899400" y="2857500"/>
            <a:ext cx="0" cy="215900"/>
          </a:xfrm>
          <a:prstGeom prst="line">
            <a:avLst/>
          </a:prstGeom>
          <a:ln w="28575" cap="flat" cmpd="sng">
            <a:solidFill>
              <a:schemeClr val="tx1"/>
            </a:solidFill>
            <a:prstDash val="solid"/>
            <a:bevel/>
            <a:headEnd type="none" w="med" len="med"/>
            <a:tailEnd type="none" w="med" len="med"/>
          </a:ln>
        </p:spPr>
      </p:sp>
      <p:sp>
        <p:nvSpPr>
          <p:cNvPr id="135283" name="AutoShape 118"/>
          <p:cNvSpPr/>
          <p:nvPr/>
        </p:nvSpPr>
        <p:spPr>
          <a:xfrm rot="-5400000">
            <a:off x="7916863" y="2857500"/>
            <a:ext cx="215900" cy="215900"/>
          </a:xfrm>
          <a:prstGeom prst="triangle">
            <a:avLst>
              <a:gd name="adj" fmla="val 50000"/>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284" name="Line 119"/>
          <p:cNvSpPr/>
          <p:nvPr/>
        </p:nvSpPr>
        <p:spPr>
          <a:xfrm>
            <a:off x="8115300" y="2971800"/>
            <a:ext cx="215900" cy="0"/>
          </a:xfrm>
          <a:prstGeom prst="line">
            <a:avLst/>
          </a:prstGeom>
          <a:ln w="9525" cap="flat" cmpd="sng">
            <a:solidFill>
              <a:schemeClr val="tx1"/>
            </a:solidFill>
            <a:prstDash val="solid"/>
            <a:bevel/>
            <a:headEnd type="none" w="med" len="med"/>
            <a:tailEnd type="oval" w="sm" len="sm"/>
          </a:ln>
        </p:spPr>
      </p:sp>
      <p:sp>
        <p:nvSpPr>
          <p:cNvPr id="135285" name="Line 120"/>
          <p:cNvSpPr/>
          <p:nvPr/>
        </p:nvSpPr>
        <p:spPr>
          <a:xfrm>
            <a:off x="5708650" y="1531938"/>
            <a:ext cx="503238" cy="0"/>
          </a:xfrm>
          <a:prstGeom prst="line">
            <a:avLst/>
          </a:prstGeom>
          <a:ln w="9525" cap="flat" cmpd="sng">
            <a:solidFill>
              <a:schemeClr val="tx1"/>
            </a:solidFill>
            <a:prstDash val="solid"/>
            <a:bevel/>
            <a:headEnd type="none" w="med" len="med"/>
            <a:tailEnd type="none" w="med" len="med"/>
          </a:ln>
        </p:spPr>
      </p:sp>
      <p:sp>
        <p:nvSpPr>
          <p:cNvPr id="135286" name="Line 121"/>
          <p:cNvSpPr/>
          <p:nvPr/>
        </p:nvSpPr>
        <p:spPr>
          <a:xfrm>
            <a:off x="5708650" y="1820863"/>
            <a:ext cx="503238" cy="0"/>
          </a:xfrm>
          <a:prstGeom prst="line">
            <a:avLst/>
          </a:prstGeom>
          <a:ln w="9525" cap="flat" cmpd="sng">
            <a:solidFill>
              <a:schemeClr val="tx1"/>
            </a:solidFill>
            <a:prstDash val="solid"/>
            <a:bevel/>
            <a:headEnd type="none" w="med" len="med"/>
            <a:tailEnd type="none" w="med" len="med"/>
          </a:ln>
        </p:spPr>
      </p:sp>
      <p:sp>
        <p:nvSpPr>
          <p:cNvPr id="135287" name="Line 122"/>
          <p:cNvSpPr/>
          <p:nvPr/>
        </p:nvSpPr>
        <p:spPr>
          <a:xfrm>
            <a:off x="5708650" y="2108200"/>
            <a:ext cx="503238" cy="0"/>
          </a:xfrm>
          <a:prstGeom prst="line">
            <a:avLst/>
          </a:prstGeom>
          <a:ln w="9525" cap="flat" cmpd="sng">
            <a:solidFill>
              <a:schemeClr val="tx1"/>
            </a:solidFill>
            <a:prstDash val="solid"/>
            <a:bevel/>
            <a:headEnd type="none" w="med" len="med"/>
            <a:tailEnd type="none" w="med" len="med"/>
          </a:ln>
        </p:spPr>
      </p:sp>
      <p:sp>
        <p:nvSpPr>
          <p:cNvPr id="135288" name="Line 123"/>
          <p:cNvSpPr/>
          <p:nvPr/>
        </p:nvSpPr>
        <p:spPr>
          <a:xfrm>
            <a:off x="5708650" y="2397125"/>
            <a:ext cx="503238" cy="0"/>
          </a:xfrm>
          <a:prstGeom prst="line">
            <a:avLst/>
          </a:prstGeom>
          <a:ln w="9525" cap="flat" cmpd="sng">
            <a:solidFill>
              <a:schemeClr val="tx1"/>
            </a:solidFill>
            <a:prstDash val="solid"/>
            <a:bevel/>
            <a:headEnd type="none" w="med" len="med"/>
            <a:tailEnd type="none" w="med" len="med"/>
          </a:ln>
        </p:spPr>
      </p:sp>
      <p:sp>
        <p:nvSpPr>
          <p:cNvPr id="135289" name="Line 124"/>
          <p:cNvSpPr/>
          <p:nvPr/>
        </p:nvSpPr>
        <p:spPr>
          <a:xfrm>
            <a:off x="5708650" y="2684463"/>
            <a:ext cx="503238" cy="0"/>
          </a:xfrm>
          <a:prstGeom prst="line">
            <a:avLst/>
          </a:prstGeom>
          <a:ln w="9525" cap="flat" cmpd="sng">
            <a:solidFill>
              <a:schemeClr val="tx1"/>
            </a:solidFill>
            <a:prstDash val="solid"/>
            <a:bevel/>
            <a:headEnd type="none" w="med" len="med"/>
            <a:tailEnd type="none" w="med" len="med"/>
          </a:ln>
        </p:spPr>
      </p:sp>
      <p:sp>
        <p:nvSpPr>
          <p:cNvPr id="135290" name="Line 125"/>
          <p:cNvSpPr/>
          <p:nvPr/>
        </p:nvSpPr>
        <p:spPr>
          <a:xfrm>
            <a:off x="5708650" y="2971800"/>
            <a:ext cx="503238" cy="0"/>
          </a:xfrm>
          <a:prstGeom prst="line">
            <a:avLst/>
          </a:prstGeom>
          <a:ln w="9525" cap="flat" cmpd="sng">
            <a:solidFill>
              <a:schemeClr val="tx1"/>
            </a:solidFill>
            <a:prstDash val="solid"/>
            <a:bevel/>
            <a:headEnd type="none" w="med" len="med"/>
            <a:tailEnd type="none" w="med" len="med"/>
          </a:ln>
        </p:spPr>
      </p:sp>
      <p:sp>
        <p:nvSpPr>
          <p:cNvPr id="135291" name="Line 126"/>
          <p:cNvSpPr/>
          <p:nvPr/>
        </p:nvSpPr>
        <p:spPr>
          <a:xfrm>
            <a:off x="5708650" y="3260725"/>
            <a:ext cx="503238" cy="0"/>
          </a:xfrm>
          <a:prstGeom prst="line">
            <a:avLst/>
          </a:prstGeom>
          <a:ln w="9525" cap="flat" cmpd="sng">
            <a:solidFill>
              <a:schemeClr val="tx1"/>
            </a:solidFill>
            <a:prstDash val="solid"/>
            <a:bevel/>
            <a:headEnd type="none" w="med" len="med"/>
            <a:tailEnd type="none" w="med" len="med"/>
          </a:ln>
        </p:spPr>
      </p:sp>
      <p:sp>
        <p:nvSpPr>
          <p:cNvPr id="135292" name="Line 127"/>
          <p:cNvSpPr/>
          <p:nvPr/>
        </p:nvSpPr>
        <p:spPr>
          <a:xfrm>
            <a:off x="5708650" y="3548063"/>
            <a:ext cx="503238" cy="0"/>
          </a:xfrm>
          <a:prstGeom prst="line">
            <a:avLst/>
          </a:prstGeom>
          <a:ln w="9525" cap="flat" cmpd="sng">
            <a:solidFill>
              <a:schemeClr val="tx1"/>
            </a:solidFill>
            <a:prstDash val="solid"/>
            <a:bevel/>
            <a:headEnd type="none" w="med" len="med"/>
            <a:tailEnd type="none" w="med" len="med"/>
          </a:ln>
        </p:spPr>
      </p:sp>
      <p:sp>
        <p:nvSpPr>
          <p:cNvPr id="135293" name="Line 128"/>
          <p:cNvSpPr/>
          <p:nvPr/>
        </p:nvSpPr>
        <p:spPr>
          <a:xfrm>
            <a:off x="8343900" y="1531938"/>
            <a:ext cx="0" cy="2881312"/>
          </a:xfrm>
          <a:prstGeom prst="line">
            <a:avLst/>
          </a:prstGeom>
          <a:ln w="9525" cap="flat" cmpd="sng">
            <a:solidFill>
              <a:schemeClr val="tx1"/>
            </a:solidFill>
            <a:prstDash val="solid"/>
            <a:bevel/>
            <a:headEnd type="none" w="med" len="med"/>
            <a:tailEnd type="oval" w="sm" len="sm"/>
          </a:ln>
        </p:spPr>
      </p:sp>
      <p:sp>
        <p:nvSpPr>
          <p:cNvPr id="135294" name="Text Box 129"/>
          <p:cNvSpPr txBox="1"/>
          <p:nvPr/>
        </p:nvSpPr>
        <p:spPr>
          <a:xfrm>
            <a:off x="8516938" y="1389063"/>
            <a:ext cx="360362" cy="2311400"/>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5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a</a:t>
            </a:r>
            <a:endParaRPr lang="en-US" altLang="zh-CN" sz="1800" b="0" dirty="0">
              <a:solidFill>
                <a:schemeClr val="tx1"/>
              </a:solidFill>
              <a:latin typeface="Times New Roman" panose="02020603050405020304" pitchFamily="18" charset="0"/>
              <a:ea typeface="楷体_GB2312"/>
            </a:endParaRPr>
          </a:p>
          <a:p>
            <a:pPr marL="0" lvl="0" indent="0">
              <a:lnSpc>
                <a:spcPct val="105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b</a:t>
            </a:r>
            <a:endParaRPr lang="en-US" altLang="zh-CN" sz="1800" b="0" dirty="0">
              <a:solidFill>
                <a:schemeClr val="tx1"/>
              </a:solidFill>
              <a:latin typeface="Times New Roman" panose="02020603050405020304" pitchFamily="18" charset="0"/>
              <a:ea typeface="楷体_GB2312"/>
            </a:endParaRPr>
          </a:p>
          <a:p>
            <a:pPr marL="0" lvl="0" indent="0">
              <a:lnSpc>
                <a:spcPct val="105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c</a:t>
            </a:r>
            <a:endParaRPr lang="en-US" altLang="zh-CN" sz="1800" b="0" dirty="0">
              <a:solidFill>
                <a:schemeClr val="tx1"/>
              </a:solidFill>
              <a:latin typeface="Times New Roman" panose="02020603050405020304" pitchFamily="18" charset="0"/>
              <a:ea typeface="楷体_GB2312"/>
            </a:endParaRPr>
          </a:p>
          <a:p>
            <a:pPr marL="0" lvl="0" indent="0">
              <a:lnSpc>
                <a:spcPct val="105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d</a:t>
            </a:r>
            <a:endParaRPr lang="en-US" altLang="zh-CN" sz="1800" b="0" dirty="0">
              <a:solidFill>
                <a:schemeClr val="tx1"/>
              </a:solidFill>
              <a:latin typeface="Times New Roman" panose="02020603050405020304" pitchFamily="18" charset="0"/>
              <a:ea typeface="楷体_GB2312"/>
            </a:endParaRPr>
          </a:p>
          <a:p>
            <a:pPr marL="0" lvl="0" indent="0">
              <a:lnSpc>
                <a:spcPct val="105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e</a:t>
            </a:r>
            <a:endParaRPr lang="en-US" altLang="zh-CN" sz="1800" b="0" dirty="0">
              <a:solidFill>
                <a:schemeClr val="tx1"/>
              </a:solidFill>
              <a:latin typeface="Times New Roman" panose="02020603050405020304" pitchFamily="18" charset="0"/>
              <a:ea typeface="楷体_GB2312"/>
            </a:endParaRPr>
          </a:p>
          <a:p>
            <a:pPr marL="0" lvl="0" indent="0">
              <a:lnSpc>
                <a:spcPct val="105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f</a:t>
            </a:r>
            <a:endParaRPr lang="en-US" altLang="zh-CN" sz="1800" b="0" dirty="0">
              <a:solidFill>
                <a:schemeClr val="tx1"/>
              </a:solidFill>
              <a:latin typeface="Times New Roman" panose="02020603050405020304" pitchFamily="18" charset="0"/>
              <a:ea typeface="楷体_GB2312"/>
            </a:endParaRPr>
          </a:p>
          <a:p>
            <a:pPr marL="0" lvl="0" indent="0">
              <a:lnSpc>
                <a:spcPct val="105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g</a:t>
            </a:r>
            <a:endParaRPr lang="en-US" altLang="zh-CN" sz="1800" b="0" dirty="0">
              <a:solidFill>
                <a:schemeClr val="tx1"/>
              </a:solidFill>
              <a:latin typeface="Times New Roman" panose="02020603050405020304" pitchFamily="18" charset="0"/>
              <a:ea typeface="楷体_GB2312"/>
            </a:endParaRPr>
          </a:p>
          <a:p>
            <a:pPr marL="0" lvl="0" indent="0">
              <a:lnSpc>
                <a:spcPct val="105000"/>
              </a:lnSpc>
              <a:spcBef>
                <a:spcPct val="0"/>
              </a:spcBef>
              <a:spcAft>
                <a:spcPct val="0"/>
              </a:spcAft>
              <a:buClrTx/>
              <a:buSzTx/>
              <a:buNone/>
            </a:pPr>
            <a:r>
              <a:rPr lang="en-US" altLang="zh-CN" sz="1800" b="0" dirty="0">
                <a:solidFill>
                  <a:schemeClr val="tx1"/>
                </a:solidFill>
                <a:latin typeface="Times New Roman" panose="02020603050405020304" pitchFamily="18" charset="0"/>
                <a:ea typeface="楷体_GB2312"/>
              </a:rPr>
              <a:t>DP</a:t>
            </a:r>
            <a:endParaRPr lang="en-US" altLang="zh-CN" sz="1800" b="0" dirty="0">
              <a:solidFill>
                <a:schemeClr val="tx1"/>
              </a:solidFill>
              <a:latin typeface="Times New Roman" panose="02020603050405020304" pitchFamily="18" charset="0"/>
              <a:ea typeface="楷体_GB2312"/>
            </a:endParaRPr>
          </a:p>
        </p:txBody>
      </p:sp>
      <p:sp>
        <p:nvSpPr>
          <p:cNvPr id="135295" name="Text Box 130"/>
          <p:cNvSpPr txBox="1"/>
          <p:nvPr/>
        </p:nvSpPr>
        <p:spPr>
          <a:xfrm>
            <a:off x="6356350" y="1100138"/>
            <a:ext cx="576263" cy="24447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600" dirty="0">
                <a:solidFill>
                  <a:schemeClr val="tx1"/>
                </a:solidFill>
                <a:ea typeface="楷体_GB2312"/>
              </a:rPr>
              <a:t>7406</a:t>
            </a:r>
            <a:endParaRPr lang="en-US" altLang="zh-CN" sz="1600" dirty="0">
              <a:solidFill>
                <a:schemeClr val="tx1"/>
              </a:solidFill>
              <a:ea typeface="楷体_GB2312"/>
            </a:endParaRPr>
          </a:p>
        </p:txBody>
      </p:sp>
      <p:sp>
        <p:nvSpPr>
          <p:cNvPr id="135296" name="Text Box 131"/>
          <p:cNvSpPr txBox="1"/>
          <p:nvPr/>
        </p:nvSpPr>
        <p:spPr>
          <a:xfrm>
            <a:off x="6284913" y="1676400"/>
            <a:ext cx="647700" cy="488950"/>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1600" dirty="0">
                <a:solidFill>
                  <a:schemeClr val="tx1"/>
                </a:solidFill>
                <a:ea typeface="楷体_GB2312"/>
              </a:rPr>
              <a:t>8</a:t>
            </a:r>
            <a:r>
              <a:rPr lang="zh-CN" altLang="en-US" sz="1600" dirty="0">
                <a:solidFill>
                  <a:schemeClr val="tx1"/>
                </a:solidFill>
                <a:ea typeface="楷体_GB2312"/>
              </a:rPr>
              <a:t>个</a:t>
            </a:r>
            <a:endParaRPr lang="zh-CN" altLang="en-US" sz="1600" dirty="0">
              <a:solidFill>
                <a:schemeClr val="tx1"/>
              </a:solidFill>
              <a:ea typeface="楷体_GB2312"/>
            </a:endParaRPr>
          </a:p>
          <a:p>
            <a:pPr marL="0" lvl="0" indent="0" algn="ctr">
              <a:lnSpc>
                <a:spcPct val="100000"/>
              </a:lnSpc>
              <a:spcBef>
                <a:spcPct val="0"/>
              </a:spcBef>
              <a:spcAft>
                <a:spcPct val="0"/>
              </a:spcAft>
              <a:buClrTx/>
              <a:buSzTx/>
              <a:buNone/>
            </a:pPr>
            <a:r>
              <a:rPr lang="zh-CN" altLang="en-US" sz="1600" dirty="0">
                <a:solidFill>
                  <a:schemeClr val="tx1"/>
                </a:solidFill>
                <a:ea typeface="楷体_GB2312"/>
              </a:rPr>
              <a:t>反相器</a:t>
            </a:r>
            <a:endParaRPr lang="zh-CN" altLang="en-US" sz="1600" dirty="0">
              <a:solidFill>
                <a:schemeClr val="tx1"/>
              </a:solidFill>
              <a:ea typeface="楷体_GB2312"/>
            </a:endParaRPr>
          </a:p>
        </p:txBody>
      </p:sp>
      <p:sp>
        <p:nvSpPr>
          <p:cNvPr id="135297" name="Text Box 132"/>
          <p:cNvSpPr txBox="1"/>
          <p:nvPr/>
        </p:nvSpPr>
        <p:spPr>
          <a:xfrm>
            <a:off x="4916488" y="1100138"/>
            <a:ext cx="936625" cy="24447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600" dirty="0">
                <a:solidFill>
                  <a:schemeClr val="tx1"/>
                </a:solidFill>
                <a:ea typeface="楷体_GB2312"/>
              </a:rPr>
              <a:t>74LS273</a:t>
            </a:r>
            <a:endParaRPr lang="en-US" altLang="zh-CN" sz="1600" dirty="0">
              <a:solidFill>
                <a:schemeClr val="tx1"/>
              </a:solidFill>
              <a:ea typeface="楷体_GB2312"/>
            </a:endParaRPr>
          </a:p>
        </p:txBody>
      </p:sp>
      <p:sp>
        <p:nvSpPr>
          <p:cNvPr id="135298" name="Text Box 133"/>
          <p:cNvSpPr txBox="1"/>
          <p:nvPr/>
        </p:nvSpPr>
        <p:spPr>
          <a:xfrm>
            <a:off x="7219950" y="1100138"/>
            <a:ext cx="433388" cy="24447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600" dirty="0">
                <a:solidFill>
                  <a:schemeClr val="tx1"/>
                </a:solidFill>
                <a:ea typeface="楷体_GB2312"/>
              </a:rPr>
              <a:t>Rx8</a:t>
            </a:r>
            <a:endParaRPr lang="en-US" altLang="zh-CN" sz="1600" dirty="0">
              <a:solidFill>
                <a:schemeClr val="tx1"/>
              </a:solidFill>
              <a:ea typeface="楷体_GB2312"/>
            </a:endParaRPr>
          </a:p>
        </p:txBody>
      </p:sp>
      <p:sp>
        <p:nvSpPr>
          <p:cNvPr id="135299" name="Rectangle 134"/>
          <p:cNvSpPr/>
          <p:nvPr/>
        </p:nvSpPr>
        <p:spPr>
          <a:xfrm>
            <a:off x="3779838" y="2655888"/>
            <a:ext cx="358775" cy="6477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1600" dirty="0">
                <a:solidFill>
                  <a:schemeClr val="tx1"/>
                </a:solidFill>
                <a:latin typeface="宋体" panose="02010600030101010101" pitchFamily="2" charset="-122"/>
                <a:ea typeface="楷体_GB2312"/>
              </a:rPr>
              <a:t>≥</a:t>
            </a:r>
            <a:r>
              <a:rPr lang="en-US" altLang="zh-CN" sz="1600" dirty="0">
                <a:solidFill>
                  <a:schemeClr val="tx1"/>
                </a:solidFill>
                <a:latin typeface="宋体" panose="02010600030101010101" pitchFamily="2" charset="-122"/>
                <a:ea typeface="楷体_GB2312"/>
              </a:rPr>
              <a:t>1</a:t>
            </a:r>
            <a:endParaRPr lang="en-US" altLang="zh-CN" sz="1600" dirty="0">
              <a:solidFill>
                <a:schemeClr val="tx1"/>
              </a:solidFill>
              <a:latin typeface="宋体" panose="02010600030101010101" pitchFamily="2" charset="-122"/>
              <a:ea typeface="楷体_GB2312"/>
            </a:endParaRPr>
          </a:p>
        </p:txBody>
      </p:sp>
      <p:sp>
        <p:nvSpPr>
          <p:cNvPr id="135300" name="Line 135"/>
          <p:cNvSpPr/>
          <p:nvPr/>
        </p:nvSpPr>
        <p:spPr>
          <a:xfrm flipV="1">
            <a:off x="4243388" y="2957513"/>
            <a:ext cx="738187" cy="0"/>
          </a:xfrm>
          <a:prstGeom prst="line">
            <a:avLst/>
          </a:prstGeom>
          <a:ln w="9525" cap="flat" cmpd="sng">
            <a:solidFill>
              <a:schemeClr val="tx1"/>
            </a:solidFill>
            <a:prstDash val="solid"/>
            <a:bevel/>
            <a:headEnd type="none" w="med" len="med"/>
            <a:tailEnd type="none" w="med" len="med"/>
          </a:ln>
        </p:spPr>
      </p:sp>
      <p:sp>
        <p:nvSpPr>
          <p:cNvPr id="135301" name="Line 136"/>
          <p:cNvSpPr/>
          <p:nvPr/>
        </p:nvSpPr>
        <p:spPr>
          <a:xfrm>
            <a:off x="3187700" y="3994150"/>
            <a:ext cx="288925" cy="0"/>
          </a:xfrm>
          <a:prstGeom prst="line">
            <a:avLst/>
          </a:prstGeom>
          <a:ln w="9525" cap="flat" cmpd="sng">
            <a:solidFill>
              <a:schemeClr val="tx1"/>
            </a:solidFill>
            <a:prstDash val="solid"/>
            <a:bevel/>
            <a:headEnd type="none" w="med" len="med"/>
            <a:tailEnd type="none" w="med" len="med"/>
          </a:ln>
        </p:spPr>
      </p:sp>
      <p:sp>
        <p:nvSpPr>
          <p:cNvPr id="135302" name="Line 137"/>
          <p:cNvSpPr/>
          <p:nvPr/>
        </p:nvSpPr>
        <p:spPr>
          <a:xfrm>
            <a:off x="3476625" y="3187700"/>
            <a:ext cx="0" cy="793750"/>
          </a:xfrm>
          <a:prstGeom prst="line">
            <a:avLst/>
          </a:prstGeom>
          <a:ln w="9525" cap="flat" cmpd="sng">
            <a:solidFill>
              <a:schemeClr val="tx1"/>
            </a:solidFill>
            <a:prstDash val="solid"/>
            <a:bevel/>
            <a:headEnd type="none" w="med" len="med"/>
            <a:tailEnd type="none" w="med" len="med"/>
          </a:ln>
        </p:spPr>
      </p:sp>
      <p:sp>
        <p:nvSpPr>
          <p:cNvPr id="135303" name="Line 138"/>
          <p:cNvSpPr/>
          <p:nvPr/>
        </p:nvSpPr>
        <p:spPr>
          <a:xfrm>
            <a:off x="3476625" y="3187700"/>
            <a:ext cx="288925" cy="0"/>
          </a:xfrm>
          <a:prstGeom prst="line">
            <a:avLst/>
          </a:prstGeom>
          <a:ln w="9525" cap="flat" cmpd="sng">
            <a:solidFill>
              <a:schemeClr val="tx1"/>
            </a:solidFill>
            <a:prstDash val="solid"/>
            <a:bevel/>
            <a:headEnd type="none" w="med" len="med"/>
            <a:tailEnd type="none" w="med" len="med"/>
          </a:ln>
        </p:spPr>
      </p:sp>
      <p:sp>
        <p:nvSpPr>
          <p:cNvPr id="135304" name="Line 139"/>
          <p:cNvSpPr/>
          <p:nvPr/>
        </p:nvSpPr>
        <p:spPr>
          <a:xfrm>
            <a:off x="1531938" y="2828925"/>
            <a:ext cx="2232025" cy="0"/>
          </a:xfrm>
          <a:prstGeom prst="line">
            <a:avLst/>
          </a:prstGeom>
          <a:ln w="9525" cap="flat" cmpd="sng">
            <a:solidFill>
              <a:schemeClr val="tx1"/>
            </a:solidFill>
            <a:prstDash val="solid"/>
            <a:bevel/>
            <a:headEnd type="none" w="med" len="med"/>
            <a:tailEnd type="none" w="med" len="med"/>
          </a:ln>
        </p:spPr>
      </p:sp>
      <p:sp>
        <p:nvSpPr>
          <p:cNvPr id="135305" name="Text Box 140"/>
          <p:cNvSpPr txBox="1"/>
          <p:nvPr/>
        </p:nvSpPr>
        <p:spPr>
          <a:xfrm>
            <a:off x="2324100" y="3405188"/>
            <a:ext cx="936625" cy="24447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600" dirty="0">
                <a:solidFill>
                  <a:schemeClr val="tx1"/>
                </a:solidFill>
                <a:ea typeface="楷体_GB2312"/>
              </a:rPr>
              <a:t>74LS138</a:t>
            </a:r>
            <a:endParaRPr lang="en-US" altLang="zh-CN" sz="1600" dirty="0">
              <a:solidFill>
                <a:schemeClr val="tx1"/>
              </a:solidFill>
              <a:ea typeface="楷体_GB2312"/>
            </a:endParaRPr>
          </a:p>
        </p:txBody>
      </p:sp>
      <p:sp>
        <p:nvSpPr>
          <p:cNvPr id="135306" name="Text Box 141"/>
          <p:cNvSpPr txBox="1"/>
          <p:nvPr/>
        </p:nvSpPr>
        <p:spPr>
          <a:xfrm>
            <a:off x="668338" y="1604963"/>
            <a:ext cx="1023937" cy="274637"/>
          </a:xfrm>
          <a:prstGeom prst="rect">
            <a:avLst/>
          </a:prstGeom>
          <a:solidFill>
            <a:schemeClr val="bg1"/>
          </a:solid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1800" dirty="0">
                <a:solidFill>
                  <a:schemeClr val="tx1"/>
                </a:solidFill>
                <a:ea typeface="楷体_GB2312"/>
              </a:rPr>
              <a:t>D0</a:t>
            </a:r>
            <a:r>
              <a:rPr lang="zh-CN" altLang="en-US" sz="1800" dirty="0">
                <a:solidFill>
                  <a:schemeClr val="tx1"/>
                </a:solidFill>
                <a:ea typeface="楷体_GB2312"/>
              </a:rPr>
              <a:t>～</a:t>
            </a:r>
            <a:r>
              <a:rPr lang="en-US" altLang="zh-CN" sz="1800" dirty="0">
                <a:solidFill>
                  <a:schemeClr val="tx1"/>
                </a:solidFill>
                <a:ea typeface="楷体_GB2312"/>
              </a:rPr>
              <a:t>D7</a:t>
            </a:r>
            <a:endParaRPr lang="en-US" altLang="zh-CN" sz="1800" dirty="0">
              <a:solidFill>
                <a:schemeClr val="tx1"/>
              </a:solidFill>
              <a:ea typeface="楷体_GB2312"/>
            </a:endParaRPr>
          </a:p>
        </p:txBody>
      </p:sp>
      <p:sp>
        <p:nvSpPr>
          <p:cNvPr id="135307" name="Text Box 142"/>
          <p:cNvSpPr txBox="1"/>
          <p:nvPr/>
        </p:nvSpPr>
        <p:spPr>
          <a:xfrm>
            <a:off x="668338" y="2684463"/>
            <a:ext cx="720725" cy="2746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1800" dirty="0">
                <a:solidFill>
                  <a:schemeClr val="tx1"/>
                </a:solidFill>
                <a:ea typeface="楷体_GB2312"/>
              </a:rPr>
              <a:t>IOW#</a:t>
            </a:r>
            <a:endParaRPr lang="en-US" altLang="zh-CN" sz="1800" dirty="0">
              <a:solidFill>
                <a:schemeClr val="tx1"/>
              </a:solidFill>
              <a:ea typeface="楷体_GB2312"/>
            </a:endParaRPr>
          </a:p>
        </p:txBody>
      </p:sp>
      <p:sp>
        <p:nvSpPr>
          <p:cNvPr id="135308" name="Text Box 143"/>
          <p:cNvSpPr txBox="1"/>
          <p:nvPr/>
        </p:nvSpPr>
        <p:spPr>
          <a:xfrm>
            <a:off x="668338" y="6356350"/>
            <a:ext cx="720725"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1800" dirty="0">
                <a:solidFill>
                  <a:schemeClr val="tx1"/>
                </a:solidFill>
                <a:ea typeface="楷体_GB2312"/>
              </a:rPr>
              <a:t>IOR#</a:t>
            </a:r>
            <a:endParaRPr lang="en-US" altLang="zh-CN" sz="1800" dirty="0">
              <a:solidFill>
                <a:schemeClr val="tx1"/>
              </a:solidFill>
              <a:ea typeface="楷体_GB2312"/>
            </a:endParaRPr>
          </a:p>
        </p:txBody>
      </p:sp>
      <p:sp>
        <p:nvSpPr>
          <p:cNvPr id="135309" name="Text Box 144"/>
          <p:cNvSpPr txBox="1"/>
          <p:nvPr/>
        </p:nvSpPr>
        <p:spPr>
          <a:xfrm>
            <a:off x="3260725" y="4052888"/>
            <a:ext cx="360363" cy="2746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800" dirty="0">
                <a:solidFill>
                  <a:schemeClr val="tx1"/>
                </a:solidFill>
                <a:ea typeface="楷体_GB2312"/>
              </a:rPr>
              <a:t>Y</a:t>
            </a:r>
            <a:r>
              <a:rPr lang="en-US" altLang="zh-CN" sz="1400" dirty="0">
                <a:solidFill>
                  <a:schemeClr val="tx1"/>
                </a:solidFill>
                <a:ea typeface="楷体_GB2312"/>
              </a:rPr>
              <a:t>0</a:t>
            </a:r>
            <a:endParaRPr lang="en-US" altLang="zh-CN" sz="1400" dirty="0">
              <a:solidFill>
                <a:schemeClr val="tx1"/>
              </a:solidFill>
              <a:ea typeface="楷体_GB2312"/>
            </a:endParaRPr>
          </a:p>
        </p:txBody>
      </p:sp>
      <p:sp>
        <p:nvSpPr>
          <p:cNvPr id="135310" name="Text Box 145"/>
          <p:cNvSpPr txBox="1"/>
          <p:nvPr/>
        </p:nvSpPr>
        <p:spPr>
          <a:xfrm>
            <a:off x="3260725" y="5176838"/>
            <a:ext cx="433388" cy="2746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800" dirty="0">
                <a:solidFill>
                  <a:schemeClr val="tx1"/>
                </a:solidFill>
                <a:ea typeface="楷体_GB2312"/>
              </a:rPr>
              <a:t>Y</a:t>
            </a:r>
            <a:r>
              <a:rPr lang="en-US" altLang="zh-CN" sz="1400" dirty="0">
                <a:solidFill>
                  <a:schemeClr val="tx1"/>
                </a:solidFill>
                <a:ea typeface="楷体_GB2312"/>
              </a:rPr>
              <a:t>1</a:t>
            </a:r>
            <a:endParaRPr lang="en-US" altLang="zh-CN" sz="1400" dirty="0">
              <a:solidFill>
                <a:schemeClr val="tx1"/>
              </a:solidFill>
              <a:ea typeface="楷体_GB2312"/>
            </a:endParaRPr>
          </a:p>
        </p:txBody>
      </p:sp>
      <p:sp>
        <p:nvSpPr>
          <p:cNvPr id="135311" name="Line 146"/>
          <p:cNvSpPr/>
          <p:nvPr/>
        </p:nvSpPr>
        <p:spPr>
          <a:xfrm>
            <a:off x="2424113" y="4267200"/>
            <a:ext cx="323850" cy="0"/>
          </a:xfrm>
          <a:prstGeom prst="line">
            <a:avLst/>
          </a:prstGeom>
          <a:ln w="19050" cap="flat" cmpd="sng">
            <a:solidFill>
              <a:schemeClr val="tx1"/>
            </a:solidFill>
            <a:prstDash val="solid"/>
            <a:bevel/>
            <a:headEnd type="none" w="med" len="med"/>
            <a:tailEnd type="none" w="med" len="med"/>
          </a:ln>
        </p:spPr>
      </p:sp>
      <p:sp>
        <p:nvSpPr>
          <p:cNvPr id="135312" name="Line 147"/>
          <p:cNvSpPr/>
          <p:nvPr/>
        </p:nvSpPr>
        <p:spPr>
          <a:xfrm>
            <a:off x="2424113" y="4830763"/>
            <a:ext cx="323850" cy="0"/>
          </a:xfrm>
          <a:prstGeom prst="line">
            <a:avLst/>
          </a:prstGeom>
          <a:ln w="19050" cap="flat" cmpd="sng">
            <a:solidFill>
              <a:schemeClr val="tx1"/>
            </a:solidFill>
            <a:prstDash val="solid"/>
            <a:bevel/>
            <a:headEnd type="none" w="med" len="med"/>
            <a:tailEnd type="none" w="med" len="med"/>
          </a:ln>
        </p:spPr>
      </p:sp>
      <p:sp>
        <p:nvSpPr>
          <p:cNvPr id="135313" name="Line 148"/>
          <p:cNvSpPr/>
          <p:nvPr/>
        </p:nvSpPr>
        <p:spPr>
          <a:xfrm>
            <a:off x="3260725" y="4052888"/>
            <a:ext cx="252413" cy="0"/>
          </a:xfrm>
          <a:prstGeom prst="line">
            <a:avLst/>
          </a:prstGeom>
          <a:ln w="28575" cap="flat" cmpd="sng">
            <a:solidFill>
              <a:schemeClr val="tx1"/>
            </a:solidFill>
            <a:prstDash val="solid"/>
            <a:bevel/>
            <a:headEnd type="none" w="med" len="med"/>
            <a:tailEnd type="none" w="med" len="med"/>
          </a:ln>
        </p:spPr>
      </p:sp>
      <p:sp>
        <p:nvSpPr>
          <p:cNvPr id="135314" name="Line 149"/>
          <p:cNvSpPr/>
          <p:nvPr/>
        </p:nvSpPr>
        <p:spPr>
          <a:xfrm>
            <a:off x="3260725" y="5191125"/>
            <a:ext cx="252413" cy="0"/>
          </a:xfrm>
          <a:prstGeom prst="line">
            <a:avLst/>
          </a:prstGeom>
          <a:ln w="28575" cap="flat" cmpd="sng">
            <a:solidFill>
              <a:schemeClr val="tx1"/>
            </a:solidFill>
            <a:prstDash val="solid"/>
            <a:bevel/>
            <a:headEnd type="none" w="med" len="med"/>
            <a:tailEnd type="none" w="med" len="med"/>
          </a:ln>
        </p:spPr>
      </p:sp>
      <p:sp>
        <p:nvSpPr>
          <p:cNvPr id="135315" name="Text Box 150"/>
          <p:cNvSpPr txBox="1"/>
          <p:nvPr/>
        </p:nvSpPr>
        <p:spPr>
          <a:xfrm>
            <a:off x="900113" y="765175"/>
            <a:ext cx="3536950" cy="619125"/>
          </a:xfrm>
          <a:prstGeom prst="rect">
            <a:avLst/>
          </a:prstGeom>
          <a:noFill/>
          <a:ln w="9525" cap="flat" cmpd="sng">
            <a:solidFill>
              <a:srgbClr val="FF00FF"/>
            </a:solidFill>
            <a:prstDash val="solid"/>
            <a:miter/>
            <a:headEnd type="none" w="med" len="med"/>
            <a:tailEnd type="none" w="med" len="med"/>
          </a:ln>
        </p:spPr>
        <p:txBody>
          <a:bodyPr t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chemeClr val="tx1"/>
                </a:solidFill>
                <a:latin typeface="Times New Roman" panose="02020603050405020304" pitchFamily="18" charset="0"/>
                <a:ea typeface="楷体_GB2312"/>
              </a:rPr>
              <a:t>F0H = 0000  0000  1111  0000B</a:t>
            </a:r>
            <a:endParaRPr lang="en-US" altLang="zh-CN" sz="2000" b="0" dirty="0">
              <a:solidFill>
                <a:schemeClr val="tx1"/>
              </a:solidFill>
              <a:latin typeface="Times New Roman" panose="02020603050405020304" pitchFamily="18" charset="0"/>
              <a:ea typeface="楷体_GB2312"/>
            </a:endParaRPr>
          </a:p>
          <a:p>
            <a:pPr marL="0" lvl="0" indent="0">
              <a:lnSpc>
                <a:spcPct val="100000"/>
              </a:lnSpc>
              <a:spcBef>
                <a:spcPct val="0"/>
              </a:spcBef>
              <a:spcAft>
                <a:spcPct val="0"/>
              </a:spcAft>
              <a:buClrTx/>
              <a:buSzTx/>
              <a:buNone/>
            </a:pPr>
            <a:r>
              <a:rPr lang="en-US" altLang="zh-CN" sz="2000" b="0" dirty="0">
                <a:solidFill>
                  <a:schemeClr val="tx1"/>
                </a:solidFill>
                <a:latin typeface="Times New Roman" panose="02020603050405020304" pitchFamily="18" charset="0"/>
                <a:ea typeface="楷体_GB2312"/>
              </a:rPr>
              <a:t>F1H = 0000  0000  1111  0001B</a:t>
            </a:r>
            <a:endParaRPr lang="en-US" altLang="zh-CN" sz="2000" b="0" dirty="0">
              <a:solidFill>
                <a:schemeClr val="tx1"/>
              </a:solidFill>
              <a:latin typeface="Times New Roman" panose="02020603050405020304" pitchFamily="18" charset="0"/>
              <a:ea typeface="楷体_GB2312"/>
            </a:endParaRPr>
          </a:p>
        </p:txBody>
      </p:sp>
      <p:sp>
        <p:nvSpPr>
          <p:cNvPr id="135316" name="Rectangle 151"/>
          <p:cNvSpPr/>
          <p:nvPr/>
        </p:nvSpPr>
        <p:spPr>
          <a:xfrm>
            <a:off x="1676400" y="3405188"/>
            <a:ext cx="360363" cy="576262"/>
          </a:xfrm>
          <a:prstGeom prst="rect">
            <a:avLst/>
          </a:prstGeom>
          <a:noFill/>
          <a:ln w="9525" cap="flat" cmpd="sng">
            <a:solidFill>
              <a:schemeClr val="tx1"/>
            </a:solidFill>
            <a:prstDash val="solid"/>
            <a:miter/>
            <a:headEnd type="none" w="med" len="med"/>
            <a:tailEnd type="none" w="med" len="med"/>
          </a:ln>
        </p:spPr>
        <p:txBody>
          <a:bodyPr wrap="none" lIns="0" r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1800" b="0" dirty="0">
                <a:solidFill>
                  <a:schemeClr val="tx1"/>
                </a:solidFill>
                <a:ea typeface="楷体_GB2312"/>
              </a:rPr>
              <a:t>&amp;</a:t>
            </a:r>
            <a:endParaRPr lang="en-US" altLang="zh-CN" sz="1800" b="0" dirty="0">
              <a:solidFill>
                <a:schemeClr val="tx1"/>
              </a:solidFill>
              <a:ea typeface="楷体_GB2312"/>
            </a:endParaRPr>
          </a:p>
        </p:txBody>
      </p:sp>
      <p:sp>
        <p:nvSpPr>
          <p:cNvPr id="135317" name="Rectangle 152"/>
          <p:cNvSpPr/>
          <p:nvPr/>
        </p:nvSpPr>
        <p:spPr>
          <a:xfrm>
            <a:off x="1676400" y="4052888"/>
            <a:ext cx="360363" cy="719137"/>
          </a:xfrm>
          <a:prstGeom prst="rect">
            <a:avLst/>
          </a:prstGeom>
          <a:noFill/>
          <a:ln w="9525" cap="flat" cmpd="sng">
            <a:solidFill>
              <a:schemeClr val="tx1"/>
            </a:solidFill>
            <a:prstDash val="solid"/>
            <a:miter/>
            <a:headEnd type="none" w="med" len="med"/>
            <a:tailEnd type="none" w="med" len="med"/>
          </a:ln>
        </p:spPr>
        <p:txBody>
          <a:bodyPr wrap="none" lIns="0" r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1600" b="0" dirty="0">
                <a:solidFill>
                  <a:schemeClr val="tx1"/>
                </a:solidFill>
                <a:latin typeface="宋体" panose="02010600030101010101" pitchFamily="2" charset="-122"/>
                <a:ea typeface="楷体_GB2312"/>
              </a:rPr>
              <a:t>≥</a:t>
            </a:r>
            <a:r>
              <a:rPr lang="en-US" altLang="zh-CN" sz="1600" b="0" dirty="0">
                <a:solidFill>
                  <a:schemeClr val="tx1"/>
                </a:solidFill>
                <a:latin typeface="Times New Roman" panose="02020603050405020304" pitchFamily="18" charset="0"/>
                <a:ea typeface="楷体_GB2312"/>
              </a:rPr>
              <a:t>1</a:t>
            </a:r>
            <a:endParaRPr lang="en-US" altLang="zh-CN" sz="1600" b="0" dirty="0">
              <a:solidFill>
                <a:schemeClr val="tx1"/>
              </a:solidFill>
              <a:latin typeface="Times New Roman" panose="02020603050405020304" pitchFamily="18" charset="0"/>
              <a:ea typeface="楷体_GB2312"/>
            </a:endParaRPr>
          </a:p>
        </p:txBody>
      </p:sp>
      <p:sp>
        <p:nvSpPr>
          <p:cNvPr id="135318" name="Line 153"/>
          <p:cNvSpPr/>
          <p:nvPr/>
        </p:nvSpPr>
        <p:spPr>
          <a:xfrm>
            <a:off x="2252663" y="3836988"/>
            <a:ext cx="142875" cy="0"/>
          </a:xfrm>
          <a:prstGeom prst="line">
            <a:avLst/>
          </a:prstGeom>
          <a:ln w="9525" cap="flat" cmpd="sng">
            <a:solidFill>
              <a:schemeClr val="tx1"/>
            </a:solidFill>
            <a:prstDash val="solid"/>
            <a:bevel/>
            <a:headEnd type="none" w="med" len="med"/>
            <a:tailEnd type="none" w="med" len="med"/>
          </a:ln>
        </p:spPr>
      </p:sp>
      <p:sp>
        <p:nvSpPr>
          <p:cNvPr id="135319" name="Line 154"/>
          <p:cNvSpPr/>
          <p:nvPr/>
        </p:nvSpPr>
        <p:spPr>
          <a:xfrm>
            <a:off x="1460500" y="3478213"/>
            <a:ext cx="215900" cy="0"/>
          </a:xfrm>
          <a:prstGeom prst="line">
            <a:avLst/>
          </a:prstGeom>
          <a:ln w="9525" cap="flat" cmpd="sng">
            <a:solidFill>
              <a:schemeClr val="tx1"/>
            </a:solidFill>
            <a:prstDash val="solid"/>
            <a:bevel/>
            <a:headEnd type="none" w="med" len="med"/>
            <a:tailEnd type="none" w="med" len="med"/>
          </a:ln>
        </p:spPr>
      </p:sp>
      <p:sp>
        <p:nvSpPr>
          <p:cNvPr id="135320" name="Line 155"/>
          <p:cNvSpPr/>
          <p:nvPr/>
        </p:nvSpPr>
        <p:spPr>
          <a:xfrm>
            <a:off x="1460500" y="3621088"/>
            <a:ext cx="215900" cy="0"/>
          </a:xfrm>
          <a:prstGeom prst="line">
            <a:avLst/>
          </a:prstGeom>
          <a:ln w="9525" cap="flat" cmpd="sng">
            <a:solidFill>
              <a:schemeClr val="tx1"/>
            </a:solidFill>
            <a:prstDash val="solid"/>
            <a:bevel/>
            <a:headEnd type="none" w="med" len="med"/>
            <a:tailEnd type="none" w="med" len="med"/>
          </a:ln>
        </p:spPr>
      </p:sp>
      <p:sp>
        <p:nvSpPr>
          <p:cNvPr id="135321" name="Line 156"/>
          <p:cNvSpPr/>
          <p:nvPr/>
        </p:nvSpPr>
        <p:spPr>
          <a:xfrm>
            <a:off x="1460500" y="3765550"/>
            <a:ext cx="215900" cy="0"/>
          </a:xfrm>
          <a:prstGeom prst="line">
            <a:avLst/>
          </a:prstGeom>
          <a:ln w="9525" cap="flat" cmpd="sng">
            <a:solidFill>
              <a:schemeClr val="tx1"/>
            </a:solidFill>
            <a:prstDash val="solid"/>
            <a:bevel/>
            <a:headEnd type="none" w="med" len="med"/>
            <a:tailEnd type="none" w="med" len="med"/>
          </a:ln>
        </p:spPr>
      </p:sp>
      <p:sp>
        <p:nvSpPr>
          <p:cNvPr id="135322" name="Line 157"/>
          <p:cNvSpPr/>
          <p:nvPr/>
        </p:nvSpPr>
        <p:spPr>
          <a:xfrm>
            <a:off x="1460500" y="3910013"/>
            <a:ext cx="215900" cy="0"/>
          </a:xfrm>
          <a:prstGeom prst="line">
            <a:avLst/>
          </a:prstGeom>
          <a:ln w="9525" cap="flat" cmpd="sng">
            <a:solidFill>
              <a:schemeClr val="tx1"/>
            </a:solidFill>
            <a:prstDash val="solid"/>
            <a:bevel/>
            <a:headEnd type="none" w="med" len="med"/>
            <a:tailEnd type="none" w="med" len="med"/>
          </a:ln>
        </p:spPr>
      </p:sp>
      <p:sp>
        <p:nvSpPr>
          <p:cNvPr id="135323" name="Line 158"/>
          <p:cNvSpPr/>
          <p:nvPr/>
        </p:nvSpPr>
        <p:spPr>
          <a:xfrm>
            <a:off x="1446213" y="4125913"/>
            <a:ext cx="215900" cy="0"/>
          </a:xfrm>
          <a:prstGeom prst="line">
            <a:avLst/>
          </a:prstGeom>
          <a:ln w="9525" cap="flat" cmpd="sng">
            <a:solidFill>
              <a:schemeClr val="tx1"/>
            </a:solidFill>
            <a:prstDash val="solid"/>
            <a:bevel/>
            <a:headEnd type="none" w="med" len="med"/>
            <a:tailEnd type="none" w="med" len="med"/>
          </a:ln>
        </p:spPr>
      </p:sp>
      <p:sp>
        <p:nvSpPr>
          <p:cNvPr id="135324" name="Line 159"/>
          <p:cNvSpPr/>
          <p:nvPr/>
        </p:nvSpPr>
        <p:spPr>
          <a:xfrm>
            <a:off x="1446213" y="4197350"/>
            <a:ext cx="215900" cy="0"/>
          </a:xfrm>
          <a:prstGeom prst="line">
            <a:avLst/>
          </a:prstGeom>
          <a:ln w="9525" cap="flat" cmpd="sng">
            <a:solidFill>
              <a:schemeClr val="tx1"/>
            </a:solidFill>
            <a:prstDash val="solid"/>
            <a:bevel/>
            <a:headEnd type="none" w="med" len="med"/>
            <a:tailEnd type="none" w="med" len="med"/>
          </a:ln>
        </p:spPr>
      </p:sp>
      <p:sp>
        <p:nvSpPr>
          <p:cNvPr id="135325" name="Line 160"/>
          <p:cNvSpPr/>
          <p:nvPr/>
        </p:nvSpPr>
        <p:spPr>
          <a:xfrm>
            <a:off x="1446213" y="4456113"/>
            <a:ext cx="215900" cy="0"/>
          </a:xfrm>
          <a:prstGeom prst="line">
            <a:avLst/>
          </a:prstGeom>
          <a:ln w="9525" cap="flat" cmpd="sng">
            <a:solidFill>
              <a:schemeClr val="tx1"/>
            </a:solidFill>
            <a:prstDash val="solid"/>
            <a:bevel/>
            <a:headEnd type="none" w="med" len="med"/>
            <a:tailEnd type="none" w="med" len="med"/>
          </a:ln>
        </p:spPr>
      </p:sp>
      <p:sp>
        <p:nvSpPr>
          <p:cNvPr id="135326" name="Line 161"/>
          <p:cNvSpPr/>
          <p:nvPr/>
        </p:nvSpPr>
        <p:spPr>
          <a:xfrm>
            <a:off x="1446213" y="4543425"/>
            <a:ext cx="215900" cy="0"/>
          </a:xfrm>
          <a:prstGeom prst="line">
            <a:avLst/>
          </a:prstGeom>
          <a:ln w="9525" cap="flat" cmpd="sng">
            <a:solidFill>
              <a:schemeClr val="tx1"/>
            </a:solidFill>
            <a:prstDash val="solid"/>
            <a:bevel/>
            <a:headEnd type="none" w="med" len="med"/>
            <a:tailEnd type="none" w="med" len="med"/>
          </a:ln>
        </p:spPr>
      </p:sp>
      <p:sp>
        <p:nvSpPr>
          <p:cNvPr id="135327" name="Line 162"/>
          <p:cNvSpPr/>
          <p:nvPr/>
        </p:nvSpPr>
        <p:spPr>
          <a:xfrm>
            <a:off x="1446213" y="4700588"/>
            <a:ext cx="215900" cy="0"/>
          </a:xfrm>
          <a:prstGeom prst="line">
            <a:avLst/>
          </a:prstGeom>
          <a:ln w="9525" cap="flat" cmpd="sng">
            <a:solidFill>
              <a:schemeClr val="tx1"/>
            </a:solidFill>
            <a:prstDash val="solid"/>
            <a:bevel/>
            <a:headEnd type="none" w="med" len="med"/>
            <a:tailEnd type="none" w="med" len="med"/>
          </a:ln>
        </p:spPr>
      </p:sp>
      <p:sp>
        <p:nvSpPr>
          <p:cNvPr id="135328" name="Line 163"/>
          <p:cNvSpPr/>
          <p:nvPr/>
        </p:nvSpPr>
        <p:spPr>
          <a:xfrm>
            <a:off x="1447800" y="4284663"/>
            <a:ext cx="215900" cy="0"/>
          </a:xfrm>
          <a:prstGeom prst="line">
            <a:avLst/>
          </a:prstGeom>
          <a:ln w="9525" cap="flat" cmpd="sng">
            <a:solidFill>
              <a:schemeClr val="tx1"/>
            </a:solidFill>
            <a:prstDash val="solid"/>
            <a:bevel/>
            <a:headEnd type="none" w="med" len="med"/>
            <a:tailEnd type="none" w="med" len="med"/>
          </a:ln>
        </p:spPr>
      </p:sp>
      <p:sp>
        <p:nvSpPr>
          <p:cNvPr id="135329" name="Line 164"/>
          <p:cNvSpPr/>
          <p:nvPr/>
        </p:nvSpPr>
        <p:spPr>
          <a:xfrm>
            <a:off x="1447800" y="4370388"/>
            <a:ext cx="215900" cy="0"/>
          </a:xfrm>
          <a:prstGeom prst="line">
            <a:avLst/>
          </a:prstGeom>
          <a:ln w="9525" cap="flat" cmpd="sng">
            <a:solidFill>
              <a:schemeClr val="tx1"/>
            </a:solidFill>
            <a:prstDash val="solid"/>
            <a:bevel/>
            <a:headEnd type="none" w="med" len="med"/>
            <a:tailEnd type="none" w="med" len="med"/>
          </a:ln>
        </p:spPr>
      </p:sp>
      <p:sp>
        <p:nvSpPr>
          <p:cNvPr id="135330" name="Line 165"/>
          <p:cNvSpPr/>
          <p:nvPr/>
        </p:nvSpPr>
        <p:spPr>
          <a:xfrm>
            <a:off x="1446213" y="4629150"/>
            <a:ext cx="215900" cy="0"/>
          </a:xfrm>
          <a:prstGeom prst="line">
            <a:avLst/>
          </a:prstGeom>
          <a:ln w="9525" cap="flat" cmpd="sng">
            <a:solidFill>
              <a:schemeClr val="tx1"/>
            </a:solidFill>
            <a:prstDash val="solid"/>
            <a:bevel/>
            <a:headEnd type="none" w="med" len="med"/>
            <a:tailEnd type="none" w="med" len="med"/>
          </a:ln>
        </p:spPr>
      </p:sp>
      <p:sp>
        <p:nvSpPr>
          <p:cNvPr id="135331" name="Line 166"/>
          <p:cNvSpPr/>
          <p:nvPr/>
        </p:nvSpPr>
        <p:spPr>
          <a:xfrm>
            <a:off x="2036763" y="4413250"/>
            <a:ext cx="358775" cy="0"/>
          </a:xfrm>
          <a:prstGeom prst="line">
            <a:avLst/>
          </a:prstGeom>
          <a:ln w="9525" cap="flat" cmpd="sng">
            <a:solidFill>
              <a:schemeClr val="tx1"/>
            </a:solidFill>
            <a:prstDash val="solid"/>
            <a:bevel/>
            <a:headEnd type="none" w="med" len="med"/>
            <a:tailEnd type="none" w="med" len="med"/>
          </a:ln>
        </p:spPr>
      </p:sp>
      <p:sp>
        <p:nvSpPr>
          <p:cNvPr id="135332" name="Line 167"/>
          <p:cNvSpPr/>
          <p:nvPr/>
        </p:nvSpPr>
        <p:spPr>
          <a:xfrm>
            <a:off x="1460500" y="4916488"/>
            <a:ext cx="935038" cy="0"/>
          </a:xfrm>
          <a:prstGeom prst="line">
            <a:avLst/>
          </a:prstGeom>
          <a:ln w="9525" cap="flat" cmpd="sng">
            <a:solidFill>
              <a:schemeClr val="tx1"/>
            </a:solidFill>
            <a:prstDash val="solid"/>
            <a:bevel/>
            <a:headEnd type="none" w="med" len="med"/>
            <a:tailEnd type="none" w="med" len="med"/>
          </a:ln>
        </p:spPr>
      </p:sp>
      <p:sp>
        <p:nvSpPr>
          <p:cNvPr id="135333" name="Line 168"/>
          <p:cNvSpPr/>
          <p:nvPr/>
        </p:nvSpPr>
        <p:spPr>
          <a:xfrm>
            <a:off x="1460500" y="5205413"/>
            <a:ext cx="935038" cy="0"/>
          </a:xfrm>
          <a:prstGeom prst="line">
            <a:avLst/>
          </a:prstGeom>
          <a:ln w="9525" cap="flat" cmpd="sng">
            <a:solidFill>
              <a:schemeClr val="tx1"/>
            </a:solidFill>
            <a:prstDash val="solid"/>
            <a:bevel/>
            <a:headEnd type="none" w="med" len="med"/>
            <a:tailEnd type="none" w="med" len="med"/>
          </a:ln>
        </p:spPr>
      </p:sp>
      <p:sp>
        <p:nvSpPr>
          <p:cNvPr id="135334" name="Line 169"/>
          <p:cNvSpPr/>
          <p:nvPr/>
        </p:nvSpPr>
        <p:spPr>
          <a:xfrm>
            <a:off x="1460500" y="5421313"/>
            <a:ext cx="935038" cy="0"/>
          </a:xfrm>
          <a:prstGeom prst="line">
            <a:avLst/>
          </a:prstGeom>
          <a:ln w="9525" cap="flat" cmpd="sng">
            <a:solidFill>
              <a:schemeClr val="tx1"/>
            </a:solidFill>
            <a:prstDash val="solid"/>
            <a:bevel/>
            <a:headEnd type="none" w="med" len="med"/>
            <a:tailEnd type="none" w="med" len="med"/>
          </a:ln>
        </p:spPr>
      </p:sp>
      <p:sp>
        <p:nvSpPr>
          <p:cNvPr id="135335" name="Line 170"/>
          <p:cNvSpPr/>
          <p:nvPr/>
        </p:nvSpPr>
        <p:spPr>
          <a:xfrm>
            <a:off x="1460500" y="5708650"/>
            <a:ext cx="935038" cy="0"/>
          </a:xfrm>
          <a:prstGeom prst="line">
            <a:avLst/>
          </a:prstGeom>
          <a:ln w="9525" cap="flat" cmpd="sng">
            <a:solidFill>
              <a:schemeClr val="tx1"/>
            </a:solidFill>
            <a:prstDash val="solid"/>
            <a:bevel/>
            <a:headEnd type="none" w="med" len="med"/>
            <a:tailEnd type="none" w="med" len="med"/>
          </a:ln>
        </p:spPr>
      </p:sp>
      <p:sp>
        <p:nvSpPr>
          <p:cNvPr id="135336" name="Line 171"/>
          <p:cNvSpPr/>
          <p:nvPr/>
        </p:nvSpPr>
        <p:spPr>
          <a:xfrm flipV="1">
            <a:off x="2252663" y="3692525"/>
            <a:ext cx="0" cy="144463"/>
          </a:xfrm>
          <a:prstGeom prst="line">
            <a:avLst/>
          </a:prstGeom>
          <a:ln w="9525" cap="flat" cmpd="sng">
            <a:solidFill>
              <a:schemeClr val="tx1"/>
            </a:solidFill>
            <a:prstDash val="solid"/>
            <a:bevel/>
            <a:headEnd type="none" w="med" len="med"/>
            <a:tailEnd type="none" w="med" len="med"/>
          </a:ln>
        </p:spPr>
      </p:sp>
      <p:sp>
        <p:nvSpPr>
          <p:cNvPr id="135337" name="Line 172"/>
          <p:cNvSpPr/>
          <p:nvPr/>
        </p:nvSpPr>
        <p:spPr>
          <a:xfrm flipH="1">
            <a:off x="2036763" y="3692525"/>
            <a:ext cx="215900" cy="0"/>
          </a:xfrm>
          <a:prstGeom prst="line">
            <a:avLst/>
          </a:prstGeom>
          <a:ln w="9525" cap="flat" cmpd="sng">
            <a:solidFill>
              <a:schemeClr val="tx1"/>
            </a:solidFill>
            <a:prstDash val="solid"/>
            <a:bevel/>
            <a:headEnd type="none" w="med" len="med"/>
            <a:tailEnd type="none" w="med" len="med"/>
          </a:ln>
        </p:spPr>
      </p:sp>
      <p:sp>
        <p:nvSpPr>
          <p:cNvPr id="135338" name="AutoShape 173"/>
          <p:cNvSpPr/>
          <p:nvPr/>
        </p:nvSpPr>
        <p:spPr>
          <a:xfrm>
            <a:off x="1316038" y="3476625"/>
            <a:ext cx="71437" cy="431800"/>
          </a:xfrm>
          <a:prstGeom prst="leftBrace">
            <a:avLst>
              <a:gd name="adj1" fmla="val 50034"/>
              <a:gd name="adj2" fmla="val 50000"/>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339" name="AutoShape 174"/>
          <p:cNvSpPr/>
          <p:nvPr/>
        </p:nvSpPr>
        <p:spPr>
          <a:xfrm>
            <a:off x="1316038" y="4124325"/>
            <a:ext cx="71437" cy="576263"/>
          </a:xfrm>
          <a:prstGeom prst="leftBrace">
            <a:avLst>
              <a:gd name="adj1" fmla="val 66774"/>
              <a:gd name="adj2" fmla="val 50000"/>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
        <p:nvSpPr>
          <p:cNvPr id="135340" name="Text Box 175"/>
          <p:cNvSpPr txBox="1"/>
          <p:nvPr/>
        </p:nvSpPr>
        <p:spPr>
          <a:xfrm>
            <a:off x="654050" y="3621088"/>
            <a:ext cx="647700" cy="19208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90000"/>
              </a:lnSpc>
              <a:spcBef>
                <a:spcPct val="0"/>
              </a:spcBef>
              <a:spcAft>
                <a:spcPct val="0"/>
              </a:spcAft>
              <a:buClrTx/>
              <a:buSzTx/>
              <a:buNone/>
            </a:pPr>
            <a:r>
              <a:rPr lang="en-US" altLang="zh-CN" sz="1400" dirty="0">
                <a:solidFill>
                  <a:schemeClr val="tx1"/>
                </a:solidFill>
                <a:ea typeface="楷体_GB2312"/>
              </a:rPr>
              <a:t>A7</a:t>
            </a:r>
            <a:r>
              <a:rPr lang="zh-CN" altLang="en-US" sz="1400" dirty="0">
                <a:solidFill>
                  <a:schemeClr val="tx1"/>
                </a:solidFill>
                <a:ea typeface="楷体_GB2312"/>
              </a:rPr>
              <a:t>～</a:t>
            </a:r>
            <a:r>
              <a:rPr lang="en-US" altLang="zh-CN" sz="1400" dirty="0">
                <a:solidFill>
                  <a:schemeClr val="tx1"/>
                </a:solidFill>
                <a:ea typeface="楷体_GB2312"/>
              </a:rPr>
              <a:t>A4</a:t>
            </a:r>
            <a:endParaRPr lang="en-US" altLang="zh-CN" sz="1400" dirty="0">
              <a:solidFill>
                <a:schemeClr val="tx1"/>
              </a:solidFill>
              <a:ea typeface="楷体_GB2312"/>
            </a:endParaRPr>
          </a:p>
        </p:txBody>
      </p:sp>
      <p:sp>
        <p:nvSpPr>
          <p:cNvPr id="135341" name="Text Box 176"/>
          <p:cNvSpPr txBox="1"/>
          <p:nvPr/>
        </p:nvSpPr>
        <p:spPr>
          <a:xfrm>
            <a:off x="496888" y="4325938"/>
            <a:ext cx="806450" cy="19208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90000"/>
              </a:lnSpc>
              <a:spcBef>
                <a:spcPct val="0"/>
              </a:spcBef>
              <a:spcAft>
                <a:spcPct val="0"/>
              </a:spcAft>
              <a:buClrTx/>
              <a:buSzTx/>
              <a:buNone/>
            </a:pPr>
            <a:r>
              <a:rPr lang="en-US" altLang="zh-CN" sz="1400" dirty="0">
                <a:solidFill>
                  <a:schemeClr val="tx1"/>
                </a:solidFill>
                <a:ea typeface="楷体_GB2312"/>
              </a:rPr>
              <a:t>A15</a:t>
            </a:r>
            <a:r>
              <a:rPr lang="zh-CN" altLang="en-US" sz="1400" dirty="0">
                <a:solidFill>
                  <a:schemeClr val="tx1"/>
                </a:solidFill>
                <a:ea typeface="楷体_GB2312"/>
              </a:rPr>
              <a:t>～</a:t>
            </a:r>
            <a:r>
              <a:rPr lang="en-US" altLang="zh-CN" sz="1400" dirty="0">
                <a:solidFill>
                  <a:schemeClr val="tx1"/>
                </a:solidFill>
                <a:ea typeface="楷体_GB2312"/>
              </a:rPr>
              <a:t>A8</a:t>
            </a:r>
            <a:endParaRPr lang="en-US" altLang="zh-CN" sz="1400" dirty="0">
              <a:solidFill>
                <a:schemeClr val="tx1"/>
              </a:solidFill>
              <a:ea typeface="楷体_GB2312"/>
            </a:endParaRPr>
          </a:p>
        </p:txBody>
      </p:sp>
      <p:sp>
        <p:nvSpPr>
          <p:cNvPr id="135342" name="Text Box 177"/>
          <p:cNvSpPr txBox="1"/>
          <p:nvPr/>
        </p:nvSpPr>
        <p:spPr>
          <a:xfrm>
            <a:off x="955675" y="4816475"/>
            <a:ext cx="360363" cy="220663"/>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90000"/>
              </a:lnSpc>
              <a:spcBef>
                <a:spcPct val="0"/>
              </a:spcBef>
              <a:spcAft>
                <a:spcPct val="0"/>
              </a:spcAft>
              <a:buClrTx/>
              <a:buSzTx/>
              <a:buNone/>
            </a:pPr>
            <a:r>
              <a:rPr lang="en-US" altLang="zh-CN" sz="1600" dirty="0">
                <a:solidFill>
                  <a:schemeClr val="tx1"/>
                </a:solidFill>
                <a:ea typeface="楷体_GB2312"/>
              </a:rPr>
              <a:t>A3</a:t>
            </a:r>
            <a:endParaRPr lang="en-US" altLang="zh-CN" sz="1600" dirty="0">
              <a:solidFill>
                <a:schemeClr val="tx1"/>
              </a:solidFill>
              <a:ea typeface="楷体_GB2312"/>
            </a:endParaRPr>
          </a:p>
        </p:txBody>
      </p:sp>
      <p:sp>
        <p:nvSpPr>
          <p:cNvPr id="135343" name="Text Box 178"/>
          <p:cNvSpPr txBox="1"/>
          <p:nvPr/>
        </p:nvSpPr>
        <p:spPr>
          <a:xfrm>
            <a:off x="955675" y="5089525"/>
            <a:ext cx="360363" cy="220663"/>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90000"/>
              </a:lnSpc>
              <a:spcBef>
                <a:spcPct val="0"/>
              </a:spcBef>
              <a:spcAft>
                <a:spcPct val="0"/>
              </a:spcAft>
              <a:buClrTx/>
              <a:buSzTx/>
              <a:buNone/>
            </a:pPr>
            <a:r>
              <a:rPr lang="en-US" altLang="zh-CN" sz="1600" dirty="0">
                <a:solidFill>
                  <a:schemeClr val="tx1"/>
                </a:solidFill>
                <a:ea typeface="楷体_GB2312"/>
              </a:rPr>
              <a:t>A2</a:t>
            </a:r>
            <a:endParaRPr lang="en-US" altLang="zh-CN" sz="1600" dirty="0">
              <a:solidFill>
                <a:schemeClr val="tx1"/>
              </a:solidFill>
              <a:ea typeface="楷体_GB2312"/>
            </a:endParaRPr>
          </a:p>
        </p:txBody>
      </p:sp>
      <p:sp>
        <p:nvSpPr>
          <p:cNvPr id="135344" name="Text Box 179"/>
          <p:cNvSpPr txBox="1"/>
          <p:nvPr/>
        </p:nvSpPr>
        <p:spPr>
          <a:xfrm>
            <a:off x="955675" y="5335588"/>
            <a:ext cx="360363" cy="220662"/>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90000"/>
              </a:lnSpc>
              <a:spcBef>
                <a:spcPct val="0"/>
              </a:spcBef>
              <a:spcAft>
                <a:spcPct val="0"/>
              </a:spcAft>
              <a:buClrTx/>
              <a:buSzTx/>
              <a:buNone/>
            </a:pPr>
            <a:r>
              <a:rPr lang="en-US" altLang="zh-CN" sz="1600" dirty="0">
                <a:solidFill>
                  <a:schemeClr val="tx1"/>
                </a:solidFill>
                <a:ea typeface="楷体_GB2312"/>
              </a:rPr>
              <a:t>A1</a:t>
            </a:r>
            <a:endParaRPr lang="en-US" altLang="zh-CN" sz="1600" dirty="0">
              <a:solidFill>
                <a:schemeClr val="tx1"/>
              </a:solidFill>
              <a:ea typeface="楷体_GB2312"/>
            </a:endParaRPr>
          </a:p>
        </p:txBody>
      </p:sp>
      <p:sp>
        <p:nvSpPr>
          <p:cNvPr id="135345" name="Text Box 180"/>
          <p:cNvSpPr txBox="1"/>
          <p:nvPr/>
        </p:nvSpPr>
        <p:spPr>
          <a:xfrm>
            <a:off x="955675" y="5622925"/>
            <a:ext cx="360363" cy="220663"/>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90000"/>
              </a:lnSpc>
              <a:spcBef>
                <a:spcPct val="0"/>
              </a:spcBef>
              <a:spcAft>
                <a:spcPct val="0"/>
              </a:spcAft>
              <a:buClrTx/>
              <a:buSzTx/>
              <a:buNone/>
            </a:pPr>
            <a:r>
              <a:rPr lang="en-US" altLang="zh-CN" sz="1600" dirty="0">
                <a:solidFill>
                  <a:schemeClr val="tx1"/>
                </a:solidFill>
                <a:ea typeface="楷体_GB2312"/>
              </a:rPr>
              <a:t>A0</a:t>
            </a:r>
            <a:endParaRPr lang="en-US" altLang="zh-CN" sz="1600" dirty="0">
              <a:solidFill>
                <a:schemeClr val="tx1"/>
              </a:solidFill>
              <a:ea typeface="楷体_GB2312"/>
            </a:endParaRPr>
          </a:p>
        </p:txBody>
      </p:sp>
      <p:sp>
        <p:nvSpPr>
          <p:cNvPr id="135346" name="Text Box 181"/>
          <p:cNvSpPr txBox="1"/>
          <p:nvPr/>
        </p:nvSpPr>
        <p:spPr>
          <a:xfrm>
            <a:off x="4916488" y="4772025"/>
            <a:ext cx="360362" cy="220663"/>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90000"/>
              </a:lnSpc>
              <a:spcBef>
                <a:spcPct val="0"/>
              </a:spcBef>
              <a:spcAft>
                <a:spcPct val="0"/>
              </a:spcAft>
              <a:buClrTx/>
              <a:buSzTx/>
              <a:buNone/>
            </a:pPr>
            <a:r>
              <a:rPr lang="en-US" altLang="zh-CN" sz="1600" dirty="0">
                <a:solidFill>
                  <a:schemeClr val="tx1"/>
                </a:solidFill>
                <a:ea typeface="楷体_GB2312"/>
              </a:rPr>
              <a:t>D0</a:t>
            </a:r>
            <a:endParaRPr lang="en-US" altLang="zh-CN" sz="1600" dirty="0">
              <a:solidFill>
                <a:schemeClr val="tx1"/>
              </a:solidFill>
              <a:ea typeface="楷体_GB2312"/>
            </a:endParaRPr>
          </a:p>
        </p:txBody>
      </p:sp>
      <p:sp>
        <p:nvSpPr>
          <p:cNvPr id="135347" name="Text Box 182"/>
          <p:cNvSpPr txBox="1"/>
          <p:nvPr/>
        </p:nvSpPr>
        <p:spPr>
          <a:xfrm>
            <a:off x="4916488" y="5132388"/>
            <a:ext cx="360362" cy="220662"/>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90000"/>
              </a:lnSpc>
              <a:spcBef>
                <a:spcPct val="0"/>
              </a:spcBef>
              <a:spcAft>
                <a:spcPct val="0"/>
              </a:spcAft>
              <a:buClrTx/>
              <a:buSzTx/>
              <a:buNone/>
            </a:pPr>
            <a:r>
              <a:rPr lang="en-US" altLang="zh-CN" sz="1600" dirty="0">
                <a:solidFill>
                  <a:schemeClr val="tx1"/>
                </a:solidFill>
                <a:ea typeface="楷体_GB2312"/>
              </a:rPr>
              <a:t>D1</a:t>
            </a:r>
            <a:endParaRPr lang="en-US" altLang="zh-CN" sz="1600" dirty="0">
              <a:solidFill>
                <a:schemeClr val="tx1"/>
              </a:solidFill>
              <a:ea typeface="楷体_GB2312"/>
            </a:endParaRPr>
          </a:p>
        </p:txBody>
      </p:sp>
      <p:sp>
        <p:nvSpPr>
          <p:cNvPr id="135348" name="Text Box 183"/>
          <p:cNvSpPr txBox="1"/>
          <p:nvPr/>
        </p:nvSpPr>
        <p:spPr>
          <a:xfrm>
            <a:off x="4916488" y="5492750"/>
            <a:ext cx="360362" cy="220663"/>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90000"/>
              </a:lnSpc>
              <a:spcBef>
                <a:spcPct val="0"/>
              </a:spcBef>
              <a:spcAft>
                <a:spcPct val="0"/>
              </a:spcAft>
              <a:buClrTx/>
              <a:buSzTx/>
              <a:buNone/>
            </a:pPr>
            <a:r>
              <a:rPr lang="en-US" altLang="zh-CN" sz="1600" dirty="0">
                <a:solidFill>
                  <a:schemeClr val="tx1"/>
                </a:solidFill>
                <a:ea typeface="楷体_GB2312"/>
              </a:rPr>
              <a:t>D2</a:t>
            </a:r>
            <a:endParaRPr lang="en-US" altLang="zh-CN" sz="1600" dirty="0">
              <a:solidFill>
                <a:schemeClr val="tx1"/>
              </a:solidFill>
              <a:ea typeface="楷体_GB2312"/>
            </a:endParaRPr>
          </a:p>
        </p:txBody>
      </p:sp>
      <p:sp>
        <p:nvSpPr>
          <p:cNvPr id="135349" name="Text Box 184"/>
          <p:cNvSpPr txBox="1"/>
          <p:nvPr/>
        </p:nvSpPr>
        <p:spPr>
          <a:xfrm>
            <a:off x="4916488" y="5853113"/>
            <a:ext cx="360362" cy="220662"/>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90000"/>
              </a:lnSpc>
              <a:spcBef>
                <a:spcPct val="0"/>
              </a:spcBef>
              <a:spcAft>
                <a:spcPct val="0"/>
              </a:spcAft>
              <a:buClrTx/>
              <a:buSzTx/>
              <a:buNone/>
            </a:pPr>
            <a:r>
              <a:rPr lang="en-US" altLang="zh-CN" sz="1600" dirty="0">
                <a:solidFill>
                  <a:schemeClr val="tx1"/>
                </a:solidFill>
                <a:ea typeface="楷体_GB2312"/>
              </a:rPr>
              <a:t>D3</a:t>
            </a:r>
            <a:endParaRPr lang="en-US" altLang="zh-CN" sz="1600" dirty="0">
              <a:solidFill>
                <a:schemeClr val="tx1"/>
              </a:solidFill>
              <a:ea typeface="楷体_GB2312"/>
            </a:endParaRPr>
          </a:p>
        </p:txBody>
      </p:sp>
      <p:sp>
        <p:nvSpPr>
          <p:cNvPr id="135350" name="Text Box 185"/>
          <p:cNvSpPr txBox="1"/>
          <p:nvPr/>
        </p:nvSpPr>
        <p:spPr>
          <a:xfrm>
            <a:off x="2179638" y="2179638"/>
            <a:ext cx="1008062" cy="2746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zh-CN" altLang="en-US" sz="1800" dirty="0">
                <a:solidFill>
                  <a:schemeClr val="tx1"/>
                </a:solidFill>
                <a:ea typeface="楷体_GB2312"/>
              </a:rPr>
              <a:t>译码电路</a:t>
            </a:r>
            <a:endParaRPr lang="zh-CN" altLang="en-US" sz="1800" dirty="0">
              <a:solidFill>
                <a:schemeClr val="tx1"/>
              </a:solidFill>
              <a:ea typeface="楷体_GB2312"/>
            </a:endParaRPr>
          </a:p>
        </p:txBody>
      </p:sp>
      <p:sp>
        <p:nvSpPr>
          <p:cNvPr id="135351" name="Oval 186"/>
          <p:cNvSpPr/>
          <p:nvPr/>
        </p:nvSpPr>
        <p:spPr>
          <a:xfrm>
            <a:off x="4140200" y="2900363"/>
            <a:ext cx="107950" cy="107950"/>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chemeClr val="tx1"/>
              </a:solidFill>
              <a:latin typeface="Tahoma" panose="020B0604030504040204" pitchFamily="34" charset="0"/>
              <a:ea typeface="楷体_GB2312"/>
            </a:endParaRPr>
          </a:p>
        </p:txBody>
      </p:sp>
    </p:spTree>
  </p:cSld>
  <p:clrMapOvr>
    <a:masterClrMapping/>
  </p:clrMapOvr>
  <p:transition spd="slow">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5"/>
          <p:cNvSpPr/>
          <p:nvPr/>
        </p:nvSpPr>
        <p:spPr>
          <a:xfrm>
            <a:off x="1027113" y="1701800"/>
            <a:ext cx="7289800" cy="4822825"/>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spcBef>
                <a:spcPct val="0"/>
              </a:spcBef>
              <a:spcAft>
                <a:spcPct val="0"/>
              </a:spcAft>
              <a:buClr>
                <a:srgbClr val="CCECFF"/>
              </a:buClr>
              <a:buSzPct val="70000"/>
              <a:buNone/>
            </a:pPr>
            <a:r>
              <a:rPr lang="zh-CN" altLang="en-US" sz="2000" dirty="0">
                <a:solidFill>
                  <a:schemeClr val="tx1"/>
                </a:solidFill>
                <a:latin typeface="Times New Roman" panose="02020603050405020304" pitchFamily="18" charset="0"/>
                <a:ea typeface="楷体_GB2312"/>
              </a:rPr>
              <a:t>		</a:t>
            </a:r>
            <a:r>
              <a:rPr lang="en-US" altLang="zh-CN" sz="2000" dirty="0">
                <a:solidFill>
                  <a:schemeClr val="tx1"/>
                </a:solidFill>
                <a:latin typeface="Times New Roman" panose="02020603050405020304" pitchFamily="18" charset="0"/>
                <a:ea typeface="楷体_GB2312"/>
              </a:rPr>
              <a:t>……</a:t>
            </a:r>
            <a:endParaRPr lang="en-US" altLang="zh-CN" sz="2000" dirty="0">
              <a:solidFill>
                <a:schemeClr val="tx1"/>
              </a:solidFill>
              <a:latin typeface="Times New Roman" panose="02020603050405020304" pitchFamily="18" charset="0"/>
              <a:ea typeface="楷体_GB2312"/>
            </a:endParaRPr>
          </a:p>
          <a:p>
            <a:pPr marL="342900" lvl="0" indent="-342900">
              <a:spcBef>
                <a:spcPct val="0"/>
              </a:spcBef>
              <a:spcAft>
                <a:spcPct val="0"/>
              </a:spcAft>
              <a:buClr>
                <a:srgbClr val="CCECFF"/>
              </a:buClr>
              <a:buSzPct val="70000"/>
              <a:buNone/>
            </a:pPr>
            <a:r>
              <a:rPr lang="en-US" altLang="zh-CN" sz="2000" dirty="0">
                <a:solidFill>
                  <a:schemeClr val="tx1"/>
                </a:solidFill>
                <a:latin typeface="Times New Roman" panose="02020603050405020304" pitchFamily="18" charset="0"/>
                <a:ea typeface="楷体_GB2312"/>
              </a:rPr>
              <a:t>Seg7	DB	3FH,06H,5BH,4FH,66H,6DH,7DH,07H</a:t>
            </a:r>
            <a:endParaRPr lang="en-US" altLang="zh-CN" sz="2000" dirty="0">
              <a:solidFill>
                <a:schemeClr val="tx1"/>
              </a:solidFill>
              <a:latin typeface="Times New Roman" panose="02020603050405020304" pitchFamily="18" charset="0"/>
              <a:ea typeface="楷体_GB2312"/>
            </a:endParaRPr>
          </a:p>
          <a:p>
            <a:pPr marL="342900" lvl="0" indent="-342900">
              <a:spcBef>
                <a:spcPct val="0"/>
              </a:spcBef>
              <a:spcAft>
                <a:spcPct val="0"/>
              </a:spcAft>
              <a:buClr>
                <a:srgbClr val="CCECFF"/>
              </a:buClr>
              <a:buSzPct val="70000"/>
              <a:buNone/>
            </a:pPr>
            <a:r>
              <a:rPr lang="en-US" altLang="zh-CN" sz="2000" dirty="0">
                <a:solidFill>
                  <a:schemeClr val="tx1"/>
                </a:solidFill>
                <a:latin typeface="Times New Roman" panose="02020603050405020304" pitchFamily="18" charset="0"/>
                <a:ea typeface="楷体_GB2312"/>
              </a:rPr>
              <a:t>		DB	7FH,67H,77H,7CH,39H,5EH,79H,71H</a:t>
            </a:r>
            <a:endParaRPr lang="en-US" altLang="zh-CN" sz="2000" dirty="0">
              <a:solidFill>
                <a:schemeClr val="tx1"/>
              </a:solidFill>
              <a:latin typeface="Times New Roman" panose="02020603050405020304" pitchFamily="18" charset="0"/>
              <a:ea typeface="楷体_GB2312"/>
            </a:endParaRPr>
          </a:p>
          <a:p>
            <a:pPr marL="342900" lvl="0" indent="-342900">
              <a:spcBef>
                <a:spcPct val="0"/>
              </a:spcBef>
              <a:spcAft>
                <a:spcPct val="0"/>
              </a:spcAft>
              <a:buClr>
                <a:srgbClr val="CCECFF"/>
              </a:buClr>
              <a:buSzPct val="70000"/>
              <a:buNone/>
            </a:pPr>
            <a:r>
              <a:rPr lang="en-US" altLang="zh-CN" sz="2000" dirty="0">
                <a:solidFill>
                  <a:schemeClr val="tx1"/>
                </a:solidFill>
                <a:latin typeface="Times New Roman" panose="02020603050405020304" pitchFamily="18" charset="0"/>
                <a:ea typeface="楷体_GB2312"/>
              </a:rPr>
              <a:t>		……</a:t>
            </a:r>
            <a:endParaRPr lang="en-US" altLang="zh-CN" sz="2000" dirty="0">
              <a:solidFill>
                <a:schemeClr val="tx1"/>
              </a:solidFill>
              <a:latin typeface="Times New Roman" panose="02020603050405020304" pitchFamily="18" charset="0"/>
              <a:ea typeface="楷体_GB2312"/>
            </a:endParaRPr>
          </a:p>
          <a:p>
            <a:pPr marL="342900" lvl="0" indent="-342900">
              <a:spcBef>
                <a:spcPct val="0"/>
              </a:spcBef>
              <a:spcAft>
                <a:spcPct val="0"/>
              </a:spcAft>
              <a:buClr>
                <a:srgbClr val="CCECFF"/>
              </a:buClr>
              <a:buSzPct val="70000"/>
              <a:buNone/>
            </a:pPr>
            <a:r>
              <a:rPr lang="en-US" altLang="zh-CN" sz="2000" dirty="0">
                <a:solidFill>
                  <a:schemeClr val="tx1"/>
                </a:solidFill>
                <a:latin typeface="Times New Roman" panose="02020603050405020304" pitchFamily="18" charset="0"/>
                <a:ea typeface="楷体_GB2312"/>
              </a:rPr>
              <a:t>		LEA	BX, Seg7          </a:t>
            </a:r>
            <a:r>
              <a:rPr lang="zh-CN" altLang="en-US" sz="2000" dirty="0">
                <a:solidFill>
                  <a:schemeClr val="tx1"/>
                </a:solidFill>
                <a:latin typeface="Times New Roman" panose="02020603050405020304" pitchFamily="18" charset="0"/>
                <a:ea typeface="楷体_GB2312"/>
              </a:rPr>
              <a:t>；取</a:t>
            </a:r>
            <a:r>
              <a:rPr lang="en-US" altLang="zh-CN" sz="2000" dirty="0">
                <a:solidFill>
                  <a:schemeClr val="tx1"/>
                </a:solidFill>
                <a:latin typeface="Times New Roman" panose="02020603050405020304" pitchFamily="18" charset="0"/>
                <a:ea typeface="楷体_GB2312"/>
              </a:rPr>
              <a:t>7</a:t>
            </a:r>
            <a:r>
              <a:rPr lang="zh-CN" altLang="en-US" sz="2000" dirty="0">
                <a:solidFill>
                  <a:schemeClr val="tx1"/>
                </a:solidFill>
                <a:latin typeface="Times New Roman" panose="02020603050405020304" pitchFamily="18" charset="0"/>
                <a:ea typeface="楷体_GB2312"/>
              </a:rPr>
              <a:t>段码表基地址</a:t>
            </a:r>
            <a:endParaRPr lang="zh-CN" altLang="en-US" sz="2000" dirty="0">
              <a:solidFill>
                <a:schemeClr val="tx1"/>
              </a:solidFill>
              <a:latin typeface="Times New Roman" panose="02020603050405020304" pitchFamily="18" charset="0"/>
              <a:ea typeface="楷体_GB2312"/>
            </a:endParaRPr>
          </a:p>
          <a:p>
            <a:pPr marL="342900" lvl="0" indent="-342900">
              <a:spcBef>
                <a:spcPct val="0"/>
              </a:spcBef>
              <a:spcAft>
                <a:spcPct val="0"/>
              </a:spcAft>
              <a:buClr>
                <a:srgbClr val="CCECFF"/>
              </a:buClr>
              <a:buSzPct val="70000"/>
              <a:buNone/>
            </a:pPr>
            <a:r>
              <a:rPr lang="zh-CN" altLang="en-US" sz="2000" dirty="0">
                <a:solidFill>
                  <a:schemeClr val="tx1"/>
                </a:solidFill>
                <a:latin typeface="Times New Roman" panose="02020603050405020304" pitchFamily="18" charset="0"/>
                <a:ea typeface="楷体_GB2312"/>
              </a:rPr>
              <a:t>		</a:t>
            </a:r>
            <a:r>
              <a:rPr lang="en-US" altLang="zh-CN" sz="2000" dirty="0">
                <a:solidFill>
                  <a:schemeClr val="tx1"/>
                </a:solidFill>
                <a:latin typeface="Times New Roman" panose="02020603050405020304" pitchFamily="18" charset="0"/>
                <a:ea typeface="楷体_GB2312"/>
              </a:rPr>
              <a:t>MOV	AH, 0</a:t>
            </a:r>
            <a:endParaRPr lang="en-US" altLang="zh-CN" sz="2000" dirty="0">
              <a:solidFill>
                <a:schemeClr val="tx1"/>
              </a:solidFill>
              <a:latin typeface="Times New Roman" panose="02020603050405020304" pitchFamily="18" charset="0"/>
              <a:ea typeface="楷体_GB2312"/>
            </a:endParaRPr>
          </a:p>
          <a:p>
            <a:pPr marL="342900" lvl="0" indent="-342900">
              <a:spcBef>
                <a:spcPct val="0"/>
              </a:spcBef>
              <a:spcAft>
                <a:spcPct val="0"/>
              </a:spcAft>
              <a:buClr>
                <a:srgbClr val="CCECFF"/>
              </a:buClr>
              <a:buSzPct val="70000"/>
              <a:buNone/>
            </a:pPr>
            <a:r>
              <a:rPr lang="en-US" altLang="zh-CN" sz="2000" dirty="0">
                <a:solidFill>
                  <a:schemeClr val="tx1"/>
                </a:solidFill>
                <a:latin typeface="Times New Roman" panose="02020603050405020304" pitchFamily="18" charset="0"/>
                <a:ea typeface="楷体_GB2312"/>
              </a:rPr>
              <a:t>GO:	MOV	DX, 0F1H         </a:t>
            </a:r>
            <a:r>
              <a:rPr lang="zh-CN" altLang="en-US" sz="2000" dirty="0">
                <a:solidFill>
                  <a:schemeClr val="tx1"/>
                </a:solidFill>
                <a:latin typeface="Times New Roman" panose="02020603050405020304" pitchFamily="18" charset="0"/>
                <a:ea typeface="楷体_GB2312"/>
              </a:rPr>
              <a:t>；开关接口的地址为</a:t>
            </a:r>
            <a:r>
              <a:rPr lang="en-US" altLang="zh-CN" sz="2000" dirty="0">
                <a:solidFill>
                  <a:schemeClr val="tx1"/>
                </a:solidFill>
                <a:latin typeface="Times New Roman" panose="02020603050405020304" pitchFamily="18" charset="0"/>
                <a:ea typeface="楷体_GB2312"/>
              </a:rPr>
              <a:t>F1H</a:t>
            </a:r>
            <a:endParaRPr lang="en-US" altLang="zh-CN" sz="2000" dirty="0">
              <a:solidFill>
                <a:schemeClr val="tx1"/>
              </a:solidFill>
              <a:latin typeface="Times New Roman" panose="02020603050405020304" pitchFamily="18" charset="0"/>
              <a:ea typeface="楷体_GB2312"/>
            </a:endParaRPr>
          </a:p>
          <a:p>
            <a:pPr marL="342900" lvl="0" indent="-342900">
              <a:spcBef>
                <a:spcPct val="0"/>
              </a:spcBef>
              <a:spcAft>
                <a:spcPct val="0"/>
              </a:spcAft>
              <a:buClr>
                <a:srgbClr val="CCECFF"/>
              </a:buClr>
              <a:buSzPct val="70000"/>
              <a:buNone/>
            </a:pPr>
            <a:r>
              <a:rPr lang="en-US" altLang="zh-CN" sz="2000" dirty="0">
                <a:solidFill>
                  <a:schemeClr val="tx1"/>
                </a:solidFill>
                <a:latin typeface="Times New Roman" panose="02020603050405020304" pitchFamily="18" charset="0"/>
                <a:ea typeface="楷体_GB2312"/>
              </a:rPr>
              <a:t>		IN	AL, DX	            </a:t>
            </a:r>
            <a:r>
              <a:rPr lang="zh-CN" altLang="en-US" sz="2000" dirty="0">
                <a:solidFill>
                  <a:schemeClr val="tx1"/>
                </a:solidFill>
                <a:latin typeface="Times New Roman" panose="02020603050405020304" pitchFamily="18" charset="0"/>
                <a:ea typeface="楷体_GB2312"/>
              </a:rPr>
              <a:t>；读入开关状态</a:t>
            </a:r>
            <a:endParaRPr lang="zh-CN" altLang="en-US" sz="2000" dirty="0">
              <a:solidFill>
                <a:schemeClr val="tx1"/>
              </a:solidFill>
              <a:latin typeface="Times New Roman" panose="02020603050405020304" pitchFamily="18" charset="0"/>
              <a:ea typeface="楷体_GB2312"/>
            </a:endParaRPr>
          </a:p>
          <a:p>
            <a:pPr marL="342900" lvl="0" indent="-342900">
              <a:spcBef>
                <a:spcPct val="0"/>
              </a:spcBef>
              <a:spcAft>
                <a:spcPct val="0"/>
              </a:spcAft>
              <a:buClr>
                <a:srgbClr val="CCECFF"/>
              </a:buClr>
              <a:buSzPct val="70000"/>
              <a:buNone/>
            </a:pPr>
            <a:r>
              <a:rPr lang="zh-CN" altLang="en-US" sz="2000" dirty="0">
                <a:solidFill>
                  <a:schemeClr val="tx1"/>
                </a:solidFill>
                <a:latin typeface="Times New Roman" panose="02020603050405020304" pitchFamily="18" charset="0"/>
                <a:ea typeface="楷体_GB2312"/>
              </a:rPr>
              <a:t>		</a:t>
            </a:r>
            <a:r>
              <a:rPr lang="en-US" altLang="zh-CN" sz="2000" dirty="0">
                <a:solidFill>
                  <a:schemeClr val="tx1"/>
                </a:solidFill>
                <a:latin typeface="Times New Roman" panose="02020603050405020304" pitchFamily="18" charset="0"/>
                <a:ea typeface="楷体_GB2312"/>
              </a:rPr>
              <a:t>AND	AL, 0FH           </a:t>
            </a:r>
            <a:r>
              <a:rPr lang="zh-CN" altLang="en-US" sz="2000" dirty="0">
                <a:solidFill>
                  <a:schemeClr val="tx1"/>
                </a:solidFill>
                <a:latin typeface="Times New Roman" panose="02020603050405020304" pitchFamily="18" charset="0"/>
                <a:ea typeface="楷体_GB2312"/>
              </a:rPr>
              <a:t>；保留低</a:t>
            </a:r>
            <a:r>
              <a:rPr lang="en-US" altLang="zh-CN" sz="2000" dirty="0">
                <a:solidFill>
                  <a:schemeClr val="tx1"/>
                </a:solidFill>
                <a:latin typeface="Times New Roman" panose="02020603050405020304" pitchFamily="18" charset="0"/>
                <a:ea typeface="楷体_GB2312"/>
              </a:rPr>
              <a:t>4</a:t>
            </a:r>
            <a:r>
              <a:rPr lang="zh-CN" altLang="en-US" sz="2000" dirty="0">
                <a:solidFill>
                  <a:schemeClr val="tx1"/>
                </a:solidFill>
                <a:latin typeface="Times New Roman" panose="02020603050405020304" pitchFamily="18" charset="0"/>
                <a:ea typeface="楷体_GB2312"/>
              </a:rPr>
              <a:t>位</a:t>
            </a:r>
            <a:endParaRPr lang="zh-CN" altLang="en-US" sz="2000" dirty="0">
              <a:solidFill>
                <a:schemeClr val="tx1"/>
              </a:solidFill>
              <a:latin typeface="Times New Roman" panose="02020603050405020304" pitchFamily="18" charset="0"/>
              <a:ea typeface="楷体_GB2312"/>
            </a:endParaRPr>
          </a:p>
          <a:p>
            <a:pPr marL="342900" lvl="0" indent="-342900">
              <a:spcBef>
                <a:spcPct val="0"/>
              </a:spcBef>
              <a:spcAft>
                <a:spcPct val="0"/>
              </a:spcAft>
              <a:buClr>
                <a:srgbClr val="CCECFF"/>
              </a:buClr>
              <a:buSzPct val="70000"/>
              <a:buNone/>
            </a:pPr>
            <a:r>
              <a:rPr lang="zh-CN" altLang="en-US" sz="2000" dirty="0">
                <a:solidFill>
                  <a:schemeClr val="tx1"/>
                </a:solidFill>
                <a:latin typeface="Times New Roman" panose="02020603050405020304" pitchFamily="18" charset="0"/>
                <a:ea typeface="楷体_GB2312"/>
              </a:rPr>
              <a:t>		</a:t>
            </a:r>
            <a:r>
              <a:rPr lang="en-US" altLang="zh-CN" sz="2000" dirty="0">
                <a:solidFill>
                  <a:schemeClr val="tx1"/>
                </a:solidFill>
                <a:latin typeface="Times New Roman" panose="02020603050405020304" pitchFamily="18" charset="0"/>
                <a:ea typeface="楷体_GB2312"/>
              </a:rPr>
              <a:t>MOV	SI, AX	            </a:t>
            </a:r>
            <a:r>
              <a:rPr lang="zh-CN" altLang="en-US" sz="2000" dirty="0">
                <a:solidFill>
                  <a:schemeClr val="tx1"/>
                </a:solidFill>
                <a:latin typeface="Times New Roman" panose="02020603050405020304" pitchFamily="18" charset="0"/>
                <a:ea typeface="楷体_GB2312"/>
              </a:rPr>
              <a:t>；作为</a:t>
            </a:r>
            <a:r>
              <a:rPr lang="en-US" altLang="zh-CN" sz="2000" dirty="0">
                <a:solidFill>
                  <a:schemeClr val="tx1"/>
                </a:solidFill>
                <a:latin typeface="Times New Roman" panose="02020603050405020304" pitchFamily="18" charset="0"/>
                <a:ea typeface="楷体_GB2312"/>
              </a:rPr>
              <a:t>7</a:t>
            </a:r>
            <a:r>
              <a:rPr lang="zh-CN" altLang="en-US" sz="2000" dirty="0">
                <a:solidFill>
                  <a:schemeClr val="tx1"/>
                </a:solidFill>
                <a:latin typeface="Times New Roman" panose="02020603050405020304" pitchFamily="18" charset="0"/>
                <a:ea typeface="楷体_GB2312"/>
              </a:rPr>
              <a:t>段码表的表内位移量</a:t>
            </a:r>
            <a:endParaRPr lang="zh-CN" altLang="en-US" sz="2000" dirty="0">
              <a:solidFill>
                <a:schemeClr val="tx1"/>
              </a:solidFill>
              <a:latin typeface="Times New Roman" panose="02020603050405020304" pitchFamily="18" charset="0"/>
              <a:ea typeface="楷体_GB2312"/>
            </a:endParaRPr>
          </a:p>
          <a:p>
            <a:pPr marL="342900" lvl="0" indent="-342900">
              <a:spcBef>
                <a:spcPct val="0"/>
              </a:spcBef>
              <a:spcAft>
                <a:spcPct val="0"/>
              </a:spcAft>
              <a:buClr>
                <a:srgbClr val="CCECFF"/>
              </a:buClr>
              <a:buSzPct val="70000"/>
              <a:buNone/>
            </a:pPr>
            <a:r>
              <a:rPr lang="zh-CN" altLang="en-US" sz="2000" dirty="0">
                <a:solidFill>
                  <a:schemeClr val="tx1"/>
                </a:solidFill>
                <a:latin typeface="Times New Roman" panose="02020603050405020304" pitchFamily="18" charset="0"/>
                <a:ea typeface="楷体_GB2312"/>
              </a:rPr>
              <a:t>		</a:t>
            </a:r>
            <a:r>
              <a:rPr lang="en-US" altLang="zh-CN" sz="2000" dirty="0">
                <a:solidFill>
                  <a:schemeClr val="tx1"/>
                </a:solidFill>
                <a:latin typeface="Times New Roman" panose="02020603050405020304" pitchFamily="18" charset="0"/>
                <a:ea typeface="楷体_GB2312"/>
              </a:rPr>
              <a:t>MOV	AL, </a:t>
            </a:r>
            <a:r>
              <a:rPr lang="zh-CN" altLang="en-US" sz="2000" dirty="0">
                <a:solidFill>
                  <a:schemeClr val="tx1"/>
                </a:solidFill>
                <a:latin typeface="Times New Roman" panose="02020603050405020304" pitchFamily="18" charset="0"/>
                <a:ea typeface="楷体_GB2312"/>
              </a:rPr>
              <a:t>［</a:t>
            </a:r>
            <a:r>
              <a:rPr lang="en-US" altLang="zh-CN" sz="2000" dirty="0">
                <a:solidFill>
                  <a:schemeClr val="tx1"/>
                </a:solidFill>
                <a:latin typeface="Times New Roman" panose="02020603050405020304" pitchFamily="18" charset="0"/>
                <a:ea typeface="楷体_GB2312"/>
              </a:rPr>
              <a:t>BX+SI</a:t>
            </a:r>
            <a:r>
              <a:rPr lang="zh-CN" altLang="en-US" sz="2000" dirty="0">
                <a:solidFill>
                  <a:schemeClr val="tx1"/>
                </a:solidFill>
                <a:latin typeface="Times New Roman" panose="02020603050405020304" pitchFamily="18" charset="0"/>
                <a:ea typeface="楷体_GB2312"/>
              </a:rPr>
              <a:t>］；取</a:t>
            </a:r>
            <a:r>
              <a:rPr lang="en-US" altLang="zh-CN" sz="2000" dirty="0">
                <a:solidFill>
                  <a:schemeClr val="tx1"/>
                </a:solidFill>
                <a:latin typeface="Times New Roman" panose="02020603050405020304" pitchFamily="18" charset="0"/>
                <a:ea typeface="楷体_GB2312"/>
              </a:rPr>
              <a:t>7</a:t>
            </a:r>
            <a:r>
              <a:rPr lang="zh-CN" altLang="en-US" sz="2000" dirty="0">
                <a:solidFill>
                  <a:schemeClr val="tx1"/>
                </a:solidFill>
                <a:latin typeface="Times New Roman" panose="02020603050405020304" pitchFamily="18" charset="0"/>
                <a:ea typeface="楷体_GB2312"/>
              </a:rPr>
              <a:t>段码</a:t>
            </a:r>
            <a:endParaRPr lang="zh-CN" altLang="en-US" sz="2000" dirty="0">
              <a:solidFill>
                <a:schemeClr val="tx1"/>
              </a:solidFill>
              <a:latin typeface="Times New Roman" panose="02020603050405020304" pitchFamily="18" charset="0"/>
              <a:ea typeface="楷体_GB2312"/>
            </a:endParaRPr>
          </a:p>
          <a:p>
            <a:pPr marL="342900" lvl="0" indent="-342900">
              <a:spcBef>
                <a:spcPct val="0"/>
              </a:spcBef>
              <a:spcAft>
                <a:spcPct val="0"/>
              </a:spcAft>
              <a:buClr>
                <a:srgbClr val="CCECFF"/>
              </a:buClr>
              <a:buSzPct val="70000"/>
              <a:buNone/>
            </a:pPr>
            <a:r>
              <a:rPr lang="zh-CN" altLang="en-US" sz="2000" dirty="0">
                <a:solidFill>
                  <a:schemeClr val="tx1"/>
                </a:solidFill>
                <a:latin typeface="Times New Roman" panose="02020603050405020304" pitchFamily="18" charset="0"/>
                <a:ea typeface="楷体_GB2312"/>
              </a:rPr>
              <a:t>		</a:t>
            </a:r>
            <a:r>
              <a:rPr lang="en-US" altLang="zh-CN" sz="2000" dirty="0">
                <a:solidFill>
                  <a:schemeClr val="tx1"/>
                </a:solidFill>
                <a:latin typeface="Times New Roman" panose="02020603050405020304" pitchFamily="18" charset="0"/>
                <a:ea typeface="楷体_GB2312"/>
              </a:rPr>
              <a:t>MOV	DX, 0F0H         </a:t>
            </a:r>
            <a:r>
              <a:rPr lang="zh-CN" altLang="en-US" sz="2000" dirty="0">
                <a:solidFill>
                  <a:schemeClr val="tx1"/>
                </a:solidFill>
                <a:latin typeface="Times New Roman" panose="02020603050405020304" pitchFamily="18" charset="0"/>
                <a:ea typeface="楷体_GB2312"/>
              </a:rPr>
              <a:t>；</a:t>
            </a:r>
            <a:r>
              <a:rPr lang="en-US" altLang="zh-CN" sz="2000" dirty="0">
                <a:solidFill>
                  <a:schemeClr val="tx1"/>
                </a:solidFill>
                <a:latin typeface="Times New Roman" panose="02020603050405020304" pitchFamily="18" charset="0"/>
                <a:ea typeface="楷体_GB2312"/>
              </a:rPr>
              <a:t>7</a:t>
            </a:r>
            <a:r>
              <a:rPr lang="zh-CN" altLang="en-US" sz="2000" dirty="0">
                <a:solidFill>
                  <a:schemeClr val="tx1"/>
                </a:solidFill>
                <a:latin typeface="Times New Roman" panose="02020603050405020304" pitchFamily="18" charset="0"/>
                <a:ea typeface="楷体_GB2312"/>
              </a:rPr>
              <a:t>段数码管接口的地址为</a:t>
            </a:r>
            <a:r>
              <a:rPr lang="en-US" altLang="zh-CN" sz="2000" dirty="0">
                <a:solidFill>
                  <a:schemeClr val="tx1"/>
                </a:solidFill>
                <a:latin typeface="Times New Roman" panose="02020603050405020304" pitchFamily="18" charset="0"/>
                <a:ea typeface="楷体_GB2312"/>
              </a:rPr>
              <a:t>F0H</a:t>
            </a:r>
            <a:endParaRPr lang="en-US" altLang="zh-CN" sz="2000" dirty="0">
              <a:solidFill>
                <a:schemeClr val="tx1"/>
              </a:solidFill>
              <a:latin typeface="Times New Roman" panose="02020603050405020304" pitchFamily="18" charset="0"/>
              <a:ea typeface="楷体_GB2312"/>
            </a:endParaRPr>
          </a:p>
          <a:p>
            <a:pPr marL="342900" lvl="0" indent="-342900">
              <a:spcBef>
                <a:spcPct val="0"/>
              </a:spcBef>
              <a:spcAft>
                <a:spcPct val="0"/>
              </a:spcAft>
              <a:buClr>
                <a:srgbClr val="CCECFF"/>
              </a:buClr>
              <a:buSzPct val="70000"/>
              <a:buNone/>
            </a:pPr>
            <a:r>
              <a:rPr lang="en-US" altLang="zh-CN" sz="2000" dirty="0">
                <a:solidFill>
                  <a:schemeClr val="tx1"/>
                </a:solidFill>
                <a:latin typeface="Times New Roman" panose="02020603050405020304" pitchFamily="18" charset="0"/>
                <a:ea typeface="楷体_GB2312"/>
              </a:rPr>
              <a:t>		OUT	DX, AL</a:t>
            </a:r>
            <a:endParaRPr lang="en-US" altLang="zh-CN" sz="2000" dirty="0">
              <a:solidFill>
                <a:schemeClr val="tx1"/>
              </a:solidFill>
              <a:latin typeface="Times New Roman" panose="02020603050405020304" pitchFamily="18" charset="0"/>
              <a:ea typeface="楷体_GB2312"/>
            </a:endParaRPr>
          </a:p>
          <a:p>
            <a:pPr marL="342900" lvl="0" indent="-342900">
              <a:spcBef>
                <a:spcPct val="0"/>
              </a:spcBef>
              <a:spcAft>
                <a:spcPct val="0"/>
              </a:spcAft>
              <a:buClr>
                <a:srgbClr val="CCECFF"/>
              </a:buClr>
              <a:buSzPct val="70000"/>
              <a:buNone/>
            </a:pPr>
            <a:r>
              <a:rPr lang="en-US" altLang="zh-CN" sz="2000" dirty="0">
                <a:solidFill>
                  <a:schemeClr val="tx1"/>
                </a:solidFill>
                <a:latin typeface="Times New Roman" panose="02020603050405020304" pitchFamily="18" charset="0"/>
                <a:ea typeface="楷体_GB2312"/>
              </a:rPr>
              <a:t>		JMP	GO</a:t>
            </a:r>
            <a:endParaRPr lang="en-US" altLang="zh-CN" sz="2000" dirty="0">
              <a:solidFill>
                <a:schemeClr val="tx1"/>
              </a:solidFill>
              <a:latin typeface="Times New Roman" panose="02020603050405020304" pitchFamily="18" charset="0"/>
              <a:ea typeface="楷体_GB2312"/>
            </a:endParaRPr>
          </a:p>
        </p:txBody>
      </p:sp>
    </p:spTree>
  </p:cSld>
  <p:clrMapOvr>
    <a:masterClrMapping/>
  </p:clrMapOvr>
  <p:transition spd="slow">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16"/>
          <p:cNvSpPr txBox="1">
            <a:spLocks noGrp="1"/>
          </p:cNvSpPr>
          <p:nvPr/>
        </p:nvSpPr>
        <p:spPr>
          <a:xfrm>
            <a:off x="6858000" y="6248400"/>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eaLnBrk="1" hangingPunct="1">
              <a:lnSpc>
                <a:spcPct val="100000"/>
              </a:lnSpc>
              <a:spcBef>
                <a:spcPct val="0"/>
              </a:spcBef>
              <a:spcAft>
                <a:spcPct val="0"/>
              </a:spcAft>
              <a:buClrTx/>
              <a:buSzTx/>
              <a:buNone/>
            </a:pPr>
            <a:fld id="{9A0DB2DC-4C9A-4742-B13C-FB6460FD3503}" type="slidenum">
              <a:rPr lang="zh-CN" altLang="en-US" sz="1400" b="0" dirty="0">
                <a:solidFill>
                  <a:srgbClr val="1C1C1C"/>
                </a:solidFill>
                <a:ea typeface="楷体_GB2312"/>
              </a:rPr>
            </a:fld>
            <a:endParaRPr lang="zh-CN" altLang="en-US" sz="1400" b="0" dirty="0">
              <a:solidFill>
                <a:srgbClr val="1C1C1C"/>
              </a:solidFill>
              <a:latin typeface="Tahoma" panose="020B0604030504040204" pitchFamily="34" charset="0"/>
              <a:ea typeface="楷体_GB2312"/>
            </a:endParaRPr>
          </a:p>
        </p:txBody>
      </p:sp>
      <p:sp>
        <p:nvSpPr>
          <p:cNvPr id="137219" name="Rectangle 4"/>
          <p:cNvSpPr>
            <a:spLocks noGrp="1"/>
          </p:cNvSpPr>
          <p:nvPr>
            <p:ph type="ctrTitle" idx="4294967295"/>
          </p:nvPr>
        </p:nvSpPr>
        <p:spPr>
          <a:xfrm>
            <a:off x="990600" y="1676400"/>
            <a:ext cx="7037388" cy="1462088"/>
          </a:xfrm>
        </p:spPr>
        <p:txBody>
          <a:bodyPr vert="horz" wrap="square" lIns="91440" tIns="45720" rIns="91440" bIns="45720" anchor="b" anchorCtr="0"/>
          <a:lstStyle>
            <a:lvl1pPr lvl="0">
              <a:buClrTx/>
              <a:buSzTx/>
              <a:buFontTx/>
              <a:defRPr/>
            </a:lvl1pPr>
          </a:lstStyle>
          <a:p>
            <a:pPr lvl="0" algn="ctr" eaLnBrk="1" hangingPunct="1"/>
            <a:r>
              <a:rPr lang="en-US" altLang="zh-CN" dirty="0">
                <a:latin typeface="隶书" panose="02010509060101010101" pitchFamily="49" charset="-122"/>
              </a:rPr>
              <a:t>§6.3 </a:t>
            </a:r>
            <a:r>
              <a:rPr lang="zh-CN" altLang="en-US" dirty="0">
                <a:latin typeface="华文行楷" panose="02010800040101010101" pitchFamily="2" charset="-122"/>
                <a:ea typeface="华文行楷" panose="02010800040101010101" pitchFamily="2" charset="-122"/>
              </a:rPr>
              <a:t>基本输入</a:t>
            </a:r>
            <a:r>
              <a:rPr lang="en-US" altLang="zh-CN" dirty="0">
                <a:latin typeface="华文行楷" panose="02010800040101010101" pitchFamily="2" charset="-122"/>
                <a:ea typeface="华文行楷" panose="02010800040101010101" pitchFamily="2" charset="-122"/>
              </a:rPr>
              <a:t>/</a:t>
            </a:r>
            <a:r>
              <a:rPr lang="zh-CN" altLang="en-US" dirty="0">
                <a:latin typeface="华文行楷" panose="02010800040101010101" pitchFamily="2" charset="-122"/>
                <a:ea typeface="华文行楷" panose="02010800040101010101" pitchFamily="2" charset="-122"/>
              </a:rPr>
              <a:t>输出方法</a:t>
            </a:r>
            <a:endParaRPr lang="zh-CN" altLang="en-US" dirty="0">
              <a:latin typeface="华文行楷" panose="02010800040101010101" pitchFamily="2" charset="-122"/>
              <a:ea typeface="华文行楷" panose="02010800040101010101" pitchFamily="2" charset="-122"/>
            </a:endParaRPr>
          </a:p>
        </p:txBody>
      </p:sp>
    </p:spTree>
  </p:cSld>
  <p:clrMapOvr>
    <a:masterClrMapping/>
  </p:clrMapOvr>
  <p:transition spd="slow">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38243" name="Rectangle 2"/>
          <p:cNvSpPr>
            <a:spLocks noGrp="1"/>
          </p:cNvSpPr>
          <p:nvPr>
            <p:ph type="title" idx="4294967295"/>
          </p:nvPr>
        </p:nvSpPr>
        <p:spPr>
          <a:xfrm>
            <a:off x="1068388" y="549275"/>
            <a:ext cx="7391400" cy="1143000"/>
          </a:xfrm>
        </p:spPr>
        <p:txBody>
          <a:bodyPr vert="horz" wrap="square" lIns="91440" tIns="45720" rIns="91440" bIns="45720" anchor="b" anchorCtr="0"/>
          <a:p>
            <a:pPr eaLnBrk="1" hangingPunct="1"/>
            <a:r>
              <a:rPr lang="zh-CN" altLang="en-US" dirty="0">
                <a:latin typeface="隶书" panose="02010509060101010101" pitchFamily="49" charset="-122"/>
              </a:rPr>
              <a:t>基本输入</a:t>
            </a:r>
            <a:r>
              <a:rPr lang="en-US" altLang="zh-CN" dirty="0">
                <a:latin typeface="隶书" panose="02010509060101010101" pitchFamily="49" charset="-122"/>
              </a:rPr>
              <a:t>/</a:t>
            </a:r>
            <a:r>
              <a:rPr lang="zh-CN" altLang="en-US" dirty="0">
                <a:latin typeface="隶书" panose="02010509060101010101" pitchFamily="49" charset="-122"/>
              </a:rPr>
              <a:t>输出方法</a:t>
            </a:r>
            <a:endParaRPr lang="zh-CN" altLang="en-US" dirty="0">
              <a:latin typeface="隶书" panose="02010509060101010101" pitchFamily="49" charset="-122"/>
            </a:endParaRPr>
          </a:p>
        </p:txBody>
      </p:sp>
      <p:sp>
        <p:nvSpPr>
          <p:cNvPr id="138244" name="Rectangle 3"/>
          <p:cNvSpPr>
            <a:spLocks noGrp="1"/>
          </p:cNvSpPr>
          <p:nvPr>
            <p:ph type="body" idx="4294967295"/>
          </p:nvPr>
        </p:nvSpPr>
        <p:spPr>
          <a:xfrm>
            <a:off x="1619250" y="2352675"/>
            <a:ext cx="5943600" cy="3524250"/>
          </a:xfrm>
        </p:spPr>
        <p:txBody>
          <a:bodyPr vert="horz" wrap="square" lIns="91440" tIns="45720" rIns="91440" bIns="45720" anchor="t" anchorCtr="0"/>
          <a:p>
            <a:pPr lvl="1" eaLnBrk="1" hangingPunct="1">
              <a:lnSpc>
                <a:spcPct val="120000"/>
              </a:lnSpc>
              <a:spcAft>
                <a:spcPct val="15000"/>
              </a:spcAft>
              <a:buNone/>
            </a:pPr>
            <a:r>
              <a:rPr lang="zh-CN" altLang="en-US" sz="2800" dirty="0"/>
              <a:t>无条件传送</a:t>
            </a:r>
            <a:endParaRPr lang="zh-CN" altLang="en-US" sz="2800" dirty="0"/>
          </a:p>
          <a:p>
            <a:pPr lvl="1" eaLnBrk="1" hangingPunct="1">
              <a:lnSpc>
                <a:spcPct val="120000"/>
              </a:lnSpc>
              <a:spcAft>
                <a:spcPct val="15000"/>
              </a:spcAft>
              <a:buNone/>
            </a:pPr>
            <a:r>
              <a:rPr lang="zh-CN" altLang="en-US" sz="2800" dirty="0"/>
              <a:t>查询式传送</a:t>
            </a:r>
            <a:endParaRPr lang="zh-CN" altLang="en-US" sz="2800" dirty="0"/>
          </a:p>
          <a:p>
            <a:pPr lvl="1" eaLnBrk="1" hangingPunct="1">
              <a:lnSpc>
                <a:spcPct val="120000"/>
              </a:lnSpc>
              <a:spcAft>
                <a:spcPct val="15000"/>
              </a:spcAft>
              <a:buNone/>
            </a:pPr>
            <a:r>
              <a:rPr lang="zh-CN" altLang="en-US" sz="2800" dirty="0"/>
              <a:t>中断方式传送</a:t>
            </a:r>
            <a:endParaRPr lang="zh-CN" altLang="en-US" sz="2800" dirty="0"/>
          </a:p>
          <a:p>
            <a:pPr lvl="1" eaLnBrk="1" hangingPunct="1">
              <a:lnSpc>
                <a:spcPct val="120000"/>
              </a:lnSpc>
              <a:spcAft>
                <a:spcPct val="15000"/>
              </a:spcAft>
              <a:buNone/>
            </a:pPr>
            <a:r>
              <a:rPr lang="zh-CN" altLang="en-US" sz="2800" dirty="0"/>
              <a:t>直接存储器存取</a:t>
            </a:r>
            <a:r>
              <a:rPr lang="en-US" altLang="zh-CN" sz="2800" dirty="0"/>
              <a:t>(DMA)</a:t>
            </a:r>
            <a:endParaRPr lang="zh-CN" altLang="en-US" sz="2800" dirty="0"/>
          </a:p>
        </p:txBody>
      </p:sp>
      <p:sp>
        <p:nvSpPr>
          <p:cNvPr id="138245" name="AutoShape 4"/>
          <p:cNvSpPr/>
          <p:nvPr/>
        </p:nvSpPr>
        <p:spPr>
          <a:xfrm>
            <a:off x="1763713" y="2590800"/>
            <a:ext cx="250825" cy="2278063"/>
          </a:xfrm>
          <a:prstGeom prst="leftBrace">
            <a:avLst>
              <a:gd name="adj1" fmla="val 75181"/>
              <a:gd name="adj2" fmla="val 50000"/>
            </a:avLst>
          </a:prstGeom>
          <a:noFill/>
          <a:ln w="25400" cap="sq"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58374" name="Text Box 5"/>
          <p:cNvSpPr txBox="1"/>
          <p:nvPr/>
        </p:nvSpPr>
        <p:spPr>
          <a:xfrm>
            <a:off x="4529138" y="2708275"/>
            <a:ext cx="2663825" cy="51911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dirty="0">
                <a:solidFill>
                  <a:srgbClr val="000000"/>
                </a:solidFill>
                <a:latin typeface="Times New Roman" panose="02020603050405020304" pitchFamily="18" charset="0"/>
                <a:ea typeface="楷体_GB2312"/>
              </a:rPr>
              <a:t>程序控制方式</a:t>
            </a:r>
            <a:endParaRPr lang="zh-CN" altLang="en-US" dirty="0">
              <a:solidFill>
                <a:srgbClr val="000000"/>
              </a:solidFill>
              <a:latin typeface="Times New Roman" panose="02020603050405020304" pitchFamily="18" charset="0"/>
              <a:ea typeface="楷体_GB2312"/>
            </a:endParaRPr>
          </a:p>
        </p:txBody>
      </p:sp>
      <p:sp>
        <p:nvSpPr>
          <p:cNvPr id="58375" name="AutoShape 6"/>
          <p:cNvSpPr/>
          <p:nvPr/>
        </p:nvSpPr>
        <p:spPr>
          <a:xfrm flipH="1">
            <a:off x="4284663" y="2565400"/>
            <a:ext cx="215900" cy="836613"/>
          </a:xfrm>
          <a:prstGeom prst="leftBrace">
            <a:avLst>
              <a:gd name="adj1" fmla="val 32076"/>
              <a:gd name="adj2" fmla="val 50000"/>
            </a:avLst>
          </a:prstGeom>
          <a:noFill/>
          <a:ln w="25400" cap="sq"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8375"/>
                                        </p:tgtEl>
                                        <p:attrNameLst>
                                          <p:attrName>style.visibility</p:attrName>
                                        </p:attrNameLst>
                                      </p:cBhvr>
                                      <p:to>
                                        <p:strVal val="visible"/>
                                      </p:to>
                                    </p:set>
                                    <p:animEffect transition="in" filter="wipe(up)">
                                      <p:cBhvr>
                                        <p:cTn id="7" dur="500"/>
                                        <p:tgtEl>
                                          <p:spTgt spid="5837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8374"/>
                                        </p:tgtEl>
                                        <p:attrNameLst>
                                          <p:attrName>style.visibility</p:attrName>
                                        </p:attrNameLst>
                                      </p:cBhvr>
                                      <p:to>
                                        <p:strVal val="visible"/>
                                      </p:to>
                                    </p:set>
                                    <p:animEffect transition="in" filter="wipe(left)">
                                      <p:cBhvr>
                                        <p:cTn id="11" dur="500"/>
                                        <p:tgtEl>
                                          <p:spTgt spid="58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4" grpId="0"/>
      <p:bldP spid="5837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39267" name="Rectangle 2"/>
          <p:cNvSpPr>
            <a:spLocks noGrp="1"/>
          </p:cNvSpPr>
          <p:nvPr>
            <p:ph type="title" idx="4294967295"/>
          </p:nvPr>
        </p:nvSpPr>
        <p:spPr/>
        <p:txBody>
          <a:bodyPr vert="horz" wrap="square" lIns="91440" tIns="45720" rIns="91440" bIns="45720" anchor="b" anchorCtr="0"/>
          <a:p>
            <a:pPr eaLnBrk="1" hangingPunct="1"/>
            <a:r>
              <a:rPr lang="zh-CN" altLang="en-US" dirty="0"/>
              <a:t>一、无条件传送</a:t>
            </a:r>
            <a:endParaRPr lang="zh-CN" altLang="en-US" dirty="0"/>
          </a:p>
        </p:txBody>
      </p:sp>
      <p:sp>
        <p:nvSpPr>
          <p:cNvPr id="59396" name="Rectangle 1031"/>
          <p:cNvSpPr txBox="1"/>
          <p:nvPr/>
        </p:nvSpPr>
        <p:spPr>
          <a:xfrm>
            <a:off x="900113" y="2235200"/>
            <a:ext cx="7632700" cy="935038"/>
          </a:xfrm>
          <a:prstGeom prst="rect">
            <a:avLst/>
          </a:prstGeom>
          <a:noFill/>
          <a:ln w="9525">
            <a:noFill/>
          </a:ln>
        </p:spPr>
        <p:txBody>
          <a:bodyPr lIns="57600" tIns="46038" rIns="57600" bIns="46038"/>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spcBef>
                <a:spcPct val="0"/>
              </a:spcBef>
              <a:buClr>
                <a:srgbClr val="660066"/>
              </a:buClr>
              <a:buSzTx/>
              <a:buFont typeface="Wingdings" panose="05000000000000000000" pitchFamily="2" charset="2"/>
              <a:buChar char="Ø"/>
            </a:pPr>
            <a:r>
              <a:rPr lang="zh-CN" altLang="en-US" sz="2400" dirty="0">
                <a:latin typeface="Tahoma" panose="020B0604030504040204" pitchFamily="34" charset="0"/>
                <a:ea typeface="黑体" panose="02010609060101010101" pitchFamily="49" charset="-122"/>
              </a:rPr>
              <a:t>适用于总是</a:t>
            </a:r>
            <a:r>
              <a:rPr lang="zh-CN" altLang="en-US" sz="2400" dirty="0">
                <a:solidFill>
                  <a:srgbClr val="FF0000"/>
                </a:solidFill>
                <a:latin typeface="Tahoma" panose="020B0604030504040204" pitchFamily="34" charset="0"/>
                <a:ea typeface="黑体" panose="02010609060101010101" pitchFamily="49" charset="-122"/>
              </a:rPr>
              <a:t>处于准备好状态</a:t>
            </a:r>
            <a:r>
              <a:rPr lang="zh-CN" altLang="en-US" sz="2400" dirty="0">
                <a:latin typeface="Tahoma" panose="020B0604030504040204" pitchFamily="34" charset="0"/>
                <a:ea typeface="黑体" panose="02010609060101010101" pitchFamily="49" charset="-122"/>
              </a:rPr>
              <a:t>的外设，输入输出指令的执行就是数据传送过程；</a:t>
            </a:r>
            <a:endParaRPr lang="zh-CN" altLang="en-US" sz="2400" dirty="0">
              <a:latin typeface="Tahoma" panose="020B0604030504040204" pitchFamily="34" charset="0"/>
              <a:ea typeface="黑体" panose="02010609060101010101" pitchFamily="49" charset="-122"/>
            </a:endParaRPr>
          </a:p>
        </p:txBody>
      </p:sp>
      <p:sp>
        <p:nvSpPr>
          <p:cNvPr id="59397" name="Rectangle 1032"/>
          <p:cNvSpPr/>
          <p:nvPr/>
        </p:nvSpPr>
        <p:spPr>
          <a:xfrm>
            <a:off x="900113" y="3098800"/>
            <a:ext cx="7297737" cy="2238375"/>
          </a:xfrm>
          <a:prstGeom prst="rect">
            <a:avLst/>
          </a:prstGeom>
          <a:noFill/>
          <a:ln w="9525">
            <a:noFill/>
          </a:ln>
        </p:spPr>
        <p:txBody>
          <a:bodyPr lIns="92075" tIns="46038" rIns="92075" bIns="46038"/>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spcBef>
                <a:spcPct val="10000"/>
              </a:spcBef>
              <a:spcAft>
                <a:spcPct val="0"/>
              </a:spcAft>
              <a:buClr>
                <a:srgbClr val="660066"/>
              </a:buClr>
              <a:buSzTx/>
              <a:buFont typeface="Wingdings" panose="05000000000000000000" pitchFamily="2" charset="2"/>
              <a:buChar char="Ø"/>
            </a:pPr>
            <a:r>
              <a:rPr lang="zh-CN" altLang="en-US" sz="2400" dirty="0">
                <a:solidFill>
                  <a:schemeClr val="tx1"/>
                </a:solidFill>
                <a:latin typeface="Times New Roman" panose="02020603050405020304" pitchFamily="18" charset="0"/>
                <a:ea typeface="楷体_GB2312"/>
              </a:rPr>
              <a:t>以下外设可采用无条件传送方式：</a:t>
            </a:r>
            <a:endParaRPr lang="zh-CN" altLang="en-US" sz="2400" dirty="0">
              <a:solidFill>
                <a:schemeClr val="tx1"/>
              </a:solidFill>
              <a:latin typeface="Times New Roman" panose="02020603050405020304" pitchFamily="18" charset="0"/>
              <a:ea typeface="楷体_GB2312"/>
            </a:endParaRPr>
          </a:p>
          <a:p>
            <a:pPr marL="742950" lvl="1" indent="-285750" eaLnBrk="1" hangingPunct="1">
              <a:spcBef>
                <a:spcPct val="10000"/>
              </a:spcBef>
              <a:spcAft>
                <a:spcPct val="0"/>
              </a:spcAft>
              <a:buClr>
                <a:schemeClr val="tx1"/>
              </a:buClr>
              <a:buSzTx/>
              <a:buNone/>
            </a:pPr>
            <a:r>
              <a:rPr lang="zh-CN" altLang="en-US" i="1" dirty="0">
                <a:solidFill>
                  <a:srgbClr val="CC00CC"/>
                </a:solidFill>
                <a:latin typeface="Times New Roman" panose="02020603050405020304" pitchFamily="18" charset="0"/>
                <a:ea typeface="楷体_GB2312"/>
                <a:sym typeface="Wingdings" panose="05000000000000000000" pitchFamily="2" charset="2"/>
              </a:rPr>
              <a:t></a:t>
            </a:r>
            <a:r>
              <a:rPr lang="zh-CN" altLang="en-US" i="1" dirty="0">
                <a:latin typeface="Times New Roman" panose="02020603050405020304" pitchFamily="18" charset="0"/>
                <a:ea typeface="楷体_GB2312"/>
              </a:rPr>
              <a:t>开关；</a:t>
            </a:r>
            <a:endParaRPr lang="zh-CN" altLang="en-US" i="1" dirty="0">
              <a:latin typeface="Times New Roman" panose="02020603050405020304" pitchFamily="18" charset="0"/>
              <a:ea typeface="楷体_GB2312"/>
            </a:endParaRPr>
          </a:p>
          <a:p>
            <a:pPr marL="742950" lvl="1" indent="-285750" eaLnBrk="1" hangingPunct="1">
              <a:spcBef>
                <a:spcPct val="10000"/>
              </a:spcBef>
              <a:spcAft>
                <a:spcPct val="0"/>
              </a:spcAft>
              <a:buClr>
                <a:schemeClr val="tx1"/>
              </a:buClr>
              <a:buSzTx/>
              <a:buNone/>
            </a:pPr>
            <a:r>
              <a:rPr lang="zh-CN" altLang="en-US" i="1" dirty="0">
                <a:solidFill>
                  <a:srgbClr val="CC00CC"/>
                </a:solidFill>
                <a:ea typeface="楷体_GB2312"/>
                <a:sym typeface="Wingdings" panose="05000000000000000000" pitchFamily="2" charset="2"/>
              </a:rPr>
              <a:t></a:t>
            </a:r>
            <a:r>
              <a:rPr lang="zh-CN" altLang="en-US" i="1" dirty="0">
                <a:latin typeface="Times New Roman" panose="02020603050405020304" pitchFamily="18" charset="0"/>
                <a:ea typeface="楷体_GB2312"/>
              </a:rPr>
              <a:t>发光器件</a:t>
            </a:r>
            <a:r>
              <a:rPr lang="en-US" altLang="zh-CN" i="1" dirty="0">
                <a:latin typeface="Times New Roman" panose="02020603050405020304" pitchFamily="18" charset="0"/>
                <a:ea typeface="楷体_GB2312"/>
              </a:rPr>
              <a:t>(</a:t>
            </a:r>
            <a:r>
              <a:rPr lang="zh-CN" altLang="en-US" i="1" dirty="0">
                <a:latin typeface="Times New Roman" panose="02020603050405020304" pitchFamily="18" charset="0"/>
                <a:ea typeface="楷体_GB2312"/>
              </a:rPr>
              <a:t>发光二极管、</a:t>
            </a:r>
            <a:r>
              <a:rPr lang="en-US" altLang="zh-CN" i="1" dirty="0">
                <a:latin typeface="Times New Roman" panose="02020603050405020304" pitchFamily="18" charset="0"/>
                <a:ea typeface="楷体_GB2312"/>
              </a:rPr>
              <a:t>7</a:t>
            </a:r>
            <a:r>
              <a:rPr lang="zh-CN" altLang="en-US" i="1" dirty="0">
                <a:latin typeface="Times New Roman" panose="02020603050405020304" pitchFamily="18" charset="0"/>
                <a:ea typeface="楷体_GB2312"/>
              </a:rPr>
              <a:t>段数码管、灯泡等</a:t>
            </a:r>
            <a:r>
              <a:rPr lang="en-US" altLang="zh-CN" i="1" dirty="0">
                <a:latin typeface="Times New Roman" panose="02020603050405020304" pitchFamily="18" charset="0"/>
                <a:ea typeface="楷体_GB2312"/>
              </a:rPr>
              <a:t>)</a:t>
            </a:r>
            <a:r>
              <a:rPr lang="zh-CN" altLang="en-US" i="1" dirty="0">
                <a:latin typeface="Times New Roman" panose="02020603050405020304" pitchFamily="18" charset="0"/>
                <a:ea typeface="楷体_GB2312"/>
              </a:rPr>
              <a:t>；</a:t>
            </a:r>
            <a:endParaRPr lang="zh-CN" altLang="en-US" i="1" dirty="0">
              <a:latin typeface="Times New Roman" panose="02020603050405020304" pitchFamily="18" charset="0"/>
              <a:ea typeface="楷体_GB2312"/>
            </a:endParaRPr>
          </a:p>
          <a:p>
            <a:pPr marL="742950" lvl="1" indent="-285750" eaLnBrk="1" hangingPunct="1">
              <a:spcBef>
                <a:spcPct val="10000"/>
              </a:spcBef>
              <a:spcAft>
                <a:spcPct val="0"/>
              </a:spcAft>
              <a:buClr>
                <a:schemeClr val="tx1"/>
              </a:buClr>
              <a:buSzTx/>
              <a:buNone/>
            </a:pPr>
            <a:r>
              <a:rPr lang="zh-CN" altLang="en-US" i="1" dirty="0">
                <a:solidFill>
                  <a:srgbClr val="CC00CC"/>
                </a:solidFill>
                <a:ea typeface="楷体_GB2312"/>
                <a:sym typeface="Wingdings" panose="05000000000000000000" pitchFamily="2" charset="2"/>
              </a:rPr>
              <a:t></a:t>
            </a:r>
            <a:r>
              <a:rPr lang="zh-CN" altLang="en-US" i="1" dirty="0">
                <a:latin typeface="Times New Roman" panose="02020603050405020304" pitchFamily="18" charset="0"/>
                <a:ea typeface="楷体_GB2312"/>
              </a:rPr>
              <a:t>继电器；</a:t>
            </a:r>
            <a:endParaRPr lang="zh-CN" altLang="en-US" i="1" dirty="0">
              <a:latin typeface="Times New Roman" panose="02020603050405020304" pitchFamily="18" charset="0"/>
              <a:ea typeface="楷体_GB2312"/>
            </a:endParaRPr>
          </a:p>
          <a:p>
            <a:pPr marL="742950" lvl="1" indent="-285750" eaLnBrk="1" hangingPunct="1">
              <a:spcBef>
                <a:spcPct val="10000"/>
              </a:spcBef>
              <a:spcAft>
                <a:spcPct val="0"/>
              </a:spcAft>
              <a:buClr>
                <a:schemeClr val="tx1"/>
              </a:buClr>
              <a:buSzTx/>
              <a:buNone/>
            </a:pPr>
            <a:r>
              <a:rPr lang="zh-CN" altLang="en-US" i="1" dirty="0">
                <a:solidFill>
                  <a:srgbClr val="CC00CC"/>
                </a:solidFill>
                <a:ea typeface="楷体_GB2312"/>
                <a:sym typeface="Wingdings" panose="05000000000000000000" pitchFamily="2" charset="2"/>
              </a:rPr>
              <a:t></a:t>
            </a:r>
            <a:r>
              <a:rPr lang="zh-CN" altLang="en-US" i="1" dirty="0">
                <a:latin typeface="Times New Roman" panose="02020603050405020304" pitchFamily="18" charset="0"/>
                <a:ea typeface="楷体_GB2312"/>
              </a:rPr>
              <a:t>步进电机。</a:t>
            </a:r>
            <a:endParaRPr lang="zh-CN" altLang="en-US" i="1" dirty="0">
              <a:latin typeface="Times New Roman" panose="02020603050405020304" pitchFamily="18" charset="0"/>
              <a:ea typeface="楷体_GB2312"/>
            </a:endParaRPr>
          </a:p>
        </p:txBody>
      </p:sp>
      <p:sp>
        <p:nvSpPr>
          <p:cNvPr id="59398" name="Rectangle 1033"/>
          <p:cNvSpPr/>
          <p:nvPr/>
        </p:nvSpPr>
        <p:spPr>
          <a:xfrm>
            <a:off x="1044575" y="5330825"/>
            <a:ext cx="6408738" cy="930275"/>
          </a:xfrm>
          <a:prstGeom prst="rect">
            <a:avLst/>
          </a:prstGeom>
          <a:noFill/>
          <a:ln w="9525">
            <a:noFill/>
          </a:ln>
        </p:spPr>
        <p:txBody>
          <a:bodyPr lIns="92075" tIns="46038" rIns="92075" bIns="46038"/>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spcAft>
                <a:spcPct val="0"/>
              </a:spcAft>
              <a:buClr>
                <a:srgbClr val="660066"/>
              </a:buClr>
              <a:buSzTx/>
              <a:buFont typeface="Wingdings" panose="05000000000000000000" pitchFamily="2" charset="2"/>
              <a:buChar char="Ø"/>
            </a:pPr>
            <a:r>
              <a:rPr lang="zh-CN" altLang="en-US" sz="2400" dirty="0">
                <a:solidFill>
                  <a:schemeClr val="tx1"/>
                </a:solidFill>
                <a:latin typeface="Times New Roman" panose="02020603050405020304" pitchFamily="18" charset="0"/>
                <a:ea typeface="楷体_GB2312"/>
              </a:rPr>
              <a:t>优点：软件及接口硬件简单；</a:t>
            </a:r>
            <a:endParaRPr lang="zh-CN" altLang="en-US" sz="2400" dirty="0">
              <a:solidFill>
                <a:schemeClr val="tx1"/>
              </a:solidFill>
              <a:latin typeface="Times New Roman" panose="02020603050405020304" pitchFamily="18" charset="0"/>
              <a:ea typeface="楷体_GB2312"/>
            </a:endParaRPr>
          </a:p>
          <a:p>
            <a:pPr marL="342900" lvl="0" indent="-342900">
              <a:spcAft>
                <a:spcPct val="0"/>
              </a:spcAft>
              <a:buClr>
                <a:srgbClr val="660066"/>
              </a:buClr>
              <a:buSzTx/>
              <a:buFont typeface="Wingdings" panose="05000000000000000000" pitchFamily="2" charset="2"/>
              <a:buChar char="Ø"/>
            </a:pPr>
            <a:r>
              <a:rPr lang="zh-CN" altLang="en-US" sz="2400" dirty="0">
                <a:solidFill>
                  <a:schemeClr val="tx1"/>
                </a:solidFill>
                <a:latin typeface="Times New Roman" panose="02020603050405020304" pitchFamily="18" charset="0"/>
                <a:ea typeface="楷体_GB2312"/>
              </a:rPr>
              <a:t>缺点：只适用于简单外设，适应范围较窄。</a:t>
            </a:r>
            <a:endParaRPr lang="zh-CN" altLang="en-US" sz="2400" dirty="0">
              <a:solidFill>
                <a:schemeClr val="tx1"/>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396">
                                            <p:txEl>
                                              <p:charRg st="0" end="35"/>
                                            </p:txEl>
                                          </p:spTgt>
                                        </p:tgtEl>
                                        <p:attrNameLst>
                                          <p:attrName>style.visibility</p:attrName>
                                        </p:attrNameLst>
                                      </p:cBhvr>
                                      <p:to>
                                        <p:strVal val="visible"/>
                                      </p:to>
                                    </p:set>
                                    <p:anim calcmode="lin" valueType="num">
                                      <p:cBhvr>
                                        <p:cTn id="7" dur="500" fill="hold"/>
                                        <p:tgtEl>
                                          <p:spTgt spid="59396">
                                            <p:txEl>
                                              <p:charRg st="0" end="35"/>
                                            </p:txEl>
                                          </p:spTgt>
                                        </p:tgtEl>
                                        <p:attrNameLst>
                                          <p:attrName>ppt_x</p:attrName>
                                        </p:attrNameLst>
                                      </p:cBhvr>
                                      <p:tavLst>
                                        <p:tav tm="0">
                                          <p:val>
                                            <p:strVal val="0-#ppt_w/2"/>
                                          </p:val>
                                        </p:tav>
                                        <p:tav tm="100000">
                                          <p:val>
                                            <p:strVal val="#ppt_x"/>
                                          </p:val>
                                        </p:tav>
                                      </p:tavLst>
                                    </p:anim>
                                    <p:anim calcmode="lin" valueType="num">
                                      <p:cBhvr>
                                        <p:cTn id="8" dur="500" fill="hold"/>
                                        <p:tgtEl>
                                          <p:spTgt spid="59396">
                                            <p:txEl>
                                              <p:charRg st="0" end="3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9397"/>
                                        </p:tgtEl>
                                        <p:attrNameLst>
                                          <p:attrName>style.visibility</p:attrName>
                                        </p:attrNameLst>
                                      </p:cBhvr>
                                      <p:to>
                                        <p:strVal val="visible"/>
                                      </p:to>
                                    </p:set>
                                    <p:anim calcmode="lin" valueType="num">
                                      <p:cBhvr>
                                        <p:cTn id="13" dur="500" fill="hold"/>
                                        <p:tgtEl>
                                          <p:spTgt spid="59397"/>
                                        </p:tgtEl>
                                        <p:attrNameLst>
                                          <p:attrName>ppt_x</p:attrName>
                                        </p:attrNameLst>
                                      </p:cBhvr>
                                      <p:tavLst>
                                        <p:tav tm="0">
                                          <p:val>
                                            <p:strVal val="0-#ppt_w/2"/>
                                          </p:val>
                                        </p:tav>
                                        <p:tav tm="100000">
                                          <p:val>
                                            <p:strVal val="#ppt_x"/>
                                          </p:val>
                                        </p:tav>
                                      </p:tavLst>
                                    </p:anim>
                                    <p:anim calcmode="lin" valueType="num">
                                      <p:cBhvr>
                                        <p:cTn id="14" dur="500" fill="hold"/>
                                        <p:tgtEl>
                                          <p:spTgt spid="5939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9398"/>
                                        </p:tgtEl>
                                        <p:attrNameLst>
                                          <p:attrName>style.visibility</p:attrName>
                                        </p:attrNameLst>
                                      </p:cBhvr>
                                      <p:to>
                                        <p:strVal val="visible"/>
                                      </p:to>
                                    </p:set>
                                    <p:anim calcmode="lin" valueType="num">
                                      <p:cBhvr>
                                        <p:cTn id="19" dur="500" fill="hold"/>
                                        <p:tgtEl>
                                          <p:spTgt spid="59398"/>
                                        </p:tgtEl>
                                        <p:attrNameLst>
                                          <p:attrName>ppt_x</p:attrName>
                                        </p:attrNameLst>
                                      </p:cBhvr>
                                      <p:tavLst>
                                        <p:tav tm="0">
                                          <p:val>
                                            <p:strVal val="0-#ppt_w/2"/>
                                          </p:val>
                                        </p:tav>
                                        <p:tav tm="100000">
                                          <p:val>
                                            <p:strVal val="#ppt_x"/>
                                          </p:val>
                                        </p:tav>
                                      </p:tavLst>
                                    </p:anim>
                                    <p:anim calcmode="lin" valueType="num">
                                      <p:cBhvr>
                                        <p:cTn id="20" dur="500" fill="hold"/>
                                        <p:tgtEl>
                                          <p:spTgt spid="593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build="p"/>
      <p:bldP spid="59397" grpId="0"/>
      <p:bldP spid="5939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40291" name="Rectangle 2"/>
          <p:cNvSpPr>
            <a:spLocks noGrp="1"/>
          </p:cNvSpPr>
          <p:nvPr>
            <p:ph type="title" idx="4294967295"/>
          </p:nvPr>
        </p:nvSpPr>
        <p:spPr/>
        <p:txBody>
          <a:bodyPr vert="horz" wrap="square" lIns="91440" tIns="45720" rIns="91440" bIns="45720" anchor="b" anchorCtr="0"/>
          <a:p>
            <a:pPr eaLnBrk="1" hangingPunct="1"/>
            <a:r>
              <a:rPr lang="zh-CN" altLang="en-US" dirty="0"/>
              <a:t>无条件传送例</a:t>
            </a:r>
            <a:endParaRPr lang="zh-CN" altLang="en-US" dirty="0"/>
          </a:p>
        </p:txBody>
      </p:sp>
      <p:sp>
        <p:nvSpPr>
          <p:cNvPr id="140292" name="Rectangle 3"/>
          <p:cNvSpPr>
            <a:spLocks noGrp="1"/>
          </p:cNvSpPr>
          <p:nvPr>
            <p:ph type="body" idx="4294967295"/>
          </p:nvPr>
        </p:nvSpPr>
        <p:spPr>
          <a:xfrm>
            <a:off x="1182688" y="2017713"/>
            <a:ext cx="7342187" cy="3505200"/>
          </a:xfrm>
        </p:spPr>
        <p:txBody>
          <a:bodyPr vert="horz" wrap="square" lIns="91440" tIns="45720" rIns="91440" bIns="45720" anchor="t" anchorCtr="0"/>
          <a:p>
            <a:pPr eaLnBrk="1" hangingPunct="1">
              <a:lnSpc>
                <a:spcPct val="125000"/>
              </a:lnSpc>
            </a:pPr>
            <a:r>
              <a:rPr lang="zh-CN" altLang="en-US" dirty="0"/>
              <a:t>读取开关的状态；</a:t>
            </a:r>
            <a:endParaRPr lang="zh-CN" altLang="en-US" dirty="0"/>
          </a:p>
          <a:p>
            <a:pPr eaLnBrk="1" hangingPunct="1">
              <a:lnSpc>
                <a:spcPct val="125000"/>
              </a:lnSpc>
            </a:pPr>
            <a:r>
              <a:rPr lang="zh-CN" altLang="en-US" dirty="0"/>
              <a:t>当开关闭合时，输出编码使发光二极管亮。</a:t>
            </a:r>
            <a:endParaRPr lang="zh-CN" altLang="en-US" dirty="0"/>
          </a:p>
        </p:txBody>
      </p:sp>
    </p:spTree>
  </p:cSld>
  <p:clrMapOvr>
    <a:masterClrMapping/>
  </p:clrMapOvr>
  <p:transition spd="slow">
    <p:zo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AutoShape 4"/>
          <p:cNvSpPr/>
          <p:nvPr/>
        </p:nvSpPr>
        <p:spPr>
          <a:xfrm rot="-5386489">
            <a:off x="4305300" y="4151313"/>
            <a:ext cx="533400" cy="609600"/>
          </a:xfrm>
          <a:prstGeom prst="triangle">
            <a:avLst>
              <a:gd name="adj" fmla="val 50000"/>
            </a:avLst>
          </a:prstGeom>
          <a:solidFill>
            <a:srgbClr val="FF6600"/>
          </a:solidFill>
          <a:ln w="25400" cap="sq"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1315" name="Line 5"/>
          <p:cNvSpPr/>
          <p:nvPr/>
        </p:nvSpPr>
        <p:spPr>
          <a:xfrm>
            <a:off x="4600575" y="4710113"/>
            <a:ext cx="0" cy="609600"/>
          </a:xfrm>
          <a:prstGeom prst="line">
            <a:avLst/>
          </a:prstGeom>
          <a:ln w="25400" cap="sq" cmpd="sng">
            <a:solidFill>
              <a:srgbClr val="FF6600"/>
            </a:solidFill>
            <a:prstDash val="solid"/>
            <a:bevel/>
            <a:headEnd type="none" w="med" len="med"/>
            <a:tailEnd type="none" w="med" len="med"/>
          </a:ln>
        </p:spPr>
      </p:sp>
      <p:sp>
        <p:nvSpPr>
          <p:cNvPr id="141316" name="Oval 6"/>
          <p:cNvSpPr/>
          <p:nvPr/>
        </p:nvSpPr>
        <p:spPr>
          <a:xfrm>
            <a:off x="4522788" y="4592638"/>
            <a:ext cx="144462" cy="142875"/>
          </a:xfrm>
          <a:prstGeom prst="ellipse">
            <a:avLst/>
          </a:prstGeom>
          <a:solidFill>
            <a:srgbClr val="339966"/>
          </a:solidFill>
          <a:ln w="25400" cap="sq" cmpd="sng">
            <a:solidFill>
              <a:srgbClr val="339966"/>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1317" name="Line 7"/>
          <p:cNvSpPr/>
          <p:nvPr/>
        </p:nvSpPr>
        <p:spPr>
          <a:xfrm flipH="1">
            <a:off x="3419475" y="4467225"/>
            <a:ext cx="838200" cy="0"/>
          </a:xfrm>
          <a:prstGeom prst="line">
            <a:avLst/>
          </a:prstGeom>
          <a:ln w="25400" cap="sq" cmpd="sng">
            <a:solidFill>
              <a:srgbClr val="FF6600"/>
            </a:solidFill>
            <a:prstDash val="solid"/>
            <a:bevel/>
            <a:headEnd type="none" w="med" len="med"/>
            <a:tailEnd type="triangle" w="med" len="med"/>
          </a:ln>
        </p:spPr>
      </p:sp>
      <p:sp>
        <p:nvSpPr>
          <p:cNvPr id="141318" name="Line 8"/>
          <p:cNvSpPr/>
          <p:nvPr/>
        </p:nvSpPr>
        <p:spPr>
          <a:xfrm flipH="1">
            <a:off x="4876800" y="4419600"/>
            <a:ext cx="838200" cy="0"/>
          </a:xfrm>
          <a:prstGeom prst="line">
            <a:avLst/>
          </a:prstGeom>
          <a:ln w="25400" cap="sq" cmpd="sng">
            <a:solidFill>
              <a:srgbClr val="FF6600"/>
            </a:solidFill>
            <a:prstDash val="solid"/>
            <a:bevel/>
            <a:headEnd type="none" w="med" len="med"/>
            <a:tailEnd type="triangle" w="lg" len="lg"/>
          </a:ln>
        </p:spPr>
      </p:sp>
      <p:sp>
        <p:nvSpPr>
          <p:cNvPr id="141319" name="Rectangle 9"/>
          <p:cNvSpPr/>
          <p:nvPr/>
        </p:nvSpPr>
        <p:spPr>
          <a:xfrm>
            <a:off x="3476625" y="2771775"/>
            <a:ext cx="990600" cy="11430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1320" name="Line 10"/>
          <p:cNvSpPr/>
          <p:nvPr/>
        </p:nvSpPr>
        <p:spPr>
          <a:xfrm flipH="1">
            <a:off x="2638425" y="3076575"/>
            <a:ext cx="838200" cy="0"/>
          </a:xfrm>
          <a:prstGeom prst="line">
            <a:avLst/>
          </a:prstGeom>
          <a:ln w="25400" cap="sq" cmpd="sng">
            <a:solidFill>
              <a:srgbClr val="FF6600"/>
            </a:solidFill>
            <a:prstDash val="solid"/>
            <a:bevel/>
            <a:headEnd type="triangle" w="med" len="med"/>
            <a:tailEnd type="none" w="med" len="med"/>
          </a:ln>
        </p:spPr>
      </p:sp>
      <p:sp>
        <p:nvSpPr>
          <p:cNvPr id="141321" name="Line 11"/>
          <p:cNvSpPr/>
          <p:nvPr/>
        </p:nvSpPr>
        <p:spPr>
          <a:xfrm flipH="1">
            <a:off x="4467225" y="3076575"/>
            <a:ext cx="838200" cy="0"/>
          </a:xfrm>
          <a:prstGeom prst="line">
            <a:avLst/>
          </a:prstGeom>
          <a:ln w="25400" cap="sq" cmpd="sng">
            <a:solidFill>
              <a:srgbClr val="FF6600"/>
            </a:solidFill>
            <a:prstDash val="solid"/>
            <a:bevel/>
            <a:headEnd type="none" w="med" len="med"/>
            <a:tailEnd type="none" w="med" len="med"/>
          </a:ln>
        </p:spPr>
      </p:sp>
      <p:sp>
        <p:nvSpPr>
          <p:cNvPr id="141322" name="Rectangle 12"/>
          <p:cNvSpPr/>
          <p:nvPr/>
        </p:nvSpPr>
        <p:spPr>
          <a:xfrm>
            <a:off x="5305425" y="2771775"/>
            <a:ext cx="457200" cy="609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1323" name="Oval 13"/>
          <p:cNvSpPr/>
          <p:nvPr/>
        </p:nvSpPr>
        <p:spPr>
          <a:xfrm>
            <a:off x="5762625" y="3000375"/>
            <a:ext cx="152400" cy="152400"/>
          </a:xfrm>
          <a:prstGeom prst="ellipse">
            <a:avLst/>
          </a:prstGeom>
          <a:solidFill>
            <a:srgbClr val="339966"/>
          </a:solidFill>
          <a:ln w="25400" cap="sq" cmpd="sng">
            <a:solidFill>
              <a:srgbClr val="339966"/>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1324" name="Line 14"/>
          <p:cNvSpPr/>
          <p:nvPr/>
        </p:nvSpPr>
        <p:spPr>
          <a:xfrm flipH="1">
            <a:off x="5915025" y="3076575"/>
            <a:ext cx="838200" cy="0"/>
          </a:xfrm>
          <a:prstGeom prst="line">
            <a:avLst/>
          </a:prstGeom>
          <a:ln w="25400" cap="sq" cmpd="sng">
            <a:solidFill>
              <a:srgbClr val="FF6600"/>
            </a:solidFill>
            <a:prstDash val="solid"/>
            <a:bevel/>
            <a:headEnd type="none" w="med" len="med"/>
            <a:tailEnd type="none" w="med" len="med"/>
          </a:ln>
        </p:spPr>
      </p:sp>
      <p:sp>
        <p:nvSpPr>
          <p:cNvPr id="141325" name="Rectangle 15"/>
          <p:cNvSpPr/>
          <p:nvPr/>
        </p:nvSpPr>
        <p:spPr>
          <a:xfrm>
            <a:off x="6677025" y="1247775"/>
            <a:ext cx="152400" cy="6858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1326" name="AutoShape 16"/>
          <p:cNvSpPr/>
          <p:nvPr/>
        </p:nvSpPr>
        <p:spPr>
          <a:xfrm rot="-10708236">
            <a:off x="6477000" y="2343150"/>
            <a:ext cx="533400" cy="381000"/>
          </a:xfrm>
          <a:prstGeom prst="triangle">
            <a:avLst>
              <a:gd name="adj" fmla="val 50000"/>
            </a:avLst>
          </a:prstGeom>
          <a:solidFill>
            <a:srgbClr val="FF6600"/>
          </a:solidFill>
          <a:ln w="25400" cap="sq"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1327" name="Line 17"/>
          <p:cNvSpPr/>
          <p:nvPr/>
        </p:nvSpPr>
        <p:spPr>
          <a:xfrm>
            <a:off x="6753225" y="2619375"/>
            <a:ext cx="0" cy="457200"/>
          </a:xfrm>
          <a:prstGeom prst="line">
            <a:avLst/>
          </a:prstGeom>
          <a:ln w="25400" cap="sq" cmpd="sng">
            <a:solidFill>
              <a:srgbClr val="FF6600"/>
            </a:solidFill>
            <a:prstDash val="solid"/>
            <a:bevel/>
            <a:headEnd type="none" w="med" len="med"/>
            <a:tailEnd type="none" w="med" len="med"/>
          </a:ln>
        </p:spPr>
      </p:sp>
      <p:sp>
        <p:nvSpPr>
          <p:cNvPr id="141328" name="Line 18"/>
          <p:cNvSpPr/>
          <p:nvPr/>
        </p:nvSpPr>
        <p:spPr>
          <a:xfrm>
            <a:off x="6753225" y="1962150"/>
            <a:ext cx="0" cy="381000"/>
          </a:xfrm>
          <a:prstGeom prst="line">
            <a:avLst/>
          </a:prstGeom>
          <a:ln w="25400" cap="sq" cmpd="sng">
            <a:solidFill>
              <a:srgbClr val="FF6600"/>
            </a:solidFill>
            <a:prstDash val="solid"/>
            <a:bevel/>
            <a:headEnd type="none" w="med" len="med"/>
            <a:tailEnd type="none" w="med" len="med"/>
          </a:ln>
        </p:spPr>
      </p:sp>
      <p:sp>
        <p:nvSpPr>
          <p:cNvPr id="141329" name="Line 19"/>
          <p:cNvSpPr/>
          <p:nvPr/>
        </p:nvSpPr>
        <p:spPr>
          <a:xfrm>
            <a:off x="6753225" y="838200"/>
            <a:ext cx="0" cy="381000"/>
          </a:xfrm>
          <a:prstGeom prst="line">
            <a:avLst/>
          </a:prstGeom>
          <a:ln w="25400" cap="sq" cmpd="sng">
            <a:solidFill>
              <a:srgbClr val="FF6600"/>
            </a:solidFill>
            <a:prstDash val="solid"/>
            <a:bevel/>
            <a:headEnd type="none" w="med" len="med"/>
            <a:tailEnd type="none" w="med" len="med"/>
          </a:ln>
        </p:spPr>
      </p:sp>
      <p:sp>
        <p:nvSpPr>
          <p:cNvPr id="141330" name="Line 20"/>
          <p:cNvSpPr/>
          <p:nvPr/>
        </p:nvSpPr>
        <p:spPr>
          <a:xfrm>
            <a:off x="5743575" y="4467225"/>
            <a:ext cx="0" cy="304800"/>
          </a:xfrm>
          <a:prstGeom prst="line">
            <a:avLst/>
          </a:prstGeom>
          <a:ln w="25400" cap="sq" cmpd="sng">
            <a:solidFill>
              <a:srgbClr val="FF6600"/>
            </a:solidFill>
            <a:prstDash val="solid"/>
            <a:bevel/>
            <a:headEnd type="none" w="med" len="med"/>
            <a:tailEnd type="none" w="med" len="med"/>
          </a:ln>
        </p:spPr>
      </p:sp>
      <p:sp>
        <p:nvSpPr>
          <p:cNvPr id="141331" name="Line 21"/>
          <p:cNvSpPr/>
          <p:nvPr/>
        </p:nvSpPr>
        <p:spPr>
          <a:xfrm>
            <a:off x="5543550" y="4772025"/>
            <a:ext cx="381000" cy="0"/>
          </a:xfrm>
          <a:prstGeom prst="line">
            <a:avLst/>
          </a:prstGeom>
          <a:ln w="25400" cap="sq" cmpd="sng">
            <a:solidFill>
              <a:srgbClr val="FF6600"/>
            </a:solidFill>
            <a:prstDash val="solid"/>
            <a:bevel/>
            <a:headEnd type="none" w="med" len="med"/>
            <a:tailEnd type="none" w="med" len="med"/>
          </a:ln>
        </p:spPr>
      </p:sp>
      <p:sp>
        <p:nvSpPr>
          <p:cNvPr id="141332" name="Line 22"/>
          <p:cNvSpPr/>
          <p:nvPr/>
        </p:nvSpPr>
        <p:spPr>
          <a:xfrm>
            <a:off x="5543550" y="4924425"/>
            <a:ext cx="381000" cy="0"/>
          </a:xfrm>
          <a:prstGeom prst="line">
            <a:avLst/>
          </a:prstGeom>
          <a:ln w="25400" cap="sq" cmpd="sng">
            <a:solidFill>
              <a:srgbClr val="FF6600"/>
            </a:solidFill>
            <a:prstDash val="solid"/>
            <a:bevel/>
            <a:headEnd type="none" w="med" len="med"/>
            <a:tailEnd type="none" w="med" len="med"/>
          </a:ln>
        </p:spPr>
      </p:sp>
      <p:sp>
        <p:nvSpPr>
          <p:cNvPr id="141333" name="Line 23"/>
          <p:cNvSpPr/>
          <p:nvPr/>
        </p:nvSpPr>
        <p:spPr>
          <a:xfrm>
            <a:off x="5743575" y="4924425"/>
            <a:ext cx="0" cy="881063"/>
          </a:xfrm>
          <a:prstGeom prst="line">
            <a:avLst/>
          </a:prstGeom>
          <a:ln w="25400" cap="sq" cmpd="sng">
            <a:solidFill>
              <a:srgbClr val="FF6600"/>
            </a:solidFill>
            <a:prstDash val="solid"/>
            <a:bevel/>
            <a:headEnd type="none" w="med" len="med"/>
            <a:tailEnd type="none" w="med" len="med"/>
          </a:ln>
        </p:spPr>
      </p:sp>
      <p:sp>
        <p:nvSpPr>
          <p:cNvPr id="141334" name="Line 24"/>
          <p:cNvSpPr/>
          <p:nvPr/>
        </p:nvSpPr>
        <p:spPr>
          <a:xfrm>
            <a:off x="5791200" y="5410200"/>
            <a:ext cx="304800" cy="0"/>
          </a:xfrm>
          <a:prstGeom prst="line">
            <a:avLst/>
          </a:prstGeom>
          <a:ln w="25400" cap="sq" cmpd="sng">
            <a:solidFill>
              <a:srgbClr val="FF6600"/>
            </a:solidFill>
            <a:prstDash val="solid"/>
            <a:bevel/>
            <a:headEnd type="none" w="med" len="med"/>
            <a:tailEnd type="none" w="med" len="med"/>
          </a:ln>
        </p:spPr>
      </p:sp>
      <p:sp>
        <p:nvSpPr>
          <p:cNvPr id="141335" name="Line 25"/>
          <p:cNvSpPr/>
          <p:nvPr/>
        </p:nvSpPr>
        <p:spPr>
          <a:xfrm>
            <a:off x="5743575" y="4419600"/>
            <a:ext cx="2181225" cy="0"/>
          </a:xfrm>
          <a:prstGeom prst="line">
            <a:avLst/>
          </a:prstGeom>
          <a:ln w="25400" cap="sq" cmpd="sng">
            <a:solidFill>
              <a:srgbClr val="FF6600"/>
            </a:solidFill>
            <a:prstDash val="solid"/>
            <a:bevel/>
            <a:headEnd type="none" w="med" len="med"/>
            <a:tailEnd type="none" w="med" len="med"/>
          </a:ln>
        </p:spPr>
      </p:sp>
      <p:sp>
        <p:nvSpPr>
          <p:cNvPr id="141336" name="Line 26"/>
          <p:cNvSpPr/>
          <p:nvPr/>
        </p:nvSpPr>
        <p:spPr>
          <a:xfrm>
            <a:off x="6138863" y="4448175"/>
            <a:ext cx="0" cy="304800"/>
          </a:xfrm>
          <a:prstGeom prst="line">
            <a:avLst/>
          </a:prstGeom>
          <a:ln w="25400" cap="sq" cmpd="sng">
            <a:solidFill>
              <a:srgbClr val="FF6600"/>
            </a:solidFill>
            <a:prstDash val="solid"/>
            <a:bevel/>
            <a:headEnd type="none" w="med" len="med"/>
            <a:tailEnd type="none" w="med" len="med"/>
          </a:ln>
        </p:spPr>
      </p:sp>
      <p:sp>
        <p:nvSpPr>
          <p:cNvPr id="141337" name="Line 27"/>
          <p:cNvSpPr/>
          <p:nvPr/>
        </p:nvSpPr>
        <p:spPr>
          <a:xfrm>
            <a:off x="6124575" y="5105400"/>
            <a:ext cx="0" cy="304800"/>
          </a:xfrm>
          <a:prstGeom prst="line">
            <a:avLst/>
          </a:prstGeom>
          <a:ln w="25400" cap="sq" cmpd="sng">
            <a:solidFill>
              <a:srgbClr val="FF6600"/>
            </a:solidFill>
            <a:prstDash val="solid"/>
            <a:bevel/>
            <a:headEnd type="none" w="med" len="med"/>
            <a:tailEnd type="none" w="med" len="med"/>
          </a:ln>
        </p:spPr>
      </p:sp>
      <p:sp>
        <p:nvSpPr>
          <p:cNvPr id="141338" name="Line 28"/>
          <p:cNvSpPr/>
          <p:nvPr/>
        </p:nvSpPr>
        <p:spPr>
          <a:xfrm flipH="1">
            <a:off x="6124575" y="4724400"/>
            <a:ext cx="228600" cy="304800"/>
          </a:xfrm>
          <a:prstGeom prst="line">
            <a:avLst/>
          </a:prstGeom>
          <a:ln w="25400" cap="sq" cmpd="sng">
            <a:solidFill>
              <a:srgbClr val="FF6600"/>
            </a:solidFill>
            <a:prstDash val="solid"/>
            <a:bevel/>
            <a:headEnd type="none" w="med" len="med"/>
            <a:tailEnd type="none" w="med" len="med"/>
          </a:ln>
        </p:spPr>
      </p:sp>
      <p:sp>
        <p:nvSpPr>
          <p:cNvPr id="141339" name="Line 29"/>
          <p:cNvSpPr/>
          <p:nvPr/>
        </p:nvSpPr>
        <p:spPr>
          <a:xfrm>
            <a:off x="6781800" y="1066800"/>
            <a:ext cx="1143000" cy="0"/>
          </a:xfrm>
          <a:prstGeom prst="line">
            <a:avLst/>
          </a:prstGeom>
          <a:ln w="25400" cap="sq" cmpd="sng">
            <a:solidFill>
              <a:srgbClr val="FF6600"/>
            </a:solidFill>
            <a:prstDash val="solid"/>
            <a:bevel/>
            <a:headEnd type="none" w="med" len="med"/>
            <a:tailEnd type="none" w="med" len="med"/>
          </a:ln>
        </p:spPr>
      </p:sp>
      <p:sp>
        <p:nvSpPr>
          <p:cNvPr id="141340" name="Line 30"/>
          <p:cNvSpPr/>
          <p:nvPr/>
        </p:nvSpPr>
        <p:spPr>
          <a:xfrm>
            <a:off x="7924800" y="1066800"/>
            <a:ext cx="0" cy="3352800"/>
          </a:xfrm>
          <a:prstGeom prst="line">
            <a:avLst/>
          </a:prstGeom>
          <a:ln w="25400" cap="sq" cmpd="sng">
            <a:solidFill>
              <a:srgbClr val="FF6600"/>
            </a:solidFill>
            <a:prstDash val="solid"/>
            <a:bevel/>
            <a:headEnd type="none" w="med" len="med"/>
            <a:tailEnd type="none" w="med" len="med"/>
          </a:ln>
        </p:spPr>
      </p:sp>
      <p:sp>
        <p:nvSpPr>
          <p:cNvPr id="141341" name="Rectangle 31"/>
          <p:cNvSpPr/>
          <p:nvPr/>
        </p:nvSpPr>
        <p:spPr>
          <a:xfrm rot="5400000">
            <a:off x="7124700" y="4076700"/>
            <a:ext cx="152400" cy="6858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1342" name="Line 32"/>
          <p:cNvSpPr/>
          <p:nvPr/>
        </p:nvSpPr>
        <p:spPr>
          <a:xfrm>
            <a:off x="5610225" y="5805488"/>
            <a:ext cx="304800" cy="0"/>
          </a:xfrm>
          <a:prstGeom prst="line">
            <a:avLst/>
          </a:prstGeom>
          <a:ln w="25400" cap="sq" cmpd="sng">
            <a:solidFill>
              <a:srgbClr val="FF6600"/>
            </a:solidFill>
            <a:prstDash val="solid"/>
            <a:bevel/>
            <a:headEnd type="none" w="med" len="med"/>
            <a:tailEnd type="none" w="med" len="med"/>
          </a:ln>
        </p:spPr>
      </p:sp>
      <p:sp>
        <p:nvSpPr>
          <p:cNvPr id="141343" name="Oval 33"/>
          <p:cNvSpPr/>
          <p:nvPr/>
        </p:nvSpPr>
        <p:spPr>
          <a:xfrm>
            <a:off x="5672138" y="5329238"/>
            <a:ext cx="130175" cy="130175"/>
          </a:xfrm>
          <a:prstGeom prst="ellipse">
            <a:avLst/>
          </a:prstGeom>
          <a:solidFill>
            <a:srgbClr val="FF6600"/>
          </a:solidFill>
          <a:ln w="25400" cap="sq"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1344" name="Oval 34"/>
          <p:cNvSpPr/>
          <p:nvPr/>
        </p:nvSpPr>
        <p:spPr>
          <a:xfrm>
            <a:off x="5673725" y="4357688"/>
            <a:ext cx="130175" cy="130175"/>
          </a:xfrm>
          <a:prstGeom prst="ellipse">
            <a:avLst/>
          </a:prstGeom>
          <a:solidFill>
            <a:srgbClr val="FF6600"/>
          </a:solidFill>
          <a:ln w="25400" cap="sq"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1345" name="Oval 35"/>
          <p:cNvSpPr/>
          <p:nvPr/>
        </p:nvSpPr>
        <p:spPr>
          <a:xfrm>
            <a:off x="6059488" y="4357688"/>
            <a:ext cx="130175" cy="130175"/>
          </a:xfrm>
          <a:prstGeom prst="ellipse">
            <a:avLst/>
          </a:prstGeom>
          <a:solidFill>
            <a:srgbClr val="FF6600"/>
          </a:solidFill>
          <a:ln w="25400" cap="sq"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1346" name="Oval 36"/>
          <p:cNvSpPr/>
          <p:nvPr/>
        </p:nvSpPr>
        <p:spPr>
          <a:xfrm>
            <a:off x="6681788" y="990600"/>
            <a:ext cx="130175" cy="130175"/>
          </a:xfrm>
          <a:prstGeom prst="ellipse">
            <a:avLst/>
          </a:prstGeom>
          <a:solidFill>
            <a:srgbClr val="FF6600"/>
          </a:solidFill>
          <a:ln w="25400" cap="sq"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1347" name="Line 37"/>
          <p:cNvSpPr/>
          <p:nvPr/>
        </p:nvSpPr>
        <p:spPr>
          <a:xfrm>
            <a:off x="6553200" y="2728913"/>
            <a:ext cx="381000" cy="0"/>
          </a:xfrm>
          <a:prstGeom prst="line">
            <a:avLst/>
          </a:prstGeom>
          <a:ln w="25400" cap="sq" cmpd="sng">
            <a:solidFill>
              <a:srgbClr val="FF6600"/>
            </a:solidFill>
            <a:prstDash val="solid"/>
            <a:bevel/>
            <a:headEnd type="none" w="med" len="med"/>
            <a:tailEnd type="none" w="med" len="med"/>
          </a:ln>
        </p:spPr>
      </p:sp>
      <p:sp>
        <p:nvSpPr>
          <p:cNvPr id="141348" name="Line 38"/>
          <p:cNvSpPr/>
          <p:nvPr/>
        </p:nvSpPr>
        <p:spPr>
          <a:xfrm flipH="1">
            <a:off x="2667000" y="3657600"/>
            <a:ext cx="776288" cy="0"/>
          </a:xfrm>
          <a:prstGeom prst="line">
            <a:avLst/>
          </a:prstGeom>
          <a:ln w="25400" cap="sq" cmpd="sng">
            <a:solidFill>
              <a:srgbClr val="FF6600"/>
            </a:solidFill>
            <a:prstDash val="solid"/>
            <a:bevel/>
            <a:headEnd type="triangle" w="med" len="med"/>
            <a:tailEnd type="none" w="med" len="med"/>
          </a:ln>
        </p:spPr>
      </p:sp>
      <p:sp>
        <p:nvSpPr>
          <p:cNvPr id="141349" name="Text Box 39"/>
          <p:cNvSpPr txBox="1"/>
          <p:nvPr/>
        </p:nvSpPr>
        <p:spPr>
          <a:xfrm>
            <a:off x="3505200" y="2824163"/>
            <a:ext cx="5334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000000"/>
                </a:solidFill>
                <a:latin typeface="Times New Roman" panose="02020603050405020304" pitchFamily="18" charset="0"/>
                <a:ea typeface="楷体_GB2312"/>
              </a:rPr>
              <a:t>D</a:t>
            </a:r>
            <a:endParaRPr lang="en-US" altLang="zh-CN" sz="2400" dirty="0">
              <a:solidFill>
                <a:srgbClr val="000000"/>
              </a:solidFill>
              <a:latin typeface="Times New Roman" panose="02020603050405020304" pitchFamily="18" charset="0"/>
              <a:ea typeface="楷体_GB2312"/>
            </a:endParaRPr>
          </a:p>
        </p:txBody>
      </p:sp>
      <p:sp>
        <p:nvSpPr>
          <p:cNvPr id="141350" name="Text Box 40"/>
          <p:cNvSpPr txBox="1"/>
          <p:nvPr/>
        </p:nvSpPr>
        <p:spPr>
          <a:xfrm>
            <a:off x="3505200" y="3429000"/>
            <a:ext cx="6858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000000"/>
                </a:solidFill>
                <a:latin typeface="Times New Roman" panose="02020603050405020304" pitchFamily="18" charset="0"/>
                <a:ea typeface="楷体_GB2312"/>
              </a:rPr>
              <a:t>CP</a:t>
            </a:r>
            <a:endParaRPr lang="en-US" altLang="zh-CN" sz="2400" dirty="0">
              <a:solidFill>
                <a:srgbClr val="000000"/>
              </a:solidFill>
              <a:latin typeface="Times New Roman" panose="02020603050405020304" pitchFamily="18" charset="0"/>
              <a:ea typeface="楷体_GB2312"/>
            </a:endParaRPr>
          </a:p>
        </p:txBody>
      </p:sp>
      <p:sp>
        <p:nvSpPr>
          <p:cNvPr id="141351" name="Text Box 41"/>
          <p:cNvSpPr txBox="1"/>
          <p:nvPr/>
        </p:nvSpPr>
        <p:spPr>
          <a:xfrm>
            <a:off x="4114800" y="2819400"/>
            <a:ext cx="5334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000000"/>
                </a:solidFill>
                <a:latin typeface="Times New Roman" panose="02020603050405020304" pitchFamily="18" charset="0"/>
                <a:ea typeface="楷体_GB2312"/>
              </a:rPr>
              <a:t>Q</a:t>
            </a:r>
            <a:endParaRPr lang="en-US" altLang="zh-CN" sz="2400" dirty="0">
              <a:solidFill>
                <a:srgbClr val="000000"/>
              </a:solidFill>
              <a:latin typeface="Times New Roman" panose="02020603050405020304" pitchFamily="18" charset="0"/>
              <a:ea typeface="楷体_GB2312"/>
            </a:endParaRPr>
          </a:p>
        </p:txBody>
      </p:sp>
      <p:sp>
        <p:nvSpPr>
          <p:cNvPr id="141352" name="Text Box 42"/>
          <p:cNvSpPr txBox="1"/>
          <p:nvPr/>
        </p:nvSpPr>
        <p:spPr>
          <a:xfrm>
            <a:off x="2819400" y="4267200"/>
            <a:ext cx="7620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000000"/>
                </a:solidFill>
                <a:latin typeface="Times New Roman" panose="02020603050405020304" pitchFamily="18" charset="0"/>
                <a:ea typeface="楷体_GB2312"/>
              </a:rPr>
              <a:t>D0</a:t>
            </a:r>
            <a:endParaRPr lang="en-US" altLang="zh-CN" sz="2400" dirty="0">
              <a:solidFill>
                <a:srgbClr val="000000"/>
              </a:solidFill>
              <a:latin typeface="Times New Roman" panose="02020603050405020304" pitchFamily="18" charset="0"/>
              <a:ea typeface="楷体_GB2312"/>
            </a:endParaRPr>
          </a:p>
        </p:txBody>
      </p:sp>
      <p:sp>
        <p:nvSpPr>
          <p:cNvPr id="141353" name="Text Box 43"/>
          <p:cNvSpPr txBox="1"/>
          <p:nvPr/>
        </p:nvSpPr>
        <p:spPr>
          <a:xfrm>
            <a:off x="2057400" y="2819400"/>
            <a:ext cx="7620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000000"/>
                </a:solidFill>
                <a:latin typeface="Times New Roman" panose="02020603050405020304" pitchFamily="18" charset="0"/>
                <a:ea typeface="楷体_GB2312"/>
              </a:rPr>
              <a:t>D1</a:t>
            </a:r>
            <a:endParaRPr lang="en-US" altLang="zh-CN" sz="2400" dirty="0">
              <a:solidFill>
                <a:srgbClr val="000000"/>
              </a:solidFill>
              <a:latin typeface="Times New Roman" panose="02020603050405020304" pitchFamily="18" charset="0"/>
              <a:ea typeface="楷体_GB2312"/>
            </a:endParaRPr>
          </a:p>
        </p:txBody>
      </p:sp>
      <p:sp>
        <p:nvSpPr>
          <p:cNvPr id="141354" name="Text Box 44"/>
          <p:cNvSpPr txBox="1"/>
          <p:nvPr/>
        </p:nvSpPr>
        <p:spPr>
          <a:xfrm>
            <a:off x="53975" y="3429000"/>
            <a:ext cx="2667000" cy="46196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输出口地址38</a:t>
            </a:r>
            <a:r>
              <a:rPr lang="en-US" altLang="zh-CN" sz="2400" dirty="0">
                <a:solidFill>
                  <a:srgbClr val="000000"/>
                </a:solidFill>
                <a:latin typeface="Times New Roman" panose="02020603050405020304" pitchFamily="18" charset="0"/>
                <a:ea typeface="楷体_GB2312"/>
              </a:rPr>
              <a:t>F3H</a:t>
            </a:r>
            <a:endParaRPr lang="en-US" altLang="zh-CN" sz="2400" dirty="0">
              <a:solidFill>
                <a:srgbClr val="000000"/>
              </a:solidFill>
              <a:latin typeface="Times New Roman" panose="02020603050405020304" pitchFamily="18" charset="0"/>
              <a:ea typeface="楷体_GB2312"/>
            </a:endParaRPr>
          </a:p>
        </p:txBody>
      </p:sp>
      <p:sp>
        <p:nvSpPr>
          <p:cNvPr id="141355" name="Text Box 45"/>
          <p:cNvSpPr txBox="1"/>
          <p:nvPr/>
        </p:nvSpPr>
        <p:spPr>
          <a:xfrm>
            <a:off x="53975" y="4992688"/>
            <a:ext cx="2765425" cy="46196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输入口地址38</a:t>
            </a:r>
            <a:r>
              <a:rPr lang="en-US" altLang="zh-CN" sz="2400" dirty="0">
                <a:solidFill>
                  <a:srgbClr val="000000"/>
                </a:solidFill>
                <a:latin typeface="Times New Roman" panose="02020603050405020304" pitchFamily="18" charset="0"/>
                <a:ea typeface="楷体_GB2312"/>
              </a:rPr>
              <a:t>F0H</a:t>
            </a:r>
            <a:endParaRPr lang="en-US" altLang="zh-CN" sz="2400" dirty="0">
              <a:solidFill>
                <a:srgbClr val="000000"/>
              </a:solidFill>
              <a:latin typeface="Times New Roman" panose="02020603050405020304" pitchFamily="18" charset="0"/>
              <a:ea typeface="楷体_GB2312"/>
            </a:endParaRPr>
          </a:p>
        </p:txBody>
      </p:sp>
      <p:sp>
        <p:nvSpPr>
          <p:cNvPr id="141356" name="Line 46"/>
          <p:cNvSpPr/>
          <p:nvPr/>
        </p:nvSpPr>
        <p:spPr>
          <a:xfrm>
            <a:off x="2771775" y="5313363"/>
            <a:ext cx="1828800" cy="0"/>
          </a:xfrm>
          <a:prstGeom prst="line">
            <a:avLst/>
          </a:prstGeom>
          <a:ln w="25400" cap="sq" cmpd="sng">
            <a:solidFill>
              <a:srgbClr val="FF6600"/>
            </a:solidFill>
            <a:prstDash val="solid"/>
            <a:bevel/>
            <a:headEnd type="none" w="med" len="med"/>
            <a:tailEnd type="none" w="med" len="med"/>
          </a:ln>
        </p:spPr>
      </p:sp>
      <p:sp>
        <p:nvSpPr>
          <p:cNvPr id="141357" name="Text Box 47"/>
          <p:cNvSpPr txBox="1"/>
          <p:nvPr/>
        </p:nvSpPr>
        <p:spPr>
          <a:xfrm>
            <a:off x="5867400" y="685800"/>
            <a:ext cx="7620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000000"/>
                </a:solidFill>
                <a:latin typeface="Times New Roman" panose="02020603050405020304" pitchFamily="18" charset="0"/>
                <a:ea typeface="楷体_GB2312"/>
              </a:rPr>
              <a:t>+5V</a:t>
            </a:r>
            <a:endParaRPr lang="en-US" altLang="zh-CN" sz="2400" dirty="0">
              <a:solidFill>
                <a:srgbClr val="000000"/>
              </a:solidFill>
              <a:latin typeface="Times New Roman" panose="02020603050405020304" pitchFamily="18" charset="0"/>
              <a:ea typeface="楷体_GB2312"/>
            </a:endParaRPr>
          </a:p>
        </p:txBody>
      </p:sp>
      <p:sp>
        <p:nvSpPr>
          <p:cNvPr id="141358" name="Text Box 48"/>
          <p:cNvSpPr txBox="1"/>
          <p:nvPr/>
        </p:nvSpPr>
        <p:spPr>
          <a:xfrm>
            <a:off x="5334000" y="2819400"/>
            <a:ext cx="5334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000000"/>
                </a:solidFill>
                <a:latin typeface="Times New Roman" panose="02020603050405020304" pitchFamily="18" charset="0"/>
                <a:ea typeface="楷体_GB2312"/>
              </a:rPr>
              <a:t>1</a:t>
            </a:r>
            <a:endParaRPr lang="en-US" altLang="zh-CN" sz="2400" dirty="0">
              <a:solidFill>
                <a:srgbClr val="000000"/>
              </a:solidFill>
              <a:latin typeface="Times New Roman" panose="02020603050405020304" pitchFamily="18" charset="0"/>
              <a:ea typeface="楷体_GB2312"/>
            </a:endParaRPr>
          </a:p>
        </p:txBody>
      </p:sp>
      <p:sp>
        <p:nvSpPr>
          <p:cNvPr id="141359" name="Line 49"/>
          <p:cNvSpPr/>
          <p:nvPr/>
        </p:nvSpPr>
        <p:spPr>
          <a:xfrm flipH="1">
            <a:off x="7239000" y="2209800"/>
            <a:ext cx="152400" cy="304800"/>
          </a:xfrm>
          <a:prstGeom prst="line">
            <a:avLst/>
          </a:prstGeom>
          <a:ln w="25400" cap="sq" cmpd="sng">
            <a:solidFill>
              <a:srgbClr val="FF6600"/>
            </a:solidFill>
            <a:prstDash val="solid"/>
            <a:bevel/>
            <a:headEnd type="none" w="med" len="med"/>
            <a:tailEnd type="none" w="med" len="med"/>
          </a:ln>
        </p:spPr>
      </p:sp>
      <p:sp>
        <p:nvSpPr>
          <p:cNvPr id="141360" name="Line 50"/>
          <p:cNvSpPr/>
          <p:nvPr/>
        </p:nvSpPr>
        <p:spPr>
          <a:xfrm>
            <a:off x="7239000" y="2514600"/>
            <a:ext cx="152400" cy="0"/>
          </a:xfrm>
          <a:prstGeom prst="line">
            <a:avLst/>
          </a:prstGeom>
          <a:ln w="25400" cap="sq" cmpd="sng">
            <a:solidFill>
              <a:srgbClr val="FF6600"/>
            </a:solidFill>
            <a:prstDash val="solid"/>
            <a:bevel/>
            <a:headEnd type="none" w="med" len="med"/>
            <a:tailEnd type="none" w="med" len="med"/>
          </a:ln>
        </p:spPr>
      </p:sp>
      <p:sp>
        <p:nvSpPr>
          <p:cNvPr id="141361" name="Line 51"/>
          <p:cNvSpPr/>
          <p:nvPr/>
        </p:nvSpPr>
        <p:spPr>
          <a:xfrm flipH="1">
            <a:off x="7162800" y="2514600"/>
            <a:ext cx="228600" cy="381000"/>
          </a:xfrm>
          <a:prstGeom prst="line">
            <a:avLst/>
          </a:prstGeom>
          <a:ln w="25400" cap="sq" cmpd="sng">
            <a:solidFill>
              <a:srgbClr val="FF6600"/>
            </a:solidFill>
            <a:prstDash val="solid"/>
            <a:bevel/>
            <a:headEnd type="none" w="med" len="med"/>
            <a:tailEnd type="none" w="med" len="med"/>
          </a:ln>
        </p:spPr>
      </p:sp>
    </p:spTree>
  </p:cSld>
  <p:clrMapOvr>
    <a:masterClrMapping/>
  </p:clrMapOvr>
  <p:transition spd="slow">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42339" name="Rectangle 2"/>
          <p:cNvSpPr>
            <a:spLocks noGrp="1"/>
          </p:cNvSpPr>
          <p:nvPr>
            <p:ph type="title" idx="4294967295"/>
          </p:nvPr>
        </p:nvSpPr>
        <p:spPr/>
        <p:txBody>
          <a:bodyPr vert="horz" wrap="square" lIns="91440" tIns="45720" rIns="91440" bIns="45720" anchor="b" anchorCtr="0"/>
          <a:p>
            <a:pPr eaLnBrk="1" hangingPunct="1"/>
            <a:r>
              <a:rPr lang="zh-CN" altLang="en-US" dirty="0"/>
              <a:t>二、查询工作方式</a:t>
            </a:r>
            <a:endParaRPr lang="zh-CN" altLang="en-US" dirty="0"/>
          </a:p>
        </p:txBody>
      </p:sp>
      <p:sp>
        <p:nvSpPr>
          <p:cNvPr id="62468" name="Rectangle 3"/>
          <p:cNvSpPr>
            <a:spLocks noGrp="1"/>
          </p:cNvSpPr>
          <p:nvPr>
            <p:ph type="body" idx="4294967295"/>
          </p:nvPr>
        </p:nvSpPr>
        <p:spPr>
          <a:xfrm>
            <a:off x="971550" y="2017713"/>
            <a:ext cx="7772400" cy="4435475"/>
          </a:xfrm>
        </p:spPr>
        <p:txBody>
          <a:bodyPr vert="horz" wrap="square" lIns="91440" tIns="45720" rIns="91440" bIns="45720" anchor="t" anchorCtr="0"/>
          <a:p>
            <a:pPr eaLnBrk="1" hangingPunct="1">
              <a:lnSpc>
                <a:spcPct val="105000"/>
              </a:lnSpc>
            </a:pPr>
            <a:r>
              <a:rPr lang="zh-CN" altLang="en-US" dirty="0"/>
              <a:t>仅当条件满足时才能进行数据传送；</a:t>
            </a:r>
            <a:endParaRPr lang="zh-CN" altLang="en-US" dirty="0"/>
          </a:p>
          <a:p>
            <a:pPr eaLnBrk="1" hangingPunct="1">
              <a:lnSpc>
                <a:spcPct val="105000"/>
              </a:lnSpc>
            </a:pPr>
            <a:r>
              <a:rPr lang="zh-CN" altLang="en-US" dirty="0">
                <a:solidFill>
                  <a:schemeClr val="hlink"/>
                </a:solidFill>
              </a:rPr>
              <a:t>每满足一次条件只能进行一次数据传送。</a:t>
            </a:r>
            <a:endParaRPr lang="zh-CN" altLang="en-US" dirty="0">
              <a:solidFill>
                <a:schemeClr val="hlink"/>
              </a:solidFill>
            </a:endParaRPr>
          </a:p>
          <a:p>
            <a:pPr eaLnBrk="1" hangingPunct="1">
              <a:spcBef>
                <a:spcPct val="40000"/>
              </a:spcBef>
              <a:spcAft>
                <a:spcPct val="15000"/>
              </a:spcAft>
            </a:pPr>
            <a:r>
              <a:rPr lang="zh-CN" altLang="en-US" dirty="0"/>
              <a:t>适用场合：</a:t>
            </a:r>
            <a:endParaRPr lang="zh-CN" altLang="en-US" dirty="0"/>
          </a:p>
          <a:p>
            <a:pPr lvl="1" eaLnBrk="1" hangingPunct="1">
              <a:spcBef>
                <a:spcPct val="10000"/>
              </a:spcBef>
            </a:pPr>
            <a:r>
              <a:rPr lang="zh-CN" altLang="en-US" dirty="0"/>
              <a:t>外设并不总是准备好</a:t>
            </a:r>
            <a:endParaRPr lang="zh-CN" altLang="en-US" dirty="0"/>
          </a:p>
          <a:p>
            <a:pPr lvl="1" eaLnBrk="1" hangingPunct="1"/>
            <a:r>
              <a:rPr lang="zh-CN" altLang="en-US" dirty="0"/>
              <a:t>对传送速率和效率要求不高</a:t>
            </a:r>
            <a:endParaRPr lang="zh-CN" altLang="en-US" dirty="0"/>
          </a:p>
          <a:p>
            <a:pPr eaLnBrk="1" hangingPunct="1">
              <a:spcBef>
                <a:spcPct val="40000"/>
              </a:spcBef>
              <a:spcAft>
                <a:spcPct val="15000"/>
              </a:spcAft>
            </a:pPr>
            <a:r>
              <a:rPr lang="zh-CN" altLang="en-US" dirty="0"/>
              <a:t>工作条件：</a:t>
            </a:r>
            <a:endParaRPr lang="zh-CN" altLang="en-US" dirty="0"/>
          </a:p>
          <a:p>
            <a:pPr lvl="1" eaLnBrk="1" hangingPunct="1">
              <a:spcBef>
                <a:spcPct val="10000"/>
              </a:spcBef>
            </a:pPr>
            <a:r>
              <a:rPr lang="zh-CN" altLang="en-US" dirty="0"/>
              <a:t>外设应提供设备状态信息</a:t>
            </a:r>
            <a:endParaRPr lang="zh-CN" altLang="en-US" dirty="0"/>
          </a:p>
          <a:p>
            <a:pPr lvl="1" eaLnBrk="1" hangingPunct="1"/>
            <a:r>
              <a:rPr lang="zh-CN" altLang="en-US" dirty="0"/>
              <a:t>接口应具备状态端口</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2468">
                                            <p:txEl>
                                              <p:charRg st="0" end="17"/>
                                            </p:txEl>
                                          </p:spTgt>
                                        </p:tgtEl>
                                        <p:attrNameLst>
                                          <p:attrName>style.visibility</p:attrName>
                                        </p:attrNameLst>
                                      </p:cBhvr>
                                      <p:to>
                                        <p:strVal val="visible"/>
                                      </p:to>
                                    </p:set>
                                    <p:animEffect transition="in" filter="wipe(left)">
                                      <p:cBhvr>
                                        <p:cTn id="7" dur="500"/>
                                        <p:tgtEl>
                                          <p:spTgt spid="62468">
                                            <p:txEl>
                                              <p:charRg st="0"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2468">
                                            <p:txEl>
                                              <p:charRg st="17" end="36"/>
                                            </p:txEl>
                                          </p:spTgt>
                                        </p:tgtEl>
                                        <p:attrNameLst>
                                          <p:attrName>style.visibility</p:attrName>
                                        </p:attrNameLst>
                                      </p:cBhvr>
                                      <p:to>
                                        <p:strVal val="visible"/>
                                      </p:to>
                                    </p:set>
                                    <p:animEffect transition="in" filter="wipe(left)">
                                      <p:cBhvr>
                                        <p:cTn id="12" dur="500"/>
                                        <p:tgtEl>
                                          <p:spTgt spid="62468">
                                            <p:txEl>
                                              <p:charRg st="17" end="3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2468">
                                            <p:txEl>
                                              <p:charRg st="36" end="42"/>
                                            </p:txEl>
                                          </p:spTgt>
                                        </p:tgtEl>
                                        <p:attrNameLst>
                                          <p:attrName>style.visibility</p:attrName>
                                        </p:attrNameLst>
                                      </p:cBhvr>
                                      <p:to>
                                        <p:strVal val="visible"/>
                                      </p:to>
                                    </p:set>
                                    <p:animEffect transition="in" filter="wipe(left)">
                                      <p:cBhvr>
                                        <p:cTn id="17" dur="500"/>
                                        <p:tgtEl>
                                          <p:spTgt spid="62468">
                                            <p:txEl>
                                              <p:charRg st="36" end="4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2468">
                                            <p:txEl>
                                              <p:charRg st="42" end="52"/>
                                            </p:txEl>
                                          </p:spTgt>
                                        </p:tgtEl>
                                        <p:attrNameLst>
                                          <p:attrName>style.visibility</p:attrName>
                                        </p:attrNameLst>
                                      </p:cBhvr>
                                      <p:to>
                                        <p:strVal val="visible"/>
                                      </p:to>
                                    </p:set>
                                    <p:animEffect transition="in" filter="wipe(left)">
                                      <p:cBhvr>
                                        <p:cTn id="22" dur="500"/>
                                        <p:tgtEl>
                                          <p:spTgt spid="62468">
                                            <p:txEl>
                                              <p:charRg st="42" end="52"/>
                                            </p:txEl>
                                          </p:spTgt>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62468">
                                            <p:txEl>
                                              <p:charRg st="52" end="65"/>
                                            </p:txEl>
                                          </p:spTgt>
                                        </p:tgtEl>
                                        <p:attrNameLst>
                                          <p:attrName>style.visibility</p:attrName>
                                        </p:attrNameLst>
                                      </p:cBhvr>
                                      <p:to>
                                        <p:strVal val="visible"/>
                                      </p:to>
                                    </p:set>
                                    <p:animEffect transition="in" filter="wipe(left)">
                                      <p:cBhvr>
                                        <p:cTn id="26" dur="500"/>
                                        <p:tgtEl>
                                          <p:spTgt spid="62468">
                                            <p:txEl>
                                              <p:charRg st="52" end="6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62468">
                                            <p:txEl>
                                              <p:charRg st="65" end="71"/>
                                            </p:txEl>
                                          </p:spTgt>
                                        </p:tgtEl>
                                        <p:attrNameLst>
                                          <p:attrName>style.visibility</p:attrName>
                                        </p:attrNameLst>
                                      </p:cBhvr>
                                      <p:to>
                                        <p:strVal val="visible"/>
                                      </p:to>
                                    </p:set>
                                    <p:animEffect transition="in" filter="wipe(left)">
                                      <p:cBhvr>
                                        <p:cTn id="31" dur="500"/>
                                        <p:tgtEl>
                                          <p:spTgt spid="62468">
                                            <p:txEl>
                                              <p:charRg st="65" end="7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62468">
                                            <p:txEl>
                                              <p:charRg st="71" end="83"/>
                                            </p:txEl>
                                          </p:spTgt>
                                        </p:tgtEl>
                                        <p:attrNameLst>
                                          <p:attrName>style.visibility</p:attrName>
                                        </p:attrNameLst>
                                      </p:cBhvr>
                                      <p:to>
                                        <p:strVal val="visible"/>
                                      </p:to>
                                    </p:set>
                                    <p:animEffect transition="in" filter="wipe(left)">
                                      <p:cBhvr>
                                        <p:cTn id="36" dur="500"/>
                                        <p:tgtEl>
                                          <p:spTgt spid="62468">
                                            <p:txEl>
                                              <p:charRg st="71" end="83"/>
                                            </p:txEl>
                                          </p:spTgt>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62468">
                                            <p:txEl>
                                              <p:charRg st="83" end="93"/>
                                            </p:txEl>
                                          </p:spTgt>
                                        </p:tgtEl>
                                        <p:attrNameLst>
                                          <p:attrName>style.visibility</p:attrName>
                                        </p:attrNameLst>
                                      </p:cBhvr>
                                      <p:to>
                                        <p:strVal val="visible"/>
                                      </p:to>
                                    </p:set>
                                    <p:animEffect transition="in" filter="wipe(left)">
                                      <p:cBhvr>
                                        <p:cTn id="40" dur="500"/>
                                        <p:tgtEl>
                                          <p:spTgt spid="62468">
                                            <p:txEl>
                                              <p:charRg st="83" end="9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Line 37"/>
          <p:cNvSpPr/>
          <p:nvPr/>
        </p:nvSpPr>
        <p:spPr>
          <a:xfrm>
            <a:off x="4830763" y="1560513"/>
            <a:ext cx="0" cy="792162"/>
          </a:xfrm>
          <a:prstGeom prst="line">
            <a:avLst/>
          </a:prstGeom>
          <a:ln w="22225" cap="flat" cmpd="sng">
            <a:solidFill>
              <a:srgbClr val="FF6600"/>
            </a:solidFill>
            <a:prstDash val="solid"/>
            <a:bevel/>
            <a:headEnd type="none" w="med" len="med"/>
            <a:tailEnd type="triangle" w="lg" len="lg"/>
          </a:ln>
        </p:spPr>
      </p:sp>
      <p:sp>
        <p:nvSpPr>
          <p:cNvPr id="63491" name="AutoShape 6"/>
          <p:cNvSpPr/>
          <p:nvPr/>
        </p:nvSpPr>
        <p:spPr>
          <a:xfrm>
            <a:off x="3756025" y="3157538"/>
            <a:ext cx="2151063" cy="628650"/>
          </a:xfrm>
          <a:prstGeom prst="flowChartDecision">
            <a:avLst/>
          </a:prstGeom>
          <a:solidFill>
            <a:srgbClr val="339966"/>
          </a:solidFill>
          <a:ln w="9525" cap="flat" cmpd="sng">
            <a:solidFill>
              <a:srgbClr val="339966"/>
            </a:solidFill>
            <a:prstDash val="solid"/>
            <a:miter/>
            <a:headEnd type="none" w="med" len="med"/>
            <a:tailEnd type="none" w="med" len="med"/>
          </a:ln>
        </p:spPr>
        <p:txBody>
          <a:bodyPr tIns="1080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2000" dirty="0">
                <a:solidFill>
                  <a:srgbClr val="FFFFFF"/>
                </a:solidFill>
                <a:latin typeface="宋体" panose="02010600030101010101" pitchFamily="2" charset="-122"/>
                <a:ea typeface="楷体_GB2312"/>
              </a:rPr>
              <a:t>READY?</a:t>
            </a:r>
            <a:endParaRPr lang="en-US" altLang="zh-CN" sz="2000" dirty="0">
              <a:solidFill>
                <a:srgbClr val="FFFFFF"/>
              </a:solidFill>
              <a:latin typeface="Times New Roman" panose="02020603050405020304" pitchFamily="18" charset="0"/>
              <a:ea typeface="楷体_GB2312"/>
            </a:endParaRPr>
          </a:p>
        </p:txBody>
      </p:sp>
      <p:sp>
        <p:nvSpPr>
          <p:cNvPr id="63492" name="AutoShape 7"/>
          <p:cNvSpPr/>
          <p:nvPr/>
        </p:nvSpPr>
        <p:spPr>
          <a:xfrm>
            <a:off x="3756025" y="4098925"/>
            <a:ext cx="2151063" cy="628650"/>
          </a:xfrm>
          <a:prstGeom prst="flowChartPredefinedProcess">
            <a:avLst/>
          </a:prstGeom>
          <a:solidFill>
            <a:srgbClr val="339966"/>
          </a:solidFill>
          <a:ln w="9525" cap="flat" cmpd="sng">
            <a:solidFill>
              <a:srgbClr val="339966"/>
            </a:solidFill>
            <a:prstDash val="solid"/>
            <a:miter/>
            <a:headEnd type="none" w="med" len="med"/>
            <a:tailEnd type="none" w="med" len="med"/>
          </a:ln>
        </p:spPr>
        <p:txBody>
          <a:bodyPr tIns="1080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进行一次</a:t>
            </a:r>
            <a:endParaRPr lang="zh-CN" altLang="en-US" sz="2000" dirty="0">
              <a:solidFill>
                <a:srgbClr val="FFFFFF"/>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数据交换</a:t>
            </a:r>
            <a:endParaRPr lang="zh-CN" altLang="en-US" sz="2000" dirty="0">
              <a:solidFill>
                <a:srgbClr val="FFFFFF"/>
              </a:solidFill>
              <a:latin typeface="Times New Roman" panose="02020603050405020304" pitchFamily="18" charset="0"/>
              <a:ea typeface="楷体_GB2312"/>
            </a:endParaRPr>
          </a:p>
        </p:txBody>
      </p:sp>
      <p:sp>
        <p:nvSpPr>
          <p:cNvPr id="63493" name="Line 8"/>
          <p:cNvSpPr/>
          <p:nvPr/>
        </p:nvSpPr>
        <p:spPr>
          <a:xfrm>
            <a:off x="4830763" y="1949450"/>
            <a:ext cx="0" cy="409575"/>
          </a:xfrm>
          <a:prstGeom prst="line">
            <a:avLst/>
          </a:prstGeom>
          <a:ln w="22225" cap="flat" cmpd="sng">
            <a:solidFill>
              <a:srgbClr val="FF6600"/>
            </a:solidFill>
            <a:prstDash val="solid"/>
            <a:bevel/>
            <a:headEnd type="none" w="med" len="med"/>
            <a:tailEnd type="triangle" w="lg" len="lg"/>
          </a:ln>
        </p:spPr>
      </p:sp>
      <p:sp>
        <p:nvSpPr>
          <p:cNvPr id="63494" name="Line 9"/>
          <p:cNvSpPr/>
          <p:nvPr/>
        </p:nvSpPr>
        <p:spPr>
          <a:xfrm>
            <a:off x="4830763" y="3786188"/>
            <a:ext cx="0" cy="312737"/>
          </a:xfrm>
          <a:prstGeom prst="line">
            <a:avLst/>
          </a:prstGeom>
          <a:ln w="22225" cap="flat" cmpd="sng">
            <a:solidFill>
              <a:srgbClr val="FF6600"/>
            </a:solidFill>
            <a:prstDash val="solid"/>
            <a:bevel/>
            <a:headEnd type="none" w="med" len="med"/>
            <a:tailEnd type="triangle" w="lg" len="lg"/>
          </a:ln>
        </p:spPr>
      </p:sp>
      <p:sp>
        <p:nvSpPr>
          <p:cNvPr id="63495" name="Line 10"/>
          <p:cNvSpPr/>
          <p:nvPr/>
        </p:nvSpPr>
        <p:spPr>
          <a:xfrm flipH="1">
            <a:off x="2681288" y="3471863"/>
            <a:ext cx="1074737" cy="0"/>
          </a:xfrm>
          <a:prstGeom prst="line">
            <a:avLst/>
          </a:prstGeom>
          <a:ln w="22225" cap="flat" cmpd="sng">
            <a:solidFill>
              <a:srgbClr val="FF6600"/>
            </a:solidFill>
            <a:prstDash val="solid"/>
            <a:bevel/>
            <a:headEnd type="none" w="med" len="med"/>
            <a:tailEnd type="triangle" w="lg" len="lg"/>
          </a:ln>
        </p:spPr>
      </p:sp>
      <p:sp>
        <p:nvSpPr>
          <p:cNvPr id="63496" name="Line 11"/>
          <p:cNvSpPr/>
          <p:nvPr/>
        </p:nvSpPr>
        <p:spPr>
          <a:xfrm flipV="1">
            <a:off x="2684463" y="1949450"/>
            <a:ext cx="0" cy="1511300"/>
          </a:xfrm>
          <a:prstGeom prst="line">
            <a:avLst/>
          </a:prstGeom>
          <a:ln w="22225" cap="flat" cmpd="sng">
            <a:solidFill>
              <a:srgbClr val="FF6600"/>
            </a:solidFill>
            <a:prstDash val="solid"/>
            <a:bevel/>
            <a:headEnd type="none" w="med" len="med"/>
            <a:tailEnd type="triangle" w="lg" len="lg"/>
          </a:ln>
        </p:spPr>
      </p:sp>
      <p:sp>
        <p:nvSpPr>
          <p:cNvPr id="63497" name="Line 12"/>
          <p:cNvSpPr/>
          <p:nvPr/>
        </p:nvSpPr>
        <p:spPr>
          <a:xfrm>
            <a:off x="2670175" y="1949450"/>
            <a:ext cx="2149475" cy="0"/>
          </a:xfrm>
          <a:prstGeom prst="line">
            <a:avLst/>
          </a:prstGeom>
          <a:ln w="22225" cap="flat" cmpd="sng">
            <a:solidFill>
              <a:srgbClr val="FF6600"/>
            </a:solidFill>
            <a:prstDash val="solid"/>
            <a:bevel/>
            <a:headEnd type="none" w="med" len="med"/>
            <a:tailEnd type="triangle" w="lg" len="lg"/>
          </a:ln>
        </p:spPr>
      </p:sp>
      <p:sp>
        <p:nvSpPr>
          <p:cNvPr id="63498" name="Line 13"/>
          <p:cNvSpPr/>
          <p:nvPr/>
        </p:nvSpPr>
        <p:spPr>
          <a:xfrm>
            <a:off x="4830763" y="4727575"/>
            <a:ext cx="0" cy="312738"/>
          </a:xfrm>
          <a:prstGeom prst="line">
            <a:avLst/>
          </a:prstGeom>
          <a:ln w="22225" cap="flat" cmpd="sng">
            <a:solidFill>
              <a:srgbClr val="FF6600"/>
            </a:solidFill>
            <a:prstDash val="solid"/>
            <a:bevel/>
            <a:headEnd type="none" w="med" len="med"/>
            <a:tailEnd type="triangle" w="lg" len="lg"/>
          </a:ln>
        </p:spPr>
      </p:sp>
      <p:sp>
        <p:nvSpPr>
          <p:cNvPr id="63499" name="AutoShape 17"/>
          <p:cNvSpPr/>
          <p:nvPr/>
        </p:nvSpPr>
        <p:spPr>
          <a:xfrm>
            <a:off x="3338513" y="2373313"/>
            <a:ext cx="2954337" cy="471487"/>
          </a:xfrm>
          <a:prstGeom prst="flowChartProcess">
            <a:avLst/>
          </a:prstGeom>
          <a:solidFill>
            <a:srgbClr val="339966"/>
          </a:solidFill>
          <a:ln w="9525" cap="flat" cmpd="sng">
            <a:solidFill>
              <a:srgbClr val="339966"/>
            </a:solidFill>
            <a:prstDash val="solid"/>
            <a:miter/>
            <a:headEnd type="none" w="med" len="med"/>
            <a:tailEnd type="none" w="med" len="med"/>
          </a:ln>
        </p:spPr>
        <p:txBody>
          <a:bodyPr tIns="8280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读入并测试外设状态</a:t>
            </a:r>
            <a:endParaRPr lang="zh-CN" altLang="en-US" sz="2000" dirty="0">
              <a:solidFill>
                <a:srgbClr val="FFFFFF"/>
              </a:solidFill>
              <a:latin typeface="Times New Roman" panose="02020603050405020304" pitchFamily="18" charset="0"/>
              <a:ea typeface="楷体_GB2312"/>
            </a:endParaRPr>
          </a:p>
        </p:txBody>
      </p:sp>
      <p:sp>
        <p:nvSpPr>
          <p:cNvPr id="63500" name="Line 18"/>
          <p:cNvSpPr/>
          <p:nvPr/>
        </p:nvSpPr>
        <p:spPr>
          <a:xfrm>
            <a:off x="4830763" y="2844800"/>
            <a:ext cx="0" cy="312738"/>
          </a:xfrm>
          <a:prstGeom prst="line">
            <a:avLst/>
          </a:prstGeom>
          <a:ln w="22225" cap="flat" cmpd="sng">
            <a:solidFill>
              <a:srgbClr val="FF6600"/>
            </a:solidFill>
            <a:prstDash val="solid"/>
            <a:bevel/>
            <a:headEnd type="none" w="med" len="med"/>
            <a:tailEnd type="triangle" w="lg" len="lg"/>
          </a:ln>
        </p:spPr>
      </p:sp>
      <p:sp>
        <p:nvSpPr>
          <p:cNvPr id="63501" name="Text Box 21"/>
          <p:cNvSpPr txBox="1"/>
          <p:nvPr/>
        </p:nvSpPr>
        <p:spPr>
          <a:xfrm>
            <a:off x="4913313" y="3763963"/>
            <a:ext cx="287337" cy="2746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2400" dirty="0">
                <a:solidFill>
                  <a:srgbClr val="000000"/>
                </a:solidFill>
                <a:ea typeface="楷体_GB2312"/>
              </a:rPr>
              <a:t>Y</a:t>
            </a:r>
            <a:endParaRPr lang="en-US" altLang="zh-CN" sz="2400" dirty="0">
              <a:solidFill>
                <a:srgbClr val="000000"/>
              </a:solidFill>
              <a:ea typeface="楷体_GB2312"/>
            </a:endParaRPr>
          </a:p>
        </p:txBody>
      </p:sp>
      <p:sp>
        <p:nvSpPr>
          <p:cNvPr id="63502" name="Text Box 22"/>
          <p:cNvSpPr txBox="1"/>
          <p:nvPr/>
        </p:nvSpPr>
        <p:spPr>
          <a:xfrm>
            <a:off x="3328988" y="3154363"/>
            <a:ext cx="287337" cy="2746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2400" dirty="0">
                <a:solidFill>
                  <a:srgbClr val="000000"/>
                </a:solidFill>
                <a:ea typeface="楷体_GB2312"/>
              </a:rPr>
              <a:t>N</a:t>
            </a:r>
            <a:endParaRPr lang="en-US" altLang="zh-CN" sz="2400" dirty="0">
              <a:solidFill>
                <a:srgbClr val="000000"/>
              </a:solidFill>
              <a:ea typeface="楷体_GB2312"/>
            </a:endParaRPr>
          </a:p>
        </p:txBody>
      </p:sp>
      <p:sp>
        <p:nvSpPr>
          <p:cNvPr id="63503" name="AutoShape 23"/>
          <p:cNvSpPr/>
          <p:nvPr/>
        </p:nvSpPr>
        <p:spPr>
          <a:xfrm>
            <a:off x="3663950" y="5040313"/>
            <a:ext cx="2322513" cy="628650"/>
          </a:xfrm>
          <a:prstGeom prst="flowChartDecision">
            <a:avLst/>
          </a:prstGeom>
          <a:solidFill>
            <a:srgbClr val="339966"/>
          </a:solidFill>
          <a:ln w="9525" cap="flat" cmpd="sng">
            <a:solidFill>
              <a:srgbClr val="339966"/>
            </a:solidFill>
            <a:prstDash val="solid"/>
            <a:miter/>
            <a:headEnd type="none" w="med" len="med"/>
            <a:tailEnd type="none" w="med" len="med"/>
          </a:ln>
        </p:spPr>
        <p:txBody>
          <a:bodyPr tIns="1080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2000" dirty="0">
                <a:solidFill>
                  <a:srgbClr val="FFFFFF"/>
                </a:solidFill>
                <a:latin typeface="宋体" panose="02010600030101010101" pitchFamily="2" charset="-122"/>
                <a:ea typeface="楷体_GB2312"/>
              </a:rPr>
              <a:t>传送完？</a:t>
            </a:r>
            <a:endParaRPr lang="zh-CN" altLang="en-US" sz="2000" dirty="0">
              <a:solidFill>
                <a:srgbClr val="FFFFFF"/>
              </a:solidFill>
              <a:latin typeface="Times New Roman" panose="02020603050405020304" pitchFamily="18" charset="0"/>
              <a:ea typeface="楷体_GB2312"/>
            </a:endParaRPr>
          </a:p>
        </p:txBody>
      </p:sp>
      <p:sp>
        <p:nvSpPr>
          <p:cNvPr id="63504" name="Line 24"/>
          <p:cNvSpPr/>
          <p:nvPr/>
        </p:nvSpPr>
        <p:spPr>
          <a:xfrm flipH="1">
            <a:off x="2681288" y="5357813"/>
            <a:ext cx="1039812" cy="0"/>
          </a:xfrm>
          <a:prstGeom prst="line">
            <a:avLst/>
          </a:prstGeom>
          <a:ln w="22225" cap="flat" cmpd="sng">
            <a:solidFill>
              <a:srgbClr val="FF6600"/>
            </a:solidFill>
            <a:prstDash val="solid"/>
            <a:bevel/>
            <a:headEnd type="none" w="med" len="med"/>
            <a:tailEnd type="none" w="med" len="med"/>
          </a:ln>
        </p:spPr>
      </p:sp>
      <p:sp>
        <p:nvSpPr>
          <p:cNvPr id="63505" name="Line 26"/>
          <p:cNvSpPr/>
          <p:nvPr/>
        </p:nvSpPr>
        <p:spPr>
          <a:xfrm>
            <a:off x="4841875" y="5688013"/>
            <a:ext cx="0" cy="388937"/>
          </a:xfrm>
          <a:prstGeom prst="line">
            <a:avLst/>
          </a:prstGeom>
          <a:ln w="22225" cap="flat" cmpd="sng">
            <a:solidFill>
              <a:srgbClr val="FF6600"/>
            </a:solidFill>
            <a:prstDash val="solid"/>
            <a:bevel/>
            <a:headEnd type="none" w="med" len="med"/>
            <a:tailEnd type="triangle" w="lg" len="lg"/>
          </a:ln>
        </p:spPr>
      </p:sp>
      <p:sp>
        <p:nvSpPr>
          <p:cNvPr id="63506" name="Line 28"/>
          <p:cNvSpPr/>
          <p:nvPr/>
        </p:nvSpPr>
        <p:spPr>
          <a:xfrm flipV="1">
            <a:off x="2684463" y="1949450"/>
            <a:ext cx="0" cy="3406775"/>
          </a:xfrm>
          <a:prstGeom prst="line">
            <a:avLst/>
          </a:prstGeom>
          <a:ln w="22225" cap="flat" cmpd="sng">
            <a:solidFill>
              <a:schemeClr val="tx1"/>
            </a:solidFill>
            <a:prstDash val="solid"/>
            <a:bevel/>
            <a:headEnd type="none" w="med" len="med"/>
            <a:tailEnd type="triangle" w="lg" len="lg"/>
          </a:ln>
        </p:spPr>
      </p:sp>
      <p:sp>
        <p:nvSpPr>
          <p:cNvPr id="63507" name="Text Box 30"/>
          <p:cNvSpPr txBox="1"/>
          <p:nvPr/>
        </p:nvSpPr>
        <p:spPr>
          <a:xfrm>
            <a:off x="4913313" y="5688013"/>
            <a:ext cx="287337" cy="2746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2400" dirty="0">
                <a:solidFill>
                  <a:srgbClr val="000000"/>
                </a:solidFill>
                <a:ea typeface="楷体_GB2312"/>
              </a:rPr>
              <a:t>Y</a:t>
            </a:r>
            <a:endParaRPr lang="en-US" altLang="zh-CN" sz="2400" dirty="0">
              <a:solidFill>
                <a:srgbClr val="000000"/>
              </a:solidFill>
              <a:ea typeface="楷体_GB2312"/>
            </a:endParaRPr>
          </a:p>
        </p:txBody>
      </p:sp>
      <p:sp>
        <p:nvSpPr>
          <p:cNvPr id="63508" name="AutoShape 32"/>
          <p:cNvSpPr/>
          <p:nvPr/>
        </p:nvSpPr>
        <p:spPr>
          <a:xfrm>
            <a:off x="4095750" y="6053138"/>
            <a:ext cx="1511300" cy="471487"/>
          </a:xfrm>
          <a:prstGeom prst="flowChartProcess">
            <a:avLst/>
          </a:prstGeom>
          <a:solidFill>
            <a:srgbClr val="339966"/>
          </a:solidFill>
          <a:ln w="9525" cap="flat" cmpd="sng">
            <a:solidFill>
              <a:srgbClr val="339966"/>
            </a:solidFill>
            <a:prstDash val="solid"/>
            <a:miter/>
            <a:headEnd type="none" w="med" len="med"/>
            <a:tailEnd type="none" w="med" len="med"/>
          </a:ln>
        </p:spPr>
        <p:txBody>
          <a:bodyPr tIns="8280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结 束</a:t>
            </a:r>
            <a:endParaRPr lang="zh-CN" altLang="en-US" sz="2000" dirty="0">
              <a:solidFill>
                <a:srgbClr val="FFFFFF"/>
              </a:solidFill>
              <a:latin typeface="Times New Roman" panose="02020603050405020304" pitchFamily="18" charset="0"/>
              <a:ea typeface="楷体_GB2312"/>
            </a:endParaRPr>
          </a:p>
        </p:txBody>
      </p:sp>
      <p:sp>
        <p:nvSpPr>
          <p:cNvPr id="63509" name="Text Box 33"/>
          <p:cNvSpPr txBox="1"/>
          <p:nvPr/>
        </p:nvSpPr>
        <p:spPr>
          <a:xfrm>
            <a:off x="3346450" y="5059363"/>
            <a:ext cx="287338" cy="2746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2400" dirty="0">
                <a:solidFill>
                  <a:srgbClr val="000000"/>
                </a:solidFill>
                <a:ea typeface="楷体_GB2312"/>
              </a:rPr>
              <a:t>N</a:t>
            </a:r>
            <a:endParaRPr lang="en-US" altLang="zh-CN" sz="2400" dirty="0">
              <a:solidFill>
                <a:srgbClr val="000000"/>
              </a:solidFill>
              <a:ea typeface="楷体_GB2312"/>
            </a:endParaRPr>
          </a:p>
        </p:txBody>
      </p:sp>
      <p:sp>
        <p:nvSpPr>
          <p:cNvPr id="63510" name="Line 34"/>
          <p:cNvSpPr/>
          <p:nvPr/>
        </p:nvSpPr>
        <p:spPr>
          <a:xfrm>
            <a:off x="2670175" y="1949450"/>
            <a:ext cx="2149475" cy="0"/>
          </a:xfrm>
          <a:prstGeom prst="line">
            <a:avLst/>
          </a:prstGeom>
          <a:ln w="22225" cap="flat" cmpd="sng">
            <a:solidFill>
              <a:schemeClr val="tx1"/>
            </a:solidFill>
            <a:prstDash val="solid"/>
            <a:bevel/>
            <a:headEnd type="none" w="med" len="med"/>
            <a:tailEnd type="triangle" w="lg" len="lg"/>
          </a:ln>
        </p:spPr>
      </p:sp>
      <p:sp>
        <p:nvSpPr>
          <p:cNvPr id="63511" name="Line 35"/>
          <p:cNvSpPr/>
          <p:nvPr/>
        </p:nvSpPr>
        <p:spPr>
          <a:xfrm>
            <a:off x="4830763" y="1943100"/>
            <a:ext cx="0" cy="409575"/>
          </a:xfrm>
          <a:prstGeom prst="line">
            <a:avLst/>
          </a:prstGeom>
          <a:ln w="22225" cap="flat" cmpd="sng">
            <a:solidFill>
              <a:schemeClr val="tx1"/>
            </a:solidFill>
            <a:prstDash val="solid"/>
            <a:bevel/>
            <a:headEnd type="none" w="med" len="med"/>
            <a:tailEnd type="triangle" w="lg" len="lg"/>
          </a:ln>
        </p:spPr>
      </p:sp>
      <p:sp>
        <p:nvSpPr>
          <p:cNvPr id="63512" name="AutoShape 38"/>
          <p:cNvSpPr/>
          <p:nvPr/>
        </p:nvSpPr>
        <p:spPr>
          <a:xfrm>
            <a:off x="7143750" y="3290888"/>
            <a:ext cx="1820863" cy="2378075"/>
          </a:xfrm>
          <a:prstGeom prst="cloudCallout">
            <a:avLst>
              <a:gd name="adj1" fmla="val -94894"/>
              <a:gd name="adj2" fmla="val -6134"/>
            </a:avLst>
          </a:prstGeom>
          <a:solidFill>
            <a:srgbClr val="FF6600"/>
          </a:solidFill>
          <a:ln w="25400" cap="sq" cmpd="sng">
            <a:solidFill>
              <a:srgbClr val="FF66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2000" dirty="0">
                <a:solidFill>
                  <a:srgbClr val="000000"/>
                </a:solidFill>
                <a:latin typeface="Times New Roman" panose="02020603050405020304" pitchFamily="18" charset="0"/>
                <a:ea typeface="楷体_GB2312"/>
              </a:rPr>
              <a:t>每满足一次条件只能进行一次数据传送</a:t>
            </a:r>
            <a:endParaRPr lang="zh-CN" altLang="en-US" sz="2000" dirty="0">
              <a:solidFill>
                <a:srgbClr val="000000"/>
              </a:solidFill>
              <a:latin typeface="Times New Roman" panose="02020603050405020304" pitchFamily="18" charset="0"/>
              <a:ea typeface="楷体_GB2312"/>
            </a:endParaRPr>
          </a:p>
        </p:txBody>
      </p:sp>
      <p:grpSp>
        <p:nvGrpSpPr>
          <p:cNvPr id="63513" name="Group 41"/>
          <p:cNvGrpSpPr/>
          <p:nvPr/>
        </p:nvGrpSpPr>
        <p:grpSpPr>
          <a:xfrm>
            <a:off x="4116388" y="1108075"/>
            <a:ext cx="1439862" cy="433388"/>
            <a:chOff x="0" y="0"/>
            <a:chExt cx="907" cy="273"/>
          </a:xfrm>
        </p:grpSpPr>
        <p:sp>
          <p:nvSpPr>
            <p:cNvPr id="143387" name="AutoShape 39"/>
            <p:cNvSpPr/>
            <p:nvPr/>
          </p:nvSpPr>
          <p:spPr>
            <a:xfrm>
              <a:off x="0" y="0"/>
              <a:ext cx="907" cy="273"/>
            </a:xfrm>
            <a:prstGeom prst="flowChartAlternateProcess">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3388" name="Text Box 40"/>
            <p:cNvSpPr txBox="1"/>
            <p:nvPr/>
          </p:nvSpPr>
          <p:spPr>
            <a:xfrm>
              <a:off x="242" y="10"/>
              <a:ext cx="544" cy="231"/>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FFFFFF"/>
                  </a:solidFill>
                  <a:latin typeface="Times New Roman" panose="02020603050405020304" pitchFamily="18" charset="0"/>
                  <a:ea typeface="楷体_GB2312"/>
                </a:rPr>
                <a:t>开 始</a:t>
              </a:r>
              <a:endParaRPr lang="zh-CN" altLang="en-US" sz="2400" dirty="0">
                <a:solidFill>
                  <a:srgbClr val="FFFFFF"/>
                </a:solidFill>
                <a:latin typeface="Times New Roman" panose="02020603050405020304" pitchFamily="18" charset="0"/>
                <a:ea typeface="楷体_GB2312"/>
              </a:endParaRPr>
            </a:p>
          </p:txBody>
        </p:sp>
      </p:grpSp>
      <p:sp>
        <p:nvSpPr>
          <p:cNvPr id="63516" name="Text Box 42"/>
          <p:cNvSpPr txBox="1"/>
          <p:nvPr/>
        </p:nvSpPr>
        <p:spPr>
          <a:xfrm>
            <a:off x="323850" y="333375"/>
            <a:ext cx="3887788" cy="51911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dirty="0">
                <a:solidFill>
                  <a:srgbClr val="000000"/>
                </a:solidFill>
                <a:latin typeface="Times New Roman" panose="02020603050405020304" pitchFamily="18" charset="0"/>
                <a:ea typeface="楷体_GB2312"/>
              </a:rPr>
              <a:t>查询工作方式流程图</a:t>
            </a:r>
            <a:endParaRPr lang="zh-CN" altLang="en-US" dirty="0">
              <a:solidFill>
                <a:srgbClr val="000000"/>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63516"/>
                                        </p:tgtEl>
                                        <p:attrNameLst>
                                          <p:attrName>style.visibility</p:attrName>
                                        </p:attrNameLst>
                                      </p:cBhvr>
                                      <p:to>
                                        <p:strVal val="visible"/>
                                      </p:to>
                                    </p:set>
                                    <p:anim calcmode="lin" valueType="num">
                                      <p:cBhvr>
                                        <p:cTn id="7" dur="1000" fill="hold"/>
                                        <p:tgtEl>
                                          <p:spTgt spid="63516"/>
                                        </p:tgtEl>
                                        <p:attrNameLst>
                                          <p:attrName>ppt_w</p:attrName>
                                        </p:attrNameLst>
                                      </p:cBhvr>
                                      <p:tavLst>
                                        <p:tav tm="0">
                                          <p:val>
                                            <p:strVal val="#ppt_w*0.70"/>
                                          </p:val>
                                        </p:tav>
                                        <p:tav tm="100000">
                                          <p:val>
                                            <p:strVal val="#ppt_w"/>
                                          </p:val>
                                        </p:tav>
                                      </p:tavLst>
                                    </p:anim>
                                    <p:anim calcmode="lin" valueType="num">
                                      <p:cBhvr>
                                        <p:cTn id="8" dur="1000" fill="hold"/>
                                        <p:tgtEl>
                                          <p:spTgt spid="63516"/>
                                        </p:tgtEl>
                                        <p:attrNameLst>
                                          <p:attrName>ppt_h</p:attrName>
                                        </p:attrNameLst>
                                      </p:cBhvr>
                                      <p:tavLst>
                                        <p:tav tm="0">
                                          <p:val>
                                            <p:strVal val="#ppt_h"/>
                                          </p:val>
                                        </p:tav>
                                        <p:tav tm="100000">
                                          <p:val>
                                            <p:strVal val="#ppt_h"/>
                                          </p:val>
                                        </p:tav>
                                      </p:tavLst>
                                    </p:anim>
                                    <p:animEffect transition="in" filter="fade">
                                      <p:cBhvr>
                                        <p:cTn id="9" dur="1000"/>
                                        <p:tgtEl>
                                          <p:spTgt spid="63516"/>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63513"/>
                                        </p:tgtEl>
                                        <p:attrNameLst>
                                          <p:attrName>style.visibility</p:attrName>
                                        </p:attrNameLst>
                                      </p:cBhvr>
                                      <p:to>
                                        <p:strVal val="visible"/>
                                      </p:to>
                                    </p:set>
                                    <p:animEffect transition="in" filter="blinds(horizontal)">
                                      <p:cBhvr>
                                        <p:cTn id="14" dur="500"/>
                                        <p:tgtEl>
                                          <p:spTgt spid="63513"/>
                                        </p:tgtEl>
                                      </p:cBhvr>
                                    </p:animEffect>
                                  </p:childTnLst>
                                </p:cTn>
                              </p:par>
                            </p:childTnLst>
                          </p:cTn>
                        </p:par>
                        <p:par>
                          <p:cTn id="15" fill="hold">
                            <p:stCondLst>
                              <p:cond delay="500"/>
                            </p:stCondLst>
                            <p:childTnLst>
                              <p:par>
                                <p:cTn id="16" presetID="22" presetClass="entr" presetSubtype="1" fill="hold" nodeType="afterEffect">
                                  <p:stCondLst>
                                    <p:cond delay="0"/>
                                  </p:stCondLst>
                                  <p:childTnLst>
                                    <p:set>
                                      <p:cBhvr>
                                        <p:cTn id="17" dur="1" fill="hold">
                                          <p:stCondLst>
                                            <p:cond delay="0"/>
                                          </p:stCondLst>
                                        </p:cTn>
                                        <p:tgtEl>
                                          <p:spTgt spid="63490"/>
                                        </p:tgtEl>
                                        <p:attrNameLst>
                                          <p:attrName>style.visibility</p:attrName>
                                        </p:attrNameLst>
                                      </p:cBhvr>
                                      <p:to>
                                        <p:strVal val="visible"/>
                                      </p:to>
                                    </p:set>
                                    <p:animEffect transition="in" filter="wipe(up)">
                                      <p:cBhvr>
                                        <p:cTn id="18" dur="500"/>
                                        <p:tgtEl>
                                          <p:spTgt spid="63490"/>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63499"/>
                                        </p:tgtEl>
                                        <p:attrNameLst>
                                          <p:attrName>style.visibility</p:attrName>
                                        </p:attrNameLst>
                                      </p:cBhvr>
                                      <p:to>
                                        <p:strVal val="visible"/>
                                      </p:to>
                                    </p:set>
                                    <p:animEffect transition="in" filter="blinds(horizontal)">
                                      <p:cBhvr>
                                        <p:cTn id="23" dur="500"/>
                                        <p:tgtEl>
                                          <p:spTgt spid="63499"/>
                                        </p:tgtEl>
                                      </p:cBhvr>
                                    </p:animEffect>
                                  </p:childTnLst>
                                </p:cTn>
                              </p:par>
                            </p:childTnLst>
                          </p:cTn>
                        </p:par>
                        <p:par>
                          <p:cTn id="24" fill="hold">
                            <p:stCondLst>
                              <p:cond delay="500"/>
                            </p:stCondLst>
                            <p:childTnLst>
                              <p:par>
                                <p:cTn id="25" presetID="22" presetClass="entr" presetSubtype="1" fill="hold" nodeType="afterEffect">
                                  <p:stCondLst>
                                    <p:cond delay="0"/>
                                  </p:stCondLst>
                                  <p:childTnLst>
                                    <p:set>
                                      <p:cBhvr>
                                        <p:cTn id="26" dur="1" fill="hold">
                                          <p:stCondLst>
                                            <p:cond delay="0"/>
                                          </p:stCondLst>
                                        </p:cTn>
                                        <p:tgtEl>
                                          <p:spTgt spid="63500"/>
                                        </p:tgtEl>
                                        <p:attrNameLst>
                                          <p:attrName>style.visibility</p:attrName>
                                        </p:attrNameLst>
                                      </p:cBhvr>
                                      <p:to>
                                        <p:strVal val="visible"/>
                                      </p:to>
                                    </p:set>
                                    <p:animEffect transition="in" filter="wipe(up)">
                                      <p:cBhvr>
                                        <p:cTn id="27" dur="500"/>
                                        <p:tgtEl>
                                          <p:spTgt spid="6350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3491"/>
                                        </p:tgtEl>
                                        <p:attrNameLst>
                                          <p:attrName>style.visibility</p:attrName>
                                        </p:attrNameLst>
                                      </p:cBhvr>
                                      <p:to>
                                        <p:strVal val="visible"/>
                                      </p:to>
                                    </p:set>
                                    <p:animEffect transition="in" filter="blinds(horizontal)">
                                      <p:cBhvr>
                                        <p:cTn id="32" dur="500"/>
                                        <p:tgtEl>
                                          <p:spTgt spid="6349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3502"/>
                                        </p:tgtEl>
                                        <p:attrNameLst>
                                          <p:attrName>style.visibility</p:attrName>
                                        </p:attrNameLst>
                                      </p:cBhvr>
                                      <p:to>
                                        <p:strVal val="visible"/>
                                      </p:to>
                                    </p:set>
                                    <p:animEffect transition="in" filter="blinds(horizontal)">
                                      <p:cBhvr>
                                        <p:cTn id="37" dur="500"/>
                                        <p:tgtEl>
                                          <p:spTgt spid="63502"/>
                                        </p:tgtEl>
                                      </p:cBhvr>
                                    </p:animEffect>
                                  </p:childTnLst>
                                </p:cTn>
                              </p:par>
                            </p:childTnLst>
                          </p:cTn>
                        </p:par>
                        <p:par>
                          <p:cTn id="38" fill="hold">
                            <p:stCondLst>
                              <p:cond delay="500"/>
                            </p:stCondLst>
                            <p:childTnLst>
                              <p:par>
                                <p:cTn id="39" presetID="18" presetClass="entr" presetSubtype="12" fill="hold" nodeType="afterEffect">
                                  <p:stCondLst>
                                    <p:cond delay="0"/>
                                  </p:stCondLst>
                                  <p:childTnLst>
                                    <p:set>
                                      <p:cBhvr>
                                        <p:cTn id="40" dur="1" fill="hold">
                                          <p:stCondLst>
                                            <p:cond delay="0"/>
                                          </p:stCondLst>
                                        </p:cTn>
                                        <p:tgtEl>
                                          <p:spTgt spid="63495"/>
                                        </p:tgtEl>
                                        <p:attrNameLst>
                                          <p:attrName>style.visibility</p:attrName>
                                        </p:attrNameLst>
                                      </p:cBhvr>
                                      <p:to>
                                        <p:strVal val="visible"/>
                                      </p:to>
                                    </p:set>
                                    <p:animEffect transition="in" filter="strips(downLeft)">
                                      <p:cBhvr>
                                        <p:cTn id="41" dur="1000"/>
                                        <p:tgtEl>
                                          <p:spTgt spid="63495"/>
                                        </p:tgtEl>
                                      </p:cBhvr>
                                    </p:animEffect>
                                  </p:childTnLst>
                                </p:cTn>
                              </p:par>
                            </p:childTnLst>
                          </p:cTn>
                        </p:par>
                        <p:par>
                          <p:cTn id="42" fill="hold">
                            <p:stCondLst>
                              <p:cond delay="1500"/>
                            </p:stCondLst>
                            <p:childTnLst>
                              <p:par>
                                <p:cTn id="43" presetID="18" presetClass="entr" presetSubtype="3" fill="hold" nodeType="afterEffect">
                                  <p:stCondLst>
                                    <p:cond delay="0"/>
                                  </p:stCondLst>
                                  <p:childTnLst>
                                    <p:set>
                                      <p:cBhvr>
                                        <p:cTn id="44" dur="1" fill="hold">
                                          <p:stCondLst>
                                            <p:cond delay="0"/>
                                          </p:stCondLst>
                                        </p:cTn>
                                        <p:tgtEl>
                                          <p:spTgt spid="63496"/>
                                        </p:tgtEl>
                                        <p:attrNameLst>
                                          <p:attrName>style.visibility</p:attrName>
                                        </p:attrNameLst>
                                      </p:cBhvr>
                                      <p:to>
                                        <p:strVal val="visible"/>
                                      </p:to>
                                    </p:set>
                                    <p:animEffect transition="in" filter="strips(upRight)">
                                      <p:cBhvr>
                                        <p:cTn id="45" dur="1000"/>
                                        <p:tgtEl>
                                          <p:spTgt spid="63496"/>
                                        </p:tgtEl>
                                      </p:cBhvr>
                                    </p:animEffect>
                                  </p:childTnLst>
                                </p:cTn>
                              </p:par>
                            </p:childTnLst>
                          </p:cTn>
                        </p:par>
                        <p:par>
                          <p:cTn id="46" fill="hold">
                            <p:stCondLst>
                              <p:cond delay="2500"/>
                            </p:stCondLst>
                            <p:childTnLst>
                              <p:par>
                                <p:cTn id="47" presetID="18" presetClass="entr" presetSubtype="3" fill="hold" nodeType="afterEffect">
                                  <p:stCondLst>
                                    <p:cond delay="0"/>
                                  </p:stCondLst>
                                  <p:childTnLst>
                                    <p:set>
                                      <p:cBhvr>
                                        <p:cTn id="48" dur="1" fill="hold">
                                          <p:stCondLst>
                                            <p:cond delay="0"/>
                                          </p:stCondLst>
                                        </p:cTn>
                                        <p:tgtEl>
                                          <p:spTgt spid="63497"/>
                                        </p:tgtEl>
                                        <p:attrNameLst>
                                          <p:attrName>style.visibility</p:attrName>
                                        </p:attrNameLst>
                                      </p:cBhvr>
                                      <p:to>
                                        <p:strVal val="visible"/>
                                      </p:to>
                                    </p:set>
                                    <p:animEffect transition="in" filter="strips(upRight)">
                                      <p:cBhvr>
                                        <p:cTn id="49" dur="1000"/>
                                        <p:tgtEl>
                                          <p:spTgt spid="63497"/>
                                        </p:tgtEl>
                                      </p:cBhvr>
                                    </p:animEffect>
                                  </p:childTnLst>
                                </p:cTn>
                              </p:par>
                            </p:childTnLst>
                          </p:cTn>
                        </p:par>
                        <p:par>
                          <p:cTn id="50" fill="hold">
                            <p:stCondLst>
                              <p:cond delay="3500"/>
                            </p:stCondLst>
                            <p:childTnLst>
                              <p:par>
                                <p:cTn id="51" presetID="18" presetClass="entr" presetSubtype="12" fill="hold" nodeType="afterEffect">
                                  <p:stCondLst>
                                    <p:cond delay="0"/>
                                  </p:stCondLst>
                                  <p:childTnLst>
                                    <p:set>
                                      <p:cBhvr>
                                        <p:cTn id="52" dur="1" fill="hold">
                                          <p:stCondLst>
                                            <p:cond delay="0"/>
                                          </p:stCondLst>
                                        </p:cTn>
                                        <p:tgtEl>
                                          <p:spTgt spid="63493"/>
                                        </p:tgtEl>
                                        <p:attrNameLst>
                                          <p:attrName>style.visibility</p:attrName>
                                        </p:attrNameLst>
                                      </p:cBhvr>
                                      <p:to>
                                        <p:strVal val="visible"/>
                                      </p:to>
                                    </p:set>
                                    <p:animEffect transition="in" filter="strips(downLeft)">
                                      <p:cBhvr>
                                        <p:cTn id="53" dur="500"/>
                                        <p:tgtEl>
                                          <p:spTgt spid="63493"/>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63501"/>
                                        </p:tgtEl>
                                        <p:attrNameLst>
                                          <p:attrName>style.visibility</p:attrName>
                                        </p:attrNameLst>
                                      </p:cBhvr>
                                      <p:to>
                                        <p:strVal val="visible"/>
                                      </p:to>
                                    </p:set>
                                    <p:animEffect transition="in" filter="blinds(horizontal)">
                                      <p:cBhvr>
                                        <p:cTn id="58" dur="500"/>
                                        <p:tgtEl>
                                          <p:spTgt spid="63501"/>
                                        </p:tgtEl>
                                      </p:cBhvr>
                                    </p:animEffect>
                                  </p:childTnLst>
                                </p:cTn>
                              </p:par>
                            </p:childTnLst>
                          </p:cTn>
                        </p:par>
                        <p:par>
                          <p:cTn id="59" fill="hold">
                            <p:stCondLst>
                              <p:cond delay="500"/>
                            </p:stCondLst>
                            <p:childTnLst>
                              <p:par>
                                <p:cTn id="60" presetID="22" presetClass="entr" presetSubtype="1" fill="hold" nodeType="afterEffect">
                                  <p:stCondLst>
                                    <p:cond delay="0"/>
                                  </p:stCondLst>
                                  <p:childTnLst>
                                    <p:set>
                                      <p:cBhvr>
                                        <p:cTn id="61" dur="1" fill="hold">
                                          <p:stCondLst>
                                            <p:cond delay="0"/>
                                          </p:stCondLst>
                                        </p:cTn>
                                        <p:tgtEl>
                                          <p:spTgt spid="63494"/>
                                        </p:tgtEl>
                                        <p:attrNameLst>
                                          <p:attrName>style.visibility</p:attrName>
                                        </p:attrNameLst>
                                      </p:cBhvr>
                                      <p:to>
                                        <p:strVal val="visible"/>
                                      </p:to>
                                    </p:set>
                                    <p:animEffect transition="in" filter="wipe(up)">
                                      <p:cBhvr>
                                        <p:cTn id="62" dur="500"/>
                                        <p:tgtEl>
                                          <p:spTgt spid="63494"/>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3492"/>
                                        </p:tgtEl>
                                        <p:attrNameLst>
                                          <p:attrName>style.visibility</p:attrName>
                                        </p:attrNameLst>
                                      </p:cBhvr>
                                      <p:to>
                                        <p:strVal val="visible"/>
                                      </p:to>
                                    </p:set>
                                    <p:animEffect transition="in" filter="blinds(horizontal)">
                                      <p:cBhvr>
                                        <p:cTn id="67" dur="500"/>
                                        <p:tgtEl>
                                          <p:spTgt spid="6349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nodeType="clickEffect">
                                  <p:stCondLst>
                                    <p:cond delay="0"/>
                                  </p:stCondLst>
                                  <p:childTnLst>
                                    <p:set>
                                      <p:cBhvr>
                                        <p:cTn id="71" dur="1" fill="hold">
                                          <p:stCondLst>
                                            <p:cond delay="0"/>
                                          </p:stCondLst>
                                        </p:cTn>
                                        <p:tgtEl>
                                          <p:spTgt spid="63498"/>
                                        </p:tgtEl>
                                        <p:attrNameLst>
                                          <p:attrName>style.visibility</p:attrName>
                                        </p:attrNameLst>
                                      </p:cBhvr>
                                      <p:to>
                                        <p:strVal val="visible"/>
                                      </p:to>
                                    </p:set>
                                    <p:animEffect transition="in" filter="wipe(up)">
                                      <p:cBhvr>
                                        <p:cTn id="72" dur="500"/>
                                        <p:tgtEl>
                                          <p:spTgt spid="63498"/>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63503"/>
                                        </p:tgtEl>
                                        <p:attrNameLst>
                                          <p:attrName>style.visibility</p:attrName>
                                        </p:attrNameLst>
                                      </p:cBhvr>
                                      <p:to>
                                        <p:strVal val="visible"/>
                                      </p:to>
                                    </p:set>
                                    <p:animEffect transition="in" filter="blinds(horizontal)">
                                      <p:cBhvr>
                                        <p:cTn id="77" dur="500"/>
                                        <p:tgtEl>
                                          <p:spTgt spid="63503"/>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63507"/>
                                        </p:tgtEl>
                                        <p:attrNameLst>
                                          <p:attrName>style.visibility</p:attrName>
                                        </p:attrNameLst>
                                      </p:cBhvr>
                                      <p:to>
                                        <p:strVal val="visible"/>
                                      </p:to>
                                    </p:set>
                                    <p:animEffect transition="in" filter="blinds(horizontal)">
                                      <p:cBhvr>
                                        <p:cTn id="82" dur="500"/>
                                        <p:tgtEl>
                                          <p:spTgt spid="63507"/>
                                        </p:tgtEl>
                                      </p:cBhvr>
                                    </p:animEffect>
                                  </p:childTnLst>
                                </p:cTn>
                              </p:par>
                            </p:childTnLst>
                          </p:cTn>
                        </p:par>
                        <p:par>
                          <p:cTn id="83" fill="hold">
                            <p:stCondLst>
                              <p:cond delay="500"/>
                            </p:stCondLst>
                            <p:childTnLst>
                              <p:par>
                                <p:cTn id="84" presetID="22" presetClass="entr" presetSubtype="1" fill="hold" nodeType="afterEffect">
                                  <p:stCondLst>
                                    <p:cond delay="0"/>
                                  </p:stCondLst>
                                  <p:childTnLst>
                                    <p:set>
                                      <p:cBhvr>
                                        <p:cTn id="85" dur="1" fill="hold">
                                          <p:stCondLst>
                                            <p:cond delay="0"/>
                                          </p:stCondLst>
                                        </p:cTn>
                                        <p:tgtEl>
                                          <p:spTgt spid="63505"/>
                                        </p:tgtEl>
                                        <p:attrNameLst>
                                          <p:attrName>style.visibility</p:attrName>
                                        </p:attrNameLst>
                                      </p:cBhvr>
                                      <p:to>
                                        <p:strVal val="visible"/>
                                      </p:to>
                                    </p:set>
                                    <p:animEffect transition="in" filter="wipe(up)">
                                      <p:cBhvr>
                                        <p:cTn id="86" dur="500"/>
                                        <p:tgtEl>
                                          <p:spTgt spid="63505"/>
                                        </p:tgtEl>
                                      </p:cBhvr>
                                    </p:animEffect>
                                  </p:childTnLst>
                                </p:cTn>
                              </p:par>
                            </p:childTnLst>
                          </p:cTn>
                        </p:par>
                        <p:par>
                          <p:cTn id="87" fill="hold">
                            <p:stCondLst>
                              <p:cond delay="1000"/>
                            </p:stCondLst>
                            <p:childTnLst>
                              <p:par>
                                <p:cTn id="88" presetID="3" presetClass="entr" presetSubtype="10" fill="hold" grpId="0" nodeType="afterEffect">
                                  <p:stCondLst>
                                    <p:cond delay="0"/>
                                  </p:stCondLst>
                                  <p:childTnLst>
                                    <p:set>
                                      <p:cBhvr>
                                        <p:cTn id="89" dur="1" fill="hold">
                                          <p:stCondLst>
                                            <p:cond delay="0"/>
                                          </p:stCondLst>
                                        </p:cTn>
                                        <p:tgtEl>
                                          <p:spTgt spid="63508"/>
                                        </p:tgtEl>
                                        <p:attrNameLst>
                                          <p:attrName>style.visibility</p:attrName>
                                        </p:attrNameLst>
                                      </p:cBhvr>
                                      <p:to>
                                        <p:strVal val="visible"/>
                                      </p:to>
                                    </p:set>
                                    <p:animEffect transition="in" filter="blinds(horizontal)">
                                      <p:cBhvr>
                                        <p:cTn id="90" dur="500"/>
                                        <p:tgtEl>
                                          <p:spTgt spid="63508"/>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63509"/>
                                        </p:tgtEl>
                                        <p:attrNameLst>
                                          <p:attrName>style.visibility</p:attrName>
                                        </p:attrNameLst>
                                      </p:cBhvr>
                                      <p:to>
                                        <p:strVal val="visible"/>
                                      </p:to>
                                    </p:set>
                                    <p:animEffect transition="in" filter="blinds(horizontal)">
                                      <p:cBhvr>
                                        <p:cTn id="95" dur="500"/>
                                        <p:tgtEl>
                                          <p:spTgt spid="63509"/>
                                        </p:tgtEl>
                                      </p:cBhvr>
                                    </p:animEffect>
                                  </p:childTnLst>
                                </p:cTn>
                              </p:par>
                            </p:childTnLst>
                          </p:cTn>
                        </p:par>
                        <p:par>
                          <p:cTn id="96" fill="hold">
                            <p:stCondLst>
                              <p:cond delay="500"/>
                            </p:stCondLst>
                            <p:childTnLst>
                              <p:par>
                                <p:cTn id="97" presetID="18" presetClass="entr" presetSubtype="9" fill="hold" nodeType="afterEffect">
                                  <p:stCondLst>
                                    <p:cond delay="0"/>
                                  </p:stCondLst>
                                  <p:childTnLst>
                                    <p:set>
                                      <p:cBhvr>
                                        <p:cTn id="98" dur="1" fill="hold">
                                          <p:stCondLst>
                                            <p:cond delay="0"/>
                                          </p:stCondLst>
                                        </p:cTn>
                                        <p:tgtEl>
                                          <p:spTgt spid="63504"/>
                                        </p:tgtEl>
                                        <p:attrNameLst>
                                          <p:attrName>style.visibility</p:attrName>
                                        </p:attrNameLst>
                                      </p:cBhvr>
                                      <p:to>
                                        <p:strVal val="visible"/>
                                      </p:to>
                                    </p:set>
                                    <p:animEffect transition="in" filter="strips(upLeft)">
                                      <p:cBhvr>
                                        <p:cTn id="99" dur="500"/>
                                        <p:tgtEl>
                                          <p:spTgt spid="63504"/>
                                        </p:tgtEl>
                                      </p:cBhvr>
                                    </p:animEffect>
                                  </p:childTnLst>
                                </p:cTn>
                              </p:par>
                            </p:childTnLst>
                          </p:cTn>
                        </p:par>
                        <p:par>
                          <p:cTn id="100" fill="hold">
                            <p:stCondLst>
                              <p:cond delay="1000"/>
                            </p:stCondLst>
                            <p:childTnLst>
                              <p:par>
                                <p:cTn id="101" presetID="22" presetClass="entr" presetSubtype="4" fill="hold" nodeType="afterEffect">
                                  <p:stCondLst>
                                    <p:cond delay="0"/>
                                  </p:stCondLst>
                                  <p:childTnLst>
                                    <p:set>
                                      <p:cBhvr>
                                        <p:cTn id="102" dur="1" fill="hold">
                                          <p:stCondLst>
                                            <p:cond delay="0"/>
                                          </p:stCondLst>
                                        </p:cTn>
                                        <p:tgtEl>
                                          <p:spTgt spid="63506"/>
                                        </p:tgtEl>
                                        <p:attrNameLst>
                                          <p:attrName>style.visibility</p:attrName>
                                        </p:attrNameLst>
                                      </p:cBhvr>
                                      <p:to>
                                        <p:strVal val="visible"/>
                                      </p:to>
                                    </p:set>
                                    <p:animEffect transition="in" filter="wipe(down)">
                                      <p:cBhvr>
                                        <p:cTn id="103" dur="500"/>
                                        <p:tgtEl>
                                          <p:spTgt spid="63506"/>
                                        </p:tgtEl>
                                      </p:cBhvr>
                                    </p:animEffect>
                                  </p:childTnLst>
                                </p:cTn>
                              </p:par>
                            </p:childTnLst>
                          </p:cTn>
                        </p:par>
                        <p:par>
                          <p:cTn id="104" fill="hold">
                            <p:stCondLst>
                              <p:cond delay="1500"/>
                            </p:stCondLst>
                            <p:childTnLst>
                              <p:par>
                                <p:cTn id="105" presetID="18" presetClass="entr" presetSubtype="3" fill="hold" nodeType="afterEffect">
                                  <p:stCondLst>
                                    <p:cond delay="0"/>
                                  </p:stCondLst>
                                  <p:childTnLst>
                                    <p:set>
                                      <p:cBhvr>
                                        <p:cTn id="106" dur="1" fill="hold">
                                          <p:stCondLst>
                                            <p:cond delay="0"/>
                                          </p:stCondLst>
                                        </p:cTn>
                                        <p:tgtEl>
                                          <p:spTgt spid="63510"/>
                                        </p:tgtEl>
                                        <p:attrNameLst>
                                          <p:attrName>style.visibility</p:attrName>
                                        </p:attrNameLst>
                                      </p:cBhvr>
                                      <p:to>
                                        <p:strVal val="visible"/>
                                      </p:to>
                                    </p:set>
                                    <p:animEffect transition="in" filter="strips(upRight)">
                                      <p:cBhvr>
                                        <p:cTn id="107" dur="1000"/>
                                        <p:tgtEl>
                                          <p:spTgt spid="63510"/>
                                        </p:tgtEl>
                                      </p:cBhvr>
                                    </p:animEffect>
                                  </p:childTnLst>
                                </p:cTn>
                              </p:par>
                            </p:childTnLst>
                          </p:cTn>
                        </p:par>
                        <p:par>
                          <p:cTn id="108" fill="hold">
                            <p:stCondLst>
                              <p:cond delay="2500"/>
                            </p:stCondLst>
                            <p:childTnLst>
                              <p:par>
                                <p:cTn id="109" presetID="22" presetClass="entr" presetSubtype="1" fill="hold" nodeType="afterEffect">
                                  <p:stCondLst>
                                    <p:cond delay="0"/>
                                  </p:stCondLst>
                                  <p:childTnLst>
                                    <p:set>
                                      <p:cBhvr>
                                        <p:cTn id="110" dur="1" fill="hold">
                                          <p:stCondLst>
                                            <p:cond delay="0"/>
                                          </p:stCondLst>
                                        </p:cTn>
                                        <p:tgtEl>
                                          <p:spTgt spid="63511"/>
                                        </p:tgtEl>
                                        <p:attrNameLst>
                                          <p:attrName>style.visibility</p:attrName>
                                        </p:attrNameLst>
                                      </p:cBhvr>
                                      <p:to>
                                        <p:strVal val="visible"/>
                                      </p:to>
                                    </p:set>
                                    <p:animEffect transition="in" filter="wipe(up)">
                                      <p:cBhvr>
                                        <p:cTn id="111" dur="500"/>
                                        <p:tgtEl>
                                          <p:spTgt spid="63511"/>
                                        </p:tgtEl>
                                      </p:cBhvr>
                                    </p:animEffect>
                                  </p:childTnLst>
                                </p:cTn>
                              </p:par>
                            </p:childTnLst>
                          </p:cTn>
                        </p:par>
                      </p:childTnLst>
                    </p:cTn>
                  </p:par>
                  <p:par>
                    <p:cTn id="112" fill="hold">
                      <p:stCondLst>
                        <p:cond delay="indefinite"/>
                      </p:stCondLst>
                      <p:childTnLst>
                        <p:par>
                          <p:cTn id="113" fill="hold">
                            <p:stCondLst>
                              <p:cond delay="0"/>
                            </p:stCondLst>
                            <p:childTnLst>
                              <p:par>
                                <p:cTn id="114" presetID="2" presetClass="entr" presetSubtype="4" fill="hold" grpId="0" nodeType="clickEffect">
                                  <p:stCondLst>
                                    <p:cond delay="0"/>
                                  </p:stCondLst>
                                  <p:childTnLst>
                                    <p:set>
                                      <p:cBhvr>
                                        <p:cTn id="115" dur="1" fill="hold">
                                          <p:stCondLst>
                                            <p:cond delay="0"/>
                                          </p:stCondLst>
                                        </p:cTn>
                                        <p:tgtEl>
                                          <p:spTgt spid="63512"/>
                                        </p:tgtEl>
                                        <p:attrNameLst>
                                          <p:attrName>style.visibility</p:attrName>
                                        </p:attrNameLst>
                                      </p:cBhvr>
                                      <p:to>
                                        <p:strVal val="visible"/>
                                      </p:to>
                                    </p:set>
                                    <p:anim calcmode="lin" valueType="num">
                                      <p:cBhvr>
                                        <p:cTn id="116" dur="500" fill="hold"/>
                                        <p:tgtEl>
                                          <p:spTgt spid="63512"/>
                                        </p:tgtEl>
                                        <p:attrNameLst>
                                          <p:attrName>ppt_x</p:attrName>
                                        </p:attrNameLst>
                                      </p:cBhvr>
                                      <p:tavLst>
                                        <p:tav tm="0">
                                          <p:val>
                                            <p:strVal val="#ppt_x"/>
                                          </p:val>
                                        </p:tav>
                                        <p:tav tm="100000">
                                          <p:val>
                                            <p:strVal val="#ppt_x"/>
                                          </p:val>
                                        </p:tav>
                                      </p:tavLst>
                                    </p:anim>
                                    <p:anim calcmode="lin" valueType="num">
                                      <p:cBhvr>
                                        <p:cTn id="117" dur="500" fill="hold"/>
                                        <p:tgtEl>
                                          <p:spTgt spid="63512"/>
                                        </p:tgtEl>
                                        <p:attrNameLst>
                                          <p:attrName>ppt_y</p:attrName>
                                        </p:attrNameLst>
                                      </p:cBhvr>
                                      <p:tavLst>
                                        <p:tav tm="0">
                                          <p:val>
                                            <p:strVal val="1+#ppt_h/2"/>
                                          </p:val>
                                        </p:tav>
                                        <p:tav tm="100000">
                                          <p:val>
                                            <p:strVal val="#ppt_y"/>
                                          </p:val>
                                        </p:tav>
                                      </p:tavLst>
                                    </p:anim>
                                  </p:childTnLst>
                                </p:cTn>
                              </p:par>
                            </p:childTnLst>
                          </p:cTn>
                        </p:par>
                        <p:par>
                          <p:cTn id="118" fill="hold">
                            <p:stCondLst>
                              <p:cond delay="500"/>
                            </p:stCondLst>
                            <p:childTnLst>
                              <p:par>
                                <p:cTn id="119" presetID="26" presetClass="emph" presetSubtype="0" repeatCount="3000" fill="hold" grpId="1" nodeType="afterEffect">
                                  <p:stCondLst>
                                    <p:cond delay="0"/>
                                  </p:stCondLst>
                                  <p:childTnLst>
                                    <p:animEffect transition="out" filter="fade">
                                      <p:cBhvr>
                                        <p:cTn id="120" dur="500" tmFilter="0, 0; .2, .5; .8, .5; 1, 0"/>
                                        <p:tgtEl>
                                          <p:spTgt spid="63512"/>
                                        </p:tgtEl>
                                      </p:cBhvr>
                                    </p:animEffect>
                                    <p:animScale>
                                      <p:cBhvr>
                                        <p:cTn id="121" dur="250" autoRev="1" fill="hold"/>
                                        <p:tgtEl>
                                          <p:spTgt spid="6351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animBg="1"/>
      <p:bldP spid="63492" grpId="0" animBg="1"/>
      <p:bldP spid="63501" grpId="0"/>
      <p:bldP spid="63503" grpId="0" animBg="1"/>
      <p:bldP spid="63507" grpId="0"/>
      <p:bldP spid="63508" grpId="0" animBg="1"/>
      <p:bldP spid="63509" grpId="0"/>
      <p:bldP spid="63512" grpId="0" animBg="1"/>
      <p:bldP spid="63512" grpId="1" animBg="1"/>
      <p:bldP spid="6351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Line 2"/>
          <p:cNvSpPr/>
          <p:nvPr/>
        </p:nvSpPr>
        <p:spPr>
          <a:xfrm>
            <a:off x="4543425" y="566738"/>
            <a:ext cx="0" cy="557212"/>
          </a:xfrm>
          <a:prstGeom prst="line">
            <a:avLst/>
          </a:prstGeom>
          <a:ln w="22225" cap="flat" cmpd="sng">
            <a:solidFill>
              <a:srgbClr val="FF6600"/>
            </a:solidFill>
            <a:prstDash val="solid"/>
            <a:bevel/>
            <a:headEnd type="none" w="med" len="med"/>
            <a:tailEnd type="triangle" w="lg" len="lg"/>
          </a:ln>
        </p:spPr>
      </p:sp>
      <p:sp>
        <p:nvSpPr>
          <p:cNvPr id="144387" name="AutoShape 3"/>
          <p:cNvSpPr/>
          <p:nvPr/>
        </p:nvSpPr>
        <p:spPr>
          <a:xfrm>
            <a:off x="3468688" y="1119188"/>
            <a:ext cx="2151062" cy="625475"/>
          </a:xfrm>
          <a:prstGeom prst="flowChartDecision">
            <a:avLst/>
          </a:prstGeom>
          <a:solidFill>
            <a:srgbClr val="33CCCC"/>
          </a:solidFill>
          <a:ln w="9525" cap="flat" cmpd="sng">
            <a:solidFill>
              <a:srgbClr val="33CCCC"/>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8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超时</a:t>
            </a:r>
            <a:r>
              <a:rPr lang="en-US" altLang="zh-CN" sz="2000" dirty="0">
                <a:solidFill>
                  <a:srgbClr val="FFFFFF"/>
                </a:solidFill>
                <a:latin typeface="Times New Roman" panose="02020603050405020304" pitchFamily="18" charset="0"/>
                <a:ea typeface="楷体_GB2312"/>
              </a:rPr>
              <a:t>?</a:t>
            </a:r>
            <a:endParaRPr lang="en-US" altLang="zh-CN" sz="2000" dirty="0">
              <a:solidFill>
                <a:srgbClr val="FFFFFF"/>
              </a:solidFill>
              <a:latin typeface="Times New Roman" panose="02020603050405020304" pitchFamily="18" charset="0"/>
              <a:ea typeface="楷体_GB2312"/>
            </a:endParaRPr>
          </a:p>
        </p:txBody>
      </p:sp>
      <p:sp>
        <p:nvSpPr>
          <p:cNvPr id="144388" name="AutoShape 4"/>
          <p:cNvSpPr/>
          <p:nvPr/>
        </p:nvSpPr>
        <p:spPr>
          <a:xfrm>
            <a:off x="3468688" y="3197225"/>
            <a:ext cx="2151062" cy="628650"/>
          </a:xfrm>
          <a:prstGeom prst="flowChartDecision">
            <a:avLst/>
          </a:prstGeom>
          <a:solidFill>
            <a:srgbClr val="339966"/>
          </a:solidFill>
          <a:ln w="9525" cap="flat" cmpd="sng">
            <a:solidFill>
              <a:srgbClr val="339966"/>
            </a:solidFill>
            <a:prstDash val="solid"/>
            <a:miter/>
            <a:headEnd type="none" w="med" len="med"/>
            <a:tailEnd type="none" w="med" len="med"/>
          </a:ln>
        </p:spPr>
        <p:txBody>
          <a:bodyPr tIns="1080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2000" dirty="0">
                <a:solidFill>
                  <a:srgbClr val="FFFFFF"/>
                </a:solidFill>
                <a:latin typeface="宋体" panose="02010600030101010101" pitchFamily="2" charset="-122"/>
                <a:ea typeface="楷体_GB2312"/>
              </a:rPr>
              <a:t>READY?</a:t>
            </a:r>
            <a:endParaRPr lang="en-US" altLang="zh-CN" sz="2000" dirty="0">
              <a:solidFill>
                <a:srgbClr val="FFFFFF"/>
              </a:solidFill>
              <a:latin typeface="Times New Roman" panose="02020603050405020304" pitchFamily="18" charset="0"/>
              <a:ea typeface="楷体_GB2312"/>
            </a:endParaRPr>
          </a:p>
        </p:txBody>
      </p:sp>
      <p:sp>
        <p:nvSpPr>
          <p:cNvPr id="144389" name="AutoShape 5"/>
          <p:cNvSpPr/>
          <p:nvPr/>
        </p:nvSpPr>
        <p:spPr>
          <a:xfrm>
            <a:off x="3468688" y="4138613"/>
            <a:ext cx="2151062" cy="628650"/>
          </a:xfrm>
          <a:prstGeom prst="flowChartPredefinedProcess">
            <a:avLst/>
          </a:prstGeom>
          <a:solidFill>
            <a:srgbClr val="339966"/>
          </a:solidFill>
          <a:ln w="9525" cap="flat" cmpd="sng">
            <a:solidFill>
              <a:srgbClr val="339966"/>
            </a:solidFill>
            <a:prstDash val="solid"/>
            <a:miter/>
            <a:headEnd type="none" w="med" len="med"/>
            <a:tailEnd type="none" w="med" len="med"/>
          </a:ln>
        </p:spPr>
        <p:txBody>
          <a:bodyPr tIns="1080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与外设进</a:t>
            </a:r>
            <a:endParaRPr lang="zh-CN" altLang="en-US" sz="2000" dirty="0">
              <a:solidFill>
                <a:srgbClr val="FFFFFF"/>
              </a:solidFill>
              <a:latin typeface="Times New Roman" panose="02020603050405020304" pitchFamily="18" charset="0"/>
              <a:ea typeface="楷体_GB2312"/>
            </a:endParaRPr>
          </a:p>
          <a:p>
            <a:pPr marL="0" lvl="0" indent="0" algn="ctr">
              <a:lnSpc>
                <a:spcPct val="10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行数据交换</a:t>
            </a:r>
            <a:endParaRPr lang="zh-CN" altLang="en-US" sz="2000" dirty="0">
              <a:solidFill>
                <a:srgbClr val="FFFFFF"/>
              </a:solidFill>
              <a:latin typeface="Times New Roman" panose="02020603050405020304" pitchFamily="18" charset="0"/>
              <a:ea typeface="楷体_GB2312"/>
            </a:endParaRPr>
          </a:p>
        </p:txBody>
      </p:sp>
      <p:sp>
        <p:nvSpPr>
          <p:cNvPr id="144390" name="Line 6"/>
          <p:cNvSpPr/>
          <p:nvPr/>
        </p:nvSpPr>
        <p:spPr>
          <a:xfrm flipH="1">
            <a:off x="4529138" y="1758950"/>
            <a:ext cx="0" cy="625475"/>
          </a:xfrm>
          <a:prstGeom prst="line">
            <a:avLst/>
          </a:prstGeom>
          <a:ln w="22225" cap="flat" cmpd="sng">
            <a:solidFill>
              <a:srgbClr val="FF6600"/>
            </a:solidFill>
            <a:prstDash val="solid"/>
            <a:bevel/>
            <a:headEnd type="none" w="med" len="med"/>
            <a:tailEnd type="triangle" w="lg" len="lg"/>
          </a:ln>
        </p:spPr>
      </p:sp>
      <p:sp>
        <p:nvSpPr>
          <p:cNvPr id="144391" name="Line 7"/>
          <p:cNvSpPr/>
          <p:nvPr/>
        </p:nvSpPr>
        <p:spPr>
          <a:xfrm>
            <a:off x="4543425" y="3825875"/>
            <a:ext cx="0" cy="312738"/>
          </a:xfrm>
          <a:prstGeom prst="line">
            <a:avLst/>
          </a:prstGeom>
          <a:ln w="22225" cap="flat" cmpd="sng">
            <a:solidFill>
              <a:srgbClr val="FF6600"/>
            </a:solidFill>
            <a:prstDash val="solid"/>
            <a:bevel/>
            <a:headEnd type="none" w="med" len="med"/>
            <a:tailEnd type="triangle" w="lg" len="lg"/>
          </a:ln>
        </p:spPr>
      </p:sp>
      <p:sp>
        <p:nvSpPr>
          <p:cNvPr id="144392" name="Line 8"/>
          <p:cNvSpPr/>
          <p:nvPr/>
        </p:nvSpPr>
        <p:spPr>
          <a:xfrm flipH="1">
            <a:off x="2393950" y="3511550"/>
            <a:ext cx="1074738" cy="0"/>
          </a:xfrm>
          <a:prstGeom prst="line">
            <a:avLst/>
          </a:prstGeom>
          <a:ln w="22225" cap="flat" cmpd="sng">
            <a:solidFill>
              <a:srgbClr val="FF6600"/>
            </a:solidFill>
            <a:prstDash val="solid"/>
            <a:bevel/>
            <a:headEnd type="none" w="med" len="med"/>
            <a:tailEnd type="triangle" w="lg" len="lg"/>
          </a:ln>
        </p:spPr>
      </p:sp>
      <p:sp>
        <p:nvSpPr>
          <p:cNvPr id="144393" name="Line 9"/>
          <p:cNvSpPr/>
          <p:nvPr/>
        </p:nvSpPr>
        <p:spPr>
          <a:xfrm flipV="1">
            <a:off x="2382838" y="1989138"/>
            <a:ext cx="0" cy="2232025"/>
          </a:xfrm>
          <a:prstGeom prst="line">
            <a:avLst/>
          </a:prstGeom>
          <a:ln w="22225" cap="flat" cmpd="sng">
            <a:solidFill>
              <a:srgbClr val="FF6600"/>
            </a:solidFill>
            <a:prstDash val="solid"/>
            <a:bevel/>
            <a:headEnd type="none" w="med" len="med"/>
            <a:tailEnd type="triangle" w="lg" len="lg"/>
          </a:ln>
        </p:spPr>
      </p:sp>
      <p:sp>
        <p:nvSpPr>
          <p:cNvPr id="144394" name="Line 10"/>
          <p:cNvSpPr/>
          <p:nvPr/>
        </p:nvSpPr>
        <p:spPr>
          <a:xfrm>
            <a:off x="2382838" y="1989138"/>
            <a:ext cx="2149475" cy="0"/>
          </a:xfrm>
          <a:prstGeom prst="line">
            <a:avLst/>
          </a:prstGeom>
          <a:ln w="22225" cap="flat" cmpd="sng">
            <a:solidFill>
              <a:srgbClr val="FF6600"/>
            </a:solidFill>
            <a:prstDash val="solid"/>
            <a:bevel/>
            <a:headEnd type="none" w="med" len="med"/>
            <a:tailEnd type="triangle" w="lg" len="lg"/>
          </a:ln>
        </p:spPr>
      </p:sp>
      <p:sp>
        <p:nvSpPr>
          <p:cNvPr id="144395" name="Line 11"/>
          <p:cNvSpPr/>
          <p:nvPr/>
        </p:nvSpPr>
        <p:spPr>
          <a:xfrm>
            <a:off x="4543425" y="4767263"/>
            <a:ext cx="0" cy="312737"/>
          </a:xfrm>
          <a:prstGeom prst="line">
            <a:avLst/>
          </a:prstGeom>
          <a:ln w="22225" cap="flat" cmpd="sng">
            <a:solidFill>
              <a:srgbClr val="FF6600"/>
            </a:solidFill>
            <a:prstDash val="solid"/>
            <a:bevel/>
            <a:headEnd type="none" w="med" len="med"/>
            <a:tailEnd type="triangle" w="lg" len="lg"/>
          </a:ln>
        </p:spPr>
      </p:sp>
      <p:sp>
        <p:nvSpPr>
          <p:cNvPr id="144396" name="AutoShape 12"/>
          <p:cNvSpPr/>
          <p:nvPr/>
        </p:nvSpPr>
        <p:spPr>
          <a:xfrm>
            <a:off x="6692900" y="2212975"/>
            <a:ext cx="1612900" cy="469900"/>
          </a:xfrm>
          <a:prstGeom prst="flowChartTerminator">
            <a:avLst/>
          </a:prstGeom>
          <a:solidFill>
            <a:srgbClr val="33CCCC"/>
          </a:solidFill>
          <a:ln w="9525" cap="flat" cmpd="sng">
            <a:solidFill>
              <a:srgbClr val="33CCCC"/>
            </a:solidFill>
            <a:prstDash val="solid"/>
            <a:miter/>
            <a:headEnd type="none" w="med" len="med"/>
            <a:tailEnd type="none" w="med" len="med"/>
          </a:ln>
        </p:spPr>
        <p:txBody>
          <a:bodyPr tIns="1080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超时错</a:t>
            </a:r>
            <a:endParaRPr lang="zh-CN" altLang="en-US" sz="2000" dirty="0">
              <a:solidFill>
                <a:srgbClr val="FFFFFF"/>
              </a:solidFill>
              <a:latin typeface="Times New Roman" panose="02020603050405020304" pitchFamily="18" charset="0"/>
              <a:ea typeface="楷体_GB2312"/>
            </a:endParaRPr>
          </a:p>
        </p:txBody>
      </p:sp>
      <p:sp>
        <p:nvSpPr>
          <p:cNvPr id="144397" name="Line 13"/>
          <p:cNvSpPr/>
          <p:nvPr/>
        </p:nvSpPr>
        <p:spPr>
          <a:xfrm>
            <a:off x="5619750" y="1430338"/>
            <a:ext cx="1879600" cy="0"/>
          </a:xfrm>
          <a:prstGeom prst="line">
            <a:avLst/>
          </a:prstGeom>
          <a:ln w="22225" cap="flat" cmpd="sng">
            <a:solidFill>
              <a:srgbClr val="FF6600"/>
            </a:solidFill>
            <a:prstDash val="solid"/>
            <a:bevel/>
            <a:headEnd type="none" w="med" len="med"/>
            <a:tailEnd type="none" w="med" len="med"/>
          </a:ln>
        </p:spPr>
      </p:sp>
      <p:sp>
        <p:nvSpPr>
          <p:cNvPr id="144398" name="Line 14"/>
          <p:cNvSpPr/>
          <p:nvPr/>
        </p:nvSpPr>
        <p:spPr>
          <a:xfrm>
            <a:off x="7499350" y="1427163"/>
            <a:ext cx="0" cy="785812"/>
          </a:xfrm>
          <a:prstGeom prst="line">
            <a:avLst/>
          </a:prstGeom>
          <a:ln w="22225" cap="flat" cmpd="sng">
            <a:solidFill>
              <a:srgbClr val="FF6600"/>
            </a:solidFill>
            <a:prstDash val="solid"/>
            <a:bevel/>
            <a:headEnd type="none" w="med" len="med"/>
            <a:tailEnd type="triangle" w="lg" len="lg"/>
          </a:ln>
        </p:spPr>
      </p:sp>
      <p:sp>
        <p:nvSpPr>
          <p:cNvPr id="144399" name="AutoShape 15"/>
          <p:cNvSpPr/>
          <p:nvPr/>
        </p:nvSpPr>
        <p:spPr>
          <a:xfrm>
            <a:off x="3051175" y="2413000"/>
            <a:ext cx="2954338" cy="471488"/>
          </a:xfrm>
          <a:prstGeom prst="flowChartProcess">
            <a:avLst/>
          </a:prstGeom>
          <a:solidFill>
            <a:srgbClr val="339966"/>
          </a:solidFill>
          <a:ln w="9525" cap="flat" cmpd="sng">
            <a:solidFill>
              <a:srgbClr val="339966"/>
            </a:solidFill>
            <a:prstDash val="solid"/>
            <a:miter/>
            <a:headEnd type="none" w="med" len="med"/>
            <a:tailEnd type="none" w="med" len="med"/>
          </a:ln>
        </p:spPr>
        <p:txBody>
          <a:bodyPr tIns="8280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读入并测试外设状态</a:t>
            </a:r>
            <a:endParaRPr lang="zh-CN" altLang="en-US" sz="2000" dirty="0">
              <a:solidFill>
                <a:srgbClr val="FFFFFF"/>
              </a:solidFill>
              <a:latin typeface="Times New Roman" panose="02020603050405020304" pitchFamily="18" charset="0"/>
              <a:ea typeface="楷体_GB2312"/>
            </a:endParaRPr>
          </a:p>
        </p:txBody>
      </p:sp>
      <p:sp>
        <p:nvSpPr>
          <p:cNvPr id="144400" name="Line 16"/>
          <p:cNvSpPr/>
          <p:nvPr/>
        </p:nvSpPr>
        <p:spPr>
          <a:xfrm>
            <a:off x="4543425" y="2884488"/>
            <a:ext cx="0" cy="312737"/>
          </a:xfrm>
          <a:prstGeom prst="line">
            <a:avLst/>
          </a:prstGeom>
          <a:ln w="22225" cap="flat" cmpd="sng">
            <a:solidFill>
              <a:srgbClr val="FF6600"/>
            </a:solidFill>
            <a:prstDash val="solid"/>
            <a:bevel/>
            <a:headEnd type="none" w="med" len="med"/>
            <a:tailEnd type="triangle" w="lg" len="lg"/>
          </a:ln>
        </p:spPr>
      </p:sp>
      <p:sp>
        <p:nvSpPr>
          <p:cNvPr id="144401" name="Text Box 17"/>
          <p:cNvSpPr txBox="1"/>
          <p:nvPr/>
        </p:nvSpPr>
        <p:spPr>
          <a:xfrm>
            <a:off x="6354763" y="1135063"/>
            <a:ext cx="287337" cy="2746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2400" dirty="0">
                <a:solidFill>
                  <a:srgbClr val="000000"/>
                </a:solidFill>
                <a:ea typeface="楷体_GB2312"/>
              </a:rPr>
              <a:t>Y</a:t>
            </a:r>
            <a:endParaRPr lang="en-US" altLang="zh-CN" sz="2400" dirty="0">
              <a:solidFill>
                <a:srgbClr val="000000"/>
              </a:solidFill>
              <a:ea typeface="楷体_GB2312"/>
            </a:endParaRPr>
          </a:p>
        </p:txBody>
      </p:sp>
      <p:sp>
        <p:nvSpPr>
          <p:cNvPr id="144402" name="Text Box 18"/>
          <p:cNvSpPr txBox="1"/>
          <p:nvPr/>
        </p:nvSpPr>
        <p:spPr>
          <a:xfrm>
            <a:off x="4625975" y="2098675"/>
            <a:ext cx="287338"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2400" dirty="0">
                <a:solidFill>
                  <a:srgbClr val="000000"/>
                </a:solidFill>
                <a:ea typeface="楷体_GB2312"/>
              </a:rPr>
              <a:t>N</a:t>
            </a:r>
            <a:endParaRPr lang="en-US" altLang="zh-CN" sz="2400" dirty="0">
              <a:solidFill>
                <a:srgbClr val="000000"/>
              </a:solidFill>
              <a:ea typeface="楷体_GB2312"/>
            </a:endParaRPr>
          </a:p>
        </p:txBody>
      </p:sp>
      <p:sp>
        <p:nvSpPr>
          <p:cNvPr id="144403" name="Text Box 19"/>
          <p:cNvSpPr txBox="1"/>
          <p:nvPr/>
        </p:nvSpPr>
        <p:spPr>
          <a:xfrm>
            <a:off x="4625975" y="3803650"/>
            <a:ext cx="287338"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2400" dirty="0">
                <a:solidFill>
                  <a:srgbClr val="000000"/>
                </a:solidFill>
                <a:ea typeface="楷体_GB2312"/>
              </a:rPr>
              <a:t>Y</a:t>
            </a:r>
            <a:endParaRPr lang="en-US" altLang="zh-CN" sz="2400" dirty="0">
              <a:solidFill>
                <a:srgbClr val="000000"/>
              </a:solidFill>
              <a:ea typeface="楷体_GB2312"/>
            </a:endParaRPr>
          </a:p>
        </p:txBody>
      </p:sp>
      <p:sp>
        <p:nvSpPr>
          <p:cNvPr id="144404" name="Text Box 20"/>
          <p:cNvSpPr txBox="1"/>
          <p:nvPr/>
        </p:nvSpPr>
        <p:spPr>
          <a:xfrm>
            <a:off x="3041650" y="3194050"/>
            <a:ext cx="287338"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2400" dirty="0">
                <a:solidFill>
                  <a:srgbClr val="000000"/>
                </a:solidFill>
                <a:ea typeface="楷体_GB2312"/>
              </a:rPr>
              <a:t>N</a:t>
            </a:r>
            <a:endParaRPr lang="en-US" altLang="zh-CN" sz="2400" dirty="0">
              <a:solidFill>
                <a:srgbClr val="000000"/>
              </a:solidFill>
              <a:ea typeface="楷体_GB2312"/>
            </a:endParaRPr>
          </a:p>
        </p:txBody>
      </p:sp>
      <p:sp>
        <p:nvSpPr>
          <p:cNvPr id="144405" name="AutoShape 21"/>
          <p:cNvSpPr/>
          <p:nvPr/>
        </p:nvSpPr>
        <p:spPr>
          <a:xfrm>
            <a:off x="3376613" y="5080000"/>
            <a:ext cx="2322512" cy="628650"/>
          </a:xfrm>
          <a:prstGeom prst="flowChartDecision">
            <a:avLst/>
          </a:prstGeom>
          <a:solidFill>
            <a:srgbClr val="339966"/>
          </a:solidFill>
          <a:ln w="9525" cap="flat" cmpd="sng">
            <a:solidFill>
              <a:srgbClr val="339966"/>
            </a:solidFill>
            <a:prstDash val="solid"/>
            <a:miter/>
            <a:headEnd type="none" w="med" len="med"/>
            <a:tailEnd type="none" w="med" len="med"/>
          </a:ln>
        </p:spPr>
        <p:txBody>
          <a:bodyPr tIns="1080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2000" dirty="0">
                <a:solidFill>
                  <a:srgbClr val="FFFFFF"/>
                </a:solidFill>
                <a:latin typeface="宋体" panose="02010600030101010101" pitchFamily="2" charset="-122"/>
                <a:ea typeface="楷体_GB2312"/>
              </a:rPr>
              <a:t>传送完？</a:t>
            </a:r>
            <a:endParaRPr lang="zh-CN" altLang="en-US" sz="2000" dirty="0">
              <a:solidFill>
                <a:srgbClr val="FFFFFF"/>
              </a:solidFill>
              <a:latin typeface="Times New Roman" panose="02020603050405020304" pitchFamily="18" charset="0"/>
              <a:ea typeface="楷体_GB2312"/>
            </a:endParaRPr>
          </a:p>
        </p:txBody>
      </p:sp>
      <p:sp>
        <p:nvSpPr>
          <p:cNvPr id="144406" name="Line 22"/>
          <p:cNvSpPr/>
          <p:nvPr/>
        </p:nvSpPr>
        <p:spPr>
          <a:xfrm flipH="1">
            <a:off x="2393950" y="5397500"/>
            <a:ext cx="1039813" cy="0"/>
          </a:xfrm>
          <a:prstGeom prst="line">
            <a:avLst/>
          </a:prstGeom>
          <a:ln w="22225" cap="flat" cmpd="sng">
            <a:solidFill>
              <a:srgbClr val="FF6600"/>
            </a:solidFill>
            <a:prstDash val="solid"/>
            <a:bevel/>
            <a:headEnd type="none" w="med" len="med"/>
            <a:tailEnd type="none" w="med" len="med"/>
          </a:ln>
        </p:spPr>
      </p:sp>
      <p:sp>
        <p:nvSpPr>
          <p:cNvPr id="144407" name="AutoShape 23"/>
          <p:cNvSpPr/>
          <p:nvPr/>
        </p:nvSpPr>
        <p:spPr>
          <a:xfrm>
            <a:off x="5938838" y="333375"/>
            <a:ext cx="1873250" cy="503238"/>
          </a:xfrm>
          <a:prstGeom prst="wedgeRoundRectCallout">
            <a:avLst>
              <a:gd name="adj1" fmla="val -91019"/>
              <a:gd name="adj2" fmla="val 135491"/>
              <a:gd name="adj3" fmla="val 16667"/>
            </a:avLst>
          </a:prstGeom>
          <a:solidFill>
            <a:srgbClr val="993300"/>
          </a:solidFill>
          <a:ln w="9525" cap="flat" cmpd="sng">
            <a:solidFill>
              <a:srgbClr val="9933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防止死循环</a:t>
            </a:r>
            <a:endParaRPr lang="zh-CN" altLang="en-US" sz="2000" dirty="0">
              <a:solidFill>
                <a:srgbClr val="FFFFFF"/>
              </a:solidFill>
              <a:latin typeface="Times New Roman" panose="02020603050405020304" pitchFamily="18" charset="0"/>
              <a:ea typeface="楷体_GB2312"/>
            </a:endParaRPr>
          </a:p>
        </p:txBody>
      </p:sp>
      <p:sp>
        <p:nvSpPr>
          <p:cNvPr id="144408" name="Line 24"/>
          <p:cNvSpPr/>
          <p:nvPr/>
        </p:nvSpPr>
        <p:spPr>
          <a:xfrm>
            <a:off x="4554538" y="5727700"/>
            <a:ext cx="0" cy="388938"/>
          </a:xfrm>
          <a:prstGeom prst="line">
            <a:avLst/>
          </a:prstGeom>
          <a:ln w="22225" cap="flat" cmpd="sng">
            <a:solidFill>
              <a:srgbClr val="FF6600"/>
            </a:solidFill>
            <a:prstDash val="solid"/>
            <a:bevel/>
            <a:headEnd type="none" w="med" len="med"/>
            <a:tailEnd type="triangle" w="lg" len="lg"/>
          </a:ln>
        </p:spPr>
      </p:sp>
      <p:sp>
        <p:nvSpPr>
          <p:cNvPr id="144409" name="AutoShape 25"/>
          <p:cNvSpPr/>
          <p:nvPr/>
        </p:nvSpPr>
        <p:spPr>
          <a:xfrm>
            <a:off x="1630363" y="4214813"/>
            <a:ext cx="1511300" cy="471487"/>
          </a:xfrm>
          <a:prstGeom prst="flowChartProcess">
            <a:avLst/>
          </a:prstGeom>
          <a:solidFill>
            <a:srgbClr val="33CCCC"/>
          </a:solidFill>
          <a:ln w="9525" cap="flat" cmpd="sng">
            <a:solidFill>
              <a:srgbClr val="33CCCC"/>
            </a:solidFill>
            <a:prstDash val="solid"/>
            <a:miter/>
            <a:headEnd type="none" w="med" len="med"/>
            <a:tailEnd type="none" w="med" len="med"/>
          </a:ln>
        </p:spPr>
        <p:txBody>
          <a:bodyPr tIns="8280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复位计时器</a:t>
            </a:r>
            <a:endParaRPr lang="zh-CN" altLang="en-US" sz="2000" dirty="0">
              <a:solidFill>
                <a:srgbClr val="FFFFFF"/>
              </a:solidFill>
              <a:latin typeface="Times New Roman" panose="02020603050405020304" pitchFamily="18" charset="0"/>
              <a:ea typeface="楷体_GB2312"/>
            </a:endParaRPr>
          </a:p>
        </p:txBody>
      </p:sp>
      <p:sp>
        <p:nvSpPr>
          <p:cNvPr id="144410" name="Line 26"/>
          <p:cNvSpPr/>
          <p:nvPr/>
        </p:nvSpPr>
        <p:spPr>
          <a:xfrm flipV="1">
            <a:off x="2393950" y="4676775"/>
            <a:ext cx="0" cy="719138"/>
          </a:xfrm>
          <a:prstGeom prst="line">
            <a:avLst/>
          </a:prstGeom>
          <a:ln w="22225" cap="flat" cmpd="sng">
            <a:solidFill>
              <a:srgbClr val="FF6600"/>
            </a:solidFill>
            <a:prstDash val="solid"/>
            <a:bevel/>
            <a:headEnd type="none" w="med" len="med"/>
            <a:tailEnd type="triangle" w="lg" len="lg"/>
          </a:ln>
        </p:spPr>
      </p:sp>
      <p:sp>
        <p:nvSpPr>
          <p:cNvPr id="144411" name="Text Box 27"/>
          <p:cNvSpPr txBox="1"/>
          <p:nvPr/>
        </p:nvSpPr>
        <p:spPr>
          <a:xfrm>
            <a:off x="3041650" y="5080000"/>
            <a:ext cx="287338"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2400" dirty="0">
                <a:solidFill>
                  <a:srgbClr val="000000"/>
                </a:solidFill>
                <a:ea typeface="楷体_GB2312"/>
              </a:rPr>
              <a:t>N</a:t>
            </a:r>
            <a:endParaRPr lang="en-US" altLang="zh-CN" sz="2400" dirty="0">
              <a:solidFill>
                <a:srgbClr val="000000"/>
              </a:solidFill>
              <a:ea typeface="楷体_GB2312"/>
            </a:endParaRPr>
          </a:p>
        </p:txBody>
      </p:sp>
      <p:sp>
        <p:nvSpPr>
          <p:cNvPr id="144412" name="Text Box 28"/>
          <p:cNvSpPr txBox="1"/>
          <p:nvPr/>
        </p:nvSpPr>
        <p:spPr>
          <a:xfrm>
            <a:off x="4625975" y="5727700"/>
            <a:ext cx="287338"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2400" dirty="0">
                <a:solidFill>
                  <a:srgbClr val="000000"/>
                </a:solidFill>
                <a:ea typeface="楷体_GB2312"/>
              </a:rPr>
              <a:t>Y</a:t>
            </a:r>
            <a:endParaRPr lang="en-US" altLang="zh-CN" sz="2400" dirty="0">
              <a:solidFill>
                <a:srgbClr val="000000"/>
              </a:solidFill>
              <a:ea typeface="楷体_GB2312"/>
            </a:endParaRPr>
          </a:p>
        </p:txBody>
      </p:sp>
      <p:sp>
        <p:nvSpPr>
          <p:cNvPr id="144413" name="AutoShape 29"/>
          <p:cNvSpPr/>
          <p:nvPr/>
        </p:nvSpPr>
        <p:spPr>
          <a:xfrm>
            <a:off x="3808413" y="6092825"/>
            <a:ext cx="1511300" cy="471488"/>
          </a:xfrm>
          <a:prstGeom prst="flowChartProcess">
            <a:avLst/>
          </a:prstGeom>
          <a:solidFill>
            <a:srgbClr val="339966"/>
          </a:solidFill>
          <a:ln w="9525" cap="flat" cmpd="sng">
            <a:solidFill>
              <a:srgbClr val="339966"/>
            </a:solidFill>
            <a:prstDash val="solid"/>
            <a:miter/>
            <a:headEnd type="none" w="med" len="med"/>
            <a:tailEnd type="none" w="med" len="med"/>
          </a:ln>
        </p:spPr>
        <p:txBody>
          <a:bodyPr tIns="8280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2000" dirty="0">
                <a:solidFill>
                  <a:srgbClr val="FFFFFF"/>
                </a:solidFill>
                <a:latin typeface="Times New Roman" panose="02020603050405020304" pitchFamily="18" charset="0"/>
                <a:ea typeface="楷体_GB2312"/>
              </a:rPr>
              <a:t>结 束</a:t>
            </a:r>
            <a:endParaRPr lang="zh-CN" altLang="en-US" sz="2000" dirty="0">
              <a:solidFill>
                <a:srgbClr val="FFFFFF"/>
              </a:solidFill>
              <a:latin typeface="Times New Roman" panose="02020603050405020304" pitchFamily="18" charset="0"/>
              <a:ea typeface="楷体_GB2312"/>
            </a:endParaRPr>
          </a:p>
        </p:txBody>
      </p:sp>
      <p:sp>
        <p:nvSpPr>
          <p:cNvPr id="144414" name="Text Box 30"/>
          <p:cNvSpPr txBox="1"/>
          <p:nvPr/>
        </p:nvSpPr>
        <p:spPr>
          <a:xfrm>
            <a:off x="3059113" y="5084763"/>
            <a:ext cx="287337" cy="2746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2400" dirty="0">
                <a:solidFill>
                  <a:srgbClr val="000000"/>
                </a:solidFill>
                <a:ea typeface="楷体_GB2312"/>
              </a:rPr>
              <a:t>N</a:t>
            </a:r>
            <a:endParaRPr lang="en-US" altLang="zh-CN" sz="2400" dirty="0">
              <a:solidFill>
                <a:srgbClr val="000000"/>
              </a:solidFill>
              <a:ea typeface="楷体_GB2312"/>
            </a:endParaRPr>
          </a:p>
        </p:txBody>
      </p:sp>
    </p:spTree>
  </p:cSld>
  <p:clrMapOvr>
    <a:masterClrMapping/>
  </p:clrMapOvr>
  <p:transition spd="slow">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45411" name="Rectangle 2"/>
          <p:cNvSpPr>
            <a:spLocks noGrp="1"/>
          </p:cNvSpPr>
          <p:nvPr>
            <p:ph type="title" idx="4294967295"/>
          </p:nvPr>
        </p:nvSpPr>
        <p:spPr/>
        <p:txBody>
          <a:bodyPr vert="horz" wrap="square" lIns="91440" tIns="45720" rIns="91440" bIns="45720" anchor="b" anchorCtr="0"/>
          <a:p>
            <a:pPr eaLnBrk="1" hangingPunct="1"/>
            <a:r>
              <a:rPr lang="zh-CN" altLang="en-US" dirty="0"/>
              <a:t>查询工作方式例</a:t>
            </a:r>
            <a:endParaRPr lang="zh-CN" altLang="en-US" dirty="0"/>
          </a:p>
        </p:txBody>
      </p:sp>
      <p:sp>
        <p:nvSpPr>
          <p:cNvPr id="145412" name="Rectangle 3"/>
          <p:cNvSpPr>
            <a:spLocks noGrp="1"/>
          </p:cNvSpPr>
          <p:nvPr>
            <p:ph type="body" idx="4294967295"/>
          </p:nvPr>
        </p:nvSpPr>
        <p:spPr>
          <a:xfrm>
            <a:off x="685800" y="2051050"/>
            <a:ext cx="8062913" cy="4114800"/>
          </a:xfrm>
        </p:spPr>
        <p:txBody>
          <a:bodyPr vert="horz" wrap="square" lIns="91440" tIns="45720" rIns="91440" bIns="45720" anchor="t" anchorCtr="0"/>
          <a:p>
            <a:pPr eaLnBrk="1" hangingPunct="1">
              <a:lnSpc>
                <a:spcPct val="125000"/>
              </a:lnSpc>
              <a:spcBef>
                <a:spcPct val="50000"/>
              </a:spcBef>
              <a:buFont typeface="Wingdings" panose="05000000000000000000" pitchFamily="2" charset="2"/>
              <a:buChar char="Ø"/>
            </a:pPr>
            <a:r>
              <a:rPr lang="zh-CN" altLang="en-US" dirty="0">
                <a:latin typeface="Times New Roman" panose="02020603050405020304" pitchFamily="18" charset="0"/>
              </a:rPr>
              <a:t>外设状态端口地址为0</a:t>
            </a:r>
            <a:r>
              <a:rPr lang="en-US" altLang="zh-CN" dirty="0">
                <a:latin typeface="Times New Roman" panose="02020603050405020304" pitchFamily="18" charset="0"/>
              </a:rPr>
              <a:t>3FBH</a:t>
            </a:r>
            <a:r>
              <a:rPr lang="zh-CN" altLang="en-US" dirty="0">
                <a:latin typeface="Times New Roman" panose="02020603050405020304" pitchFamily="18" charset="0"/>
              </a:rPr>
              <a:t>，第</a:t>
            </a:r>
            <a:r>
              <a:rPr lang="en-US" altLang="zh-CN" dirty="0">
                <a:latin typeface="Times New Roman" panose="02020603050405020304" pitchFamily="18" charset="0"/>
              </a:rPr>
              <a:t>5</a:t>
            </a:r>
            <a:r>
              <a:rPr lang="zh-CN" altLang="en-US" dirty="0">
                <a:latin typeface="Times New Roman" panose="02020603050405020304" pitchFamily="18" charset="0"/>
              </a:rPr>
              <a:t>位</a:t>
            </a:r>
            <a:r>
              <a:rPr lang="en-US" altLang="zh-CN" dirty="0">
                <a:latin typeface="Times New Roman" panose="02020603050405020304" pitchFamily="18" charset="0"/>
              </a:rPr>
              <a:t>(bit5)</a:t>
            </a:r>
            <a:r>
              <a:rPr lang="zh-CN" altLang="en-US" dirty="0">
                <a:latin typeface="Times New Roman" panose="02020603050405020304" pitchFamily="18" charset="0"/>
              </a:rPr>
              <a:t>为状态标志（</a:t>
            </a:r>
            <a:r>
              <a:rPr lang="en-US" altLang="zh-CN" dirty="0">
                <a:latin typeface="Times New Roman" panose="02020603050405020304" pitchFamily="18" charset="0"/>
              </a:rPr>
              <a:t>=1</a:t>
            </a:r>
            <a:r>
              <a:rPr lang="zh-CN" altLang="en-US" dirty="0">
                <a:latin typeface="Times New Roman" panose="02020603050405020304" pitchFamily="18" charset="0"/>
              </a:rPr>
              <a:t>忙，</a:t>
            </a:r>
            <a:r>
              <a:rPr lang="en-US" altLang="zh-CN" dirty="0">
                <a:latin typeface="Times New Roman" panose="02020603050405020304" pitchFamily="18" charset="0"/>
              </a:rPr>
              <a:t>=0</a:t>
            </a:r>
            <a:r>
              <a:rPr lang="zh-CN" altLang="en-US" dirty="0">
                <a:latin typeface="Times New Roman" panose="02020603050405020304" pitchFamily="18" charset="0"/>
              </a:rPr>
              <a:t>准备好）</a:t>
            </a:r>
            <a:endParaRPr lang="zh-CN" altLang="en-US" dirty="0">
              <a:latin typeface="Times New Roman" panose="02020603050405020304" pitchFamily="18" charset="0"/>
            </a:endParaRPr>
          </a:p>
          <a:p>
            <a:pPr eaLnBrk="1" hangingPunct="1">
              <a:lnSpc>
                <a:spcPct val="125000"/>
              </a:lnSpc>
              <a:spcBef>
                <a:spcPct val="50000"/>
              </a:spcBef>
              <a:buFont typeface="Wingdings" panose="05000000000000000000" pitchFamily="2" charset="2"/>
              <a:buChar char="Ø"/>
            </a:pPr>
            <a:r>
              <a:rPr lang="zh-CN" altLang="en-US" dirty="0">
                <a:latin typeface="Times New Roman" panose="02020603050405020304" pitchFamily="18" charset="0"/>
              </a:rPr>
              <a:t>外设数据端口地址为0</a:t>
            </a:r>
            <a:r>
              <a:rPr lang="en-US" altLang="zh-CN" dirty="0">
                <a:latin typeface="Times New Roman" panose="02020603050405020304" pitchFamily="18" charset="0"/>
              </a:rPr>
              <a:t>3F8H</a:t>
            </a:r>
            <a:r>
              <a:rPr lang="zh-CN" altLang="en-US" dirty="0">
                <a:latin typeface="Times New Roman" panose="02020603050405020304" pitchFamily="18" charset="0"/>
              </a:rPr>
              <a:t>，写入数据会使状态标志置</a:t>
            </a:r>
            <a:r>
              <a:rPr lang="en-US" altLang="zh-CN" dirty="0">
                <a:latin typeface="Times New Roman" panose="02020603050405020304" pitchFamily="18" charset="0"/>
              </a:rPr>
              <a:t>1 </a:t>
            </a:r>
            <a:r>
              <a:rPr lang="zh-CN" altLang="en-US" dirty="0">
                <a:latin typeface="Times New Roman" panose="02020603050405020304" pitchFamily="18" charset="0"/>
              </a:rPr>
              <a:t>；外设把数据读走后又把它置</a:t>
            </a:r>
            <a:r>
              <a:rPr lang="en-US" altLang="zh-CN" dirty="0">
                <a:latin typeface="Times New Roman" panose="02020603050405020304" pitchFamily="18" charset="0"/>
              </a:rPr>
              <a:t>0</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eaLnBrk="1" hangingPunct="1">
              <a:lnSpc>
                <a:spcPct val="125000"/>
              </a:lnSpc>
              <a:spcBef>
                <a:spcPct val="50000"/>
              </a:spcBef>
              <a:buFont typeface="Wingdings" panose="05000000000000000000" pitchFamily="2" charset="2"/>
              <a:buChar char="Ø"/>
            </a:pPr>
            <a:r>
              <a:rPr lang="zh-CN" altLang="en-US" dirty="0">
                <a:latin typeface="Times New Roman" panose="02020603050405020304" pitchFamily="18" charset="0"/>
              </a:rPr>
              <a:t>试画出其电路图，并将</a:t>
            </a:r>
            <a:r>
              <a:rPr lang="en-US" altLang="zh-CN" dirty="0">
                <a:latin typeface="Times New Roman" panose="02020603050405020304" pitchFamily="18" charset="0"/>
              </a:rPr>
              <a:t>DATA</a:t>
            </a:r>
            <a:r>
              <a:rPr lang="zh-CN" altLang="en-US" dirty="0">
                <a:latin typeface="Times New Roman" panose="02020603050405020304" pitchFamily="18" charset="0"/>
              </a:rPr>
              <a:t>下100</a:t>
            </a:r>
            <a:r>
              <a:rPr lang="en-US" altLang="zh-CN" dirty="0">
                <a:latin typeface="Times New Roman" panose="02020603050405020304" pitchFamily="18" charset="0"/>
              </a:rPr>
              <a:t>B</a:t>
            </a:r>
            <a:r>
              <a:rPr lang="zh-CN" altLang="en-US" dirty="0">
                <a:latin typeface="Times New Roman" panose="02020603050405020304" pitchFamily="18" charset="0"/>
              </a:rPr>
              <a:t>数据输出。</a:t>
            </a:r>
            <a:r>
              <a:rPr lang="en-US" altLang="zh-CN" dirty="0">
                <a:latin typeface="Times New Roman" panose="02020603050405020304" pitchFamily="18" charset="0"/>
              </a:rPr>
              <a:t>		</a:t>
            </a:r>
            <a:endParaRPr lang="en-US" altLang="zh-CN" dirty="0"/>
          </a:p>
        </p:txBody>
      </p:sp>
    </p:spTree>
  </p:cSld>
  <p:clrMapOvr>
    <a:masterClrMapping/>
  </p:clrMapOvr>
  <p:transition spd="slow">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6562" name="Group 122"/>
          <p:cNvGrpSpPr/>
          <p:nvPr/>
        </p:nvGrpSpPr>
        <p:grpSpPr>
          <a:xfrm>
            <a:off x="4572000" y="3879850"/>
            <a:ext cx="1008063" cy="1728788"/>
            <a:chOff x="0" y="0"/>
            <a:chExt cx="635" cy="1089"/>
          </a:xfrm>
        </p:grpSpPr>
        <p:sp>
          <p:nvSpPr>
            <p:cNvPr id="146523" name="Rectangle 4"/>
            <p:cNvSpPr/>
            <p:nvPr/>
          </p:nvSpPr>
          <p:spPr>
            <a:xfrm>
              <a:off x="0" y="0"/>
              <a:ext cx="635" cy="1089"/>
            </a:xfrm>
            <a:prstGeom prst="rect">
              <a:avLst/>
            </a:prstGeom>
            <a:solidFill>
              <a:srgbClr val="CCFFFF"/>
            </a:solidFill>
            <a:ln w="9525" cap="flat" cmpd="sng">
              <a:solidFill>
                <a:srgbClr val="CCFFFF"/>
              </a:solidFill>
              <a:prstDash val="dash"/>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grpSp>
          <p:nvGrpSpPr>
            <p:cNvPr id="146524" name="Group 33"/>
            <p:cNvGrpSpPr/>
            <p:nvPr/>
          </p:nvGrpSpPr>
          <p:grpSpPr>
            <a:xfrm>
              <a:off x="96" y="57"/>
              <a:ext cx="287" cy="240"/>
              <a:chOff x="0" y="0"/>
              <a:chExt cx="288" cy="250"/>
            </a:xfrm>
          </p:grpSpPr>
          <p:sp>
            <p:nvSpPr>
              <p:cNvPr id="146527" name="AutoShape 34"/>
              <p:cNvSpPr/>
              <p:nvPr/>
            </p:nvSpPr>
            <p:spPr>
              <a:xfrm>
                <a:off x="0" y="0"/>
                <a:ext cx="288" cy="250"/>
              </a:xfrm>
              <a:prstGeom prst="triangle">
                <a:avLst>
                  <a:gd name="adj" fmla="val 50000"/>
                </a:avLst>
              </a:prstGeom>
              <a:solidFill>
                <a:srgbClr val="339966"/>
              </a:solidFill>
              <a:ln w="9525" cap="flat" cmpd="sng">
                <a:solidFill>
                  <a:srgbClr val="339966"/>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6528" name="Oval 35"/>
              <p:cNvSpPr/>
              <p:nvPr/>
            </p:nvSpPr>
            <p:spPr>
              <a:xfrm rot="5400000">
                <a:off x="5" y="78"/>
                <a:ext cx="45" cy="45"/>
              </a:xfrm>
              <a:prstGeom prst="ellipse">
                <a:avLst/>
              </a:prstGeom>
              <a:solidFill>
                <a:srgbClr val="339966"/>
              </a:solidFill>
              <a:ln w="9525" cap="flat" cmpd="sng">
                <a:solidFill>
                  <a:srgbClr val="339966"/>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grpSp>
        <p:sp>
          <p:nvSpPr>
            <p:cNvPr id="146525" name="Text Box 46"/>
            <p:cNvSpPr txBox="1"/>
            <p:nvPr/>
          </p:nvSpPr>
          <p:spPr>
            <a:xfrm>
              <a:off x="59" y="817"/>
              <a:ext cx="519" cy="131"/>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zh-CN" altLang="en-US" sz="1600" dirty="0">
                  <a:solidFill>
                    <a:srgbClr val="FF0066"/>
                  </a:solidFill>
                  <a:latin typeface="Times New Roman" panose="02020603050405020304" pitchFamily="18" charset="0"/>
                  <a:ea typeface="楷体_GB2312"/>
                </a:rPr>
                <a:t>状态端口</a:t>
              </a:r>
              <a:endParaRPr lang="zh-CN" altLang="en-US" sz="1600" dirty="0">
                <a:solidFill>
                  <a:srgbClr val="FF0066"/>
                </a:solidFill>
                <a:latin typeface="Times New Roman" panose="02020603050405020304" pitchFamily="18" charset="0"/>
                <a:ea typeface="楷体_GB2312"/>
              </a:endParaRPr>
            </a:p>
          </p:txBody>
        </p:sp>
        <p:sp>
          <p:nvSpPr>
            <p:cNvPr id="146526" name="Line 98"/>
            <p:cNvSpPr/>
            <p:nvPr/>
          </p:nvSpPr>
          <p:spPr>
            <a:xfrm>
              <a:off x="247" y="298"/>
              <a:ext cx="0" cy="224"/>
            </a:xfrm>
            <a:prstGeom prst="line">
              <a:avLst/>
            </a:prstGeom>
            <a:ln w="9525" cap="flat" cmpd="sng">
              <a:solidFill>
                <a:srgbClr val="FF6600"/>
              </a:solidFill>
              <a:prstDash val="solid"/>
              <a:bevel/>
              <a:headEnd type="none" w="med" len="med"/>
              <a:tailEnd type="none" w="med" len="med"/>
            </a:ln>
          </p:spPr>
        </p:sp>
      </p:grpSp>
      <p:sp>
        <p:nvSpPr>
          <p:cNvPr id="66569" name="Text Box 5"/>
          <p:cNvSpPr txBox="1"/>
          <p:nvPr/>
        </p:nvSpPr>
        <p:spPr>
          <a:xfrm>
            <a:off x="4962525" y="1952625"/>
            <a:ext cx="287338" cy="25082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1400" dirty="0">
                <a:solidFill>
                  <a:srgbClr val="000000"/>
                </a:solidFill>
                <a:ea typeface="楷体_GB2312"/>
              </a:rPr>
              <a:t>D5</a:t>
            </a:r>
            <a:endParaRPr lang="en-US" altLang="zh-CN" sz="1400" dirty="0">
              <a:solidFill>
                <a:srgbClr val="000000"/>
              </a:solidFill>
              <a:ea typeface="楷体_GB2312"/>
            </a:endParaRPr>
          </a:p>
        </p:txBody>
      </p:sp>
      <p:sp>
        <p:nvSpPr>
          <p:cNvPr id="66570" name="Text Box 7"/>
          <p:cNvSpPr txBox="1"/>
          <p:nvPr/>
        </p:nvSpPr>
        <p:spPr>
          <a:xfrm>
            <a:off x="785813" y="1647825"/>
            <a:ext cx="631825" cy="296863"/>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r>
              <a:rPr lang="en-US" altLang="zh-CN" sz="1200" dirty="0">
                <a:solidFill>
                  <a:srgbClr val="000000"/>
                </a:solidFill>
                <a:ea typeface="楷体_GB2312"/>
              </a:rPr>
              <a:t>D7-D0</a:t>
            </a:r>
            <a:endParaRPr lang="en-US" altLang="zh-CN" sz="1200" dirty="0">
              <a:solidFill>
                <a:srgbClr val="000000"/>
              </a:solidFill>
              <a:ea typeface="楷体_GB2312"/>
            </a:endParaRPr>
          </a:p>
          <a:p>
            <a:pPr marL="0" lvl="0" indent="0">
              <a:lnSpc>
                <a:spcPct val="100000"/>
              </a:lnSpc>
              <a:spcBef>
                <a:spcPct val="0"/>
              </a:spcBef>
              <a:spcAft>
                <a:spcPct val="0"/>
              </a:spcAft>
              <a:buClrTx/>
              <a:buSzTx/>
              <a:buNone/>
            </a:pPr>
            <a:endParaRPr lang="en-US" altLang="zh-CN" sz="1200" dirty="0">
              <a:solidFill>
                <a:srgbClr val="000000"/>
              </a:solidFill>
              <a:ea typeface="楷体_GB2312"/>
            </a:endParaRPr>
          </a:p>
        </p:txBody>
      </p:sp>
      <p:sp>
        <p:nvSpPr>
          <p:cNvPr id="66571" name="Text Box 8"/>
          <p:cNvSpPr txBox="1"/>
          <p:nvPr/>
        </p:nvSpPr>
        <p:spPr>
          <a:xfrm>
            <a:off x="779463" y="3071813"/>
            <a:ext cx="238125" cy="57467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1200" dirty="0">
                <a:solidFill>
                  <a:srgbClr val="000000"/>
                </a:solidFill>
                <a:ea typeface="楷体_GB2312"/>
              </a:rPr>
              <a:t>A9</a:t>
            </a:r>
            <a:endParaRPr lang="en-US" altLang="zh-CN" sz="1200" dirty="0">
              <a:solidFill>
                <a:srgbClr val="000000"/>
              </a:solidFill>
              <a:ea typeface="楷体_GB2312"/>
            </a:endParaRPr>
          </a:p>
          <a:p>
            <a:pPr marL="0" lvl="0" indent="0" algn="ctr">
              <a:lnSpc>
                <a:spcPct val="100000"/>
              </a:lnSpc>
              <a:spcBef>
                <a:spcPct val="0"/>
              </a:spcBef>
              <a:spcAft>
                <a:spcPct val="0"/>
              </a:spcAft>
              <a:buClrTx/>
              <a:buSzTx/>
              <a:buNone/>
            </a:pPr>
            <a:r>
              <a:rPr lang="en-US" altLang="zh-CN" sz="1200" dirty="0">
                <a:solidFill>
                  <a:srgbClr val="000000"/>
                </a:solidFill>
                <a:ea typeface="楷体_GB2312"/>
              </a:rPr>
              <a:t>|</a:t>
            </a:r>
            <a:endParaRPr lang="en-US" altLang="zh-CN" sz="1200" dirty="0">
              <a:solidFill>
                <a:srgbClr val="000000"/>
              </a:solidFill>
              <a:ea typeface="楷体_GB2312"/>
            </a:endParaRPr>
          </a:p>
          <a:p>
            <a:pPr marL="0" lvl="0" indent="0" algn="ctr">
              <a:lnSpc>
                <a:spcPct val="100000"/>
              </a:lnSpc>
              <a:spcBef>
                <a:spcPct val="0"/>
              </a:spcBef>
              <a:spcAft>
                <a:spcPct val="0"/>
              </a:spcAft>
              <a:buClrTx/>
              <a:buSzTx/>
              <a:buNone/>
            </a:pPr>
            <a:r>
              <a:rPr lang="en-US" altLang="zh-CN" sz="1200" dirty="0">
                <a:solidFill>
                  <a:srgbClr val="000000"/>
                </a:solidFill>
                <a:ea typeface="楷体_GB2312"/>
              </a:rPr>
              <a:t>A3</a:t>
            </a:r>
            <a:endParaRPr lang="en-US" altLang="zh-CN" sz="1200" dirty="0">
              <a:solidFill>
                <a:srgbClr val="000000"/>
              </a:solidFill>
              <a:ea typeface="楷体_GB2312"/>
            </a:endParaRPr>
          </a:p>
          <a:p>
            <a:pPr marL="0" lvl="0" indent="0">
              <a:lnSpc>
                <a:spcPct val="100000"/>
              </a:lnSpc>
              <a:spcBef>
                <a:spcPct val="0"/>
              </a:spcBef>
              <a:spcAft>
                <a:spcPct val="0"/>
              </a:spcAft>
              <a:buClrTx/>
              <a:buSzTx/>
              <a:buNone/>
            </a:pPr>
            <a:endParaRPr lang="en-US" altLang="zh-CN" sz="1200" dirty="0">
              <a:solidFill>
                <a:srgbClr val="000000"/>
              </a:solidFill>
              <a:ea typeface="楷体_GB2312"/>
            </a:endParaRPr>
          </a:p>
        </p:txBody>
      </p:sp>
      <p:sp>
        <p:nvSpPr>
          <p:cNvPr id="66572" name="Rectangle 9"/>
          <p:cNvSpPr/>
          <p:nvPr/>
        </p:nvSpPr>
        <p:spPr>
          <a:xfrm>
            <a:off x="1649413" y="3736975"/>
            <a:ext cx="327025" cy="647700"/>
          </a:xfrm>
          <a:prstGeom prst="rect">
            <a:avLst/>
          </a:prstGeom>
          <a:solidFill>
            <a:srgbClr val="339966"/>
          </a:solidFill>
          <a:ln w="9525" cap="flat" cmpd="sng">
            <a:solidFill>
              <a:srgbClr val="339966"/>
            </a:solidFill>
            <a:prstDash val="solid"/>
            <a:miter/>
            <a:headEnd type="none" w="med" len="med"/>
            <a:tailEnd type="none" w="med" len="med"/>
          </a:ln>
        </p:spPr>
        <p:txBody>
          <a:bodyPr lIns="0" tIns="144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1400" dirty="0">
                <a:solidFill>
                  <a:srgbClr val="000000"/>
                </a:solidFill>
                <a:ea typeface="楷体_GB2312"/>
              </a:rPr>
              <a:t>≥1</a:t>
            </a:r>
            <a:endParaRPr lang="en-US" altLang="zh-CN" sz="1400" dirty="0">
              <a:solidFill>
                <a:srgbClr val="000000"/>
              </a:solidFill>
              <a:ea typeface="楷体_GB2312"/>
            </a:endParaRPr>
          </a:p>
        </p:txBody>
      </p:sp>
      <p:sp>
        <p:nvSpPr>
          <p:cNvPr id="66573" name="Rectangle 10"/>
          <p:cNvSpPr/>
          <p:nvPr/>
        </p:nvSpPr>
        <p:spPr>
          <a:xfrm>
            <a:off x="1649413" y="2965450"/>
            <a:ext cx="330200" cy="720725"/>
          </a:xfrm>
          <a:prstGeom prst="rect">
            <a:avLst/>
          </a:prstGeom>
          <a:solidFill>
            <a:srgbClr val="339966"/>
          </a:solidFill>
          <a:ln w="9525" cap="flat" cmpd="sng">
            <a:solidFill>
              <a:srgbClr val="339966"/>
            </a:solidFill>
            <a:prstDash val="solid"/>
            <a:miter/>
            <a:headEnd type="none" w="med" len="med"/>
            <a:tailEnd type="none" w="med" len="med"/>
          </a:ln>
        </p:spPr>
        <p:txBody>
          <a:bodyPr lIns="0" tIns="190800" r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2400" dirty="0">
                <a:solidFill>
                  <a:srgbClr val="000000"/>
                </a:solidFill>
                <a:ea typeface="楷体_GB2312"/>
              </a:rPr>
              <a:t>&amp;</a:t>
            </a:r>
            <a:endParaRPr lang="zh-CN" altLang="en-US" sz="2400" dirty="0">
              <a:solidFill>
                <a:srgbClr val="000000"/>
              </a:solidFill>
              <a:ea typeface="楷体_GB2312"/>
            </a:endParaRPr>
          </a:p>
        </p:txBody>
      </p:sp>
      <p:sp>
        <p:nvSpPr>
          <p:cNvPr id="66574" name="Line 11"/>
          <p:cNvSpPr/>
          <p:nvPr/>
        </p:nvSpPr>
        <p:spPr>
          <a:xfrm>
            <a:off x="1136650" y="3324225"/>
            <a:ext cx="503238" cy="0"/>
          </a:xfrm>
          <a:prstGeom prst="line">
            <a:avLst/>
          </a:prstGeom>
          <a:ln w="9525" cap="flat" cmpd="sng">
            <a:solidFill>
              <a:srgbClr val="FF6600"/>
            </a:solidFill>
            <a:prstDash val="solid"/>
            <a:bevel/>
            <a:headEnd type="none" w="med" len="med"/>
            <a:tailEnd type="none" w="med" len="med"/>
          </a:ln>
        </p:spPr>
      </p:sp>
      <p:sp>
        <p:nvSpPr>
          <p:cNvPr id="66575" name="Line 12"/>
          <p:cNvSpPr/>
          <p:nvPr/>
        </p:nvSpPr>
        <p:spPr>
          <a:xfrm>
            <a:off x="1136650" y="3125788"/>
            <a:ext cx="503238" cy="0"/>
          </a:xfrm>
          <a:prstGeom prst="line">
            <a:avLst/>
          </a:prstGeom>
          <a:ln w="9525" cap="flat" cmpd="sng">
            <a:solidFill>
              <a:srgbClr val="FF6600"/>
            </a:solidFill>
            <a:prstDash val="solid"/>
            <a:bevel/>
            <a:headEnd type="none" w="med" len="med"/>
            <a:tailEnd type="none" w="med" len="med"/>
          </a:ln>
        </p:spPr>
      </p:sp>
      <p:sp>
        <p:nvSpPr>
          <p:cNvPr id="66576" name="Line 13"/>
          <p:cNvSpPr/>
          <p:nvPr/>
        </p:nvSpPr>
        <p:spPr>
          <a:xfrm>
            <a:off x="1136650" y="3422650"/>
            <a:ext cx="503238" cy="0"/>
          </a:xfrm>
          <a:prstGeom prst="line">
            <a:avLst/>
          </a:prstGeom>
          <a:ln w="9525" cap="flat" cmpd="sng">
            <a:solidFill>
              <a:srgbClr val="FF6600"/>
            </a:solidFill>
            <a:prstDash val="solid"/>
            <a:bevel/>
            <a:headEnd type="none" w="med" len="med"/>
            <a:tailEnd type="none" w="med" len="med"/>
          </a:ln>
        </p:spPr>
      </p:sp>
      <p:sp>
        <p:nvSpPr>
          <p:cNvPr id="66577" name="Line 14"/>
          <p:cNvSpPr/>
          <p:nvPr/>
        </p:nvSpPr>
        <p:spPr>
          <a:xfrm>
            <a:off x="1136650" y="3224213"/>
            <a:ext cx="503238" cy="0"/>
          </a:xfrm>
          <a:prstGeom prst="line">
            <a:avLst/>
          </a:prstGeom>
          <a:ln w="9525" cap="flat" cmpd="sng">
            <a:solidFill>
              <a:srgbClr val="FF6600"/>
            </a:solidFill>
            <a:prstDash val="solid"/>
            <a:bevel/>
            <a:headEnd type="none" w="med" len="med"/>
            <a:tailEnd type="none" w="med" len="med"/>
          </a:ln>
        </p:spPr>
      </p:sp>
      <p:sp>
        <p:nvSpPr>
          <p:cNvPr id="66578" name="Line 15"/>
          <p:cNvSpPr/>
          <p:nvPr/>
        </p:nvSpPr>
        <p:spPr>
          <a:xfrm>
            <a:off x="1136650" y="3522663"/>
            <a:ext cx="503238" cy="0"/>
          </a:xfrm>
          <a:prstGeom prst="line">
            <a:avLst/>
          </a:prstGeom>
          <a:ln w="9525" cap="flat" cmpd="sng">
            <a:solidFill>
              <a:srgbClr val="FF6600"/>
            </a:solidFill>
            <a:prstDash val="solid"/>
            <a:bevel/>
            <a:headEnd type="none" w="med" len="med"/>
            <a:tailEnd type="none" w="med" len="med"/>
          </a:ln>
        </p:spPr>
      </p:sp>
      <p:sp>
        <p:nvSpPr>
          <p:cNvPr id="66579" name="Line 16"/>
          <p:cNvSpPr/>
          <p:nvPr/>
        </p:nvSpPr>
        <p:spPr>
          <a:xfrm>
            <a:off x="1136650" y="3621088"/>
            <a:ext cx="503238" cy="0"/>
          </a:xfrm>
          <a:prstGeom prst="line">
            <a:avLst/>
          </a:prstGeom>
          <a:ln w="9525" cap="flat" cmpd="sng">
            <a:solidFill>
              <a:srgbClr val="FF6600"/>
            </a:solidFill>
            <a:prstDash val="solid"/>
            <a:bevel/>
            <a:headEnd type="none" w="med" len="med"/>
            <a:tailEnd type="none" w="med" len="med"/>
          </a:ln>
        </p:spPr>
      </p:sp>
      <p:sp>
        <p:nvSpPr>
          <p:cNvPr id="66580" name="Line 17"/>
          <p:cNvSpPr/>
          <p:nvPr/>
        </p:nvSpPr>
        <p:spPr>
          <a:xfrm>
            <a:off x="1136650" y="3027363"/>
            <a:ext cx="503238" cy="0"/>
          </a:xfrm>
          <a:prstGeom prst="line">
            <a:avLst/>
          </a:prstGeom>
          <a:ln w="9525" cap="flat" cmpd="sng">
            <a:solidFill>
              <a:srgbClr val="FF6600"/>
            </a:solidFill>
            <a:prstDash val="solid"/>
            <a:bevel/>
            <a:headEnd type="none" w="med" len="med"/>
            <a:tailEnd type="none" w="med" len="med"/>
          </a:ln>
        </p:spPr>
      </p:sp>
      <p:sp>
        <p:nvSpPr>
          <p:cNvPr id="66581" name="Text Box 18"/>
          <p:cNvSpPr txBox="1"/>
          <p:nvPr/>
        </p:nvSpPr>
        <p:spPr>
          <a:xfrm>
            <a:off x="684213" y="3783013"/>
            <a:ext cx="314325" cy="55086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r>
              <a:rPr lang="en-US" altLang="zh-CN" sz="1200" dirty="0">
                <a:solidFill>
                  <a:srgbClr val="000000"/>
                </a:solidFill>
                <a:ea typeface="楷体_GB2312"/>
              </a:rPr>
              <a:t>A15</a:t>
            </a:r>
            <a:endParaRPr lang="en-US" altLang="zh-CN" sz="1200" dirty="0">
              <a:solidFill>
                <a:srgbClr val="000000"/>
              </a:solidFill>
              <a:ea typeface="楷体_GB2312"/>
            </a:endParaRPr>
          </a:p>
          <a:p>
            <a:pPr marL="0" lvl="0" indent="0" algn="ctr">
              <a:lnSpc>
                <a:spcPct val="80000"/>
              </a:lnSpc>
              <a:spcBef>
                <a:spcPct val="0"/>
              </a:spcBef>
              <a:spcAft>
                <a:spcPct val="0"/>
              </a:spcAft>
              <a:buClrTx/>
              <a:buSzTx/>
              <a:buNone/>
            </a:pPr>
            <a:r>
              <a:rPr lang="en-US" altLang="zh-CN" sz="1200" dirty="0">
                <a:solidFill>
                  <a:srgbClr val="000000"/>
                </a:solidFill>
                <a:latin typeface="Times New Roman" panose="02020603050405020304" pitchFamily="18" charset="0"/>
                <a:ea typeface="楷体_GB2312"/>
              </a:rPr>
              <a:t>|</a:t>
            </a:r>
            <a:endParaRPr lang="zh-CN" altLang="en-US" sz="1200" dirty="0">
              <a:solidFill>
                <a:srgbClr val="000000"/>
              </a:solidFill>
              <a:ea typeface="楷体_GB2312"/>
            </a:endParaRPr>
          </a:p>
          <a:p>
            <a:pPr marL="0" lvl="0" indent="0" algn="r">
              <a:lnSpc>
                <a:spcPct val="100000"/>
              </a:lnSpc>
              <a:spcBef>
                <a:spcPct val="0"/>
              </a:spcBef>
              <a:spcAft>
                <a:spcPct val="0"/>
              </a:spcAft>
              <a:buClrTx/>
              <a:buSzTx/>
              <a:buNone/>
            </a:pPr>
            <a:r>
              <a:rPr lang="en-US" altLang="zh-CN" sz="1200" dirty="0">
                <a:solidFill>
                  <a:srgbClr val="000000"/>
                </a:solidFill>
                <a:ea typeface="楷体_GB2312"/>
              </a:rPr>
              <a:t>A10</a:t>
            </a:r>
            <a:endParaRPr lang="en-US" altLang="zh-CN" sz="1200" dirty="0">
              <a:solidFill>
                <a:srgbClr val="000000"/>
              </a:solidFill>
              <a:ea typeface="楷体_GB2312"/>
            </a:endParaRPr>
          </a:p>
        </p:txBody>
      </p:sp>
      <p:sp>
        <p:nvSpPr>
          <p:cNvPr id="66582" name="Rectangle 19"/>
          <p:cNvSpPr/>
          <p:nvPr/>
        </p:nvSpPr>
        <p:spPr>
          <a:xfrm>
            <a:off x="3810000" y="2871788"/>
            <a:ext cx="457200" cy="890587"/>
          </a:xfrm>
          <a:prstGeom prst="rect">
            <a:avLst/>
          </a:prstGeom>
          <a:solidFill>
            <a:srgbClr val="339966"/>
          </a:solidFill>
          <a:ln w="9525" cap="flat" cmpd="sng">
            <a:solidFill>
              <a:srgbClr val="339966"/>
            </a:solidFill>
            <a:prstDash val="solid"/>
            <a:miter/>
            <a:headEnd type="none" w="med" len="med"/>
            <a:tailEnd type="none" w="med" len="med"/>
          </a:ln>
        </p:spPr>
        <p:txBody>
          <a:bodyPr lIns="0" r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endParaRPr lang="en-US" altLang="zh-CN" sz="2400" dirty="0">
              <a:solidFill>
                <a:srgbClr val="000000"/>
              </a:solidFill>
              <a:ea typeface="楷体_GB2312"/>
            </a:endParaRPr>
          </a:p>
          <a:p>
            <a:pPr marL="0" lvl="0" indent="0" algn="ctr">
              <a:lnSpc>
                <a:spcPct val="100000"/>
              </a:lnSpc>
              <a:spcBef>
                <a:spcPct val="0"/>
              </a:spcBef>
              <a:spcAft>
                <a:spcPct val="0"/>
              </a:spcAft>
              <a:buClrTx/>
              <a:buSzTx/>
              <a:buNone/>
            </a:pPr>
            <a:r>
              <a:rPr lang="en-US" altLang="zh-CN" sz="2400" dirty="0">
                <a:solidFill>
                  <a:srgbClr val="000000"/>
                </a:solidFill>
                <a:ea typeface="楷体_GB2312"/>
              </a:rPr>
              <a:t>≥1</a:t>
            </a:r>
            <a:endParaRPr lang="en-US" altLang="zh-CN" sz="2400" dirty="0">
              <a:solidFill>
                <a:srgbClr val="000000"/>
              </a:solidFill>
              <a:ea typeface="楷体_GB2312"/>
            </a:endParaRPr>
          </a:p>
        </p:txBody>
      </p:sp>
      <p:sp>
        <p:nvSpPr>
          <p:cNvPr id="66583" name="Line 20"/>
          <p:cNvSpPr/>
          <p:nvPr/>
        </p:nvSpPr>
        <p:spPr>
          <a:xfrm>
            <a:off x="1984375" y="3305175"/>
            <a:ext cx="301625" cy="0"/>
          </a:xfrm>
          <a:prstGeom prst="line">
            <a:avLst/>
          </a:prstGeom>
          <a:ln w="19050" cap="flat" cmpd="sng">
            <a:solidFill>
              <a:srgbClr val="FF6600"/>
            </a:solidFill>
            <a:prstDash val="solid"/>
            <a:bevel/>
            <a:headEnd type="none" w="med" len="med"/>
            <a:tailEnd type="none" w="med" len="med"/>
          </a:ln>
        </p:spPr>
      </p:sp>
      <p:sp>
        <p:nvSpPr>
          <p:cNvPr id="66584" name="Line 23"/>
          <p:cNvSpPr/>
          <p:nvPr/>
        </p:nvSpPr>
        <p:spPr>
          <a:xfrm flipV="1">
            <a:off x="4276725" y="3305175"/>
            <a:ext cx="1439863" cy="0"/>
          </a:xfrm>
          <a:prstGeom prst="line">
            <a:avLst/>
          </a:prstGeom>
          <a:ln w="19050" cap="flat" cmpd="sng">
            <a:solidFill>
              <a:srgbClr val="FF6600"/>
            </a:solidFill>
            <a:prstDash val="solid"/>
            <a:bevel/>
            <a:headEnd type="none" w="med" len="med"/>
            <a:tailEnd type="none" w="med" len="med"/>
          </a:ln>
        </p:spPr>
      </p:sp>
      <p:sp>
        <p:nvSpPr>
          <p:cNvPr id="66585" name="Text Box 25"/>
          <p:cNvSpPr txBox="1"/>
          <p:nvPr/>
        </p:nvSpPr>
        <p:spPr>
          <a:xfrm>
            <a:off x="4246563" y="3079750"/>
            <a:ext cx="504825" cy="21590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r>
              <a:rPr lang="en-US" altLang="zh-CN" sz="1400" dirty="0">
                <a:solidFill>
                  <a:srgbClr val="000000"/>
                </a:solidFill>
                <a:ea typeface="楷体_GB2312"/>
              </a:rPr>
              <a:t>3F8H</a:t>
            </a:r>
            <a:endParaRPr lang="en-US" altLang="zh-CN" sz="1400" dirty="0">
              <a:solidFill>
                <a:srgbClr val="000000"/>
              </a:solidFill>
              <a:ea typeface="楷体_GB2312"/>
            </a:endParaRPr>
          </a:p>
        </p:txBody>
      </p:sp>
      <p:sp>
        <p:nvSpPr>
          <p:cNvPr id="66586" name="AutoShape 30"/>
          <p:cNvSpPr/>
          <p:nvPr/>
        </p:nvSpPr>
        <p:spPr>
          <a:xfrm>
            <a:off x="1433513" y="1647825"/>
            <a:ext cx="4283075" cy="233363"/>
          </a:xfrm>
          <a:prstGeom prst="leftRightArrow">
            <a:avLst>
              <a:gd name="adj1" fmla="val 57824"/>
              <a:gd name="adj2" fmla="val 91513"/>
            </a:avLst>
          </a:prstGeom>
          <a:solidFill>
            <a:srgbClr val="FF6600"/>
          </a:solidFill>
          <a:ln w="9525" cap="flat" cmpd="sng">
            <a:solidFill>
              <a:srgbClr val="FF66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66587" name="Line 31"/>
          <p:cNvSpPr/>
          <p:nvPr/>
        </p:nvSpPr>
        <p:spPr>
          <a:xfrm flipH="1">
            <a:off x="4241800" y="5105400"/>
            <a:ext cx="215900" cy="0"/>
          </a:xfrm>
          <a:prstGeom prst="line">
            <a:avLst/>
          </a:prstGeom>
          <a:ln w="19050" cap="flat" cmpd="sng">
            <a:solidFill>
              <a:srgbClr val="FF6600"/>
            </a:solidFill>
            <a:prstDash val="solid"/>
            <a:bevel/>
            <a:headEnd type="none" w="med" len="med"/>
            <a:tailEnd type="none" w="med" len="med"/>
          </a:ln>
        </p:spPr>
      </p:sp>
      <p:sp>
        <p:nvSpPr>
          <p:cNvPr id="66588" name="Line 36"/>
          <p:cNvSpPr/>
          <p:nvPr/>
        </p:nvSpPr>
        <p:spPr>
          <a:xfrm>
            <a:off x="6521450" y="1860550"/>
            <a:ext cx="900113" cy="0"/>
          </a:xfrm>
          <a:prstGeom prst="line">
            <a:avLst/>
          </a:prstGeom>
          <a:ln w="9525" cap="flat" cmpd="sng">
            <a:solidFill>
              <a:srgbClr val="FF6600"/>
            </a:solidFill>
            <a:prstDash val="solid"/>
            <a:bevel/>
            <a:headEnd type="none" w="med" len="med"/>
            <a:tailEnd type="triangle" w="med" len="med"/>
          </a:ln>
        </p:spPr>
      </p:sp>
      <p:sp>
        <p:nvSpPr>
          <p:cNvPr id="66589" name="Line 37"/>
          <p:cNvSpPr/>
          <p:nvPr/>
        </p:nvSpPr>
        <p:spPr>
          <a:xfrm>
            <a:off x="6521450" y="2058988"/>
            <a:ext cx="900113" cy="0"/>
          </a:xfrm>
          <a:prstGeom prst="line">
            <a:avLst/>
          </a:prstGeom>
          <a:ln w="9525" cap="flat" cmpd="sng">
            <a:solidFill>
              <a:srgbClr val="FF6600"/>
            </a:solidFill>
            <a:prstDash val="solid"/>
            <a:bevel/>
            <a:headEnd type="none" w="med" len="med"/>
            <a:tailEnd type="triangle" w="med" len="med"/>
          </a:ln>
        </p:spPr>
      </p:sp>
      <p:sp>
        <p:nvSpPr>
          <p:cNvPr id="66590" name="Line 38"/>
          <p:cNvSpPr/>
          <p:nvPr/>
        </p:nvSpPr>
        <p:spPr>
          <a:xfrm>
            <a:off x="6521450" y="2257425"/>
            <a:ext cx="900113" cy="0"/>
          </a:xfrm>
          <a:prstGeom prst="line">
            <a:avLst/>
          </a:prstGeom>
          <a:ln w="9525" cap="flat" cmpd="sng">
            <a:solidFill>
              <a:srgbClr val="FF6600"/>
            </a:solidFill>
            <a:prstDash val="solid"/>
            <a:bevel/>
            <a:headEnd type="none" w="med" len="med"/>
            <a:tailEnd type="triangle" w="med" len="med"/>
          </a:ln>
        </p:spPr>
      </p:sp>
      <p:sp>
        <p:nvSpPr>
          <p:cNvPr id="66591" name="Line 39"/>
          <p:cNvSpPr/>
          <p:nvPr/>
        </p:nvSpPr>
        <p:spPr>
          <a:xfrm>
            <a:off x="6521450" y="2455863"/>
            <a:ext cx="900113" cy="0"/>
          </a:xfrm>
          <a:prstGeom prst="line">
            <a:avLst/>
          </a:prstGeom>
          <a:ln w="9525" cap="flat" cmpd="sng">
            <a:solidFill>
              <a:srgbClr val="FF6600"/>
            </a:solidFill>
            <a:prstDash val="solid"/>
            <a:bevel/>
            <a:headEnd type="none" w="med" len="med"/>
            <a:tailEnd type="triangle" w="med" len="med"/>
          </a:ln>
        </p:spPr>
      </p:sp>
      <p:sp>
        <p:nvSpPr>
          <p:cNvPr id="66592" name="Line 40"/>
          <p:cNvSpPr/>
          <p:nvPr/>
        </p:nvSpPr>
        <p:spPr>
          <a:xfrm>
            <a:off x="6521450" y="2652713"/>
            <a:ext cx="900113" cy="0"/>
          </a:xfrm>
          <a:prstGeom prst="line">
            <a:avLst/>
          </a:prstGeom>
          <a:ln w="9525" cap="flat" cmpd="sng">
            <a:solidFill>
              <a:srgbClr val="FF6600"/>
            </a:solidFill>
            <a:prstDash val="solid"/>
            <a:bevel/>
            <a:headEnd type="none" w="med" len="med"/>
            <a:tailEnd type="triangle" w="med" len="med"/>
          </a:ln>
        </p:spPr>
      </p:sp>
      <p:sp>
        <p:nvSpPr>
          <p:cNvPr id="66593" name="Line 41"/>
          <p:cNvSpPr/>
          <p:nvPr/>
        </p:nvSpPr>
        <p:spPr>
          <a:xfrm>
            <a:off x="6521450" y="2851150"/>
            <a:ext cx="900113" cy="0"/>
          </a:xfrm>
          <a:prstGeom prst="line">
            <a:avLst/>
          </a:prstGeom>
          <a:ln w="9525" cap="flat" cmpd="sng">
            <a:solidFill>
              <a:srgbClr val="FF6600"/>
            </a:solidFill>
            <a:prstDash val="solid"/>
            <a:bevel/>
            <a:headEnd type="none" w="med" len="med"/>
            <a:tailEnd type="triangle" w="med" len="med"/>
          </a:ln>
        </p:spPr>
      </p:sp>
      <p:sp>
        <p:nvSpPr>
          <p:cNvPr id="66594" name="Line 42"/>
          <p:cNvSpPr/>
          <p:nvPr/>
        </p:nvSpPr>
        <p:spPr>
          <a:xfrm>
            <a:off x="6521450" y="3049588"/>
            <a:ext cx="900113" cy="0"/>
          </a:xfrm>
          <a:prstGeom prst="line">
            <a:avLst/>
          </a:prstGeom>
          <a:ln w="9525" cap="flat" cmpd="sng">
            <a:solidFill>
              <a:srgbClr val="FF6600"/>
            </a:solidFill>
            <a:prstDash val="solid"/>
            <a:bevel/>
            <a:headEnd type="none" w="med" len="med"/>
            <a:tailEnd type="triangle" w="med" len="med"/>
          </a:ln>
        </p:spPr>
      </p:sp>
      <p:sp>
        <p:nvSpPr>
          <p:cNvPr id="66595" name="Line 43"/>
          <p:cNvSpPr/>
          <p:nvPr/>
        </p:nvSpPr>
        <p:spPr>
          <a:xfrm>
            <a:off x="6521450" y="3248025"/>
            <a:ext cx="900113" cy="0"/>
          </a:xfrm>
          <a:prstGeom prst="line">
            <a:avLst/>
          </a:prstGeom>
          <a:ln w="9525" cap="flat" cmpd="sng">
            <a:solidFill>
              <a:srgbClr val="FF6600"/>
            </a:solidFill>
            <a:prstDash val="solid"/>
            <a:bevel/>
            <a:headEnd type="none" w="med" len="med"/>
            <a:tailEnd type="triangle" w="med" len="med"/>
          </a:ln>
        </p:spPr>
      </p:sp>
      <p:sp>
        <p:nvSpPr>
          <p:cNvPr id="66596" name="AutoShape 47"/>
          <p:cNvSpPr/>
          <p:nvPr/>
        </p:nvSpPr>
        <p:spPr>
          <a:xfrm>
            <a:off x="1030288" y="3038475"/>
            <a:ext cx="71437" cy="576263"/>
          </a:xfrm>
          <a:prstGeom prst="leftBrace">
            <a:avLst>
              <a:gd name="adj1" fmla="val 66774"/>
              <a:gd name="adj2" fmla="val 50000"/>
            </a:avLst>
          </a:prstGeom>
          <a:noFill/>
          <a:ln w="9525" cap="flat"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66597" name="Line 48"/>
          <p:cNvSpPr/>
          <p:nvPr/>
        </p:nvSpPr>
        <p:spPr>
          <a:xfrm>
            <a:off x="1136650" y="4114800"/>
            <a:ext cx="503238" cy="0"/>
          </a:xfrm>
          <a:prstGeom prst="line">
            <a:avLst/>
          </a:prstGeom>
          <a:ln w="9525" cap="flat" cmpd="sng">
            <a:solidFill>
              <a:srgbClr val="FF6600"/>
            </a:solidFill>
            <a:prstDash val="solid"/>
            <a:bevel/>
            <a:headEnd type="none" w="med" len="med"/>
            <a:tailEnd type="none" w="med" len="med"/>
          </a:ln>
        </p:spPr>
      </p:sp>
      <p:sp>
        <p:nvSpPr>
          <p:cNvPr id="66598" name="Line 49"/>
          <p:cNvSpPr/>
          <p:nvPr/>
        </p:nvSpPr>
        <p:spPr>
          <a:xfrm>
            <a:off x="1136650" y="3916363"/>
            <a:ext cx="503238" cy="0"/>
          </a:xfrm>
          <a:prstGeom prst="line">
            <a:avLst/>
          </a:prstGeom>
          <a:ln w="9525" cap="flat" cmpd="sng">
            <a:solidFill>
              <a:srgbClr val="FF6600"/>
            </a:solidFill>
            <a:prstDash val="solid"/>
            <a:bevel/>
            <a:headEnd type="none" w="med" len="med"/>
            <a:tailEnd type="none" w="med" len="med"/>
          </a:ln>
        </p:spPr>
      </p:sp>
      <p:sp>
        <p:nvSpPr>
          <p:cNvPr id="66599" name="Line 50"/>
          <p:cNvSpPr/>
          <p:nvPr/>
        </p:nvSpPr>
        <p:spPr>
          <a:xfrm>
            <a:off x="1136650" y="4213225"/>
            <a:ext cx="503238" cy="0"/>
          </a:xfrm>
          <a:prstGeom prst="line">
            <a:avLst/>
          </a:prstGeom>
          <a:ln w="9525" cap="flat" cmpd="sng">
            <a:solidFill>
              <a:srgbClr val="FF6600"/>
            </a:solidFill>
            <a:prstDash val="solid"/>
            <a:bevel/>
            <a:headEnd type="none" w="med" len="med"/>
            <a:tailEnd type="none" w="med" len="med"/>
          </a:ln>
        </p:spPr>
      </p:sp>
      <p:sp>
        <p:nvSpPr>
          <p:cNvPr id="66600" name="Line 51"/>
          <p:cNvSpPr/>
          <p:nvPr/>
        </p:nvSpPr>
        <p:spPr>
          <a:xfrm>
            <a:off x="1136650" y="4014788"/>
            <a:ext cx="503238" cy="0"/>
          </a:xfrm>
          <a:prstGeom prst="line">
            <a:avLst/>
          </a:prstGeom>
          <a:ln w="9525" cap="flat" cmpd="sng">
            <a:solidFill>
              <a:srgbClr val="FF6600"/>
            </a:solidFill>
            <a:prstDash val="solid"/>
            <a:bevel/>
            <a:headEnd type="none" w="med" len="med"/>
            <a:tailEnd type="none" w="med" len="med"/>
          </a:ln>
        </p:spPr>
      </p:sp>
      <p:sp>
        <p:nvSpPr>
          <p:cNvPr id="66601" name="Line 52"/>
          <p:cNvSpPr/>
          <p:nvPr/>
        </p:nvSpPr>
        <p:spPr>
          <a:xfrm>
            <a:off x="1136650" y="4313238"/>
            <a:ext cx="503238" cy="0"/>
          </a:xfrm>
          <a:prstGeom prst="line">
            <a:avLst/>
          </a:prstGeom>
          <a:ln w="9525" cap="flat" cmpd="sng">
            <a:solidFill>
              <a:srgbClr val="FF6600"/>
            </a:solidFill>
            <a:prstDash val="solid"/>
            <a:bevel/>
            <a:headEnd type="none" w="med" len="med"/>
            <a:tailEnd type="none" w="med" len="med"/>
          </a:ln>
        </p:spPr>
      </p:sp>
      <p:sp>
        <p:nvSpPr>
          <p:cNvPr id="66602" name="Line 53"/>
          <p:cNvSpPr/>
          <p:nvPr/>
        </p:nvSpPr>
        <p:spPr>
          <a:xfrm>
            <a:off x="1136650" y="3817938"/>
            <a:ext cx="503238" cy="0"/>
          </a:xfrm>
          <a:prstGeom prst="line">
            <a:avLst/>
          </a:prstGeom>
          <a:ln w="9525" cap="flat" cmpd="sng">
            <a:solidFill>
              <a:srgbClr val="FF6600"/>
            </a:solidFill>
            <a:prstDash val="solid"/>
            <a:bevel/>
            <a:headEnd type="none" w="med" len="med"/>
            <a:tailEnd type="none" w="med" len="med"/>
          </a:ln>
        </p:spPr>
      </p:sp>
      <p:sp>
        <p:nvSpPr>
          <p:cNvPr id="66603" name="AutoShape 55"/>
          <p:cNvSpPr/>
          <p:nvPr/>
        </p:nvSpPr>
        <p:spPr>
          <a:xfrm>
            <a:off x="1031875" y="3783013"/>
            <a:ext cx="71438" cy="530225"/>
          </a:xfrm>
          <a:prstGeom prst="leftBrace">
            <a:avLst>
              <a:gd name="adj1" fmla="val 61439"/>
              <a:gd name="adj2" fmla="val 50000"/>
            </a:avLst>
          </a:prstGeom>
          <a:noFill/>
          <a:ln w="9525" cap="flat"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66604" name="Line 58"/>
          <p:cNvSpPr/>
          <p:nvPr/>
        </p:nvSpPr>
        <p:spPr>
          <a:xfrm>
            <a:off x="2154238" y="3833813"/>
            <a:ext cx="144462" cy="0"/>
          </a:xfrm>
          <a:prstGeom prst="line">
            <a:avLst/>
          </a:prstGeom>
          <a:ln w="19050" cap="flat" cmpd="sng">
            <a:solidFill>
              <a:srgbClr val="FF6600"/>
            </a:solidFill>
            <a:prstDash val="solid"/>
            <a:bevel/>
            <a:headEnd type="none" w="med" len="med"/>
            <a:tailEnd type="none" w="med" len="med"/>
          </a:ln>
        </p:spPr>
      </p:sp>
      <p:sp>
        <p:nvSpPr>
          <p:cNvPr id="66605" name="Line 59"/>
          <p:cNvSpPr/>
          <p:nvPr/>
        </p:nvSpPr>
        <p:spPr>
          <a:xfrm>
            <a:off x="2154238" y="4168775"/>
            <a:ext cx="144462" cy="0"/>
          </a:xfrm>
          <a:prstGeom prst="line">
            <a:avLst/>
          </a:prstGeom>
          <a:ln w="19050" cap="flat" cmpd="sng">
            <a:solidFill>
              <a:srgbClr val="FF6600"/>
            </a:solidFill>
            <a:prstDash val="solid"/>
            <a:bevel/>
            <a:headEnd type="none" w="med" len="med"/>
            <a:tailEnd type="none" w="med" len="med"/>
          </a:ln>
        </p:spPr>
      </p:sp>
      <p:sp>
        <p:nvSpPr>
          <p:cNvPr id="66606" name="Line 60"/>
          <p:cNvSpPr/>
          <p:nvPr/>
        </p:nvSpPr>
        <p:spPr>
          <a:xfrm>
            <a:off x="2154238" y="3833813"/>
            <a:ext cx="0" cy="323850"/>
          </a:xfrm>
          <a:prstGeom prst="line">
            <a:avLst/>
          </a:prstGeom>
          <a:ln w="19050" cap="flat" cmpd="sng">
            <a:solidFill>
              <a:srgbClr val="FF6600"/>
            </a:solidFill>
            <a:prstDash val="solid"/>
            <a:bevel/>
            <a:headEnd type="none" w="med" len="med"/>
            <a:tailEnd type="none" w="med" len="med"/>
          </a:ln>
        </p:spPr>
      </p:sp>
      <p:sp>
        <p:nvSpPr>
          <p:cNvPr id="66607" name="Line 61"/>
          <p:cNvSpPr/>
          <p:nvPr/>
        </p:nvSpPr>
        <p:spPr>
          <a:xfrm flipH="1">
            <a:off x="1976438" y="4024313"/>
            <a:ext cx="179387" cy="0"/>
          </a:xfrm>
          <a:prstGeom prst="line">
            <a:avLst/>
          </a:prstGeom>
          <a:ln w="19050" cap="flat" cmpd="sng">
            <a:solidFill>
              <a:srgbClr val="FF6600"/>
            </a:solidFill>
            <a:prstDash val="solid"/>
            <a:bevel/>
            <a:headEnd type="none" w="med" len="med"/>
            <a:tailEnd type="none" w="med" len="med"/>
          </a:ln>
        </p:spPr>
      </p:sp>
      <p:sp>
        <p:nvSpPr>
          <p:cNvPr id="66608" name="Line 62"/>
          <p:cNvSpPr/>
          <p:nvPr/>
        </p:nvSpPr>
        <p:spPr>
          <a:xfrm>
            <a:off x="1146175" y="4672013"/>
            <a:ext cx="1152525" cy="0"/>
          </a:xfrm>
          <a:prstGeom prst="line">
            <a:avLst/>
          </a:prstGeom>
          <a:ln w="9525" cap="flat" cmpd="sng">
            <a:solidFill>
              <a:srgbClr val="FF6600"/>
            </a:solidFill>
            <a:prstDash val="solid"/>
            <a:bevel/>
            <a:headEnd type="none" w="med" len="med"/>
            <a:tailEnd type="none" w="med" len="med"/>
          </a:ln>
        </p:spPr>
      </p:sp>
      <p:sp>
        <p:nvSpPr>
          <p:cNvPr id="66609" name="Line 63"/>
          <p:cNvSpPr/>
          <p:nvPr/>
        </p:nvSpPr>
        <p:spPr>
          <a:xfrm>
            <a:off x="1146175" y="4927600"/>
            <a:ext cx="1152525" cy="0"/>
          </a:xfrm>
          <a:prstGeom prst="line">
            <a:avLst/>
          </a:prstGeom>
          <a:ln w="9525" cap="flat" cmpd="sng">
            <a:solidFill>
              <a:srgbClr val="FF6600"/>
            </a:solidFill>
            <a:prstDash val="solid"/>
            <a:bevel/>
            <a:headEnd type="none" w="med" len="med"/>
            <a:tailEnd type="none" w="med" len="med"/>
          </a:ln>
        </p:spPr>
      </p:sp>
      <p:sp>
        <p:nvSpPr>
          <p:cNvPr id="66610" name="Line 64"/>
          <p:cNvSpPr/>
          <p:nvPr/>
        </p:nvSpPr>
        <p:spPr>
          <a:xfrm>
            <a:off x="1146175" y="5176838"/>
            <a:ext cx="1152525" cy="0"/>
          </a:xfrm>
          <a:prstGeom prst="line">
            <a:avLst/>
          </a:prstGeom>
          <a:ln w="9525" cap="flat" cmpd="sng">
            <a:solidFill>
              <a:srgbClr val="FF6600"/>
            </a:solidFill>
            <a:prstDash val="solid"/>
            <a:bevel/>
            <a:headEnd type="none" w="med" len="med"/>
            <a:tailEnd type="none" w="med" len="med"/>
          </a:ln>
        </p:spPr>
      </p:sp>
      <p:sp>
        <p:nvSpPr>
          <p:cNvPr id="66611" name="Text Box 65"/>
          <p:cNvSpPr txBox="1"/>
          <p:nvPr/>
        </p:nvSpPr>
        <p:spPr>
          <a:xfrm>
            <a:off x="765175" y="4576763"/>
            <a:ext cx="309563" cy="64770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20000"/>
              </a:lnSpc>
              <a:spcBef>
                <a:spcPct val="0"/>
              </a:spcBef>
              <a:spcAft>
                <a:spcPct val="0"/>
              </a:spcAft>
              <a:buClrTx/>
              <a:buSzTx/>
              <a:buNone/>
            </a:pPr>
            <a:r>
              <a:rPr lang="en-US" altLang="zh-CN" sz="1200" dirty="0">
                <a:solidFill>
                  <a:srgbClr val="000000"/>
                </a:solidFill>
                <a:ea typeface="楷体_GB2312"/>
              </a:rPr>
              <a:t>A2</a:t>
            </a:r>
            <a:endParaRPr lang="en-US" altLang="zh-CN" sz="1200" dirty="0">
              <a:solidFill>
                <a:srgbClr val="000000"/>
              </a:solidFill>
              <a:ea typeface="楷体_GB2312"/>
            </a:endParaRPr>
          </a:p>
          <a:p>
            <a:pPr marL="0" lvl="0" indent="0" algn="ctr">
              <a:lnSpc>
                <a:spcPct val="120000"/>
              </a:lnSpc>
              <a:spcBef>
                <a:spcPct val="0"/>
              </a:spcBef>
              <a:spcAft>
                <a:spcPct val="0"/>
              </a:spcAft>
              <a:buClrTx/>
              <a:buSzTx/>
              <a:buNone/>
            </a:pPr>
            <a:r>
              <a:rPr lang="en-US" altLang="zh-CN" sz="1200" dirty="0">
                <a:solidFill>
                  <a:srgbClr val="000000"/>
                </a:solidFill>
                <a:ea typeface="楷体_GB2312"/>
              </a:rPr>
              <a:t>A1</a:t>
            </a:r>
            <a:endParaRPr lang="en-US" altLang="zh-CN" sz="1200" dirty="0">
              <a:solidFill>
                <a:srgbClr val="000000"/>
              </a:solidFill>
              <a:ea typeface="楷体_GB2312"/>
            </a:endParaRPr>
          </a:p>
          <a:p>
            <a:pPr marL="0" lvl="0" indent="0" algn="ctr">
              <a:lnSpc>
                <a:spcPct val="120000"/>
              </a:lnSpc>
              <a:spcBef>
                <a:spcPct val="25000"/>
              </a:spcBef>
              <a:spcAft>
                <a:spcPct val="0"/>
              </a:spcAft>
              <a:buClrTx/>
              <a:buSzTx/>
              <a:buNone/>
            </a:pPr>
            <a:r>
              <a:rPr lang="en-US" altLang="zh-CN" sz="1200" dirty="0">
                <a:solidFill>
                  <a:srgbClr val="000000"/>
                </a:solidFill>
                <a:ea typeface="楷体_GB2312"/>
              </a:rPr>
              <a:t>A0</a:t>
            </a:r>
            <a:endParaRPr lang="en-US" altLang="zh-CN" sz="1200" dirty="0">
              <a:solidFill>
                <a:srgbClr val="000000"/>
              </a:solidFill>
              <a:ea typeface="楷体_GB2312"/>
            </a:endParaRPr>
          </a:p>
        </p:txBody>
      </p:sp>
      <p:grpSp>
        <p:nvGrpSpPr>
          <p:cNvPr id="66612" name="Group 130"/>
          <p:cNvGrpSpPr/>
          <p:nvPr/>
        </p:nvGrpSpPr>
        <p:grpSpPr>
          <a:xfrm>
            <a:off x="2263775" y="2897188"/>
            <a:ext cx="936625" cy="2424112"/>
            <a:chOff x="0" y="0"/>
            <a:chExt cx="590" cy="1527"/>
          </a:xfrm>
        </p:grpSpPr>
        <p:sp>
          <p:nvSpPr>
            <p:cNvPr id="146519" name="Rectangle 54"/>
            <p:cNvSpPr/>
            <p:nvPr/>
          </p:nvSpPr>
          <p:spPr>
            <a:xfrm>
              <a:off x="22" y="166"/>
              <a:ext cx="499" cy="1361"/>
            </a:xfrm>
            <a:prstGeom prst="rect">
              <a:avLst/>
            </a:prstGeom>
            <a:solidFill>
              <a:srgbClr val="339966"/>
            </a:solidFill>
            <a:ln w="9525" cap="flat" cmpd="sng">
              <a:solidFill>
                <a:srgbClr val="339966"/>
              </a:solidFill>
              <a:prstDash val="solid"/>
              <a:miter/>
              <a:headEnd type="none" w="med" len="med"/>
              <a:tailEnd type="none" w="med" len="med"/>
            </a:ln>
          </p:spPr>
          <p:txBody>
            <a:bodyPr wrap="none" lIns="3600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G</a:t>
              </a:r>
              <a:endParaRPr lang="en-US" altLang="zh-CN" sz="1600" b="0" dirty="0">
                <a:solidFill>
                  <a:srgbClr val="000000"/>
                </a:solidFill>
                <a:ea typeface="楷体_GB2312"/>
              </a:endParaRPr>
            </a:p>
            <a:p>
              <a:pPr marL="0" lvl="0" indent="0">
                <a:lnSpc>
                  <a:spcPct val="100000"/>
                </a:lnSpc>
                <a:spcBef>
                  <a:spcPct val="0"/>
                </a:spcBef>
                <a:spcAft>
                  <a:spcPct val="0"/>
                </a:spcAft>
                <a:buClrTx/>
                <a:buSzTx/>
                <a:buNone/>
              </a:pPr>
              <a:endParaRPr lang="en-US" altLang="zh-CN" sz="1600" b="0" dirty="0">
                <a:solidFill>
                  <a:srgbClr val="000000"/>
                </a:solidFill>
                <a:ea typeface="楷体_GB2312"/>
              </a:endParaRPr>
            </a:p>
            <a:p>
              <a:pPr marL="0" lvl="0" indent="0">
                <a:lnSpc>
                  <a:spcPct val="100000"/>
                </a:lnSpc>
                <a:spcBef>
                  <a:spcPct val="0"/>
                </a:spcBef>
                <a:spcAft>
                  <a:spcPct val="0"/>
                </a:spcAft>
                <a:buClrTx/>
                <a:buSzTx/>
                <a:buNone/>
              </a:pPr>
              <a:r>
                <a:rPr lang="en-US" altLang="zh-CN" sz="1600" b="0" dirty="0">
                  <a:solidFill>
                    <a:srgbClr val="000000"/>
                  </a:solidFill>
                  <a:ea typeface="楷体_GB2312"/>
                </a:rPr>
                <a:t>G2A</a:t>
              </a:r>
              <a:endParaRPr lang="en-US" altLang="zh-CN" sz="1600" b="0" dirty="0">
                <a:solidFill>
                  <a:srgbClr val="000000"/>
                </a:solidFill>
                <a:ea typeface="楷体_GB2312"/>
              </a:endParaRPr>
            </a:p>
            <a:p>
              <a:pPr marL="0" lvl="0" indent="0">
                <a:lnSpc>
                  <a:spcPct val="100000"/>
                </a:lnSpc>
                <a:spcBef>
                  <a:spcPct val="0"/>
                </a:spcBef>
                <a:spcAft>
                  <a:spcPct val="0"/>
                </a:spcAft>
                <a:buClrTx/>
                <a:buSzTx/>
                <a:buNone/>
              </a:pPr>
              <a:r>
                <a:rPr lang="en-US" altLang="zh-CN" sz="1600" b="0" dirty="0">
                  <a:solidFill>
                    <a:srgbClr val="000000"/>
                  </a:solidFill>
                  <a:ea typeface="楷体_GB2312"/>
                </a:rPr>
                <a:t>G2B</a:t>
              </a:r>
              <a:endParaRPr lang="en-US" altLang="zh-CN" sz="1600" b="0" dirty="0">
                <a:solidFill>
                  <a:srgbClr val="000000"/>
                </a:solidFill>
                <a:ea typeface="楷体_GB2312"/>
              </a:endParaRPr>
            </a:p>
            <a:p>
              <a:pPr marL="0" lvl="0" indent="0">
                <a:lnSpc>
                  <a:spcPct val="100000"/>
                </a:lnSpc>
                <a:spcBef>
                  <a:spcPct val="0"/>
                </a:spcBef>
                <a:spcAft>
                  <a:spcPct val="0"/>
                </a:spcAft>
                <a:buClrTx/>
                <a:buSzTx/>
                <a:buNone/>
              </a:pPr>
              <a:endParaRPr lang="en-US" altLang="zh-CN" sz="1600" b="0" dirty="0">
                <a:solidFill>
                  <a:srgbClr val="000000"/>
                </a:solidFill>
                <a:ea typeface="楷体_GB2312"/>
              </a:endParaRPr>
            </a:p>
            <a:p>
              <a:pPr marL="0" lvl="0" indent="0">
                <a:lnSpc>
                  <a:spcPct val="100000"/>
                </a:lnSpc>
                <a:spcBef>
                  <a:spcPct val="0"/>
                </a:spcBef>
                <a:spcAft>
                  <a:spcPct val="0"/>
                </a:spcAft>
                <a:buClrTx/>
                <a:buSzTx/>
                <a:buNone/>
              </a:pPr>
              <a:r>
                <a:rPr lang="en-US" altLang="zh-CN" sz="1600" b="0" dirty="0">
                  <a:solidFill>
                    <a:srgbClr val="000000"/>
                  </a:solidFill>
                  <a:ea typeface="楷体_GB2312"/>
                </a:rPr>
                <a:t>C</a:t>
              </a:r>
              <a:endParaRPr lang="en-US" altLang="zh-CN" sz="1600" b="0" dirty="0">
                <a:solidFill>
                  <a:srgbClr val="000000"/>
                </a:solidFill>
                <a:ea typeface="楷体_GB2312"/>
              </a:endParaRPr>
            </a:p>
            <a:p>
              <a:pPr marL="0" lvl="0" indent="0">
                <a:lnSpc>
                  <a:spcPct val="90000"/>
                </a:lnSpc>
                <a:spcBef>
                  <a:spcPct val="0"/>
                </a:spcBef>
                <a:spcAft>
                  <a:spcPct val="0"/>
                </a:spcAft>
                <a:buClrTx/>
                <a:buSzTx/>
                <a:buNone/>
              </a:pPr>
              <a:r>
                <a:rPr lang="en-US" altLang="zh-CN" sz="1600" b="0" dirty="0">
                  <a:solidFill>
                    <a:srgbClr val="000000"/>
                  </a:solidFill>
                  <a:ea typeface="楷体_GB2312"/>
                </a:rPr>
                <a:t>B</a:t>
              </a:r>
              <a:endParaRPr lang="en-US" altLang="zh-CN" sz="1600" b="0" dirty="0">
                <a:solidFill>
                  <a:srgbClr val="000000"/>
                </a:solidFill>
                <a:ea typeface="楷体_GB2312"/>
              </a:endParaRPr>
            </a:p>
            <a:p>
              <a:pPr marL="0" lvl="0" indent="0">
                <a:lnSpc>
                  <a:spcPct val="90000"/>
                </a:lnSpc>
                <a:spcBef>
                  <a:spcPct val="0"/>
                </a:spcBef>
                <a:spcAft>
                  <a:spcPct val="0"/>
                </a:spcAft>
                <a:buClrTx/>
                <a:buSzTx/>
                <a:buNone/>
              </a:pPr>
              <a:r>
                <a:rPr lang="en-US" altLang="zh-CN" sz="1600" b="0" dirty="0">
                  <a:solidFill>
                    <a:srgbClr val="000000"/>
                  </a:solidFill>
                  <a:ea typeface="楷体_GB2312"/>
                </a:rPr>
                <a:t>A</a:t>
              </a:r>
              <a:endParaRPr lang="en-US" altLang="zh-CN" sz="1600" b="0" dirty="0">
                <a:solidFill>
                  <a:srgbClr val="000000"/>
                </a:solidFill>
                <a:ea typeface="楷体_GB2312"/>
              </a:endParaRPr>
            </a:p>
          </p:txBody>
        </p:sp>
        <p:sp>
          <p:nvSpPr>
            <p:cNvPr id="146520" name="Line 56"/>
            <p:cNvSpPr/>
            <p:nvPr/>
          </p:nvSpPr>
          <p:spPr>
            <a:xfrm>
              <a:off x="43" y="521"/>
              <a:ext cx="181" cy="0"/>
            </a:xfrm>
            <a:prstGeom prst="line">
              <a:avLst/>
            </a:prstGeom>
            <a:ln w="28575" cap="flat" cmpd="sng">
              <a:solidFill>
                <a:schemeClr val="tx1"/>
              </a:solidFill>
              <a:prstDash val="solid"/>
              <a:bevel/>
              <a:headEnd type="none" w="med" len="med"/>
              <a:tailEnd type="none" w="med" len="med"/>
            </a:ln>
          </p:spPr>
        </p:sp>
        <p:sp>
          <p:nvSpPr>
            <p:cNvPr id="146521" name="Line 57"/>
            <p:cNvSpPr/>
            <p:nvPr/>
          </p:nvSpPr>
          <p:spPr>
            <a:xfrm>
              <a:off x="43" y="702"/>
              <a:ext cx="181" cy="0"/>
            </a:xfrm>
            <a:prstGeom prst="line">
              <a:avLst/>
            </a:prstGeom>
            <a:ln w="28575" cap="flat" cmpd="sng">
              <a:solidFill>
                <a:schemeClr val="tx1"/>
              </a:solidFill>
              <a:prstDash val="solid"/>
              <a:bevel/>
              <a:headEnd type="none" w="med" len="med"/>
              <a:tailEnd type="none" w="med" len="med"/>
            </a:ln>
          </p:spPr>
        </p:sp>
        <p:sp>
          <p:nvSpPr>
            <p:cNvPr id="146522" name="Text Box 66"/>
            <p:cNvSpPr txBox="1"/>
            <p:nvPr/>
          </p:nvSpPr>
          <p:spPr>
            <a:xfrm>
              <a:off x="0" y="0"/>
              <a:ext cx="590" cy="154"/>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600" dirty="0">
                  <a:solidFill>
                    <a:srgbClr val="000000"/>
                  </a:solidFill>
                  <a:ea typeface="楷体_GB2312"/>
                </a:rPr>
                <a:t>74LS138</a:t>
              </a:r>
              <a:endParaRPr lang="en-US" altLang="zh-CN" sz="1600" dirty="0">
                <a:solidFill>
                  <a:srgbClr val="000000"/>
                </a:solidFill>
                <a:ea typeface="楷体_GB2312"/>
              </a:endParaRPr>
            </a:p>
          </p:txBody>
        </p:sp>
      </p:grpSp>
      <p:sp>
        <p:nvSpPr>
          <p:cNvPr id="66617" name="Line 67"/>
          <p:cNvSpPr/>
          <p:nvPr/>
        </p:nvSpPr>
        <p:spPr>
          <a:xfrm>
            <a:off x="1433513" y="2513013"/>
            <a:ext cx="2016125" cy="0"/>
          </a:xfrm>
          <a:prstGeom prst="line">
            <a:avLst/>
          </a:prstGeom>
          <a:ln w="19050" cap="flat" cmpd="sng">
            <a:solidFill>
              <a:srgbClr val="FF6600"/>
            </a:solidFill>
            <a:prstDash val="solid"/>
            <a:bevel/>
            <a:headEnd type="none" w="med" len="med"/>
            <a:tailEnd type="none" w="med" len="med"/>
          </a:ln>
        </p:spPr>
      </p:sp>
      <p:sp>
        <p:nvSpPr>
          <p:cNvPr id="66618" name="Line 68"/>
          <p:cNvSpPr/>
          <p:nvPr/>
        </p:nvSpPr>
        <p:spPr>
          <a:xfrm>
            <a:off x="3449638" y="3089275"/>
            <a:ext cx="360362" cy="0"/>
          </a:xfrm>
          <a:prstGeom prst="line">
            <a:avLst/>
          </a:prstGeom>
          <a:ln w="19050" cap="flat" cmpd="sng">
            <a:solidFill>
              <a:srgbClr val="FF6600"/>
            </a:solidFill>
            <a:prstDash val="solid"/>
            <a:bevel/>
            <a:headEnd type="none" w="med" len="med"/>
            <a:tailEnd type="none" w="med" len="med"/>
          </a:ln>
        </p:spPr>
      </p:sp>
      <p:sp>
        <p:nvSpPr>
          <p:cNvPr id="66619" name="Line 69"/>
          <p:cNvSpPr/>
          <p:nvPr/>
        </p:nvSpPr>
        <p:spPr>
          <a:xfrm>
            <a:off x="3449638" y="2513013"/>
            <a:ext cx="0" cy="576262"/>
          </a:xfrm>
          <a:prstGeom prst="line">
            <a:avLst/>
          </a:prstGeom>
          <a:ln w="19050" cap="flat" cmpd="sng">
            <a:solidFill>
              <a:srgbClr val="FF6600"/>
            </a:solidFill>
            <a:prstDash val="solid"/>
            <a:bevel/>
            <a:headEnd type="none" w="med" len="med"/>
            <a:tailEnd type="none" w="med" len="med"/>
          </a:ln>
        </p:spPr>
      </p:sp>
      <p:sp>
        <p:nvSpPr>
          <p:cNvPr id="66620" name="Line 70"/>
          <p:cNvSpPr/>
          <p:nvPr/>
        </p:nvSpPr>
        <p:spPr>
          <a:xfrm>
            <a:off x="3090863" y="3521075"/>
            <a:ext cx="719137" cy="0"/>
          </a:xfrm>
          <a:prstGeom prst="line">
            <a:avLst/>
          </a:prstGeom>
          <a:ln w="19050" cap="flat" cmpd="sng">
            <a:solidFill>
              <a:srgbClr val="FF6600"/>
            </a:solidFill>
            <a:prstDash val="solid"/>
            <a:bevel/>
            <a:headEnd type="none" w="med" len="med"/>
            <a:tailEnd type="none" w="med" len="med"/>
          </a:ln>
        </p:spPr>
      </p:sp>
      <p:grpSp>
        <p:nvGrpSpPr>
          <p:cNvPr id="66621" name="Group 132"/>
          <p:cNvGrpSpPr/>
          <p:nvPr/>
        </p:nvGrpSpPr>
        <p:grpSpPr>
          <a:xfrm>
            <a:off x="3233738" y="3295650"/>
            <a:ext cx="288925" cy="244475"/>
            <a:chOff x="0" y="0"/>
            <a:chExt cx="182" cy="154"/>
          </a:xfrm>
        </p:grpSpPr>
        <p:sp>
          <p:nvSpPr>
            <p:cNvPr id="146517" name="Text Box 71"/>
            <p:cNvSpPr txBox="1"/>
            <p:nvPr/>
          </p:nvSpPr>
          <p:spPr>
            <a:xfrm>
              <a:off x="0" y="0"/>
              <a:ext cx="182" cy="154"/>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1600" dirty="0">
                  <a:solidFill>
                    <a:srgbClr val="000000"/>
                  </a:solidFill>
                  <a:ea typeface="楷体_GB2312"/>
                </a:rPr>
                <a:t>Y</a:t>
              </a:r>
              <a:r>
                <a:rPr lang="en-US" altLang="zh-CN" sz="1200" dirty="0">
                  <a:solidFill>
                    <a:srgbClr val="000000"/>
                  </a:solidFill>
                  <a:ea typeface="楷体_GB2312"/>
                </a:rPr>
                <a:t>0</a:t>
              </a:r>
              <a:endParaRPr lang="zh-CN" altLang="en-US" sz="1200" dirty="0">
                <a:solidFill>
                  <a:srgbClr val="000000"/>
                </a:solidFill>
                <a:ea typeface="楷体_GB2312"/>
              </a:endParaRPr>
            </a:p>
          </p:txBody>
        </p:sp>
        <p:sp>
          <p:nvSpPr>
            <p:cNvPr id="146518" name="Line 72"/>
            <p:cNvSpPr/>
            <p:nvPr/>
          </p:nvSpPr>
          <p:spPr>
            <a:xfrm>
              <a:off x="16" y="6"/>
              <a:ext cx="136" cy="0"/>
            </a:xfrm>
            <a:prstGeom prst="line">
              <a:avLst/>
            </a:prstGeom>
            <a:ln w="28575" cap="flat" cmpd="sng">
              <a:solidFill>
                <a:schemeClr val="tx1"/>
              </a:solidFill>
              <a:prstDash val="solid"/>
              <a:bevel/>
              <a:headEnd type="none" w="med" len="med"/>
              <a:tailEnd type="none" w="med" len="med"/>
            </a:ln>
          </p:spPr>
        </p:sp>
      </p:grpSp>
      <p:sp>
        <p:nvSpPr>
          <p:cNvPr id="66624" name="Rectangle 73"/>
          <p:cNvSpPr/>
          <p:nvPr/>
        </p:nvSpPr>
        <p:spPr>
          <a:xfrm>
            <a:off x="3810000" y="4672013"/>
            <a:ext cx="457200" cy="890587"/>
          </a:xfrm>
          <a:prstGeom prst="rect">
            <a:avLst/>
          </a:prstGeom>
          <a:solidFill>
            <a:srgbClr val="339966"/>
          </a:solidFill>
          <a:ln w="9525" cap="flat" cmpd="sng">
            <a:solidFill>
              <a:srgbClr val="339966"/>
            </a:solidFill>
            <a:prstDash val="solid"/>
            <a:miter/>
            <a:headEnd type="none" w="med" len="med"/>
            <a:tailEnd type="none" w="med" len="med"/>
          </a:ln>
        </p:spPr>
        <p:txBody>
          <a:bodyPr lIns="0" r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endParaRPr lang="en-US" altLang="zh-CN" sz="2400" dirty="0">
              <a:solidFill>
                <a:srgbClr val="000000"/>
              </a:solidFill>
              <a:ea typeface="楷体_GB2312"/>
            </a:endParaRPr>
          </a:p>
          <a:p>
            <a:pPr marL="0" lvl="0" indent="0" algn="ctr">
              <a:lnSpc>
                <a:spcPct val="100000"/>
              </a:lnSpc>
              <a:spcBef>
                <a:spcPct val="0"/>
              </a:spcBef>
              <a:spcAft>
                <a:spcPct val="0"/>
              </a:spcAft>
              <a:buClrTx/>
              <a:buSzTx/>
              <a:buNone/>
            </a:pPr>
            <a:r>
              <a:rPr lang="en-US" altLang="zh-CN" sz="2400" dirty="0">
                <a:solidFill>
                  <a:srgbClr val="000000"/>
                </a:solidFill>
                <a:ea typeface="楷体_GB2312"/>
              </a:rPr>
              <a:t>≥1</a:t>
            </a:r>
            <a:endParaRPr lang="en-US" altLang="zh-CN" sz="2400" dirty="0">
              <a:solidFill>
                <a:srgbClr val="000000"/>
              </a:solidFill>
              <a:ea typeface="楷体_GB2312"/>
            </a:endParaRPr>
          </a:p>
        </p:txBody>
      </p:sp>
      <p:sp>
        <p:nvSpPr>
          <p:cNvPr id="66625" name="Line 74"/>
          <p:cNvSpPr/>
          <p:nvPr/>
        </p:nvSpPr>
        <p:spPr>
          <a:xfrm>
            <a:off x="3090863" y="4889500"/>
            <a:ext cx="719137" cy="0"/>
          </a:xfrm>
          <a:prstGeom prst="line">
            <a:avLst/>
          </a:prstGeom>
          <a:ln w="19050" cap="flat" cmpd="sng">
            <a:solidFill>
              <a:srgbClr val="FF6600"/>
            </a:solidFill>
            <a:prstDash val="solid"/>
            <a:bevel/>
            <a:headEnd type="none" w="med" len="med"/>
            <a:tailEnd type="none" w="med" len="med"/>
          </a:ln>
        </p:spPr>
      </p:sp>
      <p:sp>
        <p:nvSpPr>
          <p:cNvPr id="66626" name="Line 75"/>
          <p:cNvSpPr/>
          <p:nvPr/>
        </p:nvSpPr>
        <p:spPr>
          <a:xfrm>
            <a:off x="3449638" y="5392738"/>
            <a:ext cx="0" cy="431800"/>
          </a:xfrm>
          <a:prstGeom prst="line">
            <a:avLst/>
          </a:prstGeom>
          <a:ln w="19050" cap="flat" cmpd="sng">
            <a:solidFill>
              <a:srgbClr val="FF6600"/>
            </a:solidFill>
            <a:prstDash val="solid"/>
            <a:bevel/>
            <a:headEnd type="none" w="med" len="med"/>
            <a:tailEnd type="none" w="med" len="med"/>
          </a:ln>
        </p:spPr>
      </p:sp>
      <p:sp>
        <p:nvSpPr>
          <p:cNvPr id="66627" name="Line 76"/>
          <p:cNvSpPr/>
          <p:nvPr/>
        </p:nvSpPr>
        <p:spPr>
          <a:xfrm>
            <a:off x="3449638" y="5392738"/>
            <a:ext cx="360362" cy="0"/>
          </a:xfrm>
          <a:prstGeom prst="line">
            <a:avLst/>
          </a:prstGeom>
          <a:ln w="19050" cap="flat" cmpd="sng">
            <a:solidFill>
              <a:srgbClr val="FF6600"/>
            </a:solidFill>
            <a:prstDash val="solid"/>
            <a:bevel/>
            <a:headEnd type="none" w="med" len="med"/>
            <a:tailEnd type="none" w="med" len="med"/>
          </a:ln>
        </p:spPr>
      </p:sp>
      <p:sp>
        <p:nvSpPr>
          <p:cNvPr id="66628" name="Line 77"/>
          <p:cNvSpPr/>
          <p:nvPr/>
        </p:nvSpPr>
        <p:spPr>
          <a:xfrm>
            <a:off x="1433513" y="5824538"/>
            <a:ext cx="2016125" cy="0"/>
          </a:xfrm>
          <a:prstGeom prst="line">
            <a:avLst/>
          </a:prstGeom>
          <a:ln w="19050" cap="flat" cmpd="sng">
            <a:solidFill>
              <a:srgbClr val="FF6600"/>
            </a:solidFill>
            <a:prstDash val="solid"/>
            <a:bevel/>
            <a:headEnd type="none" w="med" len="med"/>
            <a:tailEnd type="none" w="med" len="med"/>
          </a:ln>
        </p:spPr>
      </p:sp>
      <p:sp>
        <p:nvSpPr>
          <p:cNvPr id="66629" name="Line 80"/>
          <p:cNvSpPr/>
          <p:nvPr/>
        </p:nvSpPr>
        <p:spPr>
          <a:xfrm>
            <a:off x="4457700" y="4157663"/>
            <a:ext cx="323850" cy="0"/>
          </a:xfrm>
          <a:prstGeom prst="line">
            <a:avLst/>
          </a:prstGeom>
          <a:ln w="19050" cap="flat" cmpd="sng">
            <a:solidFill>
              <a:srgbClr val="FF6600"/>
            </a:solidFill>
            <a:prstDash val="solid"/>
            <a:bevel/>
            <a:headEnd type="none" w="med" len="med"/>
            <a:tailEnd type="none" w="med" len="med"/>
          </a:ln>
        </p:spPr>
      </p:sp>
      <p:grpSp>
        <p:nvGrpSpPr>
          <p:cNvPr id="66630" name="Group 126"/>
          <p:cNvGrpSpPr/>
          <p:nvPr/>
        </p:nvGrpSpPr>
        <p:grpSpPr>
          <a:xfrm>
            <a:off x="5681663" y="1216025"/>
            <a:ext cx="936625" cy="2520950"/>
            <a:chOff x="0" y="0"/>
            <a:chExt cx="590" cy="1588"/>
          </a:xfrm>
        </p:grpSpPr>
        <p:sp>
          <p:nvSpPr>
            <p:cNvPr id="146512" name="Rectangle 22"/>
            <p:cNvSpPr/>
            <p:nvPr/>
          </p:nvSpPr>
          <p:spPr>
            <a:xfrm>
              <a:off x="25" y="182"/>
              <a:ext cx="504" cy="1406"/>
            </a:xfrm>
            <a:prstGeom prst="rect">
              <a:avLst/>
            </a:prstGeom>
            <a:solidFill>
              <a:srgbClr val="339966"/>
            </a:solidFill>
            <a:ln w="9525" cap="flat" cmpd="sng">
              <a:solidFill>
                <a:srgbClr val="339966"/>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6513" name="Text Box 24"/>
            <p:cNvSpPr txBox="1"/>
            <p:nvPr/>
          </p:nvSpPr>
          <p:spPr>
            <a:xfrm>
              <a:off x="54" y="285"/>
              <a:ext cx="280" cy="118"/>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r>
                <a:rPr lang="en-US" altLang="zh-CN" sz="1200" dirty="0">
                  <a:solidFill>
                    <a:srgbClr val="000000"/>
                  </a:solidFill>
                  <a:ea typeface="楷体_GB2312"/>
                </a:rPr>
                <a:t>D7-D0</a:t>
              </a:r>
              <a:endParaRPr lang="en-US" altLang="zh-CN" sz="1200" dirty="0">
                <a:solidFill>
                  <a:srgbClr val="000000"/>
                </a:solidFill>
                <a:ea typeface="楷体_GB2312"/>
              </a:endParaRPr>
            </a:p>
            <a:p>
              <a:pPr marL="0" lvl="0" indent="0" algn="r">
                <a:lnSpc>
                  <a:spcPct val="100000"/>
                </a:lnSpc>
                <a:spcBef>
                  <a:spcPct val="0"/>
                </a:spcBef>
                <a:spcAft>
                  <a:spcPct val="0"/>
                </a:spcAft>
                <a:buClrTx/>
                <a:buSzTx/>
                <a:buNone/>
              </a:pPr>
              <a:endParaRPr lang="en-US" altLang="zh-CN" sz="1200" dirty="0">
                <a:solidFill>
                  <a:srgbClr val="000000"/>
                </a:solidFill>
                <a:ea typeface="楷体_GB2312"/>
              </a:endParaRPr>
            </a:p>
          </p:txBody>
        </p:sp>
        <p:sp>
          <p:nvSpPr>
            <p:cNvPr id="146514" name="Text Box 44"/>
            <p:cNvSpPr txBox="1"/>
            <p:nvPr/>
          </p:nvSpPr>
          <p:spPr>
            <a:xfrm>
              <a:off x="30" y="1256"/>
              <a:ext cx="181" cy="137"/>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1400" dirty="0">
                  <a:solidFill>
                    <a:srgbClr val="000000"/>
                  </a:solidFill>
                  <a:ea typeface="楷体_GB2312"/>
                </a:rPr>
                <a:t>CP</a:t>
              </a:r>
              <a:endParaRPr lang="en-US" altLang="zh-CN" sz="1400" dirty="0">
                <a:solidFill>
                  <a:srgbClr val="000000"/>
                </a:solidFill>
                <a:ea typeface="楷体_GB2312"/>
              </a:endParaRPr>
            </a:p>
          </p:txBody>
        </p:sp>
        <p:sp>
          <p:nvSpPr>
            <p:cNvPr id="146515" name="Text Box 45"/>
            <p:cNvSpPr txBox="1"/>
            <p:nvPr/>
          </p:nvSpPr>
          <p:spPr>
            <a:xfrm>
              <a:off x="363" y="334"/>
              <a:ext cx="136" cy="102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spcBef>
                  <a:spcPct val="0"/>
                </a:spcBef>
                <a:spcAft>
                  <a:spcPct val="0"/>
                </a:spcAft>
                <a:buClrTx/>
                <a:buSzTx/>
                <a:buNone/>
              </a:pPr>
              <a:r>
                <a:rPr lang="en-US" altLang="zh-CN" sz="1200" dirty="0">
                  <a:solidFill>
                    <a:srgbClr val="000000"/>
                  </a:solidFill>
                  <a:ea typeface="楷体_GB2312"/>
                </a:rPr>
                <a:t>Q7</a:t>
              </a:r>
              <a:endParaRPr lang="en-US" altLang="zh-CN" sz="1200" dirty="0">
                <a:solidFill>
                  <a:srgbClr val="000000"/>
                </a:solidFill>
                <a:ea typeface="楷体_GB2312"/>
              </a:endParaRPr>
            </a:p>
            <a:p>
              <a:pPr marL="0" lvl="0" indent="0" algn="r">
                <a:spcBef>
                  <a:spcPct val="0"/>
                </a:spcBef>
                <a:spcAft>
                  <a:spcPct val="0"/>
                </a:spcAft>
                <a:buClrTx/>
                <a:buSzTx/>
                <a:buNone/>
              </a:pPr>
              <a:r>
                <a:rPr lang="en-US" altLang="zh-CN" sz="1200" dirty="0">
                  <a:solidFill>
                    <a:srgbClr val="000000"/>
                  </a:solidFill>
                  <a:ea typeface="楷体_GB2312"/>
                </a:rPr>
                <a:t>Q6</a:t>
              </a:r>
              <a:endParaRPr lang="en-US" altLang="zh-CN" sz="1200" dirty="0">
                <a:solidFill>
                  <a:srgbClr val="000000"/>
                </a:solidFill>
                <a:ea typeface="楷体_GB2312"/>
              </a:endParaRPr>
            </a:p>
            <a:p>
              <a:pPr marL="0" lvl="0" indent="0" algn="r">
                <a:spcBef>
                  <a:spcPct val="0"/>
                </a:spcBef>
                <a:spcAft>
                  <a:spcPct val="0"/>
                </a:spcAft>
                <a:buClrTx/>
                <a:buSzTx/>
                <a:buNone/>
              </a:pPr>
              <a:r>
                <a:rPr lang="en-US" altLang="zh-CN" sz="1200" dirty="0">
                  <a:solidFill>
                    <a:srgbClr val="000000"/>
                  </a:solidFill>
                  <a:ea typeface="楷体_GB2312"/>
                </a:rPr>
                <a:t>Q5</a:t>
              </a:r>
              <a:endParaRPr lang="en-US" altLang="zh-CN" sz="1200" dirty="0">
                <a:solidFill>
                  <a:srgbClr val="000000"/>
                </a:solidFill>
                <a:ea typeface="楷体_GB2312"/>
              </a:endParaRPr>
            </a:p>
            <a:p>
              <a:pPr marL="0" lvl="0" indent="0" algn="r">
                <a:spcBef>
                  <a:spcPct val="0"/>
                </a:spcBef>
                <a:spcAft>
                  <a:spcPct val="0"/>
                </a:spcAft>
                <a:buClrTx/>
                <a:buSzTx/>
                <a:buNone/>
              </a:pPr>
              <a:r>
                <a:rPr lang="en-US" altLang="zh-CN" sz="1200" dirty="0">
                  <a:solidFill>
                    <a:srgbClr val="000000"/>
                  </a:solidFill>
                  <a:ea typeface="楷体_GB2312"/>
                </a:rPr>
                <a:t>Q4</a:t>
              </a:r>
              <a:endParaRPr lang="en-US" altLang="zh-CN" sz="1200" dirty="0">
                <a:solidFill>
                  <a:srgbClr val="000000"/>
                </a:solidFill>
                <a:ea typeface="楷体_GB2312"/>
              </a:endParaRPr>
            </a:p>
            <a:p>
              <a:pPr marL="0" lvl="0" indent="0" algn="r">
                <a:spcBef>
                  <a:spcPct val="0"/>
                </a:spcBef>
                <a:spcAft>
                  <a:spcPct val="0"/>
                </a:spcAft>
                <a:buClrTx/>
                <a:buSzTx/>
                <a:buNone/>
              </a:pPr>
              <a:r>
                <a:rPr lang="en-US" altLang="zh-CN" sz="1200" dirty="0">
                  <a:solidFill>
                    <a:srgbClr val="000000"/>
                  </a:solidFill>
                  <a:ea typeface="楷体_GB2312"/>
                </a:rPr>
                <a:t>Q3</a:t>
              </a:r>
              <a:endParaRPr lang="en-US" altLang="zh-CN" sz="1200" dirty="0">
                <a:solidFill>
                  <a:srgbClr val="000000"/>
                </a:solidFill>
                <a:ea typeface="楷体_GB2312"/>
              </a:endParaRPr>
            </a:p>
            <a:p>
              <a:pPr marL="0" lvl="0" indent="0" algn="r">
                <a:spcBef>
                  <a:spcPct val="0"/>
                </a:spcBef>
                <a:spcAft>
                  <a:spcPct val="0"/>
                </a:spcAft>
                <a:buClrTx/>
                <a:buSzTx/>
                <a:buNone/>
              </a:pPr>
              <a:r>
                <a:rPr lang="en-US" altLang="zh-CN" sz="1200" dirty="0">
                  <a:solidFill>
                    <a:srgbClr val="000000"/>
                  </a:solidFill>
                  <a:ea typeface="楷体_GB2312"/>
                </a:rPr>
                <a:t>Q2</a:t>
              </a:r>
              <a:endParaRPr lang="en-US" altLang="zh-CN" sz="1200" dirty="0">
                <a:solidFill>
                  <a:srgbClr val="000000"/>
                </a:solidFill>
                <a:ea typeface="楷体_GB2312"/>
              </a:endParaRPr>
            </a:p>
            <a:p>
              <a:pPr marL="0" lvl="0" indent="0" algn="r">
                <a:spcBef>
                  <a:spcPct val="0"/>
                </a:spcBef>
                <a:spcAft>
                  <a:spcPct val="0"/>
                </a:spcAft>
                <a:buClrTx/>
                <a:buSzTx/>
                <a:buNone/>
              </a:pPr>
              <a:r>
                <a:rPr lang="en-US" altLang="zh-CN" sz="1200" dirty="0">
                  <a:solidFill>
                    <a:srgbClr val="000000"/>
                  </a:solidFill>
                  <a:ea typeface="楷体_GB2312"/>
                </a:rPr>
                <a:t>Q1</a:t>
              </a:r>
              <a:endParaRPr lang="en-US" altLang="zh-CN" sz="1200" dirty="0">
                <a:solidFill>
                  <a:srgbClr val="000000"/>
                </a:solidFill>
                <a:ea typeface="楷体_GB2312"/>
              </a:endParaRPr>
            </a:p>
            <a:p>
              <a:pPr marL="0" lvl="0" indent="0" algn="r">
                <a:spcBef>
                  <a:spcPct val="0"/>
                </a:spcBef>
                <a:spcAft>
                  <a:spcPct val="0"/>
                </a:spcAft>
                <a:buClrTx/>
                <a:buSzTx/>
                <a:buNone/>
              </a:pPr>
              <a:r>
                <a:rPr lang="en-US" altLang="zh-CN" sz="1200" dirty="0">
                  <a:solidFill>
                    <a:srgbClr val="000000"/>
                  </a:solidFill>
                  <a:ea typeface="楷体_GB2312"/>
                </a:rPr>
                <a:t>Q0</a:t>
              </a:r>
              <a:endParaRPr lang="en-US" altLang="zh-CN" sz="1200" dirty="0">
                <a:solidFill>
                  <a:srgbClr val="000000"/>
                </a:solidFill>
                <a:ea typeface="楷体_GB2312"/>
              </a:endParaRPr>
            </a:p>
            <a:p>
              <a:pPr marL="0" lvl="0" indent="0">
                <a:spcBef>
                  <a:spcPct val="0"/>
                </a:spcBef>
                <a:spcAft>
                  <a:spcPct val="0"/>
                </a:spcAft>
                <a:buClrTx/>
                <a:buSzTx/>
                <a:buNone/>
              </a:pPr>
              <a:endParaRPr lang="en-US" altLang="zh-CN" sz="1200" dirty="0">
                <a:solidFill>
                  <a:srgbClr val="000000"/>
                </a:solidFill>
                <a:ea typeface="楷体_GB2312"/>
              </a:endParaRPr>
            </a:p>
          </p:txBody>
        </p:sp>
        <p:sp>
          <p:nvSpPr>
            <p:cNvPr id="146516" name="Text Box 84"/>
            <p:cNvSpPr txBox="1"/>
            <p:nvPr/>
          </p:nvSpPr>
          <p:spPr>
            <a:xfrm>
              <a:off x="0" y="0"/>
              <a:ext cx="590" cy="154"/>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600" dirty="0">
                  <a:solidFill>
                    <a:srgbClr val="000000"/>
                  </a:solidFill>
                  <a:ea typeface="楷体_GB2312"/>
                </a:rPr>
                <a:t>74LS273</a:t>
              </a:r>
              <a:endParaRPr lang="en-US" altLang="zh-CN" sz="1600" dirty="0">
                <a:solidFill>
                  <a:srgbClr val="000000"/>
                </a:solidFill>
                <a:ea typeface="楷体_GB2312"/>
              </a:endParaRPr>
            </a:p>
          </p:txBody>
        </p:sp>
      </p:grpSp>
      <p:sp>
        <p:nvSpPr>
          <p:cNvPr id="66636" name="Line 99"/>
          <p:cNvSpPr/>
          <p:nvPr/>
        </p:nvSpPr>
        <p:spPr>
          <a:xfrm>
            <a:off x="4962525" y="4705350"/>
            <a:ext cx="2447925" cy="0"/>
          </a:xfrm>
          <a:prstGeom prst="line">
            <a:avLst/>
          </a:prstGeom>
          <a:ln w="9525" cap="flat" cmpd="sng">
            <a:solidFill>
              <a:srgbClr val="FF6600"/>
            </a:solidFill>
            <a:prstDash val="solid"/>
            <a:bevel/>
            <a:headEnd type="none" w="med" len="med"/>
            <a:tailEnd type="none" w="med" len="med"/>
          </a:ln>
        </p:spPr>
      </p:sp>
      <p:grpSp>
        <p:nvGrpSpPr>
          <p:cNvPr id="66637" name="Group 119"/>
          <p:cNvGrpSpPr/>
          <p:nvPr/>
        </p:nvGrpSpPr>
        <p:grpSpPr>
          <a:xfrm>
            <a:off x="7410450" y="1504950"/>
            <a:ext cx="936625" cy="4062413"/>
            <a:chOff x="0" y="0"/>
            <a:chExt cx="590" cy="2559"/>
          </a:xfrm>
        </p:grpSpPr>
        <p:sp>
          <p:nvSpPr>
            <p:cNvPr id="146507" name="Rectangle 26"/>
            <p:cNvSpPr/>
            <p:nvPr/>
          </p:nvSpPr>
          <p:spPr>
            <a:xfrm>
              <a:off x="0" y="0"/>
              <a:ext cx="590" cy="2559"/>
            </a:xfrm>
            <a:prstGeom prst="rect">
              <a:avLst/>
            </a:prstGeom>
            <a:solidFill>
              <a:srgbClr val="339966"/>
            </a:solidFill>
            <a:ln w="9525" cap="flat" cmpd="sng">
              <a:solidFill>
                <a:srgbClr val="339966"/>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46508" name="Text Box 27"/>
            <p:cNvSpPr txBox="1"/>
            <p:nvPr/>
          </p:nvSpPr>
          <p:spPr>
            <a:xfrm>
              <a:off x="272" y="1224"/>
              <a:ext cx="216" cy="437"/>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None/>
              </a:pPr>
              <a:r>
                <a:rPr lang="zh-CN" altLang="en-US" sz="1400" dirty="0">
                  <a:solidFill>
                    <a:srgbClr val="000000"/>
                  </a:solidFill>
                  <a:latin typeface="Times New Roman" panose="02020603050405020304" pitchFamily="18" charset="0"/>
                  <a:ea typeface="楷体_GB2312"/>
                </a:rPr>
                <a:t>外设</a:t>
              </a:r>
              <a:endParaRPr lang="zh-CN" altLang="en-US" sz="1400" dirty="0">
                <a:solidFill>
                  <a:srgbClr val="000000"/>
                </a:solidFill>
                <a:latin typeface="Times New Roman" panose="02020603050405020304" pitchFamily="18" charset="0"/>
                <a:ea typeface="楷体_GB2312"/>
              </a:endParaRPr>
            </a:p>
          </p:txBody>
        </p:sp>
        <p:sp>
          <p:nvSpPr>
            <p:cNvPr id="146509" name="Text Box 28"/>
            <p:cNvSpPr txBox="1"/>
            <p:nvPr/>
          </p:nvSpPr>
          <p:spPr>
            <a:xfrm>
              <a:off x="43" y="154"/>
              <a:ext cx="162" cy="1044"/>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spcBef>
                  <a:spcPct val="0"/>
                </a:spcBef>
                <a:spcAft>
                  <a:spcPct val="0"/>
                </a:spcAft>
                <a:buClrTx/>
                <a:buSzTx/>
                <a:buNone/>
              </a:pPr>
              <a:r>
                <a:rPr lang="en-US" altLang="zh-CN" sz="1200" dirty="0">
                  <a:solidFill>
                    <a:srgbClr val="000000"/>
                  </a:solidFill>
                  <a:ea typeface="楷体_GB2312"/>
                </a:rPr>
                <a:t>D7</a:t>
              </a:r>
              <a:endParaRPr lang="en-US" altLang="zh-CN" sz="1200" dirty="0">
                <a:solidFill>
                  <a:srgbClr val="000000"/>
                </a:solidFill>
                <a:ea typeface="楷体_GB2312"/>
              </a:endParaRPr>
            </a:p>
            <a:p>
              <a:pPr marL="0" lvl="0" indent="0" algn="ctr">
                <a:spcBef>
                  <a:spcPct val="0"/>
                </a:spcBef>
                <a:spcAft>
                  <a:spcPct val="0"/>
                </a:spcAft>
                <a:buClrTx/>
                <a:buSzTx/>
                <a:buNone/>
              </a:pPr>
              <a:r>
                <a:rPr lang="en-US" altLang="zh-CN" sz="1200" dirty="0">
                  <a:solidFill>
                    <a:srgbClr val="000000"/>
                  </a:solidFill>
                  <a:ea typeface="楷体_GB2312"/>
                </a:rPr>
                <a:t>D6</a:t>
              </a:r>
              <a:endParaRPr lang="en-US" altLang="zh-CN" sz="1200" dirty="0">
                <a:solidFill>
                  <a:srgbClr val="000000"/>
                </a:solidFill>
                <a:ea typeface="楷体_GB2312"/>
              </a:endParaRPr>
            </a:p>
            <a:p>
              <a:pPr marL="0" lvl="0" indent="0" algn="ctr">
                <a:spcBef>
                  <a:spcPct val="0"/>
                </a:spcBef>
                <a:spcAft>
                  <a:spcPct val="0"/>
                </a:spcAft>
                <a:buClrTx/>
                <a:buSzTx/>
                <a:buNone/>
              </a:pPr>
              <a:r>
                <a:rPr lang="en-US" altLang="zh-CN" sz="1200" dirty="0">
                  <a:solidFill>
                    <a:srgbClr val="000000"/>
                  </a:solidFill>
                  <a:ea typeface="楷体_GB2312"/>
                </a:rPr>
                <a:t>D5</a:t>
              </a:r>
              <a:endParaRPr lang="en-US" altLang="zh-CN" sz="1200" dirty="0">
                <a:solidFill>
                  <a:srgbClr val="000000"/>
                </a:solidFill>
                <a:ea typeface="楷体_GB2312"/>
              </a:endParaRPr>
            </a:p>
            <a:p>
              <a:pPr marL="0" lvl="0" indent="0" algn="ctr">
                <a:spcBef>
                  <a:spcPct val="0"/>
                </a:spcBef>
                <a:spcAft>
                  <a:spcPct val="0"/>
                </a:spcAft>
                <a:buClrTx/>
                <a:buSzTx/>
                <a:buNone/>
              </a:pPr>
              <a:r>
                <a:rPr lang="en-US" altLang="zh-CN" sz="1200" dirty="0">
                  <a:solidFill>
                    <a:srgbClr val="000000"/>
                  </a:solidFill>
                  <a:ea typeface="楷体_GB2312"/>
                </a:rPr>
                <a:t>D4</a:t>
              </a:r>
              <a:endParaRPr lang="en-US" altLang="zh-CN" sz="1200" dirty="0">
                <a:solidFill>
                  <a:srgbClr val="000000"/>
                </a:solidFill>
                <a:ea typeface="楷体_GB2312"/>
              </a:endParaRPr>
            </a:p>
            <a:p>
              <a:pPr marL="0" lvl="0" indent="0" algn="ctr">
                <a:spcBef>
                  <a:spcPct val="0"/>
                </a:spcBef>
                <a:spcAft>
                  <a:spcPct val="0"/>
                </a:spcAft>
                <a:buClrTx/>
                <a:buSzTx/>
                <a:buNone/>
              </a:pPr>
              <a:r>
                <a:rPr lang="en-US" altLang="zh-CN" sz="1200" dirty="0">
                  <a:solidFill>
                    <a:srgbClr val="000000"/>
                  </a:solidFill>
                  <a:ea typeface="楷体_GB2312"/>
                </a:rPr>
                <a:t>D3</a:t>
              </a:r>
              <a:endParaRPr lang="en-US" altLang="zh-CN" sz="1200" dirty="0">
                <a:solidFill>
                  <a:srgbClr val="000000"/>
                </a:solidFill>
                <a:ea typeface="楷体_GB2312"/>
              </a:endParaRPr>
            </a:p>
            <a:p>
              <a:pPr marL="0" lvl="0" indent="0" algn="ctr">
                <a:spcBef>
                  <a:spcPct val="0"/>
                </a:spcBef>
                <a:spcAft>
                  <a:spcPct val="0"/>
                </a:spcAft>
                <a:buClrTx/>
                <a:buSzTx/>
                <a:buNone/>
              </a:pPr>
              <a:r>
                <a:rPr lang="en-US" altLang="zh-CN" sz="1200" dirty="0">
                  <a:solidFill>
                    <a:srgbClr val="000000"/>
                  </a:solidFill>
                  <a:ea typeface="楷体_GB2312"/>
                </a:rPr>
                <a:t>D2</a:t>
              </a:r>
              <a:endParaRPr lang="en-US" altLang="zh-CN" sz="1200" dirty="0">
                <a:solidFill>
                  <a:srgbClr val="000000"/>
                </a:solidFill>
                <a:ea typeface="楷体_GB2312"/>
              </a:endParaRPr>
            </a:p>
            <a:p>
              <a:pPr marL="0" lvl="0" indent="0" algn="ctr">
                <a:spcBef>
                  <a:spcPct val="0"/>
                </a:spcBef>
                <a:spcAft>
                  <a:spcPct val="0"/>
                </a:spcAft>
                <a:buClrTx/>
                <a:buSzTx/>
                <a:buNone/>
              </a:pPr>
              <a:r>
                <a:rPr lang="en-US" altLang="zh-CN" sz="1200" dirty="0">
                  <a:solidFill>
                    <a:srgbClr val="000000"/>
                  </a:solidFill>
                  <a:ea typeface="楷体_GB2312"/>
                </a:rPr>
                <a:t>D1</a:t>
              </a:r>
              <a:endParaRPr lang="en-US" altLang="zh-CN" sz="1200" dirty="0">
                <a:solidFill>
                  <a:srgbClr val="000000"/>
                </a:solidFill>
                <a:ea typeface="楷体_GB2312"/>
              </a:endParaRPr>
            </a:p>
            <a:p>
              <a:pPr marL="0" lvl="0" indent="0" algn="ctr">
                <a:spcBef>
                  <a:spcPct val="0"/>
                </a:spcBef>
                <a:spcAft>
                  <a:spcPct val="0"/>
                </a:spcAft>
                <a:buClrTx/>
                <a:buSzTx/>
                <a:buNone/>
              </a:pPr>
              <a:r>
                <a:rPr lang="en-US" altLang="zh-CN" sz="1200" dirty="0">
                  <a:solidFill>
                    <a:srgbClr val="000000"/>
                  </a:solidFill>
                  <a:ea typeface="楷体_GB2312"/>
                </a:rPr>
                <a:t>D0</a:t>
              </a:r>
              <a:endParaRPr lang="en-US" altLang="zh-CN" sz="1200" dirty="0">
                <a:solidFill>
                  <a:srgbClr val="000000"/>
                </a:solidFill>
                <a:ea typeface="楷体_GB2312"/>
              </a:endParaRPr>
            </a:p>
            <a:p>
              <a:pPr marL="0" lvl="0" indent="0" algn="ctr">
                <a:spcBef>
                  <a:spcPct val="0"/>
                </a:spcBef>
                <a:spcAft>
                  <a:spcPct val="0"/>
                </a:spcAft>
                <a:buClrTx/>
                <a:buSzTx/>
                <a:buNone/>
              </a:pPr>
              <a:endParaRPr lang="en-US" altLang="zh-CN" sz="1200" dirty="0">
                <a:solidFill>
                  <a:srgbClr val="000000"/>
                </a:solidFill>
                <a:ea typeface="楷体_GB2312"/>
              </a:endParaRPr>
            </a:p>
          </p:txBody>
        </p:sp>
        <p:sp>
          <p:nvSpPr>
            <p:cNvPr id="146510" name="Text Box 29"/>
            <p:cNvSpPr txBox="1"/>
            <p:nvPr/>
          </p:nvSpPr>
          <p:spPr>
            <a:xfrm>
              <a:off x="84" y="1936"/>
              <a:ext cx="344" cy="148"/>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None/>
              </a:pPr>
              <a:r>
                <a:rPr lang="en-US" altLang="zh-CN" sz="1400" dirty="0">
                  <a:solidFill>
                    <a:srgbClr val="1C1C1C"/>
                  </a:solidFill>
                  <a:ea typeface="楷体_GB2312"/>
                </a:rPr>
                <a:t>BUSY</a:t>
              </a:r>
              <a:endParaRPr lang="en-US" altLang="zh-CN" sz="1400" dirty="0">
                <a:solidFill>
                  <a:srgbClr val="1C1C1C"/>
                </a:solidFill>
                <a:ea typeface="楷体_GB2312"/>
              </a:endParaRPr>
            </a:p>
            <a:p>
              <a:pPr marL="0" lvl="0" indent="0">
                <a:lnSpc>
                  <a:spcPct val="100000"/>
                </a:lnSpc>
                <a:spcBef>
                  <a:spcPct val="0"/>
                </a:spcBef>
                <a:spcAft>
                  <a:spcPct val="0"/>
                </a:spcAft>
                <a:buClrTx/>
                <a:buSzTx/>
                <a:buNone/>
              </a:pPr>
              <a:endParaRPr lang="en-US" altLang="zh-CN" sz="1400" dirty="0">
                <a:solidFill>
                  <a:srgbClr val="000000"/>
                </a:solidFill>
                <a:ea typeface="楷体_GB2312"/>
              </a:endParaRPr>
            </a:p>
          </p:txBody>
        </p:sp>
        <p:sp>
          <p:nvSpPr>
            <p:cNvPr id="146511" name="Line 103"/>
            <p:cNvSpPr/>
            <p:nvPr/>
          </p:nvSpPr>
          <p:spPr>
            <a:xfrm>
              <a:off x="72" y="1916"/>
              <a:ext cx="279" cy="2"/>
            </a:xfrm>
            <a:prstGeom prst="line">
              <a:avLst/>
            </a:prstGeom>
            <a:ln w="28575" cap="flat" cmpd="sng">
              <a:solidFill>
                <a:schemeClr val="bg2"/>
              </a:solidFill>
              <a:prstDash val="solid"/>
              <a:bevel/>
              <a:headEnd type="none" w="med" len="med"/>
              <a:tailEnd type="none" w="med" len="med"/>
            </a:ln>
          </p:spPr>
        </p:sp>
      </p:grpSp>
      <p:grpSp>
        <p:nvGrpSpPr>
          <p:cNvPr id="66643" name="Group 131"/>
          <p:cNvGrpSpPr/>
          <p:nvPr/>
        </p:nvGrpSpPr>
        <p:grpSpPr>
          <a:xfrm>
            <a:off x="3233738" y="4600575"/>
            <a:ext cx="288925" cy="244475"/>
            <a:chOff x="0" y="0"/>
            <a:chExt cx="182" cy="154"/>
          </a:xfrm>
        </p:grpSpPr>
        <p:sp>
          <p:nvSpPr>
            <p:cNvPr id="146505" name="Text Box 79"/>
            <p:cNvSpPr txBox="1"/>
            <p:nvPr/>
          </p:nvSpPr>
          <p:spPr>
            <a:xfrm>
              <a:off x="0" y="0"/>
              <a:ext cx="182" cy="154"/>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None/>
              </a:pPr>
              <a:r>
                <a:rPr lang="en-US" altLang="zh-CN" sz="1600" dirty="0">
                  <a:solidFill>
                    <a:srgbClr val="000000"/>
                  </a:solidFill>
                  <a:ea typeface="楷体_GB2312"/>
                </a:rPr>
                <a:t>Y</a:t>
              </a:r>
              <a:r>
                <a:rPr lang="en-US" altLang="zh-CN" sz="1200" dirty="0">
                  <a:solidFill>
                    <a:srgbClr val="000000"/>
                  </a:solidFill>
                  <a:ea typeface="楷体_GB2312"/>
                </a:rPr>
                <a:t>3</a:t>
              </a:r>
              <a:endParaRPr lang="zh-CN" altLang="en-US" sz="1200" dirty="0">
                <a:solidFill>
                  <a:srgbClr val="000000"/>
                </a:solidFill>
                <a:ea typeface="楷体_GB2312"/>
              </a:endParaRPr>
            </a:p>
          </p:txBody>
        </p:sp>
        <p:sp>
          <p:nvSpPr>
            <p:cNvPr id="146506" name="Line 107"/>
            <p:cNvSpPr/>
            <p:nvPr/>
          </p:nvSpPr>
          <p:spPr>
            <a:xfrm>
              <a:off x="17" y="0"/>
              <a:ext cx="136" cy="0"/>
            </a:xfrm>
            <a:prstGeom prst="line">
              <a:avLst/>
            </a:prstGeom>
            <a:ln w="28575" cap="flat" cmpd="sng">
              <a:solidFill>
                <a:schemeClr val="tx1"/>
              </a:solidFill>
              <a:prstDash val="solid"/>
              <a:bevel/>
              <a:headEnd type="none" w="med" len="med"/>
              <a:tailEnd type="none" w="med" len="med"/>
            </a:ln>
          </p:spPr>
        </p:sp>
      </p:grpSp>
      <p:sp>
        <p:nvSpPr>
          <p:cNvPr id="66646" name="Text Box 108"/>
          <p:cNvSpPr txBox="1"/>
          <p:nvPr/>
        </p:nvSpPr>
        <p:spPr>
          <a:xfrm>
            <a:off x="3921125" y="4240213"/>
            <a:ext cx="504825" cy="21590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r>
              <a:rPr lang="en-US" altLang="zh-CN" sz="1400" dirty="0">
                <a:solidFill>
                  <a:srgbClr val="000000"/>
                </a:solidFill>
                <a:ea typeface="楷体_GB2312"/>
              </a:rPr>
              <a:t>3FBH</a:t>
            </a:r>
            <a:endParaRPr lang="en-US" altLang="zh-CN" sz="1400" dirty="0">
              <a:solidFill>
                <a:srgbClr val="000000"/>
              </a:solidFill>
              <a:ea typeface="楷体_GB2312"/>
            </a:endParaRPr>
          </a:p>
        </p:txBody>
      </p:sp>
      <p:grpSp>
        <p:nvGrpSpPr>
          <p:cNvPr id="66647" name="Group 134"/>
          <p:cNvGrpSpPr/>
          <p:nvPr/>
        </p:nvGrpSpPr>
        <p:grpSpPr>
          <a:xfrm>
            <a:off x="930275" y="2414588"/>
            <a:ext cx="454025" cy="214312"/>
            <a:chOff x="0" y="0"/>
            <a:chExt cx="286" cy="135"/>
          </a:xfrm>
        </p:grpSpPr>
        <p:sp>
          <p:nvSpPr>
            <p:cNvPr id="146503" name="Text Box 21"/>
            <p:cNvSpPr txBox="1"/>
            <p:nvPr/>
          </p:nvSpPr>
          <p:spPr>
            <a:xfrm>
              <a:off x="0" y="16"/>
              <a:ext cx="286" cy="119"/>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1200" dirty="0">
                  <a:solidFill>
                    <a:srgbClr val="000000"/>
                  </a:solidFill>
                  <a:ea typeface="楷体_GB2312"/>
                </a:rPr>
                <a:t>IOW</a:t>
              </a:r>
              <a:endParaRPr lang="en-US" altLang="zh-CN" sz="1200" dirty="0">
                <a:solidFill>
                  <a:srgbClr val="000000"/>
                </a:solidFill>
                <a:ea typeface="楷体_GB2312"/>
              </a:endParaRPr>
            </a:p>
            <a:p>
              <a:pPr marL="0" lvl="0" indent="0" algn="ctr">
                <a:lnSpc>
                  <a:spcPct val="100000"/>
                </a:lnSpc>
                <a:spcBef>
                  <a:spcPct val="0"/>
                </a:spcBef>
                <a:spcAft>
                  <a:spcPct val="0"/>
                </a:spcAft>
                <a:buClrTx/>
                <a:buSzTx/>
                <a:buNone/>
              </a:pPr>
              <a:endParaRPr lang="en-US" altLang="zh-CN" sz="1200" dirty="0">
                <a:solidFill>
                  <a:srgbClr val="000000"/>
                </a:solidFill>
                <a:ea typeface="楷体_GB2312"/>
              </a:endParaRPr>
            </a:p>
          </p:txBody>
        </p:sp>
        <p:sp>
          <p:nvSpPr>
            <p:cNvPr id="146504" name="Line 109"/>
            <p:cNvSpPr/>
            <p:nvPr/>
          </p:nvSpPr>
          <p:spPr>
            <a:xfrm>
              <a:off x="42" y="0"/>
              <a:ext cx="204" cy="0"/>
            </a:xfrm>
            <a:prstGeom prst="line">
              <a:avLst/>
            </a:prstGeom>
            <a:ln w="28575" cap="flat" cmpd="sng">
              <a:solidFill>
                <a:schemeClr val="tx1"/>
              </a:solidFill>
              <a:prstDash val="solid"/>
              <a:bevel/>
              <a:headEnd type="none" w="med" len="med"/>
              <a:tailEnd type="none" w="med" len="med"/>
            </a:ln>
          </p:spPr>
        </p:sp>
      </p:grpSp>
      <p:grpSp>
        <p:nvGrpSpPr>
          <p:cNvPr id="66650" name="Group 135"/>
          <p:cNvGrpSpPr/>
          <p:nvPr/>
        </p:nvGrpSpPr>
        <p:grpSpPr>
          <a:xfrm>
            <a:off x="930275" y="5730875"/>
            <a:ext cx="454025" cy="211138"/>
            <a:chOff x="0" y="0"/>
            <a:chExt cx="286" cy="133"/>
          </a:xfrm>
        </p:grpSpPr>
        <p:sp>
          <p:nvSpPr>
            <p:cNvPr id="146501" name="Text Box 78"/>
            <p:cNvSpPr txBox="1"/>
            <p:nvPr/>
          </p:nvSpPr>
          <p:spPr>
            <a:xfrm>
              <a:off x="0" y="14"/>
              <a:ext cx="286" cy="119"/>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1200" dirty="0">
                  <a:solidFill>
                    <a:srgbClr val="000000"/>
                  </a:solidFill>
                  <a:ea typeface="楷体_GB2312"/>
                </a:rPr>
                <a:t>IOR</a:t>
              </a:r>
              <a:endParaRPr lang="en-US" altLang="zh-CN" sz="1200" dirty="0">
                <a:solidFill>
                  <a:srgbClr val="000000"/>
                </a:solidFill>
                <a:ea typeface="楷体_GB2312"/>
              </a:endParaRPr>
            </a:p>
            <a:p>
              <a:pPr marL="0" lvl="0" indent="0" algn="ctr">
                <a:lnSpc>
                  <a:spcPct val="100000"/>
                </a:lnSpc>
                <a:spcBef>
                  <a:spcPct val="0"/>
                </a:spcBef>
                <a:spcAft>
                  <a:spcPct val="0"/>
                </a:spcAft>
                <a:buClrTx/>
                <a:buSzTx/>
                <a:buNone/>
              </a:pPr>
              <a:endParaRPr lang="en-US" altLang="zh-CN" sz="1200" dirty="0">
                <a:solidFill>
                  <a:srgbClr val="000000"/>
                </a:solidFill>
                <a:ea typeface="楷体_GB2312"/>
              </a:endParaRPr>
            </a:p>
          </p:txBody>
        </p:sp>
        <p:sp>
          <p:nvSpPr>
            <p:cNvPr id="146502" name="Line 110"/>
            <p:cNvSpPr/>
            <p:nvPr/>
          </p:nvSpPr>
          <p:spPr>
            <a:xfrm>
              <a:off x="34" y="0"/>
              <a:ext cx="204" cy="0"/>
            </a:xfrm>
            <a:prstGeom prst="line">
              <a:avLst/>
            </a:prstGeom>
            <a:ln w="28575" cap="flat" cmpd="sng">
              <a:solidFill>
                <a:schemeClr val="tx1"/>
              </a:solidFill>
              <a:prstDash val="solid"/>
              <a:bevel/>
              <a:headEnd type="none" w="med" len="med"/>
              <a:tailEnd type="none" w="med" len="med"/>
            </a:ln>
          </p:spPr>
        </p:sp>
      </p:grpSp>
      <p:sp>
        <p:nvSpPr>
          <p:cNvPr id="66653" name="Line 32"/>
          <p:cNvSpPr/>
          <p:nvPr/>
        </p:nvSpPr>
        <p:spPr>
          <a:xfrm flipV="1">
            <a:off x="4951413" y="1841500"/>
            <a:ext cx="0" cy="2138363"/>
          </a:xfrm>
          <a:prstGeom prst="line">
            <a:avLst/>
          </a:prstGeom>
          <a:ln w="19050" cap="flat" cmpd="sng">
            <a:solidFill>
              <a:srgbClr val="FF6600"/>
            </a:solidFill>
            <a:prstDash val="solid"/>
            <a:bevel/>
            <a:headEnd type="none" w="med" len="med"/>
            <a:tailEnd type="triangle" w="lg" len="lg"/>
          </a:ln>
        </p:spPr>
      </p:sp>
      <p:sp>
        <p:nvSpPr>
          <p:cNvPr id="66654" name="Line 81"/>
          <p:cNvSpPr/>
          <p:nvPr/>
        </p:nvSpPr>
        <p:spPr>
          <a:xfrm flipV="1">
            <a:off x="4457700" y="4168775"/>
            <a:ext cx="0" cy="935038"/>
          </a:xfrm>
          <a:prstGeom prst="line">
            <a:avLst/>
          </a:prstGeom>
          <a:ln w="19050" cap="flat" cmpd="sng">
            <a:solidFill>
              <a:srgbClr val="FF6600"/>
            </a:solidFill>
            <a:prstDash val="solid"/>
            <a:bevel/>
            <a:headEnd type="none" w="med" len="med"/>
            <a:tailEnd type="none" w="med" len="med"/>
          </a:ln>
        </p:spPr>
      </p:sp>
      <p:sp>
        <p:nvSpPr>
          <p:cNvPr id="66655" name="Text Box 128"/>
          <p:cNvSpPr txBox="1"/>
          <p:nvPr/>
        </p:nvSpPr>
        <p:spPr>
          <a:xfrm>
            <a:off x="406400" y="115888"/>
            <a:ext cx="5113338"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状态端口地址：</a:t>
            </a:r>
            <a:r>
              <a:rPr lang="en-US" altLang="zh-CN" sz="2000" dirty="0">
                <a:solidFill>
                  <a:srgbClr val="FF0000"/>
                </a:solidFill>
                <a:latin typeface="Times New Roman" panose="02020603050405020304" pitchFamily="18" charset="0"/>
                <a:ea typeface="楷体_GB2312"/>
              </a:rPr>
              <a:t>0000 0011 1111 10</a:t>
            </a:r>
            <a:r>
              <a:rPr lang="en-US" altLang="zh-CN" sz="2000" dirty="0">
                <a:solidFill>
                  <a:srgbClr val="000000"/>
                </a:solidFill>
                <a:latin typeface="Times New Roman" panose="02020603050405020304" pitchFamily="18" charset="0"/>
                <a:ea typeface="楷体_GB2312"/>
              </a:rPr>
              <a:t>11</a:t>
            </a:r>
            <a:endParaRPr lang="en-US" altLang="zh-CN" sz="2000" dirty="0">
              <a:solidFill>
                <a:srgbClr val="000000"/>
              </a:solidFill>
              <a:latin typeface="Times New Roman" panose="02020603050405020304" pitchFamily="18" charset="0"/>
              <a:ea typeface="楷体_GB2312"/>
            </a:endParaRPr>
          </a:p>
        </p:txBody>
      </p:sp>
      <p:sp>
        <p:nvSpPr>
          <p:cNvPr id="66656" name="Text Box 129"/>
          <p:cNvSpPr txBox="1"/>
          <p:nvPr/>
        </p:nvSpPr>
        <p:spPr>
          <a:xfrm>
            <a:off x="395288" y="571500"/>
            <a:ext cx="5124450"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000" dirty="0">
                <a:solidFill>
                  <a:srgbClr val="000000"/>
                </a:solidFill>
                <a:latin typeface="Times New Roman" panose="02020603050405020304" pitchFamily="18" charset="0"/>
                <a:ea typeface="楷体_GB2312"/>
              </a:rPr>
              <a:t>数据端口地址：</a:t>
            </a:r>
            <a:r>
              <a:rPr lang="en-US" altLang="zh-CN" sz="2000" dirty="0">
                <a:solidFill>
                  <a:srgbClr val="FF0000"/>
                </a:solidFill>
                <a:latin typeface="Times New Roman" panose="02020603050405020304" pitchFamily="18" charset="0"/>
                <a:ea typeface="楷体_GB2312"/>
              </a:rPr>
              <a:t>0000 0011 1111 10</a:t>
            </a:r>
            <a:r>
              <a:rPr lang="en-US" altLang="zh-CN" sz="2000" dirty="0">
                <a:solidFill>
                  <a:srgbClr val="000000"/>
                </a:solidFill>
                <a:latin typeface="Times New Roman" panose="02020603050405020304" pitchFamily="18" charset="0"/>
                <a:ea typeface="楷体_GB2312"/>
              </a:rPr>
              <a:t>00</a:t>
            </a:r>
            <a:endParaRPr lang="en-US" altLang="zh-CN" sz="2000" dirty="0">
              <a:solidFill>
                <a:srgbClr val="000000"/>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637"/>
                                        </p:tgtEl>
                                        <p:attrNameLst>
                                          <p:attrName>style.visibility</p:attrName>
                                        </p:attrNameLst>
                                      </p:cBhvr>
                                      <p:to>
                                        <p:strVal val="visible"/>
                                      </p:to>
                                    </p:set>
                                    <p:anim calcmode="lin" valueType="num">
                                      <p:cBhvr>
                                        <p:cTn id="7" dur="500" fill="hold"/>
                                        <p:tgtEl>
                                          <p:spTgt spid="66637"/>
                                        </p:tgtEl>
                                        <p:attrNameLst>
                                          <p:attrName>ppt_x</p:attrName>
                                        </p:attrNameLst>
                                      </p:cBhvr>
                                      <p:tavLst>
                                        <p:tav tm="0">
                                          <p:val>
                                            <p:strVal val="#ppt_x"/>
                                          </p:val>
                                        </p:tav>
                                        <p:tav tm="100000">
                                          <p:val>
                                            <p:strVal val="#ppt_x"/>
                                          </p:val>
                                        </p:tav>
                                      </p:tavLst>
                                    </p:anim>
                                    <p:anim calcmode="lin" valueType="num">
                                      <p:cBhvr>
                                        <p:cTn id="8" dur="500" fill="hold"/>
                                        <p:tgtEl>
                                          <p:spTgt spid="666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66630"/>
                                        </p:tgtEl>
                                        <p:attrNameLst>
                                          <p:attrName>style.visibility</p:attrName>
                                        </p:attrNameLst>
                                      </p:cBhvr>
                                      <p:to>
                                        <p:strVal val="visible"/>
                                      </p:to>
                                    </p:set>
                                    <p:animEffect transition="in" filter="blinds(horizontal)">
                                      <p:cBhvr>
                                        <p:cTn id="13" dur="500"/>
                                        <p:tgtEl>
                                          <p:spTgt spid="6663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66562"/>
                                        </p:tgtEl>
                                        <p:attrNameLst>
                                          <p:attrName>style.visibility</p:attrName>
                                        </p:attrNameLst>
                                      </p:cBhvr>
                                      <p:to>
                                        <p:strVal val="visible"/>
                                      </p:to>
                                    </p:set>
                                    <p:animEffect transition="in" filter="blinds(horizontal)">
                                      <p:cBhvr>
                                        <p:cTn id="18" dur="500"/>
                                        <p:tgtEl>
                                          <p:spTgt spid="66562"/>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12" fill="hold" nodeType="clickEffect">
                                  <p:stCondLst>
                                    <p:cond delay="0"/>
                                  </p:stCondLst>
                                  <p:childTnLst>
                                    <p:set>
                                      <p:cBhvr>
                                        <p:cTn id="22" dur="1" fill="hold">
                                          <p:stCondLst>
                                            <p:cond delay="0"/>
                                          </p:stCondLst>
                                        </p:cTn>
                                        <p:tgtEl>
                                          <p:spTgt spid="66636"/>
                                        </p:tgtEl>
                                        <p:attrNameLst>
                                          <p:attrName>style.visibility</p:attrName>
                                        </p:attrNameLst>
                                      </p:cBhvr>
                                      <p:to>
                                        <p:strVal val="visible"/>
                                      </p:to>
                                    </p:set>
                                    <p:animEffect transition="in" filter="strips(downLeft)">
                                      <p:cBhvr>
                                        <p:cTn id="23" dur="500"/>
                                        <p:tgtEl>
                                          <p:spTgt spid="66636"/>
                                        </p:tgtEl>
                                      </p:cBhvr>
                                    </p:animEffect>
                                  </p:childTnLst>
                                </p:cTn>
                              </p:par>
                            </p:childTnLst>
                          </p:cTn>
                        </p:par>
                        <p:par>
                          <p:cTn id="24" fill="hold">
                            <p:stCondLst>
                              <p:cond delay="500"/>
                            </p:stCondLst>
                            <p:childTnLst>
                              <p:par>
                                <p:cTn id="25" presetID="18" presetClass="entr" presetSubtype="3" fill="hold" nodeType="afterEffect">
                                  <p:stCondLst>
                                    <p:cond delay="0"/>
                                  </p:stCondLst>
                                  <p:childTnLst>
                                    <p:set>
                                      <p:cBhvr>
                                        <p:cTn id="26" dur="1" fill="hold">
                                          <p:stCondLst>
                                            <p:cond delay="0"/>
                                          </p:stCondLst>
                                        </p:cTn>
                                        <p:tgtEl>
                                          <p:spTgt spid="66653"/>
                                        </p:tgtEl>
                                        <p:attrNameLst>
                                          <p:attrName>style.visibility</p:attrName>
                                        </p:attrNameLst>
                                      </p:cBhvr>
                                      <p:to>
                                        <p:strVal val="visible"/>
                                      </p:to>
                                    </p:set>
                                    <p:animEffect transition="in" filter="strips(upRight)">
                                      <p:cBhvr>
                                        <p:cTn id="27" dur="500"/>
                                        <p:tgtEl>
                                          <p:spTgt spid="66653"/>
                                        </p:tgtEl>
                                      </p:cBhvr>
                                    </p:animEffect>
                                  </p:childTnLst>
                                </p:cTn>
                              </p:par>
                            </p:childTnLst>
                          </p:cTn>
                        </p:par>
                        <p:par>
                          <p:cTn id="28" fill="hold">
                            <p:stCondLst>
                              <p:cond delay="1000"/>
                            </p:stCondLst>
                            <p:childTnLst>
                              <p:par>
                                <p:cTn id="29" presetID="3" presetClass="entr" presetSubtype="10" fill="hold" grpId="0" nodeType="afterEffect">
                                  <p:stCondLst>
                                    <p:cond delay="0"/>
                                  </p:stCondLst>
                                  <p:childTnLst>
                                    <p:set>
                                      <p:cBhvr>
                                        <p:cTn id="30" dur="1" fill="hold">
                                          <p:stCondLst>
                                            <p:cond delay="0"/>
                                          </p:stCondLst>
                                        </p:cTn>
                                        <p:tgtEl>
                                          <p:spTgt spid="66569"/>
                                        </p:tgtEl>
                                        <p:attrNameLst>
                                          <p:attrName>style.visibility</p:attrName>
                                        </p:attrNameLst>
                                      </p:cBhvr>
                                      <p:to>
                                        <p:strVal val="visible"/>
                                      </p:to>
                                    </p:set>
                                    <p:animEffect transition="in" filter="blinds(horizontal)">
                                      <p:cBhvr>
                                        <p:cTn id="31" dur="500"/>
                                        <p:tgtEl>
                                          <p:spTgt spid="66569"/>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grpId="0" nodeType="clickEffect">
                                  <p:stCondLst>
                                    <p:cond delay="0"/>
                                  </p:stCondLst>
                                  <p:childTnLst>
                                    <p:set>
                                      <p:cBhvr>
                                        <p:cTn id="35" dur="1" fill="hold">
                                          <p:stCondLst>
                                            <p:cond delay="0"/>
                                          </p:stCondLst>
                                        </p:cTn>
                                        <p:tgtEl>
                                          <p:spTgt spid="66586"/>
                                        </p:tgtEl>
                                        <p:attrNameLst>
                                          <p:attrName>style.visibility</p:attrName>
                                        </p:attrNameLst>
                                      </p:cBhvr>
                                      <p:to>
                                        <p:strVal val="visible"/>
                                      </p:to>
                                    </p:set>
                                    <p:anim calcmode="lin" valueType="num">
                                      <p:cBhvr>
                                        <p:cTn id="36" dur="1000" fill="hold"/>
                                        <p:tgtEl>
                                          <p:spTgt spid="66586"/>
                                        </p:tgtEl>
                                        <p:attrNameLst>
                                          <p:attrName>ppt_w</p:attrName>
                                        </p:attrNameLst>
                                      </p:cBhvr>
                                      <p:tavLst>
                                        <p:tav tm="0">
                                          <p:val>
                                            <p:strVal val="#ppt_w*0.70"/>
                                          </p:val>
                                        </p:tav>
                                        <p:tav tm="100000">
                                          <p:val>
                                            <p:strVal val="#ppt_w"/>
                                          </p:val>
                                        </p:tav>
                                      </p:tavLst>
                                    </p:anim>
                                    <p:anim calcmode="lin" valueType="num">
                                      <p:cBhvr>
                                        <p:cTn id="37" dur="1000" fill="hold"/>
                                        <p:tgtEl>
                                          <p:spTgt spid="66586"/>
                                        </p:tgtEl>
                                        <p:attrNameLst>
                                          <p:attrName>ppt_h</p:attrName>
                                        </p:attrNameLst>
                                      </p:cBhvr>
                                      <p:tavLst>
                                        <p:tav tm="0">
                                          <p:val>
                                            <p:strVal val="#ppt_h"/>
                                          </p:val>
                                        </p:tav>
                                        <p:tav tm="100000">
                                          <p:val>
                                            <p:strVal val="#ppt_h"/>
                                          </p:val>
                                        </p:tav>
                                      </p:tavLst>
                                    </p:anim>
                                    <p:animEffect transition="in" filter="fade">
                                      <p:cBhvr>
                                        <p:cTn id="38" dur="1000"/>
                                        <p:tgtEl>
                                          <p:spTgt spid="66586"/>
                                        </p:tgtEl>
                                      </p:cBhvr>
                                    </p:animEffect>
                                  </p:childTnLst>
                                </p:cTn>
                              </p:par>
                            </p:childTnLst>
                          </p:cTn>
                        </p:par>
                        <p:par>
                          <p:cTn id="39" fill="hold">
                            <p:stCondLst>
                              <p:cond delay="1000"/>
                            </p:stCondLst>
                            <p:childTnLst>
                              <p:par>
                                <p:cTn id="40" presetID="3" presetClass="entr" presetSubtype="10" fill="hold" grpId="0" nodeType="afterEffect">
                                  <p:stCondLst>
                                    <p:cond delay="0"/>
                                  </p:stCondLst>
                                  <p:childTnLst>
                                    <p:set>
                                      <p:cBhvr>
                                        <p:cTn id="41" dur="1" fill="hold">
                                          <p:stCondLst>
                                            <p:cond delay="0"/>
                                          </p:stCondLst>
                                        </p:cTn>
                                        <p:tgtEl>
                                          <p:spTgt spid="66570"/>
                                        </p:tgtEl>
                                        <p:attrNameLst>
                                          <p:attrName>style.visibility</p:attrName>
                                        </p:attrNameLst>
                                      </p:cBhvr>
                                      <p:to>
                                        <p:strVal val="visible"/>
                                      </p:to>
                                    </p:set>
                                    <p:animEffect transition="in" filter="blinds(horizontal)">
                                      <p:cBhvr>
                                        <p:cTn id="42" dur="500"/>
                                        <p:tgtEl>
                                          <p:spTgt spid="66570"/>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nodeType="clickEffect">
                                  <p:stCondLst>
                                    <p:cond delay="0"/>
                                  </p:stCondLst>
                                  <p:childTnLst>
                                    <p:set>
                                      <p:cBhvr>
                                        <p:cTn id="46" dur="1" fill="hold">
                                          <p:stCondLst>
                                            <p:cond delay="0"/>
                                          </p:stCondLst>
                                        </p:cTn>
                                        <p:tgtEl>
                                          <p:spTgt spid="66588"/>
                                        </p:tgtEl>
                                        <p:attrNameLst>
                                          <p:attrName>style.visibility</p:attrName>
                                        </p:attrNameLst>
                                      </p:cBhvr>
                                      <p:to>
                                        <p:strVal val="visible"/>
                                      </p:to>
                                    </p:set>
                                    <p:animEffect transition="in" filter="strips(downRight)">
                                      <p:cBhvr>
                                        <p:cTn id="47" dur="500"/>
                                        <p:tgtEl>
                                          <p:spTgt spid="66588"/>
                                        </p:tgtEl>
                                      </p:cBhvr>
                                    </p:animEffect>
                                  </p:childTnLst>
                                </p:cTn>
                              </p:par>
                              <p:par>
                                <p:cTn id="48" presetID="18" presetClass="entr" presetSubtype="6" fill="hold" nodeType="withEffect">
                                  <p:stCondLst>
                                    <p:cond delay="0"/>
                                  </p:stCondLst>
                                  <p:childTnLst>
                                    <p:set>
                                      <p:cBhvr>
                                        <p:cTn id="49" dur="1" fill="hold">
                                          <p:stCondLst>
                                            <p:cond delay="0"/>
                                          </p:stCondLst>
                                        </p:cTn>
                                        <p:tgtEl>
                                          <p:spTgt spid="66589"/>
                                        </p:tgtEl>
                                        <p:attrNameLst>
                                          <p:attrName>style.visibility</p:attrName>
                                        </p:attrNameLst>
                                      </p:cBhvr>
                                      <p:to>
                                        <p:strVal val="visible"/>
                                      </p:to>
                                    </p:set>
                                    <p:animEffect transition="in" filter="strips(downRight)">
                                      <p:cBhvr>
                                        <p:cTn id="50" dur="500"/>
                                        <p:tgtEl>
                                          <p:spTgt spid="66589"/>
                                        </p:tgtEl>
                                      </p:cBhvr>
                                    </p:animEffect>
                                  </p:childTnLst>
                                </p:cTn>
                              </p:par>
                              <p:par>
                                <p:cTn id="51" presetID="18" presetClass="entr" presetSubtype="6" fill="hold" nodeType="withEffect">
                                  <p:stCondLst>
                                    <p:cond delay="0"/>
                                  </p:stCondLst>
                                  <p:childTnLst>
                                    <p:set>
                                      <p:cBhvr>
                                        <p:cTn id="52" dur="1" fill="hold">
                                          <p:stCondLst>
                                            <p:cond delay="0"/>
                                          </p:stCondLst>
                                        </p:cTn>
                                        <p:tgtEl>
                                          <p:spTgt spid="66590"/>
                                        </p:tgtEl>
                                        <p:attrNameLst>
                                          <p:attrName>style.visibility</p:attrName>
                                        </p:attrNameLst>
                                      </p:cBhvr>
                                      <p:to>
                                        <p:strVal val="visible"/>
                                      </p:to>
                                    </p:set>
                                    <p:animEffect transition="in" filter="strips(downRight)">
                                      <p:cBhvr>
                                        <p:cTn id="53" dur="500"/>
                                        <p:tgtEl>
                                          <p:spTgt spid="66590"/>
                                        </p:tgtEl>
                                      </p:cBhvr>
                                    </p:animEffect>
                                  </p:childTnLst>
                                </p:cTn>
                              </p:par>
                              <p:par>
                                <p:cTn id="54" presetID="18" presetClass="entr" presetSubtype="6" fill="hold" nodeType="withEffect">
                                  <p:stCondLst>
                                    <p:cond delay="0"/>
                                  </p:stCondLst>
                                  <p:childTnLst>
                                    <p:set>
                                      <p:cBhvr>
                                        <p:cTn id="55" dur="1" fill="hold">
                                          <p:stCondLst>
                                            <p:cond delay="0"/>
                                          </p:stCondLst>
                                        </p:cTn>
                                        <p:tgtEl>
                                          <p:spTgt spid="66591"/>
                                        </p:tgtEl>
                                        <p:attrNameLst>
                                          <p:attrName>style.visibility</p:attrName>
                                        </p:attrNameLst>
                                      </p:cBhvr>
                                      <p:to>
                                        <p:strVal val="visible"/>
                                      </p:to>
                                    </p:set>
                                    <p:animEffect transition="in" filter="strips(downRight)">
                                      <p:cBhvr>
                                        <p:cTn id="56" dur="500"/>
                                        <p:tgtEl>
                                          <p:spTgt spid="66591"/>
                                        </p:tgtEl>
                                      </p:cBhvr>
                                    </p:animEffect>
                                  </p:childTnLst>
                                </p:cTn>
                              </p:par>
                              <p:par>
                                <p:cTn id="57" presetID="18" presetClass="entr" presetSubtype="6" fill="hold" nodeType="withEffect">
                                  <p:stCondLst>
                                    <p:cond delay="0"/>
                                  </p:stCondLst>
                                  <p:childTnLst>
                                    <p:set>
                                      <p:cBhvr>
                                        <p:cTn id="58" dur="1" fill="hold">
                                          <p:stCondLst>
                                            <p:cond delay="0"/>
                                          </p:stCondLst>
                                        </p:cTn>
                                        <p:tgtEl>
                                          <p:spTgt spid="66592"/>
                                        </p:tgtEl>
                                        <p:attrNameLst>
                                          <p:attrName>style.visibility</p:attrName>
                                        </p:attrNameLst>
                                      </p:cBhvr>
                                      <p:to>
                                        <p:strVal val="visible"/>
                                      </p:to>
                                    </p:set>
                                    <p:animEffect transition="in" filter="strips(downRight)">
                                      <p:cBhvr>
                                        <p:cTn id="59" dur="500"/>
                                        <p:tgtEl>
                                          <p:spTgt spid="66592"/>
                                        </p:tgtEl>
                                      </p:cBhvr>
                                    </p:animEffect>
                                  </p:childTnLst>
                                </p:cTn>
                              </p:par>
                              <p:par>
                                <p:cTn id="60" presetID="18" presetClass="entr" presetSubtype="6" fill="hold" nodeType="withEffect">
                                  <p:stCondLst>
                                    <p:cond delay="0"/>
                                  </p:stCondLst>
                                  <p:childTnLst>
                                    <p:set>
                                      <p:cBhvr>
                                        <p:cTn id="61" dur="1" fill="hold">
                                          <p:stCondLst>
                                            <p:cond delay="0"/>
                                          </p:stCondLst>
                                        </p:cTn>
                                        <p:tgtEl>
                                          <p:spTgt spid="66593"/>
                                        </p:tgtEl>
                                        <p:attrNameLst>
                                          <p:attrName>style.visibility</p:attrName>
                                        </p:attrNameLst>
                                      </p:cBhvr>
                                      <p:to>
                                        <p:strVal val="visible"/>
                                      </p:to>
                                    </p:set>
                                    <p:animEffect transition="in" filter="strips(downRight)">
                                      <p:cBhvr>
                                        <p:cTn id="62" dur="500"/>
                                        <p:tgtEl>
                                          <p:spTgt spid="66593"/>
                                        </p:tgtEl>
                                      </p:cBhvr>
                                    </p:animEffect>
                                  </p:childTnLst>
                                </p:cTn>
                              </p:par>
                              <p:par>
                                <p:cTn id="63" presetID="18" presetClass="entr" presetSubtype="6" fill="hold" nodeType="withEffect">
                                  <p:stCondLst>
                                    <p:cond delay="0"/>
                                  </p:stCondLst>
                                  <p:childTnLst>
                                    <p:set>
                                      <p:cBhvr>
                                        <p:cTn id="64" dur="1" fill="hold">
                                          <p:stCondLst>
                                            <p:cond delay="0"/>
                                          </p:stCondLst>
                                        </p:cTn>
                                        <p:tgtEl>
                                          <p:spTgt spid="66594"/>
                                        </p:tgtEl>
                                        <p:attrNameLst>
                                          <p:attrName>style.visibility</p:attrName>
                                        </p:attrNameLst>
                                      </p:cBhvr>
                                      <p:to>
                                        <p:strVal val="visible"/>
                                      </p:to>
                                    </p:set>
                                    <p:animEffect transition="in" filter="strips(downRight)">
                                      <p:cBhvr>
                                        <p:cTn id="65" dur="500"/>
                                        <p:tgtEl>
                                          <p:spTgt spid="66594"/>
                                        </p:tgtEl>
                                      </p:cBhvr>
                                    </p:animEffect>
                                  </p:childTnLst>
                                </p:cTn>
                              </p:par>
                              <p:par>
                                <p:cTn id="66" presetID="18" presetClass="entr" presetSubtype="6" fill="hold" nodeType="withEffect">
                                  <p:stCondLst>
                                    <p:cond delay="0"/>
                                  </p:stCondLst>
                                  <p:childTnLst>
                                    <p:set>
                                      <p:cBhvr>
                                        <p:cTn id="67" dur="1" fill="hold">
                                          <p:stCondLst>
                                            <p:cond delay="0"/>
                                          </p:stCondLst>
                                        </p:cTn>
                                        <p:tgtEl>
                                          <p:spTgt spid="66595"/>
                                        </p:tgtEl>
                                        <p:attrNameLst>
                                          <p:attrName>style.visibility</p:attrName>
                                        </p:attrNameLst>
                                      </p:cBhvr>
                                      <p:to>
                                        <p:strVal val="visible"/>
                                      </p:to>
                                    </p:set>
                                    <p:animEffect transition="in" filter="strips(downRight)">
                                      <p:cBhvr>
                                        <p:cTn id="68" dur="500"/>
                                        <p:tgtEl>
                                          <p:spTgt spid="66595"/>
                                        </p:tgtEl>
                                      </p:cBhvr>
                                    </p:animEffect>
                                  </p:childTnLst>
                                </p:cTn>
                              </p:par>
                            </p:childTnLst>
                          </p:cTn>
                        </p:par>
                      </p:childTnLst>
                    </p:cTn>
                  </p:par>
                  <p:par>
                    <p:cTn id="69" fill="hold">
                      <p:stCondLst>
                        <p:cond delay="indefinite"/>
                      </p:stCondLst>
                      <p:childTnLst>
                        <p:par>
                          <p:cTn id="70" fill="hold">
                            <p:stCondLst>
                              <p:cond delay="0"/>
                            </p:stCondLst>
                            <p:childTnLst>
                              <p:par>
                                <p:cTn id="71" presetID="18" presetClass="entr" presetSubtype="6" fill="hold" grpId="0" nodeType="clickEffect">
                                  <p:stCondLst>
                                    <p:cond delay="0"/>
                                  </p:stCondLst>
                                  <p:childTnLst>
                                    <p:set>
                                      <p:cBhvr>
                                        <p:cTn id="72" dur="1" fill="hold">
                                          <p:stCondLst>
                                            <p:cond delay="0"/>
                                          </p:stCondLst>
                                        </p:cTn>
                                        <p:tgtEl>
                                          <p:spTgt spid="66655"/>
                                        </p:tgtEl>
                                        <p:attrNameLst>
                                          <p:attrName>style.visibility</p:attrName>
                                        </p:attrNameLst>
                                      </p:cBhvr>
                                      <p:to>
                                        <p:strVal val="visible"/>
                                      </p:to>
                                    </p:set>
                                    <p:animEffect transition="in" filter="strips(downRight)">
                                      <p:cBhvr>
                                        <p:cTn id="73" dur="500"/>
                                        <p:tgtEl>
                                          <p:spTgt spid="66655"/>
                                        </p:tgtEl>
                                      </p:cBhvr>
                                    </p:animEffect>
                                  </p:childTnLst>
                                </p:cTn>
                              </p:par>
                            </p:childTnLst>
                          </p:cTn>
                        </p:par>
                        <p:par>
                          <p:cTn id="74" fill="hold">
                            <p:stCondLst>
                              <p:cond delay="500"/>
                            </p:stCondLst>
                            <p:childTnLst>
                              <p:par>
                                <p:cTn id="75" presetID="18" presetClass="entr" presetSubtype="6" fill="hold" grpId="0" nodeType="afterEffect">
                                  <p:stCondLst>
                                    <p:cond delay="0"/>
                                  </p:stCondLst>
                                  <p:childTnLst>
                                    <p:set>
                                      <p:cBhvr>
                                        <p:cTn id="76" dur="1" fill="hold">
                                          <p:stCondLst>
                                            <p:cond delay="0"/>
                                          </p:stCondLst>
                                        </p:cTn>
                                        <p:tgtEl>
                                          <p:spTgt spid="66656"/>
                                        </p:tgtEl>
                                        <p:attrNameLst>
                                          <p:attrName>style.visibility</p:attrName>
                                        </p:attrNameLst>
                                      </p:cBhvr>
                                      <p:to>
                                        <p:strVal val="visible"/>
                                      </p:to>
                                    </p:set>
                                    <p:animEffect transition="in" filter="strips(downRight)">
                                      <p:cBhvr>
                                        <p:cTn id="77" dur="500"/>
                                        <p:tgtEl>
                                          <p:spTgt spid="66656"/>
                                        </p:tgtEl>
                                      </p:cBhvr>
                                    </p:animEffect>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66612"/>
                                        </p:tgtEl>
                                        <p:attrNameLst>
                                          <p:attrName>style.visibility</p:attrName>
                                        </p:attrNameLst>
                                      </p:cBhvr>
                                      <p:to>
                                        <p:strVal val="visible"/>
                                      </p:to>
                                    </p:set>
                                    <p:anim calcmode="lin" valueType="num">
                                      <p:cBhvr>
                                        <p:cTn id="82" dur="500" fill="hold"/>
                                        <p:tgtEl>
                                          <p:spTgt spid="66612"/>
                                        </p:tgtEl>
                                        <p:attrNameLst>
                                          <p:attrName>ppt_x</p:attrName>
                                        </p:attrNameLst>
                                      </p:cBhvr>
                                      <p:tavLst>
                                        <p:tav tm="0">
                                          <p:val>
                                            <p:strVal val="#ppt_x"/>
                                          </p:val>
                                        </p:tav>
                                        <p:tav tm="100000">
                                          <p:val>
                                            <p:strVal val="#ppt_x"/>
                                          </p:val>
                                        </p:tav>
                                      </p:tavLst>
                                    </p:anim>
                                    <p:anim calcmode="lin" valueType="num">
                                      <p:cBhvr>
                                        <p:cTn id="83" dur="500" fill="hold"/>
                                        <p:tgtEl>
                                          <p:spTgt spid="66612"/>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66571"/>
                                        </p:tgtEl>
                                        <p:attrNameLst>
                                          <p:attrName>style.visibility</p:attrName>
                                        </p:attrNameLst>
                                      </p:cBhvr>
                                      <p:to>
                                        <p:strVal val="visible"/>
                                      </p:to>
                                    </p:set>
                                    <p:animEffect transition="in" filter="blinds(horizontal)">
                                      <p:cBhvr>
                                        <p:cTn id="88" dur="500"/>
                                        <p:tgtEl>
                                          <p:spTgt spid="66571"/>
                                        </p:tgtEl>
                                      </p:cBhvr>
                                    </p:animEffect>
                                  </p:childTnLst>
                                </p:cTn>
                              </p:par>
                            </p:childTnLst>
                          </p:cTn>
                        </p:par>
                      </p:childTnLst>
                    </p:cTn>
                  </p:par>
                  <p:par>
                    <p:cTn id="89" fill="hold">
                      <p:stCondLst>
                        <p:cond delay="indefinite"/>
                      </p:stCondLst>
                      <p:childTnLst>
                        <p:par>
                          <p:cTn id="90" fill="hold">
                            <p:stCondLst>
                              <p:cond delay="0"/>
                            </p:stCondLst>
                            <p:childTnLst>
                              <p:par>
                                <p:cTn id="91" presetID="18" presetClass="entr" presetSubtype="6" fill="hold" nodeType="clickEffect">
                                  <p:stCondLst>
                                    <p:cond delay="0"/>
                                  </p:stCondLst>
                                  <p:childTnLst>
                                    <p:set>
                                      <p:cBhvr>
                                        <p:cTn id="92" dur="1" fill="hold">
                                          <p:stCondLst>
                                            <p:cond delay="0"/>
                                          </p:stCondLst>
                                        </p:cTn>
                                        <p:tgtEl>
                                          <p:spTgt spid="66580"/>
                                        </p:tgtEl>
                                        <p:attrNameLst>
                                          <p:attrName>style.visibility</p:attrName>
                                        </p:attrNameLst>
                                      </p:cBhvr>
                                      <p:to>
                                        <p:strVal val="visible"/>
                                      </p:to>
                                    </p:set>
                                    <p:animEffect transition="in" filter="strips(downRight)">
                                      <p:cBhvr>
                                        <p:cTn id="93" dur="500"/>
                                        <p:tgtEl>
                                          <p:spTgt spid="66580"/>
                                        </p:tgtEl>
                                      </p:cBhvr>
                                    </p:animEffect>
                                  </p:childTnLst>
                                </p:cTn>
                              </p:par>
                              <p:par>
                                <p:cTn id="94" presetID="18" presetClass="entr" presetSubtype="6" fill="hold" nodeType="withEffect">
                                  <p:stCondLst>
                                    <p:cond delay="0"/>
                                  </p:stCondLst>
                                  <p:childTnLst>
                                    <p:set>
                                      <p:cBhvr>
                                        <p:cTn id="95" dur="1" fill="hold">
                                          <p:stCondLst>
                                            <p:cond delay="0"/>
                                          </p:stCondLst>
                                        </p:cTn>
                                        <p:tgtEl>
                                          <p:spTgt spid="66575"/>
                                        </p:tgtEl>
                                        <p:attrNameLst>
                                          <p:attrName>style.visibility</p:attrName>
                                        </p:attrNameLst>
                                      </p:cBhvr>
                                      <p:to>
                                        <p:strVal val="visible"/>
                                      </p:to>
                                    </p:set>
                                    <p:animEffect transition="in" filter="strips(downRight)">
                                      <p:cBhvr>
                                        <p:cTn id="96" dur="500"/>
                                        <p:tgtEl>
                                          <p:spTgt spid="66575"/>
                                        </p:tgtEl>
                                      </p:cBhvr>
                                    </p:animEffect>
                                  </p:childTnLst>
                                </p:cTn>
                              </p:par>
                              <p:par>
                                <p:cTn id="97" presetID="18" presetClass="entr" presetSubtype="6" fill="hold" nodeType="withEffect">
                                  <p:stCondLst>
                                    <p:cond delay="0"/>
                                  </p:stCondLst>
                                  <p:childTnLst>
                                    <p:set>
                                      <p:cBhvr>
                                        <p:cTn id="98" dur="1" fill="hold">
                                          <p:stCondLst>
                                            <p:cond delay="0"/>
                                          </p:stCondLst>
                                        </p:cTn>
                                        <p:tgtEl>
                                          <p:spTgt spid="66577"/>
                                        </p:tgtEl>
                                        <p:attrNameLst>
                                          <p:attrName>style.visibility</p:attrName>
                                        </p:attrNameLst>
                                      </p:cBhvr>
                                      <p:to>
                                        <p:strVal val="visible"/>
                                      </p:to>
                                    </p:set>
                                    <p:animEffect transition="in" filter="strips(downRight)">
                                      <p:cBhvr>
                                        <p:cTn id="99" dur="500"/>
                                        <p:tgtEl>
                                          <p:spTgt spid="66577"/>
                                        </p:tgtEl>
                                      </p:cBhvr>
                                    </p:animEffect>
                                  </p:childTnLst>
                                </p:cTn>
                              </p:par>
                              <p:par>
                                <p:cTn id="100" presetID="18" presetClass="entr" presetSubtype="6" fill="hold" nodeType="withEffect">
                                  <p:stCondLst>
                                    <p:cond delay="0"/>
                                  </p:stCondLst>
                                  <p:childTnLst>
                                    <p:set>
                                      <p:cBhvr>
                                        <p:cTn id="101" dur="1" fill="hold">
                                          <p:stCondLst>
                                            <p:cond delay="0"/>
                                          </p:stCondLst>
                                        </p:cTn>
                                        <p:tgtEl>
                                          <p:spTgt spid="66574"/>
                                        </p:tgtEl>
                                        <p:attrNameLst>
                                          <p:attrName>style.visibility</p:attrName>
                                        </p:attrNameLst>
                                      </p:cBhvr>
                                      <p:to>
                                        <p:strVal val="visible"/>
                                      </p:to>
                                    </p:set>
                                    <p:animEffect transition="in" filter="strips(downRight)">
                                      <p:cBhvr>
                                        <p:cTn id="102" dur="500"/>
                                        <p:tgtEl>
                                          <p:spTgt spid="66574"/>
                                        </p:tgtEl>
                                      </p:cBhvr>
                                    </p:animEffect>
                                  </p:childTnLst>
                                </p:cTn>
                              </p:par>
                              <p:par>
                                <p:cTn id="103" presetID="18" presetClass="entr" presetSubtype="6" fill="hold" nodeType="withEffect">
                                  <p:stCondLst>
                                    <p:cond delay="0"/>
                                  </p:stCondLst>
                                  <p:childTnLst>
                                    <p:set>
                                      <p:cBhvr>
                                        <p:cTn id="104" dur="1" fill="hold">
                                          <p:stCondLst>
                                            <p:cond delay="0"/>
                                          </p:stCondLst>
                                        </p:cTn>
                                        <p:tgtEl>
                                          <p:spTgt spid="66576"/>
                                        </p:tgtEl>
                                        <p:attrNameLst>
                                          <p:attrName>style.visibility</p:attrName>
                                        </p:attrNameLst>
                                      </p:cBhvr>
                                      <p:to>
                                        <p:strVal val="visible"/>
                                      </p:to>
                                    </p:set>
                                    <p:animEffect transition="in" filter="strips(downRight)">
                                      <p:cBhvr>
                                        <p:cTn id="105" dur="500"/>
                                        <p:tgtEl>
                                          <p:spTgt spid="66576"/>
                                        </p:tgtEl>
                                      </p:cBhvr>
                                    </p:animEffect>
                                  </p:childTnLst>
                                </p:cTn>
                              </p:par>
                              <p:par>
                                <p:cTn id="106" presetID="18" presetClass="entr" presetSubtype="6" fill="hold" nodeType="withEffect">
                                  <p:stCondLst>
                                    <p:cond delay="0"/>
                                  </p:stCondLst>
                                  <p:childTnLst>
                                    <p:set>
                                      <p:cBhvr>
                                        <p:cTn id="107" dur="1" fill="hold">
                                          <p:stCondLst>
                                            <p:cond delay="0"/>
                                          </p:stCondLst>
                                        </p:cTn>
                                        <p:tgtEl>
                                          <p:spTgt spid="66578"/>
                                        </p:tgtEl>
                                        <p:attrNameLst>
                                          <p:attrName>style.visibility</p:attrName>
                                        </p:attrNameLst>
                                      </p:cBhvr>
                                      <p:to>
                                        <p:strVal val="visible"/>
                                      </p:to>
                                    </p:set>
                                    <p:animEffect transition="in" filter="strips(downRight)">
                                      <p:cBhvr>
                                        <p:cTn id="108" dur="500"/>
                                        <p:tgtEl>
                                          <p:spTgt spid="66578"/>
                                        </p:tgtEl>
                                      </p:cBhvr>
                                    </p:animEffect>
                                  </p:childTnLst>
                                </p:cTn>
                              </p:par>
                              <p:par>
                                <p:cTn id="109" presetID="18" presetClass="entr" presetSubtype="6" fill="hold" nodeType="withEffect">
                                  <p:stCondLst>
                                    <p:cond delay="0"/>
                                  </p:stCondLst>
                                  <p:childTnLst>
                                    <p:set>
                                      <p:cBhvr>
                                        <p:cTn id="110" dur="1" fill="hold">
                                          <p:stCondLst>
                                            <p:cond delay="0"/>
                                          </p:stCondLst>
                                        </p:cTn>
                                        <p:tgtEl>
                                          <p:spTgt spid="66579"/>
                                        </p:tgtEl>
                                        <p:attrNameLst>
                                          <p:attrName>style.visibility</p:attrName>
                                        </p:attrNameLst>
                                      </p:cBhvr>
                                      <p:to>
                                        <p:strVal val="visible"/>
                                      </p:to>
                                    </p:set>
                                    <p:animEffect transition="in" filter="strips(downRight)">
                                      <p:cBhvr>
                                        <p:cTn id="111" dur="500"/>
                                        <p:tgtEl>
                                          <p:spTgt spid="66579"/>
                                        </p:tgtEl>
                                      </p:cBhvr>
                                    </p:animEffect>
                                  </p:childTnLst>
                                </p:cTn>
                              </p:par>
                            </p:childTnLst>
                          </p:cTn>
                        </p:par>
                        <p:par>
                          <p:cTn id="112" fill="hold">
                            <p:stCondLst>
                              <p:cond delay="500"/>
                            </p:stCondLst>
                            <p:childTnLst>
                              <p:par>
                                <p:cTn id="113" presetID="18" presetClass="entr" presetSubtype="12" fill="hold" grpId="0" nodeType="afterEffect">
                                  <p:stCondLst>
                                    <p:cond delay="0"/>
                                  </p:stCondLst>
                                  <p:childTnLst>
                                    <p:set>
                                      <p:cBhvr>
                                        <p:cTn id="114" dur="1" fill="hold">
                                          <p:stCondLst>
                                            <p:cond delay="0"/>
                                          </p:stCondLst>
                                        </p:cTn>
                                        <p:tgtEl>
                                          <p:spTgt spid="66596"/>
                                        </p:tgtEl>
                                        <p:attrNameLst>
                                          <p:attrName>style.visibility</p:attrName>
                                        </p:attrNameLst>
                                      </p:cBhvr>
                                      <p:to>
                                        <p:strVal val="visible"/>
                                      </p:to>
                                    </p:set>
                                    <p:animEffect transition="in" filter="strips(downLeft)">
                                      <p:cBhvr>
                                        <p:cTn id="115" dur="500"/>
                                        <p:tgtEl>
                                          <p:spTgt spid="66596"/>
                                        </p:tgtEl>
                                      </p:cBhvr>
                                    </p:animEffect>
                                  </p:childTnLst>
                                </p:cTn>
                              </p:par>
                            </p:childTnLst>
                          </p:cTn>
                        </p:par>
                        <p:par>
                          <p:cTn id="116" fill="hold">
                            <p:stCondLst>
                              <p:cond delay="1000"/>
                            </p:stCondLst>
                            <p:childTnLst>
                              <p:par>
                                <p:cTn id="117" presetID="18" presetClass="entr" presetSubtype="6" fill="hold" nodeType="afterEffect">
                                  <p:stCondLst>
                                    <p:cond delay="0"/>
                                  </p:stCondLst>
                                  <p:childTnLst>
                                    <p:set>
                                      <p:cBhvr>
                                        <p:cTn id="118" dur="1" fill="hold">
                                          <p:stCondLst>
                                            <p:cond delay="0"/>
                                          </p:stCondLst>
                                        </p:cTn>
                                        <p:tgtEl>
                                          <p:spTgt spid="66583"/>
                                        </p:tgtEl>
                                        <p:attrNameLst>
                                          <p:attrName>style.visibility</p:attrName>
                                        </p:attrNameLst>
                                      </p:cBhvr>
                                      <p:to>
                                        <p:strVal val="visible"/>
                                      </p:to>
                                    </p:set>
                                    <p:animEffect transition="in" filter="strips(downRight)">
                                      <p:cBhvr>
                                        <p:cTn id="119" dur="500"/>
                                        <p:tgtEl>
                                          <p:spTgt spid="66583"/>
                                        </p:tgtEl>
                                      </p:cBhvr>
                                    </p:animEffect>
                                  </p:childTnLst>
                                </p:cTn>
                              </p:par>
                            </p:childTnLst>
                          </p:cTn>
                        </p:par>
                      </p:childTnLst>
                    </p:cTn>
                  </p:par>
                  <p:par>
                    <p:cTn id="120" fill="hold">
                      <p:stCondLst>
                        <p:cond delay="indefinite"/>
                      </p:stCondLst>
                      <p:childTnLst>
                        <p:par>
                          <p:cTn id="121" fill="hold">
                            <p:stCondLst>
                              <p:cond delay="0"/>
                            </p:stCondLst>
                            <p:childTnLst>
                              <p:par>
                                <p:cTn id="122" presetID="3" presetClass="entr" presetSubtype="10" fill="hold" grpId="0" nodeType="clickEffect">
                                  <p:stCondLst>
                                    <p:cond delay="0"/>
                                  </p:stCondLst>
                                  <p:childTnLst>
                                    <p:set>
                                      <p:cBhvr>
                                        <p:cTn id="123" dur="1" fill="hold">
                                          <p:stCondLst>
                                            <p:cond delay="0"/>
                                          </p:stCondLst>
                                        </p:cTn>
                                        <p:tgtEl>
                                          <p:spTgt spid="66573"/>
                                        </p:tgtEl>
                                        <p:attrNameLst>
                                          <p:attrName>style.visibility</p:attrName>
                                        </p:attrNameLst>
                                      </p:cBhvr>
                                      <p:to>
                                        <p:strVal val="visible"/>
                                      </p:to>
                                    </p:set>
                                    <p:animEffect transition="in" filter="blinds(horizontal)">
                                      <p:cBhvr>
                                        <p:cTn id="124" dur="500"/>
                                        <p:tgtEl>
                                          <p:spTgt spid="66573"/>
                                        </p:tgtEl>
                                      </p:cBhvr>
                                    </p:animEffect>
                                  </p:childTnLst>
                                </p:cTn>
                              </p:par>
                            </p:childTnLst>
                          </p:cTn>
                        </p:par>
                      </p:childTnLst>
                    </p:cTn>
                  </p:par>
                  <p:par>
                    <p:cTn id="125" fill="hold">
                      <p:stCondLst>
                        <p:cond delay="indefinite"/>
                      </p:stCondLst>
                      <p:childTnLst>
                        <p:par>
                          <p:cTn id="126" fill="hold">
                            <p:stCondLst>
                              <p:cond delay="0"/>
                            </p:stCondLst>
                            <p:childTnLst>
                              <p:par>
                                <p:cTn id="127" presetID="3" presetClass="entr" presetSubtype="10" fill="hold" grpId="0" nodeType="clickEffect">
                                  <p:stCondLst>
                                    <p:cond delay="0"/>
                                  </p:stCondLst>
                                  <p:childTnLst>
                                    <p:set>
                                      <p:cBhvr>
                                        <p:cTn id="128" dur="1" fill="hold">
                                          <p:stCondLst>
                                            <p:cond delay="0"/>
                                          </p:stCondLst>
                                        </p:cTn>
                                        <p:tgtEl>
                                          <p:spTgt spid="66581"/>
                                        </p:tgtEl>
                                        <p:attrNameLst>
                                          <p:attrName>style.visibility</p:attrName>
                                        </p:attrNameLst>
                                      </p:cBhvr>
                                      <p:to>
                                        <p:strVal val="visible"/>
                                      </p:to>
                                    </p:set>
                                    <p:animEffect transition="in" filter="blinds(horizontal)">
                                      <p:cBhvr>
                                        <p:cTn id="129" dur="500"/>
                                        <p:tgtEl>
                                          <p:spTgt spid="66581"/>
                                        </p:tgtEl>
                                      </p:cBhvr>
                                    </p:animEffect>
                                  </p:childTnLst>
                                </p:cTn>
                              </p:par>
                            </p:childTnLst>
                          </p:cTn>
                        </p:par>
                      </p:childTnLst>
                    </p:cTn>
                  </p:par>
                  <p:par>
                    <p:cTn id="130" fill="hold">
                      <p:stCondLst>
                        <p:cond delay="indefinite"/>
                      </p:stCondLst>
                      <p:childTnLst>
                        <p:par>
                          <p:cTn id="131" fill="hold">
                            <p:stCondLst>
                              <p:cond delay="0"/>
                            </p:stCondLst>
                            <p:childTnLst>
                              <p:par>
                                <p:cTn id="132" presetID="18" presetClass="entr" presetSubtype="6" fill="hold" nodeType="clickEffect">
                                  <p:stCondLst>
                                    <p:cond delay="0"/>
                                  </p:stCondLst>
                                  <p:childTnLst>
                                    <p:set>
                                      <p:cBhvr>
                                        <p:cTn id="133" dur="1" fill="hold">
                                          <p:stCondLst>
                                            <p:cond delay="0"/>
                                          </p:stCondLst>
                                        </p:cTn>
                                        <p:tgtEl>
                                          <p:spTgt spid="66602"/>
                                        </p:tgtEl>
                                        <p:attrNameLst>
                                          <p:attrName>style.visibility</p:attrName>
                                        </p:attrNameLst>
                                      </p:cBhvr>
                                      <p:to>
                                        <p:strVal val="visible"/>
                                      </p:to>
                                    </p:set>
                                    <p:animEffect transition="in" filter="strips(downRight)">
                                      <p:cBhvr>
                                        <p:cTn id="134" dur="500"/>
                                        <p:tgtEl>
                                          <p:spTgt spid="66602"/>
                                        </p:tgtEl>
                                      </p:cBhvr>
                                    </p:animEffect>
                                  </p:childTnLst>
                                </p:cTn>
                              </p:par>
                              <p:par>
                                <p:cTn id="135" presetID="18" presetClass="entr" presetSubtype="6" fill="hold" nodeType="withEffect">
                                  <p:stCondLst>
                                    <p:cond delay="0"/>
                                  </p:stCondLst>
                                  <p:childTnLst>
                                    <p:set>
                                      <p:cBhvr>
                                        <p:cTn id="136" dur="1" fill="hold">
                                          <p:stCondLst>
                                            <p:cond delay="0"/>
                                          </p:stCondLst>
                                        </p:cTn>
                                        <p:tgtEl>
                                          <p:spTgt spid="66598"/>
                                        </p:tgtEl>
                                        <p:attrNameLst>
                                          <p:attrName>style.visibility</p:attrName>
                                        </p:attrNameLst>
                                      </p:cBhvr>
                                      <p:to>
                                        <p:strVal val="visible"/>
                                      </p:to>
                                    </p:set>
                                    <p:animEffect transition="in" filter="strips(downRight)">
                                      <p:cBhvr>
                                        <p:cTn id="137" dur="500"/>
                                        <p:tgtEl>
                                          <p:spTgt spid="66598"/>
                                        </p:tgtEl>
                                      </p:cBhvr>
                                    </p:animEffect>
                                  </p:childTnLst>
                                </p:cTn>
                              </p:par>
                              <p:par>
                                <p:cTn id="138" presetID="18" presetClass="entr" presetSubtype="6" fill="hold" nodeType="withEffect">
                                  <p:stCondLst>
                                    <p:cond delay="0"/>
                                  </p:stCondLst>
                                  <p:childTnLst>
                                    <p:set>
                                      <p:cBhvr>
                                        <p:cTn id="139" dur="1" fill="hold">
                                          <p:stCondLst>
                                            <p:cond delay="0"/>
                                          </p:stCondLst>
                                        </p:cTn>
                                        <p:tgtEl>
                                          <p:spTgt spid="66600"/>
                                        </p:tgtEl>
                                        <p:attrNameLst>
                                          <p:attrName>style.visibility</p:attrName>
                                        </p:attrNameLst>
                                      </p:cBhvr>
                                      <p:to>
                                        <p:strVal val="visible"/>
                                      </p:to>
                                    </p:set>
                                    <p:animEffect transition="in" filter="strips(downRight)">
                                      <p:cBhvr>
                                        <p:cTn id="140" dur="500"/>
                                        <p:tgtEl>
                                          <p:spTgt spid="66600"/>
                                        </p:tgtEl>
                                      </p:cBhvr>
                                    </p:animEffect>
                                  </p:childTnLst>
                                </p:cTn>
                              </p:par>
                              <p:par>
                                <p:cTn id="141" presetID="18" presetClass="entr" presetSubtype="6" fill="hold" nodeType="withEffect">
                                  <p:stCondLst>
                                    <p:cond delay="0"/>
                                  </p:stCondLst>
                                  <p:childTnLst>
                                    <p:set>
                                      <p:cBhvr>
                                        <p:cTn id="142" dur="1" fill="hold">
                                          <p:stCondLst>
                                            <p:cond delay="0"/>
                                          </p:stCondLst>
                                        </p:cTn>
                                        <p:tgtEl>
                                          <p:spTgt spid="66597"/>
                                        </p:tgtEl>
                                        <p:attrNameLst>
                                          <p:attrName>style.visibility</p:attrName>
                                        </p:attrNameLst>
                                      </p:cBhvr>
                                      <p:to>
                                        <p:strVal val="visible"/>
                                      </p:to>
                                    </p:set>
                                    <p:animEffect transition="in" filter="strips(downRight)">
                                      <p:cBhvr>
                                        <p:cTn id="143" dur="500"/>
                                        <p:tgtEl>
                                          <p:spTgt spid="66597"/>
                                        </p:tgtEl>
                                      </p:cBhvr>
                                    </p:animEffect>
                                  </p:childTnLst>
                                </p:cTn>
                              </p:par>
                              <p:par>
                                <p:cTn id="144" presetID="18" presetClass="entr" presetSubtype="6" fill="hold" nodeType="withEffect">
                                  <p:stCondLst>
                                    <p:cond delay="0"/>
                                  </p:stCondLst>
                                  <p:childTnLst>
                                    <p:set>
                                      <p:cBhvr>
                                        <p:cTn id="145" dur="1" fill="hold">
                                          <p:stCondLst>
                                            <p:cond delay="0"/>
                                          </p:stCondLst>
                                        </p:cTn>
                                        <p:tgtEl>
                                          <p:spTgt spid="66599"/>
                                        </p:tgtEl>
                                        <p:attrNameLst>
                                          <p:attrName>style.visibility</p:attrName>
                                        </p:attrNameLst>
                                      </p:cBhvr>
                                      <p:to>
                                        <p:strVal val="visible"/>
                                      </p:to>
                                    </p:set>
                                    <p:animEffect transition="in" filter="strips(downRight)">
                                      <p:cBhvr>
                                        <p:cTn id="146" dur="500"/>
                                        <p:tgtEl>
                                          <p:spTgt spid="66599"/>
                                        </p:tgtEl>
                                      </p:cBhvr>
                                    </p:animEffect>
                                  </p:childTnLst>
                                </p:cTn>
                              </p:par>
                              <p:par>
                                <p:cTn id="147" presetID="18" presetClass="entr" presetSubtype="6" fill="hold" nodeType="withEffect">
                                  <p:stCondLst>
                                    <p:cond delay="0"/>
                                  </p:stCondLst>
                                  <p:childTnLst>
                                    <p:set>
                                      <p:cBhvr>
                                        <p:cTn id="148" dur="1" fill="hold">
                                          <p:stCondLst>
                                            <p:cond delay="0"/>
                                          </p:stCondLst>
                                        </p:cTn>
                                        <p:tgtEl>
                                          <p:spTgt spid="66601"/>
                                        </p:tgtEl>
                                        <p:attrNameLst>
                                          <p:attrName>style.visibility</p:attrName>
                                        </p:attrNameLst>
                                      </p:cBhvr>
                                      <p:to>
                                        <p:strVal val="visible"/>
                                      </p:to>
                                    </p:set>
                                    <p:animEffect transition="in" filter="strips(downRight)">
                                      <p:cBhvr>
                                        <p:cTn id="149" dur="500"/>
                                        <p:tgtEl>
                                          <p:spTgt spid="66601"/>
                                        </p:tgtEl>
                                      </p:cBhvr>
                                    </p:animEffect>
                                  </p:childTnLst>
                                </p:cTn>
                              </p:par>
                            </p:childTnLst>
                          </p:cTn>
                        </p:par>
                        <p:par>
                          <p:cTn id="150" fill="hold">
                            <p:stCondLst>
                              <p:cond delay="500"/>
                            </p:stCondLst>
                            <p:childTnLst>
                              <p:par>
                                <p:cTn id="151" presetID="18" presetClass="entr" presetSubtype="12" fill="hold" grpId="0" nodeType="afterEffect">
                                  <p:stCondLst>
                                    <p:cond delay="0"/>
                                  </p:stCondLst>
                                  <p:childTnLst>
                                    <p:set>
                                      <p:cBhvr>
                                        <p:cTn id="152" dur="1" fill="hold">
                                          <p:stCondLst>
                                            <p:cond delay="0"/>
                                          </p:stCondLst>
                                        </p:cTn>
                                        <p:tgtEl>
                                          <p:spTgt spid="66603"/>
                                        </p:tgtEl>
                                        <p:attrNameLst>
                                          <p:attrName>style.visibility</p:attrName>
                                        </p:attrNameLst>
                                      </p:cBhvr>
                                      <p:to>
                                        <p:strVal val="visible"/>
                                      </p:to>
                                    </p:set>
                                    <p:animEffect transition="in" filter="strips(downLeft)">
                                      <p:cBhvr>
                                        <p:cTn id="153" dur="500"/>
                                        <p:tgtEl>
                                          <p:spTgt spid="66603"/>
                                        </p:tgtEl>
                                      </p:cBhvr>
                                    </p:animEffect>
                                  </p:childTnLst>
                                </p:cTn>
                              </p:par>
                            </p:childTnLst>
                          </p:cTn>
                        </p:par>
                        <p:par>
                          <p:cTn id="154" fill="hold">
                            <p:stCondLst>
                              <p:cond delay="1000"/>
                            </p:stCondLst>
                            <p:childTnLst>
                              <p:par>
                                <p:cTn id="155" presetID="3" presetClass="entr" presetSubtype="10" fill="hold" grpId="0" nodeType="afterEffect">
                                  <p:stCondLst>
                                    <p:cond delay="0"/>
                                  </p:stCondLst>
                                  <p:childTnLst>
                                    <p:set>
                                      <p:cBhvr>
                                        <p:cTn id="156" dur="1" fill="hold">
                                          <p:stCondLst>
                                            <p:cond delay="0"/>
                                          </p:stCondLst>
                                        </p:cTn>
                                        <p:tgtEl>
                                          <p:spTgt spid="66572"/>
                                        </p:tgtEl>
                                        <p:attrNameLst>
                                          <p:attrName>style.visibility</p:attrName>
                                        </p:attrNameLst>
                                      </p:cBhvr>
                                      <p:to>
                                        <p:strVal val="visible"/>
                                      </p:to>
                                    </p:set>
                                    <p:animEffect transition="in" filter="blinds(horizontal)">
                                      <p:cBhvr>
                                        <p:cTn id="157" dur="500"/>
                                        <p:tgtEl>
                                          <p:spTgt spid="66572"/>
                                        </p:tgtEl>
                                      </p:cBhvr>
                                    </p:animEffect>
                                  </p:childTnLst>
                                </p:cTn>
                              </p:par>
                            </p:childTnLst>
                          </p:cTn>
                        </p:par>
                        <p:par>
                          <p:cTn id="158" fill="hold">
                            <p:stCondLst>
                              <p:cond delay="1500"/>
                            </p:stCondLst>
                            <p:childTnLst>
                              <p:par>
                                <p:cTn id="159" presetID="3" presetClass="entr" presetSubtype="10" fill="hold" nodeType="afterEffect">
                                  <p:stCondLst>
                                    <p:cond delay="0"/>
                                  </p:stCondLst>
                                  <p:childTnLst>
                                    <p:set>
                                      <p:cBhvr>
                                        <p:cTn id="160" dur="1" fill="hold">
                                          <p:stCondLst>
                                            <p:cond delay="0"/>
                                          </p:stCondLst>
                                        </p:cTn>
                                        <p:tgtEl>
                                          <p:spTgt spid="66607"/>
                                        </p:tgtEl>
                                        <p:attrNameLst>
                                          <p:attrName>style.visibility</p:attrName>
                                        </p:attrNameLst>
                                      </p:cBhvr>
                                      <p:to>
                                        <p:strVal val="visible"/>
                                      </p:to>
                                    </p:set>
                                    <p:animEffect transition="in" filter="blinds(horizontal)">
                                      <p:cBhvr>
                                        <p:cTn id="161" dur="500"/>
                                        <p:tgtEl>
                                          <p:spTgt spid="66607"/>
                                        </p:tgtEl>
                                      </p:cBhvr>
                                    </p:animEffect>
                                  </p:childTnLst>
                                </p:cTn>
                              </p:par>
                            </p:childTnLst>
                          </p:cTn>
                        </p:par>
                        <p:par>
                          <p:cTn id="162" fill="hold">
                            <p:stCondLst>
                              <p:cond delay="2000"/>
                            </p:stCondLst>
                            <p:childTnLst>
                              <p:par>
                                <p:cTn id="163" presetID="3" presetClass="entr" presetSubtype="10" fill="hold" nodeType="afterEffect">
                                  <p:stCondLst>
                                    <p:cond delay="0"/>
                                  </p:stCondLst>
                                  <p:childTnLst>
                                    <p:set>
                                      <p:cBhvr>
                                        <p:cTn id="164" dur="1" fill="hold">
                                          <p:stCondLst>
                                            <p:cond delay="0"/>
                                          </p:stCondLst>
                                        </p:cTn>
                                        <p:tgtEl>
                                          <p:spTgt spid="66606"/>
                                        </p:tgtEl>
                                        <p:attrNameLst>
                                          <p:attrName>style.visibility</p:attrName>
                                        </p:attrNameLst>
                                      </p:cBhvr>
                                      <p:to>
                                        <p:strVal val="visible"/>
                                      </p:to>
                                    </p:set>
                                    <p:animEffect transition="in" filter="blinds(horizontal)">
                                      <p:cBhvr>
                                        <p:cTn id="165" dur="500"/>
                                        <p:tgtEl>
                                          <p:spTgt spid="66606"/>
                                        </p:tgtEl>
                                      </p:cBhvr>
                                    </p:animEffect>
                                  </p:childTnLst>
                                </p:cTn>
                              </p:par>
                            </p:childTnLst>
                          </p:cTn>
                        </p:par>
                        <p:par>
                          <p:cTn id="166" fill="hold">
                            <p:stCondLst>
                              <p:cond delay="2500"/>
                            </p:stCondLst>
                            <p:childTnLst>
                              <p:par>
                                <p:cTn id="167" presetID="3" presetClass="entr" presetSubtype="10" fill="hold" nodeType="afterEffect">
                                  <p:stCondLst>
                                    <p:cond delay="0"/>
                                  </p:stCondLst>
                                  <p:childTnLst>
                                    <p:set>
                                      <p:cBhvr>
                                        <p:cTn id="168" dur="1" fill="hold">
                                          <p:stCondLst>
                                            <p:cond delay="0"/>
                                          </p:stCondLst>
                                        </p:cTn>
                                        <p:tgtEl>
                                          <p:spTgt spid="66604"/>
                                        </p:tgtEl>
                                        <p:attrNameLst>
                                          <p:attrName>style.visibility</p:attrName>
                                        </p:attrNameLst>
                                      </p:cBhvr>
                                      <p:to>
                                        <p:strVal val="visible"/>
                                      </p:to>
                                    </p:set>
                                    <p:animEffect transition="in" filter="blinds(horizontal)">
                                      <p:cBhvr>
                                        <p:cTn id="169" dur="500"/>
                                        <p:tgtEl>
                                          <p:spTgt spid="66604"/>
                                        </p:tgtEl>
                                      </p:cBhvr>
                                    </p:animEffect>
                                  </p:childTnLst>
                                </p:cTn>
                              </p:par>
                            </p:childTnLst>
                          </p:cTn>
                        </p:par>
                        <p:par>
                          <p:cTn id="170" fill="hold">
                            <p:stCondLst>
                              <p:cond delay="3000"/>
                            </p:stCondLst>
                            <p:childTnLst>
                              <p:par>
                                <p:cTn id="171" presetID="3" presetClass="entr" presetSubtype="10" fill="hold" nodeType="afterEffect">
                                  <p:stCondLst>
                                    <p:cond delay="0"/>
                                  </p:stCondLst>
                                  <p:childTnLst>
                                    <p:set>
                                      <p:cBhvr>
                                        <p:cTn id="172" dur="1" fill="hold">
                                          <p:stCondLst>
                                            <p:cond delay="0"/>
                                          </p:stCondLst>
                                        </p:cTn>
                                        <p:tgtEl>
                                          <p:spTgt spid="66605"/>
                                        </p:tgtEl>
                                        <p:attrNameLst>
                                          <p:attrName>style.visibility</p:attrName>
                                        </p:attrNameLst>
                                      </p:cBhvr>
                                      <p:to>
                                        <p:strVal val="visible"/>
                                      </p:to>
                                    </p:set>
                                    <p:animEffect transition="in" filter="blinds(horizontal)">
                                      <p:cBhvr>
                                        <p:cTn id="173" dur="500"/>
                                        <p:tgtEl>
                                          <p:spTgt spid="66605"/>
                                        </p:tgtEl>
                                      </p:cBhvr>
                                    </p:animEffect>
                                  </p:childTnLst>
                                </p:cTn>
                              </p:par>
                            </p:childTnLst>
                          </p:cTn>
                        </p:par>
                      </p:childTnLst>
                    </p:cTn>
                  </p:par>
                  <p:par>
                    <p:cTn id="174" fill="hold">
                      <p:stCondLst>
                        <p:cond delay="indefinite"/>
                      </p:stCondLst>
                      <p:childTnLst>
                        <p:par>
                          <p:cTn id="175" fill="hold">
                            <p:stCondLst>
                              <p:cond delay="0"/>
                            </p:stCondLst>
                            <p:childTnLst>
                              <p:par>
                                <p:cTn id="176" presetID="3" presetClass="entr" presetSubtype="10" fill="hold" grpId="0" nodeType="clickEffect">
                                  <p:stCondLst>
                                    <p:cond delay="0"/>
                                  </p:stCondLst>
                                  <p:childTnLst>
                                    <p:set>
                                      <p:cBhvr>
                                        <p:cTn id="177" dur="1" fill="hold">
                                          <p:stCondLst>
                                            <p:cond delay="0"/>
                                          </p:stCondLst>
                                        </p:cTn>
                                        <p:tgtEl>
                                          <p:spTgt spid="66611"/>
                                        </p:tgtEl>
                                        <p:attrNameLst>
                                          <p:attrName>style.visibility</p:attrName>
                                        </p:attrNameLst>
                                      </p:cBhvr>
                                      <p:to>
                                        <p:strVal val="visible"/>
                                      </p:to>
                                    </p:set>
                                    <p:animEffect transition="in" filter="blinds(horizontal)">
                                      <p:cBhvr>
                                        <p:cTn id="178" dur="500"/>
                                        <p:tgtEl>
                                          <p:spTgt spid="66611"/>
                                        </p:tgtEl>
                                      </p:cBhvr>
                                    </p:animEffect>
                                  </p:childTnLst>
                                </p:cTn>
                              </p:par>
                            </p:childTnLst>
                          </p:cTn>
                        </p:par>
                      </p:childTnLst>
                    </p:cTn>
                  </p:par>
                  <p:par>
                    <p:cTn id="179" fill="hold">
                      <p:stCondLst>
                        <p:cond delay="indefinite"/>
                      </p:stCondLst>
                      <p:childTnLst>
                        <p:par>
                          <p:cTn id="180" fill="hold">
                            <p:stCondLst>
                              <p:cond delay="0"/>
                            </p:stCondLst>
                            <p:childTnLst>
                              <p:par>
                                <p:cTn id="181" presetID="18" presetClass="entr" presetSubtype="6" fill="hold" nodeType="clickEffect">
                                  <p:stCondLst>
                                    <p:cond delay="0"/>
                                  </p:stCondLst>
                                  <p:childTnLst>
                                    <p:set>
                                      <p:cBhvr>
                                        <p:cTn id="182" dur="1" fill="hold">
                                          <p:stCondLst>
                                            <p:cond delay="0"/>
                                          </p:stCondLst>
                                        </p:cTn>
                                        <p:tgtEl>
                                          <p:spTgt spid="66608"/>
                                        </p:tgtEl>
                                        <p:attrNameLst>
                                          <p:attrName>style.visibility</p:attrName>
                                        </p:attrNameLst>
                                      </p:cBhvr>
                                      <p:to>
                                        <p:strVal val="visible"/>
                                      </p:to>
                                    </p:set>
                                    <p:animEffect transition="in" filter="strips(downRight)">
                                      <p:cBhvr>
                                        <p:cTn id="183" dur="500"/>
                                        <p:tgtEl>
                                          <p:spTgt spid="66608"/>
                                        </p:tgtEl>
                                      </p:cBhvr>
                                    </p:animEffect>
                                  </p:childTnLst>
                                </p:cTn>
                              </p:par>
                              <p:par>
                                <p:cTn id="184" presetID="18" presetClass="entr" presetSubtype="6" fill="hold" nodeType="withEffect">
                                  <p:stCondLst>
                                    <p:cond delay="0"/>
                                  </p:stCondLst>
                                  <p:childTnLst>
                                    <p:set>
                                      <p:cBhvr>
                                        <p:cTn id="185" dur="1" fill="hold">
                                          <p:stCondLst>
                                            <p:cond delay="0"/>
                                          </p:stCondLst>
                                        </p:cTn>
                                        <p:tgtEl>
                                          <p:spTgt spid="66609"/>
                                        </p:tgtEl>
                                        <p:attrNameLst>
                                          <p:attrName>style.visibility</p:attrName>
                                        </p:attrNameLst>
                                      </p:cBhvr>
                                      <p:to>
                                        <p:strVal val="visible"/>
                                      </p:to>
                                    </p:set>
                                    <p:animEffect transition="in" filter="strips(downRight)">
                                      <p:cBhvr>
                                        <p:cTn id="186" dur="500"/>
                                        <p:tgtEl>
                                          <p:spTgt spid="66609"/>
                                        </p:tgtEl>
                                      </p:cBhvr>
                                    </p:animEffect>
                                  </p:childTnLst>
                                </p:cTn>
                              </p:par>
                              <p:par>
                                <p:cTn id="187" presetID="18" presetClass="entr" presetSubtype="6" fill="hold" nodeType="withEffect">
                                  <p:stCondLst>
                                    <p:cond delay="0"/>
                                  </p:stCondLst>
                                  <p:childTnLst>
                                    <p:set>
                                      <p:cBhvr>
                                        <p:cTn id="188" dur="1" fill="hold">
                                          <p:stCondLst>
                                            <p:cond delay="0"/>
                                          </p:stCondLst>
                                        </p:cTn>
                                        <p:tgtEl>
                                          <p:spTgt spid="66610"/>
                                        </p:tgtEl>
                                        <p:attrNameLst>
                                          <p:attrName>style.visibility</p:attrName>
                                        </p:attrNameLst>
                                      </p:cBhvr>
                                      <p:to>
                                        <p:strVal val="visible"/>
                                      </p:to>
                                    </p:set>
                                    <p:animEffect transition="in" filter="strips(downRight)">
                                      <p:cBhvr>
                                        <p:cTn id="189" dur="500"/>
                                        <p:tgtEl>
                                          <p:spTgt spid="66610"/>
                                        </p:tgtEl>
                                      </p:cBhvr>
                                    </p:animEffect>
                                  </p:childTnLst>
                                </p:cTn>
                              </p:par>
                            </p:childTnLst>
                          </p:cTn>
                        </p:par>
                      </p:childTnLst>
                    </p:cTn>
                  </p:par>
                  <p:par>
                    <p:cTn id="190" fill="hold">
                      <p:stCondLst>
                        <p:cond delay="indefinite"/>
                      </p:stCondLst>
                      <p:childTnLst>
                        <p:par>
                          <p:cTn id="191" fill="hold">
                            <p:stCondLst>
                              <p:cond delay="0"/>
                            </p:stCondLst>
                            <p:childTnLst>
                              <p:par>
                                <p:cTn id="192" presetID="18" presetClass="entr" presetSubtype="6" fill="hold" nodeType="clickEffect">
                                  <p:stCondLst>
                                    <p:cond delay="0"/>
                                  </p:stCondLst>
                                  <p:childTnLst>
                                    <p:set>
                                      <p:cBhvr>
                                        <p:cTn id="193" dur="1" fill="hold">
                                          <p:stCondLst>
                                            <p:cond delay="0"/>
                                          </p:stCondLst>
                                        </p:cTn>
                                        <p:tgtEl>
                                          <p:spTgt spid="66625"/>
                                        </p:tgtEl>
                                        <p:attrNameLst>
                                          <p:attrName>style.visibility</p:attrName>
                                        </p:attrNameLst>
                                      </p:cBhvr>
                                      <p:to>
                                        <p:strVal val="visible"/>
                                      </p:to>
                                    </p:set>
                                    <p:animEffect transition="in" filter="strips(downRight)">
                                      <p:cBhvr>
                                        <p:cTn id="194" dur="500"/>
                                        <p:tgtEl>
                                          <p:spTgt spid="66625"/>
                                        </p:tgtEl>
                                      </p:cBhvr>
                                    </p:animEffect>
                                  </p:childTnLst>
                                </p:cTn>
                              </p:par>
                            </p:childTnLst>
                          </p:cTn>
                        </p:par>
                        <p:par>
                          <p:cTn id="195" fill="hold">
                            <p:stCondLst>
                              <p:cond delay="500"/>
                            </p:stCondLst>
                            <p:childTnLst>
                              <p:par>
                                <p:cTn id="196" presetID="3" presetClass="entr" presetSubtype="10" fill="hold" nodeType="afterEffect">
                                  <p:stCondLst>
                                    <p:cond delay="0"/>
                                  </p:stCondLst>
                                  <p:childTnLst>
                                    <p:set>
                                      <p:cBhvr>
                                        <p:cTn id="197" dur="1" fill="hold">
                                          <p:stCondLst>
                                            <p:cond delay="0"/>
                                          </p:stCondLst>
                                        </p:cTn>
                                        <p:tgtEl>
                                          <p:spTgt spid="66643"/>
                                        </p:tgtEl>
                                        <p:attrNameLst>
                                          <p:attrName>style.visibility</p:attrName>
                                        </p:attrNameLst>
                                      </p:cBhvr>
                                      <p:to>
                                        <p:strVal val="visible"/>
                                      </p:to>
                                    </p:set>
                                    <p:animEffect transition="in" filter="blinds(horizontal)">
                                      <p:cBhvr>
                                        <p:cTn id="198" dur="500"/>
                                        <p:tgtEl>
                                          <p:spTgt spid="66643"/>
                                        </p:tgtEl>
                                      </p:cBhvr>
                                    </p:animEffect>
                                  </p:childTnLst>
                                </p:cTn>
                              </p:par>
                            </p:childTnLst>
                          </p:cTn>
                        </p:par>
                      </p:childTnLst>
                    </p:cTn>
                  </p:par>
                  <p:par>
                    <p:cTn id="199" fill="hold">
                      <p:stCondLst>
                        <p:cond delay="indefinite"/>
                      </p:stCondLst>
                      <p:childTnLst>
                        <p:par>
                          <p:cTn id="200" fill="hold">
                            <p:stCondLst>
                              <p:cond delay="0"/>
                            </p:stCondLst>
                            <p:childTnLst>
                              <p:par>
                                <p:cTn id="201" presetID="18" presetClass="entr" presetSubtype="6" fill="hold" nodeType="clickEffect">
                                  <p:stCondLst>
                                    <p:cond delay="0"/>
                                  </p:stCondLst>
                                  <p:childTnLst>
                                    <p:set>
                                      <p:cBhvr>
                                        <p:cTn id="202" dur="1" fill="hold">
                                          <p:stCondLst>
                                            <p:cond delay="0"/>
                                          </p:stCondLst>
                                        </p:cTn>
                                        <p:tgtEl>
                                          <p:spTgt spid="66620"/>
                                        </p:tgtEl>
                                        <p:attrNameLst>
                                          <p:attrName>style.visibility</p:attrName>
                                        </p:attrNameLst>
                                      </p:cBhvr>
                                      <p:to>
                                        <p:strVal val="visible"/>
                                      </p:to>
                                    </p:set>
                                    <p:animEffect transition="in" filter="strips(downRight)">
                                      <p:cBhvr>
                                        <p:cTn id="203" dur="500"/>
                                        <p:tgtEl>
                                          <p:spTgt spid="66620"/>
                                        </p:tgtEl>
                                      </p:cBhvr>
                                    </p:animEffect>
                                  </p:childTnLst>
                                </p:cTn>
                              </p:par>
                            </p:childTnLst>
                          </p:cTn>
                        </p:par>
                        <p:par>
                          <p:cTn id="204" fill="hold">
                            <p:stCondLst>
                              <p:cond delay="500"/>
                            </p:stCondLst>
                            <p:childTnLst>
                              <p:par>
                                <p:cTn id="205" presetID="3" presetClass="entr" presetSubtype="10" fill="hold" nodeType="afterEffect">
                                  <p:stCondLst>
                                    <p:cond delay="0"/>
                                  </p:stCondLst>
                                  <p:childTnLst>
                                    <p:set>
                                      <p:cBhvr>
                                        <p:cTn id="206" dur="1" fill="hold">
                                          <p:stCondLst>
                                            <p:cond delay="0"/>
                                          </p:stCondLst>
                                        </p:cTn>
                                        <p:tgtEl>
                                          <p:spTgt spid="66621"/>
                                        </p:tgtEl>
                                        <p:attrNameLst>
                                          <p:attrName>style.visibility</p:attrName>
                                        </p:attrNameLst>
                                      </p:cBhvr>
                                      <p:to>
                                        <p:strVal val="visible"/>
                                      </p:to>
                                    </p:set>
                                    <p:animEffect transition="in" filter="blinds(horizontal)">
                                      <p:cBhvr>
                                        <p:cTn id="207" dur="500"/>
                                        <p:tgtEl>
                                          <p:spTgt spid="66621"/>
                                        </p:tgtEl>
                                      </p:cBhvr>
                                    </p:animEffect>
                                  </p:childTnLst>
                                </p:cTn>
                              </p:par>
                            </p:childTnLst>
                          </p:cTn>
                        </p:par>
                        <p:par>
                          <p:cTn id="208" fill="hold">
                            <p:stCondLst>
                              <p:cond delay="1000"/>
                            </p:stCondLst>
                            <p:childTnLst>
                              <p:par>
                                <p:cTn id="209" presetID="3" presetClass="entr" presetSubtype="10" fill="hold" nodeType="afterEffect">
                                  <p:stCondLst>
                                    <p:cond delay="0"/>
                                  </p:stCondLst>
                                  <p:childTnLst>
                                    <p:set>
                                      <p:cBhvr>
                                        <p:cTn id="210" dur="1" fill="hold">
                                          <p:stCondLst>
                                            <p:cond delay="0"/>
                                          </p:stCondLst>
                                        </p:cTn>
                                        <p:tgtEl>
                                          <p:spTgt spid="66650"/>
                                        </p:tgtEl>
                                        <p:attrNameLst>
                                          <p:attrName>style.visibility</p:attrName>
                                        </p:attrNameLst>
                                      </p:cBhvr>
                                      <p:to>
                                        <p:strVal val="visible"/>
                                      </p:to>
                                    </p:set>
                                    <p:animEffect transition="in" filter="blinds(horizontal)">
                                      <p:cBhvr>
                                        <p:cTn id="211" dur="500"/>
                                        <p:tgtEl>
                                          <p:spTgt spid="66650"/>
                                        </p:tgtEl>
                                      </p:cBhvr>
                                    </p:animEffect>
                                  </p:childTnLst>
                                </p:cTn>
                              </p:par>
                            </p:childTnLst>
                          </p:cTn>
                        </p:par>
                        <p:par>
                          <p:cTn id="212" fill="hold">
                            <p:stCondLst>
                              <p:cond delay="1500"/>
                            </p:stCondLst>
                            <p:childTnLst>
                              <p:par>
                                <p:cTn id="213" presetID="18" presetClass="entr" presetSubtype="6" fill="hold" nodeType="afterEffect">
                                  <p:stCondLst>
                                    <p:cond delay="0"/>
                                  </p:stCondLst>
                                  <p:childTnLst>
                                    <p:set>
                                      <p:cBhvr>
                                        <p:cTn id="214" dur="1" fill="hold">
                                          <p:stCondLst>
                                            <p:cond delay="0"/>
                                          </p:stCondLst>
                                        </p:cTn>
                                        <p:tgtEl>
                                          <p:spTgt spid="66628"/>
                                        </p:tgtEl>
                                        <p:attrNameLst>
                                          <p:attrName>style.visibility</p:attrName>
                                        </p:attrNameLst>
                                      </p:cBhvr>
                                      <p:to>
                                        <p:strVal val="visible"/>
                                      </p:to>
                                    </p:set>
                                    <p:animEffect transition="in" filter="strips(downRight)">
                                      <p:cBhvr>
                                        <p:cTn id="215" dur="500"/>
                                        <p:tgtEl>
                                          <p:spTgt spid="66628"/>
                                        </p:tgtEl>
                                      </p:cBhvr>
                                    </p:animEffect>
                                  </p:childTnLst>
                                </p:cTn>
                              </p:par>
                            </p:childTnLst>
                          </p:cTn>
                        </p:par>
                        <p:par>
                          <p:cTn id="216" fill="hold">
                            <p:stCondLst>
                              <p:cond delay="2000"/>
                            </p:stCondLst>
                            <p:childTnLst>
                              <p:par>
                                <p:cTn id="217" presetID="18" presetClass="entr" presetSubtype="3" fill="hold" nodeType="afterEffect">
                                  <p:stCondLst>
                                    <p:cond delay="0"/>
                                  </p:stCondLst>
                                  <p:childTnLst>
                                    <p:set>
                                      <p:cBhvr>
                                        <p:cTn id="218" dur="1" fill="hold">
                                          <p:stCondLst>
                                            <p:cond delay="0"/>
                                          </p:stCondLst>
                                        </p:cTn>
                                        <p:tgtEl>
                                          <p:spTgt spid="66626"/>
                                        </p:tgtEl>
                                        <p:attrNameLst>
                                          <p:attrName>style.visibility</p:attrName>
                                        </p:attrNameLst>
                                      </p:cBhvr>
                                      <p:to>
                                        <p:strVal val="visible"/>
                                      </p:to>
                                    </p:set>
                                    <p:animEffect transition="in" filter="strips(upRight)">
                                      <p:cBhvr>
                                        <p:cTn id="219" dur="500"/>
                                        <p:tgtEl>
                                          <p:spTgt spid="66626"/>
                                        </p:tgtEl>
                                      </p:cBhvr>
                                    </p:animEffect>
                                  </p:childTnLst>
                                </p:cTn>
                              </p:par>
                            </p:childTnLst>
                          </p:cTn>
                        </p:par>
                        <p:par>
                          <p:cTn id="220" fill="hold">
                            <p:stCondLst>
                              <p:cond delay="2500"/>
                            </p:stCondLst>
                            <p:childTnLst>
                              <p:par>
                                <p:cTn id="221" presetID="18" presetClass="entr" presetSubtype="6" fill="hold" nodeType="afterEffect">
                                  <p:stCondLst>
                                    <p:cond delay="0"/>
                                  </p:stCondLst>
                                  <p:childTnLst>
                                    <p:set>
                                      <p:cBhvr>
                                        <p:cTn id="222" dur="1" fill="hold">
                                          <p:stCondLst>
                                            <p:cond delay="0"/>
                                          </p:stCondLst>
                                        </p:cTn>
                                        <p:tgtEl>
                                          <p:spTgt spid="66627"/>
                                        </p:tgtEl>
                                        <p:attrNameLst>
                                          <p:attrName>style.visibility</p:attrName>
                                        </p:attrNameLst>
                                      </p:cBhvr>
                                      <p:to>
                                        <p:strVal val="visible"/>
                                      </p:to>
                                    </p:set>
                                    <p:animEffect transition="in" filter="strips(downRight)">
                                      <p:cBhvr>
                                        <p:cTn id="223" dur="500"/>
                                        <p:tgtEl>
                                          <p:spTgt spid="66627"/>
                                        </p:tgtEl>
                                      </p:cBhvr>
                                    </p:animEffect>
                                  </p:childTnLst>
                                </p:cTn>
                              </p:par>
                            </p:childTnLst>
                          </p:cTn>
                        </p:par>
                      </p:childTnLst>
                    </p:cTn>
                  </p:par>
                  <p:par>
                    <p:cTn id="224" fill="hold">
                      <p:stCondLst>
                        <p:cond delay="indefinite"/>
                      </p:stCondLst>
                      <p:childTnLst>
                        <p:par>
                          <p:cTn id="225" fill="hold">
                            <p:stCondLst>
                              <p:cond delay="0"/>
                            </p:stCondLst>
                            <p:childTnLst>
                              <p:par>
                                <p:cTn id="226" presetID="3" presetClass="entr" presetSubtype="10" fill="hold" grpId="0" nodeType="clickEffect">
                                  <p:stCondLst>
                                    <p:cond delay="0"/>
                                  </p:stCondLst>
                                  <p:childTnLst>
                                    <p:set>
                                      <p:cBhvr>
                                        <p:cTn id="227" dur="1" fill="hold">
                                          <p:stCondLst>
                                            <p:cond delay="0"/>
                                          </p:stCondLst>
                                        </p:cTn>
                                        <p:tgtEl>
                                          <p:spTgt spid="66624"/>
                                        </p:tgtEl>
                                        <p:attrNameLst>
                                          <p:attrName>style.visibility</p:attrName>
                                        </p:attrNameLst>
                                      </p:cBhvr>
                                      <p:to>
                                        <p:strVal val="visible"/>
                                      </p:to>
                                    </p:set>
                                    <p:animEffect transition="in" filter="blinds(horizontal)">
                                      <p:cBhvr>
                                        <p:cTn id="228" dur="500"/>
                                        <p:tgtEl>
                                          <p:spTgt spid="66624"/>
                                        </p:tgtEl>
                                      </p:cBhvr>
                                    </p:animEffect>
                                  </p:childTnLst>
                                </p:cTn>
                              </p:par>
                            </p:childTnLst>
                          </p:cTn>
                        </p:par>
                        <p:par>
                          <p:cTn id="229" fill="hold">
                            <p:stCondLst>
                              <p:cond delay="500"/>
                            </p:stCondLst>
                            <p:childTnLst>
                              <p:par>
                                <p:cTn id="230" presetID="18" presetClass="entr" presetSubtype="6" fill="hold" nodeType="afterEffect">
                                  <p:stCondLst>
                                    <p:cond delay="0"/>
                                  </p:stCondLst>
                                  <p:childTnLst>
                                    <p:set>
                                      <p:cBhvr>
                                        <p:cTn id="231" dur="1" fill="hold">
                                          <p:stCondLst>
                                            <p:cond delay="0"/>
                                          </p:stCondLst>
                                        </p:cTn>
                                        <p:tgtEl>
                                          <p:spTgt spid="66587"/>
                                        </p:tgtEl>
                                        <p:attrNameLst>
                                          <p:attrName>style.visibility</p:attrName>
                                        </p:attrNameLst>
                                      </p:cBhvr>
                                      <p:to>
                                        <p:strVal val="visible"/>
                                      </p:to>
                                    </p:set>
                                    <p:animEffect transition="in" filter="strips(downRight)">
                                      <p:cBhvr>
                                        <p:cTn id="232" dur="500"/>
                                        <p:tgtEl>
                                          <p:spTgt spid="66587"/>
                                        </p:tgtEl>
                                      </p:cBhvr>
                                    </p:animEffect>
                                  </p:childTnLst>
                                </p:cTn>
                              </p:par>
                            </p:childTnLst>
                          </p:cTn>
                        </p:par>
                        <p:par>
                          <p:cTn id="233" fill="hold">
                            <p:stCondLst>
                              <p:cond delay="1000"/>
                            </p:stCondLst>
                            <p:childTnLst>
                              <p:par>
                                <p:cTn id="234" presetID="18" presetClass="entr" presetSubtype="3" fill="hold" nodeType="afterEffect">
                                  <p:stCondLst>
                                    <p:cond delay="0"/>
                                  </p:stCondLst>
                                  <p:childTnLst>
                                    <p:set>
                                      <p:cBhvr>
                                        <p:cTn id="235" dur="1" fill="hold">
                                          <p:stCondLst>
                                            <p:cond delay="0"/>
                                          </p:stCondLst>
                                        </p:cTn>
                                        <p:tgtEl>
                                          <p:spTgt spid="66654"/>
                                        </p:tgtEl>
                                        <p:attrNameLst>
                                          <p:attrName>style.visibility</p:attrName>
                                        </p:attrNameLst>
                                      </p:cBhvr>
                                      <p:to>
                                        <p:strVal val="visible"/>
                                      </p:to>
                                    </p:set>
                                    <p:animEffect transition="in" filter="strips(upRight)">
                                      <p:cBhvr>
                                        <p:cTn id="236" dur="500"/>
                                        <p:tgtEl>
                                          <p:spTgt spid="66654"/>
                                        </p:tgtEl>
                                      </p:cBhvr>
                                    </p:animEffect>
                                  </p:childTnLst>
                                </p:cTn>
                              </p:par>
                            </p:childTnLst>
                          </p:cTn>
                        </p:par>
                        <p:par>
                          <p:cTn id="237" fill="hold">
                            <p:stCondLst>
                              <p:cond delay="1500"/>
                            </p:stCondLst>
                            <p:childTnLst>
                              <p:par>
                                <p:cTn id="238" presetID="18" presetClass="entr" presetSubtype="6" fill="hold" nodeType="afterEffect">
                                  <p:stCondLst>
                                    <p:cond delay="0"/>
                                  </p:stCondLst>
                                  <p:childTnLst>
                                    <p:set>
                                      <p:cBhvr>
                                        <p:cTn id="239" dur="1" fill="hold">
                                          <p:stCondLst>
                                            <p:cond delay="0"/>
                                          </p:stCondLst>
                                        </p:cTn>
                                        <p:tgtEl>
                                          <p:spTgt spid="66629"/>
                                        </p:tgtEl>
                                        <p:attrNameLst>
                                          <p:attrName>style.visibility</p:attrName>
                                        </p:attrNameLst>
                                      </p:cBhvr>
                                      <p:to>
                                        <p:strVal val="visible"/>
                                      </p:to>
                                    </p:set>
                                    <p:animEffect transition="in" filter="strips(downRight)">
                                      <p:cBhvr>
                                        <p:cTn id="240" dur="500"/>
                                        <p:tgtEl>
                                          <p:spTgt spid="66629"/>
                                        </p:tgtEl>
                                      </p:cBhvr>
                                    </p:animEffect>
                                  </p:childTnLst>
                                </p:cTn>
                              </p:par>
                            </p:childTnLst>
                          </p:cTn>
                        </p:par>
                        <p:par>
                          <p:cTn id="241" fill="hold">
                            <p:stCondLst>
                              <p:cond delay="2000"/>
                            </p:stCondLst>
                            <p:childTnLst>
                              <p:par>
                                <p:cTn id="242" presetID="3" presetClass="entr" presetSubtype="10" fill="hold" grpId="0" nodeType="afterEffect">
                                  <p:stCondLst>
                                    <p:cond delay="0"/>
                                  </p:stCondLst>
                                  <p:childTnLst>
                                    <p:set>
                                      <p:cBhvr>
                                        <p:cTn id="243" dur="1" fill="hold">
                                          <p:stCondLst>
                                            <p:cond delay="0"/>
                                          </p:stCondLst>
                                        </p:cTn>
                                        <p:tgtEl>
                                          <p:spTgt spid="66646"/>
                                        </p:tgtEl>
                                        <p:attrNameLst>
                                          <p:attrName>style.visibility</p:attrName>
                                        </p:attrNameLst>
                                      </p:cBhvr>
                                      <p:to>
                                        <p:strVal val="visible"/>
                                      </p:to>
                                    </p:set>
                                    <p:animEffect transition="in" filter="blinds(horizontal)">
                                      <p:cBhvr>
                                        <p:cTn id="244" dur="500"/>
                                        <p:tgtEl>
                                          <p:spTgt spid="66646"/>
                                        </p:tgtEl>
                                      </p:cBhvr>
                                    </p:animEffect>
                                  </p:childTnLst>
                                </p:cTn>
                              </p:par>
                            </p:childTnLst>
                          </p:cTn>
                        </p:par>
                      </p:childTnLst>
                    </p:cTn>
                  </p:par>
                  <p:par>
                    <p:cTn id="245" fill="hold">
                      <p:stCondLst>
                        <p:cond delay="indefinite"/>
                      </p:stCondLst>
                      <p:childTnLst>
                        <p:par>
                          <p:cTn id="246" fill="hold">
                            <p:stCondLst>
                              <p:cond delay="0"/>
                            </p:stCondLst>
                            <p:childTnLst>
                              <p:par>
                                <p:cTn id="247" presetID="3" presetClass="entr" presetSubtype="10" fill="hold" nodeType="clickEffect">
                                  <p:stCondLst>
                                    <p:cond delay="0"/>
                                  </p:stCondLst>
                                  <p:childTnLst>
                                    <p:set>
                                      <p:cBhvr>
                                        <p:cTn id="248" dur="1" fill="hold">
                                          <p:stCondLst>
                                            <p:cond delay="0"/>
                                          </p:stCondLst>
                                        </p:cTn>
                                        <p:tgtEl>
                                          <p:spTgt spid="66647"/>
                                        </p:tgtEl>
                                        <p:attrNameLst>
                                          <p:attrName>style.visibility</p:attrName>
                                        </p:attrNameLst>
                                      </p:cBhvr>
                                      <p:to>
                                        <p:strVal val="visible"/>
                                      </p:to>
                                    </p:set>
                                    <p:animEffect transition="in" filter="blinds(horizontal)">
                                      <p:cBhvr>
                                        <p:cTn id="249" dur="500"/>
                                        <p:tgtEl>
                                          <p:spTgt spid="66647"/>
                                        </p:tgtEl>
                                      </p:cBhvr>
                                    </p:animEffect>
                                  </p:childTnLst>
                                </p:cTn>
                              </p:par>
                            </p:childTnLst>
                          </p:cTn>
                        </p:par>
                        <p:par>
                          <p:cTn id="250" fill="hold">
                            <p:stCondLst>
                              <p:cond delay="500"/>
                            </p:stCondLst>
                            <p:childTnLst>
                              <p:par>
                                <p:cTn id="251" presetID="18" presetClass="entr" presetSubtype="6" fill="hold" nodeType="afterEffect">
                                  <p:stCondLst>
                                    <p:cond delay="0"/>
                                  </p:stCondLst>
                                  <p:childTnLst>
                                    <p:set>
                                      <p:cBhvr>
                                        <p:cTn id="252" dur="1" fill="hold">
                                          <p:stCondLst>
                                            <p:cond delay="0"/>
                                          </p:stCondLst>
                                        </p:cTn>
                                        <p:tgtEl>
                                          <p:spTgt spid="66617"/>
                                        </p:tgtEl>
                                        <p:attrNameLst>
                                          <p:attrName>style.visibility</p:attrName>
                                        </p:attrNameLst>
                                      </p:cBhvr>
                                      <p:to>
                                        <p:strVal val="visible"/>
                                      </p:to>
                                    </p:set>
                                    <p:animEffect transition="in" filter="strips(downRight)">
                                      <p:cBhvr>
                                        <p:cTn id="253" dur="500"/>
                                        <p:tgtEl>
                                          <p:spTgt spid="66617"/>
                                        </p:tgtEl>
                                      </p:cBhvr>
                                    </p:animEffect>
                                  </p:childTnLst>
                                </p:cTn>
                              </p:par>
                            </p:childTnLst>
                          </p:cTn>
                        </p:par>
                        <p:par>
                          <p:cTn id="254" fill="hold">
                            <p:stCondLst>
                              <p:cond delay="1000"/>
                            </p:stCondLst>
                            <p:childTnLst>
                              <p:par>
                                <p:cTn id="255" presetID="18" presetClass="entr" presetSubtype="6" fill="hold" nodeType="afterEffect">
                                  <p:stCondLst>
                                    <p:cond delay="0"/>
                                  </p:stCondLst>
                                  <p:childTnLst>
                                    <p:set>
                                      <p:cBhvr>
                                        <p:cTn id="256" dur="1" fill="hold">
                                          <p:stCondLst>
                                            <p:cond delay="0"/>
                                          </p:stCondLst>
                                        </p:cTn>
                                        <p:tgtEl>
                                          <p:spTgt spid="66619"/>
                                        </p:tgtEl>
                                        <p:attrNameLst>
                                          <p:attrName>style.visibility</p:attrName>
                                        </p:attrNameLst>
                                      </p:cBhvr>
                                      <p:to>
                                        <p:strVal val="visible"/>
                                      </p:to>
                                    </p:set>
                                    <p:animEffect transition="in" filter="strips(downRight)">
                                      <p:cBhvr>
                                        <p:cTn id="257" dur="500"/>
                                        <p:tgtEl>
                                          <p:spTgt spid="66619"/>
                                        </p:tgtEl>
                                      </p:cBhvr>
                                    </p:animEffect>
                                  </p:childTnLst>
                                </p:cTn>
                              </p:par>
                            </p:childTnLst>
                          </p:cTn>
                        </p:par>
                        <p:par>
                          <p:cTn id="258" fill="hold">
                            <p:stCondLst>
                              <p:cond delay="1500"/>
                            </p:stCondLst>
                            <p:childTnLst>
                              <p:par>
                                <p:cTn id="259" presetID="18" presetClass="entr" presetSubtype="6" fill="hold" nodeType="afterEffect">
                                  <p:stCondLst>
                                    <p:cond delay="0"/>
                                  </p:stCondLst>
                                  <p:childTnLst>
                                    <p:set>
                                      <p:cBhvr>
                                        <p:cTn id="260" dur="1" fill="hold">
                                          <p:stCondLst>
                                            <p:cond delay="0"/>
                                          </p:stCondLst>
                                        </p:cTn>
                                        <p:tgtEl>
                                          <p:spTgt spid="66618"/>
                                        </p:tgtEl>
                                        <p:attrNameLst>
                                          <p:attrName>style.visibility</p:attrName>
                                        </p:attrNameLst>
                                      </p:cBhvr>
                                      <p:to>
                                        <p:strVal val="visible"/>
                                      </p:to>
                                    </p:set>
                                    <p:animEffect transition="in" filter="strips(downRight)">
                                      <p:cBhvr>
                                        <p:cTn id="261" dur="500"/>
                                        <p:tgtEl>
                                          <p:spTgt spid="66618"/>
                                        </p:tgtEl>
                                      </p:cBhvr>
                                    </p:animEffect>
                                  </p:childTnLst>
                                </p:cTn>
                              </p:par>
                            </p:childTnLst>
                          </p:cTn>
                        </p:par>
                      </p:childTnLst>
                    </p:cTn>
                  </p:par>
                  <p:par>
                    <p:cTn id="262" fill="hold">
                      <p:stCondLst>
                        <p:cond delay="indefinite"/>
                      </p:stCondLst>
                      <p:childTnLst>
                        <p:par>
                          <p:cTn id="263" fill="hold">
                            <p:stCondLst>
                              <p:cond delay="0"/>
                            </p:stCondLst>
                            <p:childTnLst>
                              <p:par>
                                <p:cTn id="264" presetID="3" presetClass="entr" presetSubtype="10" fill="hold" grpId="0" nodeType="clickEffect">
                                  <p:stCondLst>
                                    <p:cond delay="0"/>
                                  </p:stCondLst>
                                  <p:childTnLst>
                                    <p:set>
                                      <p:cBhvr>
                                        <p:cTn id="265" dur="1" fill="hold">
                                          <p:stCondLst>
                                            <p:cond delay="0"/>
                                          </p:stCondLst>
                                        </p:cTn>
                                        <p:tgtEl>
                                          <p:spTgt spid="66582"/>
                                        </p:tgtEl>
                                        <p:attrNameLst>
                                          <p:attrName>style.visibility</p:attrName>
                                        </p:attrNameLst>
                                      </p:cBhvr>
                                      <p:to>
                                        <p:strVal val="visible"/>
                                      </p:to>
                                    </p:set>
                                    <p:animEffect transition="in" filter="blinds(horizontal)">
                                      <p:cBhvr>
                                        <p:cTn id="266" dur="500"/>
                                        <p:tgtEl>
                                          <p:spTgt spid="66582"/>
                                        </p:tgtEl>
                                      </p:cBhvr>
                                    </p:animEffect>
                                  </p:childTnLst>
                                </p:cTn>
                              </p:par>
                            </p:childTnLst>
                          </p:cTn>
                        </p:par>
                        <p:par>
                          <p:cTn id="267" fill="hold">
                            <p:stCondLst>
                              <p:cond delay="500"/>
                            </p:stCondLst>
                            <p:childTnLst>
                              <p:par>
                                <p:cTn id="268" presetID="18" presetClass="entr" presetSubtype="6" fill="hold" nodeType="afterEffect">
                                  <p:stCondLst>
                                    <p:cond delay="0"/>
                                  </p:stCondLst>
                                  <p:childTnLst>
                                    <p:set>
                                      <p:cBhvr>
                                        <p:cTn id="269" dur="1" fill="hold">
                                          <p:stCondLst>
                                            <p:cond delay="0"/>
                                          </p:stCondLst>
                                        </p:cTn>
                                        <p:tgtEl>
                                          <p:spTgt spid="66584"/>
                                        </p:tgtEl>
                                        <p:attrNameLst>
                                          <p:attrName>style.visibility</p:attrName>
                                        </p:attrNameLst>
                                      </p:cBhvr>
                                      <p:to>
                                        <p:strVal val="visible"/>
                                      </p:to>
                                    </p:set>
                                    <p:animEffect transition="in" filter="strips(downRight)">
                                      <p:cBhvr>
                                        <p:cTn id="270" dur="500"/>
                                        <p:tgtEl>
                                          <p:spTgt spid="66584"/>
                                        </p:tgtEl>
                                      </p:cBhvr>
                                    </p:animEffect>
                                  </p:childTnLst>
                                </p:cTn>
                              </p:par>
                            </p:childTnLst>
                          </p:cTn>
                        </p:par>
                        <p:par>
                          <p:cTn id="271" fill="hold">
                            <p:stCondLst>
                              <p:cond delay="1000"/>
                            </p:stCondLst>
                            <p:childTnLst>
                              <p:par>
                                <p:cTn id="272" presetID="3" presetClass="entr" presetSubtype="10" fill="hold" grpId="0" nodeType="afterEffect">
                                  <p:stCondLst>
                                    <p:cond delay="0"/>
                                  </p:stCondLst>
                                  <p:childTnLst>
                                    <p:set>
                                      <p:cBhvr>
                                        <p:cTn id="273" dur="1" fill="hold">
                                          <p:stCondLst>
                                            <p:cond delay="0"/>
                                          </p:stCondLst>
                                        </p:cTn>
                                        <p:tgtEl>
                                          <p:spTgt spid="66585"/>
                                        </p:tgtEl>
                                        <p:attrNameLst>
                                          <p:attrName>style.visibility</p:attrName>
                                        </p:attrNameLst>
                                      </p:cBhvr>
                                      <p:to>
                                        <p:strVal val="visible"/>
                                      </p:to>
                                    </p:set>
                                    <p:animEffect transition="in" filter="blinds(horizontal)">
                                      <p:cBhvr>
                                        <p:cTn id="274" dur="500"/>
                                        <p:tgtEl>
                                          <p:spTgt spid="66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9" grpId="0"/>
      <p:bldP spid="66570" grpId="0"/>
      <p:bldP spid="66571" grpId="0"/>
      <p:bldP spid="66572" grpId="0" animBg="1"/>
      <p:bldP spid="66573" grpId="0" animBg="1"/>
      <p:bldP spid="66581" grpId="0"/>
      <p:bldP spid="66582" grpId="0" animBg="1"/>
      <p:bldP spid="66585" grpId="0"/>
      <p:bldP spid="66586" grpId="0" animBg="1"/>
      <p:bldP spid="66596" grpId="0" animBg="1"/>
      <p:bldP spid="66603" grpId="0" animBg="1"/>
      <p:bldP spid="66611" grpId="0"/>
      <p:bldP spid="66624" grpId="0" animBg="1"/>
      <p:bldP spid="66646" grpId="0"/>
      <p:bldP spid="66655" grpId="0"/>
      <p:bldP spid="6665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3"/>
          <p:cNvSpPr>
            <a:spLocks noGrp="1"/>
          </p:cNvSpPr>
          <p:nvPr>
            <p:ph type="body" idx="4294967295"/>
          </p:nvPr>
        </p:nvSpPr>
        <p:spPr>
          <a:xfrm>
            <a:off x="250825" y="1054100"/>
            <a:ext cx="4822825" cy="5688013"/>
          </a:xfrm>
        </p:spPr>
        <p:txBody>
          <a:bodyPr vert="horz" wrap="square" lIns="91440" tIns="45720" rIns="91440" bIns="45720" anchor="t" anchorCtr="0"/>
          <a:p>
            <a:pPr eaLnBrk="1" hangingPunct="1">
              <a:lnSpc>
                <a:spcPct val="105000"/>
              </a:lnSpc>
              <a:buNone/>
            </a:pPr>
            <a:r>
              <a:rPr lang="en-US" altLang="zh-CN" sz="2000" dirty="0"/>
              <a:t>                 </a:t>
            </a:r>
            <a:r>
              <a:rPr lang="en-US" altLang="zh-CN" sz="2400" dirty="0"/>
              <a:t>LEA SI,DATA</a:t>
            </a:r>
            <a:endParaRPr lang="en-US" altLang="zh-CN" sz="2400" dirty="0"/>
          </a:p>
          <a:p>
            <a:pPr eaLnBrk="1" hangingPunct="1">
              <a:lnSpc>
                <a:spcPct val="105000"/>
              </a:lnSpc>
              <a:buNone/>
            </a:pPr>
            <a:r>
              <a:rPr lang="en-US" altLang="zh-CN" sz="2400" dirty="0"/>
              <a:t>               MOV CX,100</a:t>
            </a:r>
            <a:endParaRPr lang="en-US" altLang="zh-CN" sz="2400" dirty="0"/>
          </a:p>
          <a:p>
            <a:pPr eaLnBrk="1" hangingPunct="1">
              <a:lnSpc>
                <a:spcPct val="105000"/>
              </a:lnSpc>
              <a:buNone/>
            </a:pPr>
            <a:r>
              <a:rPr lang="en-US" altLang="zh-CN" sz="2400" dirty="0"/>
              <a:t>AGAIN : MOV DX,03FBH</a:t>
            </a:r>
            <a:endParaRPr lang="en-US" altLang="zh-CN" sz="2400" dirty="0"/>
          </a:p>
          <a:p>
            <a:pPr eaLnBrk="1" hangingPunct="1">
              <a:lnSpc>
                <a:spcPct val="105000"/>
              </a:lnSpc>
              <a:buNone/>
            </a:pPr>
            <a:r>
              <a:rPr lang="en-US" altLang="zh-CN" sz="2400" dirty="0">
                <a:solidFill>
                  <a:schemeClr val="tx1"/>
                </a:solidFill>
              </a:rPr>
              <a:t>WAITT</a:t>
            </a:r>
            <a:r>
              <a:rPr lang="zh-CN" altLang="en-US" sz="2400" dirty="0">
                <a:solidFill>
                  <a:schemeClr val="tx1"/>
                </a:solidFill>
              </a:rPr>
              <a:t>：</a:t>
            </a:r>
            <a:r>
              <a:rPr lang="en-US" altLang="zh-CN" sz="2400" dirty="0">
                <a:solidFill>
                  <a:schemeClr val="tx1"/>
                </a:solidFill>
              </a:rPr>
              <a:t>IN AL,DX</a:t>
            </a:r>
            <a:endParaRPr lang="en-US" altLang="zh-CN" sz="2400" dirty="0">
              <a:solidFill>
                <a:schemeClr val="tx1"/>
              </a:solidFill>
            </a:endParaRPr>
          </a:p>
          <a:p>
            <a:pPr eaLnBrk="1" hangingPunct="1">
              <a:lnSpc>
                <a:spcPct val="105000"/>
              </a:lnSpc>
              <a:buNone/>
            </a:pPr>
            <a:r>
              <a:rPr lang="en-US" altLang="zh-CN" sz="2400" dirty="0">
                <a:solidFill>
                  <a:schemeClr val="tx1"/>
                </a:solidFill>
              </a:rPr>
              <a:t>               TEST AL,20H</a:t>
            </a:r>
            <a:endParaRPr lang="en-US" altLang="zh-CN" sz="2400" dirty="0">
              <a:solidFill>
                <a:schemeClr val="tx1"/>
              </a:solidFill>
            </a:endParaRPr>
          </a:p>
          <a:p>
            <a:pPr eaLnBrk="1" hangingPunct="1">
              <a:lnSpc>
                <a:spcPct val="105000"/>
              </a:lnSpc>
              <a:buNone/>
            </a:pPr>
            <a:r>
              <a:rPr lang="en-US" altLang="zh-CN" sz="2400" dirty="0">
                <a:solidFill>
                  <a:schemeClr val="tx1"/>
                </a:solidFill>
              </a:rPr>
              <a:t>               JNZ   WAITT</a:t>
            </a:r>
            <a:endParaRPr lang="en-US" altLang="zh-CN" sz="2400" dirty="0">
              <a:solidFill>
                <a:schemeClr val="tx1"/>
              </a:solidFill>
            </a:endParaRPr>
          </a:p>
          <a:p>
            <a:pPr eaLnBrk="1" hangingPunct="1">
              <a:lnSpc>
                <a:spcPct val="105000"/>
              </a:lnSpc>
              <a:buNone/>
            </a:pPr>
            <a:r>
              <a:rPr lang="en-US" altLang="zh-CN" sz="2400" dirty="0"/>
              <a:t>               MOV DX,03F8H</a:t>
            </a:r>
            <a:endParaRPr lang="en-US" altLang="zh-CN" sz="2400" dirty="0"/>
          </a:p>
          <a:p>
            <a:pPr eaLnBrk="1" hangingPunct="1">
              <a:lnSpc>
                <a:spcPct val="105000"/>
              </a:lnSpc>
              <a:buNone/>
            </a:pPr>
            <a:r>
              <a:rPr lang="en-US" altLang="zh-CN" sz="2400" dirty="0"/>
              <a:t>               </a:t>
            </a:r>
            <a:r>
              <a:rPr lang="en-US" altLang="zh-CN" sz="2400" dirty="0">
                <a:solidFill>
                  <a:schemeClr val="hlink"/>
                </a:solidFill>
              </a:rPr>
              <a:t>MOV AL</a:t>
            </a:r>
            <a:r>
              <a:rPr lang="zh-CN" altLang="en-US" sz="2400" dirty="0">
                <a:solidFill>
                  <a:schemeClr val="hlink"/>
                </a:solidFill>
              </a:rPr>
              <a:t>，</a:t>
            </a:r>
            <a:r>
              <a:rPr lang="en-US" altLang="zh-CN" sz="2400" dirty="0">
                <a:solidFill>
                  <a:schemeClr val="hlink"/>
                </a:solidFill>
              </a:rPr>
              <a:t>[SI]</a:t>
            </a:r>
            <a:endParaRPr lang="en-US" altLang="zh-CN" sz="2400" dirty="0">
              <a:solidFill>
                <a:schemeClr val="hlink"/>
              </a:solidFill>
            </a:endParaRPr>
          </a:p>
          <a:p>
            <a:pPr eaLnBrk="1" hangingPunct="1">
              <a:lnSpc>
                <a:spcPct val="105000"/>
              </a:lnSpc>
              <a:buNone/>
            </a:pPr>
            <a:r>
              <a:rPr lang="en-US" altLang="zh-CN" sz="2400" dirty="0">
                <a:solidFill>
                  <a:schemeClr val="hlink"/>
                </a:solidFill>
              </a:rPr>
              <a:t>               OUT DX</a:t>
            </a:r>
            <a:r>
              <a:rPr lang="zh-CN" altLang="en-US" sz="2400" dirty="0">
                <a:solidFill>
                  <a:schemeClr val="hlink"/>
                </a:solidFill>
              </a:rPr>
              <a:t>，</a:t>
            </a:r>
            <a:r>
              <a:rPr lang="en-US" altLang="zh-CN" sz="2400" dirty="0">
                <a:solidFill>
                  <a:schemeClr val="hlink"/>
                </a:solidFill>
              </a:rPr>
              <a:t>AL</a:t>
            </a:r>
            <a:endParaRPr lang="en-US" altLang="zh-CN" sz="2400" dirty="0">
              <a:solidFill>
                <a:schemeClr val="hlink"/>
              </a:solidFill>
            </a:endParaRPr>
          </a:p>
          <a:p>
            <a:pPr eaLnBrk="1" hangingPunct="1">
              <a:lnSpc>
                <a:spcPct val="105000"/>
              </a:lnSpc>
              <a:buNone/>
            </a:pPr>
            <a:r>
              <a:rPr lang="en-US" altLang="zh-CN" sz="2400" dirty="0"/>
              <a:t>               INC SI</a:t>
            </a:r>
            <a:endParaRPr lang="en-US" altLang="zh-CN" sz="2400" dirty="0"/>
          </a:p>
          <a:p>
            <a:pPr eaLnBrk="1" hangingPunct="1">
              <a:lnSpc>
                <a:spcPct val="105000"/>
              </a:lnSpc>
              <a:buNone/>
            </a:pPr>
            <a:r>
              <a:rPr lang="en-US" altLang="zh-CN" sz="2400" dirty="0"/>
              <a:t>               LOOP  AGAIN</a:t>
            </a:r>
            <a:endParaRPr lang="en-US" altLang="zh-CN" sz="2400" dirty="0"/>
          </a:p>
          <a:p>
            <a:pPr eaLnBrk="1" hangingPunct="1">
              <a:lnSpc>
                <a:spcPct val="105000"/>
              </a:lnSpc>
              <a:buNone/>
            </a:pPr>
            <a:r>
              <a:rPr lang="en-US" altLang="zh-CN" sz="2400" dirty="0"/>
              <a:t>               HLT</a:t>
            </a:r>
            <a:endParaRPr lang="en-US" altLang="zh-CN" sz="2400" dirty="0"/>
          </a:p>
        </p:txBody>
      </p:sp>
      <p:sp>
        <p:nvSpPr>
          <p:cNvPr id="67587" name="Text Box 7"/>
          <p:cNvSpPr txBox="1"/>
          <p:nvPr/>
        </p:nvSpPr>
        <p:spPr>
          <a:xfrm>
            <a:off x="6300788" y="1247775"/>
            <a:ext cx="2087562" cy="422275"/>
          </a:xfrm>
          <a:prstGeom prst="rect">
            <a:avLst/>
          </a:prstGeom>
          <a:solidFill>
            <a:srgbClr val="339966"/>
          </a:solidFill>
          <a:ln w="25400" cap="sq" cmpd="sng">
            <a:solidFill>
              <a:srgbClr val="339966"/>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FFFFFF"/>
                </a:solidFill>
                <a:latin typeface="宋体" panose="02010600030101010101" pitchFamily="2" charset="-122"/>
                <a:ea typeface="楷体_GB2312"/>
              </a:rPr>
              <a:t>    </a:t>
            </a:r>
            <a:r>
              <a:rPr lang="zh-CN" altLang="en-US" sz="2000" dirty="0">
                <a:solidFill>
                  <a:srgbClr val="FFFFFF"/>
                </a:solidFill>
                <a:latin typeface="宋体" panose="02010600030101010101" pitchFamily="2" charset="-122"/>
                <a:ea typeface="楷体_GB2312"/>
              </a:rPr>
              <a:t>读状态</a:t>
            </a:r>
            <a:endParaRPr lang="zh-CN" altLang="en-US" sz="2000" dirty="0">
              <a:solidFill>
                <a:srgbClr val="FFFFFF"/>
              </a:solidFill>
              <a:latin typeface="宋体" panose="02010600030101010101" pitchFamily="2" charset="-122"/>
              <a:ea typeface="楷体_GB2312"/>
            </a:endParaRPr>
          </a:p>
        </p:txBody>
      </p:sp>
      <p:sp>
        <p:nvSpPr>
          <p:cNvPr id="67588" name="Text Box 8"/>
          <p:cNvSpPr txBox="1"/>
          <p:nvPr/>
        </p:nvSpPr>
        <p:spPr>
          <a:xfrm>
            <a:off x="6300788" y="3343275"/>
            <a:ext cx="2087562" cy="422275"/>
          </a:xfrm>
          <a:prstGeom prst="rect">
            <a:avLst/>
          </a:prstGeom>
          <a:solidFill>
            <a:srgbClr val="339966"/>
          </a:solidFill>
          <a:ln w="25400" cap="sq" cmpd="sng">
            <a:solidFill>
              <a:srgbClr val="339966"/>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FFFFFF"/>
                </a:solidFill>
                <a:latin typeface="Times New Roman" panose="02020603050405020304" pitchFamily="18" charset="0"/>
                <a:ea typeface="楷体_GB2312"/>
              </a:rPr>
              <a:t> </a:t>
            </a:r>
            <a:r>
              <a:rPr lang="zh-CN" altLang="en-US" sz="2000" dirty="0">
                <a:solidFill>
                  <a:srgbClr val="FFFFFF"/>
                </a:solidFill>
                <a:latin typeface="Times New Roman" panose="02020603050405020304" pitchFamily="18" charset="0"/>
                <a:ea typeface="楷体_GB2312"/>
              </a:rPr>
              <a:t>进行一次传送</a:t>
            </a:r>
            <a:endParaRPr lang="zh-CN" altLang="en-US" sz="2000" dirty="0">
              <a:solidFill>
                <a:srgbClr val="FFFFFF"/>
              </a:solidFill>
              <a:latin typeface="Times New Roman" panose="02020603050405020304" pitchFamily="18" charset="0"/>
              <a:ea typeface="楷体_GB2312"/>
            </a:endParaRPr>
          </a:p>
        </p:txBody>
      </p:sp>
      <p:sp>
        <p:nvSpPr>
          <p:cNvPr id="67589" name="AutoShape 9"/>
          <p:cNvSpPr/>
          <p:nvPr/>
        </p:nvSpPr>
        <p:spPr>
          <a:xfrm>
            <a:off x="6156325" y="2119313"/>
            <a:ext cx="2339975" cy="719137"/>
          </a:xfrm>
          <a:prstGeom prst="flowChartDecision">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67590" name="Text Box 10"/>
          <p:cNvSpPr txBox="1"/>
          <p:nvPr/>
        </p:nvSpPr>
        <p:spPr>
          <a:xfrm>
            <a:off x="6732588" y="2238375"/>
            <a:ext cx="1295400"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b="0" dirty="0">
                <a:solidFill>
                  <a:srgbClr val="FFFFFF"/>
                </a:solidFill>
                <a:latin typeface="Times New Roman" panose="02020603050405020304" pitchFamily="18" charset="0"/>
                <a:ea typeface="隶书" panose="02010509060101010101" pitchFamily="49" charset="-122"/>
              </a:rPr>
              <a:t>Bit5=1?</a:t>
            </a:r>
            <a:endParaRPr lang="en-US" altLang="zh-CN" sz="2000" b="0" dirty="0">
              <a:solidFill>
                <a:srgbClr val="FFFFFF"/>
              </a:solidFill>
              <a:latin typeface="Times New Roman" panose="02020603050405020304" pitchFamily="18" charset="0"/>
              <a:ea typeface="隶书" panose="02010509060101010101" pitchFamily="49" charset="-122"/>
            </a:endParaRPr>
          </a:p>
        </p:txBody>
      </p:sp>
      <p:sp>
        <p:nvSpPr>
          <p:cNvPr id="67591" name="AutoShape 12"/>
          <p:cNvSpPr/>
          <p:nvPr/>
        </p:nvSpPr>
        <p:spPr>
          <a:xfrm>
            <a:off x="6167438" y="5130800"/>
            <a:ext cx="2339975" cy="719138"/>
          </a:xfrm>
          <a:prstGeom prst="flowChartDecision">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67592" name="Text Box 13"/>
          <p:cNvSpPr txBox="1"/>
          <p:nvPr/>
        </p:nvSpPr>
        <p:spPr>
          <a:xfrm>
            <a:off x="6677025" y="5264150"/>
            <a:ext cx="1711325"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000" dirty="0">
                <a:solidFill>
                  <a:srgbClr val="FFFFFF"/>
                </a:solidFill>
                <a:latin typeface="宋体" panose="02010600030101010101" pitchFamily="2" charset="-122"/>
                <a:ea typeface="楷体_GB2312"/>
              </a:rPr>
              <a:t>传送完否</a:t>
            </a:r>
            <a:r>
              <a:rPr lang="en-US" altLang="zh-CN" sz="2000" dirty="0">
                <a:solidFill>
                  <a:srgbClr val="FFFFFF"/>
                </a:solidFill>
                <a:latin typeface="宋体" panose="02010600030101010101" pitchFamily="2" charset="-122"/>
                <a:ea typeface="楷体_GB2312"/>
              </a:rPr>
              <a:t>?</a:t>
            </a:r>
            <a:endParaRPr lang="en-US" altLang="zh-CN" sz="2000" dirty="0">
              <a:solidFill>
                <a:srgbClr val="FFFFFF"/>
              </a:solidFill>
              <a:latin typeface="宋体" panose="02010600030101010101" pitchFamily="2" charset="-122"/>
              <a:ea typeface="楷体_GB2312"/>
            </a:endParaRPr>
          </a:p>
        </p:txBody>
      </p:sp>
      <p:sp>
        <p:nvSpPr>
          <p:cNvPr id="67593" name="Text Box 14"/>
          <p:cNvSpPr txBox="1"/>
          <p:nvPr/>
        </p:nvSpPr>
        <p:spPr>
          <a:xfrm>
            <a:off x="6300788" y="4222750"/>
            <a:ext cx="2087562" cy="422275"/>
          </a:xfrm>
          <a:prstGeom prst="rect">
            <a:avLst/>
          </a:prstGeom>
          <a:solidFill>
            <a:srgbClr val="339966"/>
          </a:solidFill>
          <a:ln w="25400" cap="sq" cmpd="sng">
            <a:solidFill>
              <a:srgbClr val="339966"/>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FFFFFF"/>
                </a:solidFill>
                <a:latin typeface="宋体" panose="02010600030101010101" pitchFamily="2" charset="-122"/>
                <a:ea typeface="楷体_GB2312"/>
              </a:rPr>
              <a:t> </a:t>
            </a:r>
            <a:r>
              <a:rPr lang="zh-CN" altLang="en-US" sz="2000" dirty="0">
                <a:solidFill>
                  <a:srgbClr val="FFFFFF"/>
                </a:solidFill>
                <a:latin typeface="宋体" panose="02010600030101010101" pitchFamily="2" charset="-122"/>
                <a:ea typeface="楷体_GB2312"/>
              </a:rPr>
              <a:t>修改地址指针</a:t>
            </a:r>
            <a:endParaRPr lang="zh-CN" altLang="en-US" sz="2000" dirty="0">
              <a:solidFill>
                <a:srgbClr val="FFFFFF"/>
              </a:solidFill>
              <a:latin typeface="宋体" panose="02010600030101010101" pitchFamily="2" charset="-122"/>
              <a:ea typeface="楷体_GB2312"/>
            </a:endParaRPr>
          </a:p>
        </p:txBody>
      </p:sp>
      <p:sp>
        <p:nvSpPr>
          <p:cNvPr id="67594" name="AutoShape 15"/>
          <p:cNvSpPr/>
          <p:nvPr/>
        </p:nvSpPr>
        <p:spPr>
          <a:xfrm>
            <a:off x="6300788" y="219075"/>
            <a:ext cx="2087562" cy="503238"/>
          </a:xfrm>
          <a:prstGeom prst="flowChartAlternateProcess">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67595" name="Text Box 6"/>
          <p:cNvSpPr txBox="1"/>
          <p:nvPr/>
        </p:nvSpPr>
        <p:spPr>
          <a:xfrm>
            <a:off x="6727825" y="252413"/>
            <a:ext cx="1368425"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FFFFFF"/>
                </a:solidFill>
                <a:latin typeface="宋体" panose="02010600030101010101" pitchFamily="2" charset="-122"/>
                <a:ea typeface="楷体_GB2312"/>
              </a:rPr>
              <a:t> </a:t>
            </a:r>
            <a:r>
              <a:rPr lang="zh-CN" altLang="en-US" sz="2000" dirty="0">
                <a:solidFill>
                  <a:srgbClr val="FFFFFF"/>
                </a:solidFill>
                <a:latin typeface="宋体" panose="02010600030101010101" pitchFamily="2" charset="-122"/>
                <a:ea typeface="楷体_GB2312"/>
              </a:rPr>
              <a:t>初始化</a:t>
            </a:r>
            <a:endParaRPr lang="zh-CN" altLang="en-US" sz="2000" dirty="0">
              <a:solidFill>
                <a:srgbClr val="FFFFFF"/>
              </a:solidFill>
              <a:latin typeface="宋体" panose="02010600030101010101" pitchFamily="2" charset="-122"/>
              <a:ea typeface="楷体_GB2312"/>
            </a:endParaRPr>
          </a:p>
        </p:txBody>
      </p:sp>
      <p:sp>
        <p:nvSpPr>
          <p:cNvPr id="67596" name="Line 16"/>
          <p:cNvSpPr/>
          <p:nvPr/>
        </p:nvSpPr>
        <p:spPr>
          <a:xfrm>
            <a:off x="7334250" y="735013"/>
            <a:ext cx="0" cy="503237"/>
          </a:xfrm>
          <a:prstGeom prst="line">
            <a:avLst/>
          </a:prstGeom>
          <a:ln w="25400" cap="sq" cmpd="sng">
            <a:solidFill>
              <a:srgbClr val="FF6600"/>
            </a:solidFill>
            <a:prstDash val="solid"/>
            <a:bevel/>
            <a:headEnd type="none" w="med" len="med"/>
            <a:tailEnd type="triangle" w="lg" len="lg"/>
          </a:ln>
        </p:spPr>
      </p:sp>
      <p:sp>
        <p:nvSpPr>
          <p:cNvPr id="67597" name="Line 17"/>
          <p:cNvSpPr/>
          <p:nvPr/>
        </p:nvSpPr>
        <p:spPr>
          <a:xfrm>
            <a:off x="7329488" y="1657350"/>
            <a:ext cx="0" cy="468313"/>
          </a:xfrm>
          <a:prstGeom prst="line">
            <a:avLst/>
          </a:prstGeom>
          <a:ln w="25400" cap="sq" cmpd="sng">
            <a:solidFill>
              <a:srgbClr val="FF6600"/>
            </a:solidFill>
            <a:prstDash val="solid"/>
            <a:bevel/>
            <a:headEnd type="none" w="med" len="med"/>
            <a:tailEnd type="triangle" w="lg" len="lg"/>
          </a:ln>
        </p:spPr>
      </p:sp>
      <p:sp>
        <p:nvSpPr>
          <p:cNvPr id="67598" name="Line 18"/>
          <p:cNvSpPr/>
          <p:nvPr/>
        </p:nvSpPr>
        <p:spPr>
          <a:xfrm>
            <a:off x="7319963" y="2832100"/>
            <a:ext cx="0" cy="503238"/>
          </a:xfrm>
          <a:prstGeom prst="line">
            <a:avLst/>
          </a:prstGeom>
          <a:ln w="25400" cap="sq" cmpd="sng">
            <a:solidFill>
              <a:srgbClr val="FF6600"/>
            </a:solidFill>
            <a:prstDash val="solid"/>
            <a:bevel/>
            <a:headEnd type="none" w="med" len="med"/>
            <a:tailEnd type="triangle" w="lg" len="lg"/>
          </a:ln>
        </p:spPr>
      </p:sp>
      <p:sp>
        <p:nvSpPr>
          <p:cNvPr id="67599" name="Line 21"/>
          <p:cNvSpPr/>
          <p:nvPr/>
        </p:nvSpPr>
        <p:spPr>
          <a:xfrm flipH="1">
            <a:off x="5278438" y="5487988"/>
            <a:ext cx="900112" cy="0"/>
          </a:xfrm>
          <a:prstGeom prst="line">
            <a:avLst/>
          </a:prstGeom>
          <a:ln w="25400" cap="sq" cmpd="sng">
            <a:solidFill>
              <a:srgbClr val="FF6600"/>
            </a:solidFill>
            <a:prstDash val="solid"/>
            <a:bevel/>
            <a:headEnd type="none" w="med" len="med"/>
            <a:tailEnd type="none" w="med" len="med"/>
          </a:ln>
        </p:spPr>
      </p:sp>
      <p:sp>
        <p:nvSpPr>
          <p:cNvPr id="67600" name="Line 22"/>
          <p:cNvSpPr/>
          <p:nvPr/>
        </p:nvSpPr>
        <p:spPr>
          <a:xfrm flipH="1" flipV="1">
            <a:off x="5264150" y="974725"/>
            <a:ext cx="0" cy="1482725"/>
          </a:xfrm>
          <a:prstGeom prst="line">
            <a:avLst/>
          </a:prstGeom>
          <a:ln w="25400" cap="sq" cmpd="sng">
            <a:solidFill>
              <a:srgbClr val="FF6600"/>
            </a:solidFill>
            <a:prstDash val="solid"/>
            <a:bevel/>
            <a:headEnd type="none" w="med" len="med"/>
            <a:tailEnd type="none" w="med" len="med"/>
          </a:ln>
        </p:spPr>
      </p:sp>
      <p:sp>
        <p:nvSpPr>
          <p:cNvPr id="67601" name="Line 23"/>
          <p:cNvSpPr/>
          <p:nvPr/>
        </p:nvSpPr>
        <p:spPr>
          <a:xfrm>
            <a:off x="5278438" y="968375"/>
            <a:ext cx="2016125" cy="0"/>
          </a:xfrm>
          <a:prstGeom prst="line">
            <a:avLst/>
          </a:prstGeom>
          <a:ln w="25400" cap="sq" cmpd="sng">
            <a:solidFill>
              <a:srgbClr val="FF6600"/>
            </a:solidFill>
            <a:prstDash val="solid"/>
            <a:bevel/>
            <a:headEnd type="none" w="med" len="med"/>
            <a:tailEnd type="triangle" w="lg" len="lg"/>
          </a:ln>
        </p:spPr>
      </p:sp>
      <p:sp>
        <p:nvSpPr>
          <p:cNvPr id="67602" name="Line 24"/>
          <p:cNvSpPr/>
          <p:nvPr/>
        </p:nvSpPr>
        <p:spPr>
          <a:xfrm flipH="1">
            <a:off x="5292725" y="2476500"/>
            <a:ext cx="900113" cy="0"/>
          </a:xfrm>
          <a:prstGeom prst="line">
            <a:avLst/>
          </a:prstGeom>
          <a:ln w="25400" cap="sq" cmpd="sng">
            <a:solidFill>
              <a:srgbClr val="FF6600"/>
            </a:solidFill>
            <a:prstDash val="solid"/>
            <a:bevel/>
            <a:headEnd type="none" w="med" len="med"/>
            <a:tailEnd type="none" w="med" len="med"/>
          </a:ln>
        </p:spPr>
      </p:sp>
      <p:sp>
        <p:nvSpPr>
          <p:cNvPr id="67603" name="Text Box 25"/>
          <p:cNvSpPr txBox="1"/>
          <p:nvPr/>
        </p:nvSpPr>
        <p:spPr>
          <a:xfrm>
            <a:off x="5580063" y="2060575"/>
            <a:ext cx="431800"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隶书" panose="02010509060101010101" pitchFamily="49" charset="-122"/>
              </a:rPr>
              <a:t>Y</a:t>
            </a:r>
            <a:endParaRPr lang="en-US" altLang="zh-CN" sz="2000" dirty="0">
              <a:solidFill>
                <a:srgbClr val="000000"/>
              </a:solidFill>
              <a:latin typeface="Times New Roman" panose="02020603050405020304" pitchFamily="18" charset="0"/>
              <a:ea typeface="隶书" panose="02010509060101010101" pitchFamily="49" charset="-122"/>
            </a:endParaRPr>
          </a:p>
        </p:txBody>
      </p:sp>
      <p:sp>
        <p:nvSpPr>
          <p:cNvPr id="67604" name="Text Box 26"/>
          <p:cNvSpPr txBox="1"/>
          <p:nvPr/>
        </p:nvSpPr>
        <p:spPr>
          <a:xfrm>
            <a:off x="7380288" y="2827338"/>
            <a:ext cx="431800"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隶书" panose="02010509060101010101" pitchFamily="49" charset="-122"/>
              </a:rPr>
              <a:t>N</a:t>
            </a:r>
            <a:endParaRPr lang="en-US" altLang="zh-CN" sz="2000" dirty="0">
              <a:solidFill>
                <a:srgbClr val="000000"/>
              </a:solidFill>
              <a:latin typeface="Times New Roman" panose="02020603050405020304" pitchFamily="18" charset="0"/>
              <a:ea typeface="隶书" panose="02010509060101010101" pitchFamily="49" charset="-122"/>
            </a:endParaRPr>
          </a:p>
        </p:txBody>
      </p:sp>
      <p:sp>
        <p:nvSpPr>
          <p:cNvPr id="67605" name="Text Box 27"/>
          <p:cNvSpPr txBox="1"/>
          <p:nvPr/>
        </p:nvSpPr>
        <p:spPr>
          <a:xfrm>
            <a:off x="5637213" y="5013325"/>
            <a:ext cx="431800"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隶书" panose="02010509060101010101" pitchFamily="49" charset="-122"/>
              </a:rPr>
              <a:t>N</a:t>
            </a:r>
            <a:endParaRPr lang="en-US" altLang="zh-CN" sz="2000" dirty="0">
              <a:solidFill>
                <a:srgbClr val="000000"/>
              </a:solidFill>
              <a:latin typeface="Times New Roman" panose="02020603050405020304" pitchFamily="18" charset="0"/>
              <a:ea typeface="隶书" panose="02010509060101010101" pitchFamily="49" charset="-122"/>
            </a:endParaRPr>
          </a:p>
        </p:txBody>
      </p:sp>
      <p:sp>
        <p:nvSpPr>
          <p:cNvPr id="67606" name="Text Box 28"/>
          <p:cNvSpPr txBox="1"/>
          <p:nvPr/>
        </p:nvSpPr>
        <p:spPr>
          <a:xfrm>
            <a:off x="7380288" y="5791200"/>
            <a:ext cx="431800"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000000"/>
                </a:solidFill>
                <a:latin typeface="Times New Roman" panose="02020603050405020304" pitchFamily="18" charset="0"/>
                <a:ea typeface="隶书" panose="02010509060101010101" pitchFamily="49" charset="-122"/>
              </a:rPr>
              <a:t>Y</a:t>
            </a:r>
            <a:endParaRPr lang="en-US" altLang="zh-CN" sz="2000" dirty="0">
              <a:solidFill>
                <a:srgbClr val="000000"/>
              </a:solidFill>
              <a:latin typeface="Times New Roman" panose="02020603050405020304" pitchFamily="18" charset="0"/>
              <a:ea typeface="隶书" panose="02010509060101010101" pitchFamily="49" charset="-122"/>
            </a:endParaRPr>
          </a:p>
        </p:txBody>
      </p:sp>
      <p:sp>
        <p:nvSpPr>
          <p:cNvPr id="67607" name="Line 31"/>
          <p:cNvSpPr/>
          <p:nvPr/>
        </p:nvSpPr>
        <p:spPr>
          <a:xfrm>
            <a:off x="7337425" y="3819525"/>
            <a:ext cx="0" cy="395288"/>
          </a:xfrm>
          <a:prstGeom prst="line">
            <a:avLst/>
          </a:prstGeom>
          <a:ln w="25400" cap="sq" cmpd="sng">
            <a:solidFill>
              <a:srgbClr val="FF6600"/>
            </a:solidFill>
            <a:prstDash val="solid"/>
            <a:bevel/>
            <a:headEnd type="none" w="med" len="med"/>
            <a:tailEnd type="triangle" w="lg" len="lg"/>
          </a:ln>
        </p:spPr>
      </p:sp>
      <p:sp>
        <p:nvSpPr>
          <p:cNvPr id="67608" name="Line 32"/>
          <p:cNvSpPr/>
          <p:nvPr/>
        </p:nvSpPr>
        <p:spPr>
          <a:xfrm>
            <a:off x="7337425" y="4725988"/>
            <a:ext cx="0" cy="395287"/>
          </a:xfrm>
          <a:prstGeom prst="line">
            <a:avLst/>
          </a:prstGeom>
          <a:ln w="25400" cap="sq" cmpd="sng">
            <a:solidFill>
              <a:srgbClr val="FF6600"/>
            </a:solidFill>
            <a:prstDash val="solid"/>
            <a:bevel/>
            <a:headEnd type="none" w="med" len="med"/>
            <a:tailEnd type="triangle" w="lg" len="lg"/>
          </a:ln>
        </p:spPr>
      </p:sp>
      <p:sp>
        <p:nvSpPr>
          <p:cNvPr id="67609" name="Line 33"/>
          <p:cNvSpPr/>
          <p:nvPr/>
        </p:nvSpPr>
        <p:spPr>
          <a:xfrm>
            <a:off x="7337425" y="5872163"/>
            <a:ext cx="0" cy="395287"/>
          </a:xfrm>
          <a:prstGeom prst="line">
            <a:avLst/>
          </a:prstGeom>
          <a:ln w="25400" cap="sq" cmpd="sng">
            <a:solidFill>
              <a:srgbClr val="FF6600"/>
            </a:solidFill>
            <a:prstDash val="solid"/>
            <a:bevel/>
            <a:headEnd type="none" w="med" len="med"/>
            <a:tailEnd type="triangle" w="lg" len="lg"/>
          </a:ln>
        </p:spPr>
      </p:sp>
      <p:sp>
        <p:nvSpPr>
          <p:cNvPr id="67610" name="Text Box 34"/>
          <p:cNvSpPr txBox="1"/>
          <p:nvPr/>
        </p:nvSpPr>
        <p:spPr>
          <a:xfrm>
            <a:off x="6286500" y="6259513"/>
            <a:ext cx="2087563" cy="422275"/>
          </a:xfrm>
          <a:prstGeom prst="rect">
            <a:avLst/>
          </a:prstGeom>
          <a:solidFill>
            <a:srgbClr val="339966"/>
          </a:solidFill>
          <a:ln w="25400" cap="sq" cmpd="sng">
            <a:solidFill>
              <a:srgbClr val="339966"/>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000" dirty="0">
                <a:solidFill>
                  <a:srgbClr val="FFFFFF"/>
                </a:solidFill>
                <a:latin typeface="宋体" panose="02010600030101010101" pitchFamily="2" charset="-122"/>
                <a:ea typeface="楷体_GB2312"/>
              </a:rPr>
              <a:t>     </a:t>
            </a:r>
            <a:r>
              <a:rPr lang="zh-CN" altLang="en-US" sz="2000" dirty="0">
                <a:solidFill>
                  <a:srgbClr val="FFFFFF"/>
                </a:solidFill>
                <a:latin typeface="宋体" panose="02010600030101010101" pitchFamily="2" charset="-122"/>
                <a:ea typeface="楷体_GB2312"/>
              </a:rPr>
              <a:t>结 束</a:t>
            </a:r>
            <a:endParaRPr lang="zh-CN" altLang="en-US" sz="2000" dirty="0">
              <a:solidFill>
                <a:srgbClr val="FFFFFF"/>
              </a:solidFill>
              <a:latin typeface="宋体" panose="02010600030101010101" pitchFamily="2" charset="-122"/>
              <a:ea typeface="楷体_GB2312"/>
            </a:endParaRPr>
          </a:p>
        </p:txBody>
      </p:sp>
      <p:sp>
        <p:nvSpPr>
          <p:cNvPr id="67611" name="Line 35"/>
          <p:cNvSpPr/>
          <p:nvPr/>
        </p:nvSpPr>
        <p:spPr>
          <a:xfrm flipH="1" flipV="1">
            <a:off x="5264150" y="965200"/>
            <a:ext cx="0" cy="4502150"/>
          </a:xfrm>
          <a:prstGeom prst="line">
            <a:avLst/>
          </a:prstGeom>
          <a:ln w="25400" cap="sq" cmpd="sng">
            <a:solidFill>
              <a:schemeClr val="tx1"/>
            </a:solidFill>
            <a:prstDash val="solid"/>
            <a:bevel/>
            <a:headEnd type="none" w="med" len="med"/>
            <a:tailEnd type="none" w="med" len="med"/>
          </a:ln>
        </p:spPr>
      </p:sp>
      <p:sp>
        <p:nvSpPr>
          <p:cNvPr id="67612" name="Line 36"/>
          <p:cNvSpPr/>
          <p:nvPr/>
        </p:nvSpPr>
        <p:spPr>
          <a:xfrm>
            <a:off x="5278438" y="966788"/>
            <a:ext cx="2016125" cy="0"/>
          </a:xfrm>
          <a:prstGeom prst="line">
            <a:avLst/>
          </a:prstGeom>
          <a:ln w="25400" cap="sq" cmpd="sng">
            <a:solidFill>
              <a:schemeClr val="tx1"/>
            </a:solidFill>
            <a:prstDash val="solid"/>
            <a:bevel/>
            <a:headEnd type="none" w="med" len="med"/>
            <a:tailEnd type="triangle" w="lg" len="lg"/>
          </a:ln>
        </p:spPr>
      </p:sp>
      <p:sp>
        <p:nvSpPr>
          <p:cNvPr id="67613" name="Text Box 37"/>
          <p:cNvSpPr txBox="1"/>
          <p:nvPr/>
        </p:nvSpPr>
        <p:spPr>
          <a:xfrm>
            <a:off x="323850" y="188913"/>
            <a:ext cx="2663825" cy="579437"/>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3200" dirty="0">
                <a:solidFill>
                  <a:srgbClr val="000000"/>
                </a:solidFill>
                <a:latin typeface="Times New Roman" panose="02020603050405020304" pitchFamily="18" charset="0"/>
                <a:ea typeface="楷体_GB2312"/>
              </a:rPr>
              <a:t>控制程序</a:t>
            </a:r>
            <a:endParaRPr lang="zh-CN" altLang="en-US" sz="3200" dirty="0">
              <a:solidFill>
                <a:srgbClr val="000000"/>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67613"/>
                                        </p:tgtEl>
                                        <p:attrNameLst>
                                          <p:attrName>style.visibility</p:attrName>
                                        </p:attrNameLst>
                                      </p:cBhvr>
                                      <p:to>
                                        <p:strVal val="visible"/>
                                      </p:to>
                                    </p:set>
                                    <p:anim calcmode="lin" valueType="num">
                                      <p:cBhvr>
                                        <p:cTn id="7" dur="1000" fill="hold"/>
                                        <p:tgtEl>
                                          <p:spTgt spid="67613"/>
                                        </p:tgtEl>
                                        <p:attrNameLst>
                                          <p:attrName>ppt_w</p:attrName>
                                        </p:attrNameLst>
                                      </p:cBhvr>
                                      <p:tavLst>
                                        <p:tav tm="0">
                                          <p:val>
                                            <p:strVal val="#ppt_w*0.70"/>
                                          </p:val>
                                        </p:tav>
                                        <p:tav tm="100000">
                                          <p:val>
                                            <p:strVal val="#ppt_w"/>
                                          </p:val>
                                        </p:tav>
                                      </p:tavLst>
                                    </p:anim>
                                    <p:anim calcmode="lin" valueType="num">
                                      <p:cBhvr>
                                        <p:cTn id="8" dur="1000" fill="hold"/>
                                        <p:tgtEl>
                                          <p:spTgt spid="67613"/>
                                        </p:tgtEl>
                                        <p:attrNameLst>
                                          <p:attrName>ppt_h</p:attrName>
                                        </p:attrNameLst>
                                      </p:cBhvr>
                                      <p:tavLst>
                                        <p:tav tm="0">
                                          <p:val>
                                            <p:strVal val="#ppt_h"/>
                                          </p:val>
                                        </p:tav>
                                        <p:tav tm="100000">
                                          <p:val>
                                            <p:strVal val="#ppt_h"/>
                                          </p:val>
                                        </p:tav>
                                      </p:tavLst>
                                    </p:anim>
                                    <p:animEffect transition="in" filter="fade">
                                      <p:cBhvr>
                                        <p:cTn id="9" dur="1000"/>
                                        <p:tgtEl>
                                          <p:spTgt spid="67613"/>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67594"/>
                                        </p:tgtEl>
                                        <p:attrNameLst>
                                          <p:attrName>style.visibility</p:attrName>
                                        </p:attrNameLst>
                                      </p:cBhvr>
                                      <p:to>
                                        <p:strVal val="visible"/>
                                      </p:to>
                                    </p:set>
                                    <p:animEffect transition="in" filter="blinds(horizontal)">
                                      <p:cBhvr>
                                        <p:cTn id="14" dur="500"/>
                                        <p:tgtEl>
                                          <p:spTgt spid="67594"/>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67595"/>
                                        </p:tgtEl>
                                        <p:attrNameLst>
                                          <p:attrName>style.visibility</p:attrName>
                                        </p:attrNameLst>
                                      </p:cBhvr>
                                      <p:to>
                                        <p:strVal val="visible"/>
                                      </p:to>
                                    </p:set>
                                    <p:animEffect transition="in" filter="blinds(horizontal)">
                                      <p:cBhvr>
                                        <p:cTn id="17" dur="500"/>
                                        <p:tgtEl>
                                          <p:spTgt spid="67595"/>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67596"/>
                                        </p:tgtEl>
                                        <p:attrNameLst>
                                          <p:attrName>style.visibility</p:attrName>
                                        </p:attrNameLst>
                                      </p:cBhvr>
                                      <p:to>
                                        <p:strVal val="visible"/>
                                      </p:to>
                                    </p:set>
                                    <p:animEffect transition="in" filter="wipe(up)">
                                      <p:cBhvr>
                                        <p:cTn id="21" dur="500"/>
                                        <p:tgtEl>
                                          <p:spTgt spid="67596"/>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67587"/>
                                        </p:tgtEl>
                                        <p:attrNameLst>
                                          <p:attrName>style.visibility</p:attrName>
                                        </p:attrNameLst>
                                      </p:cBhvr>
                                      <p:to>
                                        <p:strVal val="visible"/>
                                      </p:to>
                                    </p:set>
                                    <p:animEffect transition="in" filter="blinds(horizontal)">
                                      <p:cBhvr>
                                        <p:cTn id="26" dur="500"/>
                                        <p:tgtEl>
                                          <p:spTgt spid="67587"/>
                                        </p:tgtEl>
                                      </p:cBhvr>
                                    </p:animEffect>
                                  </p:childTnLst>
                                </p:cTn>
                              </p:par>
                            </p:childTnLst>
                          </p:cTn>
                        </p:par>
                        <p:par>
                          <p:cTn id="27" fill="hold">
                            <p:stCondLst>
                              <p:cond delay="500"/>
                            </p:stCondLst>
                            <p:childTnLst>
                              <p:par>
                                <p:cTn id="28" presetID="22" presetClass="entr" presetSubtype="1" fill="hold" nodeType="afterEffect">
                                  <p:stCondLst>
                                    <p:cond delay="0"/>
                                  </p:stCondLst>
                                  <p:childTnLst>
                                    <p:set>
                                      <p:cBhvr>
                                        <p:cTn id="29" dur="1" fill="hold">
                                          <p:stCondLst>
                                            <p:cond delay="0"/>
                                          </p:stCondLst>
                                        </p:cTn>
                                        <p:tgtEl>
                                          <p:spTgt spid="67597"/>
                                        </p:tgtEl>
                                        <p:attrNameLst>
                                          <p:attrName>style.visibility</p:attrName>
                                        </p:attrNameLst>
                                      </p:cBhvr>
                                      <p:to>
                                        <p:strVal val="visible"/>
                                      </p:to>
                                    </p:set>
                                    <p:animEffect transition="in" filter="wipe(up)">
                                      <p:cBhvr>
                                        <p:cTn id="30" dur="500"/>
                                        <p:tgtEl>
                                          <p:spTgt spid="67597"/>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67589"/>
                                        </p:tgtEl>
                                        <p:attrNameLst>
                                          <p:attrName>style.visibility</p:attrName>
                                        </p:attrNameLst>
                                      </p:cBhvr>
                                      <p:to>
                                        <p:strVal val="visible"/>
                                      </p:to>
                                    </p:set>
                                    <p:animEffect transition="in" filter="blinds(horizontal)">
                                      <p:cBhvr>
                                        <p:cTn id="35" dur="500"/>
                                        <p:tgtEl>
                                          <p:spTgt spid="67589"/>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67590"/>
                                        </p:tgtEl>
                                        <p:attrNameLst>
                                          <p:attrName>style.visibility</p:attrName>
                                        </p:attrNameLst>
                                      </p:cBhvr>
                                      <p:to>
                                        <p:strVal val="visible"/>
                                      </p:to>
                                    </p:set>
                                    <p:animEffect transition="in" filter="blinds(horizontal)">
                                      <p:cBhvr>
                                        <p:cTn id="38" dur="500"/>
                                        <p:tgtEl>
                                          <p:spTgt spid="67590"/>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67603"/>
                                        </p:tgtEl>
                                        <p:attrNameLst>
                                          <p:attrName>style.visibility</p:attrName>
                                        </p:attrNameLst>
                                      </p:cBhvr>
                                      <p:to>
                                        <p:strVal val="visible"/>
                                      </p:to>
                                    </p:set>
                                    <p:animEffect transition="in" filter="blinds(horizontal)">
                                      <p:cBhvr>
                                        <p:cTn id="43" dur="500"/>
                                        <p:tgtEl>
                                          <p:spTgt spid="67603"/>
                                        </p:tgtEl>
                                      </p:cBhvr>
                                    </p:animEffect>
                                  </p:childTnLst>
                                </p:cTn>
                              </p:par>
                            </p:childTnLst>
                          </p:cTn>
                        </p:par>
                        <p:par>
                          <p:cTn id="44" fill="hold">
                            <p:stCondLst>
                              <p:cond delay="500"/>
                            </p:stCondLst>
                            <p:childTnLst>
                              <p:par>
                                <p:cTn id="45" presetID="18" presetClass="entr" presetSubtype="12" fill="hold" nodeType="afterEffect">
                                  <p:stCondLst>
                                    <p:cond delay="0"/>
                                  </p:stCondLst>
                                  <p:childTnLst>
                                    <p:set>
                                      <p:cBhvr>
                                        <p:cTn id="46" dur="1" fill="hold">
                                          <p:stCondLst>
                                            <p:cond delay="0"/>
                                          </p:stCondLst>
                                        </p:cTn>
                                        <p:tgtEl>
                                          <p:spTgt spid="67602"/>
                                        </p:tgtEl>
                                        <p:attrNameLst>
                                          <p:attrName>style.visibility</p:attrName>
                                        </p:attrNameLst>
                                      </p:cBhvr>
                                      <p:to>
                                        <p:strVal val="visible"/>
                                      </p:to>
                                    </p:set>
                                    <p:animEffect transition="in" filter="strips(downLeft)">
                                      <p:cBhvr>
                                        <p:cTn id="47" dur="500"/>
                                        <p:tgtEl>
                                          <p:spTgt spid="67602"/>
                                        </p:tgtEl>
                                      </p:cBhvr>
                                    </p:animEffect>
                                  </p:childTnLst>
                                </p:cTn>
                              </p:par>
                            </p:childTnLst>
                          </p:cTn>
                        </p:par>
                        <p:par>
                          <p:cTn id="48" fill="hold">
                            <p:stCondLst>
                              <p:cond delay="1000"/>
                            </p:stCondLst>
                            <p:childTnLst>
                              <p:par>
                                <p:cTn id="49" presetID="18" presetClass="entr" presetSubtype="3" fill="hold" nodeType="afterEffect">
                                  <p:stCondLst>
                                    <p:cond delay="0"/>
                                  </p:stCondLst>
                                  <p:childTnLst>
                                    <p:set>
                                      <p:cBhvr>
                                        <p:cTn id="50" dur="1" fill="hold">
                                          <p:stCondLst>
                                            <p:cond delay="0"/>
                                          </p:stCondLst>
                                        </p:cTn>
                                        <p:tgtEl>
                                          <p:spTgt spid="67600"/>
                                        </p:tgtEl>
                                        <p:attrNameLst>
                                          <p:attrName>style.visibility</p:attrName>
                                        </p:attrNameLst>
                                      </p:cBhvr>
                                      <p:to>
                                        <p:strVal val="visible"/>
                                      </p:to>
                                    </p:set>
                                    <p:animEffect transition="in" filter="strips(upRight)">
                                      <p:cBhvr>
                                        <p:cTn id="51" dur="1000"/>
                                        <p:tgtEl>
                                          <p:spTgt spid="67600"/>
                                        </p:tgtEl>
                                      </p:cBhvr>
                                    </p:animEffect>
                                  </p:childTnLst>
                                </p:cTn>
                              </p:par>
                            </p:childTnLst>
                          </p:cTn>
                        </p:par>
                        <p:par>
                          <p:cTn id="52" fill="hold">
                            <p:stCondLst>
                              <p:cond delay="2000"/>
                            </p:stCondLst>
                            <p:childTnLst>
                              <p:par>
                                <p:cTn id="53" presetID="18" presetClass="entr" presetSubtype="3" fill="hold" nodeType="afterEffect">
                                  <p:stCondLst>
                                    <p:cond delay="0"/>
                                  </p:stCondLst>
                                  <p:childTnLst>
                                    <p:set>
                                      <p:cBhvr>
                                        <p:cTn id="54" dur="1" fill="hold">
                                          <p:stCondLst>
                                            <p:cond delay="0"/>
                                          </p:stCondLst>
                                        </p:cTn>
                                        <p:tgtEl>
                                          <p:spTgt spid="67601"/>
                                        </p:tgtEl>
                                        <p:attrNameLst>
                                          <p:attrName>style.visibility</p:attrName>
                                        </p:attrNameLst>
                                      </p:cBhvr>
                                      <p:to>
                                        <p:strVal val="visible"/>
                                      </p:to>
                                    </p:set>
                                    <p:animEffect transition="in" filter="strips(upRight)">
                                      <p:cBhvr>
                                        <p:cTn id="55" dur="1000"/>
                                        <p:tgtEl>
                                          <p:spTgt spid="67601"/>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67604"/>
                                        </p:tgtEl>
                                        <p:attrNameLst>
                                          <p:attrName>style.visibility</p:attrName>
                                        </p:attrNameLst>
                                      </p:cBhvr>
                                      <p:to>
                                        <p:strVal val="visible"/>
                                      </p:to>
                                    </p:set>
                                    <p:animEffect transition="in" filter="blinds(horizontal)">
                                      <p:cBhvr>
                                        <p:cTn id="60" dur="500"/>
                                        <p:tgtEl>
                                          <p:spTgt spid="67604"/>
                                        </p:tgtEl>
                                      </p:cBhvr>
                                    </p:animEffect>
                                  </p:childTnLst>
                                </p:cTn>
                              </p:par>
                            </p:childTnLst>
                          </p:cTn>
                        </p:par>
                        <p:par>
                          <p:cTn id="61" fill="hold">
                            <p:stCondLst>
                              <p:cond delay="500"/>
                            </p:stCondLst>
                            <p:childTnLst>
                              <p:par>
                                <p:cTn id="62" presetID="22" presetClass="entr" presetSubtype="1" fill="hold" nodeType="afterEffect">
                                  <p:stCondLst>
                                    <p:cond delay="0"/>
                                  </p:stCondLst>
                                  <p:childTnLst>
                                    <p:set>
                                      <p:cBhvr>
                                        <p:cTn id="63" dur="1" fill="hold">
                                          <p:stCondLst>
                                            <p:cond delay="0"/>
                                          </p:stCondLst>
                                        </p:cTn>
                                        <p:tgtEl>
                                          <p:spTgt spid="67598"/>
                                        </p:tgtEl>
                                        <p:attrNameLst>
                                          <p:attrName>style.visibility</p:attrName>
                                        </p:attrNameLst>
                                      </p:cBhvr>
                                      <p:to>
                                        <p:strVal val="visible"/>
                                      </p:to>
                                    </p:set>
                                    <p:animEffect transition="in" filter="wipe(up)">
                                      <p:cBhvr>
                                        <p:cTn id="64" dur="500"/>
                                        <p:tgtEl>
                                          <p:spTgt spid="67598"/>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67588"/>
                                        </p:tgtEl>
                                        <p:attrNameLst>
                                          <p:attrName>style.visibility</p:attrName>
                                        </p:attrNameLst>
                                      </p:cBhvr>
                                      <p:to>
                                        <p:strVal val="visible"/>
                                      </p:to>
                                    </p:set>
                                    <p:animEffect transition="in" filter="blinds(horizontal)">
                                      <p:cBhvr>
                                        <p:cTn id="69" dur="500"/>
                                        <p:tgtEl>
                                          <p:spTgt spid="67588"/>
                                        </p:tgtEl>
                                      </p:cBhvr>
                                    </p:animEffect>
                                  </p:childTnLst>
                                </p:cTn>
                              </p:par>
                            </p:childTnLst>
                          </p:cTn>
                        </p:par>
                        <p:par>
                          <p:cTn id="70" fill="hold">
                            <p:stCondLst>
                              <p:cond delay="500"/>
                            </p:stCondLst>
                            <p:childTnLst>
                              <p:par>
                                <p:cTn id="71" presetID="22" presetClass="entr" presetSubtype="1" fill="hold" nodeType="afterEffect">
                                  <p:stCondLst>
                                    <p:cond delay="0"/>
                                  </p:stCondLst>
                                  <p:childTnLst>
                                    <p:set>
                                      <p:cBhvr>
                                        <p:cTn id="72" dur="1" fill="hold">
                                          <p:stCondLst>
                                            <p:cond delay="0"/>
                                          </p:stCondLst>
                                        </p:cTn>
                                        <p:tgtEl>
                                          <p:spTgt spid="67607"/>
                                        </p:tgtEl>
                                        <p:attrNameLst>
                                          <p:attrName>style.visibility</p:attrName>
                                        </p:attrNameLst>
                                      </p:cBhvr>
                                      <p:to>
                                        <p:strVal val="visible"/>
                                      </p:to>
                                    </p:set>
                                    <p:animEffect transition="in" filter="wipe(up)">
                                      <p:cBhvr>
                                        <p:cTn id="73" dur="500"/>
                                        <p:tgtEl>
                                          <p:spTgt spid="67607"/>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67593"/>
                                        </p:tgtEl>
                                        <p:attrNameLst>
                                          <p:attrName>style.visibility</p:attrName>
                                        </p:attrNameLst>
                                      </p:cBhvr>
                                      <p:to>
                                        <p:strVal val="visible"/>
                                      </p:to>
                                    </p:set>
                                    <p:animEffect transition="in" filter="blinds(horizontal)">
                                      <p:cBhvr>
                                        <p:cTn id="78" dur="500"/>
                                        <p:tgtEl>
                                          <p:spTgt spid="67593"/>
                                        </p:tgtEl>
                                      </p:cBhvr>
                                    </p:animEffect>
                                  </p:childTnLst>
                                </p:cTn>
                              </p:par>
                            </p:childTnLst>
                          </p:cTn>
                        </p:par>
                        <p:par>
                          <p:cTn id="79" fill="hold">
                            <p:stCondLst>
                              <p:cond delay="500"/>
                            </p:stCondLst>
                            <p:childTnLst>
                              <p:par>
                                <p:cTn id="80" presetID="22" presetClass="entr" presetSubtype="1" fill="hold" nodeType="afterEffect">
                                  <p:stCondLst>
                                    <p:cond delay="0"/>
                                  </p:stCondLst>
                                  <p:childTnLst>
                                    <p:set>
                                      <p:cBhvr>
                                        <p:cTn id="81" dur="1" fill="hold">
                                          <p:stCondLst>
                                            <p:cond delay="0"/>
                                          </p:stCondLst>
                                        </p:cTn>
                                        <p:tgtEl>
                                          <p:spTgt spid="67608"/>
                                        </p:tgtEl>
                                        <p:attrNameLst>
                                          <p:attrName>style.visibility</p:attrName>
                                        </p:attrNameLst>
                                      </p:cBhvr>
                                      <p:to>
                                        <p:strVal val="visible"/>
                                      </p:to>
                                    </p:set>
                                    <p:animEffect transition="in" filter="wipe(up)">
                                      <p:cBhvr>
                                        <p:cTn id="82" dur="500"/>
                                        <p:tgtEl>
                                          <p:spTgt spid="67608"/>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67591"/>
                                        </p:tgtEl>
                                        <p:attrNameLst>
                                          <p:attrName>style.visibility</p:attrName>
                                        </p:attrNameLst>
                                      </p:cBhvr>
                                      <p:to>
                                        <p:strVal val="visible"/>
                                      </p:to>
                                    </p:set>
                                    <p:animEffect transition="in" filter="blinds(horizontal)">
                                      <p:cBhvr>
                                        <p:cTn id="87" dur="500"/>
                                        <p:tgtEl>
                                          <p:spTgt spid="67591"/>
                                        </p:tgtEl>
                                      </p:cBhvr>
                                    </p:animEffect>
                                  </p:childTnLst>
                                </p:cTn>
                              </p:par>
                              <p:par>
                                <p:cTn id="88" presetID="3" presetClass="entr" presetSubtype="10" fill="hold" grpId="0" nodeType="withEffect">
                                  <p:stCondLst>
                                    <p:cond delay="0"/>
                                  </p:stCondLst>
                                  <p:childTnLst>
                                    <p:set>
                                      <p:cBhvr>
                                        <p:cTn id="89" dur="1" fill="hold">
                                          <p:stCondLst>
                                            <p:cond delay="0"/>
                                          </p:stCondLst>
                                        </p:cTn>
                                        <p:tgtEl>
                                          <p:spTgt spid="67592"/>
                                        </p:tgtEl>
                                        <p:attrNameLst>
                                          <p:attrName>style.visibility</p:attrName>
                                        </p:attrNameLst>
                                      </p:cBhvr>
                                      <p:to>
                                        <p:strVal val="visible"/>
                                      </p:to>
                                    </p:set>
                                    <p:animEffect transition="in" filter="blinds(horizontal)">
                                      <p:cBhvr>
                                        <p:cTn id="90" dur="500"/>
                                        <p:tgtEl>
                                          <p:spTgt spid="67592"/>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67606"/>
                                        </p:tgtEl>
                                        <p:attrNameLst>
                                          <p:attrName>style.visibility</p:attrName>
                                        </p:attrNameLst>
                                      </p:cBhvr>
                                      <p:to>
                                        <p:strVal val="visible"/>
                                      </p:to>
                                    </p:set>
                                    <p:animEffect transition="in" filter="blinds(horizontal)">
                                      <p:cBhvr>
                                        <p:cTn id="95" dur="500"/>
                                        <p:tgtEl>
                                          <p:spTgt spid="67606"/>
                                        </p:tgtEl>
                                      </p:cBhvr>
                                    </p:animEffect>
                                  </p:childTnLst>
                                </p:cTn>
                              </p:par>
                            </p:childTnLst>
                          </p:cTn>
                        </p:par>
                        <p:par>
                          <p:cTn id="96" fill="hold">
                            <p:stCondLst>
                              <p:cond delay="500"/>
                            </p:stCondLst>
                            <p:childTnLst>
                              <p:par>
                                <p:cTn id="97" presetID="22" presetClass="entr" presetSubtype="1" fill="hold" nodeType="afterEffect">
                                  <p:stCondLst>
                                    <p:cond delay="0"/>
                                  </p:stCondLst>
                                  <p:childTnLst>
                                    <p:set>
                                      <p:cBhvr>
                                        <p:cTn id="98" dur="1" fill="hold">
                                          <p:stCondLst>
                                            <p:cond delay="0"/>
                                          </p:stCondLst>
                                        </p:cTn>
                                        <p:tgtEl>
                                          <p:spTgt spid="67609"/>
                                        </p:tgtEl>
                                        <p:attrNameLst>
                                          <p:attrName>style.visibility</p:attrName>
                                        </p:attrNameLst>
                                      </p:cBhvr>
                                      <p:to>
                                        <p:strVal val="visible"/>
                                      </p:to>
                                    </p:set>
                                    <p:animEffect transition="in" filter="wipe(up)">
                                      <p:cBhvr>
                                        <p:cTn id="99" dur="500"/>
                                        <p:tgtEl>
                                          <p:spTgt spid="67609"/>
                                        </p:tgtEl>
                                      </p:cBhvr>
                                    </p:animEffect>
                                  </p:childTnLst>
                                </p:cTn>
                              </p:par>
                            </p:childTnLst>
                          </p:cTn>
                        </p:par>
                        <p:par>
                          <p:cTn id="100" fill="hold">
                            <p:stCondLst>
                              <p:cond delay="1000"/>
                            </p:stCondLst>
                            <p:childTnLst>
                              <p:par>
                                <p:cTn id="101" presetID="3" presetClass="entr" presetSubtype="10" fill="hold" grpId="0" nodeType="afterEffect">
                                  <p:stCondLst>
                                    <p:cond delay="0"/>
                                  </p:stCondLst>
                                  <p:childTnLst>
                                    <p:set>
                                      <p:cBhvr>
                                        <p:cTn id="102" dur="1" fill="hold">
                                          <p:stCondLst>
                                            <p:cond delay="0"/>
                                          </p:stCondLst>
                                        </p:cTn>
                                        <p:tgtEl>
                                          <p:spTgt spid="67610"/>
                                        </p:tgtEl>
                                        <p:attrNameLst>
                                          <p:attrName>style.visibility</p:attrName>
                                        </p:attrNameLst>
                                      </p:cBhvr>
                                      <p:to>
                                        <p:strVal val="visible"/>
                                      </p:to>
                                    </p:set>
                                    <p:animEffect transition="in" filter="blinds(horizontal)">
                                      <p:cBhvr>
                                        <p:cTn id="103" dur="500"/>
                                        <p:tgtEl>
                                          <p:spTgt spid="67610"/>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grpId="0" nodeType="clickEffect">
                                  <p:stCondLst>
                                    <p:cond delay="0"/>
                                  </p:stCondLst>
                                  <p:childTnLst>
                                    <p:set>
                                      <p:cBhvr>
                                        <p:cTn id="107" dur="1" fill="hold">
                                          <p:stCondLst>
                                            <p:cond delay="0"/>
                                          </p:stCondLst>
                                        </p:cTn>
                                        <p:tgtEl>
                                          <p:spTgt spid="67605"/>
                                        </p:tgtEl>
                                        <p:attrNameLst>
                                          <p:attrName>style.visibility</p:attrName>
                                        </p:attrNameLst>
                                      </p:cBhvr>
                                      <p:to>
                                        <p:strVal val="visible"/>
                                      </p:to>
                                    </p:set>
                                    <p:animEffect transition="in" filter="blinds(horizontal)">
                                      <p:cBhvr>
                                        <p:cTn id="108" dur="500"/>
                                        <p:tgtEl>
                                          <p:spTgt spid="67605"/>
                                        </p:tgtEl>
                                      </p:cBhvr>
                                    </p:animEffect>
                                  </p:childTnLst>
                                </p:cTn>
                              </p:par>
                            </p:childTnLst>
                          </p:cTn>
                        </p:par>
                        <p:par>
                          <p:cTn id="109" fill="hold">
                            <p:stCondLst>
                              <p:cond delay="500"/>
                            </p:stCondLst>
                            <p:childTnLst>
                              <p:par>
                                <p:cTn id="110" presetID="18" presetClass="entr" presetSubtype="12" fill="hold" nodeType="afterEffect">
                                  <p:stCondLst>
                                    <p:cond delay="0"/>
                                  </p:stCondLst>
                                  <p:childTnLst>
                                    <p:set>
                                      <p:cBhvr>
                                        <p:cTn id="111" dur="1" fill="hold">
                                          <p:stCondLst>
                                            <p:cond delay="0"/>
                                          </p:stCondLst>
                                        </p:cTn>
                                        <p:tgtEl>
                                          <p:spTgt spid="67599"/>
                                        </p:tgtEl>
                                        <p:attrNameLst>
                                          <p:attrName>style.visibility</p:attrName>
                                        </p:attrNameLst>
                                      </p:cBhvr>
                                      <p:to>
                                        <p:strVal val="visible"/>
                                      </p:to>
                                    </p:set>
                                    <p:animEffect transition="in" filter="strips(downLeft)">
                                      <p:cBhvr>
                                        <p:cTn id="112" dur="500"/>
                                        <p:tgtEl>
                                          <p:spTgt spid="67599"/>
                                        </p:tgtEl>
                                      </p:cBhvr>
                                    </p:animEffect>
                                  </p:childTnLst>
                                </p:cTn>
                              </p:par>
                            </p:childTnLst>
                          </p:cTn>
                        </p:par>
                        <p:par>
                          <p:cTn id="113" fill="hold">
                            <p:stCondLst>
                              <p:cond delay="1000"/>
                            </p:stCondLst>
                            <p:childTnLst>
                              <p:par>
                                <p:cTn id="114" presetID="22" presetClass="entr" presetSubtype="4" fill="hold" nodeType="afterEffect">
                                  <p:stCondLst>
                                    <p:cond delay="0"/>
                                  </p:stCondLst>
                                  <p:childTnLst>
                                    <p:set>
                                      <p:cBhvr>
                                        <p:cTn id="115" dur="1" fill="hold">
                                          <p:stCondLst>
                                            <p:cond delay="0"/>
                                          </p:stCondLst>
                                        </p:cTn>
                                        <p:tgtEl>
                                          <p:spTgt spid="67611"/>
                                        </p:tgtEl>
                                        <p:attrNameLst>
                                          <p:attrName>style.visibility</p:attrName>
                                        </p:attrNameLst>
                                      </p:cBhvr>
                                      <p:to>
                                        <p:strVal val="visible"/>
                                      </p:to>
                                    </p:set>
                                    <p:animEffect transition="in" filter="wipe(down)">
                                      <p:cBhvr>
                                        <p:cTn id="116" dur="500"/>
                                        <p:tgtEl>
                                          <p:spTgt spid="67611"/>
                                        </p:tgtEl>
                                      </p:cBhvr>
                                    </p:animEffect>
                                  </p:childTnLst>
                                </p:cTn>
                              </p:par>
                            </p:childTnLst>
                          </p:cTn>
                        </p:par>
                        <p:par>
                          <p:cTn id="117" fill="hold">
                            <p:stCondLst>
                              <p:cond delay="1500"/>
                            </p:stCondLst>
                            <p:childTnLst>
                              <p:par>
                                <p:cTn id="118" presetID="18" presetClass="entr" presetSubtype="3" fill="hold" nodeType="afterEffect">
                                  <p:stCondLst>
                                    <p:cond delay="0"/>
                                  </p:stCondLst>
                                  <p:childTnLst>
                                    <p:set>
                                      <p:cBhvr>
                                        <p:cTn id="119" dur="1" fill="hold">
                                          <p:stCondLst>
                                            <p:cond delay="0"/>
                                          </p:stCondLst>
                                        </p:cTn>
                                        <p:tgtEl>
                                          <p:spTgt spid="67612"/>
                                        </p:tgtEl>
                                        <p:attrNameLst>
                                          <p:attrName>style.visibility</p:attrName>
                                        </p:attrNameLst>
                                      </p:cBhvr>
                                      <p:to>
                                        <p:strVal val="visible"/>
                                      </p:to>
                                    </p:set>
                                    <p:animEffect transition="in" filter="strips(upRight)">
                                      <p:cBhvr>
                                        <p:cTn id="120" dur="1000"/>
                                        <p:tgtEl>
                                          <p:spTgt spid="67612"/>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67586">
                                            <p:txEl>
                                              <p:charRg st="0" end="29"/>
                                            </p:txEl>
                                          </p:spTgt>
                                        </p:tgtEl>
                                        <p:attrNameLst>
                                          <p:attrName>style.visibility</p:attrName>
                                        </p:attrNameLst>
                                      </p:cBhvr>
                                      <p:to>
                                        <p:strVal val="visible"/>
                                      </p:to>
                                    </p:set>
                                    <p:animEffect transition="in" filter="blinds(horizontal)">
                                      <p:cBhvr>
                                        <p:cTn id="125" dur="500"/>
                                        <p:tgtEl>
                                          <p:spTgt spid="67586">
                                            <p:txEl>
                                              <p:charRg st="0" end="29"/>
                                            </p:txEl>
                                          </p:spTgt>
                                        </p:tgtEl>
                                      </p:cBhvr>
                                    </p:animEffect>
                                  </p:childTnLst>
                                </p:cTn>
                              </p:par>
                            </p:childTnLst>
                          </p:cTn>
                        </p:par>
                        <p:par>
                          <p:cTn id="126" fill="hold">
                            <p:stCondLst>
                              <p:cond delay="500"/>
                            </p:stCondLst>
                            <p:childTnLst>
                              <p:par>
                                <p:cTn id="127" presetID="3" presetClass="entr" presetSubtype="10" fill="hold" grpId="0" nodeType="afterEffect">
                                  <p:stCondLst>
                                    <p:cond delay="0"/>
                                  </p:stCondLst>
                                  <p:childTnLst>
                                    <p:set>
                                      <p:cBhvr>
                                        <p:cTn id="128" dur="1" fill="hold">
                                          <p:stCondLst>
                                            <p:cond delay="0"/>
                                          </p:stCondLst>
                                        </p:cTn>
                                        <p:tgtEl>
                                          <p:spTgt spid="67586">
                                            <p:txEl>
                                              <p:charRg st="29" end="55"/>
                                            </p:txEl>
                                          </p:spTgt>
                                        </p:tgtEl>
                                        <p:attrNameLst>
                                          <p:attrName>style.visibility</p:attrName>
                                        </p:attrNameLst>
                                      </p:cBhvr>
                                      <p:to>
                                        <p:strVal val="visible"/>
                                      </p:to>
                                    </p:set>
                                    <p:animEffect transition="in" filter="blinds(horizontal)">
                                      <p:cBhvr>
                                        <p:cTn id="129" dur="500"/>
                                        <p:tgtEl>
                                          <p:spTgt spid="67586">
                                            <p:txEl>
                                              <p:charRg st="29" end="55"/>
                                            </p:txEl>
                                          </p:spTgt>
                                        </p:tgtEl>
                                      </p:cBhvr>
                                    </p:animEffect>
                                  </p:childTnLst>
                                </p:cTn>
                              </p:par>
                            </p:childTnLst>
                          </p:cTn>
                        </p:par>
                        <p:par>
                          <p:cTn id="130" fill="hold">
                            <p:stCondLst>
                              <p:cond delay="1000"/>
                            </p:stCondLst>
                            <p:childTnLst>
                              <p:par>
                                <p:cTn id="131" presetID="3" presetClass="entr" presetSubtype="10" fill="hold" grpId="0" nodeType="afterEffect">
                                  <p:stCondLst>
                                    <p:cond delay="0"/>
                                  </p:stCondLst>
                                  <p:childTnLst>
                                    <p:set>
                                      <p:cBhvr>
                                        <p:cTn id="132" dur="1" fill="hold">
                                          <p:stCondLst>
                                            <p:cond delay="0"/>
                                          </p:stCondLst>
                                        </p:cTn>
                                        <p:tgtEl>
                                          <p:spTgt spid="67586">
                                            <p:txEl>
                                              <p:charRg st="55" end="76"/>
                                            </p:txEl>
                                          </p:spTgt>
                                        </p:tgtEl>
                                        <p:attrNameLst>
                                          <p:attrName>style.visibility</p:attrName>
                                        </p:attrNameLst>
                                      </p:cBhvr>
                                      <p:to>
                                        <p:strVal val="visible"/>
                                      </p:to>
                                    </p:set>
                                    <p:animEffect transition="in" filter="blinds(horizontal)">
                                      <p:cBhvr>
                                        <p:cTn id="133" dur="500"/>
                                        <p:tgtEl>
                                          <p:spTgt spid="67586">
                                            <p:txEl>
                                              <p:charRg st="55" end="76"/>
                                            </p:txEl>
                                          </p:spTgt>
                                        </p:tgtEl>
                                      </p:cBhvr>
                                    </p:animEffect>
                                  </p:childTnLst>
                                </p:cTn>
                              </p:par>
                            </p:childTnLst>
                          </p:cTn>
                        </p:par>
                        <p:par>
                          <p:cTn id="134" fill="hold">
                            <p:stCondLst>
                              <p:cond delay="1500"/>
                            </p:stCondLst>
                            <p:childTnLst>
                              <p:par>
                                <p:cTn id="135" presetID="3" presetClass="entr" presetSubtype="10" fill="hold" grpId="0" nodeType="afterEffect">
                                  <p:stCondLst>
                                    <p:cond delay="0"/>
                                  </p:stCondLst>
                                  <p:childTnLst>
                                    <p:set>
                                      <p:cBhvr>
                                        <p:cTn id="136" dur="1" fill="hold">
                                          <p:stCondLst>
                                            <p:cond delay="0"/>
                                          </p:stCondLst>
                                        </p:cTn>
                                        <p:tgtEl>
                                          <p:spTgt spid="67586">
                                            <p:txEl>
                                              <p:charRg st="76" end="91"/>
                                            </p:txEl>
                                          </p:spTgt>
                                        </p:tgtEl>
                                        <p:attrNameLst>
                                          <p:attrName>style.visibility</p:attrName>
                                        </p:attrNameLst>
                                      </p:cBhvr>
                                      <p:to>
                                        <p:strVal val="visible"/>
                                      </p:to>
                                    </p:set>
                                    <p:animEffect transition="in" filter="blinds(horizontal)">
                                      <p:cBhvr>
                                        <p:cTn id="137" dur="500"/>
                                        <p:tgtEl>
                                          <p:spTgt spid="67586">
                                            <p:txEl>
                                              <p:charRg st="76" end="91"/>
                                            </p:txEl>
                                          </p:spTgt>
                                        </p:tgtEl>
                                      </p:cBhvr>
                                    </p:animEffect>
                                  </p:childTnLst>
                                </p:cTn>
                              </p:par>
                            </p:childTnLst>
                          </p:cTn>
                        </p:par>
                        <p:par>
                          <p:cTn id="138" fill="hold">
                            <p:stCondLst>
                              <p:cond delay="2000"/>
                            </p:stCondLst>
                            <p:childTnLst>
                              <p:par>
                                <p:cTn id="139" presetID="3" presetClass="entr" presetSubtype="10" fill="hold" grpId="0" nodeType="afterEffect">
                                  <p:stCondLst>
                                    <p:cond delay="0"/>
                                  </p:stCondLst>
                                  <p:childTnLst>
                                    <p:set>
                                      <p:cBhvr>
                                        <p:cTn id="140" dur="1" fill="hold">
                                          <p:stCondLst>
                                            <p:cond delay="0"/>
                                          </p:stCondLst>
                                        </p:cTn>
                                        <p:tgtEl>
                                          <p:spTgt spid="67586">
                                            <p:txEl>
                                              <p:charRg st="91" end="118"/>
                                            </p:txEl>
                                          </p:spTgt>
                                        </p:tgtEl>
                                        <p:attrNameLst>
                                          <p:attrName>style.visibility</p:attrName>
                                        </p:attrNameLst>
                                      </p:cBhvr>
                                      <p:to>
                                        <p:strVal val="visible"/>
                                      </p:to>
                                    </p:set>
                                    <p:animEffect transition="in" filter="blinds(horizontal)">
                                      <p:cBhvr>
                                        <p:cTn id="141" dur="500"/>
                                        <p:tgtEl>
                                          <p:spTgt spid="67586">
                                            <p:txEl>
                                              <p:charRg st="91" end="118"/>
                                            </p:txEl>
                                          </p:spTgt>
                                        </p:tgtEl>
                                      </p:cBhvr>
                                    </p:animEffect>
                                  </p:childTnLst>
                                </p:cTn>
                              </p:par>
                            </p:childTnLst>
                          </p:cTn>
                        </p:par>
                        <p:par>
                          <p:cTn id="142" fill="hold">
                            <p:stCondLst>
                              <p:cond delay="2500"/>
                            </p:stCondLst>
                            <p:childTnLst>
                              <p:par>
                                <p:cTn id="143" presetID="3" presetClass="entr" presetSubtype="10" fill="hold" grpId="0" nodeType="afterEffect">
                                  <p:stCondLst>
                                    <p:cond delay="0"/>
                                  </p:stCondLst>
                                  <p:childTnLst>
                                    <p:set>
                                      <p:cBhvr>
                                        <p:cTn id="144" dur="1" fill="hold">
                                          <p:stCondLst>
                                            <p:cond delay="0"/>
                                          </p:stCondLst>
                                        </p:cTn>
                                        <p:tgtEl>
                                          <p:spTgt spid="67586">
                                            <p:txEl>
                                              <p:charRg st="118" end="145"/>
                                            </p:txEl>
                                          </p:spTgt>
                                        </p:tgtEl>
                                        <p:attrNameLst>
                                          <p:attrName>style.visibility</p:attrName>
                                        </p:attrNameLst>
                                      </p:cBhvr>
                                      <p:to>
                                        <p:strVal val="visible"/>
                                      </p:to>
                                    </p:set>
                                    <p:animEffect transition="in" filter="blinds(horizontal)">
                                      <p:cBhvr>
                                        <p:cTn id="145" dur="500"/>
                                        <p:tgtEl>
                                          <p:spTgt spid="67586">
                                            <p:txEl>
                                              <p:charRg st="118" end="145"/>
                                            </p:txEl>
                                          </p:spTgt>
                                        </p:tgtEl>
                                      </p:cBhvr>
                                    </p:animEffect>
                                  </p:childTnLst>
                                </p:cTn>
                              </p:par>
                            </p:childTnLst>
                          </p:cTn>
                        </p:par>
                        <p:par>
                          <p:cTn id="146" fill="hold">
                            <p:stCondLst>
                              <p:cond delay="3000"/>
                            </p:stCondLst>
                            <p:childTnLst>
                              <p:par>
                                <p:cTn id="147" presetID="3" presetClass="entr" presetSubtype="10" fill="hold" grpId="0" nodeType="afterEffect">
                                  <p:stCondLst>
                                    <p:cond delay="0"/>
                                  </p:stCondLst>
                                  <p:childTnLst>
                                    <p:set>
                                      <p:cBhvr>
                                        <p:cTn id="148" dur="1" fill="hold">
                                          <p:stCondLst>
                                            <p:cond delay="0"/>
                                          </p:stCondLst>
                                        </p:cTn>
                                        <p:tgtEl>
                                          <p:spTgt spid="67586">
                                            <p:txEl>
                                              <p:charRg st="145" end="173"/>
                                            </p:txEl>
                                          </p:spTgt>
                                        </p:tgtEl>
                                        <p:attrNameLst>
                                          <p:attrName>style.visibility</p:attrName>
                                        </p:attrNameLst>
                                      </p:cBhvr>
                                      <p:to>
                                        <p:strVal val="visible"/>
                                      </p:to>
                                    </p:set>
                                    <p:animEffect transition="in" filter="blinds(horizontal)">
                                      <p:cBhvr>
                                        <p:cTn id="149" dur="500"/>
                                        <p:tgtEl>
                                          <p:spTgt spid="67586">
                                            <p:txEl>
                                              <p:charRg st="145" end="173"/>
                                            </p:txEl>
                                          </p:spTgt>
                                        </p:tgtEl>
                                      </p:cBhvr>
                                    </p:animEffect>
                                  </p:childTnLst>
                                </p:cTn>
                              </p:par>
                            </p:childTnLst>
                          </p:cTn>
                        </p:par>
                        <p:par>
                          <p:cTn id="150" fill="hold">
                            <p:stCondLst>
                              <p:cond delay="3500"/>
                            </p:stCondLst>
                            <p:childTnLst>
                              <p:par>
                                <p:cTn id="151" presetID="3" presetClass="entr" presetSubtype="10" fill="hold" grpId="0" nodeType="afterEffect">
                                  <p:stCondLst>
                                    <p:cond delay="0"/>
                                  </p:stCondLst>
                                  <p:childTnLst>
                                    <p:set>
                                      <p:cBhvr>
                                        <p:cTn id="152" dur="1" fill="hold">
                                          <p:stCondLst>
                                            <p:cond delay="0"/>
                                          </p:stCondLst>
                                        </p:cTn>
                                        <p:tgtEl>
                                          <p:spTgt spid="67586">
                                            <p:txEl>
                                              <p:charRg st="173" end="200"/>
                                            </p:txEl>
                                          </p:spTgt>
                                        </p:tgtEl>
                                        <p:attrNameLst>
                                          <p:attrName>style.visibility</p:attrName>
                                        </p:attrNameLst>
                                      </p:cBhvr>
                                      <p:to>
                                        <p:strVal val="visible"/>
                                      </p:to>
                                    </p:set>
                                    <p:animEffect transition="in" filter="blinds(horizontal)">
                                      <p:cBhvr>
                                        <p:cTn id="153" dur="500"/>
                                        <p:tgtEl>
                                          <p:spTgt spid="67586">
                                            <p:txEl>
                                              <p:charRg st="173" end="200"/>
                                            </p:txEl>
                                          </p:spTgt>
                                        </p:tgtEl>
                                      </p:cBhvr>
                                    </p:animEffect>
                                  </p:childTnLst>
                                </p:cTn>
                              </p:par>
                            </p:childTnLst>
                          </p:cTn>
                        </p:par>
                        <p:par>
                          <p:cTn id="154" fill="hold">
                            <p:stCondLst>
                              <p:cond delay="4000"/>
                            </p:stCondLst>
                            <p:childTnLst>
                              <p:par>
                                <p:cTn id="155" presetID="3" presetClass="entr" presetSubtype="10" fill="hold" grpId="0" nodeType="afterEffect">
                                  <p:stCondLst>
                                    <p:cond delay="0"/>
                                  </p:stCondLst>
                                  <p:childTnLst>
                                    <p:set>
                                      <p:cBhvr>
                                        <p:cTn id="156" dur="1" fill="hold">
                                          <p:stCondLst>
                                            <p:cond delay="0"/>
                                          </p:stCondLst>
                                        </p:cTn>
                                        <p:tgtEl>
                                          <p:spTgt spid="67586">
                                            <p:txEl>
                                              <p:charRg st="200" end="225"/>
                                            </p:txEl>
                                          </p:spTgt>
                                        </p:tgtEl>
                                        <p:attrNameLst>
                                          <p:attrName>style.visibility</p:attrName>
                                        </p:attrNameLst>
                                      </p:cBhvr>
                                      <p:to>
                                        <p:strVal val="visible"/>
                                      </p:to>
                                    </p:set>
                                    <p:animEffect transition="in" filter="blinds(horizontal)">
                                      <p:cBhvr>
                                        <p:cTn id="157" dur="500"/>
                                        <p:tgtEl>
                                          <p:spTgt spid="67586">
                                            <p:txEl>
                                              <p:charRg st="200" end="225"/>
                                            </p:txEl>
                                          </p:spTgt>
                                        </p:tgtEl>
                                      </p:cBhvr>
                                    </p:animEffect>
                                  </p:childTnLst>
                                </p:cTn>
                              </p:par>
                            </p:childTnLst>
                          </p:cTn>
                        </p:par>
                        <p:par>
                          <p:cTn id="158" fill="hold">
                            <p:stCondLst>
                              <p:cond delay="4500"/>
                            </p:stCondLst>
                            <p:childTnLst>
                              <p:par>
                                <p:cTn id="159" presetID="3" presetClass="entr" presetSubtype="10" fill="hold" grpId="0" nodeType="afterEffect">
                                  <p:stCondLst>
                                    <p:cond delay="0"/>
                                  </p:stCondLst>
                                  <p:childTnLst>
                                    <p:set>
                                      <p:cBhvr>
                                        <p:cTn id="160" dur="1" fill="hold">
                                          <p:stCondLst>
                                            <p:cond delay="0"/>
                                          </p:stCondLst>
                                        </p:cTn>
                                        <p:tgtEl>
                                          <p:spTgt spid="67586">
                                            <p:txEl>
                                              <p:charRg st="225" end="247"/>
                                            </p:txEl>
                                          </p:spTgt>
                                        </p:tgtEl>
                                        <p:attrNameLst>
                                          <p:attrName>style.visibility</p:attrName>
                                        </p:attrNameLst>
                                      </p:cBhvr>
                                      <p:to>
                                        <p:strVal val="visible"/>
                                      </p:to>
                                    </p:set>
                                    <p:animEffect transition="in" filter="blinds(horizontal)">
                                      <p:cBhvr>
                                        <p:cTn id="161" dur="500"/>
                                        <p:tgtEl>
                                          <p:spTgt spid="67586">
                                            <p:txEl>
                                              <p:charRg st="225" end="247"/>
                                            </p:txEl>
                                          </p:spTgt>
                                        </p:tgtEl>
                                      </p:cBhvr>
                                    </p:animEffect>
                                  </p:childTnLst>
                                </p:cTn>
                              </p:par>
                            </p:childTnLst>
                          </p:cTn>
                        </p:par>
                        <p:par>
                          <p:cTn id="162" fill="hold">
                            <p:stCondLst>
                              <p:cond delay="5000"/>
                            </p:stCondLst>
                            <p:childTnLst>
                              <p:par>
                                <p:cTn id="163" presetID="3" presetClass="entr" presetSubtype="10" fill="hold" grpId="0" nodeType="afterEffect">
                                  <p:stCondLst>
                                    <p:cond delay="0"/>
                                  </p:stCondLst>
                                  <p:childTnLst>
                                    <p:set>
                                      <p:cBhvr>
                                        <p:cTn id="164" dur="1" fill="hold">
                                          <p:stCondLst>
                                            <p:cond delay="0"/>
                                          </p:stCondLst>
                                        </p:cTn>
                                        <p:tgtEl>
                                          <p:spTgt spid="67586">
                                            <p:txEl>
                                              <p:charRg st="247" end="274"/>
                                            </p:txEl>
                                          </p:spTgt>
                                        </p:tgtEl>
                                        <p:attrNameLst>
                                          <p:attrName>style.visibility</p:attrName>
                                        </p:attrNameLst>
                                      </p:cBhvr>
                                      <p:to>
                                        <p:strVal val="visible"/>
                                      </p:to>
                                    </p:set>
                                    <p:animEffect transition="in" filter="blinds(horizontal)">
                                      <p:cBhvr>
                                        <p:cTn id="165" dur="500"/>
                                        <p:tgtEl>
                                          <p:spTgt spid="67586">
                                            <p:txEl>
                                              <p:charRg st="247" end="274"/>
                                            </p:txEl>
                                          </p:spTgt>
                                        </p:tgtEl>
                                      </p:cBhvr>
                                    </p:animEffect>
                                  </p:childTnLst>
                                </p:cTn>
                              </p:par>
                            </p:childTnLst>
                          </p:cTn>
                        </p:par>
                        <p:par>
                          <p:cTn id="166" fill="hold">
                            <p:stCondLst>
                              <p:cond delay="5500"/>
                            </p:stCondLst>
                            <p:childTnLst>
                              <p:par>
                                <p:cTn id="167" presetID="3" presetClass="entr" presetSubtype="10" fill="hold" grpId="0" nodeType="afterEffect">
                                  <p:stCondLst>
                                    <p:cond delay="0"/>
                                  </p:stCondLst>
                                  <p:childTnLst>
                                    <p:set>
                                      <p:cBhvr>
                                        <p:cTn id="168" dur="1" fill="hold">
                                          <p:stCondLst>
                                            <p:cond delay="0"/>
                                          </p:stCondLst>
                                        </p:cTn>
                                        <p:tgtEl>
                                          <p:spTgt spid="67586">
                                            <p:txEl>
                                              <p:charRg st="274" end="293"/>
                                            </p:txEl>
                                          </p:spTgt>
                                        </p:tgtEl>
                                        <p:attrNameLst>
                                          <p:attrName>style.visibility</p:attrName>
                                        </p:attrNameLst>
                                      </p:cBhvr>
                                      <p:to>
                                        <p:strVal val="visible"/>
                                      </p:to>
                                    </p:set>
                                    <p:animEffect transition="in" filter="blinds(horizontal)">
                                      <p:cBhvr>
                                        <p:cTn id="169" dur="500"/>
                                        <p:tgtEl>
                                          <p:spTgt spid="67586">
                                            <p:txEl>
                                              <p:charRg st="274" end="29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build="p"/>
      <p:bldP spid="67587" grpId="0" animBg="1"/>
      <p:bldP spid="67588" grpId="0" animBg="1"/>
      <p:bldP spid="67589" grpId="0" animBg="1"/>
      <p:bldP spid="67590" grpId="0"/>
      <p:bldP spid="67591" grpId="0" animBg="1"/>
      <p:bldP spid="67592" grpId="0"/>
      <p:bldP spid="67593" grpId="0" animBg="1"/>
      <p:bldP spid="67594" grpId="0" animBg="1"/>
      <p:bldP spid="67595" grpId="0"/>
      <p:bldP spid="67603" grpId="0"/>
      <p:bldP spid="67604" grpId="0"/>
      <p:bldP spid="67605" grpId="0"/>
      <p:bldP spid="67606" grpId="0"/>
      <p:bldP spid="67610" grpId="0" animBg="1"/>
      <p:bldP spid="6761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标题 1"/>
          <p:cNvSpPr>
            <a:spLocks noGrp="1"/>
          </p:cNvSpPr>
          <p:nvPr>
            <p:ph type="title" idx="4294967295"/>
          </p:nvPr>
        </p:nvSpPr>
        <p:spPr/>
        <p:txBody>
          <a:bodyPr vert="horz" wrap="square" lIns="91440" tIns="45720" rIns="91440" bIns="45720" anchor="b" anchorCtr="0"/>
          <a:p>
            <a:r>
              <a:rPr lang="zh-CN" altLang="en-US" dirty="0"/>
              <a:t>查询工作方式</a:t>
            </a:r>
            <a:endParaRPr lang="zh-CN" altLang="en-US" dirty="0"/>
          </a:p>
        </p:txBody>
      </p:sp>
      <p:sp>
        <p:nvSpPr>
          <p:cNvPr id="68611" name="内容占位符 2"/>
          <p:cNvSpPr>
            <a:spLocks noGrp="1"/>
          </p:cNvSpPr>
          <p:nvPr>
            <p:ph idx="4294967295"/>
          </p:nvPr>
        </p:nvSpPr>
        <p:spPr>
          <a:xfrm>
            <a:off x="642938" y="2071688"/>
            <a:ext cx="3643312" cy="4114800"/>
          </a:xfrm>
        </p:spPr>
        <p:txBody>
          <a:bodyPr vert="horz" wrap="square" lIns="91440" tIns="45720" rIns="91440" bIns="45720" anchor="t" anchorCtr="0"/>
          <a:p>
            <a:pPr eaLnBrk="1" hangingPunct="1">
              <a:lnSpc>
                <a:spcPct val="120000"/>
              </a:lnSpc>
            </a:pPr>
            <a:r>
              <a:rPr lang="zh-CN" altLang="en-US" dirty="0"/>
              <a:t>优点：</a:t>
            </a:r>
            <a:endParaRPr lang="zh-CN" altLang="en-US" dirty="0"/>
          </a:p>
          <a:p>
            <a:pPr lvl="1" eaLnBrk="1" hangingPunct="1">
              <a:lnSpc>
                <a:spcPct val="120000"/>
              </a:lnSpc>
            </a:pPr>
            <a:r>
              <a:rPr lang="zh-CN" altLang="en-US" dirty="0"/>
              <a:t>软硬件比较简单</a:t>
            </a:r>
            <a:endParaRPr lang="zh-CN" altLang="en-US" dirty="0"/>
          </a:p>
          <a:p>
            <a:pPr eaLnBrk="1" hangingPunct="1">
              <a:lnSpc>
                <a:spcPct val="120000"/>
              </a:lnSpc>
            </a:pPr>
            <a:r>
              <a:rPr lang="zh-CN" altLang="en-US" dirty="0"/>
              <a:t>缺点：</a:t>
            </a:r>
            <a:endParaRPr lang="zh-CN" altLang="en-US" dirty="0"/>
          </a:p>
          <a:p>
            <a:pPr lvl="1" eaLnBrk="1" hangingPunct="1">
              <a:lnSpc>
                <a:spcPct val="120000"/>
              </a:lnSpc>
            </a:pPr>
            <a:r>
              <a:rPr lang="en-US" altLang="zh-CN" dirty="0"/>
              <a:t>CPU</a:t>
            </a:r>
            <a:r>
              <a:rPr lang="zh-CN" altLang="en-US" dirty="0"/>
              <a:t>效率低，数据传送的实时性差，速度较慢</a:t>
            </a:r>
            <a:endParaRPr lang="zh-CN" altLang="en-US" dirty="0"/>
          </a:p>
        </p:txBody>
      </p:sp>
      <p:sp>
        <p:nvSpPr>
          <p:cNvPr id="148484"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graphicFrame>
        <p:nvGraphicFramePr>
          <p:cNvPr id="68613" name="Object 3"/>
          <p:cNvGraphicFramePr>
            <a:graphicFrameLocks noChangeAspect="1"/>
          </p:cNvGraphicFramePr>
          <p:nvPr/>
        </p:nvGraphicFramePr>
        <p:xfrm>
          <a:off x="4643438" y="1785938"/>
          <a:ext cx="4214812" cy="4857750"/>
        </p:xfrm>
        <a:graphic>
          <a:graphicData uri="http://schemas.openxmlformats.org/presentationml/2006/ole">
            <mc:AlternateContent xmlns:mc="http://schemas.openxmlformats.org/markup-compatibility/2006">
              <mc:Choice xmlns:v="urn:schemas-microsoft-com:vml" Requires="v">
                <p:oleObj spid="_x0000_s3080" name="" r:id="rId1" imgW="3377565" imgH="3606800" progId="">
                  <p:embed/>
                </p:oleObj>
              </mc:Choice>
              <mc:Fallback>
                <p:oleObj name="" r:id="rId1" imgW="3377565" imgH="3606800" progId="">
                  <p:embed/>
                  <p:pic>
                    <p:nvPicPr>
                      <p:cNvPr id="0" name="图片 3079"/>
                      <p:cNvPicPr/>
                      <p:nvPr/>
                    </p:nvPicPr>
                    <p:blipFill>
                      <a:blip r:embed="rId2"/>
                      <a:stretch>
                        <a:fillRect/>
                      </a:stretch>
                    </p:blipFill>
                    <p:spPr>
                      <a:xfrm>
                        <a:off x="4643438" y="1785938"/>
                        <a:ext cx="4214812" cy="4857750"/>
                      </a:xfrm>
                      <a:prstGeom prst="rect">
                        <a:avLst/>
                      </a:prstGeom>
                      <a:noFill/>
                      <a:ln w="38100">
                        <a:noFill/>
                        <a:miter/>
                      </a:ln>
                    </p:spPr>
                  </p:pic>
                </p:oleObj>
              </mc:Fallback>
            </mc:AlternateContent>
          </a:graphicData>
        </a:graphic>
      </p:graphicFrame>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8611">
                                            <p:txEl>
                                              <p:charRg st="0" end="4"/>
                                            </p:txEl>
                                          </p:spTgt>
                                        </p:tgtEl>
                                        <p:attrNameLst>
                                          <p:attrName>style.visibility</p:attrName>
                                        </p:attrNameLst>
                                      </p:cBhvr>
                                      <p:to>
                                        <p:strVal val="visible"/>
                                      </p:to>
                                    </p:set>
                                    <p:animEffect transition="in" filter="wipe(left)">
                                      <p:cBhvr>
                                        <p:cTn id="7" dur="500"/>
                                        <p:tgtEl>
                                          <p:spTgt spid="68611">
                                            <p:txEl>
                                              <p:charRg st="0"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8611">
                                            <p:txEl>
                                              <p:charRg st="4" end="12"/>
                                            </p:txEl>
                                          </p:spTgt>
                                        </p:tgtEl>
                                        <p:attrNameLst>
                                          <p:attrName>style.visibility</p:attrName>
                                        </p:attrNameLst>
                                      </p:cBhvr>
                                      <p:to>
                                        <p:strVal val="visible"/>
                                      </p:to>
                                    </p:set>
                                    <p:animEffect transition="in" filter="wipe(left)">
                                      <p:cBhvr>
                                        <p:cTn id="12" dur="500"/>
                                        <p:tgtEl>
                                          <p:spTgt spid="68611">
                                            <p:txEl>
                                              <p:charRg st="4" end="1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8613"/>
                                        </p:tgtEl>
                                        <p:attrNameLst>
                                          <p:attrName>style.visibility</p:attrName>
                                        </p:attrNameLst>
                                      </p:cBhvr>
                                      <p:to>
                                        <p:strVal val="visible"/>
                                      </p:to>
                                    </p:set>
                                    <p:anim calcmode="lin" valueType="num">
                                      <p:cBhvr>
                                        <p:cTn id="17" dur="500" fill="hold"/>
                                        <p:tgtEl>
                                          <p:spTgt spid="68613"/>
                                        </p:tgtEl>
                                        <p:attrNameLst>
                                          <p:attrName>ppt_x</p:attrName>
                                        </p:attrNameLst>
                                      </p:cBhvr>
                                      <p:tavLst>
                                        <p:tav tm="0">
                                          <p:val>
                                            <p:strVal val="#ppt_x"/>
                                          </p:val>
                                        </p:tav>
                                        <p:tav tm="100000">
                                          <p:val>
                                            <p:strVal val="#ppt_x"/>
                                          </p:val>
                                        </p:tav>
                                      </p:tavLst>
                                    </p:anim>
                                    <p:anim calcmode="lin" valueType="num">
                                      <p:cBhvr>
                                        <p:cTn id="18" dur="500" fill="hold"/>
                                        <p:tgtEl>
                                          <p:spTgt spid="6861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8611">
                                            <p:txEl>
                                              <p:charRg st="12" end="16"/>
                                            </p:txEl>
                                          </p:spTgt>
                                        </p:tgtEl>
                                        <p:attrNameLst>
                                          <p:attrName>style.visibility</p:attrName>
                                        </p:attrNameLst>
                                      </p:cBhvr>
                                      <p:to>
                                        <p:strVal val="visible"/>
                                      </p:to>
                                    </p:set>
                                    <p:animEffect transition="in" filter="wipe(left)">
                                      <p:cBhvr>
                                        <p:cTn id="23" dur="500"/>
                                        <p:tgtEl>
                                          <p:spTgt spid="68611">
                                            <p:txEl>
                                              <p:charRg st="12" end="1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68611">
                                            <p:txEl>
                                              <p:charRg st="16" end="38"/>
                                            </p:txEl>
                                          </p:spTgt>
                                        </p:tgtEl>
                                        <p:attrNameLst>
                                          <p:attrName>style.visibility</p:attrName>
                                        </p:attrNameLst>
                                      </p:cBhvr>
                                      <p:to>
                                        <p:strVal val="visible"/>
                                      </p:to>
                                    </p:set>
                                    <p:animEffect transition="in" filter="blinds(horizontal)">
                                      <p:cBhvr>
                                        <p:cTn id="28" dur="500"/>
                                        <p:tgtEl>
                                          <p:spTgt spid="68611">
                                            <p:txEl>
                                              <p:charRg st="16" end="3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49507" name="Rectangle 2"/>
          <p:cNvSpPr>
            <a:spLocks noGrp="1"/>
          </p:cNvSpPr>
          <p:nvPr>
            <p:ph type="title" idx="4294967295"/>
          </p:nvPr>
        </p:nvSpPr>
        <p:spPr/>
        <p:txBody>
          <a:bodyPr vert="horz" wrap="square" lIns="91440" tIns="45720" rIns="91440" bIns="45720" anchor="b" anchorCtr="0"/>
          <a:p>
            <a:pPr eaLnBrk="1" hangingPunct="1"/>
            <a:r>
              <a:rPr lang="zh-CN" altLang="en-US" dirty="0"/>
              <a:t>三、中断控制方式</a:t>
            </a:r>
            <a:endParaRPr lang="zh-CN" altLang="en-US" dirty="0"/>
          </a:p>
        </p:txBody>
      </p:sp>
      <p:sp>
        <p:nvSpPr>
          <p:cNvPr id="69636" name="Rectangle 3"/>
          <p:cNvSpPr>
            <a:spLocks noGrp="1"/>
          </p:cNvSpPr>
          <p:nvPr>
            <p:ph type="body" idx="4294967295"/>
          </p:nvPr>
        </p:nvSpPr>
        <p:spPr>
          <a:xfrm>
            <a:off x="1182688" y="2017713"/>
            <a:ext cx="7772400" cy="4506912"/>
          </a:xfrm>
        </p:spPr>
        <p:txBody>
          <a:bodyPr vert="horz" wrap="square" lIns="91440" tIns="45720" rIns="91440" bIns="45720" anchor="t" anchorCtr="0"/>
          <a:p>
            <a:pPr eaLnBrk="1" hangingPunct="1">
              <a:spcAft>
                <a:spcPct val="30000"/>
              </a:spcAft>
            </a:pPr>
            <a:r>
              <a:rPr lang="zh-CN" altLang="en-US" dirty="0"/>
              <a:t>特点：</a:t>
            </a:r>
            <a:endParaRPr lang="zh-CN" altLang="en-US" dirty="0"/>
          </a:p>
          <a:p>
            <a:pPr lvl="1" eaLnBrk="1" hangingPunct="1">
              <a:spcBef>
                <a:spcPct val="5000"/>
              </a:spcBef>
            </a:pPr>
            <a:r>
              <a:rPr lang="zh-CN" altLang="en-US" dirty="0"/>
              <a:t>外设在需要时向</a:t>
            </a:r>
            <a:r>
              <a:rPr lang="en-US" altLang="zh-CN" dirty="0"/>
              <a:t>CPU</a:t>
            </a:r>
            <a:r>
              <a:rPr lang="zh-CN" altLang="en-US" dirty="0"/>
              <a:t>提出请求，</a:t>
            </a:r>
            <a:r>
              <a:rPr lang="en-US" altLang="zh-CN" dirty="0"/>
              <a:t>CPU</a:t>
            </a:r>
            <a:r>
              <a:rPr lang="zh-CN" altLang="en-US" dirty="0"/>
              <a:t>再去为它</a:t>
            </a:r>
            <a:endParaRPr lang="zh-CN" altLang="en-US" dirty="0"/>
          </a:p>
          <a:p>
            <a:pPr lvl="1" eaLnBrk="1" hangingPunct="1">
              <a:spcBef>
                <a:spcPct val="5000"/>
              </a:spcBef>
              <a:buNone/>
            </a:pPr>
            <a:r>
              <a:rPr lang="zh-CN" altLang="en-US" dirty="0"/>
              <a:t>   服务。服务结束后或在外设不需要时，</a:t>
            </a:r>
            <a:r>
              <a:rPr lang="en-US" altLang="zh-CN" dirty="0"/>
              <a:t>CPU</a:t>
            </a:r>
            <a:r>
              <a:rPr lang="zh-CN" altLang="en-US" dirty="0"/>
              <a:t>可</a:t>
            </a:r>
            <a:endParaRPr lang="zh-CN" altLang="en-US" dirty="0"/>
          </a:p>
          <a:p>
            <a:pPr lvl="1" eaLnBrk="1" hangingPunct="1">
              <a:spcBef>
                <a:spcPct val="5000"/>
              </a:spcBef>
              <a:buNone/>
            </a:pPr>
            <a:r>
              <a:rPr lang="zh-CN" altLang="en-US" dirty="0"/>
              <a:t>   执行自己的程序。</a:t>
            </a:r>
            <a:endParaRPr lang="zh-CN" altLang="en-US" dirty="0"/>
          </a:p>
          <a:p>
            <a:pPr eaLnBrk="1" hangingPunct="1">
              <a:spcBef>
                <a:spcPct val="40000"/>
              </a:spcBef>
            </a:pPr>
            <a:r>
              <a:rPr lang="zh-CN" altLang="en-US" dirty="0"/>
              <a:t>优点：</a:t>
            </a:r>
            <a:endParaRPr lang="zh-CN" altLang="en-US" dirty="0"/>
          </a:p>
          <a:p>
            <a:pPr lvl="1" eaLnBrk="1" hangingPunct="1">
              <a:spcBef>
                <a:spcPct val="10000"/>
              </a:spcBef>
            </a:pPr>
            <a:r>
              <a:rPr lang="en-GB" altLang="en-US" dirty="0"/>
              <a:t>CPU</a:t>
            </a:r>
            <a:r>
              <a:rPr lang="zh-CN" altLang="en-US" dirty="0"/>
              <a:t>效率高，实时性好，速度快。</a:t>
            </a:r>
            <a:endParaRPr lang="zh-CN" altLang="en-US" dirty="0"/>
          </a:p>
          <a:p>
            <a:pPr eaLnBrk="1" hangingPunct="1">
              <a:spcBef>
                <a:spcPct val="35000"/>
              </a:spcBef>
            </a:pPr>
            <a:r>
              <a:rPr lang="zh-CN" altLang="en-US" dirty="0"/>
              <a:t>缺点：</a:t>
            </a:r>
            <a:endParaRPr lang="zh-CN" altLang="en-US" dirty="0"/>
          </a:p>
          <a:p>
            <a:pPr lvl="1" eaLnBrk="1" hangingPunct="1">
              <a:spcBef>
                <a:spcPct val="5000"/>
              </a:spcBef>
            </a:pPr>
            <a:r>
              <a:rPr lang="zh-CN" altLang="en-US" dirty="0"/>
              <a:t>程序编制相对较为复杂。</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9636">
                                            <p:txEl>
                                              <p:charRg st="0" end="4"/>
                                            </p:txEl>
                                          </p:spTgt>
                                        </p:tgtEl>
                                        <p:attrNameLst>
                                          <p:attrName>style.visibility</p:attrName>
                                        </p:attrNameLst>
                                      </p:cBhvr>
                                      <p:to>
                                        <p:strVal val="visible"/>
                                      </p:to>
                                    </p:set>
                                    <p:animEffect transition="in" filter="wipe(left)">
                                      <p:cBhvr>
                                        <p:cTn id="7" dur="500"/>
                                        <p:tgtEl>
                                          <p:spTgt spid="69636">
                                            <p:txEl>
                                              <p:charRg st="0"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9636">
                                            <p:txEl>
                                              <p:charRg st="4" end="27"/>
                                            </p:txEl>
                                          </p:spTgt>
                                        </p:tgtEl>
                                        <p:attrNameLst>
                                          <p:attrName>style.visibility</p:attrName>
                                        </p:attrNameLst>
                                      </p:cBhvr>
                                      <p:to>
                                        <p:strVal val="visible"/>
                                      </p:to>
                                    </p:set>
                                    <p:animEffect transition="in" filter="wipe(left)">
                                      <p:cBhvr>
                                        <p:cTn id="12" dur="500"/>
                                        <p:tgtEl>
                                          <p:spTgt spid="69636">
                                            <p:txEl>
                                              <p:charRg st="4" end="27"/>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69636">
                                            <p:txEl>
                                              <p:charRg st="27" end="52"/>
                                            </p:txEl>
                                          </p:spTgt>
                                        </p:tgtEl>
                                        <p:attrNameLst>
                                          <p:attrName>style.visibility</p:attrName>
                                        </p:attrNameLst>
                                      </p:cBhvr>
                                      <p:to>
                                        <p:strVal val="visible"/>
                                      </p:to>
                                    </p:set>
                                    <p:animEffect transition="in" filter="wipe(left)">
                                      <p:cBhvr>
                                        <p:cTn id="16" dur="500"/>
                                        <p:tgtEl>
                                          <p:spTgt spid="69636">
                                            <p:txEl>
                                              <p:charRg st="27" end="52"/>
                                            </p:txEl>
                                          </p:spTgt>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69636">
                                            <p:txEl>
                                              <p:charRg st="52" end="64"/>
                                            </p:txEl>
                                          </p:spTgt>
                                        </p:tgtEl>
                                        <p:attrNameLst>
                                          <p:attrName>style.visibility</p:attrName>
                                        </p:attrNameLst>
                                      </p:cBhvr>
                                      <p:to>
                                        <p:strVal val="visible"/>
                                      </p:to>
                                    </p:set>
                                    <p:animEffect transition="in" filter="wipe(left)">
                                      <p:cBhvr>
                                        <p:cTn id="20" dur="500"/>
                                        <p:tgtEl>
                                          <p:spTgt spid="69636">
                                            <p:txEl>
                                              <p:charRg st="52" end="6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9636">
                                            <p:txEl>
                                              <p:charRg st="64" end="68"/>
                                            </p:txEl>
                                          </p:spTgt>
                                        </p:tgtEl>
                                        <p:attrNameLst>
                                          <p:attrName>style.visibility</p:attrName>
                                        </p:attrNameLst>
                                      </p:cBhvr>
                                      <p:to>
                                        <p:strVal val="visible"/>
                                      </p:to>
                                    </p:set>
                                    <p:animEffect transition="in" filter="wipe(left)">
                                      <p:cBhvr>
                                        <p:cTn id="25" dur="500"/>
                                        <p:tgtEl>
                                          <p:spTgt spid="69636">
                                            <p:txEl>
                                              <p:charRg st="64" end="68"/>
                                            </p:txEl>
                                          </p:spTgt>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69636">
                                            <p:txEl>
                                              <p:charRg st="68" end="85"/>
                                            </p:txEl>
                                          </p:spTgt>
                                        </p:tgtEl>
                                        <p:attrNameLst>
                                          <p:attrName>style.visibility</p:attrName>
                                        </p:attrNameLst>
                                      </p:cBhvr>
                                      <p:to>
                                        <p:strVal val="visible"/>
                                      </p:to>
                                    </p:set>
                                    <p:animEffect transition="in" filter="wipe(left)">
                                      <p:cBhvr>
                                        <p:cTn id="29" dur="500"/>
                                        <p:tgtEl>
                                          <p:spTgt spid="69636">
                                            <p:txEl>
                                              <p:charRg st="68" end="8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69636">
                                            <p:txEl>
                                              <p:charRg st="85" end="89"/>
                                            </p:txEl>
                                          </p:spTgt>
                                        </p:tgtEl>
                                        <p:attrNameLst>
                                          <p:attrName>style.visibility</p:attrName>
                                        </p:attrNameLst>
                                      </p:cBhvr>
                                      <p:to>
                                        <p:strVal val="visible"/>
                                      </p:to>
                                    </p:set>
                                    <p:animEffect transition="in" filter="wipe(left)">
                                      <p:cBhvr>
                                        <p:cTn id="34" dur="500"/>
                                        <p:tgtEl>
                                          <p:spTgt spid="69636">
                                            <p:txEl>
                                              <p:charRg st="85" end="89"/>
                                            </p:txEl>
                                          </p:spTgt>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69636">
                                            <p:txEl>
                                              <p:charRg st="89" end="101"/>
                                            </p:txEl>
                                          </p:spTgt>
                                        </p:tgtEl>
                                        <p:attrNameLst>
                                          <p:attrName>style.visibility</p:attrName>
                                        </p:attrNameLst>
                                      </p:cBhvr>
                                      <p:to>
                                        <p:strVal val="visible"/>
                                      </p:to>
                                    </p:set>
                                    <p:animEffect transition="in" filter="wipe(left)">
                                      <p:cBhvr>
                                        <p:cTn id="38" dur="500"/>
                                        <p:tgtEl>
                                          <p:spTgt spid="69636">
                                            <p:txEl>
                                              <p:charRg st="89" end="1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50531" name="Rectangle 2"/>
          <p:cNvSpPr>
            <a:spLocks noGrp="1"/>
          </p:cNvSpPr>
          <p:nvPr>
            <p:ph type="title" idx="4294967295"/>
          </p:nvPr>
        </p:nvSpPr>
        <p:spPr/>
        <p:txBody>
          <a:bodyPr vert="horz" wrap="square" lIns="91440" tIns="45720" rIns="91440" bIns="45720" anchor="b" anchorCtr="0"/>
          <a:p>
            <a:pPr eaLnBrk="1" hangingPunct="1"/>
            <a:r>
              <a:rPr lang="zh-CN" altLang="en-US" dirty="0"/>
              <a:t>以上三种</a:t>
            </a:r>
            <a:r>
              <a:rPr lang="en-US" altLang="zh-CN" sz="4000" dirty="0"/>
              <a:t>I/O</a:t>
            </a:r>
            <a:r>
              <a:rPr lang="zh-CN" altLang="en-US" dirty="0"/>
              <a:t>方式的共性</a:t>
            </a:r>
            <a:endParaRPr lang="zh-CN" altLang="en-US" dirty="0"/>
          </a:p>
        </p:txBody>
      </p:sp>
      <p:sp>
        <p:nvSpPr>
          <p:cNvPr id="70660" name="Rectangle 3"/>
          <p:cNvSpPr>
            <a:spLocks noGrp="1"/>
          </p:cNvSpPr>
          <p:nvPr>
            <p:ph type="body" idx="4294967295"/>
          </p:nvPr>
        </p:nvSpPr>
        <p:spPr>
          <a:xfrm>
            <a:off x="714375" y="1916113"/>
            <a:ext cx="8034338" cy="4752975"/>
          </a:xfrm>
        </p:spPr>
        <p:txBody>
          <a:bodyPr vert="horz" wrap="square" lIns="91440" tIns="45720" rIns="91440" bIns="45720" anchor="t" anchorCtr="0"/>
          <a:p>
            <a:pPr eaLnBrk="1" hangingPunct="1">
              <a:spcAft>
                <a:spcPct val="10000"/>
              </a:spcAft>
            </a:pPr>
            <a:r>
              <a:rPr lang="zh-CN" altLang="en-US" dirty="0">
                <a:solidFill>
                  <a:schemeClr val="hlink"/>
                </a:solidFill>
              </a:rPr>
              <a:t>信息的传送均需通过</a:t>
            </a:r>
            <a:r>
              <a:rPr lang="en-US" altLang="zh-CN" dirty="0">
                <a:solidFill>
                  <a:schemeClr val="hlink"/>
                </a:solidFill>
              </a:rPr>
              <a:t>CPU</a:t>
            </a:r>
            <a:endParaRPr lang="zh-CN" altLang="en-US" dirty="0">
              <a:solidFill>
                <a:schemeClr val="hlink"/>
              </a:solidFill>
            </a:endParaRPr>
          </a:p>
          <a:p>
            <a:pPr eaLnBrk="1" hangingPunct="1"/>
            <a:r>
              <a:rPr lang="zh-CN" altLang="en-US" dirty="0"/>
              <a:t>软件： </a:t>
            </a:r>
            <a:endParaRPr lang="zh-CN" altLang="en-US" dirty="0"/>
          </a:p>
          <a:p>
            <a:pPr lvl="1" eaLnBrk="1" hangingPunct="1">
              <a:spcBef>
                <a:spcPct val="5000"/>
              </a:spcBef>
            </a:pPr>
            <a:r>
              <a:rPr lang="zh-CN" altLang="en-US" dirty="0"/>
              <a:t>外设与内存之间的数据传送是通过</a:t>
            </a:r>
            <a:r>
              <a:rPr lang="en-US" altLang="zh-CN" dirty="0"/>
              <a:t>CPU</a:t>
            </a:r>
            <a:r>
              <a:rPr lang="zh-CN" altLang="en-US" dirty="0"/>
              <a:t>执行程序来完成的（</a:t>
            </a:r>
            <a:r>
              <a:rPr lang="en-US" altLang="zh-CN" dirty="0"/>
              <a:t>PIO</a:t>
            </a:r>
            <a:r>
              <a:rPr lang="zh-CN" altLang="en-US" dirty="0"/>
              <a:t>方式）；</a:t>
            </a:r>
            <a:endParaRPr lang="zh-CN" altLang="en-US" dirty="0"/>
          </a:p>
          <a:p>
            <a:pPr eaLnBrk="1" hangingPunct="1">
              <a:spcBef>
                <a:spcPct val="35000"/>
              </a:spcBef>
            </a:pPr>
            <a:r>
              <a:rPr lang="zh-CN" altLang="en-US" dirty="0"/>
              <a:t>硬件：</a:t>
            </a:r>
            <a:endParaRPr lang="zh-CN" altLang="en-US" dirty="0"/>
          </a:p>
          <a:p>
            <a:pPr lvl="1" eaLnBrk="1" hangingPunct="1">
              <a:spcBef>
                <a:spcPct val="5000"/>
              </a:spcBef>
            </a:pPr>
            <a:r>
              <a:rPr lang="en-US" altLang="zh-CN" dirty="0"/>
              <a:t>I/O</a:t>
            </a:r>
            <a:r>
              <a:rPr lang="zh-CN" altLang="en-US" dirty="0"/>
              <a:t>接口和存储器的读写控制信号、地址信号都是由</a:t>
            </a:r>
            <a:r>
              <a:rPr lang="en-US" altLang="zh-CN" dirty="0"/>
              <a:t>CPU</a:t>
            </a:r>
            <a:r>
              <a:rPr lang="zh-CN" altLang="en-US" dirty="0"/>
              <a:t>发出的。</a:t>
            </a:r>
            <a:endParaRPr lang="zh-CN" altLang="en-US" dirty="0"/>
          </a:p>
          <a:p>
            <a:pPr eaLnBrk="1" hangingPunct="1">
              <a:spcBef>
                <a:spcPct val="35000"/>
              </a:spcBef>
            </a:pPr>
            <a:r>
              <a:rPr lang="zh-CN" altLang="en-US" dirty="0"/>
              <a:t> 缺点：</a:t>
            </a:r>
            <a:endParaRPr lang="zh-CN" altLang="en-US" dirty="0"/>
          </a:p>
          <a:p>
            <a:pPr lvl="1" eaLnBrk="1" hangingPunct="1">
              <a:spcBef>
                <a:spcPct val="5000"/>
              </a:spcBef>
            </a:pPr>
            <a:r>
              <a:rPr lang="zh-CN" altLang="en-US" dirty="0"/>
              <a:t>程序的执行速度限定了传送的最大速度</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70660">
                                            <p:txEl>
                                              <p:charRg st="0" end="13"/>
                                            </p:txEl>
                                          </p:spTgt>
                                        </p:tgtEl>
                                        <p:attrNameLst>
                                          <p:attrName>style.visibility</p:attrName>
                                        </p:attrNameLst>
                                      </p:cBhvr>
                                      <p:to>
                                        <p:strVal val="visible"/>
                                      </p:to>
                                    </p:set>
                                    <p:anim calcmode="lin" valueType="num">
                                      <p:cBhvr>
                                        <p:cTn id="7" dur="1000" fill="hold"/>
                                        <p:tgtEl>
                                          <p:spTgt spid="70660">
                                            <p:txEl>
                                              <p:charRg st="0" end="13"/>
                                            </p:txEl>
                                          </p:spTgt>
                                        </p:tgtEl>
                                        <p:attrNameLst>
                                          <p:attrName>ppt_w</p:attrName>
                                        </p:attrNameLst>
                                      </p:cBhvr>
                                      <p:tavLst>
                                        <p:tav tm="0">
                                          <p:val>
                                            <p:strVal val="#ppt_w*0.70"/>
                                          </p:val>
                                        </p:tav>
                                        <p:tav tm="100000">
                                          <p:val>
                                            <p:strVal val="#ppt_w"/>
                                          </p:val>
                                        </p:tav>
                                      </p:tavLst>
                                    </p:anim>
                                    <p:anim calcmode="lin" valueType="num">
                                      <p:cBhvr>
                                        <p:cTn id="8" dur="1000" fill="hold"/>
                                        <p:tgtEl>
                                          <p:spTgt spid="70660">
                                            <p:txEl>
                                              <p:charRg st="0" end="13"/>
                                            </p:txEl>
                                          </p:spTgt>
                                        </p:tgtEl>
                                        <p:attrNameLst>
                                          <p:attrName>ppt_h</p:attrName>
                                        </p:attrNameLst>
                                      </p:cBhvr>
                                      <p:tavLst>
                                        <p:tav tm="0">
                                          <p:val>
                                            <p:strVal val="#ppt_h"/>
                                          </p:val>
                                        </p:tav>
                                        <p:tav tm="100000">
                                          <p:val>
                                            <p:strVal val="#ppt_h"/>
                                          </p:val>
                                        </p:tav>
                                      </p:tavLst>
                                    </p:anim>
                                    <p:animEffect transition="in" filter="fade">
                                      <p:cBhvr>
                                        <p:cTn id="9" dur="1000"/>
                                        <p:tgtEl>
                                          <p:spTgt spid="70660">
                                            <p:txEl>
                                              <p:charRg st="0" end="13"/>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70660">
                                            <p:txEl>
                                              <p:charRg st="13" end="18"/>
                                            </p:txEl>
                                          </p:spTgt>
                                        </p:tgtEl>
                                        <p:attrNameLst>
                                          <p:attrName>style.visibility</p:attrName>
                                        </p:attrNameLst>
                                      </p:cBhvr>
                                      <p:to>
                                        <p:strVal val="visible"/>
                                      </p:to>
                                    </p:set>
                                    <p:animEffect transition="in" filter="wipe(left)">
                                      <p:cBhvr>
                                        <p:cTn id="14" dur="500"/>
                                        <p:tgtEl>
                                          <p:spTgt spid="70660">
                                            <p:txEl>
                                              <p:charRg st="13" end="18"/>
                                            </p:txEl>
                                          </p:spTgt>
                                        </p:tgtEl>
                                      </p:cBhvr>
                                    </p:animEffect>
                                  </p:childTnLst>
                                </p:cTn>
                              </p:par>
                            </p:childTnLst>
                          </p:cTn>
                        </p:par>
                        <p:par>
                          <p:cTn id="15" fill="hold">
                            <p:stCondLst>
                              <p:cond delay="500"/>
                            </p:stCondLst>
                            <p:childTnLst>
                              <p:par>
                                <p:cTn id="16" presetID="3" presetClass="entr" presetSubtype="10" fill="hold" nodeType="afterEffect">
                                  <p:stCondLst>
                                    <p:cond delay="0"/>
                                  </p:stCondLst>
                                  <p:childTnLst>
                                    <p:set>
                                      <p:cBhvr>
                                        <p:cTn id="17" dur="1" fill="hold">
                                          <p:stCondLst>
                                            <p:cond delay="0"/>
                                          </p:stCondLst>
                                        </p:cTn>
                                        <p:tgtEl>
                                          <p:spTgt spid="70660">
                                            <p:txEl>
                                              <p:charRg st="18" end="53"/>
                                            </p:txEl>
                                          </p:spTgt>
                                        </p:tgtEl>
                                        <p:attrNameLst>
                                          <p:attrName>style.visibility</p:attrName>
                                        </p:attrNameLst>
                                      </p:cBhvr>
                                      <p:to>
                                        <p:strVal val="visible"/>
                                      </p:to>
                                    </p:set>
                                    <p:animEffect transition="in" filter="blinds(horizontal)">
                                      <p:cBhvr>
                                        <p:cTn id="18" dur="500"/>
                                        <p:tgtEl>
                                          <p:spTgt spid="70660">
                                            <p:txEl>
                                              <p:charRg st="18" end="5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70660">
                                            <p:txEl>
                                              <p:charRg st="53" end="57"/>
                                            </p:txEl>
                                          </p:spTgt>
                                        </p:tgtEl>
                                        <p:attrNameLst>
                                          <p:attrName>style.visibility</p:attrName>
                                        </p:attrNameLst>
                                      </p:cBhvr>
                                      <p:to>
                                        <p:strVal val="visible"/>
                                      </p:to>
                                    </p:set>
                                    <p:animEffect transition="in" filter="wipe(left)">
                                      <p:cBhvr>
                                        <p:cTn id="23" dur="500"/>
                                        <p:tgtEl>
                                          <p:spTgt spid="70660">
                                            <p:txEl>
                                              <p:charRg st="53" end="57"/>
                                            </p:txEl>
                                          </p:spTgt>
                                        </p:tgtEl>
                                      </p:cBhvr>
                                    </p:animEffect>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70660">
                                            <p:txEl>
                                              <p:charRg st="57" end="89"/>
                                            </p:txEl>
                                          </p:spTgt>
                                        </p:tgtEl>
                                        <p:attrNameLst>
                                          <p:attrName>style.visibility</p:attrName>
                                        </p:attrNameLst>
                                      </p:cBhvr>
                                      <p:to>
                                        <p:strVal val="visible"/>
                                      </p:to>
                                    </p:set>
                                    <p:animEffect transition="in" filter="blinds(horizontal)">
                                      <p:cBhvr>
                                        <p:cTn id="27" dur="500"/>
                                        <p:tgtEl>
                                          <p:spTgt spid="70660">
                                            <p:txEl>
                                              <p:charRg st="57" end="8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0660">
                                            <p:txEl>
                                              <p:charRg st="89" end="94"/>
                                            </p:txEl>
                                          </p:spTgt>
                                        </p:tgtEl>
                                        <p:attrNameLst>
                                          <p:attrName>style.visibility</p:attrName>
                                        </p:attrNameLst>
                                      </p:cBhvr>
                                      <p:to>
                                        <p:strVal val="visible"/>
                                      </p:to>
                                    </p:set>
                                    <p:animEffect transition="in" filter="wipe(left)">
                                      <p:cBhvr>
                                        <p:cTn id="32" dur="500"/>
                                        <p:tgtEl>
                                          <p:spTgt spid="70660">
                                            <p:txEl>
                                              <p:charRg st="89" end="94"/>
                                            </p:txEl>
                                          </p:spTgt>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70660">
                                            <p:txEl>
                                              <p:charRg st="94" end="112"/>
                                            </p:txEl>
                                          </p:spTgt>
                                        </p:tgtEl>
                                        <p:attrNameLst>
                                          <p:attrName>style.visibility</p:attrName>
                                        </p:attrNameLst>
                                      </p:cBhvr>
                                      <p:to>
                                        <p:strVal val="visible"/>
                                      </p:to>
                                    </p:set>
                                    <p:animEffect transition="in" filter="wipe(left)">
                                      <p:cBhvr>
                                        <p:cTn id="36" dur="500"/>
                                        <p:tgtEl>
                                          <p:spTgt spid="70660">
                                            <p:txEl>
                                              <p:charRg st="94" end="1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51555" name="Rectangle 2"/>
          <p:cNvSpPr>
            <a:spLocks noGrp="1"/>
          </p:cNvSpPr>
          <p:nvPr>
            <p:ph type="title" idx="4294967295"/>
          </p:nvPr>
        </p:nvSpPr>
        <p:spPr/>
        <p:txBody>
          <a:bodyPr vert="horz" wrap="square" lIns="91440" tIns="45720" rIns="91440" bIns="45720" anchor="b" anchorCtr="0"/>
          <a:p>
            <a:pPr eaLnBrk="1" hangingPunct="1"/>
            <a:r>
              <a:rPr lang="zh-CN" altLang="en-US" dirty="0"/>
              <a:t>四、</a:t>
            </a:r>
            <a:r>
              <a:rPr lang="en-US" altLang="zh-CN" sz="4000" b="1" dirty="0"/>
              <a:t>DMA</a:t>
            </a:r>
            <a:r>
              <a:rPr lang="zh-CN" altLang="en-US" dirty="0"/>
              <a:t>控制方式</a:t>
            </a:r>
            <a:endParaRPr lang="zh-CN" altLang="en-US" dirty="0"/>
          </a:p>
        </p:txBody>
      </p:sp>
      <p:sp>
        <p:nvSpPr>
          <p:cNvPr id="71684" name="Rectangle 3"/>
          <p:cNvSpPr>
            <a:spLocks noGrp="1"/>
          </p:cNvSpPr>
          <p:nvPr>
            <p:ph type="body" idx="4294967295"/>
          </p:nvPr>
        </p:nvSpPr>
        <p:spPr>
          <a:xfrm>
            <a:off x="827088" y="2017713"/>
            <a:ext cx="8066087" cy="2924175"/>
          </a:xfrm>
        </p:spPr>
        <p:txBody>
          <a:bodyPr vert="horz" wrap="square" lIns="91440" tIns="45720" rIns="91440" bIns="45720" anchor="t" anchorCtr="0"/>
          <a:p>
            <a:pPr eaLnBrk="1" hangingPunct="1">
              <a:lnSpc>
                <a:spcPct val="120000"/>
              </a:lnSpc>
            </a:pPr>
            <a:r>
              <a:rPr lang="zh-CN" altLang="en-US" dirty="0"/>
              <a:t>特点：</a:t>
            </a:r>
            <a:endParaRPr lang="zh-CN" altLang="en-US" dirty="0"/>
          </a:p>
          <a:p>
            <a:pPr lvl="1" eaLnBrk="1" hangingPunct="1">
              <a:lnSpc>
                <a:spcPct val="120000"/>
              </a:lnSpc>
            </a:pPr>
            <a:r>
              <a:rPr lang="zh-CN" altLang="en-US" dirty="0"/>
              <a:t>外设直接与存储器进行数据交换 ，</a:t>
            </a:r>
            <a:r>
              <a:rPr lang="en-US" altLang="zh-CN" dirty="0"/>
              <a:t>CPU</a:t>
            </a:r>
            <a:r>
              <a:rPr lang="zh-CN" altLang="en-US" dirty="0"/>
              <a:t>不再担当数据传输的中介者；</a:t>
            </a:r>
            <a:endParaRPr lang="zh-CN" altLang="en-US" dirty="0"/>
          </a:p>
          <a:p>
            <a:pPr lvl="1" eaLnBrk="1" hangingPunct="1">
              <a:lnSpc>
                <a:spcPct val="120000"/>
              </a:lnSpc>
            </a:pPr>
            <a:r>
              <a:rPr lang="zh-CN" altLang="en-US" dirty="0"/>
              <a:t>总线由</a:t>
            </a:r>
            <a:r>
              <a:rPr lang="en-US" altLang="zh-CN" dirty="0"/>
              <a:t>DMA</a:t>
            </a:r>
            <a:r>
              <a:rPr lang="zh-CN" altLang="en-US" dirty="0"/>
              <a:t>控制器（</a:t>
            </a:r>
            <a:r>
              <a:rPr lang="en-US" altLang="zh-CN" dirty="0"/>
              <a:t>DMAC</a:t>
            </a:r>
            <a:r>
              <a:rPr lang="zh-CN" altLang="en-US" dirty="0"/>
              <a:t>）进行控制（</a:t>
            </a:r>
            <a:r>
              <a:rPr lang="en-US" altLang="zh-CN" dirty="0"/>
              <a:t>CPU</a:t>
            </a:r>
            <a:r>
              <a:rPr lang="zh-CN" altLang="en-US" dirty="0"/>
              <a:t>要放弃总线控制权），内存</a:t>
            </a:r>
            <a:r>
              <a:rPr lang="en-US" altLang="zh-CN" dirty="0"/>
              <a:t>/</a:t>
            </a:r>
            <a:r>
              <a:rPr lang="zh-CN" altLang="en-US" dirty="0"/>
              <a:t>外设的地址和读写控制信号均由</a:t>
            </a:r>
            <a:r>
              <a:rPr lang="en-US" altLang="zh-CN" dirty="0"/>
              <a:t>DMAC</a:t>
            </a:r>
            <a:r>
              <a:rPr lang="zh-CN" altLang="en-US" dirty="0"/>
              <a:t>提供。</a:t>
            </a:r>
            <a:endParaRPr lang="zh-CN" altLang="en-US" dirty="0"/>
          </a:p>
        </p:txBody>
      </p:sp>
      <p:sp>
        <p:nvSpPr>
          <p:cNvPr id="151557" name="矩形 1"/>
          <p:cNvSpPr/>
          <p:nvPr/>
        </p:nvSpPr>
        <p:spPr>
          <a:xfrm>
            <a:off x="827088" y="5157788"/>
            <a:ext cx="7777162" cy="1200150"/>
          </a:xfrm>
          <a:prstGeom prst="rect">
            <a:avLst/>
          </a:prstGeom>
          <a:noFill/>
          <a:ln w="2857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zh-CN" altLang="en-US" sz="2400" dirty="0">
                <a:solidFill>
                  <a:schemeClr val="tx1"/>
                </a:solidFill>
                <a:latin typeface="楷体_GB2312"/>
                <a:ea typeface="楷体_GB2312"/>
              </a:rPr>
              <a:t>这种专门的硬件电路就是</a:t>
            </a:r>
            <a:r>
              <a:rPr lang="en-US" altLang="zh-CN" sz="2400" dirty="0">
                <a:solidFill>
                  <a:schemeClr val="accent2"/>
                </a:solidFill>
                <a:latin typeface="楷体_GB2312"/>
                <a:ea typeface="楷体_GB2312"/>
              </a:rPr>
              <a:t>DMA</a:t>
            </a:r>
            <a:r>
              <a:rPr lang="zh-CN" altLang="en-US" sz="2400" dirty="0">
                <a:solidFill>
                  <a:schemeClr val="accent2"/>
                </a:solidFill>
                <a:latin typeface="楷体_GB2312"/>
                <a:ea typeface="楷体_GB2312"/>
              </a:rPr>
              <a:t>控制器</a:t>
            </a:r>
            <a:r>
              <a:rPr lang="zh-CN" altLang="en-US" sz="2400" dirty="0">
                <a:solidFill>
                  <a:schemeClr val="tx1"/>
                </a:solidFill>
                <a:latin typeface="楷体_GB2312"/>
                <a:ea typeface="楷体_GB2312"/>
              </a:rPr>
              <a:t>，简称为</a:t>
            </a:r>
            <a:r>
              <a:rPr lang="en-US" altLang="zh-CN" sz="2400" dirty="0">
                <a:solidFill>
                  <a:schemeClr val="tx1"/>
                </a:solidFill>
                <a:latin typeface="楷体_GB2312"/>
                <a:ea typeface="楷体_GB2312"/>
              </a:rPr>
              <a:t>DMAC</a:t>
            </a:r>
            <a:r>
              <a:rPr lang="zh-CN" altLang="en-US" sz="2400" dirty="0">
                <a:solidFill>
                  <a:schemeClr val="tx1"/>
                </a:solidFill>
                <a:latin typeface="楷体_GB2312"/>
                <a:ea typeface="楷体_GB2312"/>
              </a:rPr>
              <a:t>。该集成电路产品有</a:t>
            </a:r>
            <a:r>
              <a:rPr lang="en-US" altLang="zh-CN" sz="2400" dirty="0">
                <a:solidFill>
                  <a:schemeClr val="tx1"/>
                </a:solidFill>
                <a:latin typeface="楷体_GB2312"/>
                <a:ea typeface="楷体_GB2312"/>
              </a:rPr>
              <a:t>Zilog </a:t>
            </a:r>
            <a:r>
              <a:rPr lang="zh-CN" altLang="en-US" sz="2400" dirty="0">
                <a:solidFill>
                  <a:schemeClr val="tx1"/>
                </a:solidFill>
                <a:latin typeface="楷体_GB2312"/>
                <a:ea typeface="楷体_GB2312"/>
              </a:rPr>
              <a:t>公司的</a:t>
            </a:r>
            <a:r>
              <a:rPr lang="en-US" altLang="zh-CN" sz="2400" dirty="0">
                <a:solidFill>
                  <a:schemeClr val="tx1"/>
                </a:solidFill>
                <a:latin typeface="楷体_GB2312"/>
                <a:ea typeface="楷体_GB2312"/>
              </a:rPr>
              <a:t>Z80-DMA</a:t>
            </a:r>
            <a:r>
              <a:rPr lang="zh-CN" altLang="en-US" sz="2400" dirty="0">
                <a:solidFill>
                  <a:schemeClr val="tx1"/>
                </a:solidFill>
                <a:latin typeface="楷体_GB2312"/>
                <a:ea typeface="楷体_GB2312"/>
              </a:rPr>
              <a:t>，</a:t>
            </a:r>
            <a:r>
              <a:rPr lang="en-US" altLang="zh-CN" sz="2400" dirty="0">
                <a:solidFill>
                  <a:schemeClr val="tx1"/>
                </a:solidFill>
                <a:latin typeface="楷体_GB2312"/>
                <a:ea typeface="楷体_GB2312"/>
              </a:rPr>
              <a:t>Intel</a:t>
            </a:r>
            <a:r>
              <a:rPr lang="zh-CN" altLang="en-US" sz="2400" dirty="0">
                <a:solidFill>
                  <a:schemeClr val="tx1"/>
                </a:solidFill>
                <a:latin typeface="楷体_GB2312"/>
                <a:ea typeface="楷体_GB2312"/>
              </a:rPr>
              <a:t>公司的</a:t>
            </a:r>
            <a:r>
              <a:rPr lang="en-US" altLang="zh-CN" sz="2400" dirty="0">
                <a:solidFill>
                  <a:schemeClr val="tx1"/>
                </a:solidFill>
                <a:latin typeface="楷体_GB2312"/>
                <a:ea typeface="楷体_GB2312"/>
              </a:rPr>
              <a:t>8257</a:t>
            </a:r>
            <a:r>
              <a:rPr lang="zh-CN" altLang="en-US" sz="2400" dirty="0">
                <a:solidFill>
                  <a:schemeClr val="tx1"/>
                </a:solidFill>
                <a:latin typeface="楷体_GB2312"/>
                <a:ea typeface="楷体_GB2312"/>
              </a:rPr>
              <a:t>，</a:t>
            </a:r>
            <a:r>
              <a:rPr lang="en-US" altLang="zh-CN" sz="2400" dirty="0">
                <a:solidFill>
                  <a:schemeClr val="accent2"/>
                </a:solidFill>
                <a:latin typeface="楷体_GB2312"/>
                <a:ea typeface="楷体_GB2312"/>
              </a:rPr>
              <a:t>8237A</a:t>
            </a:r>
            <a:r>
              <a:rPr lang="zh-CN" altLang="en-US" sz="2400" dirty="0">
                <a:solidFill>
                  <a:schemeClr val="tx1"/>
                </a:solidFill>
                <a:latin typeface="楷体_GB2312"/>
                <a:ea typeface="楷体_GB2312"/>
              </a:rPr>
              <a:t>和</a:t>
            </a:r>
            <a:r>
              <a:rPr lang="en-US" altLang="zh-CN" sz="2400" dirty="0">
                <a:solidFill>
                  <a:schemeClr val="tx1"/>
                </a:solidFill>
                <a:latin typeface="楷体_GB2312"/>
                <a:ea typeface="楷体_GB2312"/>
              </a:rPr>
              <a:t>Motorola</a:t>
            </a:r>
            <a:r>
              <a:rPr lang="zh-CN" altLang="en-US" sz="2400" dirty="0">
                <a:solidFill>
                  <a:schemeClr val="tx1"/>
                </a:solidFill>
                <a:latin typeface="楷体_GB2312"/>
                <a:ea typeface="楷体_GB2312"/>
              </a:rPr>
              <a:t>的</a:t>
            </a:r>
            <a:r>
              <a:rPr lang="en-US" altLang="zh-CN" sz="2400" dirty="0">
                <a:solidFill>
                  <a:schemeClr val="tx1"/>
                </a:solidFill>
                <a:latin typeface="楷体_GB2312"/>
                <a:ea typeface="楷体_GB2312"/>
              </a:rPr>
              <a:t>MC6844</a:t>
            </a:r>
            <a:r>
              <a:rPr lang="zh-CN" altLang="en-US" sz="2400" dirty="0">
                <a:solidFill>
                  <a:schemeClr val="tx1"/>
                </a:solidFill>
                <a:latin typeface="楷体_GB2312"/>
                <a:ea typeface="楷体_GB2312"/>
              </a:rPr>
              <a:t>等。 </a:t>
            </a:r>
            <a:endParaRPr lang="zh-CN" altLang="en-US" sz="2400" dirty="0">
              <a:solidFill>
                <a:schemeClr val="tx1"/>
              </a:solidFill>
              <a:latin typeface="楷体_GB2312"/>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1684">
                                            <p:txEl>
                                              <p:charRg st="0" end="4"/>
                                            </p:txEl>
                                          </p:spTgt>
                                        </p:tgtEl>
                                        <p:attrNameLst>
                                          <p:attrName>style.visibility</p:attrName>
                                        </p:attrNameLst>
                                      </p:cBhvr>
                                      <p:to>
                                        <p:strVal val="visible"/>
                                      </p:to>
                                    </p:set>
                                    <p:animEffect transition="in" filter="wipe(left)">
                                      <p:cBhvr>
                                        <p:cTn id="7" dur="500"/>
                                        <p:tgtEl>
                                          <p:spTgt spid="71684">
                                            <p:txEl>
                                              <p:charRg st="0"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71684">
                                            <p:txEl>
                                              <p:charRg st="4" end="37"/>
                                            </p:txEl>
                                          </p:spTgt>
                                        </p:tgtEl>
                                        <p:attrNameLst>
                                          <p:attrName>style.visibility</p:attrName>
                                        </p:attrNameLst>
                                      </p:cBhvr>
                                      <p:to>
                                        <p:strVal val="visible"/>
                                      </p:to>
                                    </p:set>
                                    <p:anim calcmode="lin" valueType="num">
                                      <p:cBhvr>
                                        <p:cTn id="12" dur="1000" fill="hold"/>
                                        <p:tgtEl>
                                          <p:spTgt spid="71684">
                                            <p:txEl>
                                              <p:charRg st="4" end="37"/>
                                            </p:txEl>
                                          </p:spTgt>
                                        </p:tgtEl>
                                        <p:attrNameLst>
                                          <p:attrName>ppt_w</p:attrName>
                                        </p:attrNameLst>
                                      </p:cBhvr>
                                      <p:tavLst>
                                        <p:tav tm="0">
                                          <p:val>
                                            <p:strVal val="#ppt_w*0.70"/>
                                          </p:val>
                                        </p:tav>
                                        <p:tav tm="100000">
                                          <p:val>
                                            <p:strVal val="#ppt_w"/>
                                          </p:val>
                                        </p:tav>
                                      </p:tavLst>
                                    </p:anim>
                                    <p:anim calcmode="lin" valueType="num">
                                      <p:cBhvr>
                                        <p:cTn id="13" dur="1000" fill="hold"/>
                                        <p:tgtEl>
                                          <p:spTgt spid="71684">
                                            <p:txEl>
                                              <p:charRg st="4" end="37"/>
                                            </p:txEl>
                                          </p:spTgt>
                                        </p:tgtEl>
                                        <p:attrNameLst>
                                          <p:attrName>ppt_h</p:attrName>
                                        </p:attrNameLst>
                                      </p:cBhvr>
                                      <p:tavLst>
                                        <p:tav tm="0">
                                          <p:val>
                                            <p:strVal val="#ppt_h"/>
                                          </p:val>
                                        </p:tav>
                                        <p:tav tm="100000">
                                          <p:val>
                                            <p:strVal val="#ppt_h"/>
                                          </p:val>
                                        </p:tav>
                                      </p:tavLst>
                                    </p:anim>
                                    <p:animEffect transition="in" filter="fade">
                                      <p:cBhvr>
                                        <p:cTn id="14" dur="1000"/>
                                        <p:tgtEl>
                                          <p:spTgt spid="71684">
                                            <p:txEl>
                                              <p:charRg st="4" end="37"/>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71684">
                                            <p:txEl>
                                              <p:charRg st="37" end="95"/>
                                            </p:txEl>
                                          </p:spTgt>
                                        </p:tgtEl>
                                        <p:attrNameLst>
                                          <p:attrName>style.visibility</p:attrName>
                                        </p:attrNameLst>
                                      </p:cBhvr>
                                      <p:to>
                                        <p:strVal val="visible"/>
                                      </p:to>
                                    </p:set>
                                    <p:anim calcmode="lin" valueType="num">
                                      <p:cBhvr>
                                        <p:cTn id="19" dur="1000" fill="hold"/>
                                        <p:tgtEl>
                                          <p:spTgt spid="71684">
                                            <p:txEl>
                                              <p:charRg st="37" end="95"/>
                                            </p:txEl>
                                          </p:spTgt>
                                        </p:tgtEl>
                                        <p:attrNameLst>
                                          <p:attrName>ppt_w</p:attrName>
                                        </p:attrNameLst>
                                      </p:cBhvr>
                                      <p:tavLst>
                                        <p:tav tm="0">
                                          <p:val>
                                            <p:strVal val="#ppt_w*0.70"/>
                                          </p:val>
                                        </p:tav>
                                        <p:tav tm="100000">
                                          <p:val>
                                            <p:strVal val="#ppt_w"/>
                                          </p:val>
                                        </p:tav>
                                      </p:tavLst>
                                    </p:anim>
                                    <p:anim calcmode="lin" valueType="num">
                                      <p:cBhvr>
                                        <p:cTn id="20" dur="1000" fill="hold"/>
                                        <p:tgtEl>
                                          <p:spTgt spid="71684">
                                            <p:txEl>
                                              <p:charRg st="37" end="95"/>
                                            </p:txEl>
                                          </p:spTgt>
                                        </p:tgtEl>
                                        <p:attrNameLst>
                                          <p:attrName>ppt_h</p:attrName>
                                        </p:attrNameLst>
                                      </p:cBhvr>
                                      <p:tavLst>
                                        <p:tav tm="0">
                                          <p:val>
                                            <p:strVal val="#ppt_h"/>
                                          </p:val>
                                        </p:tav>
                                        <p:tav tm="100000">
                                          <p:val>
                                            <p:strVal val="#ppt_h"/>
                                          </p:val>
                                        </p:tav>
                                      </p:tavLst>
                                    </p:anim>
                                    <p:animEffect transition="in" filter="fade">
                                      <p:cBhvr>
                                        <p:cTn id="21" dur="1000"/>
                                        <p:tgtEl>
                                          <p:spTgt spid="71684">
                                            <p:txEl>
                                              <p:charRg st="37" end="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52579" name="Rectangle 2"/>
          <p:cNvSpPr>
            <a:spLocks noGrp="1"/>
          </p:cNvSpPr>
          <p:nvPr>
            <p:ph type="title" idx="4294967295"/>
          </p:nvPr>
        </p:nvSpPr>
        <p:spPr>
          <a:xfrm>
            <a:off x="1116013" y="260350"/>
            <a:ext cx="7793037" cy="1462088"/>
          </a:xfrm>
        </p:spPr>
        <p:txBody>
          <a:bodyPr vert="horz" wrap="square" lIns="91440" tIns="45720" rIns="91440" bIns="45720" anchor="b" anchorCtr="0"/>
          <a:p>
            <a:pPr eaLnBrk="1" hangingPunct="1"/>
            <a:r>
              <a:rPr lang="en-US" altLang="zh-CN" dirty="0"/>
              <a:t>DMA</a:t>
            </a:r>
            <a:r>
              <a:rPr lang="zh-CN" altLang="en-US" dirty="0"/>
              <a:t>控制方式</a:t>
            </a:r>
            <a:endParaRPr lang="zh-CN" altLang="en-US" dirty="0"/>
          </a:p>
        </p:txBody>
      </p:sp>
      <p:sp>
        <p:nvSpPr>
          <p:cNvPr id="152580" name="Rectangle 4"/>
          <p:cNvSpPr/>
          <p:nvPr/>
        </p:nvSpPr>
        <p:spPr>
          <a:xfrm>
            <a:off x="1371600" y="4179888"/>
            <a:ext cx="1219200" cy="2057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52581" name="Rectangle 5"/>
          <p:cNvSpPr/>
          <p:nvPr/>
        </p:nvSpPr>
        <p:spPr>
          <a:xfrm>
            <a:off x="4038600" y="4179888"/>
            <a:ext cx="1219200" cy="2057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52582" name="Rectangle 6"/>
          <p:cNvSpPr/>
          <p:nvPr/>
        </p:nvSpPr>
        <p:spPr>
          <a:xfrm>
            <a:off x="6705600" y="4179888"/>
            <a:ext cx="1219200" cy="2057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72711" name="Line 7"/>
          <p:cNvSpPr/>
          <p:nvPr/>
        </p:nvSpPr>
        <p:spPr>
          <a:xfrm flipH="1">
            <a:off x="5257800" y="4637088"/>
            <a:ext cx="1447800" cy="0"/>
          </a:xfrm>
          <a:prstGeom prst="line">
            <a:avLst/>
          </a:prstGeom>
          <a:ln w="25400" cap="sq" cmpd="sng">
            <a:solidFill>
              <a:srgbClr val="FF6600"/>
            </a:solidFill>
            <a:prstDash val="solid"/>
            <a:bevel/>
            <a:headEnd type="none" w="med" len="med"/>
            <a:tailEnd type="triangle" w="lg" len="lg"/>
          </a:ln>
        </p:spPr>
      </p:sp>
      <p:sp>
        <p:nvSpPr>
          <p:cNvPr id="152584" name="Text Box 8"/>
          <p:cNvSpPr txBox="1"/>
          <p:nvPr/>
        </p:nvSpPr>
        <p:spPr>
          <a:xfrm>
            <a:off x="4114800" y="4865688"/>
            <a:ext cx="126365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400" dirty="0">
                <a:solidFill>
                  <a:srgbClr val="FFFFFF"/>
                </a:solidFill>
                <a:latin typeface="Times New Roman" panose="02020603050405020304" pitchFamily="18" charset="0"/>
                <a:ea typeface="楷体_GB2312"/>
              </a:rPr>
              <a:t>DMAC</a:t>
            </a:r>
            <a:endParaRPr lang="en-US" altLang="zh-CN" sz="2400" dirty="0">
              <a:solidFill>
                <a:srgbClr val="FFFFFF"/>
              </a:solidFill>
              <a:latin typeface="Times New Roman" panose="02020603050405020304" pitchFamily="18" charset="0"/>
              <a:ea typeface="楷体_GB2312"/>
            </a:endParaRPr>
          </a:p>
        </p:txBody>
      </p:sp>
      <p:sp>
        <p:nvSpPr>
          <p:cNvPr id="152585" name="Text Box 9"/>
          <p:cNvSpPr txBox="1"/>
          <p:nvPr/>
        </p:nvSpPr>
        <p:spPr>
          <a:xfrm>
            <a:off x="6934200" y="4789488"/>
            <a:ext cx="838200" cy="82232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400" dirty="0">
                <a:solidFill>
                  <a:srgbClr val="FFFFFF"/>
                </a:solidFill>
                <a:latin typeface="Times New Roman" panose="02020603050405020304" pitchFamily="18" charset="0"/>
                <a:ea typeface="楷体_GB2312"/>
              </a:rPr>
              <a:t>外设</a:t>
            </a:r>
            <a:endParaRPr lang="zh-CN" altLang="en-US" sz="2400" dirty="0">
              <a:solidFill>
                <a:srgbClr val="FFFFFF"/>
              </a:solidFill>
              <a:latin typeface="Times New Roman" panose="02020603050405020304" pitchFamily="18" charset="0"/>
              <a:ea typeface="楷体_GB2312"/>
            </a:endParaRPr>
          </a:p>
          <a:p>
            <a:pPr marL="0" lvl="0" indent="0">
              <a:lnSpc>
                <a:spcPct val="100000"/>
              </a:lnSpc>
              <a:spcBef>
                <a:spcPct val="0"/>
              </a:spcBef>
              <a:spcAft>
                <a:spcPct val="0"/>
              </a:spcAft>
              <a:buClrTx/>
              <a:buSzTx/>
              <a:buNone/>
            </a:pPr>
            <a:r>
              <a:rPr lang="zh-CN" altLang="en-US" sz="2400" dirty="0">
                <a:solidFill>
                  <a:srgbClr val="FFFFFF"/>
                </a:solidFill>
                <a:latin typeface="Times New Roman" panose="02020603050405020304" pitchFamily="18" charset="0"/>
                <a:ea typeface="楷体_GB2312"/>
              </a:rPr>
              <a:t>接口</a:t>
            </a:r>
            <a:endParaRPr lang="zh-CN" altLang="en-US" sz="2400" dirty="0">
              <a:solidFill>
                <a:srgbClr val="FFFFFF"/>
              </a:solidFill>
              <a:latin typeface="Times New Roman" panose="02020603050405020304" pitchFamily="18" charset="0"/>
              <a:ea typeface="楷体_GB2312"/>
            </a:endParaRPr>
          </a:p>
        </p:txBody>
      </p:sp>
      <p:sp>
        <p:nvSpPr>
          <p:cNvPr id="152586" name="Text Box 10"/>
          <p:cNvSpPr txBox="1"/>
          <p:nvPr/>
        </p:nvSpPr>
        <p:spPr>
          <a:xfrm>
            <a:off x="1600200" y="4941888"/>
            <a:ext cx="10668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400" dirty="0">
                <a:solidFill>
                  <a:srgbClr val="FFFFFF"/>
                </a:solidFill>
                <a:latin typeface="Times New Roman" panose="02020603050405020304" pitchFamily="18" charset="0"/>
                <a:ea typeface="楷体_GB2312"/>
              </a:rPr>
              <a:t>CPU</a:t>
            </a:r>
            <a:endParaRPr lang="en-US" altLang="zh-CN" sz="2400" dirty="0">
              <a:solidFill>
                <a:srgbClr val="FFFFFF"/>
              </a:solidFill>
              <a:latin typeface="Times New Roman" panose="02020603050405020304" pitchFamily="18" charset="0"/>
              <a:ea typeface="楷体_GB2312"/>
            </a:endParaRPr>
          </a:p>
        </p:txBody>
      </p:sp>
      <p:sp>
        <p:nvSpPr>
          <p:cNvPr id="72715" name="Text Box 11"/>
          <p:cNvSpPr txBox="1"/>
          <p:nvPr/>
        </p:nvSpPr>
        <p:spPr>
          <a:xfrm>
            <a:off x="5486400" y="4179888"/>
            <a:ext cx="10668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400" dirty="0">
                <a:solidFill>
                  <a:srgbClr val="000000"/>
                </a:solidFill>
                <a:latin typeface="Times New Roman" panose="02020603050405020304" pitchFamily="18" charset="0"/>
                <a:ea typeface="楷体_GB2312"/>
              </a:rPr>
              <a:t>DRQ</a:t>
            </a:r>
            <a:endParaRPr lang="en-US" altLang="zh-CN" sz="2400" dirty="0">
              <a:solidFill>
                <a:srgbClr val="000000"/>
              </a:solidFill>
              <a:latin typeface="Times New Roman" panose="02020603050405020304" pitchFamily="18" charset="0"/>
              <a:ea typeface="楷体_GB2312"/>
            </a:endParaRPr>
          </a:p>
        </p:txBody>
      </p:sp>
      <p:sp>
        <p:nvSpPr>
          <p:cNvPr id="72716" name="Line 12"/>
          <p:cNvSpPr/>
          <p:nvPr/>
        </p:nvSpPr>
        <p:spPr>
          <a:xfrm flipH="1">
            <a:off x="2590800" y="4637088"/>
            <a:ext cx="1447800" cy="0"/>
          </a:xfrm>
          <a:prstGeom prst="line">
            <a:avLst/>
          </a:prstGeom>
          <a:ln w="25400" cap="sq" cmpd="sng">
            <a:solidFill>
              <a:srgbClr val="FF6600"/>
            </a:solidFill>
            <a:prstDash val="solid"/>
            <a:bevel/>
            <a:headEnd type="none" w="med" len="med"/>
            <a:tailEnd type="triangle" w="lg" len="lg"/>
          </a:ln>
        </p:spPr>
      </p:sp>
      <p:sp>
        <p:nvSpPr>
          <p:cNvPr id="72717" name="Line 13"/>
          <p:cNvSpPr/>
          <p:nvPr/>
        </p:nvSpPr>
        <p:spPr>
          <a:xfrm>
            <a:off x="2590800" y="5780088"/>
            <a:ext cx="1447800" cy="0"/>
          </a:xfrm>
          <a:prstGeom prst="line">
            <a:avLst/>
          </a:prstGeom>
          <a:ln w="25400" cap="sq" cmpd="sng">
            <a:solidFill>
              <a:srgbClr val="FF6600"/>
            </a:solidFill>
            <a:prstDash val="solid"/>
            <a:bevel/>
            <a:headEnd type="none" w="med" len="med"/>
            <a:tailEnd type="triangle" w="lg" len="lg"/>
          </a:ln>
        </p:spPr>
      </p:sp>
      <p:sp>
        <p:nvSpPr>
          <p:cNvPr id="72718" name="Line 14"/>
          <p:cNvSpPr/>
          <p:nvPr/>
        </p:nvSpPr>
        <p:spPr>
          <a:xfrm>
            <a:off x="5257800" y="5780088"/>
            <a:ext cx="1447800" cy="0"/>
          </a:xfrm>
          <a:prstGeom prst="line">
            <a:avLst/>
          </a:prstGeom>
          <a:ln w="25400" cap="sq" cmpd="sng">
            <a:solidFill>
              <a:srgbClr val="FF6600"/>
            </a:solidFill>
            <a:prstDash val="solid"/>
            <a:bevel/>
            <a:headEnd type="none" w="med" len="med"/>
            <a:tailEnd type="triangle" w="lg" len="lg"/>
          </a:ln>
        </p:spPr>
      </p:sp>
      <p:sp>
        <p:nvSpPr>
          <p:cNvPr id="152591" name="Rectangle 15"/>
          <p:cNvSpPr/>
          <p:nvPr/>
        </p:nvSpPr>
        <p:spPr>
          <a:xfrm>
            <a:off x="6443663" y="1916113"/>
            <a:ext cx="1600200" cy="914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72720" name="AutoShape 16"/>
          <p:cNvSpPr/>
          <p:nvPr/>
        </p:nvSpPr>
        <p:spPr>
          <a:xfrm>
            <a:off x="7134225" y="2852738"/>
            <a:ext cx="333375" cy="1296987"/>
          </a:xfrm>
          <a:prstGeom prst="upDownArrow">
            <a:avLst>
              <a:gd name="adj1" fmla="val 50000"/>
              <a:gd name="adj2" fmla="val 77593"/>
            </a:avLst>
          </a:prstGeom>
          <a:solidFill>
            <a:srgbClr val="FF6600"/>
          </a:solidFill>
          <a:ln w="25400" cap="sq" cmpd="sng">
            <a:solidFill>
              <a:srgbClr val="FF6600"/>
            </a:solidFill>
            <a:prstDash val="solid"/>
            <a:miter/>
            <a:headEnd type="none" w="med" len="med"/>
            <a:tailEnd type="none" w="med" len="med"/>
          </a:ln>
        </p:spPr>
        <p:txBody>
          <a:bodyPr vert="eaVert"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52593" name="Text Box 17"/>
          <p:cNvSpPr txBox="1"/>
          <p:nvPr/>
        </p:nvSpPr>
        <p:spPr>
          <a:xfrm>
            <a:off x="6791325" y="2144713"/>
            <a:ext cx="126365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400" dirty="0">
                <a:solidFill>
                  <a:srgbClr val="FFFFFF"/>
                </a:solidFill>
                <a:latin typeface="Times New Roman" panose="02020603050405020304" pitchFamily="18" charset="0"/>
                <a:ea typeface="楷体_GB2312"/>
              </a:rPr>
              <a:t>MEM</a:t>
            </a:r>
            <a:endParaRPr lang="en-US" altLang="zh-CN" sz="2400" dirty="0">
              <a:solidFill>
                <a:srgbClr val="FFFFFF"/>
              </a:solidFill>
              <a:latin typeface="Times New Roman" panose="02020603050405020304" pitchFamily="18" charset="0"/>
              <a:ea typeface="楷体_GB2312"/>
            </a:endParaRPr>
          </a:p>
        </p:txBody>
      </p:sp>
      <p:sp>
        <p:nvSpPr>
          <p:cNvPr id="152594" name="AutoShape 22"/>
          <p:cNvSpPr/>
          <p:nvPr/>
        </p:nvSpPr>
        <p:spPr>
          <a:xfrm>
            <a:off x="914400" y="3121025"/>
            <a:ext cx="838200" cy="457200"/>
          </a:xfrm>
          <a:prstGeom prst="leftArrow">
            <a:avLst>
              <a:gd name="adj1" fmla="val 50000"/>
              <a:gd name="adj2" fmla="val 45731"/>
            </a:avLst>
          </a:prstGeom>
          <a:solidFill>
            <a:srgbClr val="FF6600"/>
          </a:solidFill>
          <a:ln w="25400" cap="sq"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52595" name="AutoShape 23"/>
          <p:cNvSpPr/>
          <p:nvPr/>
        </p:nvSpPr>
        <p:spPr>
          <a:xfrm>
            <a:off x="7620000" y="3121025"/>
            <a:ext cx="914400" cy="457200"/>
          </a:xfrm>
          <a:prstGeom prst="rightArrow">
            <a:avLst>
              <a:gd name="adj1" fmla="val 50000"/>
              <a:gd name="adj2" fmla="val 50000"/>
            </a:avLst>
          </a:prstGeom>
          <a:solidFill>
            <a:srgbClr val="FF6600"/>
          </a:solidFill>
          <a:ln w="25400" cap="sq"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52596" name="Rectangle 24"/>
          <p:cNvSpPr/>
          <p:nvPr/>
        </p:nvSpPr>
        <p:spPr>
          <a:xfrm>
            <a:off x="1752600" y="3240088"/>
            <a:ext cx="5943600" cy="228600"/>
          </a:xfrm>
          <a:prstGeom prst="rect">
            <a:avLst/>
          </a:prstGeom>
          <a:solidFill>
            <a:srgbClr val="FF6600"/>
          </a:solidFill>
          <a:ln w="25400" cap="sq"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72725" name="Line 25"/>
          <p:cNvSpPr/>
          <p:nvPr/>
        </p:nvSpPr>
        <p:spPr>
          <a:xfrm flipV="1">
            <a:off x="4284663" y="3500438"/>
            <a:ext cx="0" cy="679450"/>
          </a:xfrm>
          <a:prstGeom prst="line">
            <a:avLst/>
          </a:prstGeom>
          <a:ln w="25400" cap="sq" cmpd="sng">
            <a:solidFill>
              <a:srgbClr val="FF6600"/>
            </a:solidFill>
            <a:prstDash val="solid"/>
            <a:bevel/>
            <a:headEnd type="none" w="med" len="med"/>
            <a:tailEnd type="triangle" w="lg" len="lg"/>
          </a:ln>
        </p:spPr>
      </p:sp>
      <p:sp>
        <p:nvSpPr>
          <p:cNvPr id="72726" name="Line 26"/>
          <p:cNvSpPr/>
          <p:nvPr/>
        </p:nvSpPr>
        <p:spPr>
          <a:xfrm flipV="1">
            <a:off x="4953000" y="3500438"/>
            <a:ext cx="0" cy="679450"/>
          </a:xfrm>
          <a:prstGeom prst="line">
            <a:avLst/>
          </a:prstGeom>
          <a:ln w="25400" cap="sq" cmpd="sng">
            <a:solidFill>
              <a:srgbClr val="FF6600"/>
            </a:solidFill>
            <a:prstDash val="solid"/>
            <a:bevel/>
            <a:headEnd type="none" w="med" len="med"/>
            <a:tailEnd type="triangle" w="lg" len="lg"/>
          </a:ln>
        </p:spPr>
      </p:sp>
      <p:sp>
        <p:nvSpPr>
          <p:cNvPr id="72727" name="Text Box 27"/>
          <p:cNvSpPr txBox="1"/>
          <p:nvPr/>
        </p:nvSpPr>
        <p:spPr>
          <a:xfrm>
            <a:off x="5368925" y="5322888"/>
            <a:ext cx="12192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400" dirty="0">
                <a:solidFill>
                  <a:srgbClr val="000000"/>
                </a:solidFill>
                <a:latin typeface="Times New Roman" panose="02020603050405020304" pitchFamily="18" charset="0"/>
                <a:ea typeface="楷体_GB2312"/>
              </a:rPr>
              <a:t>DACK</a:t>
            </a:r>
            <a:endParaRPr lang="en-US" altLang="zh-CN" sz="2400" dirty="0">
              <a:solidFill>
                <a:srgbClr val="000000"/>
              </a:solidFill>
              <a:latin typeface="Times New Roman" panose="02020603050405020304" pitchFamily="18" charset="0"/>
              <a:ea typeface="楷体_GB2312"/>
            </a:endParaRPr>
          </a:p>
        </p:txBody>
      </p:sp>
      <p:sp>
        <p:nvSpPr>
          <p:cNvPr id="72728" name="Text Box 28"/>
          <p:cNvSpPr txBox="1"/>
          <p:nvPr/>
        </p:nvSpPr>
        <p:spPr>
          <a:xfrm>
            <a:off x="2555875" y="4149725"/>
            <a:ext cx="12954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400" dirty="0">
                <a:solidFill>
                  <a:srgbClr val="000000"/>
                </a:solidFill>
                <a:latin typeface="Times New Roman" panose="02020603050405020304" pitchFamily="18" charset="0"/>
                <a:ea typeface="楷体_GB2312"/>
              </a:rPr>
              <a:t>HOLD</a:t>
            </a:r>
            <a:endParaRPr lang="en-US" altLang="zh-CN" sz="2400" dirty="0">
              <a:solidFill>
                <a:srgbClr val="000000"/>
              </a:solidFill>
              <a:latin typeface="Times New Roman" panose="02020603050405020304" pitchFamily="18" charset="0"/>
              <a:ea typeface="楷体_GB2312"/>
            </a:endParaRPr>
          </a:p>
        </p:txBody>
      </p:sp>
      <p:sp>
        <p:nvSpPr>
          <p:cNvPr id="72729" name="Text Box 29"/>
          <p:cNvSpPr txBox="1"/>
          <p:nvPr/>
        </p:nvSpPr>
        <p:spPr>
          <a:xfrm>
            <a:off x="2555875" y="5300663"/>
            <a:ext cx="12954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400" dirty="0">
                <a:solidFill>
                  <a:srgbClr val="000000"/>
                </a:solidFill>
                <a:latin typeface="Times New Roman" panose="02020603050405020304" pitchFamily="18" charset="0"/>
                <a:ea typeface="楷体_GB2312"/>
              </a:rPr>
              <a:t>HLDA</a:t>
            </a:r>
            <a:endParaRPr lang="en-US" altLang="zh-CN" sz="2400" dirty="0">
              <a:solidFill>
                <a:srgbClr val="000000"/>
              </a:solidFill>
              <a:latin typeface="Times New Roman" panose="02020603050405020304" pitchFamily="18" charset="0"/>
              <a:ea typeface="楷体_GB2312"/>
            </a:endParaRPr>
          </a:p>
        </p:txBody>
      </p:sp>
      <p:sp>
        <p:nvSpPr>
          <p:cNvPr id="72730" name="Text Box 30"/>
          <p:cNvSpPr txBox="1"/>
          <p:nvPr/>
        </p:nvSpPr>
        <p:spPr>
          <a:xfrm>
            <a:off x="4295775" y="3435350"/>
            <a:ext cx="838200" cy="6413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3600" dirty="0">
                <a:solidFill>
                  <a:srgbClr val="000000"/>
                </a:solidFill>
                <a:latin typeface="Times New Roman" panose="02020603050405020304" pitchFamily="18" charset="0"/>
                <a:ea typeface="楷体_GB2312"/>
              </a:rPr>
              <a:t>…</a:t>
            </a:r>
            <a:endParaRPr lang="en-US" altLang="zh-CN" sz="3600" dirty="0">
              <a:solidFill>
                <a:srgbClr val="000000"/>
              </a:solidFill>
              <a:latin typeface="Times New Roman" panose="02020603050405020304" pitchFamily="18" charset="0"/>
              <a:ea typeface="楷体_GB2312"/>
            </a:endParaRPr>
          </a:p>
        </p:txBody>
      </p:sp>
      <p:sp>
        <p:nvSpPr>
          <p:cNvPr id="152603" name="Text Box 31"/>
          <p:cNvSpPr txBox="1"/>
          <p:nvPr/>
        </p:nvSpPr>
        <p:spPr>
          <a:xfrm>
            <a:off x="2057400" y="2678113"/>
            <a:ext cx="9144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400" dirty="0">
                <a:solidFill>
                  <a:srgbClr val="000000"/>
                </a:solidFill>
                <a:latin typeface="Times New Roman" panose="02020603050405020304" pitchFamily="18" charset="0"/>
                <a:ea typeface="楷体_GB2312"/>
              </a:rPr>
              <a:t>BUS</a:t>
            </a:r>
            <a:endParaRPr lang="en-US" altLang="zh-CN" sz="2400" dirty="0">
              <a:solidFill>
                <a:srgbClr val="000000"/>
              </a:solidFill>
              <a:latin typeface="Times New Roman" panose="02020603050405020304" pitchFamily="18" charset="0"/>
              <a:ea typeface="楷体_GB2312"/>
            </a:endParaRPr>
          </a:p>
        </p:txBody>
      </p:sp>
      <p:sp>
        <p:nvSpPr>
          <p:cNvPr id="72732" name="Text Box 32"/>
          <p:cNvSpPr txBox="1"/>
          <p:nvPr/>
        </p:nvSpPr>
        <p:spPr>
          <a:xfrm>
            <a:off x="4932363" y="3573463"/>
            <a:ext cx="1524000"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dirty="0">
                <a:solidFill>
                  <a:srgbClr val="000000"/>
                </a:solidFill>
                <a:latin typeface="Times New Roman" panose="02020603050405020304" pitchFamily="18" charset="0"/>
                <a:ea typeface="楷体_GB2312"/>
              </a:rPr>
              <a:t>控制信号</a:t>
            </a:r>
            <a:endParaRPr lang="zh-CN" altLang="en-US" sz="2000" dirty="0">
              <a:solidFill>
                <a:srgbClr val="000000"/>
              </a:solidFill>
              <a:latin typeface="Times New Roman" panose="02020603050405020304" pitchFamily="18" charset="0"/>
              <a:ea typeface="楷体_GB2312"/>
            </a:endParaRPr>
          </a:p>
        </p:txBody>
      </p:sp>
      <p:sp>
        <p:nvSpPr>
          <p:cNvPr id="72733" name="Text Box 34"/>
          <p:cNvSpPr txBox="1"/>
          <p:nvPr/>
        </p:nvSpPr>
        <p:spPr>
          <a:xfrm>
            <a:off x="3048000" y="3608388"/>
            <a:ext cx="1524000" cy="3968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dirty="0">
                <a:solidFill>
                  <a:srgbClr val="000000"/>
                </a:solidFill>
                <a:latin typeface="Times New Roman" panose="02020603050405020304" pitchFamily="18" charset="0"/>
                <a:ea typeface="楷体_GB2312"/>
              </a:rPr>
              <a:t>地址信号</a:t>
            </a:r>
            <a:endParaRPr lang="zh-CN" altLang="en-US" sz="2000" dirty="0">
              <a:solidFill>
                <a:srgbClr val="000000"/>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2715"/>
                                        </p:tgtEl>
                                        <p:attrNameLst>
                                          <p:attrName>style.visibility</p:attrName>
                                        </p:attrNameLst>
                                      </p:cBhvr>
                                      <p:to>
                                        <p:strVal val="visible"/>
                                      </p:to>
                                    </p:set>
                                    <p:animEffect transition="in" filter="blinds(horizontal)">
                                      <p:cBhvr>
                                        <p:cTn id="7" dur="500"/>
                                        <p:tgtEl>
                                          <p:spTgt spid="72715"/>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72711"/>
                                        </p:tgtEl>
                                        <p:attrNameLst>
                                          <p:attrName>style.visibility</p:attrName>
                                        </p:attrNameLst>
                                      </p:cBhvr>
                                      <p:to>
                                        <p:strVal val="visible"/>
                                      </p:to>
                                    </p:set>
                                    <p:animEffect transition="in" filter="wipe(right)">
                                      <p:cBhvr>
                                        <p:cTn id="11" dur="500"/>
                                        <p:tgtEl>
                                          <p:spTgt spid="72711"/>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72728"/>
                                        </p:tgtEl>
                                        <p:attrNameLst>
                                          <p:attrName>style.visibility</p:attrName>
                                        </p:attrNameLst>
                                      </p:cBhvr>
                                      <p:to>
                                        <p:strVal val="visible"/>
                                      </p:to>
                                    </p:set>
                                    <p:animEffect transition="in" filter="blinds(horizontal)">
                                      <p:cBhvr>
                                        <p:cTn id="16" dur="500"/>
                                        <p:tgtEl>
                                          <p:spTgt spid="72728"/>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72716"/>
                                        </p:tgtEl>
                                        <p:attrNameLst>
                                          <p:attrName>style.visibility</p:attrName>
                                        </p:attrNameLst>
                                      </p:cBhvr>
                                      <p:to>
                                        <p:strVal val="visible"/>
                                      </p:to>
                                    </p:set>
                                    <p:animEffect transition="in" filter="wipe(right)">
                                      <p:cBhvr>
                                        <p:cTn id="20" dur="500"/>
                                        <p:tgtEl>
                                          <p:spTgt spid="72716"/>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72729"/>
                                        </p:tgtEl>
                                        <p:attrNameLst>
                                          <p:attrName>style.visibility</p:attrName>
                                        </p:attrNameLst>
                                      </p:cBhvr>
                                      <p:to>
                                        <p:strVal val="visible"/>
                                      </p:to>
                                    </p:set>
                                    <p:animEffect transition="in" filter="blinds(horizontal)">
                                      <p:cBhvr>
                                        <p:cTn id="25" dur="500"/>
                                        <p:tgtEl>
                                          <p:spTgt spid="72729"/>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72717"/>
                                        </p:tgtEl>
                                        <p:attrNameLst>
                                          <p:attrName>style.visibility</p:attrName>
                                        </p:attrNameLst>
                                      </p:cBhvr>
                                      <p:to>
                                        <p:strVal val="visible"/>
                                      </p:to>
                                    </p:set>
                                    <p:animEffect transition="in" filter="wipe(left)">
                                      <p:cBhvr>
                                        <p:cTn id="29" dur="500"/>
                                        <p:tgtEl>
                                          <p:spTgt spid="72717"/>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72727"/>
                                        </p:tgtEl>
                                        <p:attrNameLst>
                                          <p:attrName>style.visibility</p:attrName>
                                        </p:attrNameLst>
                                      </p:cBhvr>
                                      <p:to>
                                        <p:strVal val="visible"/>
                                      </p:to>
                                    </p:set>
                                    <p:animEffect transition="in" filter="blinds(horizontal)">
                                      <p:cBhvr>
                                        <p:cTn id="34" dur="500"/>
                                        <p:tgtEl>
                                          <p:spTgt spid="72727"/>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72718"/>
                                        </p:tgtEl>
                                        <p:attrNameLst>
                                          <p:attrName>style.visibility</p:attrName>
                                        </p:attrNameLst>
                                      </p:cBhvr>
                                      <p:to>
                                        <p:strVal val="visible"/>
                                      </p:to>
                                    </p:set>
                                    <p:animEffect transition="in" filter="wipe(left)">
                                      <p:cBhvr>
                                        <p:cTn id="38" dur="500"/>
                                        <p:tgtEl>
                                          <p:spTgt spid="72718"/>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3" fill="hold" nodeType="clickEffect">
                                  <p:stCondLst>
                                    <p:cond delay="0"/>
                                  </p:stCondLst>
                                  <p:childTnLst>
                                    <p:set>
                                      <p:cBhvr>
                                        <p:cTn id="42" dur="1" fill="hold">
                                          <p:stCondLst>
                                            <p:cond delay="0"/>
                                          </p:stCondLst>
                                        </p:cTn>
                                        <p:tgtEl>
                                          <p:spTgt spid="72725"/>
                                        </p:tgtEl>
                                        <p:attrNameLst>
                                          <p:attrName>style.visibility</p:attrName>
                                        </p:attrNameLst>
                                      </p:cBhvr>
                                      <p:to>
                                        <p:strVal val="visible"/>
                                      </p:to>
                                    </p:set>
                                    <p:animEffect transition="in" filter="strips(upRight)">
                                      <p:cBhvr>
                                        <p:cTn id="43" dur="500"/>
                                        <p:tgtEl>
                                          <p:spTgt spid="72725"/>
                                        </p:tgtEl>
                                      </p:cBhvr>
                                    </p:animEffect>
                                  </p:childTnLst>
                                </p:cTn>
                              </p:par>
                            </p:childTnLst>
                          </p:cTn>
                        </p:par>
                        <p:par>
                          <p:cTn id="44" fill="hold">
                            <p:stCondLst>
                              <p:cond delay="500"/>
                            </p:stCondLst>
                            <p:childTnLst>
                              <p:par>
                                <p:cTn id="45" presetID="3" presetClass="entr" presetSubtype="10" fill="hold" grpId="0" nodeType="afterEffect">
                                  <p:stCondLst>
                                    <p:cond delay="0"/>
                                  </p:stCondLst>
                                  <p:childTnLst>
                                    <p:set>
                                      <p:cBhvr>
                                        <p:cTn id="46" dur="1" fill="hold">
                                          <p:stCondLst>
                                            <p:cond delay="0"/>
                                          </p:stCondLst>
                                        </p:cTn>
                                        <p:tgtEl>
                                          <p:spTgt spid="72730"/>
                                        </p:tgtEl>
                                        <p:attrNameLst>
                                          <p:attrName>style.visibility</p:attrName>
                                        </p:attrNameLst>
                                      </p:cBhvr>
                                      <p:to>
                                        <p:strVal val="visible"/>
                                      </p:to>
                                    </p:set>
                                    <p:animEffect transition="in" filter="blinds(horizontal)">
                                      <p:cBhvr>
                                        <p:cTn id="47" dur="500"/>
                                        <p:tgtEl>
                                          <p:spTgt spid="72730"/>
                                        </p:tgtEl>
                                      </p:cBhvr>
                                    </p:animEffect>
                                  </p:childTnLst>
                                </p:cTn>
                              </p:par>
                              <p:par>
                                <p:cTn id="48" presetID="18" presetClass="entr" presetSubtype="3" fill="hold" nodeType="withEffect">
                                  <p:stCondLst>
                                    <p:cond delay="0"/>
                                  </p:stCondLst>
                                  <p:childTnLst>
                                    <p:set>
                                      <p:cBhvr>
                                        <p:cTn id="49" dur="1" fill="hold">
                                          <p:stCondLst>
                                            <p:cond delay="0"/>
                                          </p:stCondLst>
                                        </p:cTn>
                                        <p:tgtEl>
                                          <p:spTgt spid="72726"/>
                                        </p:tgtEl>
                                        <p:attrNameLst>
                                          <p:attrName>style.visibility</p:attrName>
                                        </p:attrNameLst>
                                      </p:cBhvr>
                                      <p:to>
                                        <p:strVal val="visible"/>
                                      </p:to>
                                    </p:set>
                                    <p:animEffect transition="in" filter="strips(upRight)">
                                      <p:cBhvr>
                                        <p:cTn id="50" dur="500"/>
                                        <p:tgtEl>
                                          <p:spTgt spid="72726"/>
                                        </p:tgtEl>
                                      </p:cBhvr>
                                    </p:animEffect>
                                  </p:childTnLst>
                                </p:cTn>
                              </p:par>
                            </p:childTnLst>
                          </p:cTn>
                        </p:par>
                        <p:par>
                          <p:cTn id="51" fill="hold">
                            <p:stCondLst>
                              <p:cond delay="1000"/>
                            </p:stCondLst>
                            <p:childTnLst>
                              <p:par>
                                <p:cTn id="52" presetID="3" presetClass="entr" presetSubtype="10" fill="hold" grpId="0" nodeType="afterEffect">
                                  <p:stCondLst>
                                    <p:cond delay="0"/>
                                  </p:stCondLst>
                                  <p:childTnLst>
                                    <p:set>
                                      <p:cBhvr>
                                        <p:cTn id="53" dur="1" fill="hold">
                                          <p:stCondLst>
                                            <p:cond delay="0"/>
                                          </p:stCondLst>
                                        </p:cTn>
                                        <p:tgtEl>
                                          <p:spTgt spid="72732"/>
                                        </p:tgtEl>
                                        <p:attrNameLst>
                                          <p:attrName>style.visibility</p:attrName>
                                        </p:attrNameLst>
                                      </p:cBhvr>
                                      <p:to>
                                        <p:strVal val="visible"/>
                                      </p:to>
                                    </p:set>
                                    <p:animEffect transition="in" filter="blinds(horizontal)">
                                      <p:cBhvr>
                                        <p:cTn id="54" dur="500"/>
                                        <p:tgtEl>
                                          <p:spTgt spid="72732"/>
                                        </p:tgtEl>
                                      </p:cBhvr>
                                    </p:animEffect>
                                  </p:childTnLst>
                                </p:cTn>
                              </p:par>
                            </p:childTnLst>
                          </p:cTn>
                        </p:par>
                        <p:par>
                          <p:cTn id="55" fill="hold">
                            <p:stCondLst>
                              <p:cond delay="1500"/>
                            </p:stCondLst>
                            <p:childTnLst>
                              <p:par>
                                <p:cTn id="56" presetID="3" presetClass="entr" presetSubtype="10" fill="hold" grpId="0" nodeType="afterEffect">
                                  <p:stCondLst>
                                    <p:cond delay="0"/>
                                  </p:stCondLst>
                                  <p:childTnLst>
                                    <p:set>
                                      <p:cBhvr>
                                        <p:cTn id="57" dur="1" fill="hold">
                                          <p:stCondLst>
                                            <p:cond delay="0"/>
                                          </p:stCondLst>
                                        </p:cTn>
                                        <p:tgtEl>
                                          <p:spTgt spid="72733"/>
                                        </p:tgtEl>
                                        <p:attrNameLst>
                                          <p:attrName>style.visibility</p:attrName>
                                        </p:attrNameLst>
                                      </p:cBhvr>
                                      <p:to>
                                        <p:strVal val="visible"/>
                                      </p:to>
                                    </p:set>
                                    <p:animEffect transition="in" filter="blinds(horizontal)">
                                      <p:cBhvr>
                                        <p:cTn id="58" dur="500"/>
                                        <p:tgtEl>
                                          <p:spTgt spid="7273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72720"/>
                                        </p:tgtEl>
                                        <p:attrNameLst>
                                          <p:attrName>style.visibility</p:attrName>
                                        </p:attrNameLst>
                                      </p:cBhvr>
                                      <p:to>
                                        <p:strVal val="visible"/>
                                      </p:to>
                                    </p:set>
                                    <p:animEffect transition="in" filter="wipe(down)">
                                      <p:cBhvr>
                                        <p:cTn id="63" dur="500"/>
                                        <p:tgtEl>
                                          <p:spTgt spid="72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5" grpId="0"/>
      <p:bldP spid="72720" grpId="0" animBg="1"/>
      <p:bldP spid="72727" grpId="0"/>
      <p:bldP spid="72728" grpId="0"/>
      <p:bldP spid="72729" grpId="0"/>
      <p:bldP spid="72730" grpId="0"/>
      <p:bldP spid="72732" grpId="0"/>
      <p:bldP spid="7273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53603" name="Rectangle 2"/>
          <p:cNvSpPr>
            <a:spLocks noGrp="1"/>
          </p:cNvSpPr>
          <p:nvPr>
            <p:ph type="title" idx="4294967295"/>
          </p:nvPr>
        </p:nvSpPr>
        <p:spPr/>
        <p:txBody>
          <a:bodyPr vert="horz" wrap="square" lIns="91440" tIns="45720" rIns="91440" bIns="45720" anchor="b" anchorCtr="0"/>
          <a:p>
            <a:pPr eaLnBrk="1" hangingPunct="1"/>
            <a:r>
              <a:rPr lang="en-US" altLang="zh-CN" sz="4000" b="1" dirty="0"/>
              <a:t>DMA</a:t>
            </a:r>
            <a:r>
              <a:rPr lang="zh-CN" altLang="en-US" dirty="0"/>
              <a:t>控制方式的工作过程</a:t>
            </a:r>
            <a:endParaRPr lang="zh-CN" altLang="en-US" dirty="0"/>
          </a:p>
        </p:txBody>
      </p:sp>
      <p:sp>
        <p:nvSpPr>
          <p:cNvPr id="153604" name="Rectangle 3"/>
          <p:cNvSpPr>
            <a:spLocks noGrp="1"/>
          </p:cNvSpPr>
          <p:nvPr>
            <p:ph type="body" idx="4294967295"/>
          </p:nvPr>
        </p:nvSpPr>
        <p:spPr>
          <a:xfrm>
            <a:off x="685800" y="1957388"/>
            <a:ext cx="8029575" cy="4495800"/>
          </a:xfrm>
        </p:spPr>
        <p:txBody>
          <a:bodyPr vert="horz" wrap="square" lIns="91440" tIns="45720" rIns="91440" bIns="45720" anchor="t" anchorCtr="0"/>
          <a:p>
            <a:pPr eaLnBrk="1" hangingPunct="1"/>
            <a:r>
              <a:rPr lang="zh-CN" altLang="en-US" dirty="0">
                <a:latin typeface="Times New Roman" panose="02020603050405020304" pitchFamily="18" charset="0"/>
              </a:rPr>
              <a:t>外设向</a:t>
            </a:r>
            <a:r>
              <a:rPr lang="en-GB" altLang="en-US" dirty="0">
                <a:latin typeface="Times New Roman" panose="02020603050405020304" pitchFamily="18" charset="0"/>
              </a:rPr>
              <a:t>DMA</a:t>
            </a:r>
            <a:r>
              <a:rPr lang="zh-CN" altLang="en-US" dirty="0">
                <a:latin typeface="Times New Roman" panose="02020603050405020304" pitchFamily="18" charset="0"/>
              </a:rPr>
              <a:t>控制器发出“</a:t>
            </a:r>
            <a:r>
              <a:rPr lang="en-GB" altLang="en-US" dirty="0">
                <a:latin typeface="Times New Roman" panose="02020603050405020304" pitchFamily="18" charset="0"/>
              </a:rPr>
              <a:t>DMA</a:t>
            </a:r>
            <a:r>
              <a:rPr lang="zh-CN" altLang="en-US" dirty="0">
                <a:latin typeface="Times New Roman" panose="02020603050405020304" pitchFamily="18" charset="0"/>
              </a:rPr>
              <a:t>传送请求”信号</a:t>
            </a:r>
            <a:endParaRPr lang="zh-CN" altLang="en-US" dirty="0">
              <a:latin typeface="Times New Roman" panose="02020603050405020304" pitchFamily="18" charset="0"/>
            </a:endParaRPr>
          </a:p>
          <a:p>
            <a:pPr eaLnBrk="1" hangingPunct="1">
              <a:spcBef>
                <a:spcPct val="0"/>
              </a:spcBef>
              <a:buNone/>
            </a:pPr>
            <a:r>
              <a:rPr lang="en-GB" altLang="en-US" dirty="0">
                <a:latin typeface="Times New Roman" panose="02020603050405020304" pitchFamily="18" charset="0"/>
              </a:rPr>
              <a:t>    DRQ</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eaLnBrk="1" hangingPunct="1"/>
            <a:r>
              <a:rPr lang="en-GB" altLang="en-US" dirty="0">
                <a:latin typeface="Times New Roman" panose="02020603050405020304" pitchFamily="18" charset="0"/>
              </a:rPr>
              <a:t>DMA</a:t>
            </a:r>
            <a:r>
              <a:rPr lang="zh-CN" altLang="en-US" dirty="0">
                <a:latin typeface="Times New Roman" panose="02020603050405020304" pitchFamily="18" charset="0"/>
              </a:rPr>
              <a:t>控制器收到请求后，向</a:t>
            </a:r>
            <a:r>
              <a:rPr lang="en-GB" altLang="en-US" dirty="0">
                <a:latin typeface="Times New Roman" panose="02020603050405020304" pitchFamily="18" charset="0"/>
              </a:rPr>
              <a:t>CPU</a:t>
            </a:r>
            <a:r>
              <a:rPr lang="zh-CN" altLang="en-US" dirty="0">
                <a:latin typeface="Times New Roman" panose="02020603050405020304" pitchFamily="18" charset="0"/>
              </a:rPr>
              <a:t>发出“总线请</a:t>
            </a:r>
            <a:endParaRPr lang="zh-CN" altLang="en-US" dirty="0">
              <a:latin typeface="Times New Roman" panose="02020603050405020304" pitchFamily="18" charset="0"/>
            </a:endParaRPr>
          </a:p>
          <a:p>
            <a:pPr eaLnBrk="1" hangingPunct="1">
              <a:spcBef>
                <a:spcPct val="0"/>
              </a:spcBef>
              <a:buNone/>
            </a:pPr>
            <a:r>
              <a:rPr lang="zh-CN" altLang="en-US" dirty="0">
                <a:latin typeface="Times New Roman" panose="02020603050405020304" pitchFamily="18" charset="0"/>
              </a:rPr>
              <a:t>   求”信号</a:t>
            </a:r>
            <a:r>
              <a:rPr lang="en-GB" altLang="en-US" dirty="0">
                <a:latin typeface="Times New Roman" panose="02020603050405020304" pitchFamily="18" charset="0"/>
              </a:rPr>
              <a:t>HOLD</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eaLnBrk="1" hangingPunct="1"/>
            <a:r>
              <a:rPr lang="en-GB" altLang="en-US" dirty="0">
                <a:latin typeface="Times New Roman" panose="02020603050405020304" pitchFamily="18" charset="0"/>
              </a:rPr>
              <a:t>CPU</a:t>
            </a:r>
            <a:r>
              <a:rPr lang="zh-CN" altLang="en-US" dirty="0">
                <a:latin typeface="Times New Roman" panose="02020603050405020304" pitchFamily="18" charset="0"/>
              </a:rPr>
              <a:t>在完成当前总线周期后会立即发出</a:t>
            </a:r>
            <a:r>
              <a:rPr lang="en-US" altLang="zh-CN" dirty="0">
                <a:latin typeface="Times New Roman" panose="02020603050405020304" pitchFamily="18" charset="0"/>
              </a:rPr>
              <a:t>HLDA</a:t>
            </a:r>
            <a:endParaRPr lang="en-US" altLang="zh-CN" dirty="0">
              <a:latin typeface="Times New Roman" panose="02020603050405020304" pitchFamily="18" charset="0"/>
            </a:endParaRPr>
          </a:p>
          <a:p>
            <a:pPr eaLnBrk="1" hangingPunct="1">
              <a:spcBef>
                <a:spcPct val="0"/>
              </a:spcBef>
              <a:buNone/>
            </a:pPr>
            <a:r>
              <a:rPr lang="zh-CN" altLang="en-US" dirty="0">
                <a:latin typeface="Times New Roman" panose="02020603050405020304" pitchFamily="18" charset="0"/>
              </a:rPr>
              <a:t>    信号，对</a:t>
            </a:r>
            <a:r>
              <a:rPr lang="en-GB" altLang="en-US" dirty="0">
                <a:latin typeface="Times New Roman" panose="02020603050405020304" pitchFamily="18" charset="0"/>
              </a:rPr>
              <a:t>HOLD</a:t>
            </a:r>
            <a:r>
              <a:rPr lang="zh-CN" altLang="en-US" dirty="0">
                <a:latin typeface="Times New Roman" panose="02020603050405020304" pitchFamily="18" charset="0"/>
              </a:rPr>
              <a:t>信号进行响应；</a:t>
            </a:r>
            <a:endParaRPr lang="zh-CN" altLang="en-US" dirty="0">
              <a:latin typeface="Times New Roman" panose="02020603050405020304" pitchFamily="18" charset="0"/>
            </a:endParaRPr>
          </a:p>
          <a:p>
            <a:pPr eaLnBrk="1" hangingPunct="1"/>
            <a:r>
              <a:rPr lang="en-GB" altLang="en-US" dirty="0">
                <a:latin typeface="Times New Roman" panose="02020603050405020304" pitchFamily="18" charset="0"/>
              </a:rPr>
              <a:t>DMA</a:t>
            </a:r>
            <a:r>
              <a:rPr lang="zh-CN" altLang="en-US" dirty="0">
                <a:latin typeface="Times New Roman" panose="02020603050405020304" pitchFamily="18" charset="0"/>
              </a:rPr>
              <a:t>控制器收到</a:t>
            </a:r>
            <a:r>
              <a:rPr lang="en-GB" altLang="en-US" dirty="0">
                <a:latin typeface="Times New Roman" panose="02020603050405020304" pitchFamily="18" charset="0"/>
              </a:rPr>
              <a:t>HLDA</a:t>
            </a:r>
            <a:r>
              <a:rPr lang="zh-CN" altLang="en-US" dirty="0">
                <a:latin typeface="Times New Roman" panose="02020603050405020304" pitchFamily="18" charset="0"/>
              </a:rPr>
              <a:t>信号后，就开始控制总</a:t>
            </a:r>
            <a:endParaRPr lang="zh-CN" altLang="en-US" dirty="0">
              <a:latin typeface="Times New Roman" panose="02020603050405020304" pitchFamily="18" charset="0"/>
            </a:endParaRPr>
          </a:p>
          <a:p>
            <a:pPr eaLnBrk="1" hangingPunct="1">
              <a:spcBef>
                <a:spcPct val="0"/>
              </a:spcBef>
              <a:buNone/>
            </a:pPr>
            <a:r>
              <a:rPr lang="zh-CN" altLang="en-US" dirty="0">
                <a:latin typeface="Times New Roman" panose="02020603050405020304" pitchFamily="18" charset="0"/>
              </a:rPr>
              <a:t>    线，并向外设发出</a:t>
            </a:r>
            <a:r>
              <a:rPr lang="en-GB" altLang="en-US" dirty="0">
                <a:latin typeface="Times New Roman" panose="02020603050405020304" pitchFamily="18" charset="0"/>
              </a:rPr>
              <a:t>DMA</a:t>
            </a:r>
            <a:r>
              <a:rPr lang="zh-CN" altLang="en-US" dirty="0">
                <a:latin typeface="Times New Roman" panose="02020603050405020304" pitchFamily="18" charset="0"/>
              </a:rPr>
              <a:t>响应信号</a:t>
            </a:r>
            <a:r>
              <a:rPr lang="en-GB" altLang="en-US" dirty="0">
                <a:latin typeface="Times New Roman" panose="02020603050405020304" pitchFamily="18" charset="0"/>
              </a:rPr>
              <a:t>DACK</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p:transition spd="slow">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pic>
        <p:nvPicPr>
          <p:cNvPr id="154627" name="图片 4"/>
          <p:cNvPicPr>
            <a:picLocks noChangeAspect="1"/>
          </p:cNvPicPr>
          <p:nvPr/>
        </p:nvPicPr>
        <p:blipFill>
          <a:blip r:embed="rId1"/>
          <a:stretch>
            <a:fillRect/>
          </a:stretch>
        </p:blipFill>
        <p:spPr>
          <a:xfrm>
            <a:off x="1189038" y="1700213"/>
            <a:ext cx="6002337" cy="4778375"/>
          </a:xfrm>
          <a:prstGeom prst="rect">
            <a:avLst/>
          </a:prstGeom>
          <a:noFill/>
          <a:ln w="9525">
            <a:noFill/>
          </a:ln>
        </p:spPr>
      </p:pic>
      <p:sp>
        <p:nvSpPr>
          <p:cNvPr id="154628" name="矩形 5"/>
          <p:cNvSpPr/>
          <p:nvPr/>
        </p:nvSpPr>
        <p:spPr>
          <a:xfrm>
            <a:off x="1187450" y="981075"/>
            <a:ext cx="7272338" cy="70802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4000" dirty="0">
                <a:solidFill>
                  <a:srgbClr val="800000"/>
                </a:solidFill>
                <a:latin typeface="Tahoma" panose="020B0604030504040204" pitchFamily="34" charset="0"/>
                <a:ea typeface="隶书" panose="02010509060101010101" pitchFamily="49" charset="-122"/>
              </a:rPr>
              <a:t>8086</a:t>
            </a:r>
            <a:r>
              <a:rPr lang="zh-CN" altLang="en-US" sz="4000" dirty="0">
                <a:solidFill>
                  <a:srgbClr val="800000"/>
                </a:solidFill>
                <a:latin typeface="Tahoma" panose="020B0604030504040204" pitchFamily="34" charset="0"/>
                <a:ea typeface="隶书" panose="02010509060101010101" pitchFamily="49" charset="-122"/>
              </a:rPr>
              <a:t>用</a:t>
            </a:r>
            <a:r>
              <a:rPr lang="en-US" altLang="zh-CN" sz="4000" dirty="0">
                <a:solidFill>
                  <a:srgbClr val="800000"/>
                </a:solidFill>
                <a:latin typeface="Tahoma" panose="020B0604030504040204" pitchFamily="34" charset="0"/>
                <a:ea typeface="隶书" panose="02010509060101010101" pitchFamily="49" charset="-122"/>
              </a:rPr>
              <a:t>DMA</a:t>
            </a:r>
            <a:r>
              <a:rPr lang="zh-CN" altLang="en-US" sz="4000" dirty="0">
                <a:solidFill>
                  <a:srgbClr val="800000"/>
                </a:solidFill>
                <a:latin typeface="Tahoma" panose="020B0604030504040204" pitchFamily="34" charset="0"/>
                <a:ea typeface="隶书" panose="02010509060101010101" pitchFamily="49" charset="-122"/>
              </a:rPr>
              <a:t>方式传送单个数据</a:t>
            </a:r>
            <a:endParaRPr lang="zh-CN" altLang="en-US" sz="4000" dirty="0">
              <a:solidFill>
                <a:srgbClr val="800000"/>
              </a:solidFill>
              <a:latin typeface="Tahoma" panose="020B0604030504040204" pitchFamily="34" charset="0"/>
              <a:ea typeface="隶书" panose="02010509060101010101" pitchFamily="49" charset="-122"/>
            </a:endParaRPr>
          </a:p>
        </p:txBody>
      </p:sp>
    </p:spTree>
  </p:cSld>
  <p:clrMapOvr>
    <a:masterClrMapping/>
  </p:clrMapOvr>
  <p:transition spd="slow">
    <p:zo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55651" name="Rectangle 2"/>
          <p:cNvSpPr>
            <a:spLocks noGrp="1"/>
          </p:cNvSpPr>
          <p:nvPr>
            <p:ph type="title" idx="4294967295"/>
          </p:nvPr>
        </p:nvSpPr>
        <p:spPr/>
        <p:txBody>
          <a:bodyPr vert="horz" wrap="square" lIns="91440" tIns="45720" rIns="91440" bIns="45720" anchor="b" anchorCtr="0"/>
          <a:p>
            <a:pPr eaLnBrk="1" hangingPunct="1"/>
            <a:r>
              <a:rPr lang="en-US" altLang="zh-CN" sz="4000" b="1" dirty="0"/>
              <a:t>DMA</a:t>
            </a:r>
            <a:r>
              <a:rPr lang="zh-CN" altLang="en-US" dirty="0"/>
              <a:t>控制方式工作过程例</a:t>
            </a:r>
            <a:endParaRPr lang="zh-CN" altLang="en-US" dirty="0"/>
          </a:p>
        </p:txBody>
      </p:sp>
      <p:sp>
        <p:nvSpPr>
          <p:cNvPr id="75780" name="Rectangle 3"/>
          <p:cNvSpPr>
            <a:spLocks noGrp="1"/>
          </p:cNvSpPr>
          <p:nvPr>
            <p:ph type="body" idx="4294967295"/>
          </p:nvPr>
        </p:nvSpPr>
        <p:spPr>
          <a:xfrm>
            <a:off x="685800" y="1989138"/>
            <a:ext cx="7702550" cy="4248150"/>
          </a:xfrm>
        </p:spPr>
        <p:txBody>
          <a:bodyPr vert="horz" wrap="square" lIns="91440" tIns="45720" rIns="91440" bIns="45720" anchor="t" anchorCtr="0"/>
          <a:p>
            <a:pPr eaLnBrk="1" hangingPunct="1">
              <a:lnSpc>
                <a:spcPct val="120000"/>
              </a:lnSpc>
              <a:spcBef>
                <a:spcPct val="45000"/>
              </a:spcBef>
            </a:pPr>
            <a:r>
              <a:rPr lang="zh-CN" altLang="en-US" sz="2400" dirty="0">
                <a:latin typeface="Times New Roman" panose="02020603050405020304" pitchFamily="18" charset="0"/>
              </a:rPr>
              <a:t>例：从外设向内存传送若干字节数据</a:t>
            </a:r>
            <a:endParaRPr lang="zh-CN" altLang="en-US" sz="2400" dirty="0">
              <a:latin typeface="Times New Roman" panose="02020603050405020304" pitchFamily="18" charset="0"/>
            </a:endParaRPr>
          </a:p>
          <a:p>
            <a:pPr lvl="1" eaLnBrk="1" hangingPunct="1">
              <a:lnSpc>
                <a:spcPct val="120000"/>
              </a:lnSpc>
            </a:pPr>
            <a:r>
              <a:rPr lang="en-US" altLang="zh-CN" sz="2000" dirty="0">
                <a:latin typeface="Times New Roman" panose="02020603050405020304" pitchFamily="18" charset="0"/>
              </a:rPr>
              <a:t>DMAC</a:t>
            </a:r>
            <a:r>
              <a:rPr lang="zh-CN" altLang="en-US" sz="2000" dirty="0">
                <a:latin typeface="Times New Roman" panose="02020603050405020304" pitchFamily="18" charset="0"/>
              </a:rPr>
              <a:t>向</a:t>
            </a:r>
            <a:r>
              <a:rPr lang="en-US" altLang="zh-CN" sz="2000" dirty="0">
                <a:latin typeface="Times New Roman" panose="02020603050405020304" pitchFamily="18" charset="0"/>
              </a:rPr>
              <a:t>I/O</a:t>
            </a:r>
            <a:r>
              <a:rPr lang="zh-CN" altLang="en-US" sz="2000" dirty="0">
                <a:latin typeface="Times New Roman" panose="02020603050405020304" pitchFamily="18" charset="0"/>
              </a:rPr>
              <a:t>接口发出读信号；</a:t>
            </a:r>
            <a:endParaRPr lang="zh-CN" altLang="en-US" sz="2000" dirty="0">
              <a:latin typeface="Times New Roman" panose="02020603050405020304" pitchFamily="18" charset="0"/>
            </a:endParaRPr>
          </a:p>
          <a:p>
            <a:pPr lvl="1" eaLnBrk="1" hangingPunct="1">
              <a:lnSpc>
                <a:spcPct val="120000"/>
              </a:lnSpc>
            </a:pPr>
            <a:r>
              <a:rPr lang="zh-CN" altLang="en-US" sz="2000" dirty="0">
                <a:latin typeface="Times New Roman" panose="02020603050405020304" pitchFamily="18" charset="0"/>
              </a:rPr>
              <a:t>向地址总线上发出存储器的地址；</a:t>
            </a:r>
            <a:endParaRPr lang="zh-CN" altLang="en-US" sz="2000" dirty="0">
              <a:latin typeface="Times New Roman" panose="02020603050405020304" pitchFamily="18" charset="0"/>
            </a:endParaRPr>
          </a:p>
          <a:p>
            <a:pPr lvl="1" eaLnBrk="1" hangingPunct="1">
              <a:lnSpc>
                <a:spcPct val="120000"/>
              </a:lnSpc>
            </a:pPr>
            <a:r>
              <a:rPr lang="zh-CN" altLang="en-US" sz="2000" dirty="0">
                <a:latin typeface="Times New Roman" panose="02020603050405020304" pitchFamily="18" charset="0"/>
              </a:rPr>
              <a:t>发出存储器写信号和</a:t>
            </a:r>
            <a:r>
              <a:rPr lang="en-GB" altLang="en-US" sz="2000" dirty="0">
                <a:latin typeface="Times New Roman" panose="02020603050405020304" pitchFamily="18" charset="0"/>
              </a:rPr>
              <a:t>AEN</a:t>
            </a:r>
            <a:r>
              <a:rPr lang="zh-CN" altLang="en-US" sz="2000" dirty="0">
                <a:latin typeface="Times New Roman" panose="02020603050405020304" pitchFamily="18" charset="0"/>
              </a:rPr>
              <a:t>信号；</a:t>
            </a:r>
            <a:endParaRPr lang="zh-CN" altLang="en-US" sz="2000" dirty="0">
              <a:latin typeface="Times New Roman" panose="02020603050405020304" pitchFamily="18" charset="0"/>
            </a:endParaRPr>
          </a:p>
          <a:p>
            <a:pPr lvl="1" eaLnBrk="1" hangingPunct="1">
              <a:lnSpc>
                <a:spcPct val="120000"/>
              </a:lnSpc>
            </a:pPr>
            <a:r>
              <a:rPr lang="zh-CN" altLang="en-US" sz="2000" dirty="0">
                <a:latin typeface="Times New Roman" panose="02020603050405020304" pitchFamily="18" charset="0"/>
              </a:rPr>
              <a:t>传送数据并自动修改地址和字节计数器</a:t>
            </a:r>
            <a:endParaRPr lang="zh-CN" altLang="en-US" sz="2000" dirty="0">
              <a:latin typeface="Times New Roman" panose="02020603050405020304" pitchFamily="18" charset="0"/>
            </a:endParaRPr>
          </a:p>
          <a:p>
            <a:pPr lvl="1" eaLnBrk="1" hangingPunct="1">
              <a:lnSpc>
                <a:spcPct val="120000"/>
              </a:lnSpc>
            </a:pPr>
            <a:r>
              <a:rPr lang="zh-CN" altLang="en-US" sz="2000" dirty="0">
                <a:latin typeface="Times New Roman" panose="02020603050405020304" pitchFamily="18" charset="0"/>
              </a:rPr>
              <a:t>判断是否需要重复传送操作</a:t>
            </a:r>
            <a:r>
              <a:rPr lang="en-GB" altLang="en-US" sz="2000" dirty="0">
                <a:latin typeface="Times New Roman" panose="02020603050405020304" pitchFamily="18" charset="0"/>
              </a:rPr>
              <a:t>;</a:t>
            </a:r>
            <a:endParaRPr lang="en-GB" altLang="en-US" sz="2000" dirty="0">
              <a:latin typeface="Times New Roman" panose="02020603050405020304" pitchFamily="18" charset="0"/>
            </a:endParaRPr>
          </a:p>
          <a:p>
            <a:pPr lvl="1" eaLnBrk="1" hangingPunct="1">
              <a:lnSpc>
                <a:spcPct val="135000"/>
              </a:lnSpc>
              <a:spcAft>
                <a:spcPct val="10000"/>
              </a:spcAft>
            </a:pPr>
            <a:r>
              <a:rPr lang="zh-CN" altLang="en-US" sz="2000" dirty="0">
                <a:latin typeface="Times New Roman" panose="02020603050405020304" pitchFamily="18" charset="0"/>
              </a:rPr>
              <a:t>若数据传送完，</a:t>
            </a:r>
            <a:r>
              <a:rPr lang="en-GB" altLang="en-US" sz="2000" dirty="0">
                <a:latin typeface="Times New Roman" panose="02020603050405020304" pitchFamily="18" charset="0"/>
              </a:rPr>
              <a:t>DMA</a:t>
            </a:r>
            <a:r>
              <a:rPr lang="zh-CN" altLang="en-US" sz="2000" dirty="0">
                <a:latin typeface="Times New Roman" panose="02020603050405020304" pitchFamily="18" charset="0"/>
              </a:rPr>
              <a:t>控制器撤销发往</a:t>
            </a:r>
            <a:r>
              <a:rPr lang="en-GB" altLang="en-US" sz="2000" dirty="0">
                <a:latin typeface="Times New Roman" panose="02020603050405020304" pitchFamily="18" charset="0"/>
              </a:rPr>
              <a:t>CPU</a:t>
            </a:r>
            <a:r>
              <a:rPr lang="zh-CN" altLang="en-US" sz="2000" dirty="0">
                <a:latin typeface="Times New Roman" panose="02020603050405020304" pitchFamily="18" charset="0"/>
              </a:rPr>
              <a:t>的</a:t>
            </a:r>
            <a:r>
              <a:rPr lang="en-GB" altLang="en-US" sz="2000" dirty="0">
                <a:latin typeface="Times New Roman" panose="02020603050405020304" pitchFamily="18" charset="0"/>
              </a:rPr>
              <a:t>HOLD</a:t>
            </a:r>
            <a:r>
              <a:rPr lang="zh-CN" altLang="en-US" sz="2000" dirty="0">
                <a:latin typeface="Times New Roman" panose="02020603050405020304" pitchFamily="18" charset="0"/>
              </a:rPr>
              <a:t>信号；</a:t>
            </a:r>
            <a:endParaRPr lang="zh-CN" altLang="en-US" sz="2000" dirty="0">
              <a:latin typeface="Times New Roman" panose="02020603050405020304" pitchFamily="18" charset="0"/>
            </a:endParaRPr>
          </a:p>
          <a:p>
            <a:pPr lvl="1" eaLnBrk="1" hangingPunct="1">
              <a:lnSpc>
                <a:spcPct val="135000"/>
              </a:lnSpc>
              <a:spcAft>
                <a:spcPct val="10000"/>
              </a:spcAft>
            </a:pPr>
            <a:r>
              <a:rPr lang="en-GB" altLang="en-US" sz="2000" dirty="0">
                <a:latin typeface="Times New Roman" panose="02020603050405020304" pitchFamily="18" charset="0"/>
              </a:rPr>
              <a:t>CPU</a:t>
            </a:r>
            <a:r>
              <a:rPr lang="zh-CN" altLang="en-US" sz="2000" dirty="0">
                <a:latin typeface="Times New Roman" panose="02020603050405020304" pitchFamily="18" charset="0"/>
              </a:rPr>
              <a:t>检测到</a:t>
            </a:r>
            <a:r>
              <a:rPr lang="en-GB" altLang="en-US" sz="2000" dirty="0">
                <a:latin typeface="Times New Roman" panose="02020603050405020304" pitchFamily="18" charset="0"/>
              </a:rPr>
              <a:t>HOLD</a:t>
            </a:r>
            <a:r>
              <a:rPr lang="zh-CN" altLang="en-US" sz="2000" dirty="0">
                <a:latin typeface="Times New Roman" panose="02020603050405020304" pitchFamily="18" charset="0"/>
              </a:rPr>
              <a:t>失效后，则撤销</a:t>
            </a:r>
            <a:r>
              <a:rPr lang="en-GB" altLang="en-US" sz="2000" dirty="0">
                <a:latin typeface="Times New Roman" panose="02020603050405020304" pitchFamily="18" charset="0"/>
              </a:rPr>
              <a:t>HLDA</a:t>
            </a:r>
            <a:r>
              <a:rPr lang="zh-CN" altLang="en-US" sz="2000" dirty="0">
                <a:latin typeface="Times New Roman" panose="02020603050405020304" pitchFamily="18" charset="0"/>
              </a:rPr>
              <a:t>信号，并在下一时钟周期重新开始控制总线。</a:t>
            </a:r>
            <a:endParaRPr lang="en-US" altLang="zh-CN" sz="2000" dirty="0">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5780">
                                            <p:txEl>
                                              <p:charRg st="0" end="17"/>
                                            </p:txEl>
                                          </p:spTgt>
                                        </p:tgtEl>
                                        <p:attrNameLst>
                                          <p:attrName>style.visibility</p:attrName>
                                        </p:attrNameLst>
                                      </p:cBhvr>
                                      <p:to>
                                        <p:strVal val="visible"/>
                                      </p:to>
                                    </p:set>
                                    <p:animEffect transition="in" filter="wipe(left)">
                                      <p:cBhvr>
                                        <p:cTn id="7" dur="500"/>
                                        <p:tgtEl>
                                          <p:spTgt spid="75780">
                                            <p:txEl>
                                              <p:charRg st="0"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5780">
                                            <p:txEl>
                                              <p:charRg st="17" end="34"/>
                                            </p:txEl>
                                          </p:spTgt>
                                        </p:tgtEl>
                                        <p:attrNameLst>
                                          <p:attrName>style.visibility</p:attrName>
                                        </p:attrNameLst>
                                      </p:cBhvr>
                                      <p:to>
                                        <p:strVal val="visible"/>
                                      </p:to>
                                    </p:set>
                                    <p:animEffect transition="in" filter="wipe(left)">
                                      <p:cBhvr>
                                        <p:cTn id="12" dur="500"/>
                                        <p:tgtEl>
                                          <p:spTgt spid="75780">
                                            <p:txEl>
                                              <p:charRg st="17" end="3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5780">
                                            <p:txEl>
                                              <p:charRg st="34" end="50"/>
                                            </p:txEl>
                                          </p:spTgt>
                                        </p:tgtEl>
                                        <p:attrNameLst>
                                          <p:attrName>style.visibility</p:attrName>
                                        </p:attrNameLst>
                                      </p:cBhvr>
                                      <p:to>
                                        <p:strVal val="visible"/>
                                      </p:to>
                                    </p:set>
                                    <p:animEffect transition="in" filter="wipe(left)">
                                      <p:cBhvr>
                                        <p:cTn id="17" dur="500"/>
                                        <p:tgtEl>
                                          <p:spTgt spid="75780">
                                            <p:txEl>
                                              <p:charRg st="34" end="5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5780">
                                            <p:txEl>
                                              <p:charRg st="50" end="66"/>
                                            </p:txEl>
                                          </p:spTgt>
                                        </p:tgtEl>
                                        <p:attrNameLst>
                                          <p:attrName>style.visibility</p:attrName>
                                        </p:attrNameLst>
                                      </p:cBhvr>
                                      <p:to>
                                        <p:strVal val="visible"/>
                                      </p:to>
                                    </p:set>
                                    <p:animEffect transition="in" filter="wipe(left)">
                                      <p:cBhvr>
                                        <p:cTn id="22" dur="500"/>
                                        <p:tgtEl>
                                          <p:spTgt spid="75780">
                                            <p:txEl>
                                              <p:charRg st="50" end="6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5780">
                                            <p:txEl>
                                              <p:charRg st="66" end="84"/>
                                            </p:txEl>
                                          </p:spTgt>
                                        </p:tgtEl>
                                        <p:attrNameLst>
                                          <p:attrName>style.visibility</p:attrName>
                                        </p:attrNameLst>
                                      </p:cBhvr>
                                      <p:to>
                                        <p:strVal val="visible"/>
                                      </p:to>
                                    </p:set>
                                    <p:animEffect transition="in" filter="wipe(left)">
                                      <p:cBhvr>
                                        <p:cTn id="27" dur="500"/>
                                        <p:tgtEl>
                                          <p:spTgt spid="75780">
                                            <p:txEl>
                                              <p:charRg st="66" end="8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5780">
                                            <p:txEl>
                                              <p:charRg st="84" end="98"/>
                                            </p:txEl>
                                          </p:spTgt>
                                        </p:tgtEl>
                                        <p:attrNameLst>
                                          <p:attrName>style.visibility</p:attrName>
                                        </p:attrNameLst>
                                      </p:cBhvr>
                                      <p:to>
                                        <p:strVal val="visible"/>
                                      </p:to>
                                    </p:set>
                                    <p:animEffect transition="in" filter="wipe(left)">
                                      <p:cBhvr>
                                        <p:cTn id="32" dur="500"/>
                                        <p:tgtEl>
                                          <p:spTgt spid="75780">
                                            <p:txEl>
                                              <p:charRg st="84" end="9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5780">
                                            <p:txEl>
                                              <p:charRg st="98" end="127"/>
                                            </p:txEl>
                                          </p:spTgt>
                                        </p:tgtEl>
                                        <p:attrNameLst>
                                          <p:attrName>style.visibility</p:attrName>
                                        </p:attrNameLst>
                                      </p:cBhvr>
                                      <p:to>
                                        <p:strVal val="visible"/>
                                      </p:to>
                                    </p:set>
                                    <p:animEffect transition="in" filter="wipe(left)">
                                      <p:cBhvr>
                                        <p:cTn id="37" dur="500"/>
                                        <p:tgtEl>
                                          <p:spTgt spid="75780">
                                            <p:txEl>
                                              <p:charRg st="98" end="12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75780">
                                            <p:txEl>
                                              <p:charRg st="127" end="169"/>
                                            </p:txEl>
                                          </p:spTgt>
                                        </p:tgtEl>
                                        <p:attrNameLst>
                                          <p:attrName>style.visibility</p:attrName>
                                        </p:attrNameLst>
                                      </p:cBhvr>
                                      <p:to>
                                        <p:strVal val="visible"/>
                                      </p:to>
                                    </p:set>
                                    <p:animEffect transition="in" filter="wipe(up)">
                                      <p:cBhvr>
                                        <p:cTn id="42" dur="500"/>
                                        <p:tgtEl>
                                          <p:spTgt spid="75780">
                                            <p:txEl>
                                              <p:charRg st="127" end="16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56675" name="Rectangle 2"/>
          <p:cNvSpPr>
            <a:spLocks noGrp="1"/>
          </p:cNvSpPr>
          <p:nvPr>
            <p:ph type="title" idx="4294967295"/>
          </p:nvPr>
        </p:nvSpPr>
        <p:spPr/>
        <p:txBody>
          <a:bodyPr vert="horz" wrap="square" lIns="91440" tIns="45720" rIns="91440" bIns="45720" anchor="b" anchorCtr="0"/>
          <a:p>
            <a:pPr eaLnBrk="1" hangingPunct="1"/>
            <a:r>
              <a:rPr lang="en-US" altLang="zh-CN" sz="4000" b="1" dirty="0"/>
              <a:t>DMA</a:t>
            </a:r>
            <a:r>
              <a:rPr lang="zh-CN" altLang="en-US" dirty="0"/>
              <a:t>工作方式</a:t>
            </a:r>
            <a:endParaRPr lang="zh-CN" altLang="en-US" dirty="0"/>
          </a:p>
        </p:txBody>
      </p:sp>
      <p:sp>
        <p:nvSpPr>
          <p:cNvPr id="76804" name="Rectangle 3"/>
          <p:cNvSpPr>
            <a:spLocks noGrp="1"/>
          </p:cNvSpPr>
          <p:nvPr>
            <p:ph type="body" idx="4294967295"/>
          </p:nvPr>
        </p:nvSpPr>
        <p:spPr>
          <a:xfrm>
            <a:off x="323850" y="1916113"/>
            <a:ext cx="8424863" cy="4327525"/>
          </a:xfrm>
        </p:spPr>
        <p:txBody>
          <a:bodyPr vert="horz" wrap="square" lIns="91440" tIns="45720" rIns="91440" bIns="45720" anchor="t" anchorCtr="0"/>
          <a:p>
            <a:pPr eaLnBrk="1" hangingPunct="1">
              <a:spcAft>
                <a:spcPct val="20000"/>
              </a:spcAft>
            </a:pPr>
            <a:r>
              <a:rPr lang="zh-CN" altLang="en-US" dirty="0"/>
              <a:t>周期窃取：</a:t>
            </a:r>
            <a:endParaRPr lang="zh-CN" altLang="en-US" dirty="0"/>
          </a:p>
          <a:p>
            <a:pPr lvl="1" eaLnBrk="1" hangingPunct="1"/>
            <a:r>
              <a:rPr lang="zh-CN" altLang="en-US" dirty="0"/>
              <a:t>每个</a:t>
            </a:r>
            <a:r>
              <a:rPr lang="en-US" altLang="zh-CN" dirty="0"/>
              <a:t>DMA</a:t>
            </a:r>
            <a:r>
              <a:rPr lang="zh-CN" altLang="en-US" dirty="0"/>
              <a:t>周期只传送一个字节或一个字就立即释放总线。</a:t>
            </a:r>
            <a:endParaRPr lang="zh-CN" altLang="en-US" dirty="0"/>
          </a:p>
          <a:p>
            <a:pPr eaLnBrk="1" hangingPunct="1">
              <a:spcBef>
                <a:spcPct val="35000"/>
              </a:spcBef>
            </a:pPr>
            <a:r>
              <a:rPr lang="zh-CN" altLang="en-US" dirty="0"/>
              <a:t>数据块传送：</a:t>
            </a:r>
            <a:endParaRPr lang="zh-CN" altLang="en-US" dirty="0"/>
          </a:p>
          <a:p>
            <a:pPr lvl="1" eaLnBrk="1" hangingPunct="1"/>
            <a:r>
              <a:rPr lang="en-US" altLang="zh-CN" dirty="0"/>
              <a:t>DMAC</a:t>
            </a:r>
            <a:r>
              <a:rPr lang="zh-CN" altLang="en-US" dirty="0"/>
              <a:t>在申请到总线后，将一块数据传送完后才释放总线，而不管中间</a:t>
            </a:r>
            <a:r>
              <a:rPr lang="en-US" altLang="zh-CN" dirty="0"/>
              <a:t>DREQ</a:t>
            </a:r>
            <a:r>
              <a:rPr lang="zh-CN" altLang="en-US" dirty="0"/>
              <a:t>是否有效。</a:t>
            </a:r>
            <a:endParaRPr lang="zh-CN" altLang="en-US" dirty="0"/>
          </a:p>
          <a:p>
            <a:pPr eaLnBrk="1" hangingPunct="1">
              <a:spcBef>
                <a:spcPct val="30000"/>
              </a:spcBef>
            </a:pPr>
            <a:r>
              <a:rPr lang="zh-CN" altLang="en-US" dirty="0"/>
              <a:t>直接存取方式：</a:t>
            </a:r>
            <a:endParaRPr lang="zh-CN" altLang="en-US" dirty="0"/>
          </a:p>
          <a:p>
            <a:pPr lvl="1" eaLnBrk="1" hangingPunct="1"/>
            <a:r>
              <a:rPr lang="en-US" altLang="zh-CN" dirty="0"/>
              <a:t>DMA</a:t>
            </a:r>
            <a:r>
              <a:rPr lang="zh-CN" altLang="en-US" dirty="0"/>
              <a:t>的数据传送请求直接发到主存储器，在得到响应后，整个工作过程在</a:t>
            </a:r>
            <a:r>
              <a:rPr lang="en-US" altLang="zh-CN" dirty="0"/>
              <a:t>DMA</a:t>
            </a:r>
            <a:r>
              <a:rPr lang="zh-CN" altLang="en-US" dirty="0"/>
              <a:t>控制器中由硬件完成。</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6804">
                                            <p:txEl>
                                              <p:charRg st="0" end="6"/>
                                            </p:txEl>
                                          </p:spTgt>
                                        </p:tgtEl>
                                        <p:attrNameLst>
                                          <p:attrName>style.visibility</p:attrName>
                                        </p:attrNameLst>
                                      </p:cBhvr>
                                      <p:to>
                                        <p:strVal val="visible"/>
                                      </p:to>
                                    </p:set>
                                    <p:animEffect transition="in" filter="wipe(left)">
                                      <p:cBhvr>
                                        <p:cTn id="7" dur="500"/>
                                        <p:tgtEl>
                                          <p:spTgt spid="76804">
                                            <p:txEl>
                                              <p:charRg st="0" end="6"/>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76804">
                                            <p:txEl>
                                              <p:charRg st="6" end="33"/>
                                            </p:txEl>
                                          </p:spTgt>
                                        </p:tgtEl>
                                        <p:attrNameLst>
                                          <p:attrName>style.visibility</p:attrName>
                                        </p:attrNameLst>
                                      </p:cBhvr>
                                      <p:to>
                                        <p:strVal val="visible"/>
                                      </p:to>
                                    </p:set>
                                    <p:animEffect transition="in" filter="blinds(horizontal)">
                                      <p:cBhvr>
                                        <p:cTn id="11" dur="500"/>
                                        <p:tgtEl>
                                          <p:spTgt spid="76804">
                                            <p:txEl>
                                              <p:charRg st="6" end="3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76804">
                                            <p:txEl>
                                              <p:charRg st="33" end="40"/>
                                            </p:txEl>
                                          </p:spTgt>
                                        </p:tgtEl>
                                        <p:attrNameLst>
                                          <p:attrName>style.visibility</p:attrName>
                                        </p:attrNameLst>
                                      </p:cBhvr>
                                      <p:to>
                                        <p:strVal val="visible"/>
                                      </p:to>
                                    </p:set>
                                    <p:animEffect transition="in" filter="blinds(horizontal)">
                                      <p:cBhvr>
                                        <p:cTn id="16" dur="500"/>
                                        <p:tgtEl>
                                          <p:spTgt spid="76804">
                                            <p:txEl>
                                              <p:charRg st="33" end="40"/>
                                            </p:txEl>
                                          </p:spTgt>
                                        </p:tgtEl>
                                      </p:cBhvr>
                                    </p:animEffect>
                                  </p:childTnLst>
                                </p:cTn>
                              </p:par>
                            </p:childTnLst>
                          </p:cTn>
                        </p:par>
                        <p:par>
                          <p:cTn id="17" fill="hold">
                            <p:stCondLst>
                              <p:cond delay="500"/>
                            </p:stCondLst>
                            <p:childTnLst>
                              <p:par>
                                <p:cTn id="18" presetID="3" presetClass="entr" presetSubtype="10" fill="hold" nodeType="afterEffect">
                                  <p:stCondLst>
                                    <p:cond delay="0"/>
                                  </p:stCondLst>
                                  <p:childTnLst>
                                    <p:set>
                                      <p:cBhvr>
                                        <p:cTn id="19" dur="1" fill="hold">
                                          <p:stCondLst>
                                            <p:cond delay="0"/>
                                          </p:stCondLst>
                                        </p:cTn>
                                        <p:tgtEl>
                                          <p:spTgt spid="76804">
                                            <p:txEl>
                                              <p:charRg st="40" end="82"/>
                                            </p:txEl>
                                          </p:spTgt>
                                        </p:tgtEl>
                                        <p:attrNameLst>
                                          <p:attrName>style.visibility</p:attrName>
                                        </p:attrNameLst>
                                      </p:cBhvr>
                                      <p:to>
                                        <p:strVal val="visible"/>
                                      </p:to>
                                    </p:set>
                                    <p:animEffect transition="in" filter="blinds(horizontal)">
                                      <p:cBhvr>
                                        <p:cTn id="20" dur="500"/>
                                        <p:tgtEl>
                                          <p:spTgt spid="76804">
                                            <p:txEl>
                                              <p:charRg st="40" end="8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76804">
                                            <p:txEl>
                                              <p:charRg st="82" end="90"/>
                                            </p:txEl>
                                          </p:spTgt>
                                        </p:tgtEl>
                                        <p:attrNameLst>
                                          <p:attrName>style.visibility</p:attrName>
                                        </p:attrNameLst>
                                      </p:cBhvr>
                                      <p:to>
                                        <p:strVal val="visible"/>
                                      </p:to>
                                    </p:set>
                                    <p:animEffect transition="in" filter="wipe(left)">
                                      <p:cBhvr>
                                        <p:cTn id="25" dur="500"/>
                                        <p:tgtEl>
                                          <p:spTgt spid="76804">
                                            <p:txEl>
                                              <p:charRg st="82" end="90"/>
                                            </p:txEl>
                                          </p:spTgt>
                                        </p:tgtEl>
                                      </p:cBhvr>
                                    </p:animEffect>
                                  </p:childTnLst>
                                </p:cTn>
                              </p:par>
                            </p:childTnLst>
                          </p:cTn>
                        </p:par>
                        <p:par>
                          <p:cTn id="26" fill="hold">
                            <p:stCondLst>
                              <p:cond delay="500"/>
                            </p:stCondLst>
                            <p:childTnLst>
                              <p:par>
                                <p:cTn id="27" presetID="3" presetClass="entr" presetSubtype="10" fill="hold" nodeType="afterEffect">
                                  <p:stCondLst>
                                    <p:cond delay="0"/>
                                  </p:stCondLst>
                                  <p:childTnLst>
                                    <p:set>
                                      <p:cBhvr>
                                        <p:cTn id="28" dur="1" fill="hold">
                                          <p:stCondLst>
                                            <p:cond delay="0"/>
                                          </p:stCondLst>
                                        </p:cTn>
                                        <p:tgtEl>
                                          <p:spTgt spid="76804">
                                            <p:txEl>
                                              <p:charRg st="90" end="137"/>
                                            </p:txEl>
                                          </p:spTgt>
                                        </p:tgtEl>
                                        <p:attrNameLst>
                                          <p:attrName>style.visibility</p:attrName>
                                        </p:attrNameLst>
                                      </p:cBhvr>
                                      <p:to>
                                        <p:strVal val="visible"/>
                                      </p:to>
                                    </p:set>
                                    <p:animEffect transition="in" filter="blinds(horizontal)">
                                      <p:cBhvr>
                                        <p:cTn id="29" dur="500"/>
                                        <p:tgtEl>
                                          <p:spTgt spid="76804">
                                            <p:txEl>
                                              <p:charRg st="90" end="13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16"/>
          <p:cNvSpPr txBox="1">
            <a:spLocks noGrp="1"/>
          </p:cNvSpPr>
          <p:nvPr/>
        </p:nvSpPr>
        <p:spPr>
          <a:xfrm>
            <a:off x="6858000" y="6248400"/>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eaLnBrk="1" hangingPunct="1">
              <a:lnSpc>
                <a:spcPct val="100000"/>
              </a:lnSpc>
              <a:spcBef>
                <a:spcPct val="0"/>
              </a:spcBef>
              <a:spcAft>
                <a:spcPct val="0"/>
              </a:spcAft>
              <a:buClrTx/>
              <a:buSzTx/>
              <a:buNone/>
            </a:pPr>
            <a:fld id="{9A0DB2DC-4C9A-4742-B13C-FB6460FD3503}" type="slidenum">
              <a:rPr lang="zh-CN" altLang="en-US" sz="1400" b="0" dirty="0">
                <a:solidFill>
                  <a:srgbClr val="1C1C1C"/>
                </a:solidFill>
                <a:ea typeface="楷体_GB2312"/>
              </a:rPr>
            </a:fld>
            <a:endParaRPr lang="zh-CN" altLang="en-US" sz="1400" b="0" dirty="0">
              <a:solidFill>
                <a:srgbClr val="1C1C1C"/>
              </a:solidFill>
              <a:latin typeface="Tahoma" panose="020B0604030504040204" pitchFamily="34" charset="0"/>
              <a:ea typeface="楷体_GB2312"/>
            </a:endParaRPr>
          </a:p>
        </p:txBody>
      </p:sp>
      <p:sp>
        <p:nvSpPr>
          <p:cNvPr id="158723" name="Rectangle 4"/>
          <p:cNvSpPr>
            <a:spLocks noGrp="1"/>
          </p:cNvSpPr>
          <p:nvPr>
            <p:ph type="ctrTitle" idx="4294967295"/>
          </p:nvPr>
        </p:nvSpPr>
        <p:spPr>
          <a:xfrm>
            <a:off x="990600" y="1676400"/>
            <a:ext cx="6605588" cy="1462088"/>
          </a:xfrm>
        </p:spPr>
        <p:txBody>
          <a:bodyPr vert="horz" wrap="square" lIns="91440" tIns="45720" rIns="91440" bIns="45720" anchor="b" anchorCtr="0"/>
          <a:lstStyle>
            <a:lvl1pPr lvl="0">
              <a:buClrTx/>
              <a:buSzTx/>
              <a:buFontTx/>
              <a:defRPr/>
            </a:lvl1pPr>
          </a:lstStyle>
          <a:p>
            <a:pPr lvl="0" algn="ctr" eaLnBrk="1" hangingPunct="1"/>
            <a:r>
              <a:rPr lang="en-US" altLang="zh-CN" sz="5400" dirty="0">
                <a:latin typeface="隶书" panose="02010509060101010101" pitchFamily="49" charset="-122"/>
              </a:rPr>
              <a:t>§6.4 </a:t>
            </a:r>
            <a:r>
              <a:rPr lang="zh-CN" altLang="en-US" sz="5400" dirty="0">
                <a:ea typeface="华文行楷" panose="02010800040101010101" pitchFamily="2" charset="-122"/>
              </a:rPr>
              <a:t>中断技术</a:t>
            </a:r>
            <a:endParaRPr lang="zh-CN" altLang="en-US" sz="5400" dirty="0">
              <a:ea typeface="华文行楷" panose="02010800040101010101" pitchFamily="2" charset="-122"/>
            </a:endParaRPr>
          </a:p>
        </p:txBody>
      </p:sp>
    </p:spTree>
  </p:cSld>
  <p:clrMapOvr>
    <a:masterClrMapping/>
  </p:clrMapOvr>
  <p:transition spd="slow">
    <p:zo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59747" name="Rectangle 2"/>
          <p:cNvSpPr>
            <a:spLocks noGrp="1"/>
          </p:cNvSpPr>
          <p:nvPr>
            <p:ph type="title" idx="4294967295"/>
          </p:nvPr>
        </p:nvSpPr>
        <p:spPr/>
        <p:txBody>
          <a:bodyPr vert="horz" wrap="square" lIns="91440" tIns="45720" rIns="91440" bIns="45720" anchor="b" anchorCtr="0"/>
          <a:p>
            <a:pPr eaLnBrk="1" hangingPunct="1"/>
            <a:r>
              <a:rPr lang="zh-CN" altLang="en-US" dirty="0"/>
              <a:t>掌握：</a:t>
            </a:r>
            <a:endParaRPr lang="zh-CN" altLang="en-US" dirty="0"/>
          </a:p>
        </p:txBody>
      </p:sp>
      <p:sp>
        <p:nvSpPr>
          <p:cNvPr id="159748" name="Rectangle 3"/>
          <p:cNvSpPr>
            <a:spLocks noGrp="1"/>
          </p:cNvSpPr>
          <p:nvPr>
            <p:ph type="body" idx="4294967295"/>
          </p:nvPr>
        </p:nvSpPr>
        <p:spPr>
          <a:xfrm>
            <a:off x="1258888" y="2060575"/>
            <a:ext cx="6934200" cy="3581400"/>
          </a:xfrm>
        </p:spPr>
        <p:txBody>
          <a:bodyPr vert="horz" wrap="square" lIns="91440" tIns="45720" rIns="91440" bIns="45720" anchor="t" anchorCtr="0"/>
          <a:p>
            <a:pPr eaLnBrk="1" hangingPunct="1">
              <a:lnSpc>
                <a:spcPct val="115000"/>
              </a:lnSpc>
            </a:pPr>
            <a:r>
              <a:rPr lang="zh-CN" altLang="en-US" dirty="0"/>
              <a:t>中断的基本概念</a:t>
            </a:r>
            <a:endParaRPr lang="zh-CN" altLang="en-US" dirty="0"/>
          </a:p>
          <a:p>
            <a:pPr eaLnBrk="1" hangingPunct="1">
              <a:lnSpc>
                <a:spcPct val="115000"/>
              </a:lnSpc>
            </a:pPr>
            <a:r>
              <a:rPr lang="zh-CN" altLang="en-US" dirty="0"/>
              <a:t>中断响应的一般过程</a:t>
            </a:r>
            <a:endParaRPr lang="zh-CN" altLang="en-US" dirty="0"/>
          </a:p>
          <a:p>
            <a:pPr eaLnBrk="1" hangingPunct="1">
              <a:lnSpc>
                <a:spcPct val="115000"/>
              </a:lnSpc>
            </a:pPr>
            <a:r>
              <a:rPr lang="zh-CN" altLang="en-US" dirty="0"/>
              <a:t>中断向量表及其初始化</a:t>
            </a:r>
            <a:endParaRPr lang="zh-CN" altLang="en-US" dirty="0"/>
          </a:p>
          <a:p>
            <a:pPr eaLnBrk="1" hangingPunct="1">
              <a:lnSpc>
                <a:spcPct val="115000"/>
              </a:lnSpc>
            </a:pPr>
            <a:r>
              <a:rPr lang="en-US" altLang="zh-CN" dirty="0"/>
              <a:t>8088/8086</a:t>
            </a:r>
            <a:r>
              <a:rPr lang="zh-CN" altLang="en-US" dirty="0"/>
              <a:t>中断系统</a:t>
            </a:r>
            <a:endParaRPr lang="zh-CN" altLang="en-US" dirty="0"/>
          </a:p>
        </p:txBody>
      </p:sp>
    </p:spTree>
  </p:cSld>
  <p:clrMapOvr>
    <a:masterClrMapping/>
  </p:clrMapOvr>
  <p:transition spd="slow">
    <p:zo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1922" name="Group 4"/>
          <p:cNvGrpSpPr/>
          <p:nvPr/>
        </p:nvGrpSpPr>
        <p:grpSpPr>
          <a:xfrm>
            <a:off x="5078413" y="2230438"/>
            <a:ext cx="3787775" cy="2784475"/>
            <a:chOff x="0" y="0"/>
            <a:chExt cx="2386" cy="1754"/>
          </a:xfrm>
        </p:grpSpPr>
        <p:sp>
          <p:nvSpPr>
            <p:cNvPr id="160776" name="Oval 5"/>
            <p:cNvSpPr/>
            <p:nvPr/>
          </p:nvSpPr>
          <p:spPr>
            <a:xfrm>
              <a:off x="879" y="782"/>
              <a:ext cx="126" cy="146"/>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160777" name="Line 6"/>
            <p:cNvSpPr/>
            <p:nvPr/>
          </p:nvSpPr>
          <p:spPr>
            <a:xfrm>
              <a:off x="942" y="0"/>
              <a:ext cx="0" cy="753"/>
            </a:xfrm>
            <a:prstGeom prst="line">
              <a:avLst/>
            </a:prstGeom>
            <a:ln w="9525" cap="flat" cmpd="sng">
              <a:solidFill>
                <a:schemeClr val="tx1"/>
              </a:solidFill>
              <a:prstDash val="solid"/>
              <a:bevel/>
              <a:headEnd type="none" w="med" len="med"/>
              <a:tailEnd type="triangle" w="med" len="med"/>
            </a:ln>
          </p:spPr>
        </p:sp>
        <p:sp>
          <p:nvSpPr>
            <p:cNvPr id="160778" name="Line 7"/>
            <p:cNvSpPr/>
            <p:nvPr/>
          </p:nvSpPr>
          <p:spPr>
            <a:xfrm>
              <a:off x="326" y="542"/>
              <a:ext cx="521" cy="303"/>
            </a:xfrm>
            <a:prstGeom prst="line">
              <a:avLst/>
            </a:prstGeom>
            <a:ln w="9525" cap="flat" cmpd="sng">
              <a:solidFill>
                <a:schemeClr val="tx1"/>
              </a:solidFill>
              <a:prstDash val="solid"/>
              <a:bevel/>
              <a:headEnd type="none" w="med" len="med"/>
              <a:tailEnd type="triangle" w="med" len="med"/>
            </a:ln>
          </p:spPr>
        </p:sp>
        <p:sp>
          <p:nvSpPr>
            <p:cNvPr id="160779" name="Line 8"/>
            <p:cNvSpPr/>
            <p:nvPr/>
          </p:nvSpPr>
          <p:spPr>
            <a:xfrm flipV="1">
              <a:off x="1067" y="467"/>
              <a:ext cx="547" cy="368"/>
            </a:xfrm>
            <a:prstGeom prst="line">
              <a:avLst/>
            </a:prstGeom>
            <a:ln w="12700" cap="flat" cmpd="sng">
              <a:solidFill>
                <a:srgbClr val="FF3300"/>
              </a:solidFill>
              <a:prstDash val="solid"/>
              <a:bevel/>
              <a:headEnd type="none" w="med" len="med"/>
              <a:tailEnd type="triangle" w="med" len="med"/>
            </a:ln>
          </p:spPr>
        </p:sp>
        <p:sp>
          <p:nvSpPr>
            <p:cNvPr id="160780" name="Line 9"/>
            <p:cNvSpPr/>
            <p:nvPr/>
          </p:nvSpPr>
          <p:spPr>
            <a:xfrm>
              <a:off x="942" y="956"/>
              <a:ext cx="0" cy="798"/>
            </a:xfrm>
            <a:prstGeom prst="line">
              <a:avLst/>
            </a:prstGeom>
            <a:ln w="9525" cap="flat" cmpd="sng">
              <a:solidFill>
                <a:schemeClr val="tx1"/>
              </a:solidFill>
              <a:prstDash val="solid"/>
              <a:bevel/>
              <a:headEnd type="none" w="med" len="med"/>
              <a:tailEnd type="triangle" w="med" len="med"/>
            </a:ln>
          </p:spPr>
        </p:sp>
        <p:sp>
          <p:nvSpPr>
            <p:cNvPr id="160781" name="Line 10"/>
            <p:cNvSpPr/>
            <p:nvPr/>
          </p:nvSpPr>
          <p:spPr>
            <a:xfrm>
              <a:off x="1597" y="495"/>
              <a:ext cx="0" cy="762"/>
            </a:xfrm>
            <a:prstGeom prst="line">
              <a:avLst/>
            </a:prstGeom>
            <a:ln w="12700" cap="flat" cmpd="sng">
              <a:solidFill>
                <a:srgbClr val="FF3300"/>
              </a:solidFill>
              <a:prstDash val="solid"/>
              <a:bevel/>
              <a:headEnd type="none" w="med" len="med"/>
              <a:tailEnd type="triangle" w="med" len="med"/>
            </a:ln>
          </p:spPr>
        </p:sp>
        <p:sp>
          <p:nvSpPr>
            <p:cNvPr id="160782" name="Line 11"/>
            <p:cNvSpPr/>
            <p:nvPr/>
          </p:nvSpPr>
          <p:spPr>
            <a:xfrm flipH="1" flipV="1">
              <a:off x="1047" y="880"/>
              <a:ext cx="534" cy="359"/>
            </a:xfrm>
            <a:prstGeom prst="line">
              <a:avLst/>
            </a:prstGeom>
            <a:ln w="12700" cap="flat" cmpd="sng">
              <a:solidFill>
                <a:srgbClr val="FF3300"/>
              </a:solidFill>
              <a:prstDash val="solid"/>
              <a:bevel/>
              <a:headEnd type="none" w="med" len="med"/>
              <a:tailEnd type="triangle" w="med" len="med"/>
            </a:ln>
          </p:spPr>
        </p:sp>
        <p:sp>
          <p:nvSpPr>
            <p:cNvPr id="160783" name="Text Box 12"/>
            <p:cNvSpPr txBox="1"/>
            <p:nvPr/>
          </p:nvSpPr>
          <p:spPr>
            <a:xfrm>
              <a:off x="0" y="258"/>
              <a:ext cx="884" cy="288"/>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400" b="0" dirty="0">
                  <a:solidFill>
                    <a:schemeClr val="tx1"/>
                  </a:solidFill>
                  <a:ea typeface="楷体_GB2312"/>
                </a:rPr>
                <a:t>中断申请</a:t>
              </a:r>
              <a:endParaRPr lang="zh-CN" altLang="en-US" sz="2400" b="0" dirty="0">
                <a:solidFill>
                  <a:schemeClr val="tx1"/>
                </a:solidFill>
                <a:ea typeface="楷体_GB2312"/>
              </a:endParaRPr>
            </a:p>
          </p:txBody>
        </p:sp>
        <p:sp>
          <p:nvSpPr>
            <p:cNvPr id="160784" name="Text Box 13"/>
            <p:cNvSpPr txBox="1"/>
            <p:nvPr/>
          </p:nvSpPr>
          <p:spPr>
            <a:xfrm>
              <a:off x="982" y="19"/>
              <a:ext cx="346" cy="634"/>
            </a:xfrm>
            <a:prstGeom prst="rect">
              <a:avLst/>
            </a:prstGeom>
            <a:noFill/>
            <a:ln w="9525">
              <a:noFill/>
            </a:ln>
          </p:spPr>
          <p:txBody>
            <a:bodyPr vert="eaVert"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400" b="0" dirty="0">
                  <a:solidFill>
                    <a:schemeClr val="tx1"/>
                  </a:solidFill>
                  <a:ea typeface="楷体_GB2312"/>
                </a:rPr>
                <a:t>主程序</a:t>
              </a:r>
              <a:endParaRPr lang="zh-CN" altLang="en-US" sz="2400" b="0" dirty="0">
                <a:solidFill>
                  <a:schemeClr val="tx1"/>
                </a:solidFill>
                <a:ea typeface="楷体_GB2312"/>
              </a:endParaRPr>
            </a:p>
          </p:txBody>
        </p:sp>
        <p:sp>
          <p:nvSpPr>
            <p:cNvPr id="160785" name="Text Box 14"/>
            <p:cNvSpPr txBox="1"/>
            <p:nvPr/>
          </p:nvSpPr>
          <p:spPr>
            <a:xfrm>
              <a:off x="1672" y="493"/>
              <a:ext cx="714" cy="518"/>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400" dirty="0">
                  <a:solidFill>
                    <a:srgbClr val="0000FF"/>
                  </a:solidFill>
                  <a:ea typeface="楷体_GB2312"/>
                </a:rPr>
                <a:t>中断服务程序</a:t>
              </a:r>
              <a:endParaRPr lang="zh-CN" altLang="en-US" sz="2400" dirty="0">
                <a:solidFill>
                  <a:srgbClr val="0000FF"/>
                </a:solidFill>
                <a:ea typeface="楷体_GB2312"/>
              </a:endParaRPr>
            </a:p>
          </p:txBody>
        </p:sp>
        <p:sp>
          <p:nvSpPr>
            <p:cNvPr id="160786" name="Text Box 15"/>
            <p:cNvSpPr txBox="1"/>
            <p:nvPr/>
          </p:nvSpPr>
          <p:spPr>
            <a:xfrm>
              <a:off x="997" y="1167"/>
              <a:ext cx="422" cy="518"/>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400" b="0" dirty="0">
                  <a:solidFill>
                    <a:schemeClr val="tx1"/>
                  </a:solidFill>
                  <a:ea typeface="楷体_GB2312"/>
                </a:rPr>
                <a:t>返回</a:t>
              </a:r>
              <a:endParaRPr lang="zh-CN" altLang="en-US" sz="2400" b="0" dirty="0">
                <a:solidFill>
                  <a:schemeClr val="tx1"/>
                </a:solidFill>
                <a:ea typeface="楷体_GB2312"/>
              </a:endParaRPr>
            </a:p>
          </p:txBody>
        </p:sp>
      </p:grpSp>
      <p:sp>
        <p:nvSpPr>
          <p:cNvPr id="81934" name="Text Box 16"/>
          <p:cNvSpPr txBox="1"/>
          <p:nvPr/>
        </p:nvSpPr>
        <p:spPr>
          <a:xfrm>
            <a:off x="5899150" y="5414963"/>
            <a:ext cx="1454150" cy="396875"/>
          </a:xfrm>
          <a:prstGeom prst="rect">
            <a:avLst/>
          </a:prstGeom>
          <a:solidFill>
            <a:srgbClr val="FFD6AD"/>
          </a:solid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中断示意图</a:t>
            </a:r>
            <a:endParaRPr lang="zh-CN" altLang="en-US" sz="2000" b="0" dirty="0">
              <a:solidFill>
                <a:schemeClr val="tx1"/>
              </a:solidFill>
              <a:ea typeface="楷体_GB2312"/>
            </a:endParaRPr>
          </a:p>
        </p:txBody>
      </p:sp>
      <p:grpSp>
        <p:nvGrpSpPr>
          <p:cNvPr id="81935" name="Group 17"/>
          <p:cNvGrpSpPr/>
          <p:nvPr/>
        </p:nvGrpSpPr>
        <p:grpSpPr>
          <a:xfrm>
            <a:off x="385763" y="2024063"/>
            <a:ext cx="4494212" cy="4471987"/>
            <a:chOff x="0" y="0"/>
            <a:chExt cx="2831" cy="2817"/>
          </a:xfrm>
        </p:grpSpPr>
        <p:sp>
          <p:nvSpPr>
            <p:cNvPr id="160774" name="AutoShape 18"/>
            <p:cNvSpPr/>
            <p:nvPr/>
          </p:nvSpPr>
          <p:spPr>
            <a:xfrm>
              <a:off x="0" y="0"/>
              <a:ext cx="2831" cy="2782"/>
            </a:xfrm>
            <a:prstGeom prst="roundRect">
              <a:avLst>
                <a:gd name="adj" fmla="val 14019"/>
              </a:avLst>
            </a:prstGeom>
            <a:solidFill>
              <a:srgbClr val="FFCCFF">
                <a:alpha val="50195"/>
              </a:srgbClr>
            </a:solidFill>
            <a:ln w="38100" cap="flat" cmpd="dbl">
              <a:solidFill>
                <a:srgbClr val="FF66FF"/>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160775" name="Text Box 19"/>
            <p:cNvSpPr txBox="1"/>
            <p:nvPr/>
          </p:nvSpPr>
          <p:spPr>
            <a:xfrm>
              <a:off x="97" y="99"/>
              <a:ext cx="2610" cy="2718"/>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660400" algn="dist">
                <a:lnSpc>
                  <a:spcPct val="140000"/>
                </a:lnSpc>
                <a:spcBef>
                  <a:spcPct val="50000"/>
                </a:spcBef>
                <a:spcAft>
                  <a:spcPct val="0"/>
                </a:spcAft>
                <a:buClrTx/>
                <a:buSzTx/>
                <a:buNone/>
              </a:pPr>
              <a:r>
                <a:rPr lang="zh-CN" altLang="en-US" sz="2400" b="0" dirty="0">
                  <a:solidFill>
                    <a:schemeClr val="tx1"/>
                  </a:solidFill>
                  <a:latin typeface="Times New Roman" panose="02020603050405020304" pitchFamily="18" charset="0"/>
                  <a:ea typeface="楷体_GB2312"/>
                </a:rPr>
                <a:t>所谓</a:t>
              </a:r>
              <a:r>
                <a:rPr lang="zh-CN" altLang="en-US" b="0" dirty="0">
                  <a:solidFill>
                    <a:schemeClr val="tx1"/>
                  </a:solidFill>
                  <a:latin typeface="Times New Roman" panose="02020603050405020304" pitchFamily="18" charset="0"/>
                  <a:ea typeface="楷体_GB2312"/>
                </a:rPr>
                <a:t>中断</a:t>
              </a:r>
              <a:r>
                <a:rPr lang="zh-CN" altLang="en-US" sz="2400" b="0" dirty="0">
                  <a:solidFill>
                    <a:schemeClr val="tx1"/>
                  </a:solidFill>
                  <a:latin typeface="Times New Roman" panose="02020603050405020304" pitchFamily="18" charset="0"/>
                  <a:ea typeface="楷体_GB2312"/>
                </a:rPr>
                <a:t>，是指这样一个过程：当</a:t>
              </a:r>
              <a:r>
                <a:rPr lang="en-US" altLang="zh-CN" sz="2400" b="0" dirty="0">
                  <a:solidFill>
                    <a:schemeClr val="tx1"/>
                  </a:solidFill>
                  <a:latin typeface="Times New Roman" panose="02020603050405020304" pitchFamily="18" charset="0"/>
                  <a:ea typeface="楷体_GB2312"/>
                </a:rPr>
                <a:t>CPU</a:t>
              </a:r>
              <a:r>
                <a:rPr lang="zh-CN" altLang="en-US" sz="2400" b="0" dirty="0">
                  <a:solidFill>
                    <a:schemeClr val="tx1"/>
                  </a:solidFill>
                  <a:latin typeface="Times New Roman" panose="02020603050405020304" pitchFamily="18" charset="0"/>
                  <a:ea typeface="楷体_GB2312"/>
                </a:rPr>
                <a:t>正在执行程序过程中，由于某一</a:t>
              </a:r>
              <a:r>
                <a:rPr lang="zh-CN" altLang="en-US" sz="2400" dirty="0">
                  <a:solidFill>
                    <a:schemeClr val="tx1"/>
                  </a:solidFill>
                  <a:latin typeface="Times New Roman" panose="02020603050405020304" pitchFamily="18" charset="0"/>
                  <a:ea typeface="楷体_GB2312"/>
                </a:rPr>
                <a:t>突然</a:t>
              </a:r>
              <a:r>
                <a:rPr lang="zh-CN" altLang="en-US" sz="2400" b="0" dirty="0">
                  <a:solidFill>
                    <a:schemeClr val="tx1"/>
                  </a:solidFill>
                  <a:latin typeface="Times New Roman" panose="02020603050405020304" pitchFamily="18" charset="0"/>
                  <a:ea typeface="楷体_GB2312"/>
                </a:rPr>
                <a:t>事件的发生，</a:t>
              </a:r>
              <a:r>
                <a:rPr lang="zh-CN" altLang="en-US" sz="2400" dirty="0">
                  <a:solidFill>
                    <a:schemeClr val="tx1"/>
                  </a:solidFill>
                  <a:latin typeface="Times New Roman" panose="02020603050405020304" pitchFamily="18" charset="0"/>
                  <a:ea typeface="楷体_GB2312"/>
                </a:rPr>
                <a:t>暂时中止</a:t>
              </a:r>
              <a:r>
                <a:rPr lang="zh-CN" altLang="en-US" sz="2400" b="0" dirty="0">
                  <a:solidFill>
                    <a:schemeClr val="tx1"/>
                  </a:solidFill>
                  <a:latin typeface="Times New Roman" panose="02020603050405020304" pitchFamily="18" charset="0"/>
                  <a:ea typeface="楷体_GB2312"/>
                </a:rPr>
                <a:t>正在执行的程序，转去处理突然发生的事件（执行中断服务程序），处理完毕，</a:t>
              </a:r>
              <a:r>
                <a:rPr lang="zh-CN" altLang="en-US" sz="2400" dirty="0">
                  <a:solidFill>
                    <a:schemeClr val="tx1"/>
                  </a:solidFill>
                  <a:latin typeface="Times New Roman" panose="02020603050405020304" pitchFamily="18" charset="0"/>
                  <a:ea typeface="楷体_GB2312"/>
                </a:rPr>
                <a:t>再返回</a:t>
              </a:r>
              <a:r>
                <a:rPr lang="zh-CN" altLang="en-US" sz="2400" b="0" dirty="0">
                  <a:solidFill>
                    <a:schemeClr val="tx1"/>
                  </a:solidFill>
                  <a:latin typeface="Times New Roman" panose="02020603050405020304" pitchFamily="18" charset="0"/>
                  <a:ea typeface="楷体_GB2312"/>
                </a:rPr>
                <a:t>原来被中止的程序继续运行。</a:t>
              </a:r>
              <a:endParaRPr lang="zh-CN" altLang="en-US" sz="2400" b="0" dirty="0">
                <a:solidFill>
                  <a:schemeClr val="tx1"/>
                </a:solidFill>
                <a:latin typeface="Times New Roman" panose="02020603050405020304" pitchFamily="18" charset="0"/>
                <a:ea typeface="楷体_GB2312"/>
              </a:endParaRPr>
            </a:p>
          </p:txBody>
        </p:sp>
      </p:grpSp>
      <p:sp>
        <p:nvSpPr>
          <p:cNvPr id="160773" name="Rectangle 2"/>
          <p:cNvSpPr txBox="1"/>
          <p:nvPr/>
        </p:nvSpPr>
        <p:spPr>
          <a:xfrm>
            <a:off x="1182688" y="979488"/>
            <a:ext cx="7791450" cy="8001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4400" b="0" dirty="0">
                <a:solidFill>
                  <a:srgbClr val="800000"/>
                </a:solidFill>
                <a:latin typeface="Tahoma" panose="020B0604030504040204" pitchFamily="34" charset="0"/>
                <a:ea typeface="隶书" panose="02010509060101010101" pitchFamily="49" charset="-122"/>
              </a:rPr>
              <a:t>一、中断的基本概念</a:t>
            </a:r>
            <a:endParaRPr lang="zh-CN" altLang="en-US" sz="4400" b="0" dirty="0">
              <a:solidFill>
                <a:srgbClr val="800000"/>
              </a:solidFill>
              <a:latin typeface="Tahoma" panose="020B0604030504040204" pitchFamily="34" charset="0"/>
              <a:ea typeface="隶书" panose="020105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81935"/>
                                        </p:tgtEl>
                                        <p:attrNameLst>
                                          <p:attrName>style.visibility</p:attrName>
                                        </p:attrNameLst>
                                      </p:cBhvr>
                                      <p:to>
                                        <p:strVal val="visible"/>
                                      </p:to>
                                    </p:set>
                                    <p:animEffect transition="in" filter="barn(outVertical)">
                                      <p:cBhvr>
                                        <p:cTn id="7" dur="500"/>
                                        <p:tgtEl>
                                          <p:spTgt spid="8193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81922"/>
                                        </p:tgtEl>
                                        <p:attrNameLst>
                                          <p:attrName>style.visibility</p:attrName>
                                        </p:attrNameLst>
                                      </p:cBhvr>
                                      <p:to>
                                        <p:strVal val="visible"/>
                                      </p:to>
                                    </p:set>
                                    <p:anim calcmode="lin" valueType="num">
                                      <p:cBhvr>
                                        <p:cTn id="12" dur="500" fill="hold"/>
                                        <p:tgtEl>
                                          <p:spTgt spid="81922"/>
                                        </p:tgtEl>
                                        <p:attrNameLst>
                                          <p:attrName>ppt_w</p:attrName>
                                        </p:attrNameLst>
                                      </p:cBhvr>
                                      <p:tavLst>
                                        <p:tav tm="0">
                                          <p:val>
                                            <p:fltVal val="0.000000"/>
                                          </p:val>
                                        </p:tav>
                                        <p:tav tm="100000">
                                          <p:val>
                                            <p:strVal val="#ppt_w"/>
                                          </p:val>
                                        </p:tav>
                                      </p:tavLst>
                                    </p:anim>
                                    <p:anim calcmode="lin" valueType="num">
                                      <p:cBhvr>
                                        <p:cTn id="13" dur="500" fill="hold"/>
                                        <p:tgtEl>
                                          <p:spTgt spid="81922"/>
                                        </p:tgtEl>
                                        <p:attrNameLst>
                                          <p:attrName>ppt_h</p:attrName>
                                        </p:attrNameLst>
                                      </p:cBhvr>
                                      <p:tavLst>
                                        <p:tav tm="0">
                                          <p:val>
                                            <p:fltVal val="0.000000"/>
                                          </p:val>
                                        </p:tav>
                                        <p:tav tm="100000">
                                          <p:val>
                                            <p:strVal val="#ppt_h"/>
                                          </p:val>
                                        </p:tav>
                                      </p:tavLst>
                                    </p:anim>
                                  </p:childTnLst>
                                </p:cTn>
                              </p:par>
                            </p:childTnLst>
                          </p:cTn>
                        </p:par>
                        <p:par>
                          <p:cTn id="14" fill="hold">
                            <p:stCondLst>
                              <p:cond delay="500"/>
                            </p:stCondLst>
                            <p:childTnLst>
                              <p:par>
                                <p:cTn id="15" presetID="12" presetClass="entr" presetSubtype="1" fill="hold" grpId="0" nodeType="afterEffect">
                                  <p:stCondLst>
                                    <p:cond delay="0"/>
                                  </p:stCondLst>
                                  <p:childTnLst>
                                    <p:set>
                                      <p:cBhvr>
                                        <p:cTn id="16" dur="1" fill="hold">
                                          <p:stCondLst>
                                            <p:cond delay="0"/>
                                          </p:stCondLst>
                                        </p:cTn>
                                        <p:tgtEl>
                                          <p:spTgt spid="81934"/>
                                        </p:tgtEl>
                                        <p:attrNameLst>
                                          <p:attrName>style.visibility</p:attrName>
                                        </p:attrNameLst>
                                      </p:cBhvr>
                                      <p:to>
                                        <p:strVal val="visible"/>
                                      </p:to>
                                    </p:set>
                                    <p:animEffect transition="in" filter="slide(fromTop)">
                                      <p:cBhvr>
                                        <p:cTn id="17" dur="500"/>
                                        <p:tgtEl>
                                          <p:spTgt spid="81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Text Box 2"/>
          <p:cNvSpPr txBox="1"/>
          <p:nvPr/>
        </p:nvSpPr>
        <p:spPr>
          <a:xfrm>
            <a:off x="1039813" y="1052513"/>
            <a:ext cx="6600825" cy="579438"/>
          </a:xfrm>
          <a:prstGeom prst="rect">
            <a:avLst/>
          </a:prstGeom>
          <a:noFill/>
          <a:ln w="9525">
            <a:noFill/>
            <a:miter/>
          </a:ln>
        </p:spPr>
        <p:txBody>
          <a:bodyPr>
            <a:spAutoFit/>
          </a:bodyPr>
          <a:lstStyle/>
          <a:p>
            <a:pPr marR="0" defTabSz="914400">
              <a:spcBef>
                <a:spcPct val="50000"/>
              </a:spcBef>
              <a:buClr>
                <a:srgbClr val="000000"/>
              </a:buClr>
              <a:buSzTx/>
              <a:buFont typeface="Arial" panose="020B0604020202020204" pitchFamily="34" charset="0"/>
              <a:buNone/>
              <a:defRPr/>
            </a:pPr>
            <a:r>
              <a:rPr kumimoji="0" lang="zh-CN" altLang="en-US" sz="3200" b="1" kern="1200" cap="none" spc="0" normalizeH="0" baseline="0" noProof="1">
                <a:solidFill>
                  <a:srgbClr val="FF6600"/>
                </a:solidFill>
                <a:effectLst>
                  <a:outerShdw blurRad="38100" dist="38100" dir="2700000">
                    <a:srgbClr val="C0C0C0"/>
                  </a:outerShdw>
                </a:effectLst>
                <a:latin typeface="幼圆" panose="02010509060101010101" pitchFamily="49" charset="-122"/>
                <a:ea typeface="幼圆" panose="02010509060101010101" pitchFamily="49" charset="-122"/>
                <a:cs typeface="+mn-ea"/>
              </a:rPr>
              <a:t>日常生活中类似</a:t>
            </a:r>
            <a:r>
              <a:rPr kumimoji="0" lang="zh-CN" altLang="en-US" sz="3200" b="1" kern="1200" cap="none" spc="0" normalizeH="0" baseline="0" noProof="1">
                <a:solidFill>
                  <a:srgbClr val="FF6600"/>
                </a:solidFill>
                <a:effectLst>
                  <a:outerShdw blurRad="38100" dist="38100" dir="2700000">
                    <a:srgbClr val="C0C0C0"/>
                  </a:outerShdw>
                </a:effectLst>
                <a:latin typeface="Arial" panose="020B0604020202020204" pitchFamily="34" charset="0"/>
                <a:ea typeface="幼圆" panose="02010509060101010101" pitchFamily="49" charset="-122"/>
                <a:cs typeface="+mn-ea"/>
              </a:rPr>
              <a:t>“</a:t>
            </a:r>
            <a:r>
              <a:rPr kumimoji="0" lang="zh-CN" altLang="en-US" sz="3200" b="1" kern="1200" cap="none" spc="0" normalizeH="0" baseline="0" noProof="1">
                <a:solidFill>
                  <a:srgbClr val="FF6600"/>
                </a:solidFill>
                <a:effectLst>
                  <a:outerShdw blurRad="38100" dist="38100" dir="2700000">
                    <a:srgbClr val="C0C0C0"/>
                  </a:outerShdw>
                </a:effectLst>
                <a:latin typeface="幼圆" panose="02010509060101010101" pitchFamily="49" charset="-122"/>
                <a:ea typeface="幼圆" panose="02010509060101010101" pitchFamily="49" charset="-122"/>
                <a:cs typeface="+mn-ea"/>
              </a:rPr>
              <a:t>中断</a:t>
            </a:r>
            <a:r>
              <a:rPr kumimoji="0" lang="zh-CN" altLang="en-US" sz="3200" b="1" kern="1200" cap="none" spc="0" normalizeH="0" baseline="0" noProof="1">
                <a:solidFill>
                  <a:srgbClr val="FF6600"/>
                </a:solidFill>
                <a:effectLst>
                  <a:outerShdw blurRad="38100" dist="38100" dir="2700000">
                    <a:srgbClr val="C0C0C0"/>
                  </a:outerShdw>
                </a:effectLst>
                <a:latin typeface="Arial" panose="020B0604020202020204" pitchFamily="34" charset="0"/>
                <a:ea typeface="幼圆" panose="02010509060101010101" pitchFamily="49" charset="-122"/>
                <a:cs typeface="+mn-ea"/>
              </a:rPr>
              <a:t>”</a:t>
            </a:r>
            <a:r>
              <a:rPr kumimoji="0" lang="zh-CN" altLang="en-US" sz="3200" b="1" kern="1200" cap="none" spc="0" normalizeH="0" baseline="0" noProof="1">
                <a:solidFill>
                  <a:srgbClr val="FF6600"/>
                </a:solidFill>
                <a:effectLst>
                  <a:outerShdw blurRad="38100" dist="38100" dir="2700000">
                    <a:srgbClr val="C0C0C0"/>
                  </a:outerShdw>
                </a:effectLst>
                <a:latin typeface="幼圆" panose="02010509060101010101" pitchFamily="49" charset="-122"/>
                <a:ea typeface="幼圆" panose="02010509060101010101" pitchFamily="49" charset="-122"/>
                <a:cs typeface="+mn-ea"/>
              </a:rPr>
              <a:t> 的例子：</a:t>
            </a:r>
            <a:endParaRPr kumimoji="0" lang="zh-CN" altLang="en-US" sz="3200" b="1" kern="1200" cap="none" spc="0" normalizeH="0" baseline="0" noProof="1">
              <a:solidFill>
                <a:srgbClr val="FF6600"/>
              </a:solidFill>
              <a:effectLst>
                <a:outerShdw blurRad="38100" dist="38100" dir="2700000">
                  <a:srgbClr val="C0C0C0"/>
                </a:outerShdw>
              </a:effectLst>
              <a:latin typeface="幼圆" panose="02010509060101010101" pitchFamily="49" charset="-122"/>
              <a:ea typeface="幼圆" panose="02010509060101010101" pitchFamily="49" charset="-122"/>
              <a:cs typeface="+mn-cs"/>
            </a:endParaRPr>
          </a:p>
        </p:txBody>
      </p:sp>
      <p:sp>
        <p:nvSpPr>
          <p:cNvPr id="82947" name="Text Box 3"/>
          <p:cNvSpPr txBox="1"/>
          <p:nvPr/>
        </p:nvSpPr>
        <p:spPr>
          <a:xfrm>
            <a:off x="1016000" y="2349500"/>
            <a:ext cx="7081838" cy="1887538"/>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40000"/>
              </a:lnSpc>
              <a:spcBef>
                <a:spcPct val="50000"/>
              </a:spcBef>
              <a:spcAft>
                <a:spcPct val="0"/>
              </a:spcAft>
              <a:buClrTx/>
              <a:buSzTx/>
              <a:buNone/>
            </a:pPr>
            <a:r>
              <a:rPr lang="zh-CN" altLang="en-US" dirty="0">
                <a:solidFill>
                  <a:srgbClr val="0000FF"/>
                </a:solidFill>
                <a:latin typeface="Times New Roman" panose="02020603050405020304" pitchFamily="18" charset="0"/>
                <a:ea typeface="楷体_GB2312"/>
              </a:rPr>
              <a:t>例</a:t>
            </a:r>
            <a:r>
              <a:rPr lang="en-US" altLang="zh-CN" dirty="0">
                <a:solidFill>
                  <a:srgbClr val="0000FF"/>
                </a:solidFill>
                <a:latin typeface="Times New Roman" panose="02020603050405020304" pitchFamily="18" charset="0"/>
                <a:ea typeface="楷体_GB2312"/>
              </a:rPr>
              <a:t>1</a:t>
            </a:r>
            <a:r>
              <a:rPr lang="zh-CN" altLang="en-US" b="0" dirty="0">
                <a:solidFill>
                  <a:schemeClr val="tx1"/>
                </a:solidFill>
                <a:latin typeface="Times New Roman" panose="02020603050405020304" pitchFamily="18" charset="0"/>
                <a:ea typeface="楷体_GB2312"/>
              </a:rPr>
              <a:t>：门铃响时，放下手中正在做的事情，跑去开门，招待客人；客人走后，接着做原来的事情。</a:t>
            </a:r>
            <a:endParaRPr lang="zh-CN" altLang="en-US" b="0" dirty="0">
              <a:solidFill>
                <a:schemeClr val="tx1"/>
              </a:solidFill>
              <a:latin typeface="Times New Roman" panose="02020603050405020304" pitchFamily="18" charset="0"/>
              <a:ea typeface="楷体_GB2312"/>
            </a:endParaRPr>
          </a:p>
        </p:txBody>
      </p:sp>
      <p:sp>
        <p:nvSpPr>
          <p:cNvPr id="82948" name="Text Box 4"/>
          <p:cNvSpPr txBox="1"/>
          <p:nvPr/>
        </p:nvSpPr>
        <p:spPr>
          <a:xfrm>
            <a:off x="1016000" y="4797425"/>
            <a:ext cx="7081838" cy="12890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40000"/>
              </a:lnSpc>
              <a:spcBef>
                <a:spcPct val="50000"/>
              </a:spcBef>
              <a:spcAft>
                <a:spcPct val="0"/>
              </a:spcAft>
              <a:buClrTx/>
              <a:buSzTx/>
              <a:buNone/>
            </a:pPr>
            <a:r>
              <a:rPr lang="zh-CN" altLang="en-US" dirty="0">
                <a:solidFill>
                  <a:srgbClr val="0000FF"/>
                </a:solidFill>
                <a:latin typeface="Times New Roman" panose="02020603050405020304" pitchFamily="18" charset="0"/>
                <a:ea typeface="楷体_GB2312"/>
              </a:rPr>
              <a:t>例</a:t>
            </a:r>
            <a:r>
              <a:rPr lang="en-US" altLang="zh-CN" dirty="0">
                <a:solidFill>
                  <a:srgbClr val="0000FF"/>
                </a:solidFill>
                <a:latin typeface="Times New Roman" panose="02020603050405020304" pitchFamily="18" charset="0"/>
                <a:ea typeface="楷体_GB2312"/>
              </a:rPr>
              <a:t>2</a:t>
            </a:r>
            <a:r>
              <a:rPr lang="zh-CN" altLang="en-US" b="0" dirty="0">
                <a:solidFill>
                  <a:schemeClr val="tx1"/>
                </a:solidFill>
                <a:latin typeface="Times New Roman" panose="02020603050405020304" pitchFamily="18" charset="0"/>
                <a:ea typeface="楷体_GB2312"/>
              </a:rPr>
              <a:t>：教师讲课过程中，同学遇有疑问，不同理解之处，随时向老师提问。</a:t>
            </a:r>
            <a:endParaRPr lang="zh-CN" altLang="en-US" b="0" dirty="0">
              <a:solidFill>
                <a:schemeClr val="tx1"/>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2946"/>
                                        </p:tgtEl>
                                        <p:attrNameLst>
                                          <p:attrName>style.visibility</p:attrName>
                                        </p:attrNameLst>
                                      </p:cBhvr>
                                      <p:to>
                                        <p:strVal val="visible"/>
                                      </p:to>
                                    </p:set>
                                    <p:animEffect transition="in" filter="barn(inVertical)">
                                      <p:cBhvr>
                                        <p:cTn id="7" dur="500"/>
                                        <p:tgtEl>
                                          <p:spTgt spid="8294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2947"/>
                                        </p:tgtEl>
                                        <p:attrNameLst>
                                          <p:attrName>style.visibility</p:attrName>
                                        </p:attrNameLst>
                                      </p:cBhvr>
                                      <p:to>
                                        <p:strVal val="visible"/>
                                      </p:to>
                                    </p:set>
                                    <p:animEffect transition="in" filter="barn(inVertical)">
                                      <p:cBhvr>
                                        <p:cTn id="12" dur="500"/>
                                        <p:tgtEl>
                                          <p:spTgt spid="8294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2948"/>
                                        </p:tgtEl>
                                        <p:attrNameLst>
                                          <p:attrName>style.visibility</p:attrName>
                                        </p:attrNameLst>
                                      </p:cBhvr>
                                      <p:to>
                                        <p:strVal val="visible"/>
                                      </p:to>
                                    </p:set>
                                    <p:animEffect transition="in" filter="barn(inVertical)">
                                      <p:cBhvr>
                                        <p:cTn id="17" dur="500"/>
                                        <p:tgtEl>
                                          <p:spTgt spid="82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p:bldP spid="82947" grpId="0"/>
      <p:bldP spid="8294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灯片编号占位符 1"/>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62819" name="矩形 2"/>
          <p:cNvSpPr/>
          <p:nvPr/>
        </p:nvSpPr>
        <p:spPr>
          <a:xfrm>
            <a:off x="395288" y="2205038"/>
            <a:ext cx="8208962" cy="36004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457200" lvl="1" indent="0">
              <a:lnSpc>
                <a:spcPct val="150000"/>
              </a:lnSpc>
              <a:spcBef>
                <a:spcPct val="0"/>
              </a:spcBef>
              <a:spcAft>
                <a:spcPct val="0"/>
              </a:spcAft>
              <a:buSzTx/>
              <a:buFont typeface="Arial" panose="020B0604020202020204" pitchFamily="34" charset="0"/>
              <a:buNone/>
            </a:pPr>
            <a:r>
              <a:rPr lang="zh-CN" altLang="en-US" i="1" dirty="0">
                <a:solidFill>
                  <a:srgbClr val="000000"/>
                </a:solidFill>
                <a:latin typeface="楷体_GB2312"/>
                <a:ea typeface="楷体_GB2312"/>
              </a:rPr>
              <a:t>在中断的整个处理过程中，外部事件发出的</a:t>
            </a:r>
            <a:r>
              <a:rPr lang="zh-CN" altLang="en-US" i="1" dirty="0">
                <a:solidFill>
                  <a:srgbClr val="9933FF"/>
                </a:solidFill>
                <a:latin typeface="楷体_GB2312"/>
                <a:ea typeface="楷体_GB2312"/>
              </a:rPr>
              <a:t>中断请求</a:t>
            </a:r>
            <a:r>
              <a:rPr lang="zh-CN" altLang="en-US" i="1" dirty="0">
                <a:solidFill>
                  <a:srgbClr val="000000"/>
                </a:solidFill>
                <a:latin typeface="楷体_GB2312"/>
                <a:ea typeface="楷体_GB2312"/>
              </a:rPr>
              <a:t>和</a:t>
            </a:r>
            <a:r>
              <a:rPr lang="en-US" altLang="zh-CN" i="1" dirty="0">
                <a:solidFill>
                  <a:srgbClr val="000000"/>
                </a:solidFill>
                <a:latin typeface="楷体_GB2312"/>
                <a:ea typeface="楷体_GB2312"/>
              </a:rPr>
              <a:t>CPU</a:t>
            </a:r>
            <a:r>
              <a:rPr lang="zh-CN" altLang="en-US" i="1" dirty="0">
                <a:solidFill>
                  <a:srgbClr val="000000"/>
                </a:solidFill>
                <a:latin typeface="楷体_GB2312"/>
                <a:ea typeface="楷体_GB2312"/>
              </a:rPr>
              <a:t>对</a:t>
            </a:r>
            <a:r>
              <a:rPr lang="zh-CN" altLang="en-US" i="1" dirty="0">
                <a:solidFill>
                  <a:srgbClr val="9933FF"/>
                </a:solidFill>
                <a:latin typeface="楷体_GB2312"/>
                <a:ea typeface="楷体_GB2312"/>
              </a:rPr>
              <a:t>中断的响应</a:t>
            </a:r>
            <a:r>
              <a:rPr lang="zh-CN" altLang="en-US" i="1" dirty="0">
                <a:solidFill>
                  <a:srgbClr val="000000"/>
                </a:solidFill>
                <a:latin typeface="楷体_GB2312"/>
                <a:ea typeface="楷体_GB2312"/>
              </a:rPr>
              <a:t>与当前正在执行的指令之间没有任何关系。</a:t>
            </a:r>
            <a:r>
              <a:rPr lang="en-US" altLang="zh-CN" i="1" dirty="0">
                <a:solidFill>
                  <a:srgbClr val="000000"/>
                </a:solidFill>
                <a:latin typeface="楷体_GB2312"/>
                <a:ea typeface="楷体_GB2312"/>
              </a:rPr>
              <a:t>——</a:t>
            </a:r>
            <a:r>
              <a:rPr lang="zh-CN" altLang="en-US" i="1" dirty="0">
                <a:solidFill>
                  <a:srgbClr val="990000"/>
                </a:solidFill>
                <a:latin typeface="楷体_GB2312"/>
                <a:ea typeface="楷体_GB2312"/>
              </a:rPr>
              <a:t>随机性</a:t>
            </a:r>
            <a:endParaRPr lang="zh-CN" altLang="en-US" i="1" dirty="0">
              <a:solidFill>
                <a:srgbClr val="990000"/>
              </a:solidFill>
              <a:latin typeface="楷体_GB2312"/>
              <a:ea typeface="楷体_GB2312"/>
            </a:endParaRPr>
          </a:p>
          <a:p>
            <a:pPr marL="457200" lvl="1" indent="0">
              <a:lnSpc>
                <a:spcPct val="150000"/>
              </a:lnSpc>
              <a:spcBef>
                <a:spcPct val="50000"/>
              </a:spcBef>
              <a:spcAft>
                <a:spcPct val="0"/>
              </a:spcAft>
              <a:buSzTx/>
              <a:buFont typeface="Arial" panose="020B0604020202020204" pitchFamily="34" charset="0"/>
              <a:buNone/>
            </a:pPr>
            <a:r>
              <a:rPr lang="zh-CN" altLang="en-US" i="1" dirty="0">
                <a:solidFill>
                  <a:srgbClr val="000000"/>
                </a:solidFill>
                <a:latin typeface="楷体_GB2312"/>
                <a:ea typeface="楷体_GB2312"/>
              </a:rPr>
              <a:t>主程序调用子程序的过程则是程序员事先通过编程，利用</a:t>
            </a:r>
            <a:r>
              <a:rPr lang="en-US" altLang="zh-CN" i="1" dirty="0">
                <a:solidFill>
                  <a:srgbClr val="000000"/>
                </a:solidFill>
                <a:latin typeface="楷体_GB2312"/>
                <a:ea typeface="楷体_GB2312"/>
              </a:rPr>
              <a:t>CALL</a:t>
            </a:r>
            <a:r>
              <a:rPr lang="zh-CN" altLang="en-US" i="1" dirty="0">
                <a:solidFill>
                  <a:srgbClr val="000000"/>
                </a:solidFill>
                <a:latin typeface="楷体_GB2312"/>
                <a:ea typeface="楷体_GB2312"/>
              </a:rPr>
              <a:t>指令来实现的，当</a:t>
            </a:r>
            <a:r>
              <a:rPr lang="en-US" altLang="zh-CN" i="1" dirty="0">
                <a:solidFill>
                  <a:srgbClr val="000000"/>
                </a:solidFill>
                <a:latin typeface="楷体_GB2312"/>
                <a:ea typeface="楷体_GB2312"/>
              </a:rPr>
              <a:t>CPU</a:t>
            </a:r>
            <a:r>
              <a:rPr lang="zh-CN" altLang="en-US" i="1" dirty="0">
                <a:solidFill>
                  <a:srgbClr val="000000"/>
                </a:solidFill>
                <a:latin typeface="楷体_GB2312"/>
                <a:ea typeface="楷体_GB2312"/>
              </a:rPr>
              <a:t>执行到该指令时，就会转去执行被调用的子程序。</a:t>
            </a:r>
            <a:r>
              <a:rPr lang="en-US" altLang="zh-CN" i="1" dirty="0">
                <a:solidFill>
                  <a:srgbClr val="000000"/>
                </a:solidFill>
                <a:latin typeface="楷体_GB2312"/>
                <a:ea typeface="楷体_GB2312"/>
              </a:rPr>
              <a:t>——</a:t>
            </a:r>
            <a:r>
              <a:rPr lang="zh-CN" altLang="en-US" i="1" dirty="0">
                <a:solidFill>
                  <a:srgbClr val="CC6600"/>
                </a:solidFill>
                <a:latin typeface="楷体_GB2312"/>
                <a:ea typeface="楷体_GB2312"/>
              </a:rPr>
              <a:t>确定性 </a:t>
            </a:r>
            <a:endParaRPr lang="zh-CN" altLang="en-US" i="1" dirty="0">
              <a:solidFill>
                <a:srgbClr val="CC6600"/>
              </a:solidFill>
              <a:latin typeface="楷体_GB2312"/>
              <a:ea typeface="楷体_GB2312"/>
            </a:endParaRPr>
          </a:p>
        </p:txBody>
      </p:sp>
      <p:sp>
        <p:nvSpPr>
          <p:cNvPr id="162820" name="矩形 3"/>
          <p:cNvSpPr/>
          <p:nvPr/>
        </p:nvSpPr>
        <p:spPr>
          <a:xfrm>
            <a:off x="1116013" y="1052513"/>
            <a:ext cx="5262562" cy="769937"/>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zh-CN" altLang="en-US" sz="4400" b="0" dirty="0">
                <a:solidFill>
                  <a:srgbClr val="C00000"/>
                </a:solidFill>
                <a:latin typeface="隶书" panose="02010509060101010101" pitchFamily="49" charset="-122"/>
                <a:ea typeface="隶书" panose="02010509060101010101" pitchFamily="49" charset="-122"/>
              </a:rPr>
              <a:t>中断与子程序的异同</a:t>
            </a:r>
            <a:endParaRPr lang="zh-CN" altLang="en-US" sz="4400" b="0" dirty="0">
              <a:solidFill>
                <a:srgbClr val="C00000"/>
              </a:solidFill>
              <a:latin typeface="隶书" panose="02010509060101010101" pitchFamily="49" charset="-122"/>
              <a:ea typeface="隶书" panose="02010509060101010101" pitchFamily="49" charset="-122"/>
            </a:endParaRPr>
          </a:p>
        </p:txBody>
      </p:sp>
    </p:spTree>
  </p:cSld>
  <p:clrMapOvr>
    <a:masterClrMapping/>
  </p:clrMapOvr>
  <p:transition spd="slow">
    <p:zo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63843" name="Rectangle 2"/>
          <p:cNvSpPr>
            <a:spLocks noGrp="1"/>
          </p:cNvSpPr>
          <p:nvPr>
            <p:ph type="title" idx="4294967295"/>
          </p:nvPr>
        </p:nvSpPr>
        <p:spPr/>
        <p:txBody>
          <a:bodyPr vert="horz" wrap="square" lIns="91440" tIns="45720" rIns="91440" bIns="45720" anchor="b" anchorCtr="0"/>
          <a:p>
            <a:pPr eaLnBrk="1" hangingPunct="1"/>
            <a:r>
              <a:rPr lang="zh-CN" altLang="en-US" dirty="0"/>
              <a:t>引入中断的原因</a:t>
            </a:r>
            <a:endParaRPr lang="zh-CN" altLang="en-US" dirty="0"/>
          </a:p>
        </p:txBody>
      </p:sp>
      <p:sp>
        <p:nvSpPr>
          <p:cNvPr id="84996" name="Rectangle 3"/>
          <p:cNvSpPr>
            <a:spLocks noGrp="1"/>
          </p:cNvSpPr>
          <p:nvPr>
            <p:ph type="body" idx="4294967295"/>
          </p:nvPr>
        </p:nvSpPr>
        <p:spPr>
          <a:xfrm>
            <a:off x="827088" y="2071688"/>
            <a:ext cx="7772400" cy="3733800"/>
          </a:xfrm>
        </p:spPr>
        <p:txBody>
          <a:bodyPr vert="horz" wrap="square" lIns="91440" tIns="45720" rIns="91440" bIns="45720" anchor="t" anchorCtr="0"/>
          <a:p>
            <a:pPr eaLnBrk="1" hangingPunct="1">
              <a:lnSpc>
                <a:spcPct val="125000"/>
              </a:lnSpc>
            </a:pPr>
            <a:r>
              <a:rPr lang="zh-CN" altLang="en-US" dirty="0"/>
              <a:t>提高数据传输率；</a:t>
            </a:r>
            <a:endParaRPr lang="zh-CN" altLang="en-US" dirty="0"/>
          </a:p>
          <a:p>
            <a:pPr eaLnBrk="1" hangingPunct="1">
              <a:lnSpc>
                <a:spcPct val="125000"/>
              </a:lnSpc>
            </a:pPr>
            <a:r>
              <a:rPr lang="zh-CN" altLang="en-US" dirty="0"/>
              <a:t>避免了</a:t>
            </a:r>
            <a:r>
              <a:rPr lang="en-US" altLang="zh-CN" dirty="0"/>
              <a:t>CPU</a:t>
            </a:r>
            <a:r>
              <a:rPr lang="zh-CN" altLang="en-US" dirty="0"/>
              <a:t>不断检测外设状态的过程，提高了</a:t>
            </a:r>
            <a:r>
              <a:rPr lang="en-US" altLang="zh-CN" dirty="0"/>
              <a:t>CPU</a:t>
            </a:r>
            <a:r>
              <a:rPr lang="zh-CN" altLang="en-US" dirty="0"/>
              <a:t>的利用率。</a:t>
            </a:r>
            <a:endParaRPr lang="zh-CN" altLang="en-US" dirty="0"/>
          </a:p>
          <a:p>
            <a:pPr eaLnBrk="1" hangingPunct="1">
              <a:lnSpc>
                <a:spcPct val="125000"/>
              </a:lnSpc>
              <a:spcAft>
                <a:spcPct val="25000"/>
              </a:spcAft>
            </a:pPr>
            <a:r>
              <a:rPr lang="zh-CN" altLang="en-US" dirty="0"/>
              <a:t>实现对特殊事件的实时响应。</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4996">
                                            <p:txEl>
                                              <p:charRg st="0" end="9"/>
                                            </p:txEl>
                                          </p:spTgt>
                                        </p:tgtEl>
                                        <p:attrNameLst>
                                          <p:attrName>style.visibility</p:attrName>
                                        </p:attrNameLst>
                                      </p:cBhvr>
                                      <p:to>
                                        <p:strVal val="visible"/>
                                      </p:to>
                                    </p:set>
                                    <p:animEffect transition="in" filter="wipe(left)">
                                      <p:cBhvr>
                                        <p:cTn id="7" dur="500"/>
                                        <p:tgtEl>
                                          <p:spTgt spid="84996">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4996">
                                            <p:txEl>
                                              <p:charRg st="9" end="39"/>
                                            </p:txEl>
                                          </p:spTgt>
                                        </p:tgtEl>
                                        <p:attrNameLst>
                                          <p:attrName>style.visibility</p:attrName>
                                        </p:attrNameLst>
                                      </p:cBhvr>
                                      <p:to>
                                        <p:strVal val="visible"/>
                                      </p:to>
                                    </p:set>
                                    <p:animEffect transition="in" filter="blinds(horizontal)">
                                      <p:cBhvr>
                                        <p:cTn id="12" dur="500"/>
                                        <p:tgtEl>
                                          <p:spTgt spid="84996">
                                            <p:txEl>
                                              <p:charRg st="9" end="3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4996">
                                            <p:txEl>
                                              <p:charRg st="39" end="53"/>
                                            </p:txEl>
                                          </p:spTgt>
                                        </p:tgtEl>
                                        <p:attrNameLst>
                                          <p:attrName>style.visibility</p:attrName>
                                        </p:attrNameLst>
                                      </p:cBhvr>
                                      <p:to>
                                        <p:strVal val="visible"/>
                                      </p:to>
                                    </p:set>
                                    <p:animEffect transition="in" filter="wipe(left)">
                                      <p:cBhvr>
                                        <p:cTn id="17" dur="500"/>
                                        <p:tgtEl>
                                          <p:spTgt spid="84996">
                                            <p:txEl>
                                              <p:charRg st="39" end="5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64867" name="Rectangle 2"/>
          <p:cNvSpPr>
            <a:spLocks noGrp="1"/>
          </p:cNvSpPr>
          <p:nvPr>
            <p:ph type="title" idx="4294967295"/>
          </p:nvPr>
        </p:nvSpPr>
        <p:spPr>
          <a:xfrm>
            <a:off x="1187450" y="935038"/>
            <a:ext cx="7488238" cy="838200"/>
          </a:xfrm>
        </p:spPr>
        <p:txBody>
          <a:bodyPr vert="horz" wrap="square" lIns="91440" tIns="45720" rIns="91440" bIns="45720" anchor="b" anchorCtr="0"/>
          <a:p>
            <a:pPr eaLnBrk="1" hangingPunct="1"/>
            <a:r>
              <a:rPr lang="zh-CN" altLang="en-US" sz="4000" dirty="0">
                <a:latin typeface="隶书" panose="02010509060101010101" pitchFamily="49" charset="-122"/>
                <a:ea typeface="隶书" panose="02010509060101010101" pitchFamily="49" charset="-122"/>
              </a:rPr>
              <a:t>二、外部中断响应的一般过程</a:t>
            </a:r>
            <a:endParaRPr lang="zh-CN" altLang="en-US" sz="4000" dirty="0">
              <a:latin typeface="隶书" panose="02010509060101010101" pitchFamily="49" charset="-122"/>
              <a:ea typeface="隶书" panose="02010509060101010101" pitchFamily="49" charset="-122"/>
            </a:endParaRPr>
          </a:p>
        </p:txBody>
      </p:sp>
      <p:sp>
        <p:nvSpPr>
          <p:cNvPr id="164868" name="Rectangle 3"/>
          <p:cNvSpPr>
            <a:spLocks noGrp="1"/>
          </p:cNvSpPr>
          <p:nvPr>
            <p:ph type="body" idx="4294967295"/>
          </p:nvPr>
        </p:nvSpPr>
        <p:spPr>
          <a:xfrm>
            <a:off x="1258888" y="2017713"/>
            <a:ext cx="6629400" cy="3733800"/>
          </a:xfrm>
        </p:spPr>
        <p:txBody>
          <a:bodyPr vert="horz" wrap="square" lIns="91440" tIns="45720" rIns="91440" bIns="45720" anchor="t" anchorCtr="0"/>
          <a:p>
            <a:pPr eaLnBrk="1" hangingPunct="1">
              <a:lnSpc>
                <a:spcPct val="120000"/>
              </a:lnSpc>
            </a:pPr>
            <a:r>
              <a:rPr lang="zh-CN" altLang="en-US" dirty="0"/>
              <a:t>中断请求</a:t>
            </a:r>
            <a:endParaRPr lang="zh-CN" altLang="en-US" dirty="0"/>
          </a:p>
          <a:p>
            <a:pPr eaLnBrk="1" hangingPunct="1">
              <a:lnSpc>
                <a:spcPct val="120000"/>
              </a:lnSpc>
            </a:pPr>
            <a:r>
              <a:rPr lang="zh-CN" altLang="en-US" dirty="0"/>
              <a:t>中断源识别及中断判优</a:t>
            </a:r>
            <a:endParaRPr lang="zh-CN" altLang="en-US" dirty="0"/>
          </a:p>
          <a:p>
            <a:pPr eaLnBrk="1" hangingPunct="1">
              <a:lnSpc>
                <a:spcPct val="120000"/>
              </a:lnSpc>
            </a:pPr>
            <a:r>
              <a:rPr lang="zh-CN" altLang="en-US" dirty="0"/>
              <a:t>中断响应</a:t>
            </a:r>
            <a:endParaRPr lang="zh-CN" altLang="en-US" dirty="0"/>
          </a:p>
          <a:p>
            <a:pPr eaLnBrk="1" hangingPunct="1">
              <a:lnSpc>
                <a:spcPct val="120000"/>
              </a:lnSpc>
            </a:pPr>
            <a:r>
              <a:rPr lang="zh-CN" altLang="en-US" dirty="0"/>
              <a:t>中断处理（服务）</a:t>
            </a:r>
            <a:endParaRPr lang="zh-CN" altLang="en-US" dirty="0"/>
          </a:p>
          <a:p>
            <a:pPr eaLnBrk="1" hangingPunct="1">
              <a:lnSpc>
                <a:spcPct val="120000"/>
              </a:lnSpc>
            </a:pPr>
            <a:r>
              <a:rPr lang="zh-CN" altLang="en-US" dirty="0"/>
              <a:t>中断返回</a:t>
            </a:r>
            <a:endParaRPr lang="zh-CN" altLang="en-US" dirty="0"/>
          </a:p>
        </p:txBody>
      </p:sp>
    </p:spTree>
  </p:cSld>
  <p:clrMapOvr>
    <a:masterClrMapping/>
  </p:clrMapOvr>
  <p:transition spd="slow">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65891" name="Rectangle 2"/>
          <p:cNvSpPr>
            <a:spLocks noGrp="1"/>
          </p:cNvSpPr>
          <p:nvPr>
            <p:ph type="title" idx="4294967295"/>
          </p:nvPr>
        </p:nvSpPr>
        <p:spPr/>
        <p:txBody>
          <a:bodyPr vert="horz" wrap="square" lIns="91440" tIns="45720" rIns="91440" bIns="45720" anchor="b" anchorCtr="0"/>
          <a:p>
            <a:pPr eaLnBrk="1" hangingPunct="1"/>
            <a:r>
              <a:rPr lang="zh-CN" altLang="en-US" dirty="0"/>
              <a:t>中断请求</a:t>
            </a:r>
            <a:endParaRPr lang="zh-CN" altLang="en-US" dirty="0"/>
          </a:p>
        </p:txBody>
      </p:sp>
      <p:sp>
        <p:nvSpPr>
          <p:cNvPr id="90116" name="Rectangle 3"/>
          <p:cNvSpPr>
            <a:spLocks noGrp="1"/>
          </p:cNvSpPr>
          <p:nvPr>
            <p:ph type="body" idx="4294967295"/>
          </p:nvPr>
        </p:nvSpPr>
        <p:spPr>
          <a:xfrm>
            <a:off x="838200" y="3657600"/>
            <a:ext cx="7772400" cy="2133600"/>
          </a:xfrm>
        </p:spPr>
        <p:txBody>
          <a:bodyPr vert="horz" wrap="square" lIns="91440" tIns="45720" rIns="91440" bIns="45720" anchor="t" anchorCtr="0"/>
          <a:p>
            <a:pPr eaLnBrk="1" hangingPunct="1">
              <a:lnSpc>
                <a:spcPct val="120000"/>
              </a:lnSpc>
            </a:pPr>
            <a:r>
              <a:rPr lang="zh-CN" altLang="en-US" dirty="0"/>
              <a:t>中断请求信号应保持到中断被处理为止；</a:t>
            </a:r>
            <a:endParaRPr lang="zh-CN" altLang="en-US" dirty="0"/>
          </a:p>
          <a:p>
            <a:pPr eaLnBrk="1" hangingPunct="1">
              <a:lnSpc>
                <a:spcPct val="120000"/>
              </a:lnSpc>
            </a:pPr>
            <a:r>
              <a:rPr lang="en-US" altLang="zh-CN" dirty="0"/>
              <a:t>CPU</a:t>
            </a:r>
            <a:r>
              <a:rPr lang="zh-CN" altLang="en-US" dirty="0"/>
              <a:t>响应中断后，中断请求信号应及时撤销。</a:t>
            </a:r>
            <a:endParaRPr lang="zh-CN" altLang="en-US" dirty="0"/>
          </a:p>
        </p:txBody>
      </p:sp>
      <p:sp>
        <p:nvSpPr>
          <p:cNvPr id="165893" name="Text Box 4"/>
          <p:cNvSpPr txBox="1"/>
          <p:nvPr/>
        </p:nvSpPr>
        <p:spPr>
          <a:xfrm>
            <a:off x="2362200" y="2133600"/>
            <a:ext cx="2057400" cy="116046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dirty="0">
                <a:solidFill>
                  <a:srgbClr val="000000"/>
                </a:solidFill>
                <a:latin typeface="Times New Roman" panose="02020603050405020304" pitchFamily="18" charset="0"/>
                <a:ea typeface="楷体_GB2312"/>
              </a:rPr>
              <a:t>NMI</a:t>
            </a:r>
            <a:endParaRPr lang="en-US" altLang="zh-CN" dirty="0">
              <a:solidFill>
                <a:srgbClr val="000000"/>
              </a:solidFill>
              <a:latin typeface="Times New Roman" panose="02020603050405020304" pitchFamily="18" charset="0"/>
              <a:ea typeface="楷体_GB2312"/>
            </a:endParaRPr>
          </a:p>
          <a:p>
            <a:pPr marL="0" lvl="0" indent="0">
              <a:lnSpc>
                <a:spcPct val="100000"/>
              </a:lnSpc>
              <a:spcBef>
                <a:spcPct val="50000"/>
              </a:spcBef>
              <a:spcAft>
                <a:spcPct val="0"/>
              </a:spcAft>
              <a:buClrTx/>
              <a:buSzTx/>
              <a:buNone/>
            </a:pPr>
            <a:r>
              <a:rPr lang="en-US" altLang="zh-CN" dirty="0">
                <a:solidFill>
                  <a:srgbClr val="000000"/>
                </a:solidFill>
                <a:latin typeface="Times New Roman" panose="02020603050405020304" pitchFamily="18" charset="0"/>
                <a:ea typeface="楷体_GB2312"/>
              </a:rPr>
              <a:t>INTR</a:t>
            </a:r>
            <a:endParaRPr lang="en-US" altLang="zh-CN" dirty="0">
              <a:solidFill>
                <a:srgbClr val="000000"/>
              </a:solidFill>
              <a:latin typeface="Times New Roman" panose="02020603050405020304" pitchFamily="18" charset="0"/>
              <a:ea typeface="楷体_GB2312"/>
            </a:endParaRPr>
          </a:p>
        </p:txBody>
      </p:sp>
      <p:sp>
        <p:nvSpPr>
          <p:cNvPr id="165894" name="AutoShape 5"/>
          <p:cNvSpPr/>
          <p:nvPr/>
        </p:nvSpPr>
        <p:spPr>
          <a:xfrm>
            <a:off x="2187575" y="2308225"/>
            <a:ext cx="152400" cy="838200"/>
          </a:xfrm>
          <a:prstGeom prst="leftBrace">
            <a:avLst>
              <a:gd name="adj1" fmla="val 45527"/>
              <a:gd name="adj2" fmla="val 50000"/>
            </a:avLst>
          </a:prstGeom>
          <a:noFill/>
          <a:ln w="25400" cap="sq"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0116">
                                            <p:txEl>
                                              <p:charRg st="0" end="19"/>
                                            </p:txEl>
                                          </p:spTgt>
                                        </p:tgtEl>
                                        <p:attrNameLst>
                                          <p:attrName>style.visibility</p:attrName>
                                        </p:attrNameLst>
                                      </p:cBhvr>
                                      <p:to>
                                        <p:strVal val="visible"/>
                                      </p:to>
                                    </p:set>
                                    <p:animEffect transition="in" filter="wipe(left)">
                                      <p:cBhvr>
                                        <p:cTn id="7" dur="500"/>
                                        <p:tgtEl>
                                          <p:spTgt spid="90116">
                                            <p:txEl>
                                              <p:charRg st="0" end="1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0116">
                                            <p:txEl>
                                              <p:charRg st="19" end="41"/>
                                            </p:txEl>
                                          </p:spTgt>
                                        </p:tgtEl>
                                        <p:attrNameLst>
                                          <p:attrName>style.visibility</p:attrName>
                                        </p:attrNameLst>
                                      </p:cBhvr>
                                      <p:to>
                                        <p:strVal val="visible"/>
                                      </p:to>
                                    </p:set>
                                    <p:animEffect transition="in" filter="wipe(left)">
                                      <p:cBhvr>
                                        <p:cTn id="12" dur="500"/>
                                        <p:tgtEl>
                                          <p:spTgt spid="90116">
                                            <p:txEl>
                                              <p:charRg st="19" end="4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166915" name="Rectangle 2"/>
          <p:cNvSpPr>
            <a:spLocks noGrp="1" noRot="1"/>
          </p:cNvSpPr>
          <p:nvPr>
            <p:ph type="title" idx="4294967295"/>
          </p:nvPr>
        </p:nvSpPr>
        <p:spPr/>
        <p:txBody>
          <a:bodyPr vert="horz" wrap="square" lIns="91440" tIns="45720" rIns="91440" bIns="45720" anchor="b" anchorCtr="0"/>
          <a:p>
            <a:pPr eaLnBrk="1" hangingPunct="1"/>
            <a:r>
              <a:rPr lang="zh-CN" altLang="en-US" dirty="0"/>
              <a:t>中断源的识别</a:t>
            </a:r>
            <a:endParaRPr lang="zh-CN" altLang="en-US" dirty="0"/>
          </a:p>
        </p:txBody>
      </p:sp>
      <p:sp>
        <p:nvSpPr>
          <p:cNvPr id="166916" name="Rectangle 3"/>
          <p:cNvSpPr>
            <a:spLocks noGrp="1" noRot="1"/>
          </p:cNvSpPr>
          <p:nvPr>
            <p:ph type="body" idx="4294967295"/>
          </p:nvPr>
        </p:nvSpPr>
        <p:spPr>
          <a:xfrm>
            <a:off x="301625" y="1916113"/>
            <a:ext cx="8842375" cy="2043112"/>
          </a:xfrm>
        </p:spPr>
        <p:txBody>
          <a:bodyPr vert="horz" wrap="square" lIns="91440" tIns="45720" rIns="91440" bIns="45720" anchor="t" anchorCtr="0"/>
          <a:p>
            <a:pPr eaLnBrk="1" hangingPunct="1"/>
            <a:r>
              <a:rPr lang="zh-CN" altLang="en-US" sz="2400" dirty="0">
                <a:solidFill>
                  <a:srgbClr val="FF0000"/>
                </a:solidFill>
                <a:latin typeface="Times New Roman" panose="02020603050405020304" pitchFamily="18" charset="0"/>
              </a:rPr>
              <a:t>中断源识别及判优由硬件系统完成</a:t>
            </a:r>
            <a:endParaRPr lang="en-US" altLang="zh-CN" sz="2400" dirty="0"/>
          </a:p>
          <a:p>
            <a:pPr eaLnBrk="1" hangingPunct="1"/>
            <a:r>
              <a:rPr lang="en-US" altLang="zh-CN" sz="2400" dirty="0"/>
              <a:t>CPU</a:t>
            </a:r>
            <a:r>
              <a:rPr lang="zh-CN" altLang="en-US" sz="2400" dirty="0"/>
              <a:t>响应</a:t>
            </a:r>
            <a:r>
              <a:rPr lang="en-US" altLang="zh-CN" sz="2400" dirty="0"/>
              <a:t>INTR</a:t>
            </a:r>
            <a:r>
              <a:rPr lang="zh-CN" altLang="en-US" sz="2400" dirty="0"/>
              <a:t>中断时，会产生两个中断响应总线周期，要求</a:t>
            </a:r>
            <a:r>
              <a:rPr lang="en-US" altLang="zh-CN" sz="2400" dirty="0"/>
              <a:t>PIC</a:t>
            </a:r>
            <a:r>
              <a:rPr lang="zh-CN" altLang="en-US" sz="2400" dirty="0"/>
              <a:t>（可编程中断控制器）在第</a:t>
            </a:r>
            <a:r>
              <a:rPr lang="en-US" altLang="zh-CN" sz="2400" dirty="0"/>
              <a:t>2</a:t>
            </a:r>
            <a:r>
              <a:rPr lang="zh-CN" altLang="en-US" sz="2400" dirty="0"/>
              <a:t>个中断响应总线周期把中断类型码放到数据总线上，供</a:t>
            </a:r>
            <a:r>
              <a:rPr lang="en-US" altLang="zh-CN" sz="2400" dirty="0"/>
              <a:t>CPU</a:t>
            </a:r>
            <a:r>
              <a:rPr lang="zh-CN" altLang="en-US" sz="2400" dirty="0"/>
              <a:t>读入。</a:t>
            </a:r>
            <a:endParaRPr lang="zh-CN" altLang="en-US" sz="2400" dirty="0"/>
          </a:p>
        </p:txBody>
      </p:sp>
      <p:pic>
        <p:nvPicPr>
          <p:cNvPr id="166917" name="Picture 4"/>
          <p:cNvPicPr>
            <a:picLocks noChangeAspect="1"/>
          </p:cNvPicPr>
          <p:nvPr/>
        </p:nvPicPr>
        <p:blipFill>
          <a:blip r:embed="rId1"/>
          <a:stretch>
            <a:fillRect/>
          </a:stretch>
        </p:blipFill>
        <p:spPr>
          <a:xfrm>
            <a:off x="722313" y="3765550"/>
            <a:ext cx="7272337" cy="3017838"/>
          </a:xfrm>
          <a:prstGeom prst="rect">
            <a:avLst/>
          </a:prstGeom>
          <a:noFill/>
          <a:ln w="9525">
            <a:noFill/>
          </a:ln>
        </p:spPr>
      </p:pic>
    </p:spTree>
  </p:cSld>
  <p:clrMapOvr>
    <a:masterClrMapping/>
  </p:clrMapOvr>
  <p:transition spd="slow">
    <p:zo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68963" name="Rectangle 2"/>
          <p:cNvSpPr>
            <a:spLocks noGrp="1"/>
          </p:cNvSpPr>
          <p:nvPr>
            <p:ph type="title" idx="4294967295"/>
          </p:nvPr>
        </p:nvSpPr>
        <p:spPr/>
        <p:txBody>
          <a:bodyPr vert="horz" wrap="square" lIns="91440" tIns="45720" rIns="91440" bIns="45720" anchor="b" anchorCtr="0"/>
          <a:p>
            <a:pPr eaLnBrk="1" hangingPunct="1"/>
            <a:r>
              <a:rPr lang="zh-CN" altLang="en-US" dirty="0"/>
              <a:t>中断判优</a:t>
            </a:r>
            <a:endParaRPr lang="zh-CN" altLang="en-US" sz="2800" b="1" dirty="0">
              <a:solidFill>
                <a:schemeClr val="tx1"/>
              </a:solidFill>
            </a:endParaRPr>
          </a:p>
        </p:txBody>
      </p:sp>
      <p:sp>
        <p:nvSpPr>
          <p:cNvPr id="92164" name="Rectangle 3"/>
          <p:cNvSpPr>
            <a:spLocks noGrp="1"/>
          </p:cNvSpPr>
          <p:nvPr>
            <p:ph type="body" idx="4294967295"/>
          </p:nvPr>
        </p:nvSpPr>
        <p:spPr>
          <a:xfrm>
            <a:off x="468313" y="2122488"/>
            <a:ext cx="8475662" cy="4114800"/>
          </a:xfrm>
        </p:spPr>
        <p:txBody>
          <a:bodyPr vert="horz" wrap="square" lIns="91440" tIns="45720" rIns="91440" bIns="45720" anchor="t" anchorCtr="0"/>
          <a:p>
            <a:pPr eaLnBrk="1" hangingPunct="1">
              <a:spcAft>
                <a:spcPct val="30000"/>
              </a:spcAft>
            </a:pPr>
            <a:r>
              <a:rPr lang="zh-CN" altLang="en-US" dirty="0"/>
              <a:t>当有多个中断源同时提出请求时，需要确定首先响应哪一个中断源。</a:t>
            </a:r>
            <a:endParaRPr lang="en-US" altLang="zh-CN" dirty="0"/>
          </a:p>
          <a:p>
            <a:pPr eaLnBrk="1" hangingPunct="1">
              <a:spcAft>
                <a:spcPct val="30000"/>
              </a:spcAft>
            </a:pPr>
            <a:r>
              <a:rPr lang="zh-CN" altLang="en-US" dirty="0"/>
              <a:t>优先级法则</a:t>
            </a:r>
            <a:endParaRPr lang="zh-CN" altLang="en-US" dirty="0"/>
          </a:p>
          <a:p>
            <a:pPr lvl="1" eaLnBrk="1" hangingPunct="1">
              <a:spcAft>
                <a:spcPct val="30000"/>
              </a:spcAft>
            </a:pPr>
            <a:r>
              <a:rPr lang="zh-CN" altLang="en-US" dirty="0"/>
              <a:t>低优先级的中断程序允许被高优先级的中断源所中断</a:t>
            </a:r>
            <a:endParaRPr lang="zh-CN" altLang="en-US" dirty="0"/>
          </a:p>
          <a:p>
            <a:pPr eaLnBrk="1" hangingPunct="1">
              <a:spcAft>
                <a:spcPct val="30000"/>
              </a:spcAft>
            </a:pPr>
            <a:r>
              <a:rPr lang="zh-CN" altLang="en-US" dirty="0"/>
              <a:t>排队法则</a:t>
            </a:r>
            <a:endParaRPr lang="zh-CN" altLang="en-US" dirty="0"/>
          </a:p>
          <a:p>
            <a:pPr lvl="1" eaLnBrk="1" hangingPunct="1">
              <a:spcAft>
                <a:spcPct val="30000"/>
              </a:spcAft>
            </a:pPr>
            <a:r>
              <a:rPr lang="zh-CN" altLang="en-US" dirty="0"/>
              <a:t>先来先响应</a:t>
            </a:r>
            <a:endParaRPr lang="zh-CN" altLang="en-US" dirty="0"/>
          </a:p>
        </p:txBody>
      </p:sp>
      <p:sp>
        <p:nvSpPr>
          <p:cNvPr id="92165" name="Text Box 5"/>
          <p:cNvSpPr txBox="1"/>
          <p:nvPr/>
        </p:nvSpPr>
        <p:spPr>
          <a:xfrm>
            <a:off x="5295900" y="5419725"/>
            <a:ext cx="15240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中断嵌套</a:t>
            </a:r>
            <a:endParaRPr lang="zh-CN" altLang="en-US" sz="2400" dirty="0">
              <a:solidFill>
                <a:srgbClr val="000000"/>
              </a:solidFill>
              <a:latin typeface="Times New Roman" panose="02020603050405020304" pitchFamily="18" charset="0"/>
              <a:ea typeface="楷体_GB2312"/>
            </a:endParaRPr>
          </a:p>
        </p:txBody>
      </p:sp>
      <p:sp>
        <p:nvSpPr>
          <p:cNvPr id="92166" name="Line 7"/>
          <p:cNvSpPr/>
          <p:nvPr/>
        </p:nvSpPr>
        <p:spPr>
          <a:xfrm flipH="1">
            <a:off x="6088063" y="4340225"/>
            <a:ext cx="0" cy="1008063"/>
          </a:xfrm>
          <a:prstGeom prst="line">
            <a:avLst/>
          </a:prstGeom>
          <a:ln w="50800" cap="sq" cmpd="sng">
            <a:solidFill>
              <a:srgbClr val="FF6600"/>
            </a:solidFill>
            <a:prstDash val="solid"/>
            <a:bevel/>
            <a:headEnd type="none" w="med" len="med"/>
            <a:tailEnd type="triangle" w="lg" len="lg"/>
          </a:ln>
        </p:spPr>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92164">
                                            <p:txEl>
                                              <p:charRg st="0" end="31"/>
                                            </p:txEl>
                                          </p:spTgt>
                                        </p:tgtEl>
                                        <p:attrNameLst>
                                          <p:attrName>style.visibility</p:attrName>
                                        </p:attrNameLst>
                                      </p:cBhvr>
                                      <p:to>
                                        <p:strVal val="visible"/>
                                      </p:to>
                                    </p:set>
                                    <p:anim calcmode="lin" valueType="num">
                                      <p:cBhvr>
                                        <p:cTn id="7" dur="1000" fill="hold"/>
                                        <p:tgtEl>
                                          <p:spTgt spid="92164">
                                            <p:txEl>
                                              <p:charRg st="0" end="31"/>
                                            </p:txEl>
                                          </p:spTgt>
                                        </p:tgtEl>
                                        <p:attrNameLst>
                                          <p:attrName>ppt_w</p:attrName>
                                        </p:attrNameLst>
                                      </p:cBhvr>
                                      <p:tavLst>
                                        <p:tav tm="0">
                                          <p:val>
                                            <p:strVal val="#ppt_w*0.70"/>
                                          </p:val>
                                        </p:tav>
                                        <p:tav tm="100000">
                                          <p:val>
                                            <p:strVal val="#ppt_w"/>
                                          </p:val>
                                        </p:tav>
                                      </p:tavLst>
                                    </p:anim>
                                    <p:anim calcmode="lin" valueType="num">
                                      <p:cBhvr>
                                        <p:cTn id="8" dur="1000" fill="hold"/>
                                        <p:tgtEl>
                                          <p:spTgt spid="92164">
                                            <p:txEl>
                                              <p:charRg st="0" end="31"/>
                                            </p:txEl>
                                          </p:spTgt>
                                        </p:tgtEl>
                                        <p:attrNameLst>
                                          <p:attrName>ppt_h</p:attrName>
                                        </p:attrNameLst>
                                      </p:cBhvr>
                                      <p:tavLst>
                                        <p:tav tm="0">
                                          <p:val>
                                            <p:strVal val="#ppt_h"/>
                                          </p:val>
                                        </p:tav>
                                        <p:tav tm="100000">
                                          <p:val>
                                            <p:strVal val="#ppt_h"/>
                                          </p:val>
                                        </p:tav>
                                      </p:tavLst>
                                    </p:anim>
                                    <p:animEffect transition="in" filter="fade">
                                      <p:cBhvr>
                                        <p:cTn id="9" dur="1000"/>
                                        <p:tgtEl>
                                          <p:spTgt spid="92164">
                                            <p:txEl>
                                              <p:charRg st="0" end="3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92164">
                                            <p:txEl>
                                              <p:charRg st="31" end="37"/>
                                            </p:txEl>
                                          </p:spTgt>
                                        </p:tgtEl>
                                        <p:attrNameLst>
                                          <p:attrName>style.visibility</p:attrName>
                                        </p:attrNameLst>
                                      </p:cBhvr>
                                      <p:to>
                                        <p:strVal val="visible"/>
                                      </p:to>
                                    </p:set>
                                    <p:animEffect transition="in" filter="wipe(left)">
                                      <p:cBhvr>
                                        <p:cTn id="14" dur="500"/>
                                        <p:tgtEl>
                                          <p:spTgt spid="92164">
                                            <p:txEl>
                                              <p:charRg st="31" end="37"/>
                                            </p:txEl>
                                          </p:spTgt>
                                        </p:tgtEl>
                                      </p:cBhvr>
                                    </p:animEffect>
                                  </p:childTnLst>
                                </p:cTn>
                              </p:par>
                            </p:childTnLst>
                          </p:cTn>
                        </p:par>
                        <p:par>
                          <p:cTn id="15" fill="hold">
                            <p:stCondLst>
                              <p:cond delay="500"/>
                            </p:stCondLst>
                            <p:childTnLst>
                              <p:par>
                                <p:cTn id="16" presetID="22" presetClass="entr" presetSubtype="8" fill="hold" nodeType="afterEffect">
                                  <p:stCondLst>
                                    <p:cond delay="0"/>
                                  </p:stCondLst>
                                  <p:childTnLst>
                                    <p:set>
                                      <p:cBhvr>
                                        <p:cTn id="17" dur="1" fill="hold">
                                          <p:stCondLst>
                                            <p:cond delay="0"/>
                                          </p:stCondLst>
                                        </p:cTn>
                                        <p:tgtEl>
                                          <p:spTgt spid="92164">
                                            <p:txEl>
                                              <p:charRg st="61" end="66"/>
                                            </p:txEl>
                                          </p:spTgt>
                                        </p:tgtEl>
                                        <p:attrNameLst>
                                          <p:attrName>style.visibility</p:attrName>
                                        </p:attrNameLst>
                                      </p:cBhvr>
                                      <p:to>
                                        <p:strVal val="visible"/>
                                      </p:to>
                                    </p:set>
                                    <p:animEffect transition="in" filter="wipe(left)">
                                      <p:cBhvr>
                                        <p:cTn id="18" dur="500"/>
                                        <p:tgtEl>
                                          <p:spTgt spid="92164">
                                            <p:txEl>
                                              <p:charRg st="61" end="6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92164">
                                            <p:txEl>
                                              <p:charRg st="37" end="61"/>
                                            </p:txEl>
                                          </p:spTgt>
                                        </p:tgtEl>
                                        <p:attrNameLst>
                                          <p:attrName>style.visibility</p:attrName>
                                        </p:attrNameLst>
                                      </p:cBhvr>
                                      <p:to>
                                        <p:strVal val="visible"/>
                                      </p:to>
                                    </p:set>
                                    <p:animEffect transition="in" filter="blinds(horizontal)">
                                      <p:cBhvr>
                                        <p:cTn id="23" dur="500"/>
                                        <p:tgtEl>
                                          <p:spTgt spid="92164">
                                            <p:txEl>
                                              <p:charRg st="37" end="6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92166"/>
                                        </p:tgtEl>
                                        <p:attrNameLst>
                                          <p:attrName>style.visibility</p:attrName>
                                        </p:attrNameLst>
                                      </p:cBhvr>
                                      <p:to>
                                        <p:strVal val="visible"/>
                                      </p:to>
                                    </p:set>
                                    <p:animEffect transition="in" filter="wipe(up)">
                                      <p:cBhvr>
                                        <p:cTn id="28" dur="500"/>
                                        <p:tgtEl>
                                          <p:spTgt spid="92166"/>
                                        </p:tgtEl>
                                      </p:cBhvr>
                                    </p:animEffect>
                                  </p:childTnLst>
                                </p:cTn>
                              </p:par>
                            </p:childTnLst>
                          </p:cTn>
                        </p:par>
                        <p:par>
                          <p:cTn id="29" fill="hold">
                            <p:stCondLst>
                              <p:cond delay="500"/>
                            </p:stCondLst>
                            <p:childTnLst>
                              <p:par>
                                <p:cTn id="30" presetID="3" presetClass="entr" presetSubtype="10" fill="hold" grpId="0" nodeType="afterEffect">
                                  <p:stCondLst>
                                    <p:cond delay="0"/>
                                  </p:stCondLst>
                                  <p:childTnLst>
                                    <p:set>
                                      <p:cBhvr>
                                        <p:cTn id="31" dur="1" fill="hold">
                                          <p:stCondLst>
                                            <p:cond delay="0"/>
                                          </p:stCondLst>
                                        </p:cTn>
                                        <p:tgtEl>
                                          <p:spTgt spid="92165"/>
                                        </p:tgtEl>
                                        <p:attrNameLst>
                                          <p:attrName>style.visibility</p:attrName>
                                        </p:attrNameLst>
                                      </p:cBhvr>
                                      <p:to>
                                        <p:strVal val="visible"/>
                                      </p:to>
                                    </p:set>
                                    <p:animEffect transition="in" filter="blinds(horizontal)">
                                      <p:cBhvr>
                                        <p:cTn id="32" dur="500"/>
                                        <p:tgtEl>
                                          <p:spTgt spid="9216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2164">
                                            <p:txEl>
                                              <p:charRg st="66" end="72"/>
                                            </p:txEl>
                                          </p:spTgt>
                                        </p:tgtEl>
                                        <p:attrNameLst>
                                          <p:attrName>style.visibility</p:attrName>
                                        </p:attrNameLst>
                                      </p:cBhvr>
                                      <p:to>
                                        <p:strVal val="visible"/>
                                      </p:to>
                                    </p:set>
                                    <p:animEffect transition="in" filter="wipe(left)">
                                      <p:cBhvr>
                                        <p:cTn id="37" dur="500"/>
                                        <p:tgtEl>
                                          <p:spTgt spid="92164">
                                            <p:txEl>
                                              <p:charRg st="66" end="7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69987" name="Rectangle 2051"/>
          <p:cNvSpPr>
            <a:spLocks noGrp="1"/>
          </p:cNvSpPr>
          <p:nvPr>
            <p:ph type="body" idx="4294967295"/>
          </p:nvPr>
        </p:nvSpPr>
        <p:spPr>
          <a:xfrm>
            <a:off x="900113" y="1989138"/>
            <a:ext cx="7488237" cy="1655762"/>
          </a:xfrm>
        </p:spPr>
        <p:txBody>
          <a:bodyPr vert="horz" wrap="square" lIns="91440" tIns="45720" rIns="91440" bIns="45720" anchor="t" anchorCtr="0"/>
          <a:p>
            <a:pPr eaLnBrk="1" hangingPunct="1"/>
            <a:r>
              <a:rPr lang="zh-CN" altLang="en-US" dirty="0"/>
              <a:t>软件判优</a:t>
            </a:r>
            <a:endParaRPr lang="zh-CN" altLang="en-US" dirty="0"/>
          </a:p>
          <a:p>
            <a:pPr lvl="1" eaLnBrk="1" hangingPunct="1"/>
            <a:r>
              <a:rPr lang="zh-CN" altLang="en-US" dirty="0"/>
              <a:t>顺序查询中断请求，先查询的先服务</a:t>
            </a:r>
            <a:endParaRPr lang="zh-CN" altLang="en-US" dirty="0"/>
          </a:p>
          <a:p>
            <a:pPr lvl="2" eaLnBrk="1" hangingPunct="1"/>
            <a:r>
              <a:rPr lang="zh-CN" altLang="en-US" dirty="0"/>
              <a:t>即先查询的优先级别高</a:t>
            </a:r>
            <a:endParaRPr lang="zh-CN" altLang="en-US" dirty="0"/>
          </a:p>
          <a:p>
            <a:pPr lvl="2" eaLnBrk="1" hangingPunct="1">
              <a:buNone/>
            </a:pPr>
            <a:endParaRPr lang="en-US" altLang="zh-CN" dirty="0"/>
          </a:p>
        </p:txBody>
      </p:sp>
      <p:pic>
        <p:nvPicPr>
          <p:cNvPr id="94211" name="Picture 4"/>
          <p:cNvPicPr>
            <a:picLocks noChangeAspect="1"/>
          </p:cNvPicPr>
          <p:nvPr/>
        </p:nvPicPr>
        <p:blipFill>
          <a:blip r:embed="rId1"/>
          <a:stretch>
            <a:fillRect/>
          </a:stretch>
        </p:blipFill>
        <p:spPr>
          <a:xfrm>
            <a:off x="900113" y="3429000"/>
            <a:ext cx="3732212" cy="3224213"/>
          </a:xfrm>
          <a:prstGeom prst="rect">
            <a:avLst/>
          </a:prstGeom>
          <a:noFill/>
          <a:ln w="9525">
            <a:noFill/>
          </a:ln>
        </p:spPr>
      </p:pic>
      <p:pic>
        <p:nvPicPr>
          <p:cNvPr id="94212" name="Picture 5"/>
          <p:cNvPicPr>
            <a:picLocks noChangeAspect="1"/>
          </p:cNvPicPr>
          <p:nvPr/>
        </p:nvPicPr>
        <p:blipFill>
          <a:blip r:embed="rId2"/>
          <a:srcRect t="1413" b="3050"/>
          <a:stretch>
            <a:fillRect/>
          </a:stretch>
        </p:blipFill>
        <p:spPr>
          <a:xfrm>
            <a:off x="5291138" y="3357563"/>
            <a:ext cx="2667000" cy="3219450"/>
          </a:xfrm>
          <a:prstGeom prst="rect">
            <a:avLst/>
          </a:prstGeom>
          <a:noFill/>
          <a:ln w="9525">
            <a:noFill/>
          </a:ln>
        </p:spPr>
      </p:pic>
      <p:sp>
        <p:nvSpPr>
          <p:cNvPr id="95235" name="Rectangle 6"/>
          <p:cNvSpPr/>
          <p:nvPr/>
        </p:nvSpPr>
        <p:spPr>
          <a:xfrm>
            <a:off x="4284663" y="0"/>
            <a:ext cx="4605337" cy="3017838"/>
          </a:xfrm>
          <a:prstGeom prst="rect">
            <a:avLst/>
          </a:prstGeom>
          <a:noFill/>
          <a:ln w="9525">
            <a:noFill/>
          </a:ln>
        </p:spPr>
        <p:txBody>
          <a:bodyPr anchor="ctr" anchorCtr="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266700">
              <a:lnSpc>
                <a:spcPct val="100000"/>
              </a:lnSpc>
              <a:spcBef>
                <a:spcPct val="0"/>
              </a:spcBef>
              <a:spcAft>
                <a:spcPct val="0"/>
              </a:spcAft>
              <a:buClrTx/>
              <a:buSzTx/>
              <a:buNone/>
            </a:pPr>
            <a:r>
              <a:rPr lang="en-US" altLang="zh-CN" sz="1800" b="0" dirty="0">
                <a:solidFill>
                  <a:schemeClr val="tx1"/>
                </a:solidFill>
                <a:ea typeface="楷体_GB2312"/>
              </a:rPr>
              <a:t>	   </a:t>
            </a:r>
            <a:r>
              <a:rPr lang="en-US" altLang="zh-CN" sz="1400" dirty="0">
                <a:solidFill>
                  <a:srgbClr val="FF0000"/>
                </a:solidFill>
                <a:ea typeface="楷体_GB2312"/>
              </a:rPr>
              <a:t>IN AL, PORT_R  ; PORT_R</a:t>
            </a:r>
            <a:r>
              <a:rPr lang="zh-CN" altLang="en-US" sz="1400" dirty="0">
                <a:solidFill>
                  <a:srgbClr val="FF0000"/>
                </a:solidFill>
                <a:ea typeface="楷体_GB2312"/>
              </a:rPr>
              <a:t>是锁存器地址</a:t>
            </a:r>
            <a:endParaRPr lang="zh-CN" altLang="en-US" sz="1400" dirty="0">
              <a:solidFill>
                <a:srgbClr val="FF0000"/>
              </a:solidFill>
              <a:ea typeface="楷体_GB2312"/>
            </a:endParaRPr>
          </a:p>
          <a:p>
            <a:pPr marL="0" lvl="0" indent="266700">
              <a:lnSpc>
                <a:spcPct val="100000"/>
              </a:lnSpc>
              <a:spcBef>
                <a:spcPct val="0"/>
              </a:spcBef>
              <a:spcAft>
                <a:spcPct val="0"/>
              </a:spcAft>
              <a:buClrTx/>
              <a:buSzTx/>
              <a:buNone/>
            </a:pPr>
            <a:r>
              <a:rPr lang="zh-CN" altLang="en-US" sz="1400" dirty="0">
                <a:solidFill>
                  <a:srgbClr val="FF0000"/>
                </a:solidFill>
                <a:ea typeface="楷体_GB2312"/>
              </a:rPr>
              <a:t>	   </a:t>
            </a:r>
            <a:r>
              <a:rPr lang="en-US" altLang="zh-CN" sz="1400" dirty="0">
                <a:solidFill>
                  <a:srgbClr val="FF0000"/>
                </a:solidFill>
                <a:ea typeface="楷体_GB2312"/>
              </a:rPr>
              <a:t>CLC</a:t>
            </a:r>
            <a:endParaRPr lang="en-US" altLang="zh-CN" sz="1400" dirty="0">
              <a:solidFill>
                <a:srgbClr val="FF0000"/>
              </a:solidFill>
              <a:ea typeface="楷体_GB2312"/>
            </a:endParaRPr>
          </a:p>
          <a:p>
            <a:pPr marL="0" lvl="0" indent="266700">
              <a:lnSpc>
                <a:spcPct val="100000"/>
              </a:lnSpc>
              <a:spcBef>
                <a:spcPct val="0"/>
              </a:spcBef>
              <a:spcAft>
                <a:spcPct val="0"/>
              </a:spcAft>
              <a:buClrTx/>
              <a:buSzTx/>
              <a:buNone/>
            </a:pPr>
            <a:r>
              <a:rPr lang="en-US" altLang="zh-CN" sz="1400" dirty="0">
                <a:solidFill>
                  <a:srgbClr val="FF0000"/>
                </a:solidFill>
                <a:ea typeface="楷体_GB2312"/>
              </a:rPr>
              <a:t>	   RCR AL, 1</a:t>
            </a:r>
            <a:endParaRPr lang="en-US" altLang="zh-CN" sz="1400" dirty="0">
              <a:solidFill>
                <a:srgbClr val="FF0000"/>
              </a:solidFill>
              <a:ea typeface="楷体_GB2312"/>
            </a:endParaRPr>
          </a:p>
          <a:p>
            <a:pPr marL="0" lvl="0" indent="266700">
              <a:lnSpc>
                <a:spcPct val="100000"/>
              </a:lnSpc>
              <a:spcBef>
                <a:spcPct val="0"/>
              </a:spcBef>
              <a:spcAft>
                <a:spcPct val="0"/>
              </a:spcAft>
              <a:buClrTx/>
              <a:buSzTx/>
              <a:buNone/>
            </a:pPr>
            <a:r>
              <a:rPr lang="en-US" altLang="zh-CN" sz="1400" dirty="0">
                <a:solidFill>
                  <a:srgbClr val="FF0000"/>
                </a:solidFill>
                <a:ea typeface="楷体_GB2312"/>
              </a:rPr>
              <a:t>	   JC INTS01          ; </a:t>
            </a:r>
            <a:r>
              <a:rPr lang="zh-CN" altLang="en-US" sz="1400" dirty="0">
                <a:solidFill>
                  <a:srgbClr val="FF0000"/>
                </a:solidFill>
                <a:ea typeface="楷体_GB2312"/>
              </a:rPr>
              <a:t>转向故障处理</a:t>
            </a:r>
            <a:endParaRPr lang="zh-CN" altLang="en-US" sz="1400" dirty="0">
              <a:solidFill>
                <a:srgbClr val="FF0000"/>
              </a:solidFill>
              <a:ea typeface="楷体_GB2312"/>
            </a:endParaRPr>
          </a:p>
          <a:p>
            <a:pPr marL="0" lvl="0" indent="266700">
              <a:lnSpc>
                <a:spcPct val="100000"/>
              </a:lnSpc>
              <a:spcBef>
                <a:spcPct val="0"/>
              </a:spcBef>
              <a:spcAft>
                <a:spcPct val="0"/>
              </a:spcAft>
              <a:buClrTx/>
              <a:buSzTx/>
              <a:buNone/>
            </a:pPr>
            <a:r>
              <a:rPr lang="en-US" altLang="zh-CN" sz="1400" dirty="0">
                <a:solidFill>
                  <a:srgbClr val="FF0000"/>
                </a:solidFill>
                <a:ea typeface="楷体_GB2312"/>
              </a:rPr>
              <a:t>A1:	   RCR	AL, 1</a:t>
            </a:r>
            <a:endParaRPr lang="en-US" altLang="zh-CN" sz="1400" dirty="0">
              <a:solidFill>
                <a:srgbClr val="FF0000"/>
              </a:solidFill>
              <a:ea typeface="楷体_GB2312"/>
            </a:endParaRPr>
          </a:p>
          <a:p>
            <a:pPr marL="0" lvl="0" indent="266700">
              <a:lnSpc>
                <a:spcPct val="100000"/>
              </a:lnSpc>
              <a:spcBef>
                <a:spcPct val="0"/>
              </a:spcBef>
              <a:spcAft>
                <a:spcPct val="0"/>
              </a:spcAft>
              <a:buClrTx/>
              <a:buSzTx/>
              <a:buNone/>
            </a:pPr>
            <a:r>
              <a:rPr lang="en-US" altLang="zh-CN" sz="1400" dirty="0">
                <a:solidFill>
                  <a:srgbClr val="FF0000"/>
                </a:solidFill>
                <a:ea typeface="楷体_GB2312"/>
              </a:rPr>
              <a:t>	   JC INTS02          ; </a:t>
            </a:r>
            <a:r>
              <a:rPr lang="zh-CN" altLang="en-US" sz="1400" dirty="0">
                <a:solidFill>
                  <a:srgbClr val="FF0000"/>
                </a:solidFill>
                <a:ea typeface="楷体_GB2312"/>
              </a:rPr>
              <a:t>转向告警处理</a:t>
            </a:r>
            <a:endParaRPr lang="zh-CN" altLang="en-US" sz="1400" dirty="0">
              <a:solidFill>
                <a:srgbClr val="FF0000"/>
              </a:solidFill>
              <a:ea typeface="楷体_GB2312"/>
            </a:endParaRPr>
          </a:p>
          <a:p>
            <a:pPr marL="0" lvl="0" indent="266700">
              <a:lnSpc>
                <a:spcPct val="100000"/>
              </a:lnSpc>
              <a:spcBef>
                <a:spcPct val="0"/>
              </a:spcBef>
              <a:spcAft>
                <a:spcPct val="0"/>
              </a:spcAft>
              <a:buClrTx/>
              <a:buSzTx/>
              <a:buNone/>
            </a:pPr>
            <a:r>
              <a:rPr lang="en-US" altLang="zh-CN" sz="1400" dirty="0">
                <a:solidFill>
                  <a:srgbClr val="FF0000"/>
                </a:solidFill>
                <a:ea typeface="楷体_GB2312"/>
              </a:rPr>
              <a:t>A2:	   ……</a:t>
            </a:r>
            <a:endParaRPr lang="en-US" altLang="zh-CN" sz="1400" dirty="0">
              <a:solidFill>
                <a:srgbClr val="FF0000"/>
              </a:solidFill>
              <a:ea typeface="楷体_GB2312"/>
            </a:endParaRPr>
          </a:p>
          <a:p>
            <a:pPr marL="0" lvl="0" indent="266700">
              <a:lnSpc>
                <a:spcPct val="100000"/>
              </a:lnSpc>
              <a:spcBef>
                <a:spcPct val="0"/>
              </a:spcBef>
              <a:spcAft>
                <a:spcPct val="0"/>
              </a:spcAft>
              <a:buClrTx/>
              <a:buSzTx/>
              <a:buNone/>
            </a:pPr>
            <a:r>
              <a:rPr lang="en-US" altLang="zh-CN" sz="1400" dirty="0">
                <a:solidFill>
                  <a:srgbClr val="FF0000"/>
                </a:solidFill>
                <a:ea typeface="楷体_GB2312"/>
              </a:rPr>
              <a:t>                ……</a:t>
            </a:r>
            <a:endParaRPr lang="en-US" altLang="zh-CN" sz="1400" dirty="0">
              <a:solidFill>
                <a:srgbClr val="FF0000"/>
              </a:solidFill>
              <a:ea typeface="楷体_GB2312"/>
            </a:endParaRPr>
          </a:p>
          <a:p>
            <a:pPr marL="0" lvl="0" indent="266700">
              <a:lnSpc>
                <a:spcPct val="100000"/>
              </a:lnSpc>
              <a:spcBef>
                <a:spcPct val="0"/>
              </a:spcBef>
              <a:spcAft>
                <a:spcPct val="0"/>
              </a:spcAft>
              <a:buClrTx/>
              <a:buSzTx/>
              <a:buNone/>
            </a:pPr>
            <a:r>
              <a:rPr lang="en-US" altLang="zh-CN" sz="1400" dirty="0">
                <a:solidFill>
                  <a:srgbClr val="FF0000"/>
                </a:solidFill>
                <a:ea typeface="楷体_GB2312"/>
              </a:rPr>
              <a:t>INTS01:   ……</a:t>
            </a:r>
            <a:endParaRPr lang="en-US" altLang="zh-CN" sz="1400" dirty="0">
              <a:solidFill>
                <a:srgbClr val="FF0000"/>
              </a:solidFill>
              <a:ea typeface="楷体_GB2312"/>
            </a:endParaRPr>
          </a:p>
          <a:p>
            <a:pPr marL="0" lvl="0" indent="266700">
              <a:lnSpc>
                <a:spcPct val="100000"/>
              </a:lnSpc>
              <a:spcBef>
                <a:spcPct val="0"/>
              </a:spcBef>
              <a:spcAft>
                <a:spcPct val="0"/>
              </a:spcAft>
              <a:buClrTx/>
              <a:buSzTx/>
              <a:buNone/>
            </a:pPr>
            <a:r>
              <a:rPr lang="en-US" altLang="zh-CN" sz="1400" dirty="0">
                <a:solidFill>
                  <a:srgbClr val="FF0000"/>
                </a:solidFill>
                <a:ea typeface="楷体_GB2312"/>
              </a:rPr>
              <a:t>	   JMP	A1</a:t>
            </a:r>
            <a:endParaRPr lang="en-US" altLang="zh-CN" sz="1400" dirty="0">
              <a:solidFill>
                <a:srgbClr val="FF0000"/>
              </a:solidFill>
              <a:ea typeface="楷体_GB2312"/>
            </a:endParaRPr>
          </a:p>
          <a:p>
            <a:pPr marL="0" lvl="0" indent="266700">
              <a:lnSpc>
                <a:spcPct val="100000"/>
              </a:lnSpc>
              <a:spcBef>
                <a:spcPct val="0"/>
              </a:spcBef>
              <a:spcAft>
                <a:spcPct val="0"/>
              </a:spcAft>
              <a:buClrTx/>
              <a:buSzTx/>
              <a:buNone/>
            </a:pPr>
            <a:r>
              <a:rPr lang="en-US" altLang="zh-CN" sz="1400" dirty="0">
                <a:solidFill>
                  <a:srgbClr val="FF0000"/>
                </a:solidFill>
                <a:ea typeface="楷体_GB2312"/>
              </a:rPr>
              <a:t>INTS02:   ……</a:t>
            </a:r>
            <a:endParaRPr lang="en-US" altLang="zh-CN" sz="1400" dirty="0">
              <a:solidFill>
                <a:srgbClr val="FF0000"/>
              </a:solidFill>
              <a:ea typeface="楷体_GB2312"/>
            </a:endParaRPr>
          </a:p>
          <a:p>
            <a:pPr marL="0" lvl="0" indent="266700">
              <a:lnSpc>
                <a:spcPct val="100000"/>
              </a:lnSpc>
              <a:spcBef>
                <a:spcPct val="0"/>
              </a:spcBef>
              <a:spcAft>
                <a:spcPct val="0"/>
              </a:spcAft>
              <a:buClrTx/>
              <a:buSzTx/>
              <a:buNone/>
            </a:pPr>
            <a:r>
              <a:rPr lang="en-US" altLang="zh-CN" sz="1400" dirty="0">
                <a:solidFill>
                  <a:srgbClr val="FF0000"/>
                </a:solidFill>
                <a:ea typeface="楷体_GB2312"/>
              </a:rPr>
              <a:t>	   JMP	A2</a:t>
            </a:r>
            <a:endParaRPr lang="en-US" altLang="zh-CN" sz="1400" dirty="0">
              <a:solidFill>
                <a:srgbClr val="FF0000"/>
              </a:solidFill>
              <a:ea typeface="楷体_GB2312"/>
            </a:endParaRPr>
          </a:p>
          <a:p>
            <a:pPr marL="0" lvl="0" indent="266700">
              <a:lnSpc>
                <a:spcPct val="100000"/>
              </a:lnSpc>
              <a:spcBef>
                <a:spcPct val="0"/>
              </a:spcBef>
              <a:spcAft>
                <a:spcPct val="0"/>
              </a:spcAft>
              <a:buClrTx/>
              <a:buSzTx/>
              <a:buNone/>
            </a:pPr>
            <a:r>
              <a:rPr lang="en-US" altLang="zh-CN" sz="2000" b="0" dirty="0">
                <a:solidFill>
                  <a:srgbClr val="FF0000"/>
                </a:solidFill>
                <a:ea typeface="楷体_GB2312"/>
              </a:rPr>
              <a:t>	  ……</a:t>
            </a:r>
            <a:endParaRPr lang="en-US" altLang="zh-CN" sz="2000" b="0" dirty="0">
              <a:solidFill>
                <a:srgbClr val="FF0000"/>
              </a:solidFill>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4211"/>
                                        </p:tgtEl>
                                        <p:attrNameLst>
                                          <p:attrName>style.visibility</p:attrName>
                                        </p:attrNameLst>
                                      </p:cBhvr>
                                      <p:to>
                                        <p:strVal val="visible"/>
                                      </p:to>
                                    </p:set>
                                    <p:animEffect transition="in" filter="blinds(horizontal)">
                                      <p:cBhvr>
                                        <p:cTn id="7" dur="500"/>
                                        <p:tgtEl>
                                          <p:spTgt spid="94211"/>
                                        </p:tgtEl>
                                      </p:cBhvr>
                                    </p:animEffect>
                                  </p:childTnLst>
                                  <p:subTnLst>
                                    <p:set>
                                      <p:cBhvr override="childStyle">
                                        <p:cTn dur="1" fill="hold" display="0" masterRel="nextClick" afterEffect="1"/>
                                        <p:tgtEl>
                                          <p:spTgt spid="9421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4212"/>
                                        </p:tgtEl>
                                        <p:attrNameLst>
                                          <p:attrName>style.visibility</p:attrName>
                                        </p:attrNameLst>
                                      </p:cBhvr>
                                      <p:to>
                                        <p:strVal val="visible"/>
                                      </p:to>
                                    </p:set>
                                    <p:animEffect transition="in" filter="blinds(horizontal)">
                                      <p:cBhvr>
                                        <p:cTn id="12" dur="500"/>
                                        <p:tgtEl>
                                          <p:spTgt spid="94212"/>
                                        </p:tgtEl>
                                      </p:cBhvr>
                                    </p:animEffect>
                                  </p:childTnLst>
                                  <p:subTnLst>
                                    <p:set>
                                      <p:cBhvr override="childStyle">
                                        <p:cTn dur="1" fill="hold" display="0" masterRel="nextClick" afterEffect="1"/>
                                        <p:tgtEl>
                                          <p:spTgt spid="9421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5235"/>
                                        </p:tgtEl>
                                        <p:attrNameLst>
                                          <p:attrName>style.visibility</p:attrName>
                                        </p:attrNameLst>
                                      </p:cBhvr>
                                      <p:to>
                                        <p:strVal val="visible"/>
                                      </p:to>
                                    </p:set>
                                    <p:anim calcmode="lin" valueType="num">
                                      <p:cBhvr>
                                        <p:cTn id="17" dur="500" fill="hold"/>
                                        <p:tgtEl>
                                          <p:spTgt spid="95235"/>
                                        </p:tgtEl>
                                        <p:attrNameLst>
                                          <p:attrName>ppt_x</p:attrName>
                                        </p:attrNameLst>
                                      </p:cBhvr>
                                      <p:tavLst>
                                        <p:tav tm="0">
                                          <p:val>
                                            <p:strVal val="#ppt_x"/>
                                          </p:val>
                                        </p:tav>
                                        <p:tav tm="100000">
                                          <p:val>
                                            <p:strVal val="#ppt_x"/>
                                          </p:val>
                                        </p:tav>
                                      </p:tavLst>
                                    </p:anim>
                                    <p:anim calcmode="lin" valueType="num">
                                      <p:cBhvr>
                                        <p:cTn id="18" dur="500" fill="hold"/>
                                        <p:tgtEl>
                                          <p:spTgt spid="952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71011" name="Rectangle 2051"/>
          <p:cNvSpPr>
            <a:spLocks noGrp="1"/>
          </p:cNvSpPr>
          <p:nvPr>
            <p:ph type="body" idx="4294967295"/>
          </p:nvPr>
        </p:nvSpPr>
        <p:spPr>
          <a:xfrm>
            <a:off x="849313" y="1781175"/>
            <a:ext cx="7488237" cy="1152525"/>
          </a:xfrm>
        </p:spPr>
        <p:txBody>
          <a:bodyPr vert="horz" wrap="square" lIns="91440" tIns="45720" rIns="91440" bIns="45720" anchor="t" anchorCtr="0"/>
          <a:p>
            <a:pPr eaLnBrk="1" hangingPunct="1">
              <a:spcBef>
                <a:spcPct val="45000"/>
              </a:spcBef>
            </a:pPr>
            <a:r>
              <a:rPr lang="zh-CN" altLang="en-US" dirty="0"/>
              <a:t>硬件判优</a:t>
            </a:r>
            <a:endParaRPr lang="zh-CN" altLang="en-US" dirty="0"/>
          </a:p>
          <a:p>
            <a:pPr lvl="1" eaLnBrk="1" hangingPunct="1"/>
            <a:r>
              <a:rPr lang="zh-CN" altLang="en-US" dirty="0"/>
              <a:t>硬件控制器（</a:t>
            </a:r>
            <a:r>
              <a:rPr lang="en-US" altLang="zh-CN" dirty="0"/>
              <a:t>8259</a:t>
            </a:r>
            <a:r>
              <a:rPr lang="zh-CN" altLang="en-US" dirty="0"/>
              <a:t>）</a:t>
            </a:r>
            <a:endParaRPr lang="en-US" altLang="zh-CN" dirty="0"/>
          </a:p>
          <a:p>
            <a:pPr lvl="1" eaLnBrk="1" hangingPunct="1"/>
            <a:r>
              <a:rPr lang="zh-CN" altLang="en-US" dirty="0"/>
              <a:t>链式判优、</a:t>
            </a:r>
            <a:r>
              <a:rPr lang="zh-CN" altLang="en-US" dirty="0">
                <a:solidFill>
                  <a:srgbClr val="FF0000"/>
                </a:solidFill>
              </a:rPr>
              <a:t>并行判优（中断向量法）</a:t>
            </a:r>
            <a:endParaRPr lang="zh-CN" altLang="en-US" dirty="0">
              <a:solidFill>
                <a:srgbClr val="FF0000"/>
              </a:solidFill>
            </a:endParaRPr>
          </a:p>
        </p:txBody>
      </p:sp>
      <p:grpSp>
        <p:nvGrpSpPr>
          <p:cNvPr id="171012" name="组合 1"/>
          <p:cNvGrpSpPr/>
          <p:nvPr/>
        </p:nvGrpSpPr>
        <p:grpSpPr>
          <a:xfrm>
            <a:off x="1044575" y="3286125"/>
            <a:ext cx="7277100" cy="3479800"/>
            <a:chOff x="2100" y="2475"/>
            <a:chExt cx="11568" cy="7585"/>
          </a:xfrm>
        </p:grpSpPr>
        <p:sp>
          <p:nvSpPr>
            <p:cNvPr id="171016" name="Text Box 3"/>
            <p:cNvSpPr txBox="1"/>
            <p:nvPr/>
          </p:nvSpPr>
          <p:spPr>
            <a:xfrm>
              <a:off x="4050" y="6098"/>
              <a:ext cx="908" cy="34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Aft>
                  <a:spcPct val="0"/>
                </a:spcAft>
                <a:buClr>
                  <a:srgbClr val="0000CC"/>
                </a:buClr>
                <a:buSzPct val="75000"/>
                <a:buNone/>
              </a:pPr>
              <a:r>
                <a:rPr lang="en-US" altLang="zh-CN" sz="1400" dirty="0">
                  <a:solidFill>
                    <a:srgbClr val="FF0000"/>
                  </a:solidFill>
                  <a:ea typeface="楷体_GB2312"/>
                </a:rPr>
                <a:t>INTA</a:t>
              </a:r>
              <a:r>
                <a:rPr lang="en-US" altLang="zh-CN" sz="1400" baseline="-25000" dirty="0">
                  <a:solidFill>
                    <a:srgbClr val="FF0000"/>
                  </a:solidFill>
                  <a:ea typeface="楷体_GB2312"/>
                </a:rPr>
                <a:t>in</a:t>
              </a:r>
              <a:endParaRPr lang="en-US" altLang="zh-CN" sz="1400" dirty="0">
                <a:solidFill>
                  <a:srgbClr val="FF0000"/>
                </a:solidFill>
                <a:ea typeface="楷体_GB2312"/>
              </a:endParaRPr>
            </a:p>
          </p:txBody>
        </p:sp>
        <p:sp>
          <p:nvSpPr>
            <p:cNvPr id="171017" name="Line 4"/>
            <p:cNvSpPr/>
            <p:nvPr/>
          </p:nvSpPr>
          <p:spPr>
            <a:xfrm>
              <a:off x="4025" y="6080"/>
              <a:ext cx="713" cy="3"/>
            </a:xfrm>
            <a:prstGeom prst="line">
              <a:avLst/>
            </a:prstGeom>
            <a:ln w="9525" cap="flat" cmpd="sng">
              <a:solidFill>
                <a:srgbClr val="FF0000"/>
              </a:solidFill>
              <a:prstDash val="solid"/>
              <a:bevel/>
              <a:headEnd type="none" w="med" len="med"/>
              <a:tailEnd type="none" w="med" len="med"/>
            </a:ln>
          </p:spPr>
        </p:sp>
        <p:sp>
          <p:nvSpPr>
            <p:cNvPr id="171018" name="Rectangle 5"/>
            <p:cNvSpPr/>
            <p:nvPr/>
          </p:nvSpPr>
          <p:spPr>
            <a:xfrm>
              <a:off x="2100" y="3208"/>
              <a:ext cx="1408" cy="6852"/>
            </a:xfrm>
            <a:prstGeom prst="rect">
              <a:avLst/>
            </a:prstGeom>
            <a:solidFill>
              <a:srgbClr val="CDDE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800" dirty="0">
                  <a:solidFill>
                    <a:schemeClr val="tx1"/>
                  </a:solidFill>
                  <a:ea typeface="楷体_GB2312"/>
                </a:rPr>
                <a:t>CPU</a:t>
              </a:r>
              <a:endParaRPr lang="en-US" altLang="zh-CN" sz="1800" dirty="0">
                <a:solidFill>
                  <a:schemeClr val="tx1"/>
                </a:solidFill>
                <a:ea typeface="楷体_GB2312"/>
              </a:endParaRPr>
            </a:p>
            <a:p>
              <a:pPr marL="342900" lvl="0" indent="-342900" algn="just">
                <a:lnSpc>
                  <a:spcPct val="95000"/>
                </a:lnSpc>
                <a:spcBef>
                  <a:spcPct val="0"/>
                </a:spcBef>
                <a:spcAft>
                  <a:spcPct val="0"/>
                </a:spcAft>
                <a:buClr>
                  <a:srgbClr val="0000CC"/>
                </a:buClr>
                <a:buSzPct val="75000"/>
                <a:buFont typeface="Wingdings" panose="05000000000000000000" pitchFamily="2" charset="2"/>
                <a:buChar char="n"/>
              </a:pPr>
              <a:endParaRPr lang="en-US" altLang="zh-CN" sz="1400" dirty="0">
                <a:solidFill>
                  <a:schemeClr val="tx1"/>
                </a:solidFill>
                <a:ea typeface="楷体_GB2312"/>
              </a:endParaRPr>
            </a:p>
            <a:p>
              <a:pPr marL="342900" lvl="0" indent="-342900" algn="just">
                <a:lnSpc>
                  <a:spcPct val="95000"/>
                </a:lnSpc>
                <a:spcBef>
                  <a:spcPct val="0"/>
                </a:spcBef>
                <a:spcAft>
                  <a:spcPct val="0"/>
                </a:spcAft>
                <a:buClr>
                  <a:srgbClr val="0000CC"/>
                </a:buClr>
                <a:buSzPct val="75000"/>
                <a:buFont typeface="Wingdings" panose="05000000000000000000" pitchFamily="2" charset="2"/>
                <a:buChar char="n"/>
              </a:pPr>
              <a:endParaRPr lang="en-US" altLang="zh-CN" sz="1400" b="0" dirty="0">
                <a:solidFill>
                  <a:schemeClr val="tx1"/>
                </a:solidFill>
                <a:latin typeface="Times New Roman" panose="02020603050405020304" pitchFamily="18" charset="0"/>
                <a:ea typeface="楷体_GB2312"/>
              </a:endParaRPr>
            </a:p>
            <a:p>
              <a:pPr marL="342900" lvl="0" indent="-342900" algn="just">
                <a:lnSpc>
                  <a:spcPct val="95000"/>
                </a:lnSpc>
                <a:spcBef>
                  <a:spcPct val="0"/>
                </a:spcBef>
                <a:spcAft>
                  <a:spcPct val="0"/>
                </a:spcAft>
                <a:buClr>
                  <a:srgbClr val="0000CC"/>
                </a:buClr>
                <a:buSzPct val="75000"/>
                <a:buFont typeface="Wingdings" panose="05000000000000000000" pitchFamily="2" charset="2"/>
                <a:buChar char="n"/>
              </a:pPr>
              <a:endParaRPr lang="en-US" altLang="zh-CN" sz="1400" b="0" dirty="0">
                <a:solidFill>
                  <a:schemeClr val="tx1"/>
                </a:solidFill>
                <a:latin typeface="Times New Roman" panose="02020603050405020304" pitchFamily="18" charset="0"/>
                <a:ea typeface="楷体_GB2312"/>
              </a:endParaRPr>
            </a:p>
            <a:p>
              <a:pPr marL="342900" lvl="0" indent="-342900" algn="just">
                <a:lnSpc>
                  <a:spcPct val="95000"/>
                </a:lnSpc>
                <a:spcBef>
                  <a:spcPct val="0"/>
                </a:spcBef>
                <a:spcAft>
                  <a:spcPct val="0"/>
                </a:spcAft>
                <a:buClr>
                  <a:srgbClr val="0000CC"/>
                </a:buClr>
                <a:buSzPct val="75000"/>
                <a:buFont typeface="Wingdings" panose="05000000000000000000" pitchFamily="2" charset="2"/>
                <a:buChar char="n"/>
              </a:pPr>
              <a:endParaRPr lang="en-US" altLang="zh-CN" sz="1400" b="0" dirty="0">
                <a:solidFill>
                  <a:schemeClr val="tx1"/>
                </a:solidFill>
                <a:latin typeface="Times New Roman" panose="02020603050405020304" pitchFamily="18" charset="0"/>
                <a:ea typeface="楷体_GB2312"/>
              </a:endParaRPr>
            </a:p>
            <a:p>
              <a:pPr marL="342900" lvl="0" indent="-342900" algn="just">
                <a:lnSpc>
                  <a:spcPct val="95000"/>
                </a:lnSpc>
                <a:spcBef>
                  <a:spcPct val="0"/>
                </a:spcBef>
                <a:spcAft>
                  <a:spcPct val="0"/>
                </a:spcAft>
                <a:buClr>
                  <a:srgbClr val="0000CC"/>
                </a:buClr>
                <a:buSzPct val="75000"/>
                <a:buFont typeface="Wingdings" panose="05000000000000000000" pitchFamily="2" charset="2"/>
                <a:buChar char="n"/>
              </a:pPr>
              <a:endParaRPr lang="en-US" altLang="zh-CN" sz="1400" b="0" dirty="0">
                <a:solidFill>
                  <a:schemeClr val="tx1"/>
                </a:solidFill>
                <a:latin typeface="Times New Roman" panose="02020603050405020304" pitchFamily="18" charset="0"/>
                <a:ea typeface="楷体_GB2312"/>
              </a:endParaRPr>
            </a:p>
            <a:p>
              <a:pPr marL="342900" lvl="0" indent="-342900" algn="r">
                <a:lnSpc>
                  <a:spcPct val="100000"/>
                </a:lnSpc>
                <a:spcAft>
                  <a:spcPct val="0"/>
                </a:spcAft>
                <a:buClr>
                  <a:srgbClr val="0000CC"/>
                </a:buClr>
                <a:buSzPct val="75000"/>
                <a:buNone/>
              </a:pPr>
              <a:r>
                <a:rPr lang="en-US" altLang="zh-CN" sz="1600" dirty="0">
                  <a:solidFill>
                    <a:schemeClr val="tx1"/>
                  </a:solidFill>
                  <a:ea typeface="楷体_GB2312"/>
                </a:rPr>
                <a:t>INTA</a:t>
              </a:r>
              <a:endParaRPr lang="en-US" altLang="zh-CN" sz="1600" dirty="0">
                <a:solidFill>
                  <a:schemeClr val="tx1"/>
                </a:solidFill>
                <a:ea typeface="楷体_GB2312"/>
              </a:endParaRPr>
            </a:p>
            <a:p>
              <a:pPr marL="342900" lvl="0" indent="-342900" algn="r">
                <a:lnSpc>
                  <a:spcPct val="100000"/>
                </a:lnSpc>
                <a:spcAft>
                  <a:spcPct val="0"/>
                </a:spcAft>
                <a:buClr>
                  <a:srgbClr val="0000CC"/>
                </a:buClr>
                <a:buSzPct val="75000"/>
                <a:buNone/>
              </a:pPr>
              <a:endParaRPr lang="en-US" altLang="zh-CN" sz="1600" dirty="0">
                <a:solidFill>
                  <a:schemeClr val="tx1"/>
                </a:solidFill>
                <a:ea typeface="楷体_GB2312"/>
              </a:endParaRPr>
            </a:p>
            <a:p>
              <a:pPr marL="342900" lvl="0" indent="-342900" algn="ctr">
                <a:lnSpc>
                  <a:spcPct val="100000"/>
                </a:lnSpc>
                <a:spcAft>
                  <a:spcPct val="0"/>
                </a:spcAft>
                <a:buClr>
                  <a:srgbClr val="0000CC"/>
                </a:buClr>
                <a:buSzPct val="75000"/>
                <a:buNone/>
              </a:pPr>
              <a:endParaRPr lang="en-US" altLang="zh-CN" sz="1400" b="0" dirty="0">
                <a:solidFill>
                  <a:schemeClr val="tx1"/>
                </a:solidFill>
                <a:latin typeface="Times New Roman" panose="02020603050405020304" pitchFamily="18" charset="0"/>
                <a:ea typeface="楷体_GB2312"/>
              </a:endParaRPr>
            </a:p>
            <a:p>
              <a:pPr marL="342900" lvl="0" indent="-342900" algn="ctr">
                <a:lnSpc>
                  <a:spcPct val="100000"/>
                </a:lnSpc>
                <a:spcAft>
                  <a:spcPct val="0"/>
                </a:spcAft>
                <a:buClr>
                  <a:srgbClr val="0000CC"/>
                </a:buClr>
                <a:buSzPct val="75000"/>
                <a:buNone/>
              </a:pPr>
              <a:endParaRPr lang="en-US" altLang="zh-CN" sz="1400" b="0" dirty="0">
                <a:solidFill>
                  <a:schemeClr val="tx1"/>
                </a:solidFill>
                <a:latin typeface="Times New Roman" panose="02020603050405020304" pitchFamily="18" charset="0"/>
                <a:ea typeface="楷体_GB2312"/>
              </a:endParaRPr>
            </a:p>
            <a:p>
              <a:pPr marL="342900" lvl="0" indent="-342900" algn="r">
                <a:lnSpc>
                  <a:spcPct val="100000"/>
                </a:lnSpc>
                <a:spcAft>
                  <a:spcPct val="0"/>
                </a:spcAft>
                <a:buClr>
                  <a:srgbClr val="0000CC"/>
                </a:buClr>
                <a:buSzPct val="75000"/>
                <a:buNone/>
              </a:pPr>
              <a:r>
                <a:rPr lang="en-US" altLang="zh-CN" sz="1600" dirty="0">
                  <a:solidFill>
                    <a:schemeClr val="tx1"/>
                  </a:solidFill>
                  <a:ea typeface="楷体_GB2312"/>
                </a:rPr>
                <a:t>INTR</a:t>
              </a:r>
              <a:endParaRPr lang="en-US" altLang="zh-CN" sz="1600" dirty="0">
                <a:solidFill>
                  <a:schemeClr val="tx1"/>
                </a:solidFill>
                <a:ea typeface="楷体_GB2312"/>
              </a:endParaRPr>
            </a:p>
            <a:p>
              <a:pPr marL="342900" lvl="0" indent="-342900">
                <a:lnSpc>
                  <a:spcPct val="100000"/>
                </a:lnSpc>
                <a:spcAft>
                  <a:spcPct val="0"/>
                </a:spcAft>
                <a:buClr>
                  <a:srgbClr val="0000CC"/>
                </a:buClr>
                <a:buSzPct val="75000"/>
                <a:buFont typeface="Wingdings" panose="05000000000000000000" pitchFamily="2" charset="2"/>
                <a:buChar char="n"/>
              </a:pPr>
              <a:endParaRPr lang="en-US" altLang="zh-CN" sz="1400" b="0" dirty="0">
                <a:solidFill>
                  <a:schemeClr val="tx1"/>
                </a:solidFill>
                <a:ea typeface="楷体_GB2312"/>
              </a:endParaRPr>
            </a:p>
          </p:txBody>
        </p:sp>
        <p:sp>
          <p:nvSpPr>
            <p:cNvPr id="171019" name="Rectangle 6"/>
            <p:cNvSpPr/>
            <p:nvPr/>
          </p:nvSpPr>
          <p:spPr>
            <a:xfrm>
              <a:off x="4920" y="2475"/>
              <a:ext cx="1975" cy="733"/>
            </a:xfrm>
            <a:prstGeom prst="rect">
              <a:avLst/>
            </a:prstGeom>
            <a:solidFill>
              <a:srgbClr val="FFCC99"/>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800" dirty="0">
                  <a:solidFill>
                    <a:schemeClr val="tx1"/>
                  </a:solidFill>
                  <a:latin typeface="宋体" panose="02010600030101010101" pitchFamily="2" charset="-122"/>
                  <a:ea typeface="楷体_GB2312"/>
                </a:rPr>
                <a:t>外设</a:t>
              </a:r>
              <a:r>
                <a:rPr lang="en-US" altLang="zh-CN" sz="1800" dirty="0">
                  <a:solidFill>
                    <a:schemeClr val="tx1"/>
                  </a:solidFill>
                  <a:latin typeface="宋体" panose="02010600030101010101" pitchFamily="2" charset="-122"/>
                  <a:ea typeface="楷体_GB2312"/>
                </a:rPr>
                <a:t>1</a:t>
              </a:r>
              <a:endParaRPr lang="en-US" altLang="zh-CN" sz="1800" dirty="0">
                <a:solidFill>
                  <a:schemeClr val="tx1"/>
                </a:solidFill>
                <a:ea typeface="楷体_GB2312"/>
              </a:endParaRPr>
            </a:p>
          </p:txBody>
        </p:sp>
        <p:sp>
          <p:nvSpPr>
            <p:cNvPr id="171020" name="Rectangle 7"/>
            <p:cNvSpPr/>
            <p:nvPr/>
          </p:nvSpPr>
          <p:spPr>
            <a:xfrm>
              <a:off x="8025" y="2475"/>
              <a:ext cx="1973" cy="733"/>
            </a:xfrm>
            <a:prstGeom prst="rect">
              <a:avLst/>
            </a:prstGeom>
            <a:solidFill>
              <a:srgbClr val="FFCC99"/>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800" dirty="0">
                  <a:solidFill>
                    <a:schemeClr val="tx1"/>
                  </a:solidFill>
                  <a:latin typeface="宋体" panose="02010600030101010101" pitchFamily="2" charset="-122"/>
                  <a:ea typeface="楷体_GB2312"/>
                </a:rPr>
                <a:t>外设</a:t>
              </a:r>
              <a:r>
                <a:rPr lang="en-US" altLang="zh-CN" sz="1800" dirty="0">
                  <a:solidFill>
                    <a:schemeClr val="tx1"/>
                  </a:solidFill>
                  <a:latin typeface="宋体" panose="02010600030101010101" pitchFamily="2" charset="-122"/>
                  <a:ea typeface="楷体_GB2312"/>
                </a:rPr>
                <a:t>2</a:t>
              </a:r>
              <a:endParaRPr lang="en-US" altLang="zh-CN" sz="1800" dirty="0">
                <a:solidFill>
                  <a:schemeClr val="tx1"/>
                </a:solidFill>
                <a:latin typeface="宋体" panose="02010600030101010101" pitchFamily="2" charset="-122"/>
                <a:ea typeface="楷体_GB2312"/>
              </a:endParaRPr>
            </a:p>
          </p:txBody>
        </p:sp>
        <p:sp>
          <p:nvSpPr>
            <p:cNvPr id="171021" name="Rectangle 8"/>
            <p:cNvSpPr/>
            <p:nvPr/>
          </p:nvSpPr>
          <p:spPr>
            <a:xfrm>
              <a:off x="4920" y="3698"/>
              <a:ext cx="1975" cy="735"/>
            </a:xfrm>
            <a:prstGeom prst="rect">
              <a:avLst/>
            </a:prstGeom>
            <a:solidFill>
              <a:srgbClr val="FFCC99"/>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800" dirty="0">
                  <a:solidFill>
                    <a:schemeClr val="tx1"/>
                  </a:solidFill>
                  <a:latin typeface="宋体" panose="02010600030101010101" pitchFamily="2" charset="-122"/>
                  <a:ea typeface="楷体_GB2312"/>
                </a:rPr>
                <a:t>外设接口</a:t>
              </a:r>
              <a:r>
                <a:rPr lang="en-US" altLang="zh-CN" sz="1800" dirty="0">
                  <a:solidFill>
                    <a:schemeClr val="tx1"/>
                  </a:solidFill>
                  <a:latin typeface="宋体" panose="02010600030101010101" pitchFamily="2" charset="-122"/>
                  <a:ea typeface="楷体_GB2312"/>
                </a:rPr>
                <a:t>1</a:t>
              </a:r>
              <a:endParaRPr lang="en-US" altLang="zh-CN" sz="1800" dirty="0">
                <a:solidFill>
                  <a:schemeClr val="tx1"/>
                </a:solidFill>
                <a:latin typeface="宋体" panose="02010600030101010101" pitchFamily="2" charset="-122"/>
                <a:ea typeface="楷体_GB2312"/>
              </a:endParaRPr>
            </a:p>
          </p:txBody>
        </p:sp>
        <p:sp>
          <p:nvSpPr>
            <p:cNvPr id="171022" name="Rectangle 9"/>
            <p:cNvSpPr/>
            <p:nvPr/>
          </p:nvSpPr>
          <p:spPr>
            <a:xfrm>
              <a:off x="4920" y="5900"/>
              <a:ext cx="1423" cy="978"/>
            </a:xfrm>
            <a:prstGeom prst="rect">
              <a:avLst/>
            </a:prstGeom>
            <a:solidFill>
              <a:srgbClr val="CC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400" dirty="0">
                  <a:solidFill>
                    <a:schemeClr val="tx1"/>
                  </a:solidFill>
                  <a:latin typeface="Times New Roman" panose="02020603050405020304" pitchFamily="18" charset="0"/>
                  <a:ea typeface="楷体_GB2312"/>
                </a:rPr>
                <a:t>菊花链</a:t>
              </a:r>
              <a:endParaRPr lang="zh-CN" altLang="en-US" sz="1400" dirty="0">
                <a:solidFill>
                  <a:schemeClr val="tx1"/>
                </a:solidFill>
                <a:latin typeface="Times New Roman" panose="02020603050405020304" pitchFamily="18" charset="0"/>
                <a:ea typeface="楷体_GB2312"/>
              </a:endParaRPr>
            </a:p>
            <a:p>
              <a:pPr marL="342900" lvl="0" indent="-342900" algn="ctr">
                <a:lnSpc>
                  <a:spcPct val="100000"/>
                </a:lnSpc>
                <a:spcAft>
                  <a:spcPct val="0"/>
                </a:spcAft>
                <a:buClr>
                  <a:srgbClr val="0000CC"/>
                </a:buClr>
                <a:buSzPct val="75000"/>
                <a:buNone/>
              </a:pPr>
              <a:r>
                <a:rPr lang="zh-CN" altLang="en-US" sz="1400" dirty="0">
                  <a:solidFill>
                    <a:schemeClr val="tx1"/>
                  </a:solidFill>
                  <a:latin typeface="Times New Roman" panose="02020603050405020304" pitchFamily="18" charset="0"/>
                  <a:ea typeface="楷体_GB2312"/>
                </a:rPr>
                <a:t>逻辑电路</a:t>
              </a:r>
              <a:endParaRPr lang="zh-CN" altLang="en-US" sz="1400" dirty="0">
                <a:solidFill>
                  <a:schemeClr val="tx1"/>
                </a:solidFill>
                <a:ea typeface="楷体_GB2312"/>
              </a:endParaRPr>
            </a:p>
          </p:txBody>
        </p:sp>
        <p:sp>
          <p:nvSpPr>
            <p:cNvPr id="171023" name="Rectangle 10"/>
            <p:cNvSpPr/>
            <p:nvPr/>
          </p:nvSpPr>
          <p:spPr>
            <a:xfrm>
              <a:off x="8025" y="3698"/>
              <a:ext cx="1973" cy="735"/>
            </a:xfrm>
            <a:prstGeom prst="rect">
              <a:avLst/>
            </a:prstGeom>
            <a:solidFill>
              <a:srgbClr val="FFCC99"/>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800" dirty="0">
                  <a:solidFill>
                    <a:schemeClr val="tx1"/>
                  </a:solidFill>
                  <a:latin typeface="宋体" panose="02010600030101010101" pitchFamily="2" charset="-122"/>
                  <a:ea typeface="楷体_GB2312"/>
                </a:rPr>
                <a:t>外设接口</a:t>
              </a:r>
              <a:r>
                <a:rPr lang="en-US" altLang="zh-CN" sz="1800" dirty="0">
                  <a:solidFill>
                    <a:schemeClr val="tx1"/>
                  </a:solidFill>
                  <a:latin typeface="宋体" panose="02010600030101010101" pitchFamily="2" charset="-122"/>
                  <a:ea typeface="楷体_GB2312"/>
                </a:rPr>
                <a:t>2</a:t>
              </a:r>
              <a:endParaRPr lang="en-US" altLang="zh-CN" sz="1800" dirty="0">
                <a:solidFill>
                  <a:schemeClr val="tx1"/>
                </a:solidFill>
                <a:latin typeface="宋体" panose="02010600030101010101" pitchFamily="2" charset="-122"/>
                <a:ea typeface="楷体_GB2312"/>
              </a:endParaRPr>
            </a:p>
          </p:txBody>
        </p:sp>
        <p:sp>
          <p:nvSpPr>
            <p:cNvPr id="171024" name="Rectangle 11"/>
            <p:cNvSpPr/>
            <p:nvPr/>
          </p:nvSpPr>
          <p:spPr>
            <a:xfrm>
              <a:off x="11128" y="2475"/>
              <a:ext cx="1977" cy="733"/>
            </a:xfrm>
            <a:prstGeom prst="rect">
              <a:avLst/>
            </a:prstGeom>
            <a:solidFill>
              <a:srgbClr val="FFCC99"/>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800" dirty="0">
                  <a:solidFill>
                    <a:schemeClr val="tx1"/>
                  </a:solidFill>
                  <a:latin typeface="宋体" panose="02010600030101010101" pitchFamily="2" charset="-122"/>
                  <a:ea typeface="楷体_GB2312"/>
                </a:rPr>
                <a:t>外设</a:t>
              </a:r>
              <a:r>
                <a:rPr lang="en-US" altLang="zh-CN" sz="1800" dirty="0">
                  <a:solidFill>
                    <a:schemeClr val="tx1"/>
                  </a:solidFill>
                  <a:latin typeface="宋体" panose="02010600030101010101" pitchFamily="2" charset="-122"/>
                  <a:ea typeface="楷体_GB2312"/>
                </a:rPr>
                <a:t>3</a:t>
              </a:r>
              <a:endParaRPr lang="en-US" altLang="zh-CN" sz="1800" dirty="0">
                <a:solidFill>
                  <a:schemeClr val="tx1"/>
                </a:solidFill>
                <a:latin typeface="宋体" panose="02010600030101010101" pitchFamily="2" charset="-122"/>
                <a:ea typeface="楷体_GB2312"/>
              </a:endParaRPr>
            </a:p>
          </p:txBody>
        </p:sp>
        <p:sp>
          <p:nvSpPr>
            <p:cNvPr id="171025" name="Rectangle 12"/>
            <p:cNvSpPr/>
            <p:nvPr/>
          </p:nvSpPr>
          <p:spPr>
            <a:xfrm>
              <a:off x="11128" y="3698"/>
              <a:ext cx="1977" cy="735"/>
            </a:xfrm>
            <a:prstGeom prst="rect">
              <a:avLst/>
            </a:prstGeom>
            <a:solidFill>
              <a:srgbClr val="FFCC99"/>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800" dirty="0">
                  <a:solidFill>
                    <a:schemeClr val="tx1"/>
                  </a:solidFill>
                  <a:latin typeface="宋体" panose="02010600030101010101" pitchFamily="2" charset="-122"/>
                  <a:ea typeface="楷体_GB2312"/>
                </a:rPr>
                <a:t>外设接口</a:t>
              </a:r>
              <a:r>
                <a:rPr lang="en-US" altLang="zh-CN" sz="1800" dirty="0">
                  <a:solidFill>
                    <a:schemeClr val="tx1"/>
                  </a:solidFill>
                  <a:latin typeface="宋体" panose="02010600030101010101" pitchFamily="2" charset="-122"/>
                  <a:ea typeface="楷体_GB2312"/>
                </a:rPr>
                <a:t>3</a:t>
              </a:r>
              <a:endParaRPr lang="en-US" altLang="zh-CN" sz="1800" dirty="0">
                <a:solidFill>
                  <a:schemeClr val="tx1"/>
                </a:solidFill>
                <a:latin typeface="宋体" panose="02010600030101010101" pitchFamily="2" charset="-122"/>
                <a:ea typeface="楷体_GB2312"/>
              </a:endParaRPr>
            </a:p>
          </p:txBody>
        </p:sp>
        <p:sp>
          <p:nvSpPr>
            <p:cNvPr id="171026" name="Rectangle 13"/>
            <p:cNvSpPr/>
            <p:nvPr/>
          </p:nvSpPr>
          <p:spPr>
            <a:xfrm>
              <a:off x="4568" y="7858"/>
              <a:ext cx="917" cy="2200"/>
            </a:xfrm>
            <a:prstGeom prst="rect">
              <a:avLst/>
            </a:prstGeom>
            <a:solidFill>
              <a:srgbClr val="FFCC99"/>
            </a:solidFill>
            <a:ln w="9525" cap="flat" cmpd="sng">
              <a:solidFill>
                <a:srgbClr val="000000"/>
              </a:solidFill>
              <a:prstDash val="solid"/>
              <a:miter/>
              <a:headEnd type="none" w="med" len="med"/>
              <a:tailEnd type="none" w="med" len="med"/>
            </a:ln>
          </p:spPr>
          <p:txBody>
            <a:bodyPr lIns="0" r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96000"/>
                </a:lnSpc>
                <a:spcAft>
                  <a:spcPct val="0"/>
                </a:spcAft>
                <a:buClr>
                  <a:srgbClr val="0000CC"/>
                </a:buClr>
                <a:buSzPct val="75000"/>
              </a:pPr>
              <a:endParaRPr lang="en-US" altLang="zh-CN" sz="1400" b="0" dirty="0">
                <a:solidFill>
                  <a:schemeClr val="tx1"/>
                </a:solidFill>
                <a:latin typeface="宋体" panose="02010600030101010101" pitchFamily="2" charset="-122"/>
                <a:ea typeface="楷体_GB2312"/>
              </a:endParaRPr>
            </a:p>
            <a:p>
              <a:pPr marL="342900" lvl="0" indent="-342900" algn="ctr">
                <a:lnSpc>
                  <a:spcPct val="96000"/>
                </a:lnSpc>
                <a:spcAft>
                  <a:spcPct val="0"/>
                </a:spcAft>
                <a:buClr>
                  <a:srgbClr val="0000CC"/>
                </a:buClr>
                <a:buSzPct val="75000"/>
              </a:pPr>
              <a:endParaRPr lang="en-US" altLang="zh-CN" sz="1400" b="0" dirty="0">
                <a:solidFill>
                  <a:schemeClr val="tx1"/>
                </a:solidFill>
                <a:latin typeface="宋体" panose="02010600030101010101" pitchFamily="2" charset="-122"/>
                <a:ea typeface="楷体_GB2312"/>
              </a:endParaRPr>
            </a:p>
            <a:p>
              <a:pPr marL="342900" lvl="0" indent="-342900" algn="ctr">
                <a:lnSpc>
                  <a:spcPct val="96000"/>
                </a:lnSpc>
                <a:spcAft>
                  <a:spcPct val="0"/>
                </a:spcAft>
                <a:buClr>
                  <a:srgbClr val="0000CC"/>
                </a:buClr>
                <a:buSzPct val="75000"/>
                <a:buNone/>
              </a:pPr>
              <a:r>
                <a:rPr lang="en-US" altLang="zh-CN" sz="1600" dirty="0">
                  <a:solidFill>
                    <a:schemeClr val="tx1"/>
                  </a:solidFill>
                  <a:latin typeface="宋体" panose="02010600030101010101" pitchFamily="2" charset="-122"/>
                  <a:ea typeface="楷体_GB2312"/>
                </a:rPr>
                <a:t>≥1</a:t>
              </a:r>
              <a:endParaRPr lang="en-US" altLang="zh-CN" sz="1600" dirty="0">
                <a:solidFill>
                  <a:schemeClr val="tx1"/>
                </a:solidFill>
                <a:ea typeface="楷体_GB2312"/>
              </a:endParaRPr>
            </a:p>
          </p:txBody>
        </p:sp>
        <p:sp>
          <p:nvSpPr>
            <p:cNvPr id="171027" name="Line 14"/>
            <p:cNvSpPr/>
            <p:nvPr/>
          </p:nvSpPr>
          <p:spPr>
            <a:xfrm flipH="1">
              <a:off x="3485" y="8963"/>
              <a:ext cx="1065" cy="2"/>
            </a:xfrm>
            <a:prstGeom prst="line">
              <a:avLst/>
            </a:prstGeom>
            <a:ln w="9525" cap="flat" cmpd="sng">
              <a:solidFill>
                <a:srgbClr val="0000FF"/>
              </a:solidFill>
              <a:prstDash val="solid"/>
              <a:bevel/>
              <a:headEnd type="none" w="med" len="med"/>
              <a:tailEnd type="triangle" w="sm" len="med"/>
            </a:ln>
          </p:spPr>
        </p:sp>
        <p:sp>
          <p:nvSpPr>
            <p:cNvPr id="171028" name="Rectangle 15"/>
            <p:cNvSpPr/>
            <p:nvPr/>
          </p:nvSpPr>
          <p:spPr>
            <a:xfrm>
              <a:off x="8025" y="5900"/>
              <a:ext cx="1420" cy="978"/>
            </a:xfrm>
            <a:prstGeom prst="rect">
              <a:avLst/>
            </a:prstGeom>
            <a:solidFill>
              <a:srgbClr val="CC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400" dirty="0">
                  <a:solidFill>
                    <a:schemeClr val="tx1"/>
                  </a:solidFill>
                  <a:latin typeface="Times New Roman" panose="02020603050405020304" pitchFamily="18" charset="0"/>
                  <a:ea typeface="楷体_GB2312"/>
                </a:rPr>
                <a:t>菊花链</a:t>
              </a:r>
              <a:endParaRPr lang="zh-CN" altLang="en-US" sz="1400" dirty="0">
                <a:solidFill>
                  <a:schemeClr val="tx1"/>
                </a:solidFill>
                <a:latin typeface="Times New Roman" panose="02020603050405020304" pitchFamily="18" charset="0"/>
                <a:ea typeface="楷体_GB2312"/>
              </a:endParaRPr>
            </a:p>
            <a:p>
              <a:pPr marL="342900" lvl="0" indent="-342900" algn="ctr">
                <a:lnSpc>
                  <a:spcPct val="100000"/>
                </a:lnSpc>
                <a:spcAft>
                  <a:spcPct val="0"/>
                </a:spcAft>
                <a:buClr>
                  <a:srgbClr val="0000CC"/>
                </a:buClr>
                <a:buSzPct val="75000"/>
                <a:buNone/>
              </a:pPr>
              <a:r>
                <a:rPr lang="zh-CN" altLang="en-US" sz="1400" dirty="0">
                  <a:solidFill>
                    <a:schemeClr val="tx1"/>
                  </a:solidFill>
                  <a:latin typeface="Times New Roman" panose="02020603050405020304" pitchFamily="18" charset="0"/>
                  <a:ea typeface="楷体_GB2312"/>
                </a:rPr>
                <a:t>逻辑电路</a:t>
              </a:r>
              <a:endParaRPr lang="zh-CN" altLang="en-US" sz="1400" dirty="0">
                <a:solidFill>
                  <a:schemeClr val="tx1"/>
                </a:solidFill>
                <a:latin typeface="Times New Roman" panose="02020603050405020304" pitchFamily="18" charset="0"/>
                <a:ea typeface="楷体_GB2312"/>
              </a:endParaRPr>
            </a:p>
          </p:txBody>
        </p:sp>
        <p:sp>
          <p:nvSpPr>
            <p:cNvPr id="171029" name="Rectangle 16"/>
            <p:cNvSpPr/>
            <p:nvPr/>
          </p:nvSpPr>
          <p:spPr>
            <a:xfrm>
              <a:off x="11128" y="5900"/>
              <a:ext cx="1422" cy="978"/>
            </a:xfrm>
            <a:prstGeom prst="rect">
              <a:avLst/>
            </a:prstGeom>
            <a:solidFill>
              <a:srgbClr val="CC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400" dirty="0">
                  <a:solidFill>
                    <a:schemeClr val="tx1"/>
                  </a:solidFill>
                  <a:latin typeface="Times New Roman" panose="02020603050405020304" pitchFamily="18" charset="0"/>
                  <a:ea typeface="楷体_GB2312"/>
                </a:rPr>
                <a:t>菊花链</a:t>
              </a:r>
              <a:endParaRPr lang="zh-CN" altLang="en-US" sz="1400" dirty="0">
                <a:solidFill>
                  <a:schemeClr val="tx1"/>
                </a:solidFill>
                <a:latin typeface="Times New Roman" panose="02020603050405020304" pitchFamily="18" charset="0"/>
                <a:ea typeface="楷体_GB2312"/>
              </a:endParaRPr>
            </a:p>
            <a:p>
              <a:pPr marL="342900" lvl="0" indent="-342900" algn="ctr">
                <a:lnSpc>
                  <a:spcPct val="100000"/>
                </a:lnSpc>
                <a:spcAft>
                  <a:spcPct val="0"/>
                </a:spcAft>
                <a:buClr>
                  <a:srgbClr val="0000CC"/>
                </a:buClr>
                <a:buSzPct val="75000"/>
                <a:buNone/>
              </a:pPr>
              <a:r>
                <a:rPr lang="zh-CN" altLang="en-US" sz="1400" dirty="0">
                  <a:solidFill>
                    <a:schemeClr val="tx1"/>
                  </a:solidFill>
                  <a:latin typeface="Times New Roman" panose="02020603050405020304" pitchFamily="18" charset="0"/>
                  <a:ea typeface="楷体_GB2312"/>
                </a:rPr>
                <a:t>逻辑电路</a:t>
              </a:r>
              <a:endParaRPr lang="zh-CN" altLang="en-US" sz="1400" dirty="0">
                <a:solidFill>
                  <a:schemeClr val="tx1"/>
                </a:solidFill>
                <a:ea typeface="楷体_GB2312"/>
              </a:endParaRPr>
            </a:p>
          </p:txBody>
        </p:sp>
        <p:sp>
          <p:nvSpPr>
            <p:cNvPr id="171030" name="Line 17"/>
            <p:cNvSpPr/>
            <p:nvPr/>
          </p:nvSpPr>
          <p:spPr>
            <a:xfrm>
              <a:off x="3508" y="6530"/>
              <a:ext cx="1412" cy="3"/>
            </a:xfrm>
            <a:prstGeom prst="line">
              <a:avLst/>
            </a:prstGeom>
            <a:ln w="9525" cap="flat" cmpd="sng">
              <a:solidFill>
                <a:srgbClr val="FF0000"/>
              </a:solidFill>
              <a:prstDash val="solid"/>
              <a:bevel/>
              <a:headEnd type="none" w="med" len="med"/>
              <a:tailEnd type="triangle" w="sm" len="med"/>
            </a:ln>
          </p:spPr>
        </p:sp>
        <p:sp>
          <p:nvSpPr>
            <p:cNvPr id="171031" name="Line 18"/>
            <p:cNvSpPr/>
            <p:nvPr/>
          </p:nvSpPr>
          <p:spPr>
            <a:xfrm>
              <a:off x="6330" y="6553"/>
              <a:ext cx="1695" cy="2"/>
            </a:xfrm>
            <a:prstGeom prst="line">
              <a:avLst/>
            </a:prstGeom>
            <a:ln w="9525" cap="flat" cmpd="sng">
              <a:solidFill>
                <a:srgbClr val="FF0000"/>
              </a:solidFill>
              <a:prstDash val="solid"/>
              <a:bevel/>
              <a:headEnd type="none" w="med" len="med"/>
              <a:tailEnd type="triangle" w="sm" len="med"/>
            </a:ln>
          </p:spPr>
        </p:sp>
        <p:sp>
          <p:nvSpPr>
            <p:cNvPr id="171032" name="Line 19"/>
            <p:cNvSpPr/>
            <p:nvPr/>
          </p:nvSpPr>
          <p:spPr>
            <a:xfrm>
              <a:off x="9435" y="6553"/>
              <a:ext cx="1693" cy="2"/>
            </a:xfrm>
            <a:prstGeom prst="line">
              <a:avLst/>
            </a:prstGeom>
            <a:ln w="9525" cap="flat" cmpd="sng">
              <a:solidFill>
                <a:srgbClr val="FF0000"/>
              </a:solidFill>
              <a:prstDash val="solid"/>
              <a:bevel/>
              <a:headEnd type="none" w="med" len="med"/>
              <a:tailEnd type="triangle" w="sm" len="med"/>
            </a:ln>
          </p:spPr>
        </p:sp>
        <p:sp>
          <p:nvSpPr>
            <p:cNvPr id="171033" name="Line 20"/>
            <p:cNvSpPr/>
            <p:nvPr/>
          </p:nvSpPr>
          <p:spPr>
            <a:xfrm>
              <a:off x="12540" y="6553"/>
              <a:ext cx="1128" cy="2"/>
            </a:xfrm>
            <a:prstGeom prst="line">
              <a:avLst/>
            </a:prstGeom>
            <a:ln w="9525" cap="flat" cmpd="sng">
              <a:solidFill>
                <a:srgbClr val="FF0000"/>
              </a:solidFill>
              <a:prstDash val="solid"/>
              <a:bevel/>
              <a:headEnd type="none" w="med" len="med"/>
              <a:tailEnd type="triangle" w="sm" len="med"/>
            </a:ln>
          </p:spPr>
        </p:sp>
        <p:sp>
          <p:nvSpPr>
            <p:cNvPr id="171034" name="Line 21"/>
            <p:cNvSpPr/>
            <p:nvPr/>
          </p:nvSpPr>
          <p:spPr>
            <a:xfrm>
              <a:off x="2671" y="6268"/>
              <a:ext cx="680" cy="0"/>
            </a:xfrm>
            <a:prstGeom prst="line">
              <a:avLst/>
            </a:prstGeom>
            <a:ln w="9525" cap="flat" cmpd="sng">
              <a:solidFill>
                <a:srgbClr val="000000"/>
              </a:solidFill>
              <a:prstDash val="solid"/>
              <a:bevel/>
              <a:headEnd type="none" w="med" len="med"/>
              <a:tailEnd type="none" w="med" len="med"/>
            </a:ln>
          </p:spPr>
        </p:sp>
        <p:sp>
          <p:nvSpPr>
            <p:cNvPr id="171035" name="Line 22"/>
            <p:cNvSpPr/>
            <p:nvPr/>
          </p:nvSpPr>
          <p:spPr>
            <a:xfrm flipV="1">
              <a:off x="5648" y="4433"/>
              <a:ext cx="2" cy="1467"/>
            </a:xfrm>
            <a:prstGeom prst="line">
              <a:avLst/>
            </a:prstGeom>
            <a:ln w="9525" cap="flat" cmpd="sng">
              <a:solidFill>
                <a:srgbClr val="FF0000"/>
              </a:solidFill>
              <a:prstDash val="solid"/>
              <a:bevel/>
              <a:headEnd type="none" w="med" len="med"/>
              <a:tailEnd type="triangle" w="sm" len="med"/>
            </a:ln>
          </p:spPr>
        </p:sp>
        <p:sp>
          <p:nvSpPr>
            <p:cNvPr id="171036" name="Line 23"/>
            <p:cNvSpPr/>
            <p:nvPr/>
          </p:nvSpPr>
          <p:spPr>
            <a:xfrm flipV="1">
              <a:off x="8753" y="4433"/>
              <a:ext cx="2" cy="1467"/>
            </a:xfrm>
            <a:prstGeom prst="line">
              <a:avLst/>
            </a:prstGeom>
            <a:ln w="9525" cap="flat" cmpd="sng">
              <a:solidFill>
                <a:srgbClr val="FF0000"/>
              </a:solidFill>
              <a:prstDash val="solid"/>
              <a:bevel/>
              <a:headEnd type="none" w="med" len="med"/>
              <a:tailEnd type="triangle" w="sm" len="med"/>
            </a:ln>
          </p:spPr>
        </p:sp>
        <p:sp>
          <p:nvSpPr>
            <p:cNvPr id="171037" name="Line 24"/>
            <p:cNvSpPr/>
            <p:nvPr/>
          </p:nvSpPr>
          <p:spPr>
            <a:xfrm flipV="1">
              <a:off x="11858" y="4433"/>
              <a:ext cx="2" cy="1467"/>
            </a:xfrm>
            <a:prstGeom prst="line">
              <a:avLst/>
            </a:prstGeom>
            <a:ln w="9525" cap="flat" cmpd="sng">
              <a:solidFill>
                <a:srgbClr val="FF0000"/>
              </a:solidFill>
              <a:prstDash val="solid"/>
              <a:bevel/>
              <a:headEnd type="none" w="med" len="med"/>
              <a:tailEnd type="triangle" w="sm" len="med"/>
            </a:ln>
          </p:spPr>
        </p:sp>
        <p:sp>
          <p:nvSpPr>
            <p:cNvPr id="171038" name="AutoShape 25"/>
            <p:cNvSpPr/>
            <p:nvPr/>
          </p:nvSpPr>
          <p:spPr>
            <a:xfrm>
              <a:off x="5765" y="3208"/>
              <a:ext cx="283" cy="490"/>
            </a:xfrm>
            <a:prstGeom prst="upDownArrow">
              <a:avLst>
                <a:gd name="adj1" fmla="val 50000"/>
                <a:gd name="adj2" fmla="val 34596"/>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171039" name="AutoShape 26"/>
            <p:cNvSpPr/>
            <p:nvPr/>
          </p:nvSpPr>
          <p:spPr>
            <a:xfrm>
              <a:off x="8870" y="3208"/>
              <a:ext cx="283" cy="490"/>
            </a:xfrm>
            <a:prstGeom prst="upDownArrow">
              <a:avLst>
                <a:gd name="adj1" fmla="val 50000"/>
                <a:gd name="adj2" fmla="val 34596"/>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171040" name="AutoShape 27"/>
            <p:cNvSpPr/>
            <p:nvPr/>
          </p:nvSpPr>
          <p:spPr>
            <a:xfrm>
              <a:off x="11975" y="3208"/>
              <a:ext cx="283" cy="490"/>
            </a:xfrm>
            <a:prstGeom prst="upDownArrow">
              <a:avLst>
                <a:gd name="adj1" fmla="val 50000"/>
                <a:gd name="adj2" fmla="val 34596"/>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171041" name="Line 28"/>
            <p:cNvSpPr/>
            <p:nvPr/>
          </p:nvSpPr>
          <p:spPr>
            <a:xfrm flipH="1">
              <a:off x="5485" y="8103"/>
              <a:ext cx="1128" cy="0"/>
            </a:xfrm>
            <a:prstGeom prst="line">
              <a:avLst/>
            </a:prstGeom>
            <a:ln w="9525" cap="flat" cmpd="sng">
              <a:solidFill>
                <a:srgbClr val="0000FF"/>
              </a:solidFill>
              <a:prstDash val="solid"/>
              <a:bevel/>
              <a:headEnd type="none" w="med" len="med"/>
              <a:tailEnd type="triangle" w="sm" len="med"/>
            </a:ln>
          </p:spPr>
        </p:sp>
        <p:sp>
          <p:nvSpPr>
            <p:cNvPr id="171042" name="Line 29"/>
            <p:cNvSpPr/>
            <p:nvPr/>
          </p:nvSpPr>
          <p:spPr>
            <a:xfrm>
              <a:off x="6613" y="4433"/>
              <a:ext cx="0" cy="3670"/>
            </a:xfrm>
            <a:prstGeom prst="line">
              <a:avLst/>
            </a:prstGeom>
            <a:ln w="9525" cap="flat" cmpd="sng">
              <a:solidFill>
                <a:srgbClr val="0000FF"/>
              </a:solidFill>
              <a:prstDash val="solid"/>
              <a:bevel/>
              <a:headEnd type="none" w="med" len="med"/>
              <a:tailEnd type="none" w="med" len="med"/>
            </a:ln>
          </p:spPr>
        </p:sp>
        <p:sp>
          <p:nvSpPr>
            <p:cNvPr id="171043" name="Line 30"/>
            <p:cNvSpPr/>
            <p:nvPr/>
          </p:nvSpPr>
          <p:spPr>
            <a:xfrm>
              <a:off x="9718" y="4433"/>
              <a:ext cx="2" cy="3912"/>
            </a:xfrm>
            <a:prstGeom prst="line">
              <a:avLst/>
            </a:prstGeom>
            <a:ln w="9525" cap="flat" cmpd="sng">
              <a:solidFill>
                <a:srgbClr val="0000FF"/>
              </a:solidFill>
              <a:prstDash val="solid"/>
              <a:bevel/>
              <a:headEnd type="none" w="med" len="med"/>
              <a:tailEnd type="none" w="med" len="med"/>
            </a:ln>
          </p:spPr>
        </p:sp>
        <p:sp>
          <p:nvSpPr>
            <p:cNvPr id="171044" name="Line 31"/>
            <p:cNvSpPr/>
            <p:nvPr/>
          </p:nvSpPr>
          <p:spPr>
            <a:xfrm flipH="1">
              <a:off x="5485" y="8345"/>
              <a:ext cx="4233" cy="3"/>
            </a:xfrm>
            <a:prstGeom prst="line">
              <a:avLst/>
            </a:prstGeom>
            <a:ln w="9525" cap="flat" cmpd="sng">
              <a:solidFill>
                <a:srgbClr val="0000FF"/>
              </a:solidFill>
              <a:prstDash val="solid"/>
              <a:bevel/>
              <a:headEnd type="none" w="med" len="med"/>
              <a:tailEnd type="triangle" w="sm" len="med"/>
            </a:ln>
          </p:spPr>
        </p:sp>
        <p:sp>
          <p:nvSpPr>
            <p:cNvPr id="171045" name="Line 32"/>
            <p:cNvSpPr/>
            <p:nvPr/>
          </p:nvSpPr>
          <p:spPr>
            <a:xfrm>
              <a:off x="12823" y="4433"/>
              <a:ext cx="0" cy="4157"/>
            </a:xfrm>
            <a:prstGeom prst="line">
              <a:avLst/>
            </a:prstGeom>
            <a:ln w="9525" cap="flat" cmpd="sng">
              <a:solidFill>
                <a:srgbClr val="000000"/>
              </a:solidFill>
              <a:prstDash val="solid"/>
              <a:bevel/>
              <a:headEnd type="none" w="med" len="med"/>
              <a:tailEnd type="none" w="med" len="med"/>
            </a:ln>
          </p:spPr>
        </p:sp>
        <p:sp>
          <p:nvSpPr>
            <p:cNvPr id="171046" name="Line 33"/>
            <p:cNvSpPr/>
            <p:nvPr/>
          </p:nvSpPr>
          <p:spPr>
            <a:xfrm flipH="1">
              <a:off x="5485" y="8590"/>
              <a:ext cx="7338" cy="3"/>
            </a:xfrm>
            <a:prstGeom prst="line">
              <a:avLst/>
            </a:prstGeom>
            <a:ln w="9525" cap="flat" cmpd="sng">
              <a:solidFill>
                <a:srgbClr val="0000FF"/>
              </a:solidFill>
              <a:prstDash val="solid"/>
              <a:bevel/>
              <a:headEnd type="none" w="med" len="med"/>
              <a:tailEnd type="triangle" w="sm" len="med"/>
            </a:ln>
          </p:spPr>
        </p:sp>
        <p:sp>
          <p:nvSpPr>
            <p:cNvPr id="171047" name="Line 34"/>
            <p:cNvSpPr/>
            <p:nvPr/>
          </p:nvSpPr>
          <p:spPr>
            <a:xfrm>
              <a:off x="12823" y="4675"/>
              <a:ext cx="0" cy="3915"/>
            </a:xfrm>
            <a:prstGeom prst="line">
              <a:avLst/>
            </a:prstGeom>
            <a:ln w="9525" cap="flat" cmpd="sng">
              <a:solidFill>
                <a:srgbClr val="0000FF"/>
              </a:solidFill>
              <a:prstDash val="solid"/>
              <a:bevel/>
              <a:headEnd type="none" w="med" len="med"/>
              <a:tailEnd type="none" w="med" len="med"/>
            </a:ln>
          </p:spPr>
        </p:sp>
        <p:sp>
          <p:nvSpPr>
            <p:cNvPr id="171048" name="Line 35"/>
            <p:cNvSpPr/>
            <p:nvPr/>
          </p:nvSpPr>
          <p:spPr>
            <a:xfrm flipH="1">
              <a:off x="5485" y="9815"/>
              <a:ext cx="8183" cy="0"/>
            </a:xfrm>
            <a:prstGeom prst="line">
              <a:avLst/>
            </a:prstGeom>
            <a:ln w="9525" cap="flat" cmpd="sng">
              <a:solidFill>
                <a:srgbClr val="0000FF"/>
              </a:solidFill>
              <a:prstDash val="solid"/>
              <a:bevel/>
              <a:headEnd type="none" w="med" len="med"/>
              <a:tailEnd type="triangle" w="sm" len="med"/>
            </a:ln>
          </p:spPr>
        </p:sp>
        <p:sp>
          <p:nvSpPr>
            <p:cNvPr id="171049" name="Text Box 36"/>
            <p:cNvSpPr txBox="1"/>
            <p:nvPr/>
          </p:nvSpPr>
          <p:spPr>
            <a:xfrm>
              <a:off x="6330" y="8835"/>
              <a:ext cx="848" cy="735"/>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Aft>
                  <a:spcPct val="0"/>
                </a:spcAft>
                <a:buClr>
                  <a:srgbClr val="0000CC"/>
                </a:buClr>
                <a:buSzPct val="75000"/>
                <a:buNone/>
              </a:pPr>
              <a:r>
                <a:rPr lang="en-US" altLang="zh-CN" sz="2400" b="0" dirty="0">
                  <a:solidFill>
                    <a:srgbClr val="0000FF"/>
                  </a:solidFill>
                  <a:latin typeface="宋体" panose="02010600030101010101" pitchFamily="2" charset="-122"/>
                  <a:ea typeface="楷体_GB2312"/>
                </a:rPr>
                <a:t>┇</a:t>
              </a:r>
              <a:endParaRPr lang="en-US" altLang="zh-CN" sz="2400" b="0" dirty="0">
                <a:solidFill>
                  <a:srgbClr val="0000FF"/>
                </a:solidFill>
                <a:ea typeface="楷体_GB2312"/>
              </a:endParaRPr>
            </a:p>
          </p:txBody>
        </p:sp>
        <p:sp>
          <p:nvSpPr>
            <p:cNvPr id="171050" name="Line 37"/>
            <p:cNvSpPr/>
            <p:nvPr/>
          </p:nvSpPr>
          <p:spPr>
            <a:xfrm flipH="1">
              <a:off x="6330" y="6145"/>
              <a:ext cx="283" cy="0"/>
            </a:xfrm>
            <a:prstGeom prst="line">
              <a:avLst/>
            </a:prstGeom>
            <a:ln w="9525" cap="flat" cmpd="sng">
              <a:solidFill>
                <a:srgbClr val="0000FF"/>
              </a:solidFill>
              <a:prstDash val="solid"/>
              <a:bevel/>
              <a:headEnd type="oval" w="sm" len="sm"/>
              <a:tailEnd type="triangle" w="sm" len="med"/>
            </a:ln>
          </p:spPr>
        </p:sp>
        <p:sp>
          <p:nvSpPr>
            <p:cNvPr id="171051" name="Line 38"/>
            <p:cNvSpPr/>
            <p:nvPr/>
          </p:nvSpPr>
          <p:spPr>
            <a:xfrm flipH="1">
              <a:off x="9435" y="6145"/>
              <a:ext cx="283" cy="0"/>
            </a:xfrm>
            <a:prstGeom prst="line">
              <a:avLst/>
            </a:prstGeom>
            <a:ln w="9525" cap="flat" cmpd="sng">
              <a:solidFill>
                <a:srgbClr val="0000FF"/>
              </a:solidFill>
              <a:prstDash val="solid"/>
              <a:bevel/>
              <a:headEnd type="oval" w="sm" len="sm"/>
              <a:tailEnd type="triangle" w="sm" len="med"/>
            </a:ln>
          </p:spPr>
        </p:sp>
        <p:sp>
          <p:nvSpPr>
            <p:cNvPr id="171052" name="Line 39"/>
            <p:cNvSpPr/>
            <p:nvPr/>
          </p:nvSpPr>
          <p:spPr>
            <a:xfrm flipH="1">
              <a:off x="12540" y="6145"/>
              <a:ext cx="283" cy="0"/>
            </a:xfrm>
            <a:prstGeom prst="line">
              <a:avLst/>
            </a:prstGeom>
            <a:ln w="9525" cap="flat" cmpd="sng">
              <a:solidFill>
                <a:srgbClr val="0000FF"/>
              </a:solidFill>
              <a:prstDash val="solid"/>
              <a:bevel/>
              <a:headEnd type="oval" w="sm" len="sm"/>
              <a:tailEnd type="triangle" w="sm" len="med"/>
            </a:ln>
          </p:spPr>
        </p:sp>
        <p:sp>
          <p:nvSpPr>
            <p:cNvPr id="171053" name="Text Box 40"/>
            <p:cNvSpPr txBox="1"/>
            <p:nvPr/>
          </p:nvSpPr>
          <p:spPr>
            <a:xfrm>
              <a:off x="6730" y="4488"/>
              <a:ext cx="698" cy="34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Aft>
                  <a:spcPct val="0"/>
                </a:spcAft>
                <a:buClr>
                  <a:srgbClr val="0000CC"/>
                </a:buClr>
                <a:buSzPct val="75000"/>
                <a:buNone/>
              </a:pPr>
              <a:r>
                <a:rPr lang="en-US" altLang="zh-CN" sz="1400" dirty="0">
                  <a:solidFill>
                    <a:srgbClr val="0000FF"/>
                  </a:solidFill>
                  <a:ea typeface="楷体_GB2312"/>
                </a:rPr>
                <a:t>IREQ</a:t>
              </a:r>
              <a:endParaRPr lang="en-US" altLang="zh-CN" sz="1400" dirty="0">
                <a:solidFill>
                  <a:srgbClr val="0000FF"/>
                </a:solidFill>
                <a:ea typeface="楷体_GB2312"/>
              </a:endParaRPr>
            </a:p>
          </p:txBody>
        </p:sp>
        <p:sp>
          <p:nvSpPr>
            <p:cNvPr id="171054" name="Text Box 41"/>
            <p:cNvSpPr txBox="1"/>
            <p:nvPr/>
          </p:nvSpPr>
          <p:spPr>
            <a:xfrm>
              <a:off x="9813" y="4478"/>
              <a:ext cx="790" cy="35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Aft>
                  <a:spcPct val="0"/>
                </a:spcAft>
                <a:buClr>
                  <a:srgbClr val="0000CC"/>
                </a:buClr>
                <a:buSzPct val="75000"/>
                <a:buNone/>
              </a:pPr>
              <a:r>
                <a:rPr lang="en-US" altLang="zh-CN" sz="1400" dirty="0">
                  <a:solidFill>
                    <a:srgbClr val="0000FF"/>
                  </a:solidFill>
                  <a:ea typeface="楷体_GB2312"/>
                </a:rPr>
                <a:t>IREQ</a:t>
              </a:r>
              <a:endParaRPr lang="en-US" altLang="zh-CN" sz="1400" dirty="0">
                <a:solidFill>
                  <a:srgbClr val="0000FF"/>
                </a:solidFill>
                <a:ea typeface="楷体_GB2312"/>
              </a:endParaRPr>
            </a:p>
          </p:txBody>
        </p:sp>
        <p:sp>
          <p:nvSpPr>
            <p:cNvPr id="171055" name="Text Box 42"/>
            <p:cNvSpPr txBox="1"/>
            <p:nvPr/>
          </p:nvSpPr>
          <p:spPr>
            <a:xfrm>
              <a:off x="12940" y="4478"/>
              <a:ext cx="723" cy="35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Aft>
                  <a:spcPct val="0"/>
                </a:spcAft>
                <a:buClr>
                  <a:srgbClr val="0000CC"/>
                </a:buClr>
                <a:buSzPct val="75000"/>
                <a:buNone/>
              </a:pPr>
              <a:r>
                <a:rPr lang="en-US" altLang="zh-CN" sz="1400" dirty="0">
                  <a:solidFill>
                    <a:srgbClr val="0000FF"/>
                  </a:solidFill>
                  <a:ea typeface="楷体_GB2312"/>
                </a:rPr>
                <a:t>IREQ</a:t>
              </a:r>
              <a:endParaRPr lang="en-US" altLang="zh-CN" sz="1400" dirty="0">
                <a:solidFill>
                  <a:srgbClr val="0000FF"/>
                </a:solidFill>
                <a:ea typeface="楷体_GB2312"/>
              </a:endParaRPr>
            </a:p>
          </p:txBody>
        </p:sp>
        <p:sp>
          <p:nvSpPr>
            <p:cNvPr id="171056" name="Text Box 43"/>
            <p:cNvSpPr txBox="1"/>
            <p:nvPr/>
          </p:nvSpPr>
          <p:spPr>
            <a:xfrm>
              <a:off x="4478" y="5060"/>
              <a:ext cx="1132" cy="283"/>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r">
                <a:lnSpc>
                  <a:spcPct val="100000"/>
                </a:lnSpc>
                <a:spcAft>
                  <a:spcPct val="0"/>
                </a:spcAft>
                <a:buClr>
                  <a:srgbClr val="0000CC"/>
                </a:buClr>
                <a:buSzPct val="75000"/>
                <a:buNone/>
              </a:pPr>
              <a:r>
                <a:rPr lang="zh-CN" altLang="en-US" sz="1400" dirty="0">
                  <a:solidFill>
                    <a:srgbClr val="FF0000"/>
                  </a:solidFill>
                  <a:latin typeface="Times New Roman" panose="02020603050405020304" pitchFamily="18" charset="0"/>
                  <a:ea typeface="楷体_GB2312"/>
                </a:rPr>
                <a:t>中断确认</a:t>
              </a:r>
              <a:endParaRPr lang="zh-CN" altLang="en-US" sz="1400" dirty="0">
                <a:solidFill>
                  <a:srgbClr val="FF0000"/>
                </a:solidFill>
                <a:ea typeface="楷体_GB2312"/>
              </a:endParaRPr>
            </a:p>
          </p:txBody>
        </p:sp>
        <p:sp>
          <p:nvSpPr>
            <p:cNvPr id="171057" name="AutoShape 44"/>
            <p:cNvSpPr/>
            <p:nvPr/>
          </p:nvSpPr>
          <p:spPr>
            <a:xfrm>
              <a:off x="4355" y="3943"/>
              <a:ext cx="565" cy="245"/>
            </a:xfrm>
            <a:prstGeom prst="leftArrow">
              <a:avLst>
                <a:gd name="adj1" fmla="val 50000"/>
                <a:gd name="adj2" fmla="val 57524"/>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171058" name="AutoShape 45"/>
            <p:cNvSpPr/>
            <p:nvPr/>
          </p:nvSpPr>
          <p:spPr>
            <a:xfrm>
              <a:off x="7460" y="3943"/>
              <a:ext cx="565" cy="245"/>
            </a:xfrm>
            <a:prstGeom prst="leftArrow">
              <a:avLst>
                <a:gd name="adj1" fmla="val 50000"/>
                <a:gd name="adj2" fmla="val 57524"/>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171059" name="AutoShape 46"/>
            <p:cNvSpPr/>
            <p:nvPr/>
          </p:nvSpPr>
          <p:spPr>
            <a:xfrm>
              <a:off x="10565" y="3943"/>
              <a:ext cx="563" cy="245"/>
            </a:xfrm>
            <a:prstGeom prst="leftArrow">
              <a:avLst>
                <a:gd name="adj1" fmla="val 50000"/>
                <a:gd name="adj2" fmla="val 57278"/>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171060" name="Text Box 48"/>
            <p:cNvSpPr txBox="1"/>
            <p:nvPr/>
          </p:nvSpPr>
          <p:spPr>
            <a:xfrm>
              <a:off x="7178" y="6098"/>
              <a:ext cx="907" cy="34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Aft>
                  <a:spcPct val="0"/>
                </a:spcAft>
                <a:buClr>
                  <a:srgbClr val="0000CC"/>
                </a:buClr>
                <a:buSzPct val="75000"/>
                <a:buNone/>
              </a:pPr>
              <a:r>
                <a:rPr lang="en-US" altLang="zh-CN" sz="1400" dirty="0">
                  <a:solidFill>
                    <a:srgbClr val="FF0000"/>
                  </a:solidFill>
                  <a:ea typeface="楷体_GB2312"/>
                </a:rPr>
                <a:t>INTA</a:t>
              </a:r>
              <a:r>
                <a:rPr lang="en-US" altLang="zh-CN" sz="1400" baseline="-25000" dirty="0">
                  <a:solidFill>
                    <a:srgbClr val="FF0000"/>
                  </a:solidFill>
                  <a:ea typeface="楷体_GB2312"/>
                </a:rPr>
                <a:t>in</a:t>
              </a:r>
              <a:endParaRPr lang="en-US" altLang="zh-CN" sz="1400" dirty="0">
                <a:solidFill>
                  <a:srgbClr val="FF0000"/>
                </a:solidFill>
                <a:ea typeface="楷体_GB2312"/>
              </a:endParaRPr>
            </a:p>
          </p:txBody>
        </p:sp>
        <p:sp>
          <p:nvSpPr>
            <p:cNvPr id="171061" name="Line 49"/>
            <p:cNvSpPr/>
            <p:nvPr/>
          </p:nvSpPr>
          <p:spPr>
            <a:xfrm>
              <a:off x="7153" y="6080"/>
              <a:ext cx="712" cy="3"/>
            </a:xfrm>
            <a:prstGeom prst="line">
              <a:avLst/>
            </a:prstGeom>
            <a:ln w="9525" cap="flat" cmpd="sng">
              <a:solidFill>
                <a:srgbClr val="FF0000"/>
              </a:solidFill>
              <a:prstDash val="solid"/>
              <a:bevel/>
              <a:headEnd type="none" w="med" len="med"/>
              <a:tailEnd type="none" w="med" len="med"/>
            </a:ln>
          </p:spPr>
        </p:sp>
        <p:sp>
          <p:nvSpPr>
            <p:cNvPr id="171062" name="Text Box 50"/>
            <p:cNvSpPr txBox="1"/>
            <p:nvPr/>
          </p:nvSpPr>
          <p:spPr>
            <a:xfrm>
              <a:off x="10308" y="6098"/>
              <a:ext cx="907" cy="34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Aft>
                  <a:spcPct val="0"/>
                </a:spcAft>
                <a:buClr>
                  <a:srgbClr val="0000CC"/>
                </a:buClr>
                <a:buSzPct val="75000"/>
                <a:buNone/>
              </a:pPr>
              <a:r>
                <a:rPr lang="en-US" altLang="zh-CN" sz="1400" dirty="0">
                  <a:solidFill>
                    <a:srgbClr val="FF0000"/>
                  </a:solidFill>
                  <a:ea typeface="楷体_GB2312"/>
                </a:rPr>
                <a:t>INTA</a:t>
              </a:r>
              <a:r>
                <a:rPr lang="en-US" altLang="zh-CN" sz="1400" baseline="-25000" dirty="0">
                  <a:solidFill>
                    <a:srgbClr val="FF0000"/>
                  </a:solidFill>
                  <a:ea typeface="楷体_GB2312"/>
                </a:rPr>
                <a:t>in</a:t>
              </a:r>
              <a:endParaRPr lang="en-US" altLang="zh-CN" sz="1400" dirty="0">
                <a:solidFill>
                  <a:srgbClr val="FF0000"/>
                </a:solidFill>
                <a:ea typeface="楷体_GB2312"/>
              </a:endParaRPr>
            </a:p>
          </p:txBody>
        </p:sp>
        <p:sp>
          <p:nvSpPr>
            <p:cNvPr id="171063" name="Line 51"/>
            <p:cNvSpPr/>
            <p:nvPr/>
          </p:nvSpPr>
          <p:spPr>
            <a:xfrm>
              <a:off x="10283" y="6080"/>
              <a:ext cx="712" cy="3"/>
            </a:xfrm>
            <a:prstGeom prst="line">
              <a:avLst/>
            </a:prstGeom>
            <a:ln w="9525" cap="flat" cmpd="sng">
              <a:solidFill>
                <a:srgbClr val="FF0000"/>
              </a:solidFill>
              <a:prstDash val="solid"/>
              <a:bevel/>
              <a:headEnd type="none" w="med" len="med"/>
              <a:tailEnd type="none" w="med" len="med"/>
            </a:ln>
          </p:spPr>
        </p:sp>
        <p:sp>
          <p:nvSpPr>
            <p:cNvPr id="171064" name="Text Box 52"/>
            <p:cNvSpPr txBox="1"/>
            <p:nvPr/>
          </p:nvSpPr>
          <p:spPr>
            <a:xfrm>
              <a:off x="7540" y="5060"/>
              <a:ext cx="1133" cy="283"/>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r">
                <a:lnSpc>
                  <a:spcPct val="100000"/>
                </a:lnSpc>
                <a:spcAft>
                  <a:spcPct val="0"/>
                </a:spcAft>
                <a:buClr>
                  <a:srgbClr val="0000CC"/>
                </a:buClr>
                <a:buSzPct val="75000"/>
                <a:buNone/>
              </a:pPr>
              <a:r>
                <a:rPr lang="zh-CN" altLang="en-US" sz="1400" dirty="0">
                  <a:solidFill>
                    <a:srgbClr val="FF0000"/>
                  </a:solidFill>
                  <a:latin typeface="Times New Roman" panose="02020603050405020304" pitchFamily="18" charset="0"/>
                  <a:ea typeface="楷体_GB2312"/>
                </a:rPr>
                <a:t>中断确认</a:t>
              </a:r>
              <a:endParaRPr lang="zh-CN" altLang="en-US" sz="1400" dirty="0">
                <a:solidFill>
                  <a:srgbClr val="FF0000"/>
                </a:solidFill>
                <a:ea typeface="楷体_GB2312"/>
              </a:endParaRPr>
            </a:p>
          </p:txBody>
        </p:sp>
        <p:sp>
          <p:nvSpPr>
            <p:cNvPr id="171065" name="Text Box 53"/>
            <p:cNvSpPr txBox="1"/>
            <p:nvPr/>
          </p:nvSpPr>
          <p:spPr>
            <a:xfrm>
              <a:off x="10603" y="5173"/>
              <a:ext cx="1132" cy="28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r">
                <a:lnSpc>
                  <a:spcPct val="100000"/>
                </a:lnSpc>
                <a:spcAft>
                  <a:spcPct val="0"/>
                </a:spcAft>
                <a:buClr>
                  <a:srgbClr val="0000CC"/>
                </a:buClr>
                <a:buSzPct val="75000"/>
                <a:buNone/>
              </a:pPr>
              <a:r>
                <a:rPr lang="zh-CN" altLang="en-US" sz="1400" dirty="0">
                  <a:solidFill>
                    <a:srgbClr val="FF0000"/>
                  </a:solidFill>
                  <a:latin typeface="Times New Roman" panose="02020603050405020304" pitchFamily="18" charset="0"/>
                  <a:ea typeface="楷体_GB2312"/>
                </a:rPr>
                <a:t>中断确认</a:t>
              </a:r>
              <a:endParaRPr lang="zh-CN" altLang="en-US" sz="1400" dirty="0">
                <a:solidFill>
                  <a:srgbClr val="FF0000"/>
                </a:solidFill>
                <a:ea typeface="楷体_GB2312"/>
              </a:endParaRPr>
            </a:p>
          </p:txBody>
        </p:sp>
      </p:grpSp>
      <p:sp>
        <p:nvSpPr>
          <p:cNvPr id="171013" name="文本框 2"/>
          <p:cNvSpPr txBox="1"/>
          <p:nvPr/>
        </p:nvSpPr>
        <p:spPr>
          <a:xfrm>
            <a:off x="107950" y="3789363"/>
            <a:ext cx="523875" cy="22860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zh-CN" altLang="en-US" sz="2400" dirty="0">
                <a:solidFill>
                  <a:srgbClr val="FF0000"/>
                </a:solidFill>
                <a:ea typeface="楷体_GB2312"/>
                <a:sym typeface="Arial" panose="020B0604020202020204" pitchFamily="34" charset="0"/>
              </a:rPr>
              <a:t>链式判优电路</a:t>
            </a:r>
            <a:endParaRPr lang="zh-CN" altLang="en-US" sz="2400" dirty="0">
              <a:solidFill>
                <a:srgbClr val="FF0000"/>
              </a:solidFill>
              <a:ea typeface="楷体_GB2312"/>
              <a:sym typeface="Arial" panose="020B0604020202020204" pitchFamily="34" charset="0"/>
            </a:endParaRPr>
          </a:p>
        </p:txBody>
      </p:sp>
      <p:pic>
        <p:nvPicPr>
          <p:cNvPr id="171014" name="图片 1"/>
          <p:cNvPicPr>
            <a:picLocks noChangeAspect="1"/>
          </p:cNvPicPr>
          <p:nvPr/>
        </p:nvPicPr>
        <p:blipFill>
          <a:blip r:embed="rId1"/>
          <a:stretch>
            <a:fillRect/>
          </a:stretch>
        </p:blipFill>
        <p:spPr>
          <a:xfrm>
            <a:off x="4498975" y="44450"/>
            <a:ext cx="4478338" cy="2747963"/>
          </a:xfrm>
          <a:prstGeom prst="rect">
            <a:avLst/>
          </a:prstGeom>
          <a:noFill/>
          <a:ln w="9525">
            <a:noFill/>
          </a:ln>
        </p:spPr>
      </p:pic>
      <p:sp>
        <p:nvSpPr>
          <p:cNvPr id="171015" name="Text Box 4"/>
          <p:cNvSpPr txBox="1"/>
          <p:nvPr/>
        </p:nvSpPr>
        <p:spPr>
          <a:xfrm>
            <a:off x="2482850" y="765175"/>
            <a:ext cx="2241550" cy="36512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Bef>
                <a:spcPct val="50000"/>
              </a:spcBef>
              <a:spcAft>
                <a:spcPct val="0"/>
              </a:spcAft>
              <a:buClr>
                <a:srgbClr val="0000CC"/>
              </a:buClr>
              <a:buSzPct val="75000"/>
              <a:buNone/>
            </a:pPr>
            <a:r>
              <a:rPr lang="zh-CN" altLang="en-US" sz="2400" dirty="0">
                <a:solidFill>
                  <a:srgbClr val="FF0000"/>
                </a:solidFill>
                <a:ea typeface="楷体_GB2312"/>
              </a:rPr>
              <a:t>菊花链逻辑电路</a:t>
            </a:r>
            <a:endParaRPr lang="zh-CN" altLang="en-US" sz="2400" dirty="0">
              <a:solidFill>
                <a:srgbClr val="FF0000"/>
              </a:solidFill>
              <a:ea typeface="楷体_GB2312"/>
            </a:endParaRPr>
          </a:p>
        </p:txBody>
      </p:sp>
    </p:spTree>
  </p:cSld>
  <p:clrMapOvr>
    <a:masterClrMapping/>
  </p:clrMapOvr>
  <p:transition spd="slow">
    <p:zo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72035" name="Rectangle 2"/>
          <p:cNvSpPr>
            <a:spLocks noGrp="1"/>
          </p:cNvSpPr>
          <p:nvPr>
            <p:ph type="title" idx="4294967295"/>
          </p:nvPr>
        </p:nvSpPr>
        <p:spPr/>
        <p:txBody>
          <a:bodyPr vert="horz" wrap="square" lIns="91440" tIns="45720" rIns="91440" bIns="45720" anchor="b" anchorCtr="0"/>
          <a:p>
            <a:pPr eaLnBrk="1" hangingPunct="1"/>
            <a:r>
              <a:rPr lang="zh-CN" altLang="en-US" dirty="0"/>
              <a:t>中断响应</a:t>
            </a:r>
            <a:endParaRPr lang="zh-CN" altLang="en-US" dirty="0"/>
          </a:p>
        </p:txBody>
      </p:sp>
      <p:sp>
        <p:nvSpPr>
          <p:cNvPr id="99332" name="Rectangle 3"/>
          <p:cNvSpPr>
            <a:spLocks noGrp="1"/>
          </p:cNvSpPr>
          <p:nvPr>
            <p:ph type="body" idx="4294967295"/>
          </p:nvPr>
        </p:nvSpPr>
        <p:spPr>
          <a:xfrm>
            <a:off x="1182688" y="2017713"/>
            <a:ext cx="7772400" cy="3748088"/>
          </a:xfrm>
          <a:ln>
            <a:miter/>
          </a:ln>
        </p:spPr>
        <p:txBody>
          <a:bodyPr vert="horz" wrap="square" lIns="91440" tIns="45720" rIns="91440" bIns="45720" numCol="1" anchor="t" anchorCtr="0" compatLnSpc="1"/>
          <a:lstStyle/>
          <a:p>
            <a:pPr marL="342900" marR="0" lvl="0" indent="-342900" algn="l" defTabSz="914400" rtl="0" eaLnBrk="1" fontAlgn="base" latinLnBrk="0" hangingPunct="1">
              <a:lnSpc>
                <a:spcPct val="120000"/>
              </a:lnSpc>
              <a:spcBef>
                <a:spcPct val="20000"/>
              </a:spcBef>
              <a:spcAft>
                <a:spcPct val="5000"/>
              </a:spcAft>
              <a:buClr>
                <a:schemeClr val="folHlink"/>
              </a:buClr>
              <a:buSzPct val="60000"/>
              <a:buFont typeface="Wingdings" panose="05000000000000000000" pitchFamily="2" charset="2"/>
              <a:buChar char="n"/>
              <a:defRPr/>
            </a:pPr>
            <a:r>
              <a:rPr kumimoji="0" lang="zh-CN" altLang="en-US" sz="2000" b="1" i="0" u="none" strike="noStrike" kern="1200" cap="none" spc="0" normalizeH="0" baseline="0" noProof="1">
                <a:ln>
                  <a:noFill/>
                </a:ln>
                <a:solidFill>
                  <a:schemeClr val="tx2"/>
                </a:solidFill>
                <a:effectLst/>
                <a:uLnTx/>
                <a:uFillTx/>
                <a:latin typeface="+mn-lt"/>
                <a:ea typeface="+mn-ea"/>
                <a:cs typeface="+mn-cs"/>
              </a:rPr>
              <a:t>向中断源发出</a:t>
            </a:r>
            <a:r>
              <a:rPr kumimoji="0" lang="en-GB" altLang="en-US" sz="2000" b="1" i="0" u="none" strike="noStrike" kern="1200" cap="none" spc="0" normalizeH="0" baseline="0" noProof="1">
                <a:ln>
                  <a:noFill/>
                </a:ln>
                <a:solidFill>
                  <a:schemeClr val="tx2"/>
                </a:solidFill>
                <a:effectLst/>
                <a:uLnTx/>
                <a:uFillTx/>
                <a:latin typeface="+mn-lt"/>
                <a:ea typeface="+mn-ea"/>
                <a:cs typeface="+mn-cs"/>
              </a:rPr>
              <a:t>INTA</a:t>
            </a:r>
            <a:r>
              <a:rPr kumimoji="0" lang="zh-CN" altLang="en-US" sz="2000" b="1" i="0" u="none" strike="noStrike" kern="1200" cap="none" spc="0" normalizeH="0" baseline="0" noProof="1">
                <a:ln>
                  <a:noFill/>
                </a:ln>
                <a:solidFill>
                  <a:schemeClr val="tx2"/>
                </a:solidFill>
                <a:effectLst/>
                <a:uLnTx/>
                <a:uFillTx/>
                <a:latin typeface="+mn-lt"/>
                <a:ea typeface="+mn-ea"/>
                <a:cs typeface="+mn-cs"/>
              </a:rPr>
              <a:t>中断响应信号；</a:t>
            </a:r>
            <a:endParaRPr kumimoji="0" lang="zh-CN" altLang="en-US" sz="2000" b="1" i="0" u="none" strike="noStrike" kern="1200" cap="none" spc="0" normalizeH="0" baseline="0" noProof="1">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5000"/>
              </a:spcAft>
              <a:buClr>
                <a:schemeClr val="folHlink"/>
              </a:buClr>
              <a:buSzPct val="60000"/>
              <a:buFont typeface="Wingdings" panose="05000000000000000000" pitchFamily="2" charset="2"/>
              <a:buChar char="n"/>
              <a:defRPr/>
            </a:pPr>
            <a:r>
              <a:rPr kumimoji="0" lang="zh-CN" altLang="en-US" sz="2000" b="1" i="0" u="none" strike="noStrike" kern="1200" cap="none" spc="0" normalizeH="0" baseline="0" noProof="1">
                <a:ln>
                  <a:noFill/>
                </a:ln>
                <a:solidFill>
                  <a:srgbClr val="FF0000"/>
                </a:solidFill>
                <a:effectLst/>
                <a:uLnTx/>
                <a:uFillTx/>
                <a:latin typeface="+mn-lt"/>
                <a:ea typeface="+mn-ea"/>
                <a:cs typeface="+mn-cs"/>
              </a:rPr>
              <a:t>关中断（进入中断服务程序之前，</a:t>
            </a:r>
            <a:endParaRPr kumimoji="0" lang="zh-CN" altLang="en-US" sz="2000" b="1" i="0" u="none" strike="noStrike" kern="1200" cap="none" spc="0" normalizeH="0" baseline="0" noProof="1">
              <a:ln>
                <a:noFill/>
              </a:ln>
              <a:solidFill>
                <a:srgbClr val="FF0000"/>
              </a:solidFill>
              <a:effectLst/>
              <a:uLnTx/>
              <a:uFillTx/>
              <a:latin typeface="+mn-lt"/>
              <a:ea typeface="+mn-ea"/>
              <a:cs typeface="+mn-cs"/>
            </a:endParaRPr>
          </a:p>
          <a:p>
            <a:pPr marL="0" marR="0" lvl="0" indent="0" algn="l" defTabSz="914400" rtl="0" eaLnBrk="1" fontAlgn="base" latinLnBrk="0" hangingPunct="1">
              <a:lnSpc>
                <a:spcPct val="120000"/>
              </a:lnSpc>
              <a:spcBef>
                <a:spcPct val="20000"/>
              </a:spcBef>
              <a:spcAft>
                <a:spcPct val="5000"/>
              </a:spcAft>
              <a:buClr>
                <a:schemeClr val="folHlink"/>
              </a:buClr>
              <a:buSzPct val="60000"/>
              <a:buFont typeface="Wingdings" panose="05000000000000000000" pitchFamily="2" charset="2"/>
              <a:buNone/>
              <a:defRPr/>
            </a:pPr>
            <a:r>
              <a:rPr kumimoji="0" lang="zh-CN" altLang="en-US" sz="2000" b="1" i="0" u="none" strike="noStrike" kern="1200" cap="none" spc="0" normalizeH="0" baseline="0" noProof="1">
                <a:ln>
                  <a:noFill/>
                </a:ln>
                <a:solidFill>
                  <a:srgbClr val="FF0000"/>
                </a:solidFill>
                <a:effectLst/>
                <a:uLnTx/>
                <a:uFillTx/>
                <a:latin typeface="+mn-lt"/>
                <a:ea typeface="+mn-ea"/>
                <a:cs typeface="+mn-cs"/>
              </a:rPr>
              <a:t>    系统自动进行）</a:t>
            </a:r>
            <a:endParaRPr kumimoji="0" lang="zh-CN" altLang="en-US" sz="2000" b="1" i="0" u="none" strike="noStrike" kern="1200" cap="none" spc="0" normalizeH="0" baseline="0" noProof="1">
              <a:ln>
                <a:noFill/>
              </a:ln>
              <a:solidFill>
                <a:srgbClr val="FF0000"/>
              </a:solidFill>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5000"/>
              </a:spcAft>
              <a:buClr>
                <a:schemeClr val="folHlink"/>
              </a:buClr>
              <a:buSzPct val="60000"/>
              <a:buFont typeface="Wingdings" panose="05000000000000000000" pitchFamily="2" charset="2"/>
              <a:buChar char="n"/>
              <a:defRPr/>
            </a:pPr>
            <a:r>
              <a:rPr kumimoji="0" lang="zh-CN" altLang="en-US" sz="2000" b="1" i="0" u="none" strike="noStrike" kern="1200" cap="none" spc="0" normalizeH="0" baseline="0" noProof="1">
                <a:ln>
                  <a:noFill/>
                </a:ln>
                <a:solidFill>
                  <a:schemeClr val="tx2"/>
                </a:solidFill>
                <a:effectLst/>
                <a:uLnTx/>
                <a:uFillTx/>
                <a:latin typeface="+mn-lt"/>
                <a:ea typeface="+mn-ea"/>
                <a:cs typeface="+mn-cs"/>
              </a:rPr>
              <a:t>保护硬件现场</a:t>
            </a:r>
            <a:endParaRPr kumimoji="0" lang="zh-CN" altLang="en-US" sz="2000" b="1" i="0" u="none" strike="noStrike" kern="1200" cap="none" spc="0" normalizeH="0" baseline="0" noProof="1">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5000"/>
              </a:spcAft>
              <a:buClr>
                <a:schemeClr val="hlink"/>
              </a:buClr>
              <a:buSzPct val="55000"/>
              <a:buFont typeface="Wingdings" panose="05000000000000000000" pitchFamily="2" charset="2"/>
              <a:buChar char="n"/>
              <a:defRPr/>
            </a:pPr>
            <a:r>
              <a:rPr kumimoji="0" lang="zh-CN" altLang="en-US" sz="2000" b="1" i="0" u="none" strike="noStrike" kern="1200" cap="none" spc="0" normalizeH="0" baseline="0" noProof="1">
                <a:ln>
                  <a:noFill/>
                </a:ln>
                <a:solidFill>
                  <a:schemeClr val="tx1"/>
                </a:solidFill>
                <a:effectLst/>
                <a:uLnTx/>
                <a:uFillTx/>
                <a:latin typeface="+mn-lt"/>
                <a:ea typeface="+mn-ea"/>
                <a:cs typeface="+mn-cs"/>
              </a:rPr>
              <a:t>将</a:t>
            </a:r>
            <a:r>
              <a:rPr kumimoji="0" lang="en-GB" altLang="en-US" sz="2000" b="1" i="0" u="none" strike="noStrike" kern="1200" cap="none" spc="0" normalizeH="0" baseline="0" noProof="1">
                <a:ln>
                  <a:noFill/>
                </a:ln>
                <a:solidFill>
                  <a:schemeClr val="tx1"/>
                </a:solidFill>
                <a:effectLst/>
                <a:uLnTx/>
                <a:uFillTx/>
                <a:latin typeface="+mn-lt"/>
                <a:ea typeface="+mn-ea"/>
                <a:cs typeface="+mn-cs"/>
              </a:rPr>
              <a:t>FLAGS</a:t>
            </a:r>
            <a:r>
              <a:rPr kumimoji="0" lang="zh-CN" altLang="en-US" sz="2000" b="1" i="0" u="none" strike="noStrike" kern="1200" cap="none" spc="0" normalizeH="0" baseline="0" noProof="1">
                <a:ln>
                  <a:noFill/>
                </a:ln>
                <a:solidFill>
                  <a:schemeClr val="tx1"/>
                </a:solidFill>
                <a:effectLst/>
                <a:uLnTx/>
                <a:uFillTx/>
                <a:latin typeface="+mn-lt"/>
                <a:ea typeface="+mn-ea"/>
                <a:cs typeface="+mn-cs"/>
              </a:rPr>
              <a:t>压入堆栈</a:t>
            </a:r>
            <a:endParaRPr kumimoji="0" lang="zh-CN" altLang="en-US" sz="2000" b="1"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5000"/>
              </a:spcAft>
              <a:buClr>
                <a:schemeClr val="folHlink"/>
              </a:buClr>
              <a:buSzPct val="60000"/>
              <a:buFont typeface="Wingdings" panose="05000000000000000000" pitchFamily="2" charset="2"/>
              <a:buChar char="n"/>
              <a:defRPr/>
            </a:pPr>
            <a:r>
              <a:rPr kumimoji="0" lang="zh-CN" altLang="en-US" sz="2000" b="1" i="0" u="none" strike="noStrike" kern="1200" cap="none" spc="0" normalizeH="0" baseline="0" noProof="1">
                <a:ln>
                  <a:noFill/>
                </a:ln>
                <a:solidFill>
                  <a:schemeClr val="tx2"/>
                </a:solidFill>
                <a:effectLst/>
                <a:uLnTx/>
                <a:uFillTx/>
                <a:latin typeface="+mn-lt"/>
                <a:ea typeface="+mn-ea"/>
                <a:cs typeface="+mn-cs"/>
              </a:rPr>
              <a:t>保护断点</a:t>
            </a:r>
            <a:endParaRPr kumimoji="0" lang="zh-CN" altLang="en-US" sz="2000" b="1" i="0" u="none" strike="noStrike" kern="1200" cap="none" spc="0" normalizeH="0" baseline="0" noProof="1">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5000"/>
              </a:spcAft>
              <a:buClr>
                <a:schemeClr val="hlink"/>
              </a:buClr>
              <a:buSzPct val="55000"/>
              <a:buFont typeface="Wingdings" panose="05000000000000000000" pitchFamily="2" charset="2"/>
              <a:buChar char="n"/>
              <a:defRPr/>
            </a:pPr>
            <a:r>
              <a:rPr kumimoji="0" lang="zh-CN" altLang="en-US" sz="2000" b="1" i="0" u="none" strike="noStrike" kern="1200" cap="none" spc="0" normalizeH="0" baseline="0" noProof="1">
                <a:ln>
                  <a:noFill/>
                </a:ln>
                <a:solidFill>
                  <a:schemeClr val="tx1"/>
                </a:solidFill>
                <a:effectLst/>
                <a:uLnTx/>
                <a:uFillTx/>
                <a:latin typeface="+mn-lt"/>
                <a:ea typeface="+mn-ea"/>
                <a:cs typeface="+mn-cs"/>
              </a:rPr>
              <a:t>将</a:t>
            </a:r>
            <a:r>
              <a:rPr kumimoji="0" lang="en-GB" altLang="en-US" sz="2000" b="1" i="0" u="none" strike="noStrike" kern="1200" cap="none" spc="0" normalizeH="0" baseline="0" noProof="1">
                <a:ln>
                  <a:noFill/>
                </a:ln>
                <a:solidFill>
                  <a:schemeClr val="tx1"/>
                </a:solidFill>
                <a:effectLst/>
                <a:uLnTx/>
                <a:uFillTx/>
                <a:latin typeface="+mn-lt"/>
                <a:ea typeface="+mn-ea"/>
                <a:cs typeface="+mn-cs"/>
              </a:rPr>
              <a:t>CS</a:t>
            </a:r>
            <a:r>
              <a:rPr kumimoji="0" lang="zh-CN" altLang="en-US" sz="2000" b="1" i="0" u="none" strike="noStrike" kern="1200" cap="none" spc="0" normalizeH="0" baseline="0" noProof="1">
                <a:ln>
                  <a:noFill/>
                </a:ln>
                <a:solidFill>
                  <a:schemeClr val="tx1"/>
                </a:solidFill>
                <a:effectLst/>
                <a:uLnTx/>
                <a:uFillTx/>
                <a:latin typeface="+mn-lt"/>
                <a:ea typeface="+mn-ea"/>
                <a:cs typeface="+mn-cs"/>
              </a:rPr>
              <a:t>、</a:t>
            </a:r>
            <a:r>
              <a:rPr kumimoji="0" lang="en-GB" altLang="en-US" sz="2000" b="1" i="0" u="none" strike="noStrike" kern="1200" cap="none" spc="0" normalizeH="0" baseline="0" noProof="1">
                <a:ln>
                  <a:noFill/>
                </a:ln>
                <a:solidFill>
                  <a:schemeClr val="tx1"/>
                </a:solidFill>
                <a:effectLst/>
                <a:uLnTx/>
                <a:uFillTx/>
                <a:latin typeface="+mn-lt"/>
                <a:ea typeface="+mn-ea"/>
                <a:cs typeface="+mn-cs"/>
              </a:rPr>
              <a:t>IP</a:t>
            </a:r>
            <a:r>
              <a:rPr kumimoji="0" lang="zh-CN" altLang="en-US" sz="2000" b="1" i="0" u="none" strike="noStrike" kern="1200" cap="none" spc="0" normalizeH="0" baseline="0" noProof="1">
                <a:ln>
                  <a:noFill/>
                </a:ln>
                <a:solidFill>
                  <a:schemeClr val="tx1"/>
                </a:solidFill>
                <a:effectLst/>
                <a:uLnTx/>
                <a:uFillTx/>
                <a:latin typeface="+mn-lt"/>
                <a:ea typeface="+mn-ea"/>
                <a:cs typeface="+mn-cs"/>
              </a:rPr>
              <a:t>压入堆栈</a:t>
            </a:r>
            <a:endParaRPr kumimoji="0" lang="zh-CN" altLang="en-US" sz="2000" b="1"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5000"/>
              </a:spcAft>
              <a:buClr>
                <a:schemeClr val="folHlink"/>
              </a:buClr>
              <a:buSzPct val="60000"/>
              <a:buFont typeface="Wingdings" panose="05000000000000000000" pitchFamily="2" charset="2"/>
              <a:buChar char="n"/>
              <a:defRPr/>
            </a:pPr>
            <a:r>
              <a:rPr kumimoji="0" lang="zh-CN" altLang="en-US" sz="2000" b="1" i="0" u="none" strike="noStrike" kern="1200" cap="none" spc="0" normalizeH="0" baseline="0" noProof="1">
                <a:ln>
                  <a:noFill/>
                </a:ln>
                <a:solidFill>
                  <a:schemeClr val="tx2"/>
                </a:solidFill>
                <a:effectLst/>
                <a:uLnTx/>
                <a:uFillTx/>
                <a:latin typeface="+mn-lt"/>
                <a:ea typeface="+mn-ea"/>
                <a:cs typeface="+mn-cs"/>
              </a:rPr>
              <a:t>获得中断服务程序入口地址</a:t>
            </a:r>
            <a:endParaRPr kumimoji="0" lang="zh-CN" altLang="en-US" sz="2000" b="1" i="0" u="none" strike="noStrike" kern="1200" cap="none" spc="0" normalizeH="0" baseline="0" noProof="1">
              <a:ln>
                <a:noFill/>
              </a:ln>
              <a:solidFill>
                <a:schemeClr val="tx2"/>
              </a:solidFill>
              <a:effectLst/>
              <a:uLnTx/>
              <a:uFillTx/>
              <a:latin typeface="+mn-lt"/>
              <a:ea typeface="+mn-ea"/>
              <a:cs typeface="+mn-cs"/>
            </a:endParaRPr>
          </a:p>
        </p:txBody>
      </p:sp>
      <p:sp>
        <p:nvSpPr>
          <p:cNvPr id="99333" name="Text Box 4"/>
          <p:cNvSpPr txBox="1"/>
          <p:nvPr/>
        </p:nvSpPr>
        <p:spPr>
          <a:xfrm>
            <a:off x="7235825" y="2781300"/>
            <a:ext cx="431800" cy="22256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000" dirty="0">
                <a:solidFill>
                  <a:srgbClr val="FF0000"/>
                </a:solidFill>
                <a:latin typeface="Times New Roman" panose="02020603050405020304" pitchFamily="18" charset="0"/>
                <a:ea typeface="楷体_GB2312"/>
              </a:rPr>
              <a:t>由硬件系统完成</a:t>
            </a:r>
            <a:endParaRPr lang="zh-CN" altLang="en-US" sz="2000" dirty="0">
              <a:solidFill>
                <a:srgbClr val="FF0000"/>
              </a:solidFill>
              <a:latin typeface="Times New Roman" panose="02020603050405020304" pitchFamily="18" charset="0"/>
              <a:ea typeface="楷体_GB2312"/>
            </a:endParaRPr>
          </a:p>
        </p:txBody>
      </p:sp>
      <p:sp>
        <p:nvSpPr>
          <p:cNvPr id="99334" name="Line 7"/>
          <p:cNvSpPr/>
          <p:nvPr/>
        </p:nvSpPr>
        <p:spPr>
          <a:xfrm>
            <a:off x="3059113" y="2060575"/>
            <a:ext cx="838200" cy="0"/>
          </a:xfrm>
          <a:prstGeom prst="line">
            <a:avLst/>
          </a:prstGeom>
          <a:ln w="25400" cap="sq" cmpd="sng">
            <a:solidFill>
              <a:schemeClr val="tx1"/>
            </a:solidFill>
            <a:prstDash val="solid"/>
            <a:bevel/>
            <a:headEnd type="none" w="med" len="med"/>
            <a:tailEnd type="none" w="med" len="med"/>
          </a:ln>
        </p:spPr>
      </p:sp>
      <p:sp>
        <p:nvSpPr>
          <p:cNvPr id="99335" name="AutoShape 8"/>
          <p:cNvSpPr/>
          <p:nvPr/>
        </p:nvSpPr>
        <p:spPr>
          <a:xfrm rot="10800000">
            <a:off x="6516688" y="2060575"/>
            <a:ext cx="287337" cy="3529013"/>
          </a:xfrm>
          <a:prstGeom prst="leftBrace">
            <a:avLst>
              <a:gd name="adj1" fmla="val 101665"/>
              <a:gd name="adj2" fmla="val 50000"/>
            </a:avLst>
          </a:prstGeom>
          <a:noFill/>
          <a:ln w="25400" cap="sq"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9332">
                                            <p:txEl>
                                              <p:charRg st="0" end="18"/>
                                            </p:txEl>
                                          </p:spTgt>
                                        </p:tgtEl>
                                        <p:attrNameLst>
                                          <p:attrName>style.visibility</p:attrName>
                                        </p:attrNameLst>
                                      </p:cBhvr>
                                      <p:to>
                                        <p:strVal val="visible"/>
                                      </p:to>
                                    </p:set>
                                    <p:animEffect transition="in" filter="wipe(left)">
                                      <p:cBhvr>
                                        <p:cTn id="7" dur="500"/>
                                        <p:tgtEl>
                                          <p:spTgt spid="99332">
                                            <p:txEl>
                                              <p:charRg st="0" end="18"/>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9334"/>
                                        </p:tgtEl>
                                        <p:attrNameLst>
                                          <p:attrName>style.visibility</p:attrName>
                                        </p:attrNameLst>
                                      </p:cBhvr>
                                      <p:to>
                                        <p:strVal val="visible"/>
                                      </p:to>
                                    </p:set>
                                    <p:animEffect transition="in" filter="wipe(left)">
                                      <p:cBhvr>
                                        <p:cTn id="11" dur="500"/>
                                        <p:tgtEl>
                                          <p:spTgt spid="9933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9332">
                                            <p:txEl>
                                              <p:charRg st="18" end="22"/>
                                            </p:txEl>
                                          </p:spTgt>
                                        </p:tgtEl>
                                        <p:attrNameLst>
                                          <p:attrName>style.visibility</p:attrName>
                                        </p:attrNameLst>
                                      </p:cBhvr>
                                      <p:to>
                                        <p:strVal val="visible"/>
                                      </p:to>
                                    </p:set>
                                    <p:animEffect transition="in" filter="wipe(left)">
                                      <p:cBhvr>
                                        <p:cTn id="16" dur="500"/>
                                        <p:tgtEl>
                                          <p:spTgt spid="99332">
                                            <p:txEl>
                                              <p:charRg st="18" end="2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99332">
                                            <p:txEl>
                                              <p:pRg st="2" end="2"/>
                                            </p:txEl>
                                          </p:spTgt>
                                        </p:tgtEl>
                                        <p:attrNameLst>
                                          <p:attrName>style.visibility</p:attrName>
                                        </p:attrNameLst>
                                      </p:cBhvr>
                                      <p:to>
                                        <p:strVal val="visible"/>
                                      </p:to>
                                    </p:set>
                                    <p:animEffect transition="in" filter="wipe(left)">
                                      <p:cBhvr>
                                        <p:cTn id="21" dur="500"/>
                                        <p:tgtEl>
                                          <p:spTgt spid="99332">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9332">
                                            <p:txEl>
                                              <p:charRg st="22" end="29"/>
                                            </p:txEl>
                                          </p:spTgt>
                                        </p:tgtEl>
                                        <p:attrNameLst>
                                          <p:attrName>style.visibility</p:attrName>
                                        </p:attrNameLst>
                                      </p:cBhvr>
                                      <p:to>
                                        <p:strVal val="visible"/>
                                      </p:to>
                                    </p:set>
                                    <p:animEffect transition="in" filter="wipe(left)">
                                      <p:cBhvr>
                                        <p:cTn id="26" dur="500"/>
                                        <p:tgtEl>
                                          <p:spTgt spid="99332">
                                            <p:txEl>
                                              <p:charRg st="22" end="29"/>
                                            </p:txEl>
                                          </p:spTgt>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99332">
                                            <p:txEl>
                                              <p:charRg st="29" end="40"/>
                                            </p:txEl>
                                          </p:spTgt>
                                        </p:tgtEl>
                                        <p:attrNameLst>
                                          <p:attrName>style.visibility</p:attrName>
                                        </p:attrNameLst>
                                      </p:cBhvr>
                                      <p:to>
                                        <p:strVal val="visible"/>
                                      </p:to>
                                    </p:set>
                                    <p:animEffect transition="in" filter="wipe(left)">
                                      <p:cBhvr>
                                        <p:cTn id="30" dur="500"/>
                                        <p:tgtEl>
                                          <p:spTgt spid="99332">
                                            <p:txEl>
                                              <p:charRg st="29" end="4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99332">
                                            <p:txEl>
                                              <p:charRg st="40" end="45"/>
                                            </p:txEl>
                                          </p:spTgt>
                                        </p:tgtEl>
                                        <p:attrNameLst>
                                          <p:attrName>style.visibility</p:attrName>
                                        </p:attrNameLst>
                                      </p:cBhvr>
                                      <p:to>
                                        <p:strVal val="visible"/>
                                      </p:to>
                                    </p:set>
                                    <p:animEffect transition="in" filter="wipe(left)">
                                      <p:cBhvr>
                                        <p:cTn id="35" dur="500"/>
                                        <p:tgtEl>
                                          <p:spTgt spid="99332">
                                            <p:txEl>
                                              <p:charRg st="40" end="45"/>
                                            </p:txEl>
                                          </p:spTgt>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99332">
                                            <p:txEl>
                                              <p:charRg st="45" end="56"/>
                                            </p:txEl>
                                          </p:spTgt>
                                        </p:tgtEl>
                                        <p:attrNameLst>
                                          <p:attrName>style.visibility</p:attrName>
                                        </p:attrNameLst>
                                      </p:cBhvr>
                                      <p:to>
                                        <p:strVal val="visible"/>
                                      </p:to>
                                    </p:set>
                                    <p:animEffect transition="in" filter="wipe(left)">
                                      <p:cBhvr>
                                        <p:cTn id="39" dur="500"/>
                                        <p:tgtEl>
                                          <p:spTgt spid="99332">
                                            <p:txEl>
                                              <p:charRg st="45" end="5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99332">
                                            <p:txEl>
                                              <p:charRg st="56" end="69"/>
                                            </p:txEl>
                                          </p:spTgt>
                                        </p:tgtEl>
                                        <p:attrNameLst>
                                          <p:attrName>style.visibility</p:attrName>
                                        </p:attrNameLst>
                                      </p:cBhvr>
                                      <p:to>
                                        <p:strVal val="visible"/>
                                      </p:to>
                                    </p:set>
                                    <p:animEffect transition="in" filter="wipe(left)">
                                      <p:cBhvr>
                                        <p:cTn id="44" dur="500"/>
                                        <p:tgtEl>
                                          <p:spTgt spid="99332">
                                            <p:txEl>
                                              <p:charRg st="56" end="69"/>
                                            </p:txEl>
                                          </p:spTgt>
                                        </p:tgtEl>
                                      </p:cBhvr>
                                    </p:animEffect>
                                  </p:childTnLst>
                                </p:cTn>
                              </p:par>
                            </p:childTnLst>
                          </p:cTn>
                        </p:par>
                        <p:par>
                          <p:cTn id="45" fill="hold">
                            <p:stCondLst>
                              <p:cond delay="500"/>
                            </p:stCondLst>
                            <p:childTnLst>
                              <p:par>
                                <p:cTn id="46" presetID="22" presetClass="entr" presetSubtype="1" fill="hold" grpId="0" nodeType="afterEffect">
                                  <p:stCondLst>
                                    <p:cond delay="0"/>
                                  </p:stCondLst>
                                  <p:childTnLst>
                                    <p:set>
                                      <p:cBhvr>
                                        <p:cTn id="47" dur="1" fill="hold">
                                          <p:stCondLst>
                                            <p:cond delay="0"/>
                                          </p:stCondLst>
                                        </p:cTn>
                                        <p:tgtEl>
                                          <p:spTgt spid="99335"/>
                                        </p:tgtEl>
                                        <p:attrNameLst>
                                          <p:attrName>style.visibility</p:attrName>
                                        </p:attrNameLst>
                                      </p:cBhvr>
                                      <p:to>
                                        <p:strVal val="visible"/>
                                      </p:to>
                                    </p:set>
                                    <p:animEffect transition="in" filter="wipe(up)">
                                      <p:cBhvr>
                                        <p:cTn id="48" dur="500"/>
                                        <p:tgtEl>
                                          <p:spTgt spid="99335"/>
                                        </p:tgtEl>
                                      </p:cBhvr>
                                    </p:animEffect>
                                  </p:childTnLst>
                                </p:cTn>
                              </p:par>
                            </p:childTnLst>
                          </p:cTn>
                        </p:par>
                        <p:par>
                          <p:cTn id="49" fill="hold">
                            <p:stCondLst>
                              <p:cond delay="1000"/>
                            </p:stCondLst>
                            <p:childTnLst>
                              <p:par>
                                <p:cTn id="50" presetID="22" presetClass="entr" presetSubtype="1" fill="hold" grpId="0" nodeType="afterEffect">
                                  <p:stCondLst>
                                    <p:cond delay="0"/>
                                  </p:stCondLst>
                                  <p:childTnLst>
                                    <p:set>
                                      <p:cBhvr>
                                        <p:cTn id="51" dur="1" fill="hold">
                                          <p:stCondLst>
                                            <p:cond delay="0"/>
                                          </p:stCondLst>
                                        </p:cTn>
                                        <p:tgtEl>
                                          <p:spTgt spid="99333"/>
                                        </p:tgtEl>
                                        <p:attrNameLst>
                                          <p:attrName>style.visibility</p:attrName>
                                        </p:attrNameLst>
                                      </p:cBhvr>
                                      <p:to>
                                        <p:strVal val="visible"/>
                                      </p:to>
                                    </p:set>
                                    <p:animEffect transition="in" filter="wipe(up)">
                                      <p:cBhvr>
                                        <p:cTn id="52" dur="500"/>
                                        <p:tgtEl>
                                          <p:spTgt spid="99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3" grpId="0"/>
      <p:bldP spid="99335" grpId="0"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73059" name="Rectangle 2"/>
          <p:cNvSpPr>
            <a:spLocks noGrp="1"/>
          </p:cNvSpPr>
          <p:nvPr>
            <p:ph type="title" idx="4294967295"/>
          </p:nvPr>
        </p:nvSpPr>
        <p:spPr>
          <a:xfrm>
            <a:off x="827088" y="1087438"/>
            <a:ext cx="8316912" cy="685800"/>
          </a:xfrm>
        </p:spPr>
        <p:txBody>
          <a:bodyPr vert="horz" wrap="square" lIns="91440" tIns="45720" rIns="91440" bIns="45720" anchor="b" anchorCtr="0"/>
          <a:p>
            <a:pPr eaLnBrk="1" hangingPunct="1"/>
            <a:r>
              <a:rPr lang="zh-CN" altLang="en-US" sz="4000" dirty="0"/>
              <a:t>中断服务子程序（响应、处理、返回）</a:t>
            </a:r>
            <a:endParaRPr lang="zh-CN" altLang="en-US" sz="4000" dirty="0"/>
          </a:p>
        </p:txBody>
      </p:sp>
      <p:sp>
        <p:nvSpPr>
          <p:cNvPr id="101380" name="Rectangle 3"/>
          <p:cNvSpPr>
            <a:spLocks noGrp="1"/>
          </p:cNvSpPr>
          <p:nvPr>
            <p:ph type="body" idx="4294967295"/>
          </p:nvPr>
        </p:nvSpPr>
        <p:spPr>
          <a:xfrm>
            <a:off x="1216025" y="2060575"/>
            <a:ext cx="7388225" cy="4032250"/>
          </a:xfrm>
        </p:spPr>
        <p:txBody>
          <a:bodyPr vert="horz" wrap="square" lIns="91440" tIns="45720" rIns="91440" bIns="45720" anchor="t" anchorCtr="0"/>
          <a:p>
            <a:pPr eaLnBrk="1" hangingPunct="1"/>
            <a:r>
              <a:rPr lang="zh-CN" altLang="en-US" dirty="0"/>
              <a:t>保护软件现场（保存通用寄存器等）</a:t>
            </a:r>
            <a:endParaRPr lang="zh-CN" altLang="en-US" dirty="0"/>
          </a:p>
          <a:p>
            <a:pPr eaLnBrk="1" hangingPunct="1"/>
            <a:r>
              <a:rPr lang="zh-CN" altLang="en-US" dirty="0"/>
              <a:t>开中断（</a:t>
            </a:r>
            <a:r>
              <a:rPr lang="en-US" altLang="zh-CN" dirty="0"/>
              <a:t>STI）</a:t>
            </a:r>
            <a:endParaRPr lang="en-US" altLang="zh-CN" dirty="0"/>
          </a:p>
          <a:p>
            <a:pPr eaLnBrk="1" hangingPunct="1"/>
            <a:r>
              <a:rPr lang="zh-CN" altLang="en-US" dirty="0"/>
              <a:t>中断处理</a:t>
            </a:r>
            <a:endParaRPr lang="zh-CN" altLang="en-US" dirty="0"/>
          </a:p>
          <a:p>
            <a:pPr eaLnBrk="1" hangingPunct="1"/>
            <a:r>
              <a:rPr lang="zh-CN" altLang="en-US" dirty="0"/>
              <a:t>关中断（</a:t>
            </a:r>
            <a:r>
              <a:rPr lang="en-US" altLang="zh-CN" dirty="0"/>
              <a:t>CLI）</a:t>
            </a:r>
            <a:endParaRPr lang="zh-CN" altLang="en-US" dirty="0"/>
          </a:p>
          <a:p>
            <a:pPr eaLnBrk="1" hangingPunct="1"/>
            <a:r>
              <a:rPr lang="zh-CN" altLang="en-US" dirty="0"/>
              <a:t>恢复现场（恢复通用寄存器等）</a:t>
            </a:r>
            <a:endParaRPr lang="zh-CN" altLang="en-US" dirty="0"/>
          </a:p>
          <a:p>
            <a:pPr eaLnBrk="1" hangingPunct="1"/>
            <a:r>
              <a:rPr lang="zh-CN" altLang="en-US" dirty="0"/>
              <a:t>中断返回</a:t>
            </a:r>
            <a:endParaRPr lang="zh-CN" altLang="en-US" dirty="0"/>
          </a:p>
        </p:txBody>
      </p:sp>
      <p:sp>
        <p:nvSpPr>
          <p:cNvPr id="173061" name="文本框 2"/>
          <p:cNvSpPr txBox="1"/>
          <p:nvPr/>
        </p:nvSpPr>
        <p:spPr>
          <a:xfrm>
            <a:off x="4427855" y="4724718"/>
            <a:ext cx="3816350" cy="83026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eaLnBrk="1" hangingPunct="1">
              <a:lnSpc>
                <a:spcPct val="100000"/>
              </a:lnSpc>
              <a:spcBef>
                <a:spcPct val="0"/>
              </a:spcBef>
              <a:spcAft>
                <a:spcPct val="0"/>
              </a:spcAft>
              <a:buClrTx/>
              <a:buSzTx/>
              <a:buFont typeface="Arial" panose="020B0604020202020204" pitchFamily="34" charset="0"/>
              <a:buNone/>
            </a:pPr>
            <a:r>
              <a:rPr lang="zh-CN" altLang="en-US" sz="2400" b="0" dirty="0">
                <a:solidFill>
                  <a:schemeClr val="tx1"/>
                </a:solidFill>
                <a:ea typeface="楷体_GB2312"/>
              </a:rPr>
              <a:t>执行</a:t>
            </a:r>
            <a:r>
              <a:rPr lang="en-US" altLang="zh-CN" sz="2400" b="0" dirty="0">
                <a:solidFill>
                  <a:schemeClr val="tx1"/>
                </a:solidFill>
                <a:ea typeface="楷体_GB2312"/>
              </a:rPr>
              <a:t>IRET</a:t>
            </a:r>
            <a:r>
              <a:rPr lang="zh-CN" altLang="en-US" sz="2400" b="0" dirty="0">
                <a:solidFill>
                  <a:schemeClr val="tx1"/>
                </a:solidFill>
                <a:ea typeface="楷体_GB2312"/>
              </a:rPr>
              <a:t>指令，使</a:t>
            </a:r>
            <a:r>
              <a:rPr lang="en-US" altLang="zh-CN" sz="2400" b="0" dirty="0">
                <a:solidFill>
                  <a:schemeClr val="tx1"/>
                </a:solidFill>
                <a:ea typeface="楷体_GB2312"/>
              </a:rPr>
              <a:t>IP、CS</a:t>
            </a:r>
            <a:r>
              <a:rPr lang="zh-CN" altLang="en-US" sz="2400" b="0" dirty="0">
                <a:solidFill>
                  <a:schemeClr val="tx1"/>
                </a:solidFill>
                <a:ea typeface="楷体_GB2312"/>
              </a:rPr>
              <a:t>和</a:t>
            </a:r>
            <a:r>
              <a:rPr lang="en-US" altLang="zh-CN" sz="2400" b="0" dirty="0">
                <a:solidFill>
                  <a:schemeClr val="tx1"/>
                </a:solidFill>
                <a:ea typeface="楷体_GB2312"/>
              </a:rPr>
              <a:t>FLAGS</a:t>
            </a:r>
            <a:r>
              <a:rPr lang="zh-CN" altLang="en-US" sz="2400" b="0" dirty="0">
                <a:solidFill>
                  <a:schemeClr val="tx1"/>
                </a:solidFill>
                <a:ea typeface="楷体_GB2312"/>
              </a:rPr>
              <a:t>从堆栈弹出</a:t>
            </a:r>
            <a:endParaRPr lang="zh-CN" altLang="en-US" sz="2400" b="0" dirty="0">
              <a:solidFill>
                <a:schemeClr val="tx1"/>
              </a:solidFill>
              <a:ea typeface="楷体_GB2312"/>
            </a:endParaRPr>
          </a:p>
        </p:txBody>
      </p:sp>
      <p:cxnSp>
        <p:nvCxnSpPr>
          <p:cNvPr id="5" name="直接箭头连接符 4"/>
          <p:cNvCxnSpPr>
            <a:endCxn id="173061" idx="1"/>
          </p:cNvCxnSpPr>
          <p:nvPr/>
        </p:nvCxnSpPr>
        <p:spPr>
          <a:xfrm flipV="1">
            <a:off x="3249930" y="5140325"/>
            <a:ext cx="1177925" cy="128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1380">
                                            <p:txEl>
                                              <p:charRg st="20" end="31"/>
                                            </p:txEl>
                                          </p:spTgt>
                                        </p:tgtEl>
                                        <p:attrNameLst>
                                          <p:attrName>style.visibility</p:attrName>
                                        </p:attrNameLst>
                                      </p:cBhvr>
                                      <p:to>
                                        <p:strVal val="visible"/>
                                      </p:to>
                                    </p:set>
                                    <p:animEffect transition="in" filter="wipe(left)">
                                      <p:cBhvr>
                                        <p:cTn id="7" dur="500"/>
                                        <p:tgtEl>
                                          <p:spTgt spid="101380">
                                            <p:txEl>
                                              <p:charRg st="20" end="3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1380">
                                            <p:txEl>
                                              <p:charRg st="31" end="40"/>
                                            </p:txEl>
                                          </p:spTgt>
                                        </p:tgtEl>
                                        <p:attrNameLst>
                                          <p:attrName>style.visibility</p:attrName>
                                        </p:attrNameLst>
                                      </p:cBhvr>
                                      <p:to>
                                        <p:strVal val="visible"/>
                                      </p:to>
                                    </p:set>
                                    <p:animEffect transition="in" filter="wipe(left)">
                                      <p:cBhvr>
                                        <p:cTn id="12" dur="500"/>
                                        <p:tgtEl>
                                          <p:spTgt spid="101380">
                                            <p:txEl>
                                              <p:charRg st="31" end="4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1380">
                                            <p:txEl>
                                              <p:charRg st="40" end="45"/>
                                            </p:txEl>
                                          </p:spTgt>
                                        </p:tgtEl>
                                        <p:attrNameLst>
                                          <p:attrName>style.visibility</p:attrName>
                                        </p:attrNameLst>
                                      </p:cBhvr>
                                      <p:to>
                                        <p:strVal val="visible"/>
                                      </p:to>
                                    </p:set>
                                    <p:animEffect transition="in" filter="wipe(left)">
                                      <p:cBhvr>
                                        <p:cTn id="17" dur="500"/>
                                        <p:tgtEl>
                                          <p:spTgt spid="101380">
                                            <p:txEl>
                                              <p:charRg st="40" end="4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1380">
                                            <p:txEl>
                                              <p:charRg st="45" end="54"/>
                                            </p:txEl>
                                          </p:spTgt>
                                        </p:tgtEl>
                                        <p:attrNameLst>
                                          <p:attrName>style.visibility</p:attrName>
                                        </p:attrNameLst>
                                      </p:cBhvr>
                                      <p:to>
                                        <p:strVal val="visible"/>
                                      </p:to>
                                    </p:set>
                                    <p:animEffect transition="in" filter="wipe(left)">
                                      <p:cBhvr>
                                        <p:cTn id="22" dur="500"/>
                                        <p:tgtEl>
                                          <p:spTgt spid="101380">
                                            <p:txEl>
                                              <p:charRg st="45" end="5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1380">
                                            <p:txEl>
                                              <p:charRg st="54" end="59"/>
                                            </p:txEl>
                                          </p:spTgt>
                                        </p:tgtEl>
                                        <p:attrNameLst>
                                          <p:attrName>style.visibility</p:attrName>
                                        </p:attrNameLst>
                                      </p:cBhvr>
                                      <p:to>
                                        <p:strVal val="visible"/>
                                      </p:to>
                                    </p:set>
                                    <p:animEffect transition="in" filter="wipe(left)">
                                      <p:cBhvr>
                                        <p:cTn id="27" dur="500"/>
                                        <p:tgtEl>
                                          <p:spTgt spid="101380">
                                            <p:txEl>
                                              <p:charRg st="54" end="5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1380">
                                            <p:txEl>
                                              <p:charRg st="59" end="64"/>
                                            </p:txEl>
                                          </p:spTgt>
                                        </p:tgtEl>
                                        <p:attrNameLst>
                                          <p:attrName>style.visibility</p:attrName>
                                        </p:attrNameLst>
                                      </p:cBhvr>
                                      <p:to>
                                        <p:strVal val="visible"/>
                                      </p:to>
                                    </p:set>
                                    <p:animEffect transition="in" filter="wipe(left)">
                                      <p:cBhvr>
                                        <p:cTn id="32" dur="500"/>
                                        <p:tgtEl>
                                          <p:spTgt spid="101380">
                                            <p:txEl>
                                              <p:charRg st="59" end="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6"/>
          <p:cNvSpPr>
            <a:spLocks noGrp="1"/>
          </p:cNvSpPr>
          <p:nvPr>
            <p:ph type="title" idx="4294967295"/>
          </p:nvPr>
        </p:nvSpPr>
        <p:spPr>
          <a:xfrm>
            <a:off x="522288" y="323850"/>
            <a:ext cx="8250237" cy="766763"/>
          </a:xfrm>
        </p:spPr>
        <p:txBody>
          <a:bodyPr vert="horz" wrap="square" lIns="91440" tIns="45720" rIns="91440" bIns="45720" anchor="b" anchorCtr="0"/>
          <a:p>
            <a:pPr eaLnBrk="1" hangingPunct="1"/>
            <a:r>
              <a:rPr lang="en-US" altLang="zh-CN" sz="3600" b="1" dirty="0"/>
              <a:t>8088/8086</a:t>
            </a:r>
            <a:r>
              <a:rPr lang="zh-CN" altLang="en-US" sz="4000" dirty="0"/>
              <a:t>的中断响应和处理流程</a:t>
            </a:r>
            <a:endParaRPr lang="zh-CN" altLang="en-US" sz="4000" dirty="0"/>
          </a:p>
        </p:txBody>
      </p:sp>
      <p:grpSp>
        <p:nvGrpSpPr>
          <p:cNvPr id="174083" name="组合 98"/>
          <p:cNvGrpSpPr/>
          <p:nvPr/>
        </p:nvGrpSpPr>
        <p:grpSpPr>
          <a:xfrm>
            <a:off x="636588" y="1050925"/>
            <a:ext cx="8135937" cy="5807075"/>
            <a:chOff x="0" y="0"/>
            <a:chExt cx="5997575" cy="5807075"/>
          </a:xfrm>
        </p:grpSpPr>
        <p:sp>
          <p:nvSpPr>
            <p:cNvPr id="174084" name="Text Box 3"/>
            <p:cNvSpPr txBox="1"/>
            <p:nvPr/>
          </p:nvSpPr>
          <p:spPr>
            <a:xfrm>
              <a:off x="1062038" y="3322637"/>
              <a:ext cx="155575" cy="11430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N</a:t>
              </a:r>
              <a:endParaRPr lang="en-US" altLang="zh-CN" sz="1000" b="0" dirty="0">
                <a:solidFill>
                  <a:schemeClr val="tx1"/>
                </a:solidFill>
                <a:latin typeface="Times New Roman" panose="02020603050405020304" pitchFamily="18" charset="0"/>
                <a:ea typeface="楷体_GB2312"/>
              </a:endParaRPr>
            </a:p>
          </p:txBody>
        </p:sp>
        <p:sp>
          <p:nvSpPr>
            <p:cNvPr id="174085" name="Text Box 4"/>
            <p:cNvSpPr txBox="1"/>
            <p:nvPr/>
          </p:nvSpPr>
          <p:spPr>
            <a:xfrm>
              <a:off x="5311775" y="2978150"/>
              <a:ext cx="155575" cy="115887"/>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Y</a:t>
              </a:r>
              <a:endParaRPr lang="en-US" altLang="zh-CN" sz="1000" b="0" dirty="0">
                <a:solidFill>
                  <a:schemeClr val="tx1"/>
                </a:solidFill>
                <a:latin typeface="Times New Roman" panose="02020603050405020304" pitchFamily="18" charset="0"/>
                <a:ea typeface="楷体_GB2312"/>
              </a:endParaRPr>
            </a:p>
          </p:txBody>
        </p:sp>
        <p:sp>
          <p:nvSpPr>
            <p:cNvPr id="174086" name="Text Box 5"/>
            <p:cNvSpPr txBox="1"/>
            <p:nvPr/>
          </p:nvSpPr>
          <p:spPr>
            <a:xfrm>
              <a:off x="1044575" y="4703762"/>
              <a:ext cx="155575" cy="11430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N</a:t>
              </a:r>
              <a:endParaRPr lang="en-US" altLang="zh-CN" sz="1000" b="0" dirty="0">
                <a:solidFill>
                  <a:schemeClr val="tx1"/>
                </a:solidFill>
                <a:latin typeface="Times New Roman" panose="02020603050405020304" pitchFamily="18" charset="0"/>
                <a:ea typeface="楷体_GB2312"/>
              </a:endParaRPr>
            </a:p>
          </p:txBody>
        </p:sp>
        <p:sp>
          <p:nvSpPr>
            <p:cNvPr id="174087" name="Text Box 6"/>
            <p:cNvSpPr txBox="1"/>
            <p:nvPr/>
          </p:nvSpPr>
          <p:spPr>
            <a:xfrm>
              <a:off x="1036638" y="2008187"/>
              <a:ext cx="157162" cy="112713"/>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Y</a:t>
              </a:r>
              <a:endParaRPr lang="en-US" altLang="zh-CN" sz="1000" b="0" dirty="0">
                <a:solidFill>
                  <a:schemeClr val="tx1"/>
                </a:solidFill>
                <a:latin typeface="Times New Roman" panose="02020603050405020304" pitchFamily="18" charset="0"/>
                <a:ea typeface="楷体_GB2312"/>
              </a:endParaRPr>
            </a:p>
          </p:txBody>
        </p:sp>
        <p:sp>
          <p:nvSpPr>
            <p:cNvPr id="174088" name="Text Box 7"/>
            <p:cNvSpPr txBox="1"/>
            <p:nvPr/>
          </p:nvSpPr>
          <p:spPr>
            <a:xfrm>
              <a:off x="1041400" y="2671762"/>
              <a:ext cx="157163" cy="115888"/>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N</a:t>
              </a:r>
              <a:endParaRPr lang="en-US" altLang="zh-CN" sz="1000" b="0" dirty="0">
                <a:solidFill>
                  <a:schemeClr val="tx1"/>
                </a:solidFill>
                <a:latin typeface="Times New Roman" panose="02020603050405020304" pitchFamily="18" charset="0"/>
                <a:ea typeface="楷体_GB2312"/>
              </a:endParaRPr>
            </a:p>
          </p:txBody>
        </p:sp>
        <p:sp>
          <p:nvSpPr>
            <p:cNvPr id="174089" name="Text Box 8"/>
            <p:cNvSpPr txBox="1"/>
            <p:nvPr/>
          </p:nvSpPr>
          <p:spPr>
            <a:xfrm>
              <a:off x="4706938" y="3898900"/>
              <a:ext cx="157162" cy="115887"/>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N</a:t>
              </a:r>
              <a:endParaRPr lang="en-US" altLang="zh-CN" sz="1000" b="0" dirty="0">
                <a:solidFill>
                  <a:schemeClr val="tx1"/>
                </a:solidFill>
                <a:latin typeface="Times New Roman" panose="02020603050405020304" pitchFamily="18" charset="0"/>
                <a:ea typeface="楷体_GB2312"/>
              </a:endParaRPr>
            </a:p>
          </p:txBody>
        </p:sp>
        <p:sp>
          <p:nvSpPr>
            <p:cNvPr id="174090" name="Text Box 9"/>
            <p:cNvSpPr txBox="1"/>
            <p:nvPr/>
          </p:nvSpPr>
          <p:spPr>
            <a:xfrm>
              <a:off x="4711700" y="3322637"/>
              <a:ext cx="157163" cy="11430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N</a:t>
              </a:r>
              <a:endParaRPr lang="en-US" altLang="zh-CN" sz="1000" b="0" dirty="0">
                <a:solidFill>
                  <a:schemeClr val="tx1"/>
                </a:solidFill>
                <a:latin typeface="Times New Roman" panose="02020603050405020304" pitchFamily="18" charset="0"/>
                <a:ea typeface="楷体_GB2312"/>
              </a:endParaRPr>
            </a:p>
          </p:txBody>
        </p:sp>
        <p:sp>
          <p:nvSpPr>
            <p:cNvPr id="174091" name="Text Box 10"/>
            <p:cNvSpPr txBox="1"/>
            <p:nvPr/>
          </p:nvSpPr>
          <p:spPr>
            <a:xfrm>
              <a:off x="863600" y="4049712"/>
              <a:ext cx="155575" cy="11430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N</a:t>
              </a:r>
              <a:endParaRPr lang="en-US" altLang="zh-CN" sz="1000" b="0" dirty="0">
                <a:solidFill>
                  <a:schemeClr val="tx1"/>
                </a:solidFill>
                <a:latin typeface="Times New Roman" panose="02020603050405020304" pitchFamily="18" charset="0"/>
                <a:ea typeface="楷体_GB2312"/>
              </a:endParaRPr>
            </a:p>
          </p:txBody>
        </p:sp>
        <p:sp>
          <p:nvSpPr>
            <p:cNvPr id="174092" name="Text Box 11"/>
            <p:cNvSpPr txBox="1"/>
            <p:nvPr/>
          </p:nvSpPr>
          <p:spPr>
            <a:xfrm>
              <a:off x="1560513" y="1606550"/>
              <a:ext cx="157162" cy="11430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N</a:t>
              </a:r>
              <a:endParaRPr lang="en-US" altLang="zh-CN" sz="1000" b="0" dirty="0">
                <a:solidFill>
                  <a:schemeClr val="tx1"/>
                </a:solidFill>
                <a:ea typeface="楷体_GB2312"/>
              </a:endParaRPr>
            </a:p>
          </p:txBody>
        </p:sp>
        <p:sp>
          <p:nvSpPr>
            <p:cNvPr id="174093" name="Text Box 12"/>
            <p:cNvSpPr txBox="1"/>
            <p:nvPr/>
          </p:nvSpPr>
          <p:spPr>
            <a:xfrm>
              <a:off x="1560513" y="3665537"/>
              <a:ext cx="157162" cy="11430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Y</a:t>
              </a:r>
              <a:endParaRPr lang="en-US" altLang="zh-CN" sz="1000" b="0" dirty="0">
                <a:solidFill>
                  <a:schemeClr val="tx1"/>
                </a:solidFill>
                <a:latin typeface="Times New Roman" panose="02020603050405020304" pitchFamily="18" charset="0"/>
                <a:ea typeface="楷体_GB2312"/>
              </a:endParaRPr>
            </a:p>
          </p:txBody>
        </p:sp>
        <p:sp>
          <p:nvSpPr>
            <p:cNvPr id="174094" name="Text Box 13"/>
            <p:cNvSpPr txBox="1"/>
            <p:nvPr/>
          </p:nvSpPr>
          <p:spPr>
            <a:xfrm>
              <a:off x="2541588" y="3665537"/>
              <a:ext cx="157162" cy="11430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Y</a:t>
              </a:r>
              <a:endParaRPr lang="en-US" altLang="zh-CN" sz="1000" b="0" dirty="0">
                <a:solidFill>
                  <a:schemeClr val="tx1"/>
                </a:solidFill>
                <a:latin typeface="Times New Roman" panose="02020603050405020304" pitchFamily="18" charset="0"/>
                <a:ea typeface="楷体_GB2312"/>
              </a:endParaRPr>
            </a:p>
          </p:txBody>
        </p:sp>
        <p:sp>
          <p:nvSpPr>
            <p:cNvPr id="174095" name="AutoShape 14"/>
            <p:cNvSpPr/>
            <p:nvPr/>
          </p:nvSpPr>
          <p:spPr>
            <a:xfrm>
              <a:off x="468313" y="920750"/>
              <a:ext cx="1092200" cy="344487"/>
            </a:xfrm>
            <a:prstGeom prst="flowChartProcess">
              <a:avLst/>
            </a:prstGeom>
            <a:solidFill>
              <a:srgbClr val="BDD3FF"/>
            </a:solidFill>
            <a:ln w="9525" cap="flat" cmpd="sng">
              <a:solidFill>
                <a:srgbClr val="000000"/>
              </a:solidFill>
              <a:prstDash val="solid"/>
              <a:miter/>
              <a:headEnd type="none" w="med" len="med"/>
              <a:tailEnd type="none" w="med" len="med"/>
            </a:ln>
          </p:spPr>
          <p:txBody>
            <a:bodyPr lIns="0" tIns="72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执行指令</a:t>
              </a:r>
              <a:endParaRPr lang="zh-CN" altLang="en-US" sz="1200" b="0" dirty="0">
                <a:solidFill>
                  <a:schemeClr val="tx1"/>
                </a:solidFill>
                <a:latin typeface="Times New Roman" panose="02020603050405020304" pitchFamily="18" charset="0"/>
                <a:ea typeface="楷体_GB2312"/>
              </a:endParaRPr>
            </a:p>
          </p:txBody>
        </p:sp>
        <p:sp>
          <p:nvSpPr>
            <p:cNvPr id="174096" name="AutoShape 15"/>
            <p:cNvSpPr/>
            <p:nvPr/>
          </p:nvSpPr>
          <p:spPr>
            <a:xfrm>
              <a:off x="468313" y="1492250"/>
              <a:ext cx="1092200" cy="458787"/>
            </a:xfrm>
            <a:prstGeom prst="flowChartDecision">
              <a:avLst/>
            </a:prstGeom>
            <a:solidFill>
              <a:srgbClr val="BDD3FF"/>
            </a:solidFill>
            <a:ln w="9525" cap="flat" cmpd="sng">
              <a:solidFill>
                <a:srgbClr val="000000"/>
              </a:solidFill>
              <a:prstDash val="solid"/>
              <a:miter/>
              <a:headEnd type="none" w="med" len="med"/>
              <a:tailEnd type="none" w="med" len="med"/>
            </a:ln>
          </p:spPr>
          <p:txBody>
            <a:bodyPr lIns="0" tIns="17809"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64000"/>
                </a:lnSpc>
                <a:spcAft>
                  <a:spcPct val="0"/>
                </a:spcAft>
                <a:buClr>
                  <a:srgbClr val="0000CC"/>
                </a:buClr>
                <a:buSzPct val="75000"/>
                <a:buNone/>
              </a:pPr>
              <a:r>
                <a:rPr lang="zh-CN" altLang="en-US" sz="1000" b="0" dirty="0">
                  <a:solidFill>
                    <a:schemeClr val="tx1"/>
                  </a:solidFill>
                  <a:latin typeface="宋体" panose="02010600030101010101" pitchFamily="2" charset="-122"/>
                  <a:ea typeface="楷体_GB2312"/>
                </a:rPr>
                <a:t>执行完</a:t>
              </a:r>
              <a:endParaRPr lang="zh-CN" altLang="en-US" sz="1000" b="0" dirty="0">
                <a:solidFill>
                  <a:schemeClr val="tx1"/>
                </a:solidFill>
                <a:latin typeface="宋体" panose="02010600030101010101" pitchFamily="2" charset="-122"/>
                <a:ea typeface="楷体_GB2312"/>
              </a:endParaRPr>
            </a:p>
            <a:p>
              <a:pPr marL="342900" lvl="0" indent="-342900" algn="ctr">
                <a:lnSpc>
                  <a:spcPct val="64000"/>
                </a:lnSpc>
                <a:spcAft>
                  <a:spcPct val="0"/>
                </a:spcAft>
                <a:buClr>
                  <a:srgbClr val="0000CC"/>
                </a:buClr>
                <a:buSzPct val="75000"/>
                <a:buNone/>
              </a:pPr>
              <a:r>
                <a:rPr lang="zh-CN" altLang="en-US" sz="1000" b="0" dirty="0">
                  <a:solidFill>
                    <a:schemeClr val="tx1"/>
                  </a:solidFill>
                  <a:latin typeface="宋体" panose="02010600030101010101" pitchFamily="2" charset="-122"/>
                  <a:ea typeface="楷体_GB2312"/>
                </a:rPr>
                <a:t>否</a:t>
              </a:r>
              <a:r>
                <a:rPr lang="en-US" altLang="zh-CN" sz="1000" b="0" dirty="0">
                  <a:solidFill>
                    <a:schemeClr val="tx1"/>
                  </a:solidFill>
                  <a:latin typeface="宋体" panose="02010600030101010101" pitchFamily="2" charset="-122"/>
                  <a:ea typeface="楷体_GB2312"/>
                </a:rPr>
                <a:t>?</a:t>
              </a:r>
              <a:endParaRPr lang="en-US" altLang="zh-CN" sz="1000" b="0" dirty="0">
                <a:solidFill>
                  <a:schemeClr val="tx1"/>
                </a:solidFill>
                <a:ea typeface="楷体_GB2312"/>
              </a:endParaRPr>
            </a:p>
          </p:txBody>
        </p:sp>
        <p:sp>
          <p:nvSpPr>
            <p:cNvPr id="174097" name="AutoShape 16"/>
            <p:cNvSpPr/>
            <p:nvPr/>
          </p:nvSpPr>
          <p:spPr>
            <a:xfrm>
              <a:off x="468313" y="234950"/>
              <a:ext cx="1092200" cy="342900"/>
            </a:xfrm>
            <a:prstGeom prst="flowChartProcess">
              <a:avLst/>
            </a:prstGeom>
            <a:solidFill>
              <a:srgbClr val="BDD3FF"/>
            </a:solidFill>
            <a:ln w="9525" cap="flat" cmpd="sng">
              <a:solidFill>
                <a:srgbClr val="000000"/>
              </a:solidFill>
              <a:prstDash val="solid"/>
              <a:miter/>
              <a:headEnd type="none" w="med" len="med"/>
              <a:tailEnd type="none" w="med" len="med"/>
            </a:ln>
          </p:spPr>
          <p:txBody>
            <a:bodyPr lIns="0" tIns="72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取指令</a:t>
              </a:r>
              <a:endParaRPr lang="zh-CN" altLang="en-US" sz="1200" b="0" dirty="0">
                <a:solidFill>
                  <a:schemeClr val="tx1"/>
                </a:solidFill>
                <a:latin typeface="Times New Roman" panose="02020603050405020304" pitchFamily="18" charset="0"/>
                <a:ea typeface="楷体_GB2312"/>
              </a:endParaRPr>
            </a:p>
          </p:txBody>
        </p:sp>
        <p:sp>
          <p:nvSpPr>
            <p:cNvPr id="174098" name="Line 17"/>
            <p:cNvSpPr/>
            <p:nvPr/>
          </p:nvSpPr>
          <p:spPr>
            <a:xfrm>
              <a:off x="1014413" y="577850"/>
              <a:ext cx="0" cy="342900"/>
            </a:xfrm>
            <a:prstGeom prst="line">
              <a:avLst/>
            </a:prstGeom>
            <a:ln w="9525" cap="flat" cmpd="sng">
              <a:solidFill>
                <a:srgbClr val="000000"/>
              </a:solidFill>
              <a:prstDash val="solid"/>
              <a:bevel/>
              <a:headEnd type="none" w="med" len="med"/>
              <a:tailEnd type="triangle" w="sm" len="med"/>
            </a:ln>
          </p:spPr>
        </p:sp>
        <p:sp>
          <p:nvSpPr>
            <p:cNvPr id="174099" name="Line 18"/>
            <p:cNvSpPr/>
            <p:nvPr/>
          </p:nvSpPr>
          <p:spPr>
            <a:xfrm>
              <a:off x="1014413" y="1949450"/>
              <a:ext cx="0" cy="230187"/>
            </a:xfrm>
            <a:prstGeom prst="line">
              <a:avLst/>
            </a:prstGeom>
            <a:ln w="9525" cap="flat" cmpd="sng">
              <a:solidFill>
                <a:srgbClr val="000000"/>
              </a:solidFill>
              <a:prstDash val="solid"/>
              <a:bevel/>
              <a:headEnd type="none" w="med" len="med"/>
              <a:tailEnd type="triangle" w="sm" len="med"/>
            </a:ln>
          </p:spPr>
        </p:sp>
        <p:sp>
          <p:nvSpPr>
            <p:cNvPr id="174100" name="Line 19"/>
            <p:cNvSpPr/>
            <p:nvPr/>
          </p:nvSpPr>
          <p:spPr>
            <a:xfrm>
              <a:off x="1016000" y="1263650"/>
              <a:ext cx="0" cy="230187"/>
            </a:xfrm>
            <a:prstGeom prst="line">
              <a:avLst/>
            </a:prstGeom>
            <a:ln w="9525" cap="flat" cmpd="sng">
              <a:solidFill>
                <a:srgbClr val="000000"/>
              </a:solidFill>
              <a:prstDash val="solid"/>
              <a:bevel/>
              <a:headEnd type="none" w="med" len="med"/>
              <a:tailEnd type="triangle" w="sm" len="med"/>
            </a:ln>
          </p:spPr>
        </p:sp>
        <p:sp>
          <p:nvSpPr>
            <p:cNvPr id="174101" name="Line 20"/>
            <p:cNvSpPr/>
            <p:nvPr/>
          </p:nvSpPr>
          <p:spPr>
            <a:xfrm>
              <a:off x="1016000" y="2636837"/>
              <a:ext cx="0" cy="228600"/>
            </a:xfrm>
            <a:prstGeom prst="line">
              <a:avLst/>
            </a:prstGeom>
            <a:ln w="9525" cap="flat" cmpd="sng">
              <a:solidFill>
                <a:srgbClr val="000000"/>
              </a:solidFill>
              <a:prstDash val="solid"/>
              <a:bevel/>
              <a:headEnd type="none" w="med" len="med"/>
              <a:tailEnd type="triangle" w="sm" len="med"/>
            </a:ln>
          </p:spPr>
        </p:sp>
        <p:sp>
          <p:nvSpPr>
            <p:cNvPr id="174102" name="Line 21"/>
            <p:cNvSpPr/>
            <p:nvPr/>
          </p:nvSpPr>
          <p:spPr>
            <a:xfrm>
              <a:off x="1014413" y="3322637"/>
              <a:ext cx="0" cy="228600"/>
            </a:xfrm>
            <a:prstGeom prst="line">
              <a:avLst/>
            </a:prstGeom>
            <a:ln w="9525" cap="flat" cmpd="sng">
              <a:solidFill>
                <a:srgbClr val="000000"/>
              </a:solidFill>
              <a:prstDash val="solid"/>
              <a:bevel/>
              <a:headEnd type="none" w="med" len="med"/>
              <a:tailEnd type="triangle" w="sm" len="med"/>
            </a:ln>
          </p:spPr>
        </p:sp>
        <p:sp>
          <p:nvSpPr>
            <p:cNvPr id="174103" name="Line 22"/>
            <p:cNvSpPr/>
            <p:nvPr/>
          </p:nvSpPr>
          <p:spPr>
            <a:xfrm>
              <a:off x="1014413" y="4006850"/>
              <a:ext cx="0" cy="231775"/>
            </a:xfrm>
            <a:prstGeom prst="line">
              <a:avLst/>
            </a:prstGeom>
            <a:ln w="9525" cap="flat" cmpd="sng">
              <a:solidFill>
                <a:srgbClr val="000000"/>
              </a:solidFill>
              <a:prstDash val="solid"/>
              <a:bevel/>
              <a:headEnd type="none" w="med" len="med"/>
              <a:tailEnd type="triangle" w="sm" len="med"/>
            </a:ln>
          </p:spPr>
        </p:sp>
        <p:grpSp>
          <p:nvGrpSpPr>
            <p:cNvPr id="174104" name="Group 23"/>
            <p:cNvGrpSpPr/>
            <p:nvPr/>
          </p:nvGrpSpPr>
          <p:grpSpPr>
            <a:xfrm>
              <a:off x="1025525" y="692150"/>
              <a:ext cx="692150" cy="1028700"/>
              <a:chOff x="0" y="0"/>
              <a:chExt cx="798" cy="1404"/>
            </a:xfrm>
          </p:grpSpPr>
          <p:sp>
            <p:nvSpPr>
              <p:cNvPr id="174175" name="Line 24"/>
              <p:cNvSpPr/>
              <p:nvPr/>
            </p:nvSpPr>
            <p:spPr>
              <a:xfrm>
                <a:off x="618" y="1404"/>
                <a:ext cx="180" cy="0"/>
              </a:xfrm>
              <a:prstGeom prst="line">
                <a:avLst/>
              </a:prstGeom>
              <a:ln w="9525" cap="flat" cmpd="sng">
                <a:solidFill>
                  <a:srgbClr val="000000"/>
                </a:solidFill>
                <a:prstDash val="solid"/>
                <a:bevel/>
                <a:headEnd type="none" w="med" len="med"/>
                <a:tailEnd type="none" w="med" len="med"/>
              </a:ln>
            </p:spPr>
          </p:sp>
          <p:sp>
            <p:nvSpPr>
              <p:cNvPr id="174176" name="Line 25"/>
              <p:cNvSpPr/>
              <p:nvPr/>
            </p:nvSpPr>
            <p:spPr>
              <a:xfrm flipV="1">
                <a:off x="798" y="0"/>
                <a:ext cx="0" cy="1404"/>
              </a:xfrm>
              <a:prstGeom prst="line">
                <a:avLst/>
              </a:prstGeom>
              <a:ln w="9525" cap="flat" cmpd="sng">
                <a:solidFill>
                  <a:srgbClr val="000000"/>
                </a:solidFill>
                <a:prstDash val="solid"/>
                <a:bevel/>
                <a:headEnd type="none" w="med" len="med"/>
                <a:tailEnd type="none" w="med" len="med"/>
              </a:ln>
            </p:spPr>
          </p:sp>
          <p:sp>
            <p:nvSpPr>
              <p:cNvPr id="174177" name="Line 26"/>
              <p:cNvSpPr/>
              <p:nvPr/>
            </p:nvSpPr>
            <p:spPr>
              <a:xfrm flipH="1">
                <a:off x="0" y="0"/>
                <a:ext cx="794" cy="1"/>
              </a:xfrm>
              <a:prstGeom prst="line">
                <a:avLst/>
              </a:prstGeom>
              <a:ln w="9525" cap="flat" cmpd="sng">
                <a:solidFill>
                  <a:srgbClr val="000000"/>
                </a:solidFill>
                <a:prstDash val="solid"/>
                <a:bevel/>
                <a:headEnd type="none" w="med" len="med"/>
                <a:tailEnd type="triangle" w="sm" len="med"/>
              </a:ln>
            </p:spPr>
          </p:sp>
        </p:grpSp>
        <p:sp>
          <p:nvSpPr>
            <p:cNvPr id="174105" name="AutoShape 27"/>
            <p:cNvSpPr/>
            <p:nvPr/>
          </p:nvSpPr>
          <p:spPr>
            <a:xfrm>
              <a:off x="1787525" y="3605212"/>
              <a:ext cx="781050" cy="344488"/>
            </a:xfrm>
            <a:prstGeom prst="flowChartDecision">
              <a:avLst/>
            </a:prstGeom>
            <a:solidFill>
              <a:srgbClr val="CC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IF=1?</a:t>
              </a:r>
              <a:endParaRPr lang="en-US" altLang="zh-CN" sz="1000" b="0" dirty="0">
                <a:solidFill>
                  <a:schemeClr val="tx1"/>
                </a:solidFill>
                <a:ea typeface="楷体_GB2312"/>
              </a:endParaRPr>
            </a:p>
          </p:txBody>
        </p:sp>
        <p:sp>
          <p:nvSpPr>
            <p:cNvPr id="174106" name="Line 28"/>
            <p:cNvSpPr/>
            <p:nvPr/>
          </p:nvSpPr>
          <p:spPr>
            <a:xfrm>
              <a:off x="1560513" y="3779837"/>
              <a:ext cx="223837" cy="0"/>
            </a:xfrm>
            <a:prstGeom prst="line">
              <a:avLst/>
            </a:prstGeom>
            <a:ln w="9525" cap="flat" cmpd="sng">
              <a:solidFill>
                <a:srgbClr val="000000"/>
              </a:solidFill>
              <a:prstDash val="solid"/>
              <a:bevel/>
              <a:headEnd type="none" w="med" len="med"/>
              <a:tailEnd type="triangle" w="sm" len="med"/>
            </a:ln>
          </p:spPr>
        </p:sp>
        <p:grpSp>
          <p:nvGrpSpPr>
            <p:cNvPr id="174107" name="Group 29"/>
            <p:cNvGrpSpPr/>
            <p:nvPr/>
          </p:nvGrpSpPr>
          <p:grpSpPr>
            <a:xfrm>
              <a:off x="1016000" y="3951287"/>
              <a:ext cx="1162050" cy="125413"/>
              <a:chOff x="0" y="0"/>
              <a:chExt cx="1620" cy="172"/>
            </a:xfrm>
          </p:grpSpPr>
          <p:sp>
            <p:nvSpPr>
              <p:cNvPr id="174173" name="Line 30"/>
              <p:cNvSpPr/>
              <p:nvPr/>
            </p:nvSpPr>
            <p:spPr>
              <a:xfrm>
                <a:off x="1619" y="0"/>
                <a:ext cx="1" cy="170"/>
              </a:xfrm>
              <a:prstGeom prst="line">
                <a:avLst/>
              </a:prstGeom>
              <a:ln w="9525" cap="flat" cmpd="sng">
                <a:solidFill>
                  <a:srgbClr val="000000"/>
                </a:solidFill>
                <a:prstDash val="solid"/>
                <a:bevel/>
                <a:headEnd type="none" w="med" len="med"/>
                <a:tailEnd type="none" w="med" len="med"/>
              </a:ln>
            </p:spPr>
          </p:sp>
          <p:sp>
            <p:nvSpPr>
              <p:cNvPr id="174174" name="Line 31"/>
              <p:cNvSpPr/>
              <p:nvPr/>
            </p:nvSpPr>
            <p:spPr>
              <a:xfrm flipH="1">
                <a:off x="0" y="171"/>
                <a:ext cx="1616" cy="1"/>
              </a:xfrm>
              <a:prstGeom prst="line">
                <a:avLst/>
              </a:prstGeom>
              <a:ln w="9525" cap="flat" cmpd="sng">
                <a:solidFill>
                  <a:srgbClr val="000000"/>
                </a:solidFill>
                <a:prstDash val="solid"/>
                <a:bevel/>
                <a:headEnd type="none" w="med" len="med"/>
                <a:tailEnd type="triangle" w="sm" len="med"/>
              </a:ln>
            </p:spPr>
          </p:sp>
        </p:grpSp>
        <p:sp>
          <p:nvSpPr>
            <p:cNvPr id="174108" name="AutoShape 32"/>
            <p:cNvSpPr/>
            <p:nvPr/>
          </p:nvSpPr>
          <p:spPr>
            <a:xfrm>
              <a:off x="468313" y="2178050"/>
              <a:ext cx="1092200" cy="500062"/>
            </a:xfrm>
            <a:prstGeom prst="flowChartDecision">
              <a:avLst/>
            </a:prstGeom>
            <a:solidFill>
              <a:srgbClr val="CCFFFF"/>
            </a:solidFill>
            <a:ln w="9525" cap="flat" cmpd="sng">
              <a:solidFill>
                <a:srgbClr val="000000"/>
              </a:solidFill>
              <a:prstDash val="solid"/>
              <a:miter/>
              <a:headEnd type="none" w="med" len="med"/>
              <a:tailEnd type="none" w="med" len="med"/>
            </a:ln>
          </p:spPr>
          <p:txBody>
            <a:bodyPr lIns="0" tIns="17809"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64000"/>
                </a:lnSpc>
                <a:spcAft>
                  <a:spcPct val="0"/>
                </a:spcAft>
                <a:buClr>
                  <a:srgbClr val="0000CC"/>
                </a:buClr>
                <a:buSzPct val="75000"/>
                <a:buNone/>
              </a:pPr>
              <a:r>
                <a:rPr lang="zh-CN" altLang="en-US" sz="1000" b="0" dirty="0">
                  <a:solidFill>
                    <a:schemeClr val="tx1"/>
                  </a:solidFill>
                  <a:latin typeface="Times New Roman" panose="02020603050405020304" pitchFamily="18" charset="0"/>
                  <a:ea typeface="楷体_GB2312"/>
                </a:rPr>
                <a:t>内部中</a:t>
              </a:r>
              <a:endParaRPr lang="zh-CN" altLang="en-US" sz="1000" b="0" dirty="0">
                <a:solidFill>
                  <a:schemeClr val="tx1"/>
                </a:solidFill>
                <a:latin typeface="Times New Roman" panose="02020603050405020304" pitchFamily="18" charset="0"/>
                <a:ea typeface="楷体_GB2312"/>
              </a:endParaRPr>
            </a:p>
            <a:p>
              <a:pPr marL="342900" lvl="0" indent="-342900" algn="ctr">
                <a:lnSpc>
                  <a:spcPct val="64000"/>
                </a:lnSpc>
                <a:spcAft>
                  <a:spcPct val="0"/>
                </a:spcAft>
                <a:buClr>
                  <a:srgbClr val="0000CC"/>
                </a:buClr>
                <a:buSzPct val="75000"/>
                <a:buNone/>
              </a:pPr>
              <a:r>
                <a:rPr lang="zh-CN" altLang="en-US" sz="1000" b="0" dirty="0">
                  <a:solidFill>
                    <a:schemeClr val="tx1"/>
                  </a:solidFill>
                  <a:latin typeface="Times New Roman" panose="02020603050405020304" pitchFamily="18" charset="0"/>
                  <a:ea typeface="楷体_GB2312"/>
                </a:rPr>
                <a:t>断</a:t>
              </a:r>
              <a:r>
                <a:rPr lang="en-US" altLang="zh-CN" sz="1000" b="0" dirty="0">
                  <a:solidFill>
                    <a:schemeClr val="tx1"/>
                  </a:solidFill>
                  <a:latin typeface="Times New Roman" panose="02020603050405020304" pitchFamily="18" charset="0"/>
                  <a:ea typeface="楷体_GB2312"/>
                </a:rPr>
                <a:t>?</a:t>
              </a:r>
              <a:endParaRPr lang="en-US" altLang="zh-CN" sz="1000" b="0" dirty="0">
                <a:solidFill>
                  <a:schemeClr val="tx1"/>
                </a:solidFill>
                <a:ea typeface="楷体_GB2312"/>
              </a:endParaRPr>
            </a:p>
          </p:txBody>
        </p:sp>
        <p:sp>
          <p:nvSpPr>
            <p:cNvPr id="174109" name="AutoShape 33"/>
            <p:cNvSpPr/>
            <p:nvPr/>
          </p:nvSpPr>
          <p:spPr>
            <a:xfrm>
              <a:off x="468313" y="2865437"/>
              <a:ext cx="1092200" cy="457200"/>
            </a:xfrm>
            <a:prstGeom prst="flowChartDecision">
              <a:avLst/>
            </a:prstGeom>
            <a:solidFill>
              <a:srgbClr val="CCFFFF"/>
            </a:solidFill>
            <a:ln w="9525" cap="flat" cmpd="sng">
              <a:solidFill>
                <a:srgbClr val="000000"/>
              </a:solidFill>
              <a:prstDash val="solid"/>
              <a:miter/>
              <a:headEnd type="none" w="med" len="med"/>
              <a:tailEnd type="none" w="med" len="med"/>
            </a:ln>
          </p:spPr>
          <p:txBody>
            <a:bodyPr lIns="0" tIns="17809"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64000"/>
                </a:lnSpc>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NMI</a:t>
              </a:r>
              <a:endParaRPr lang="en-US" altLang="zh-CN" sz="1000" b="0" dirty="0">
                <a:solidFill>
                  <a:schemeClr val="tx1"/>
                </a:solidFill>
                <a:latin typeface="Times New Roman" panose="02020603050405020304" pitchFamily="18" charset="0"/>
                <a:ea typeface="楷体_GB2312"/>
              </a:endParaRPr>
            </a:p>
            <a:p>
              <a:pPr marL="342900" lvl="0" indent="-342900" algn="ctr">
                <a:lnSpc>
                  <a:spcPct val="64000"/>
                </a:lnSpc>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a:t>
              </a:r>
              <a:endParaRPr lang="en-US" altLang="zh-CN" sz="1000" b="0" dirty="0">
                <a:solidFill>
                  <a:schemeClr val="tx1"/>
                </a:solidFill>
                <a:ea typeface="楷体_GB2312"/>
              </a:endParaRPr>
            </a:p>
          </p:txBody>
        </p:sp>
        <p:sp>
          <p:nvSpPr>
            <p:cNvPr id="174110" name="AutoShape 34"/>
            <p:cNvSpPr/>
            <p:nvPr/>
          </p:nvSpPr>
          <p:spPr>
            <a:xfrm>
              <a:off x="468313" y="3551237"/>
              <a:ext cx="1092200" cy="457200"/>
            </a:xfrm>
            <a:prstGeom prst="flowChartDecision">
              <a:avLst/>
            </a:prstGeom>
            <a:solidFill>
              <a:srgbClr val="CCFFFF"/>
            </a:solidFill>
            <a:ln w="9525" cap="flat" cmpd="sng">
              <a:solidFill>
                <a:srgbClr val="000000"/>
              </a:solidFill>
              <a:prstDash val="solid"/>
              <a:miter/>
              <a:headEnd type="none" w="med" len="med"/>
              <a:tailEnd type="none" w="med" len="med"/>
            </a:ln>
          </p:spPr>
          <p:txBody>
            <a:bodyPr lIns="0" tIns="17809"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64000"/>
                </a:lnSpc>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INTR</a:t>
              </a:r>
              <a:endParaRPr lang="en-US" altLang="zh-CN" sz="1000" b="0" dirty="0">
                <a:solidFill>
                  <a:schemeClr val="tx1"/>
                </a:solidFill>
                <a:latin typeface="Times New Roman" panose="02020603050405020304" pitchFamily="18" charset="0"/>
                <a:ea typeface="楷体_GB2312"/>
              </a:endParaRPr>
            </a:p>
            <a:p>
              <a:pPr marL="342900" lvl="0" indent="-342900" algn="ctr">
                <a:lnSpc>
                  <a:spcPct val="64000"/>
                </a:lnSpc>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a:t>
              </a:r>
              <a:endParaRPr lang="en-US" altLang="zh-CN" sz="1000" b="0" dirty="0">
                <a:solidFill>
                  <a:schemeClr val="tx1"/>
                </a:solidFill>
                <a:ea typeface="楷体_GB2312"/>
              </a:endParaRPr>
            </a:p>
          </p:txBody>
        </p:sp>
        <p:sp>
          <p:nvSpPr>
            <p:cNvPr id="174111" name="AutoShape 35"/>
            <p:cNvSpPr/>
            <p:nvPr/>
          </p:nvSpPr>
          <p:spPr>
            <a:xfrm>
              <a:off x="468313" y="4237037"/>
              <a:ext cx="1092200" cy="457200"/>
            </a:xfrm>
            <a:prstGeom prst="flowChartDecision">
              <a:avLst/>
            </a:prstGeom>
            <a:solidFill>
              <a:srgbClr val="CCFFFF"/>
            </a:solidFill>
            <a:ln w="9525" cap="flat" cmpd="sng">
              <a:solidFill>
                <a:srgbClr val="000000"/>
              </a:solidFill>
              <a:prstDash val="solid"/>
              <a:miter/>
              <a:headEnd type="none" w="med" len="med"/>
              <a:tailEnd type="none" w="med" len="med"/>
            </a:ln>
          </p:spPr>
          <p:txBody>
            <a:bodyPr lIns="0" tIns="17809"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64000"/>
                </a:lnSpc>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TF=1</a:t>
              </a:r>
              <a:endParaRPr lang="en-US" altLang="zh-CN" sz="1000" b="0" dirty="0">
                <a:solidFill>
                  <a:schemeClr val="tx1"/>
                </a:solidFill>
                <a:latin typeface="Times New Roman" panose="02020603050405020304" pitchFamily="18" charset="0"/>
                <a:ea typeface="楷体_GB2312"/>
              </a:endParaRPr>
            </a:p>
            <a:p>
              <a:pPr marL="342900" lvl="0" indent="-342900" algn="ctr">
                <a:lnSpc>
                  <a:spcPct val="64000"/>
                </a:lnSpc>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a:t>
              </a:r>
              <a:endParaRPr lang="en-US" altLang="zh-CN" sz="1000" b="0" dirty="0">
                <a:solidFill>
                  <a:schemeClr val="tx1"/>
                </a:solidFill>
                <a:ea typeface="楷体_GB2312"/>
              </a:endParaRPr>
            </a:p>
          </p:txBody>
        </p:sp>
        <p:grpSp>
          <p:nvGrpSpPr>
            <p:cNvPr id="174112" name="Group 36"/>
            <p:cNvGrpSpPr/>
            <p:nvPr/>
          </p:nvGrpSpPr>
          <p:grpSpPr>
            <a:xfrm>
              <a:off x="0" y="6350"/>
              <a:ext cx="1016000" cy="4918075"/>
              <a:chOff x="0" y="0"/>
              <a:chExt cx="1172" cy="6709"/>
            </a:xfrm>
          </p:grpSpPr>
          <p:sp>
            <p:nvSpPr>
              <p:cNvPr id="174168" name="Line 37"/>
              <p:cNvSpPr/>
              <p:nvPr/>
            </p:nvSpPr>
            <p:spPr>
              <a:xfrm>
                <a:off x="1158" y="6396"/>
                <a:ext cx="1" cy="312"/>
              </a:xfrm>
              <a:prstGeom prst="line">
                <a:avLst/>
              </a:prstGeom>
              <a:ln w="9525" cap="flat" cmpd="sng">
                <a:solidFill>
                  <a:srgbClr val="000000"/>
                </a:solidFill>
                <a:prstDash val="solid"/>
                <a:bevel/>
                <a:headEnd type="none" w="med" len="med"/>
                <a:tailEnd type="none" w="med" len="med"/>
              </a:ln>
            </p:spPr>
          </p:sp>
          <p:sp>
            <p:nvSpPr>
              <p:cNvPr id="174169" name="Line 38"/>
              <p:cNvSpPr/>
              <p:nvPr/>
            </p:nvSpPr>
            <p:spPr>
              <a:xfrm flipH="1">
                <a:off x="0" y="6708"/>
                <a:ext cx="1168" cy="1"/>
              </a:xfrm>
              <a:prstGeom prst="line">
                <a:avLst/>
              </a:prstGeom>
              <a:ln w="9525" cap="flat" cmpd="sng">
                <a:solidFill>
                  <a:srgbClr val="000000"/>
                </a:solidFill>
                <a:prstDash val="solid"/>
                <a:bevel/>
                <a:headEnd type="none" w="med" len="med"/>
                <a:tailEnd type="none" w="med" len="med"/>
              </a:ln>
            </p:spPr>
          </p:sp>
          <p:sp>
            <p:nvSpPr>
              <p:cNvPr id="174170" name="Line 39"/>
              <p:cNvSpPr/>
              <p:nvPr/>
            </p:nvSpPr>
            <p:spPr>
              <a:xfrm flipV="1">
                <a:off x="0" y="0"/>
                <a:ext cx="0" cy="6708"/>
              </a:xfrm>
              <a:prstGeom prst="line">
                <a:avLst/>
              </a:prstGeom>
              <a:ln w="9525" cap="flat" cmpd="sng">
                <a:solidFill>
                  <a:srgbClr val="000000"/>
                </a:solidFill>
                <a:prstDash val="solid"/>
                <a:bevel/>
                <a:headEnd type="none" w="med" len="med"/>
                <a:tailEnd type="none" w="med" len="med"/>
              </a:ln>
            </p:spPr>
          </p:sp>
          <p:sp>
            <p:nvSpPr>
              <p:cNvPr id="174171" name="Line 40"/>
              <p:cNvSpPr/>
              <p:nvPr/>
            </p:nvSpPr>
            <p:spPr>
              <a:xfrm>
                <a:off x="0" y="0"/>
                <a:ext cx="1168" cy="1"/>
              </a:xfrm>
              <a:prstGeom prst="line">
                <a:avLst/>
              </a:prstGeom>
              <a:ln w="9525" cap="flat" cmpd="sng">
                <a:solidFill>
                  <a:srgbClr val="000000"/>
                </a:solidFill>
                <a:prstDash val="solid"/>
                <a:bevel/>
                <a:headEnd type="none" w="med" len="med"/>
                <a:tailEnd type="none" w="med" len="med"/>
              </a:ln>
            </p:spPr>
          </p:sp>
          <p:sp>
            <p:nvSpPr>
              <p:cNvPr id="174172" name="Line 41"/>
              <p:cNvSpPr/>
              <p:nvPr/>
            </p:nvSpPr>
            <p:spPr>
              <a:xfrm>
                <a:off x="1171" y="0"/>
                <a:ext cx="1" cy="312"/>
              </a:xfrm>
              <a:prstGeom prst="line">
                <a:avLst/>
              </a:prstGeom>
              <a:ln w="9525" cap="flat" cmpd="sng">
                <a:solidFill>
                  <a:srgbClr val="000000"/>
                </a:solidFill>
                <a:prstDash val="solid"/>
                <a:bevel/>
                <a:headEnd type="none" w="med" len="med"/>
                <a:tailEnd type="triangle" w="sm" len="med"/>
              </a:ln>
            </p:spPr>
          </p:sp>
        </p:grpSp>
        <p:sp>
          <p:nvSpPr>
            <p:cNvPr id="174113" name="AutoShape 42"/>
            <p:cNvSpPr/>
            <p:nvPr/>
          </p:nvSpPr>
          <p:spPr>
            <a:xfrm>
              <a:off x="2513013" y="2341562"/>
              <a:ext cx="1079500" cy="179388"/>
            </a:xfrm>
            <a:prstGeom prst="flowChartProcess">
              <a:avLst/>
            </a:prstGeom>
            <a:solidFill>
              <a:srgbClr val="CCFFCC"/>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类型码</a:t>
              </a:r>
              <a:r>
                <a:rPr lang="en-US" altLang="zh-CN" sz="1200" b="0" dirty="0">
                  <a:solidFill>
                    <a:schemeClr val="tx1"/>
                  </a:solidFill>
                  <a:latin typeface="Times New Roman" panose="02020603050405020304" pitchFamily="18" charset="0"/>
                  <a:ea typeface="楷体_GB2312"/>
                </a:rPr>
                <a:t>=0</a:t>
              </a:r>
              <a:r>
                <a:rPr lang="zh-CN" altLang="en-US" sz="1200" b="0" dirty="0">
                  <a:solidFill>
                    <a:schemeClr val="tx1"/>
                  </a:solidFill>
                  <a:latin typeface="Times New Roman" panose="02020603050405020304" pitchFamily="18" charset="0"/>
                  <a:ea typeface="楷体_GB2312"/>
                </a:rPr>
                <a:t>～</a:t>
              </a:r>
              <a:r>
                <a:rPr lang="en-US" altLang="zh-CN" sz="1200" b="0" dirty="0">
                  <a:solidFill>
                    <a:schemeClr val="tx1"/>
                  </a:solidFill>
                  <a:latin typeface="Times New Roman" panose="02020603050405020304" pitchFamily="18" charset="0"/>
                  <a:ea typeface="楷体_GB2312"/>
                </a:rPr>
                <a:t>255</a:t>
              </a:r>
              <a:endParaRPr lang="en-US" altLang="zh-CN" sz="1200" b="0" dirty="0">
                <a:solidFill>
                  <a:schemeClr val="tx1"/>
                </a:solidFill>
                <a:latin typeface="Times New Roman" panose="02020603050405020304" pitchFamily="18" charset="0"/>
                <a:ea typeface="楷体_GB2312"/>
              </a:endParaRPr>
            </a:p>
          </p:txBody>
        </p:sp>
        <p:sp>
          <p:nvSpPr>
            <p:cNvPr id="174114" name="Line 43"/>
            <p:cNvSpPr/>
            <p:nvPr/>
          </p:nvSpPr>
          <p:spPr>
            <a:xfrm>
              <a:off x="3592513" y="2428875"/>
              <a:ext cx="222250" cy="1587"/>
            </a:xfrm>
            <a:prstGeom prst="line">
              <a:avLst/>
            </a:prstGeom>
            <a:ln w="9525" cap="flat" cmpd="sng">
              <a:solidFill>
                <a:srgbClr val="000000"/>
              </a:solidFill>
              <a:prstDash val="solid"/>
              <a:bevel/>
              <a:headEnd type="none" w="med" len="med"/>
              <a:tailEnd type="triangle" w="sm" len="med"/>
            </a:ln>
          </p:spPr>
        </p:sp>
        <p:sp>
          <p:nvSpPr>
            <p:cNvPr id="174115" name="Line 44"/>
            <p:cNvSpPr/>
            <p:nvPr/>
          </p:nvSpPr>
          <p:spPr>
            <a:xfrm>
              <a:off x="3592513" y="3094037"/>
              <a:ext cx="222250" cy="0"/>
            </a:xfrm>
            <a:prstGeom prst="line">
              <a:avLst/>
            </a:prstGeom>
            <a:ln w="9525" cap="flat" cmpd="sng">
              <a:solidFill>
                <a:srgbClr val="000000"/>
              </a:solidFill>
              <a:prstDash val="solid"/>
              <a:bevel/>
              <a:headEnd type="none" w="med" len="med"/>
              <a:tailEnd type="triangle" w="sm" len="med"/>
            </a:ln>
          </p:spPr>
        </p:sp>
        <p:sp>
          <p:nvSpPr>
            <p:cNvPr id="174116" name="Line 45"/>
            <p:cNvSpPr/>
            <p:nvPr/>
          </p:nvSpPr>
          <p:spPr>
            <a:xfrm>
              <a:off x="1560513" y="4465637"/>
              <a:ext cx="1095375" cy="0"/>
            </a:xfrm>
            <a:prstGeom prst="line">
              <a:avLst/>
            </a:prstGeom>
            <a:ln w="9525" cap="flat" cmpd="sng">
              <a:solidFill>
                <a:srgbClr val="000000"/>
              </a:solidFill>
              <a:prstDash val="solid"/>
              <a:bevel/>
              <a:headEnd type="none" w="med" len="med"/>
              <a:tailEnd type="triangle" w="sm" len="med"/>
            </a:ln>
          </p:spPr>
        </p:sp>
        <p:sp>
          <p:nvSpPr>
            <p:cNvPr id="174117" name="AutoShape 46"/>
            <p:cNvSpPr/>
            <p:nvPr/>
          </p:nvSpPr>
          <p:spPr>
            <a:xfrm>
              <a:off x="2655888" y="3008312"/>
              <a:ext cx="936625" cy="198438"/>
            </a:xfrm>
            <a:prstGeom prst="flowChartProcess">
              <a:avLst/>
            </a:prstGeom>
            <a:solidFill>
              <a:srgbClr val="CCFFCC"/>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类型码</a:t>
              </a:r>
              <a:r>
                <a:rPr lang="en-US" altLang="zh-CN" sz="1200" b="0" dirty="0">
                  <a:solidFill>
                    <a:schemeClr val="tx1"/>
                  </a:solidFill>
                  <a:latin typeface="Times New Roman" panose="02020603050405020304" pitchFamily="18" charset="0"/>
                  <a:ea typeface="楷体_GB2312"/>
                </a:rPr>
                <a:t>=2</a:t>
              </a:r>
              <a:endParaRPr lang="en-US" altLang="zh-CN" sz="1200" b="0" dirty="0">
                <a:solidFill>
                  <a:schemeClr val="tx1"/>
                </a:solidFill>
                <a:latin typeface="Times New Roman" panose="02020603050405020304" pitchFamily="18" charset="0"/>
                <a:ea typeface="楷体_GB2312"/>
              </a:endParaRPr>
            </a:p>
          </p:txBody>
        </p:sp>
        <p:sp>
          <p:nvSpPr>
            <p:cNvPr id="174118" name="AutoShape 47"/>
            <p:cNvSpPr/>
            <p:nvPr/>
          </p:nvSpPr>
          <p:spPr>
            <a:xfrm>
              <a:off x="2655888" y="4378325"/>
              <a:ext cx="936625" cy="198437"/>
            </a:xfrm>
            <a:prstGeom prst="flowChartProcess">
              <a:avLst/>
            </a:prstGeom>
            <a:solidFill>
              <a:srgbClr val="CCFFCC"/>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类型码</a:t>
              </a:r>
              <a:r>
                <a:rPr lang="en-US" altLang="zh-CN" sz="1200" b="0" dirty="0">
                  <a:solidFill>
                    <a:schemeClr val="tx1"/>
                  </a:solidFill>
                  <a:latin typeface="Times New Roman" panose="02020603050405020304" pitchFamily="18" charset="0"/>
                  <a:ea typeface="楷体_GB2312"/>
                </a:rPr>
                <a:t>=1</a:t>
              </a:r>
              <a:endParaRPr lang="en-US" altLang="zh-CN" sz="1200" b="0" dirty="0">
                <a:solidFill>
                  <a:schemeClr val="tx1"/>
                </a:solidFill>
                <a:latin typeface="Times New Roman" panose="02020603050405020304" pitchFamily="18" charset="0"/>
                <a:ea typeface="楷体_GB2312"/>
              </a:endParaRPr>
            </a:p>
          </p:txBody>
        </p:sp>
        <p:sp>
          <p:nvSpPr>
            <p:cNvPr id="174119" name="AutoShape 48"/>
            <p:cNvSpPr/>
            <p:nvPr/>
          </p:nvSpPr>
          <p:spPr>
            <a:xfrm>
              <a:off x="2811463" y="3598862"/>
              <a:ext cx="781050" cy="395288"/>
            </a:xfrm>
            <a:prstGeom prst="flowChartProcess">
              <a:avLst/>
            </a:prstGeom>
            <a:solidFill>
              <a:srgbClr val="CCFFCC"/>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中断响应，</a:t>
              </a:r>
              <a:endParaRPr lang="zh-CN" altLang="en-US" sz="1200" b="0" dirty="0">
                <a:solidFill>
                  <a:schemeClr val="tx1"/>
                </a:solidFill>
                <a:latin typeface="Times New Roman" panose="02020603050405020304" pitchFamily="18" charset="0"/>
                <a:ea typeface="楷体_GB2312"/>
              </a:endParaRPr>
            </a:p>
            <a:p>
              <a:pPr marL="342900" lvl="0" indent="-342900" algn="ctr">
                <a:lnSpc>
                  <a:spcPct val="100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读回类型码</a:t>
              </a:r>
              <a:endParaRPr lang="zh-CN" altLang="en-US" sz="1200" b="0" dirty="0">
                <a:solidFill>
                  <a:schemeClr val="tx1"/>
                </a:solidFill>
                <a:latin typeface="Times New Roman" panose="02020603050405020304" pitchFamily="18" charset="0"/>
                <a:ea typeface="楷体_GB2312"/>
              </a:endParaRPr>
            </a:p>
          </p:txBody>
        </p:sp>
        <p:sp>
          <p:nvSpPr>
            <p:cNvPr id="174120" name="Line 49"/>
            <p:cNvSpPr/>
            <p:nvPr/>
          </p:nvSpPr>
          <p:spPr>
            <a:xfrm>
              <a:off x="2568575" y="3779837"/>
              <a:ext cx="220663" cy="0"/>
            </a:xfrm>
            <a:prstGeom prst="line">
              <a:avLst/>
            </a:prstGeom>
            <a:ln w="9525" cap="flat" cmpd="sng">
              <a:solidFill>
                <a:srgbClr val="000000"/>
              </a:solidFill>
              <a:prstDash val="solid"/>
              <a:bevel/>
              <a:headEnd type="none" w="med" len="med"/>
              <a:tailEnd type="triangle" w="sm" len="med"/>
            </a:ln>
          </p:spPr>
        </p:sp>
        <p:sp>
          <p:nvSpPr>
            <p:cNvPr id="174121" name="AutoShape 50"/>
            <p:cNvSpPr/>
            <p:nvPr/>
          </p:nvSpPr>
          <p:spPr>
            <a:xfrm>
              <a:off x="4217988" y="463550"/>
              <a:ext cx="936625" cy="180975"/>
            </a:xfrm>
            <a:prstGeom prst="flowChartProcess">
              <a:avLst/>
            </a:prstGeom>
            <a:solidFill>
              <a:srgbClr val="FFCC99"/>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0"/>
                </a:spcBef>
                <a:spcAft>
                  <a:spcPct val="0"/>
                </a:spcAft>
                <a:buClr>
                  <a:srgbClr val="0000CC"/>
                </a:buClr>
                <a:buSzPct val="75000"/>
                <a:buNone/>
              </a:pPr>
              <a:r>
                <a:rPr lang="en-US" altLang="zh-CN" sz="1200" b="0" dirty="0">
                  <a:solidFill>
                    <a:schemeClr val="tx1"/>
                  </a:solidFill>
                  <a:latin typeface="Times New Roman" panose="02020603050405020304" pitchFamily="18" charset="0"/>
                  <a:ea typeface="楷体_GB2312"/>
                </a:rPr>
                <a:t>FLAG</a:t>
              </a:r>
              <a:r>
                <a:rPr lang="zh-CN" altLang="en-US" sz="1200" b="0" dirty="0">
                  <a:solidFill>
                    <a:schemeClr val="tx1"/>
                  </a:solidFill>
                  <a:latin typeface="Times New Roman" panose="02020603050405020304" pitchFamily="18" charset="0"/>
                  <a:ea typeface="楷体_GB2312"/>
                </a:rPr>
                <a:t>入栈</a:t>
              </a:r>
              <a:endParaRPr lang="zh-CN" altLang="en-US" sz="1200" b="0" dirty="0">
                <a:solidFill>
                  <a:schemeClr val="tx1"/>
                </a:solidFill>
                <a:latin typeface="Times New Roman" panose="02020603050405020304" pitchFamily="18" charset="0"/>
                <a:ea typeface="楷体_GB2312"/>
              </a:endParaRPr>
            </a:p>
          </p:txBody>
        </p:sp>
        <p:sp>
          <p:nvSpPr>
            <p:cNvPr id="174122" name="AutoShape 51"/>
            <p:cNvSpPr/>
            <p:nvPr/>
          </p:nvSpPr>
          <p:spPr>
            <a:xfrm>
              <a:off x="4217988" y="806450"/>
              <a:ext cx="936625" cy="180975"/>
            </a:xfrm>
            <a:prstGeom prst="flowChartProcess">
              <a:avLst/>
            </a:prstGeom>
            <a:solidFill>
              <a:srgbClr val="FFCC99"/>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0"/>
                </a:spcBef>
                <a:spcAft>
                  <a:spcPct val="0"/>
                </a:spcAft>
                <a:buClr>
                  <a:srgbClr val="0000CC"/>
                </a:buClr>
                <a:buSzPct val="75000"/>
                <a:buNone/>
              </a:pPr>
              <a:r>
                <a:rPr lang="en-US" altLang="zh-CN" sz="1200" b="0" dirty="0">
                  <a:solidFill>
                    <a:schemeClr val="tx1"/>
                  </a:solidFill>
                  <a:latin typeface="Times New Roman" panose="02020603050405020304" pitchFamily="18" charset="0"/>
                  <a:ea typeface="楷体_GB2312"/>
                </a:rPr>
                <a:t>TEMP←TF</a:t>
              </a:r>
              <a:endParaRPr lang="en-US" altLang="zh-CN" sz="1200" b="0" dirty="0">
                <a:solidFill>
                  <a:schemeClr val="tx1"/>
                </a:solidFill>
                <a:latin typeface="Times New Roman" panose="02020603050405020304" pitchFamily="18" charset="0"/>
                <a:ea typeface="楷体_GB2312"/>
              </a:endParaRPr>
            </a:p>
          </p:txBody>
        </p:sp>
        <p:sp>
          <p:nvSpPr>
            <p:cNvPr id="174123" name="AutoShape 52"/>
            <p:cNvSpPr/>
            <p:nvPr/>
          </p:nvSpPr>
          <p:spPr>
            <a:xfrm>
              <a:off x="4217988" y="1149350"/>
              <a:ext cx="936625" cy="180975"/>
            </a:xfrm>
            <a:prstGeom prst="flowChartProcess">
              <a:avLst/>
            </a:prstGeom>
            <a:solidFill>
              <a:srgbClr val="FFCC99"/>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0"/>
                </a:spcBef>
                <a:spcAft>
                  <a:spcPct val="0"/>
                </a:spcAft>
                <a:buClr>
                  <a:srgbClr val="0000CC"/>
                </a:buClr>
                <a:buSzPct val="75000"/>
                <a:buNone/>
              </a:pPr>
              <a:r>
                <a:rPr lang="en-US" altLang="zh-CN" sz="1200" b="0" dirty="0">
                  <a:solidFill>
                    <a:schemeClr val="tx1"/>
                  </a:solidFill>
                  <a:latin typeface="Times New Roman" panose="02020603050405020304" pitchFamily="18" charset="0"/>
                  <a:ea typeface="楷体_GB2312"/>
                </a:rPr>
                <a:t>CF=TF=0</a:t>
              </a:r>
              <a:endParaRPr lang="en-US" altLang="zh-CN" sz="1200" b="0" dirty="0">
                <a:solidFill>
                  <a:schemeClr val="tx1"/>
                </a:solidFill>
                <a:latin typeface="Times New Roman" panose="02020603050405020304" pitchFamily="18" charset="0"/>
                <a:ea typeface="楷体_GB2312"/>
              </a:endParaRPr>
            </a:p>
          </p:txBody>
        </p:sp>
        <p:sp>
          <p:nvSpPr>
            <p:cNvPr id="174124" name="AutoShape 53"/>
            <p:cNvSpPr/>
            <p:nvPr/>
          </p:nvSpPr>
          <p:spPr>
            <a:xfrm>
              <a:off x="4217988" y="1492250"/>
              <a:ext cx="936625" cy="180975"/>
            </a:xfrm>
            <a:prstGeom prst="flowChartProcess">
              <a:avLst/>
            </a:prstGeom>
            <a:solidFill>
              <a:srgbClr val="FFCC99"/>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0"/>
                </a:spcBef>
                <a:spcAft>
                  <a:spcPct val="0"/>
                </a:spcAft>
                <a:buClr>
                  <a:srgbClr val="0000CC"/>
                </a:buClr>
                <a:buSzPct val="75000"/>
                <a:buNone/>
              </a:pPr>
              <a:r>
                <a:rPr lang="en-US" altLang="zh-CN" sz="1200" b="0" dirty="0">
                  <a:solidFill>
                    <a:schemeClr val="tx1"/>
                  </a:solidFill>
                  <a:latin typeface="Times New Roman" panose="02020603050405020304" pitchFamily="18" charset="0"/>
                  <a:ea typeface="楷体_GB2312"/>
                </a:rPr>
                <a:t>CS</a:t>
              </a:r>
              <a:r>
                <a:rPr lang="zh-CN" altLang="en-US" sz="1200" b="0" dirty="0">
                  <a:solidFill>
                    <a:schemeClr val="tx1"/>
                  </a:solidFill>
                  <a:latin typeface="Times New Roman" panose="02020603050405020304" pitchFamily="18" charset="0"/>
                  <a:ea typeface="楷体_GB2312"/>
                </a:rPr>
                <a:t>、</a:t>
              </a:r>
              <a:r>
                <a:rPr lang="en-US" altLang="zh-CN" sz="1200" b="0" dirty="0">
                  <a:solidFill>
                    <a:schemeClr val="tx1"/>
                  </a:solidFill>
                  <a:latin typeface="Times New Roman" panose="02020603050405020304" pitchFamily="18" charset="0"/>
                  <a:ea typeface="楷体_GB2312"/>
                </a:rPr>
                <a:t>IP</a:t>
              </a:r>
              <a:r>
                <a:rPr lang="zh-CN" altLang="en-US" sz="1200" b="0" dirty="0">
                  <a:solidFill>
                    <a:schemeClr val="tx1"/>
                  </a:solidFill>
                  <a:latin typeface="Times New Roman" panose="02020603050405020304" pitchFamily="18" charset="0"/>
                  <a:ea typeface="楷体_GB2312"/>
                </a:rPr>
                <a:t>入栈</a:t>
              </a:r>
              <a:endParaRPr lang="zh-CN" altLang="en-US" sz="1200" b="0" dirty="0">
                <a:solidFill>
                  <a:schemeClr val="tx1"/>
                </a:solidFill>
                <a:latin typeface="Times New Roman" panose="02020603050405020304" pitchFamily="18" charset="0"/>
                <a:ea typeface="楷体_GB2312"/>
              </a:endParaRPr>
            </a:p>
          </p:txBody>
        </p:sp>
        <p:sp>
          <p:nvSpPr>
            <p:cNvPr id="174125" name="AutoShape 54"/>
            <p:cNvSpPr/>
            <p:nvPr/>
          </p:nvSpPr>
          <p:spPr>
            <a:xfrm>
              <a:off x="3962400" y="1820862"/>
              <a:ext cx="1439863" cy="180975"/>
            </a:xfrm>
            <a:prstGeom prst="flowChartProcess">
              <a:avLst/>
            </a:prstGeom>
            <a:solidFill>
              <a:srgbClr val="FFCC99"/>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95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计算向量表地址</a:t>
              </a:r>
              <a:endParaRPr lang="zh-CN" altLang="en-US" sz="1200" b="0" dirty="0">
                <a:solidFill>
                  <a:schemeClr val="tx1"/>
                </a:solidFill>
                <a:latin typeface="Times New Roman" panose="02020603050405020304" pitchFamily="18" charset="0"/>
                <a:ea typeface="楷体_GB2312"/>
              </a:endParaRPr>
            </a:p>
          </p:txBody>
        </p:sp>
        <p:sp>
          <p:nvSpPr>
            <p:cNvPr id="174126" name="AutoShape 55"/>
            <p:cNvSpPr/>
            <p:nvPr/>
          </p:nvSpPr>
          <p:spPr>
            <a:xfrm>
              <a:off x="4217988" y="2163762"/>
              <a:ext cx="936625" cy="342900"/>
            </a:xfrm>
            <a:prstGeom prst="flowChartProcess">
              <a:avLst/>
            </a:prstGeom>
            <a:solidFill>
              <a:srgbClr val="FFCC99"/>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90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高字→</a:t>
              </a:r>
              <a:r>
                <a:rPr lang="en-US" altLang="zh-CN" sz="1200" b="0" dirty="0">
                  <a:solidFill>
                    <a:schemeClr val="tx1"/>
                  </a:solidFill>
                  <a:latin typeface="Times New Roman" panose="02020603050405020304" pitchFamily="18" charset="0"/>
                  <a:ea typeface="楷体_GB2312"/>
                </a:rPr>
                <a:t>CS</a:t>
              </a:r>
              <a:endParaRPr lang="en-US" altLang="zh-CN" sz="1200" b="0" dirty="0">
                <a:solidFill>
                  <a:schemeClr val="tx1"/>
                </a:solidFill>
                <a:latin typeface="Times New Roman" panose="02020603050405020304" pitchFamily="18" charset="0"/>
                <a:ea typeface="楷体_GB2312"/>
              </a:endParaRPr>
            </a:p>
            <a:p>
              <a:pPr marL="342900" lvl="0" indent="-342900" algn="ctr">
                <a:lnSpc>
                  <a:spcPct val="90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低字→</a:t>
              </a:r>
              <a:r>
                <a:rPr lang="en-US" altLang="zh-CN" sz="1200" b="0" dirty="0">
                  <a:solidFill>
                    <a:schemeClr val="tx1"/>
                  </a:solidFill>
                  <a:latin typeface="Times New Roman" panose="02020603050405020304" pitchFamily="18" charset="0"/>
                  <a:ea typeface="楷体_GB2312"/>
                </a:rPr>
                <a:t>IP</a:t>
              </a:r>
              <a:endParaRPr lang="en-US" altLang="zh-CN" sz="1200" b="0" dirty="0">
                <a:solidFill>
                  <a:schemeClr val="tx1"/>
                </a:solidFill>
                <a:latin typeface="Times New Roman" panose="02020603050405020304" pitchFamily="18" charset="0"/>
                <a:ea typeface="楷体_GB2312"/>
              </a:endParaRPr>
            </a:p>
          </p:txBody>
        </p:sp>
        <p:sp>
          <p:nvSpPr>
            <p:cNvPr id="174127" name="AutoShape 56"/>
            <p:cNvSpPr/>
            <p:nvPr/>
          </p:nvSpPr>
          <p:spPr>
            <a:xfrm>
              <a:off x="4213225" y="4098925"/>
              <a:ext cx="935038" cy="360362"/>
            </a:xfrm>
            <a:prstGeom prst="flowChartProcess">
              <a:avLst/>
            </a:prstGeom>
            <a:solidFill>
              <a:srgbClr val="FFCC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95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执行中断</a:t>
              </a:r>
              <a:endParaRPr lang="zh-CN" altLang="en-US" sz="1200" b="0" dirty="0">
                <a:solidFill>
                  <a:schemeClr val="tx1"/>
                </a:solidFill>
                <a:latin typeface="Times New Roman" panose="02020603050405020304" pitchFamily="18" charset="0"/>
                <a:ea typeface="楷体_GB2312"/>
              </a:endParaRPr>
            </a:p>
            <a:p>
              <a:pPr marL="342900" lvl="0" indent="-342900" algn="ctr">
                <a:lnSpc>
                  <a:spcPct val="95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服务程序</a:t>
              </a:r>
              <a:endParaRPr lang="zh-CN" altLang="en-US" sz="1200" b="0" dirty="0">
                <a:solidFill>
                  <a:schemeClr val="tx1"/>
                </a:solidFill>
                <a:latin typeface="Times New Roman" panose="02020603050405020304" pitchFamily="18" charset="0"/>
                <a:ea typeface="楷体_GB2312"/>
              </a:endParaRPr>
            </a:p>
          </p:txBody>
        </p:sp>
        <p:sp>
          <p:nvSpPr>
            <p:cNvPr id="174128" name="AutoShape 57"/>
            <p:cNvSpPr/>
            <p:nvPr/>
          </p:nvSpPr>
          <p:spPr>
            <a:xfrm>
              <a:off x="4062413" y="2978150"/>
              <a:ext cx="1249362" cy="344487"/>
            </a:xfrm>
            <a:prstGeom prst="flowChartDecision">
              <a:avLst/>
            </a:prstGeom>
            <a:solidFill>
              <a:srgbClr val="FFCC99"/>
            </a:solidFill>
            <a:ln w="9525" cap="flat" cmpd="sng">
              <a:solidFill>
                <a:srgbClr val="000000"/>
              </a:solidFill>
              <a:prstDash val="solid"/>
              <a:miter/>
              <a:headEnd type="none" w="med" len="med"/>
              <a:tailEnd type="none" w="med" len="med"/>
            </a:ln>
          </p:spPr>
          <p:txBody>
            <a:bodyPr lIns="0" tIns="17809"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64000"/>
                </a:lnSpc>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NMI?</a:t>
              </a:r>
              <a:endParaRPr lang="en-US" altLang="zh-CN" sz="1000" b="0" dirty="0">
                <a:solidFill>
                  <a:schemeClr val="tx1"/>
                </a:solidFill>
                <a:ea typeface="楷体_GB2312"/>
              </a:endParaRPr>
            </a:p>
          </p:txBody>
        </p:sp>
        <p:sp>
          <p:nvSpPr>
            <p:cNvPr id="174129" name="AutoShape 58"/>
            <p:cNvSpPr/>
            <p:nvPr/>
          </p:nvSpPr>
          <p:spPr>
            <a:xfrm>
              <a:off x="4062413" y="3529012"/>
              <a:ext cx="1249362" cy="371475"/>
            </a:xfrm>
            <a:prstGeom prst="flowChartDecision">
              <a:avLst/>
            </a:prstGeom>
            <a:solidFill>
              <a:srgbClr val="FFCC99"/>
            </a:solidFill>
            <a:ln w="9525" cap="flat" cmpd="sng">
              <a:solidFill>
                <a:srgbClr val="000000"/>
              </a:solidFill>
              <a:prstDash val="solid"/>
              <a:miter/>
              <a:headEnd type="none" w="med" len="med"/>
              <a:tailEnd type="none" w="med" len="med"/>
            </a:ln>
          </p:spPr>
          <p:txBody>
            <a:bodyPr lIns="0" tIns="17809"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64000"/>
                </a:lnSpc>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TEMP=</a:t>
              </a:r>
              <a:endParaRPr lang="en-US" altLang="zh-CN" sz="1000" b="0" dirty="0">
                <a:solidFill>
                  <a:schemeClr val="tx1"/>
                </a:solidFill>
                <a:latin typeface="Times New Roman" panose="02020603050405020304" pitchFamily="18" charset="0"/>
                <a:ea typeface="楷体_GB2312"/>
              </a:endParaRPr>
            </a:p>
            <a:p>
              <a:pPr marL="342900" lvl="0" indent="-342900" algn="ctr">
                <a:lnSpc>
                  <a:spcPct val="64000"/>
                </a:lnSpc>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1?</a:t>
              </a:r>
              <a:endParaRPr lang="en-US" altLang="zh-CN" sz="1000" b="0" dirty="0">
                <a:solidFill>
                  <a:schemeClr val="tx1"/>
                </a:solidFill>
                <a:ea typeface="楷体_GB2312"/>
              </a:endParaRPr>
            </a:p>
          </p:txBody>
        </p:sp>
        <p:sp>
          <p:nvSpPr>
            <p:cNvPr id="174130" name="AutoShape 59"/>
            <p:cNvSpPr/>
            <p:nvPr/>
          </p:nvSpPr>
          <p:spPr>
            <a:xfrm>
              <a:off x="3959225" y="2657475"/>
              <a:ext cx="1439863" cy="198437"/>
            </a:xfrm>
            <a:prstGeom prst="flowChartProcess">
              <a:avLst/>
            </a:prstGeom>
            <a:solidFill>
              <a:srgbClr val="FFCC99"/>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95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转入中断服务程序</a:t>
              </a:r>
              <a:endParaRPr lang="zh-CN" altLang="en-US" sz="1200" b="0" dirty="0">
                <a:solidFill>
                  <a:schemeClr val="tx1"/>
                </a:solidFill>
                <a:latin typeface="Times New Roman" panose="02020603050405020304" pitchFamily="18" charset="0"/>
                <a:ea typeface="楷体_GB2312"/>
              </a:endParaRPr>
            </a:p>
          </p:txBody>
        </p:sp>
        <p:sp>
          <p:nvSpPr>
            <p:cNvPr id="174131" name="AutoShape 60"/>
            <p:cNvSpPr/>
            <p:nvPr/>
          </p:nvSpPr>
          <p:spPr>
            <a:xfrm>
              <a:off x="4213225" y="4611687"/>
              <a:ext cx="935038" cy="180975"/>
            </a:xfrm>
            <a:prstGeom prst="flowChartProcess">
              <a:avLst/>
            </a:prstGeom>
            <a:solidFill>
              <a:srgbClr val="99FFCC"/>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95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恢复</a:t>
              </a:r>
              <a:r>
                <a:rPr lang="en-US" altLang="zh-CN" sz="1200" b="0" dirty="0">
                  <a:solidFill>
                    <a:schemeClr val="tx1"/>
                  </a:solidFill>
                  <a:latin typeface="Times New Roman" panose="02020603050405020304" pitchFamily="18" charset="0"/>
                  <a:ea typeface="楷体_GB2312"/>
                </a:rPr>
                <a:t>CS</a:t>
              </a:r>
              <a:r>
                <a:rPr lang="zh-CN" altLang="en-US" sz="1200" b="0" dirty="0">
                  <a:solidFill>
                    <a:schemeClr val="tx1"/>
                  </a:solidFill>
                  <a:latin typeface="Times New Roman" panose="02020603050405020304" pitchFamily="18" charset="0"/>
                  <a:ea typeface="楷体_GB2312"/>
                </a:rPr>
                <a:t>和</a:t>
              </a:r>
              <a:r>
                <a:rPr lang="en-US" altLang="zh-CN" sz="1200" b="0" dirty="0">
                  <a:solidFill>
                    <a:schemeClr val="tx1"/>
                  </a:solidFill>
                  <a:latin typeface="Times New Roman" panose="02020603050405020304" pitchFamily="18" charset="0"/>
                  <a:ea typeface="楷体_GB2312"/>
                </a:rPr>
                <a:t>IP</a:t>
              </a:r>
              <a:endParaRPr lang="en-US" altLang="zh-CN" sz="1200" b="0" dirty="0">
                <a:solidFill>
                  <a:schemeClr val="tx1"/>
                </a:solidFill>
                <a:latin typeface="Times New Roman" panose="02020603050405020304" pitchFamily="18" charset="0"/>
                <a:ea typeface="楷体_GB2312"/>
              </a:endParaRPr>
            </a:p>
          </p:txBody>
        </p:sp>
        <p:sp>
          <p:nvSpPr>
            <p:cNvPr id="174132" name="AutoShape 61"/>
            <p:cNvSpPr/>
            <p:nvPr/>
          </p:nvSpPr>
          <p:spPr>
            <a:xfrm>
              <a:off x="4213225" y="4954587"/>
              <a:ext cx="935038" cy="180975"/>
            </a:xfrm>
            <a:prstGeom prst="flowChartProcess">
              <a:avLst/>
            </a:prstGeom>
            <a:solidFill>
              <a:srgbClr val="99FFCC"/>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恢复</a:t>
              </a:r>
              <a:r>
                <a:rPr lang="en-US" altLang="zh-CN" sz="1200" b="0" dirty="0">
                  <a:solidFill>
                    <a:schemeClr val="tx1"/>
                  </a:solidFill>
                  <a:latin typeface="Times New Roman" panose="02020603050405020304" pitchFamily="18" charset="0"/>
                  <a:ea typeface="楷体_GB2312"/>
                </a:rPr>
                <a:t>FLAGS</a:t>
              </a:r>
              <a:endParaRPr lang="en-US" altLang="zh-CN" sz="1200" b="0" dirty="0">
                <a:solidFill>
                  <a:schemeClr val="tx1"/>
                </a:solidFill>
                <a:latin typeface="Times New Roman" panose="02020603050405020304" pitchFamily="18" charset="0"/>
                <a:ea typeface="楷体_GB2312"/>
              </a:endParaRPr>
            </a:p>
          </p:txBody>
        </p:sp>
        <p:sp>
          <p:nvSpPr>
            <p:cNvPr id="174133" name="AutoShape 62"/>
            <p:cNvSpPr/>
            <p:nvPr/>
          </p:nvSpPr>
          <p:spPr>
            <a:xfrm>
              <a:off x="4213225" y="5297487"/>
              <a:ext cx="935038" cy="377825"/>
            </a:xfrm>
            <a:prstGeom prst="flowChartProcess">
              <a:avLst/>
            </a:prstGeom>
            <a:solidFill>
              <a:srgbClr val="99FFCC"/>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返回被中断</a:t>
              </a:r>
              <a:endParaRPr lang="zh-CN" altLang="en-US" sz="1200" b="0" dirty="0">
                <a:solidFill>
                  <a:schemeClr val="tx1"/>
                </a:solidFill>
                <a:latin typeface="Times New Roman" panose="02020603050405020304" pitchFamily="18" charset="0"/>
                <a:ea typeface="楷体_GB2312"/>
              </a:endParaRPr>
            </a:p>
            <a:p>
              <a:pPr marL="342900" lvl="0" indent="-342900" algn="ctr">
                <a:lnSpc>
                  <a:spcPct val="100000"/>
                </a:lnSpc>
                <a:spcBef>
                  <a:spcPct val="0"/>
                </a:spcBef>
                <a:spcAft>
                  <a:spcPct val="0"/>
                </a:spcAft>
                <a:buClr>
                  <a:srgbClr val="0000CC"/>
                </a:buClr>
                <a:buSzPct val="75000"/>
                <a:buNone/>
              </a:pPr>
              <a:r>
                <a:rPr lang="zh-CN" altLang="en-US" sz="1200" b="0" dirty="0">
                  <a:solidFill>
                    <a:schemeClr val="tx1"/>
                  </a:solidFill>
                  <a:latin typeface="Times New Roman" panose="02020603050405020304" pitchFamily="18" charset="0"/>
                  <a:ea typeface="楷体_GB2312"/>
                </a:rPr>
                <a:t>的程序</a:t>
              </a:r>
              <a:endParaRPr lang="zh-CN" altLang="en-US" sz="1200" b="0" dirty="0">
                <a:solidFill>
                  <a:schemeClr val="tx1"/>
                </a:solidFill>
                <a:latin typeface="Times New Roman" panose="02020603050405020304" pitchFamily="18" charset="0"/>
                <a:ea typeface="楷体_GB2312"/>
              </a:endParaRPr>
            </a:p>
          </p:txBody>
        </p:sp>
        <p:sp>
          <p:nvSpPr>
            <p:cNvPr id="174134" name="Line 63"/>
            <p:cNvSpPr/>
            <p:nvPr/>
          </p:nvSpPr>
          <p:spPr>
            <a:xfrm>
              <a:off x="3592513" y="4465637"/>
              <a:ext cx="225425" cy="0"/>
            </a:xfrm>
            <a:prstGeom prst="line">
              <a:avLst/>
            </a:prstGeom>
            <a:ln w="9525" cap="flat" cmpd="sng">
              <a:solidFill>
                <a:srgbClr val="000000"/>
              </a:solidFill>
              <a:prstDash val="solid"/>
              <a:bevel/>
              <a:headEnd type="none" w="med" len="med"/>
              <a:tailEnd type="none" w="med" len="med"/>
            </a:ln>
          </p:spPr>
        </p:sp>
        <p:sp>
          <p:nvSpPr>
            <p:cNvPr id="174135" name="Line 64"/>
            <p:cNvSpPr/>
            <p:nvPr/>
          </p:nvSpPr>
          <p:spPr>
            <a:xfrm>
              <a:off x="3810000" y="6350"/>
              <a:ext cx="860425" cy="1587"/>
            </a:xfrm>
            <a:prstGeom prst="line">
              <a:avLst/>
            </a:prstGeom>
            <a:ln w="9525" cap="flat" cmpd="sng">
              <a:solidFill>
                <a:srgbClr val="000000"/>
              </a:solidFill>
              <a:prstDash val="solid"/>
              <a:bevel/>
              <a:headEnd type="none" w="med" len="med"/>
              <a:tailEnd type="none" w="med" len="med"/>
            </a:ln>
          </p:spPr>
        </p:sp>
        <p:sp>
          <p:nvSpPr>
            <p:cNvPr id="174136" name="Line 65"/>
            <p:cNvSpPr/>
            <p:nvPr/>
          </p:nvSpPr>
          <p:spPr>
            <a:xfrm>
              <a:off x="4686300" y="6350"/>
              <a:ext cx="1588" cy="457200"/>
            </a:xfrm>
            <a:prstGeom prst="line">
              <a:avLst/>
            </a:prstGeom>
            <a:ln w="9525" cap="flat" cmpd="sng">
              <a:solidFill>
                <a:srgbClr val="000000"/>
              </a:solidFill>
              <a:prstDash val="solid"/>
              <a:bevel/>
              <a:headEnd type="none" w="med" len="med"/>
              <a:tailEnd type="triangle" w="sm" len="med"/>
            </a:ln>
          </p:spPr>
        </p:sp>
        <p:sp>
          <p:nvSpPr>
            <p:cNvPr id="174137" name="Line 66"/>
            <p:cNvSpPr/>
            <p:nvPr/>
          </p:nvSpPr>
          <p:spPr>
            <a:xfrm>
              <a:off x="3592513" y="3779837"/>
              <a:ext cx="222250" cy="0"/>
            </a:xfrm>
            <a:prstGeom prst="line">
              <a:avLst/>
            </a:prstGeom>
            <a:ln w="9525" cap="flat" cmpd="sng">
              <a:solidFill>
                <a:srgbClr val="000000"/>
              </a:solidFill>
              <a:prstDash val="solid"/>
              <a:bevel/>
              <a:headEnd type="none" w="med" len="med"/>
              <a:tailEnd type="triangle" w="sm" len="med"/>
            </a:ln>
          </p:spPr>
        </p:sp>
        <p:sp>
          <p:nvSpPr>
            <p:cNvPr id="174138" name="Line 67"/>
            <p:cNvSpPr/>
            <p:nvPr/>
          </p:nvSpPr>
          <p:spPr>
            <a:xfrm>
              <a:off x="1560513" y="3094037"/>
              <a:ext cx="1095375" cy="0"/>
            </a:xfrm>
            <a:prstGeom prst="line">
              <a:avLst/>
            </a:prstGeom>
            <a:ln w="9525" cap="flat" cmpd="sng">
              <a:solidFill>
                <a:srgbClr val="000000"/>
              </a:solidFill>
              <a:prstDash val="solid"/>
              <a:bevel/>
              <a:headEnd type="none" w="med" len="med"/>
              <a:tailEnd type="triangle" w="sm" len="med"/>
            </a:ln>
          </p:spPr>
        </p:sp>
        <p:sp>
          <p:nvSpPr>
            <p:cNvPr id="174139" name="Line 68"/>
            <p:cNvSpPr/>
            <p:nvPr/>
          </p:nvSpPr>
          <p:spPr>
            <a:xfrm>
              <a:off x="1560513" y="2428875"/>
              <a:ext cx="954087" cy="1587"/>
            </a:xfrm>
            <a:prstGeom prst="line">
              <a:avLst/>
            </a:prstGeom>
            <a:ln w="9525" cap="flat" cmpd="sng">
              <a:solidFill>
                <a:srgbClr val="000000"/>
              </a:solidFill>
              <a:prstDash val="solid"/>
              <a:bevel/>
              <a:headEnd type="none" w="med" len="med"/>
              <a:tailEnd type="triangle" w="sm" len="med"/>
            </a:ln>
          </p:spPr>
        </p:sp>
        <p:sp>
          <p:nvSpPr>
            <p:cNvPr id="174140" name="Line 69"/>
            <p:cNvSpPr/>
            <p:nvPr/>
          </p:nvSpPr>
          <p:spPr>
            <a:xfrm>
              <a:off x="4686300" y="647700"/>
              <a:ext cx="1588" cy="158750"/>
            </a:xfrm>
            <a:prstGeom prst="line">
              <a:avLst/>
            </a:prstGeom>
            <a:ln w="9525" cap="flat" cmpd="sng">
              <a:solidFill>
                <a:srgbClr val="000000"/>
              </a:solidFill>
              <a:prstDash val="solid"/>
              <a:bevel/>
              <a:headEnd type="none" w="med" len="med"/>
              <a:tailEnd type="triangle" w="sm" len="med"/>
            </a:ln>
          </p:spPr>
        </p:sp>
        <p:sp>
          <p:nvSpPr>
            <p:cNvPr id="174141" name="Line 70"/>
            <p:cNvSpPr/>
            <p:nvPr/>
          </p:nvSpPr>
          <p:spPr>
            <a:xfrm>
              <a:off x="4686300" y="3322637"/>
              <a:ext cx="1588" cy="207963"/>
            </a:xfrm>
            <a:prstGeom prst="line">
              <a:avLst/>
            </a:prstGeom>
            <a:ln w="9525" cap="flat" cmpd="sng">
              <a:solidFill>
                <a:srgbClr val="000000"/>
              </a:solidFill>
              <a:prstDash val="solid"/>
              <a:bevel/>
              <a:headEnd type="none" w="med" len="med"/>
              <a:tailEnd type="triangle" w="sm" len="med"/>
            </a:ln>
          </p:spPr>
        </p:sp>
        <p:sp>
          <p:nvSpPr>
            <p:cNvPr id="174142" name="Line 71"/>
            <p:cNvSpPr/>
            <p:nvPr/>
          </p:nvSpPr>
          <p:spPr>
            <a:xfrm>
              <a:off x="4679950" y="3897312"/>
              <a:ext cx="1588" cy="206375"/>
            </a:xfrm>
            <a:prstGeom prst="line">
              <a:avLst/>
            </a:prstGeom>
            <a:ln w="9525" cap="flat" cmpd="sng">
              <a:solidFill>
                <a:srgbClr val="000000"/>
              </a:solidFill>
              <a:prstDash val="solid"/>
              <a:bevel/>
              <a:headEnd type="none" w="med" len="med"/>
              <a:tailEnd type="triangle" w="sm" len="med"/>
            </a:ln>
          </p:spPr>
        </p:sp>
        <p:sp>
          <p:nvSpPr>
            <p:cNvPr id="174143" name="Line 72"/>
            <p:cNvSpPr/>
            <p:nvPr/>
          </p:nvSpPr>
          <p:spPr>
            <a:xfrm>
              <a:off x="1588" y="4916487"/>
              <a:ext cx="1587" cy="885825"/>
            </a:xfrm>
            <a:prstGeom prst="line">
              <a:avLst/>
            </a:prstGeom>
            <a:ln w="9525" cap="flat" cmpd="sng">
              <a:solidFill>
                <a:srgbClr val="000000"/>
              </a:solidFill>
              <a:prstDash val="solid"/>
              <a:bevel/>
              <a:headEnd type="none" w="med" len="med"/>
              <a:tailEnd type="none" w="med" len="med"/>
            </a:ln>
          </p:spPr>
        </p:sp>
        <p:sp>
          <p:nvSpPr>
            <p:cNvPr id="174144" name="Line 73"/>
            <p:cNvSpPr/>
            <p:nvPr/>
          </p:nvSpPr>
          <p:spPr>
            <a:xfrm>
              <a:off x="4763" y="5803900"/>
              <a:ext cx="4686300" cy="0"/>
            </a:xfrm>
            <a:prstGeom prst="line">
              <a:avLst/>
            </a:prstGeom>
            <a:ln w="9525" cap="flat" cmpd="sng">
              <a:solidFill>
                <a:srgbClr val="000000"/>
              </a:solidFill>
              <a:prstDash val="solid"/>
              <a:bevel/>
              <a:headEnd type="none" w="med" len="med"/>
              <a:tailEnd type="none" w="med" len="med"/>
            </a:ln>
          </p:spPr>
        </p:sp>
        <p:sp>
          <p:nvSpPr>
            <p:cNvPr id="174145" name="Line 74"/>
            <p:cNvSpPr/>
            <p:nvPr/>
          </p:nvSpPr>
          <p:spPr>
            <a:xfrm>
              <a:off x="4695825" y="5662612"/>
              <a:ext cx="1588" cy="144463"/>
            </a:xfrm>
            <a:prstGeom prst="line">
              <a:avLst/>
            </a:prstGeom>
            <a:ln w="9525" cap="flat" cmpd="sng">
              <a:solidFill>
                <a:srgbClr val="000000"/>
              </a:solidFill>
              <a:prstDash val="solid"/>
              <a:bevel/>
              <a:headEnd type="none" w="med" len="med"/>
              <a:tailEnd type="none" w="med" len="med"/>
            </a:ln>
          </p:spPr>
        </p:sp>
        <p:sp>
          <p:nvSpPr>
            <p:cNvPr id="174146" name="Line 75"/>
            <p:cNvSpPr/>
            <p:nvPr/>
          </p:nvSpPr>
          <p:spPr>
            <a:xfrm flipH="1">
              <a:off x="0" y="4922837"/>
              <a:ext cx="982663" cy="1588"/>
            </a:xfrm>
            <a:prstGeom prst="line">
              <a:avLst/>
            </a:prstGeom>
            <a:ln w="9525" cap="flat" cmpd="sng">
              <a:solidFill>
                <a:srgbClr val="000000"/>
              </a:solidFill>
              <a:prstDash val="solid"/>
              <a:bevel/>
              <a:headEnd type="none" w="med" len="med"/>
              <a:tailEnd type="triangle" w="sm" len="med"/>
            </a:ln>
          </p:spPr>
        </p:sp>
        <p:sp>
          <p:nvSpPr>
            <p:cNvPr id="174147" name="Line 76"/>
            <p:cNvSpPr/>
            <p:nvPr/>
          </p:nvSpPr>
          <p:spPr>
            <a:xfrm>
              <a:off x="5311775" y="3152775"/>
              <a:ext cx="312738" cy="0"/>
            </a:xfrm>
            <a:prstGeom prst="line">
              <a:avLst/>
            </a:prstGeom>
            <a:ln w="9525" cap="flat" cmpd="sng">
              <a:solidFill>
                <a:srgbClr val="000000"/>
              </a:solidFill>
              <a:prstDash val="solid"/>
              <a:bevel/>
              <a:headEnd type="none" w="med" len="med"/>
              <a:tailEnd type="triangle" w="med" len="med"/>
            </a:ln>
          </p:spPr>
        </p:sp>
        <p:sp>
          <p:nvSpPr>
            <p:cNvPr id="174148" name="Line 77"/>
            <p:cNvSpPr/>
            <p:nvPr/>
          </p:nvSpPr>
          <p:spPr>
            <a:xfrm>
              <a:off x="5311775" y="3713162"/>
              <a:ext cx="312738" cy="1588"/>
            </a:xfrm>
            <a:prstGeom prst="line">
              <a:avLst/>
            </a:prstGeom>
            <a:ln w="9525" cap="flat" cmpd="sng">
              <a:solidFill>
                <a:srgbClr val="000000"/>
              </a:solidFill>
              <a:prstDash val="solid"/>
              <a:bevel/>
              <a:headEnd type="none" w="med" len="med"/>
              <a:tailEnd type="none" w="med" len="med"/>
            </a:ln>
          </p:spPr>
        </p:sp>
        <p:sp>
          <p:nvSpPr>
            <p:cNvPr id="174149" name="Line 78"/>
            <p:cNvSpPr/>
            <p:nvPr/>
          </p:nvSpPr>
          <p:spPr>
            <a:xfrm flipV="1">
              <a:off x="5624513" y="234950"/>
              <a:ext cx="0" cy="3473450"/>
            </a:xfrm>
            <a:prstGeom prst="line">
              <a:avLst/>
            </a:prstGeom>
            <a:ln w="9525" cap="flat" cmpd="sng">
              <a:solidFill>
                <a:srgbClr val="000000"/>
              </a:solidFill>
              <a:prstDash val="solid"/>
              <a:bevel/>
              <a:headEnd type="none" w="med" len="med"/>
              <a:tailEnd type="none" w="med" len="med"/>
            </a:ln>
          </p:spPr>
        </p:sp>
        <p:sp>
          <p:nvSpPr>
            <p:cNvPr id="174150" name="Line 79"/>
            <p:cNvSpPr/>
            <p:nvPr/>
          </p:nvSpPr>
          <p:spPr>
            <a:xfrm flipH="1">
              <a:off x="4686300" y="234950"/>
              <a:ext cx="938213" cy="0"/>
            </a:xfrm>
            <a:prstGeom prst="line">
              <a:avLst/>
            </a:prstGeom>
            <a:ln w="9525" cap="flat" cmpd="sng">
              <a:solidFill>
                <a:srgbClr val="000000"/>
              </a:solidFill>
              <a:prstDash val="solid"/>
              <a:bevel/>
              <a:headEnd type="none" w="med" len="med"/>
              <a:tailEnd type="triangle" w="sm" len="med"/>
            </a:ln>
          </p:spPr>
        </p:sp>
        <p:sp>
          <p:nvSpPr>
            <p:cNvPr id="174151" name="Line 80"/>
            <p:cNvSpPr/>
            <p:nvPr/>
          </p:nvSpPr>
          <p:spPr>
            <a:xfrm flipV="1">
              <a:off x="3817938" y="0"/>
              <a:ext cx="1587" cy="4467225"/>
            </a:xfrm>
            <a:prstGeom prst="line">
              <a:avLst/>
            </a:prstGeom>
            <a:ln w="9525" cap="flat" cmpd="sng">
              <a:solidFill>
                <a:srgbClr val="000000"/>
              </a:solidFill>
              <a:prstDash val="solid"/>
              <a:bevel/>
              <a:headEnd type="none" w="med" len="med"/>
              <a:tailEnd type="none" w="med" len="med"/>
            </a:ln>
          </p:spPr>
        </p:sp>
        <p:sp>
          <p:nvSpPr>
            <p:cNvPr id="174152" name="Text Box 81"/>
            <p:cNvSpPr txBox="1"/>
            <p:nvPr/>
          </p:nvSpPr>
          <p:spPr>
            <a:xfrm>
              <a:off x="1560513" y="2292350"/>
              <a:ext cx="157162" cy="11430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Y</a:t>
              </a:r>
              <a:endParaRPr lang="en-US" altLang="zh-CN" sz="1000" b="0" dirty="0">
                <a:solidFill>
                  <a:schemeClr val="tx1"/>
                </a:solidFill>
                <a:latin typeface="Times New Roman" panose="02020603050405020304" pitchFamily="18" charset="0"/>
                <a:ea typeface="楷体_GB2312"/>
              </a:endParaRPr>
            </a:p>
          </p:txBody>
        </p:sp>
        <p:sp>
          <p:nvSpPr>
            <p:cNvPr id="174153" name="Text Box 82"/>
            <p:cNvSpPr txBox="1"/>
            <p:nvPr/>
          </p:nvSpPr>
          <p:spPr>
            <a:xfrm>
              <a:off x="1560513" y="2978150"/>
              <a:ext cx="157162" cy="115887"/>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Y</a:t>
              </a:r>
              <a:endParaRPr lang="en-US" altLang="zh-CN" sz="1000" b="0" dirty="0">
                <a:solidFill>
                  <a:schemeClr val="tx1"/>
                </a:solidFill>
                <a:latin typeface="Times New Roman" panose="02020603050405020304" pitchFamily="18" charset="0"/>
                <a:ea typeface="楷体_GB2312"/>
              </a:endParaRPr>
            </a:p>
          </p:txBody>
        </p:sp>
        <p:sp>
          <p:nvSpPr>
            <p:cNvPr id="174154" name="Text Box 83"/>
            <p:cNvSpPr txBox="1"/>
            <p:nvPr/>
          </p:nvSpPr>
          <p:spPr>
            <a:xfrm>
              <a:off x="1560513" y="4351337"/>
              <a:ext cx="157162" cy="11430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Y</a:t>
              </a:r>
              <a:endParaRPr lang="en-US" altLang="zh-CN" sz="1000" b="0" dirty="0">
                <a:solidFill>
                  <a:schemeClr val="tx1"/>
                </a:solidFill>
                <a:latin typeface="Times New Roman" panose="02020603050405020304" pitchFamily="18" charset="0"/>
                <a:ea typeface="楷体_GB2312"/>
              </a:endParaRPr>
            </a:p>
          </p:txBody>
        </p:sp>
        <p:sp>
          <p:nvSpPr>
            <p:cNvPr id="174155" name="Text Box 84"/>
            <p:cNvSpPr txBox="1"/>
            <p:nvPr/>
          </p:nvSpPr>
          <p:spPr>
            <a:xfrm>
              <a:off x="5311775" y="3551237"/>
              <a:ext cx="155575" cy="11430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Y</a:t>
              </a:r>
              <a:endParaRPr lang="en-US" altLang="zh-CN" sz="1000" b="0" dirty="0">
                <a:solidFill>
                  <a:schemeClr val="tx1"/>
                </a:solidFill>
                <a:latin typeface="Times New Roman" panose="02020603050405020304" pitchFamily="18" charset="0"/>
                <a:ea typeface="楷体_GB2312"/>
              </a:endParaRPr>
            </a:p>
          </p:txBody>
        </p:sp>
        <p:sp>
          <p:nvSpPr>
            <p:cNvPr id="174156" name="Line 85"/>
            <p:cNvSpPr/>
            <p:nvPr/>
          </p:nvSpPr>
          <p:spPr>
            <a:xfrm>
              <a:off x="4686300" y="990600"/>
              <a:ext cx="1588" cy="158750"/>
            </a:xfrm>
            <a:prstGeom prst="line">
              <a:avLst/>
            </a:prstGeom>
            <a:ln w="9525" cap="flat" cmpd="sng">
              <a:solidFill>
                <a:srgbClr val="000000"/>
              </a:solidFill>
              <a:prstDash val="solid"/>
              <a:bevel/>
              <a:headEnd type="none" w="med" len="med"/>
              <a:tailEnd type="triangle" w="sm" len="med"/>
            </a:ln>
          </p:spPr>
        </p:sp>
        <p:sp>
          <p:nvSpPr>
            <p:cNvPr id="174157" name="Line 86"/>
            <p:cNvSpPr/>
            <p:nvPr/>
          </p:nvSpPr>
          <p:spPr>
            <a:xfrm>
              <a:off x="4686300" y="1333500"/>
              <a:ext cx="1588" cy="158750"/>
            </a:xfrm>
            <a:prstGeom prst="line">
              <a:avLst/>
            </a:prstGeom>
            <a:ln w="9525" cap="flat" cmpd="sng">
              <a:solidFill>
                <a:srgbClr val="000000"/>
              </a:solidFill>
              <a:prstDash val="solid"/>
              <a:bevel/>
              <a:headEnd type="none" w="med" len="med"/>
              <a:tailEnd type="triangle" w="sm" len="med"/>
            </a:ln>
          </p:spPr>
        </p:sp>
        <p:sp>
          <p:nvSpPr>
            <p:cNvPr id="174158" name="Line 87"/>
            <p:cNvSpPr/>
            <p:nvPr/>
          </p:nvSpPr>
          <p:spPr>
            <a:xfrm>
              <a:off x="4679950" y="4449762"/>
              <a:ext cx="1588" cy="157163"/>
            </a:xfrm>
            <a:prstGeom prst="line">
              <a:avLst/>
            </a:prstGeom>
            <a:ln w="9525" cap="flat" cmpd="sng">
              <a:solidFill>
                <a:srgbClr val="000000"/>
              </a:solidFill>
              <a:prstDash val="solid"/>
              <a:bevel/>
              <a:headEnd type="none" w="med" len="med"/>
              <a:tailEnd type="triangle" w="sm" len="med"/>
            </a:ln>
          </p:spPr>
        </p:sp>
        <p:sp>
          <p:nvSpPr>
            <p:cNvPr id="174159" name="Line 88"/>
            <p:cNvSpPr/>
            <p:nvPr/>
          </p:nvSpPr>
          <p:spPr>
            <a:xfrm>
              <a:off x="4686300" y="2005012"/>
              <a:ext cx="1588" cy="158750"/>
            </a:xfrm>
            <a:prstGeom prst="line">
              <a:avLst/>
            </a:prstGeom>
            <a:ln w="9525" cap="flat" cmpd="sng">
              <a:solidFill>
                <a:srgbClr val="000000"/>
              </a:solidFill>
              <a:prstDash val="solid"/>
              <a:bevel/>
              <a:headEnd type="none" w="med" len="med"/>
              <a:tailEnd type="triangle" w="sm" len="med"/>
            </a:ln>
          </p:spPr>
        </p:sp>
        <p:sp>
          <p:nvSpPr>
            <p:cNvPr id="174160" name="Line 89"/>
            <p:cNvSpPr/>
            <p:nvPr/>
          </p:nvSpPr>
          <p:spPr>
            <a:xfrm>
              <a:off x="4686300" y="2506662"/>
              <a:ext cx="1588" cy="158750"/>
            </a:xfrm>
            <a:prstGeom prst="line">
              <a:avLst/>
            </a:prstGeom>
            <a:ln w="9525" cap="flat" cmpd="sng">
              <a:solidFill>
                <a:srgbClr val="000000"/>
              </a:solidFill>
              <a:prstDash val="solid"/>
              <a:bevel/>
              <a:headEnd type="none" w="med" len="med"/>
              <a:tailEnd type="triangle" w="sm" len="med"/>
            </a:ln>
          </p:spPr>
        </p:sp>
        <p:sp>
          <p:nvSpPr>
            <p:cNvPr id="174161" name="Line 90"/>
            <p:cNvSpPr/>
            <p:nvPr/>
          </p:nvSpPr>
          <p:spPr>
            <a:xfrm>
              <a:off x="4686300" y="2840037"/>
              <a:ext cx="1588" cy="144463"/>
            </a:xfrm>
            <a:prstGeom prst="line">
              <a:avLst/>
            </a:prstGeom>
            <a:ln w="9525" cap="flat" cmpd="sng">
              <a:solidFill>
                <a:srgbClr val="000000"/>
              </a:solidFill>
              <a:prstDash val="solid"/>
              <a:bevel/>
              <a:headEnd type="none" w="med" len="med"/>
              <a:tailEnd type="triangle" w="sm" len="med"/>
            </a:ln>
          </p:spPr>
        </p:sp>
        <p:sp>
          <p:nvSpPr>
            <p:cNvPr id="174162" name="Line 91"/>
            <p:cNvSpPr/>
            <p:nvPr/>
          </p:nvSpPr>
          <p:spPr>
            <a:xfrm>
              <a:off x="4679950" y="4799012"/>
              <a:ext cx="1588" cy="158750"/>
            </a:xfrm>
            <a:prstGeom prst="line">
              <a:avLst/>
            </a:prstGeom>
            <a:ln w="9525" cap="flat" cmpd="sng">
              <a:solidFill>
                <a:srgbClr val="000000"/>
              </a:solidFill>
              <a:prstDash val="solid"/>
              <a:bevel/>
              <a:headEnd type="none" w="med" len="med"/>
              <a:tailEnd type="triangle" w="sm" len="med"/>
            </a:ln>
          </p:spPr>
        </p:sp>
        <p:sp>
          <p:nvSpPr>
            <p:cNvPr id="174163" name="Line 92"/>
            <p:cNvSpPr/>
            <p:nvPr/>
          </p:nvSpPr>
          <p:spPr>
            <a:xfrm>
              <a:off x="4679950" y="5141912"/>
              <a:ext cx="1588" cy="158750"/>
            </a:xfrm>
            <a:prstGeom prst="line">
              <a:avLst/>
            </a:prstGeom>
            <a:ln w="9525" cap="flat" cmpd="sng">
              <a:solidFill>
                <a:srgbClr val="000000"/>
              </a:solidFill>
              <a:prstDash val="solid"/>
              <a:bevel/>
              <a:headEnd type="none" w="med" len="med"/>
              <a:tailEnd type="triangle" w="sm" len="med"/>
            </a:ln>
          </p:spPr>
        </p:sp>
        <p:sp>
          <p:nvSpPr>
            <p:cNvPr id="174164" name="Line 93"/>
            <p:cNvSpPr/>
            <p:nvPr/>
          </p:nvSpPr>
          <p:spPr>
            <a:xfrm>
              <a:off x="4686300" y="1666875"/>
              <a:ext cx="1588" cy="157162"/>
            </a:xfrm>
            <a:prstGeom prst="line">
              <a:avLst/>
            </a:prstGeom>
            <a:ln w="9525" cap="flat" cmpd="sng">
              <a:solidFill>
                <a:srgbClr val="000000"/>
              </a:solidFill>
              <a:prstDash val="solid"/>
              <a:bevel/>
              <a:headEnd type="none" w="med" len="med"/>
              <a:tailEnd type="triangle" w="sm" len="med"/>
            </a:ln>
          </p:spPr>
        </p:sp>
        <p:sp>
          <p:nvSpPr>
            <p:cNvPr id="174165" name="Text Box 94"/>
            <p:cNvSpPr txBox="1"/>
            <p:nvPr/>
          </p:nvSpPr>
          <p:spPr>
            <a:xfrm>
              <a:off x="2185988" y="3963987"/>
              <a:ext cx="157162" cy="11430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000" b="0" dirty="0">
                  <a:solidFill>
                    <a:schemeClr val="tx1"/>
                  </a:solidFill>
                  <a:latin typeface="Times New Roman" panose="02020603050405020304" pitchFamily="18" charset="0"/>
                  <a:ea typeface="楷体_GB2312"/>
                </a:rPr>
                <a:t>N</a:t>
              </a:r>
              <a:endParaRPr lang="en-US" altLang="zh-CN" sz="1000" b="0" dirty="0">
                <a:solidFill>
                  <a:schemeClr val="tx1"/>
                </a:solidFill>
                <a:latin typeface="Times New Roman" panose="02020603050405020304" pitchFamily="18" charset="0"/>
                <a:ea typeface="楷体_GB2312"/>
              </a:endParaRPr>
            </a:p>
          </p:txBody>
        </p:sp>
        <p:sp>
          <p:nvSpPr>
            <p:cNvPr id="174166" name="AutoShape 95"/>
            <p:cNvSpPr/>
            <p:nvPr/>
          </p:nvSpPr>
          <p:spPr>
            <a:xfrm>
              <a:off x="5241925" y="4621212"/>
              <a:ext cx="158750" cy="1012825"/>
            </a:xfrm>
            <a:prstGeom prst="rightBrace">
              <a:avLst>
                <a:gd name="adj1" fmla="val 52812"/>
                <a:gd name="adj2" fmla="val 50000"/>
              </a:avLst>
            </a:prstGeom>
            <a:noFill/>
            <a:ln w="952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174167" name="Text Box 96"/>
            <p:cNvSpPr txBox="1"/>
            <p:nvPr/>
          </p:nvSpPr>
          <p:spPr>
            <a:xfrm>
              <a:off x="5457825" y="4860925"/>
              <a:ext cx="539750" cy="50482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80000"/>
                </a:lnSpc>
                <a:spcBef>
                  <a:spcPct val="0"/>
                </a:spcBef>
                <a:spcAft>
                  <a:spcPct val="0"/>
                </a:spcAft>
                <a:buClr>
                  <a:srgbClr val="0000CC"/>
                </a:buClr>
                <a:buSzPct val="75000"/>
                <a:buNone/>
              </a:pPr>
              <a:r>
                <a:rPr lang="en-US" altLang="zh-CN" sz="1400" b="0" dirty="0">
                  <a:solidFill>
                    <a:schemeClr val="bg2"/>
                  </a:solidFill>
                  <a:latin typeface="Times New Roman" panose="02020603050405020304" pitchFamily="18" charset="0"/>
                  <a:ea typeface="楷体_GB2312"/>
                </a:rPr>
                <a:t>IRET</a:t>
              </a:r>
              <a:r>
                <a:rPr lang="zh-CN" altLang="en-US" sz="1400" b="0" dirty="0">
                  <a:solidFill>
                    <a:schemeClr val="bg2"/>
                  </a:solidFill>
                  <a:latin typeface="Times New Roman" panose="02020603050405020304" pitchFamily="18" charset="0"/>
                  <a:ea typeface="楷体_GB2312"/>
                </a:rPr>
                <a:t>指令的操作</a:t>
              </a:r>
              <a:endParaRPr lang="zh-CN" altLang="en-US" sz="1400" b="0" dirty="0">
                <a:solidFill>
                  <a:schemeClr val="bg2"/>
                </a:solidFill>
                <a:latin typeface="Times New Roman" panose="02020603050405020304" pitchFamily="18" charset="0"/>
                <a:ea typeface="楷体_GB2312"/>
              </a:endParaRPr>
            </a:p>
          </p:txBody>
        </p:sp>
      </p:grpSp>
    </p:spTree>
  </p:cSld>
  <p:clrMapOvr>
    <a:masterClrMapping/>
  </p:clrMapOvr>
  <p:transition spd="slow">
    <p:zo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175107" name="Rectangle 2"/>
          <p:cNvSpPr>
            <a:spLocks noGrp="1" noRot="1"/>
          </p:cNvSpPr>
          <p:nvPr>
            <p:ph type="title" idx="4294967295"/>
          </p:nvPr>
        </p:nvSpPr>
        <p:spPr/>
        <p:txBody>
          <a:bodyPr vert="horz" wrap="square" lIns="91440" tIns="45720" rIns="91440" bIns="45720" anchor="b" anchorCtr="0"/>
          <a:p>
            <a:pPr eaLnBrk="1" hangingPunct="1"/>
            <a:r>
              <a:rPr lang="zh-CN" altLang="en-US" dirty="0"/>
              <a:t>三、</a:t>
            </a:r>
            <a:r>
              <a:rPr lang="en-GB" altLang="en-US" dirty="0"/>
              <a:t>8086/8088</a:t>
            </a:r>
            <a:r>
              <a:rPr lang="zh-CN" altLang="en-US" dirty="0"/>
              <a:t>的中断系统</a:t>
            </a:r>
            <a:r>
              <a:rPr lang="en-GB" altLang="en-US" dirty="0">
                <a:solidFill>
                  <a:srgbClr val="FF3300"/>
                </a:solidFill>
              </a:rPr>
              <a:t> </a:t>
            </a:r>
            <a:endParaRPr lang="zh-CN" altLang="en-US" dirty="0">
              <a:solidFill>
                <a:srgbClr val="FF3300"/>
              </a:solidFill>
            </a:endParaRPr>
          </a:p>
        </p:txBody>
      </p:sp>
      <p:sp>
        <p:nvSpPr>
          <p:cNvPr id="175108" name="Rectangle 3"/>
          <p:cNvSpPr>
            <a:spLocks noGrp="1" noRot="1" noChangeArrowheads="1"/>
          </p:cNvSpPr>
          <p:nvPr>
            <p:ph type="body" idx="4294967295"/>
          </p:nvPr>
        </p:nvSpPr>
        <p:spPr>
          <a:xfrm>
            <a:off x="323850" y="2128838"/>
            <a:ext cx="8399463"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5000"/>
              </a:spcAft>
              <a:buClr>
                <a:schemeClr val="folHlink"/>
              </a:buClr>
              <a:buSzPct val="60000"/>
              <a:buFont typeface="Wingdings" panose="05000000000000000000" pitchFamily="2" charset="2"/>
              <a:buChar char="n"/>
              <a:defRPr/>
            </a:pPr>
            <a:r>
              <a:rPr kumimoji="0" lang="zh-CN" altLang="en-US" sz="2800" b="1" i="0" u="none" strike="noStrike" kern="1200" cap="none" spc="0" normalizeH="0" baseline="0" noProof="0" dirty="0" smtClean="0">
                <a:ln>
                  <a:noFill/>
                </a:ln>
                <a:solidFill>
                  <a:schemeClr val="tx2"/>
                </a:solidFill>
                <a:effectLst/>
                <a:uLnTx/>
                <a:uFillTx/>
                <a:latin typeface="+mn-lt"/>
                <a:ea typeface="+mn-ea"/>
                <a:cs typeface="+mn-cs"/>
              </a:rPr>
              <a:t>与中断有关的控制线为：</a:t>
            </a:r>
            <a:r>
              <a:rPr kumimoji="0" lang="en-US" altLang="zh-CN" sz="2800" b="1" i="0" u="none" strike="noStrike" kern="1200" cap="none" spc="0" normalizeH="0" baseline="0" noProof="0" dirty="0" smtClean="0">
                <a:ln>
                  <a:noFill/>
                </a:ln>
                <a:solidFill>
                  <a:schemeClr val="tx2"/>
                </a:solidFill>
                <a:effectLst/>
                <a:uLnTx/>
                <a:uFillTx/>
                <a:latin typeface="+mn-lt"/>
                <a:ea typeface="+mn-ea"/>
                <a:cs typeface="+mn-cs"/>
              </a:rPr>
              <a:t>NMI</a:t>
            </a:r>
            <a:r>
              <a:rPr kumimoji="0" lang="zh-CN" altLang="en-US" sz="2800" b="1" i="0" u="none" strike="noStrike" kern="1200" cap="none" spc="0" normalizeH="0" baseline="0" noProof="0" dirty="0" smtClean="0">
                <a:ln>
                  <a:noFill/>
                </a:ln>
                <a:solidFill>
                  <a:schemeClr val="tx2"/>
                </a:solidFill>
                <a:effectLst/>
                <a:uLnTx/>
                <a:uFillTx/>
                <a:latin typeface="+mn-lt"/>
                <a:ea typeface="+mn-ea"/>
                <a:cs typeface="+mn-cs"/>
              </a:rPr>
              <a:t>、</a:t>
            </a:r>
            <a:r>
              <a:rPr kumimoji="0" lang="en-US" altLang="zh-CN" sz="2800" b="1" i="0" u="none" strike="noStrike" kern="1200" cap="none" spc="0" normalizeH="0" baseline="0" noProof="0" dirty="0" smtClean="0">
                <a:ln>
                  <a:noFill/>
                </a:ln>
                <a:solidFill>
                  <a:schemeClr val="tx2"/>
                </a:solidFill>
                <a:effectLst/>
                <a:uLnTx/>
                <a:uFillTx/>
                <a:latin typeface="+mn-lt"/>
                <a:ea typeface="+mn-ea"/>
                <a:cs typeface="+mn-cs"/>
              </a:rPr>
              <a:t>INTR</a:t>
            </a:r>
            <a:r>
              <a:rPr kumimoji="0" lang="zh-CN" altLang="en-US" sz="2800" b="1" i="0" u="none" strike="noStrike" kern="1200" cap="none" spc="0" normalizeH="0" baseline="0" noProof="0" dirty="0" smtClean="0">
                <a:ln>
                  <a:noFill/>
                </a:ln>
                <a:solidFill>
                  <a:schemeClr val="tx2"/>
                </a:solidFill>
                <a:effectLst/>
                <a:uLnTx/>
                <a:uFillTx/>
                <a:latin typeface="+mn-lt"/>
                <a:ea typeface="+mn-ea"/>
                <a:cs typeface="+mn-cs"/>
              </a:rPr>
              <a:t>、</a:t>
            </a:r>
            <a:r>
              <a:rPr kumimoji="0" lang="en-US" altLang="zh-CN" sz="2800" b="1" i="0" u="none" strike="noStrike" kern="1200" cap="none" spc="0" normalizeH="0" baseline="0" noProof="0" dirty="0" smtClean="0">
                <a:ln>
                  <a:noFill/>
                </a:ln>
                <a:solidFill>
                  <a:schemeClr val="tx2"/>
                </a:solidFill>
                <a:effectLst/>
                <a:uLnTx/>
                <a:uFillTx/>
                <a:latin typeface="+mn-lt"/>
                <a:ea typeface="+mn-ea"/>
                <a:cs typeface="+mn-cs"/>
              </a:rPr>
              <a:t>INTA</a:t>
            </a:r>
            <a:endParaRPr kumimoji="0" lang="en-US" altLang="zh-CN" sz="2800" b="1"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5000"/>
              </a:spcAft>
              <a:buClr>
                <a:schemeClr val="folHlink"/>
              </a:buClr>
              <a:buSzPct val="60000"/>
              <a:buFont typeface="Wingdings" panose="05000000000000000000" pitchFamily="2" charset="2"/>
              <a:buChar char="n"/>
              <a:defRPr/>
            </a:pPr>
            <a:r>
              <a:rPr kumimoji="0" lang="en-US" altLang="zh-CN" sz="2800" b="1" i="0" u="none" strike="noStrike" kern="1200" cap="none" spc="0" normalizeH="0" baseline="0" noProof="0" dirty="0" smtClean="0">
                <a:ln>
                  <a:noFill/>
                </a:ln>
                <a:solidFill>
                  <a:schemeClr val="tx2"/>
                </a:solidFill>
                <a:effectLst/>
                <a:uLnTx/>
                <a:uFillTx/>
                <a:latin typeface="+mn-lt"/>
                <a:ea typeface="+mn-ea"/>
                <a:cs typeface="+mn-cs"/>
              </a:rPr>
              <a:t>8086</a:t>
            </a:r>
            <a:r>
              <a:rPr kumimoji="0" lang="zh-CN" altLang="en-US" sz="2800" b="1" i="0" u="none" strike="noStrike" kern="1200" cap="none" spc="0" normalizeH="0" baseline="0" noProof="0" dirty="0" smtClean="0">
                <a:ln>
                  <a:noFill/>
                </a:ln>
                <a:solidFill>
                  <a:schemeClr val="tx2"/>
                </a:solidFill>
                <a:effectLst/>
                <a:uLnTx/>
                <a:uFillTx/>
                <a:latin typeface="+mn-lt"/>
                <a:ea typeface="+mn-ea"/>
                <a:cs typeface="+mn-cs"/>
              </a:rPr>
              <a:t>系统的中断源（</a:t>
            </a:r>
            <a:r>
              <a:rPr kumimoji="0" lang="en-US" altLang="zh-CN" sz="2800" b="1" i="0" u="none" strike="noStrike" kern="1200" cap="none" spc="0" normalizeH="0" baseline="0" noProof="0" dirty="0" smtClean="0">
                <a:ln>
                  <a:noFill/>
                </a:ln>
                <a:solidFill>
                  <a:schemeClr val="tx2"/>
                </a:solidFill>
                <a:effectLst/>
                <a:uLnTx/>
                <a:uFillTx/>
                <a:latin typeface="+mn-lt"/>
                <a:ea typeface="+mn-ea"/>
                <a:cs typeface="+mn-cs"/>
              </a:rPr>
              <a:t>256</a:t>
            </a:r>
            <a:r>
              <a:rPr kumimoji="0" lang="zh-CN" altLang="en-US" sz="2800" b="1" i="0" u="none" strike="noStrike" kern="1200" cap="none" spc="0" normalizeH="0" baseline="0" noProof="0" dirty="0" smtClean="0">
                <a:ln>
                  <a:noFill/>
                </a:ln>
                <a:solidFill>
                  <a:schemeClr val="tx2"/>
                </a:solidFill>
                <a:effectLst/>
                <a:uLnTx/>
                <a:uFillTx/>
                <a:latin typeface="+mn-lt"/>
                <a:ea typeface="+mn-ea"/>
                <a:cs typeface="+mn-cs"/>
              </a:rPr>
              <a:t>个）</a:t>
            </a:r>
            <a:endParaRPr kumimoji="0" lang="zh-CN" altLang="en-US" sz="2800" b="1" i="0" u="none" strike="noStrike" kern="1200" cap="none" spc="0" normalizeH="0" baseline="0" noProof="0" dirty="0" smtClean="0">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80000"/>
              </a:lnSpc>
              <a:spcBef>
                <a:spcPct val="20000"/>
              </a:spcBef>
              <a:spcAft>
                <a:spcPct val="5000"/>
              </a:spcAft>
              <a:buClr>
                <a:schemeClr val="hlink"/>
              </a:buClr>
              <a:buSzPct val="55000"/>
              <a:buFont typeface="Wingdings" panose="05000000000000000000" pitchFamily="2" charset="2"/>
              <a:buChar char="n"/>
              <a:defRPr/>
            </a:pP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内部中断</a:t>
            </a:r>
            <a:endParaRPr kumimoji="0" lang="zh-CN" altLang="en-US" sz="2400" b="1"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base" latinLnBrk="0" hangingPunct="1">
              <a:lnSpc>
                <a:spcPct val="80000"/>
              </a:lnSpc>
              <a:spcBef>
                <a:spcPct val="20000"/>
              </a:spcBef>
              <a:spcAft>
                <a:spcPct val="5000"/>
              </a:spcAft>
              <a:buClr>
                <a:schemeClr val="folHlink"/>
              </a:buClr>
              <a:buSzPct val="50000"/>
              <a:buFont typeface="Wingdings" panose="05000000000000000000" pitchFamily="2" charset="2"/>
              <a:buChar char="n"/>
              <a:defRPr/>
            </a:pPr>
            <a:r>
              <a:rPr kumimoji="0" lang="zh-CN" altLang="en-US" sz="2000" b="1" i="0" u="none" strike="noStrike" kern="1200" cap="none" spc="0" normalizeH="0" baseline="0" noProof="0" dirty="0" smtClean="0">
                <a:ln>
                  <a:noFill/>
                </a:ln>
                <a:solidFill>
                  <a:srgbClr val="0000FF"/>
                </a:solidFill>
                <a:effectLst/>
                <a:uLnTx/>
                <a:uFillTx/>
                <a:latin typeface="+mn-lt"/>
                <a:ea typeface="+mn-ea"/>
                <a:cs typeface="+mn-cs"/>
              </a:rPr>
              <a:t>软件中断：即</a:t>
            </a:r>
            <a:r>
              <a:rPr kumimoji="0" lang="en-US" altLang="zh-CN" sz="2000" b="1" i="0" u="none" strike="noStrike" kern="1200" cap="none" spc="0" normalizeH="0" baseline="0" noProof="0" dirty="0" smtClean="0">
                <a:ln>
                  <a:noFill/>
                </a:ln>
                <a:solidFill>
                  <a:srgbClr val="0000FF"/>
                </a:solidFill>
                <a:effectLst/>
                <a:uLnTx/>
                <a:uFillTx/>
                <a:latin typeface="+mn-lt"/>
                <a:ea typeface="+mn-ea"/>
                <a:cs typeface="+mn-cs"/>
              </a:rPr>
              <a:t>INT n</a:t>
            </a:r>
            <a:r>
              <a:rPr kumimoji="0" lang="zh-CN" altLang="en-US" sz="2000" b="1" i="0" u="none" strike="noStrike" kern="1200" cap="none" spc="0" normalizeH="0" baseline="0" noProof="0" dirty="0" smtClean="0">
                <a:ln>
                  <a:noFill/>
                </a:ln>
                <a:solidFill>
                  <a:srgbClr val="0000FF"/>
                </a:solidFill>
                <a:effectLst/>
                <a:uLnTx/>
                <a:uFillTx/>
                <a:latin typeface="+mn-lt"/>
                <a:ea typeface="+mn-ea"/>
                <a:cs typeface="+mn-cs"/>
              </a:rPr>
              <a:t>指令，类型号</a:t>
            </a:r>
            <a:r>
              <a:rPr kumimoji="0" lang="en-US" altLang="zh-CN" sz="2000" b="1" i="0" u="none" strike="noStrike" kern="1200" cap="none" spc="0" normalizeH="0" baseline="0" noProof="0" dirty="0" smtClean="0">
                <a:ln>
                  <a:noFill/>
                </a:ln>
                <a:solidFill>
                  <a:srgbClr val="0000FF"/>
                </a:solidFill>
                <a:effectLst/>
                <a:uLnTx/>
                <a:uFillTx/>
                <a:latin typeface="+mn-lt"/>
                <a:ea typeface="+mn-ea"/>
                <a:cs typeface="+mn-cs"/>
              </a:rPr>
              <a:t>n(0-255)</a:t>
            </a:r>
            <a:r>
              <a:rPr kumimoji="0" lang="zh-CN" altLang="en-US" sz="2000" b="1" i="0" u="none" strike="noStrike" kern="1200" cap="none" spc="0" normalizeH="0" baseline="0" noProof="0" dirty="0" smtClean="0">
                <a:ln>
                  <a:noFill/>
                </a:ln>
                <a:solidFill>
                  <a:srgbClr val="0000FF"/>
                </a:solidFill>
                <a:effectLst/>
                <a:uLnTx/>
                <a:uFillTx/>
                <a:latin typeface="+mn-lt"/>
                <a:ea typeface="+mn-ea"/>
                <a:cs typeface="+mn-cs"/>
              </a:rPr>
              <a:t>。</a:t>
            </a:r>
            <a:endParaRPr kumimoji="0" lang="zh-CN" altLang="en-US" sz="2000" b="1" i="0" u="none" strike="noStrike" kern="1200" cap="none" spc="0" normalizeH="0" baseline="0" noProof="0" dirty="0" smtClean="0">
              <a:ln>
                <a:noFill/>
              </a:ln>
              <a:solidFill>
                <a:srgbClr val="FF0000"/>
              </a:solidFill>
              <a:effectLst/>
              <a:uLnTx/>
              <a:uFillTx/>
              <a:latin typeface="+mn-lt"/>
              <a:ea typeface="+mn-ea"/>
              <a:cs typeface="+mn-cs"/>
            </a:endParaRPr>
          </a:p>
          <a:p>
            <a:pPr marL="1600200" marR="0" lvl="3" indent="-228600" algn="l" defTabSz="914400" rtl="0" eaLnBrk="1" fontAlgn="base" latinLnBrk="0" hangingPunct="1">
              <a:lnSpc>
                <a:spcPct val="80000"/>
              </a:lnSpc>
              <a:spcBef>
                <a:spcPct val="20000"/>
              </a:spcBef>
              <a:spcAft>
                <a:spcPct val="0"/>
              </a:spcAft>
              <a:buClr>
                <a:schemeClr val="accent2"/>
              </a:buClr>
              <a:buSzPct val="55000"/>
              <a:buFont typeface="Wingdings" panose="05000000000000000000" pitchFamily="2" charset="2"/>
              <a:buChar char="n"/>
              <a:defRPr/>
            </a:pPr>
            <a:r>
              <a:rPr kumimoji="0" lang="zh-CN" altLang="en-US"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除法出错：类型号</a:t>
            </a:r>
            <a:r>
              <a:rPr kumimoji="0" lang="en-US" altLang="zh-CN"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0</a:t>
            </a:r>
            <a:r>
              <a:rPr kumimoji="0" lang="zh-CN" altLang="en-US"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，商大于目的操作数所能表达的范围时产生。</a:t>
            </a:r>
            <a:endParaRPr kumimoji="0" lang="zh-CN" altLang="en-US"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endParaRPr>
          </a:p>
          <a:p>
            <a:pPr marL="1600200" marR="0" lvl="3" indent="-228600" algn="l" defTabSz="914400" rtl="0" eaLnBrk="1" fontAlgn="base" latinLnBrk="0" hangingPunct="1">
              <a:lnSpc>
                <a:spcPct val="80000"/>
              </a:lnSpc>
              <a:spcBef>
                <a:spcPct val="20000"/>
              </a:spcBef>
              <a:spcAft>
                <a:spcPct val="0"/>
              </a:spcAft>
              <a:buClr>
                <a:schemeClr val="accent2"/>
              </a:buClr>
              <a:buSzPct val="55000"/>
              <a:buFont typeface="Wingdings" panose="05000000000000000000" pitchFamily="2" charset="2"/>
              <a:buChar char="n"/>
              <a:defRPr/>
            </a:pPr>
            <a:r>
              <a:rPr kumimoji="0" lang="zh-CN" altLang="en-US"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单步中断：类型号</a:t>
            </a:r>
            <a:r>
              <a:rPr kumimoji="0" lang="en-US" altLang="zh-CN"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1</a:t>
            </a:r>
            <a:r>
              <a:rPr kumimoji="0" lang="zh-CN" altLang="en-US"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a:t>
            </a:r>
            <a:r>
              <a:rPr kumimoji="0" lang="en-US" altLang="zh-CN"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TF=1</a:t>
            </a:r>
            <a:r>
              <a:rPr kumimoji="0" lang="zh-CN" altLang="en-US"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时产生（当前指令需执行完）</a:t>
            </a:r>
            <a:endParaRPr kumimoji="0" lang="zh-CN" altLang="en-US"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endParaRPr>
          </a:p>
          <a:p>
            <a:pPr marL="1600200" marR="0" lvl="3" indent="-228600" algn="l" defTabSz="914400" rtl="0" eaLnBrk="1" fontAlgn="base" latinLnBrk="0" hangingPunct="1">
              <a:lnSpc>
                <a:spcPct val="80000"/>
              </a:lnSpc>
              <a:spcBef>
                <a:spcPct val="20000"/>
              </a:spcBef>
              <a:spcAft>
                <a:spcPct val="0"/>
              </a:spcAft>
              <a:buClr>
                <a:schemeClr val="accent2"/>
              </a:buClr>
              <a:buSzPct val="55000"/>
              <a:buFont typeface="Wingdings" panose="05000000000000000000" pitchFamily="2" charset="2"/>
              <a:buChar char="n"/>
              <a:defRPr/>
            </a:pPr>
            <a:r>
              <a:rPr kumimoji="0" lang="zh-CN" altLang="en-US"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断点中断：类型号</a:t>
            </a:r>
            <a:r>
              <a:rPr kumimoji="0" lang="en-US" altLang="zh-CN"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3</a:t>
            </a:r>
            <a:r>
              <a:rPr kumimoji="0" lang="zh-CN" altLang="en-US"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，这是一个软件中断，即</a:t>
            </a:r>
            <a:r>
              <a:rPr kumimoji="0" lang="en-US" altLang="zh-CN"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INT 3</a:t>
            </a:r>
            <a:r>
              <a:rPr kumimoji="0" lang="zh-CN" altLang="en-US"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指令。</a:t>
            </a:r>
            <a:endParaRPr kumimoji="0" lang="zh-CN" altLang="en-US"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endParaRPr>
          </a:p>
          <a:p>
            <a:pPr marL="1600200" marR="0" lvl="3" indent="-228600" algn="l" defTabSz="914400" rtl="0" eaLnBrk="1" fontAlgn="base" latinLnBrk="0" hangingPunct="1">
              <a:lnSpc>
                <a:spcPct val="80000"/>
              </a:lnSpc>
              <a:spcBef>
                <a:spcPct val="20000"/>
              </a:spcBef>
              <a:spcAft>
                <a:spcPct val="0"/>
              </a:spcAft>
              <a:buClr>
                <a:schemeClr val="accent2"/>
              </a:buClr>
              <a:buSzPct val="55000"/>
              <a:buFont typeface="Wingdings" panose="05000000000000000000" pitchFamily="2" charset="2"/>
              <a:buChar char="n"/>
              <a:defRPr/>
            </a:pPr>
            <a:r>
              <a:rPr kumimoji="0" lang="zh-CN" altLang="en-US"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溢出中断：类型号</a:t>
            </a:r>
            <a:r>
              <a:rPr kumimoji="0" lang="en-US" altLang="zh-CN"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4</a:t>
            </a:r>
            <a:r>
              <a:rPr kumimoji="0" lang="zh-CN" altLang="en-US"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，这是一个软件中断，即</a:t>
            </a:r>
            <a:r>
              <a:rPr kumimoji="0" lang="en-US" altLang="zh-CN"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INTO</a:t>
            </a:r>
            <a:r>
              <a:rPr kumimoji="0" lang="zh-CN" altLang="en-US" sz="18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rPr>
              <a:t>指令。</a:t>
            </a:r>
            <a:endParaRPr kumimoji="0" lang="zh-CN" altLang="en-US" sz="2000" b="0" i="1" u="none" strike="noStrike" kern="1200" cap="none" spc="0" normalizeH="0" baseline="0" noProof="0" dirty="0" smtClean="0">
              <a:ln>
                <a:noFill/>
              </a:ln>
              <a:solidFill>
                <a:schemeClr val="tx1">
                  <a:lumMod val="85000"/>
                  <a:lumOff val="15000"/>
                </a:schemeClr>
              </a:solidFill>
              <a:effectLst/>
              <a:uLnTx/>
              <a:uFillTx/>
              <a:latin typeface="+mn-lt"/>
              <a:ea typeface="+mn-ea"/>
              <a:cs typeface="+mn-cs"/>
            </a:endParaRPr>
          </a:p>
          <a:p>
            <a:pPr marL="742950" marR="0" lvl="1" indent="-285750" algn="l" defTabSz="914400" rtl="0" eaLnBrk="1" fontAlgn="base" latinLnBrk="0" hangingPunct="1">
              <a:lnSpc>
                <a:spcPct val="80000"/>
              </a:lnSpc>
              <a:spcBef>
                <a:spcPct val="20000"/>
              </a:spcBef>
              <a:spcAft>
                <a:spcPct val="5000"/>
              </a:spcAft>
              <a:buClr>
                <a:schemeClr val="hlink"/>
              </a:buClr>
              <a:buSzPct val="55000"/>
              <a:buFont typeface="Wingdings" panose="05000000000000000000" pitchFamily="2" charset="2"/>
              <a:buChar char="n"/>
              <a:defRPr/>
            </a:pP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外部中断</a:t>
            </a:r>
            <a:endParaRPr kumimoji="0" lang="zh-CN" altLang="en-US" sz="2400" b="1"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base" latinLnBrk="0" hangingPunct="1">
              <a:lnSpc>
                <a:spcPct val="80000"/>
              </a:lnSpc>
              <a:spcBef>
                <a:spcPct val="20000"/>
              </a:spcBef>
              <a:spcAft>
                <a:spcPct val="5000"/>
              </a:spcAft>
              <a:buClr>
                <a:schemeClr val="folHlink"/>
              </a:buClr>
              <a:buSzPct val="50000"/>
              <a:buFont typeface="Wingdings" panose="05000000000000000000" pitchFamily="2" charset="2"/>
              <a:buChar char="n"/>
              <a:defRPr/>
            </a:pPr>
            <a:r>
              <a:rPr kumimoji="0" lang="zh-CN" altLang="en-US" sz="2000" b="1" i="0" u="none" strike="noStrike" kern="1200" cap="none" spc="0" normalizeH="0" baseline="0" noProof="0" dirty="0" smtClean="0">
                <a:ln>
                  <a:noFill/>
                </a:ln>
                <a:solidFill>
                  <a:srgbClr val="0000FF"/>
                </a:solidFill>
                <a:effectLst/>
                <a:uLnTx/>
                <a:uFillTx/>
                <a:latin typeface="+mn-lt"/>
                <a:ea typeface="+mn-ea"/>
                <a:cs typeface="+mn-cs"/>
              </a:rPr>
              <a:t>非屏蔽中断</a:t>
            </a:r>
            <a:r>
              <a:rPr kumimoji="0" lang="en-US" altLang="zh-CN" sz="2000" b="1" i="0" u="none" strike="noStrike" kern="1200" cap="none" spc="0" normalizeH="0" baseline="0" noProof="0" dirty="0" smtClean="0">
                <a:ln>
                  <a:noFill/>
                </a:ln>
                <a:solidFill>
                  <a:srgbClr val="0000FF"/>
                </a:solidFill>
                <a:effectLst/>
                <a:uLnTx/>
                <a:uFillTx/>
                <a:latin typeface="+mn-lt"/>
                <a:ea typeface="+mn-ea"/>
                <a:cs typeface="+mn-cs"/>
              </a:rPr>
              <a:t>NMI</a:t>
            </a:r>
            <a:r>
              <a:rPr kumimoji="0" lang="zh-CN" altLang="en-US" sz="2000" b="1" i="0" u="none" strike="noStrike" kern="1200" cap="none" spc="0" normalizeH="0" baseline="0" noProof="0" dirty="0" smtClean="0">
                <a:ln>
                  <a:noFill/>
                </a:ln>
                <a:solidFill>
                  <a:srgbClr val="0000FF"/>
                </a:solidFill>
                <a:effectLst/>
                <a:uLnTx/>
                <a:uFillTx/>
                <a:latin typeface="+mn-lt"/>
                <a:ea typeface="+mn-ea"/>
                <a:cs typeface="+mn-cs"/>
              </a:rPr>
              <a:t>：类型号</a:t>
            </a:r>
            <a:r>
              <a:rPr kumimoji="0" lang="en-US" altLang="zh-CN" sz="2000" b="1" i="0" u="none" strike="noStrike" kern="1200" cap="none" spc="0" normalizeH="0" baseline="0" noProof="0" dirty="0" smtClean="0">
                <a:ln>
                  <a:noFill/>
                </a:ln>
                <a:solidFill>
                  <a:srgbClr val="0000FF"/>
                </a:solidFill>
                <a:effectLst/>
                <a:uLnTx/>
                <a:uFillTx/>
                <a:latin typeface="+mn-lt"/>
                <a:ea typeface="+mn-ea"/>
                <a:cs typeface="+mn-cs"/>
              </a:rPr>
              <a:t>2</a:t>
            </a:r>
            <a:r>
              <a:rPr kumimoji="0" lang="zh-CN" altLang="en-US" sz="2000" b="1" i="0" u="none" strike="noStrike" kern="1200" cap="none" spc="0" normalizeH="0" baseline="0" noProof="0" dirty="0" smtClean="0">
                <a:ln>
                  <a:noFill/>
                </a:ln>
                <a:solidFill>
                  <a:srgbClr val="0000FF"/>
                </a:solidFill>
                <a:effectLst/>
                <a:uLnTx/>
                <a:uFillTx/>
                <a:latin typeface="+mn-lt"/>
                <a:ea typeface="+mn-ea"/>
                <a:cs typeface="+mn-cs"/>
              </a:rPr>
              <a:t>，不可用软件屏蔽，</a:t>
            </a:r>
            <a:r>
              <a:rPr kumimoji="0" lang="en-US" altLang="zh-CN" sz="2000" b="1" i="0" u="none" strike="noStrike" kern="1200" cap="none" spc="0" normalizeH="0" baseline="0" noProof="0" dirty="0" smtClean="0">
                <a:ln>
                  <a:noFill/>
                </a:ln>
                <a:solidFill>
                  <a:srgbClr val="0000FF"/>
                </a:solidFill>
                <a:effectLst/>
                <a:uLnTx/>
                <a:uFillTx/>
                <a:latin typeface="+mn-lt"/>
                <a:ea typeface="+mn-ea"/>
                <a:cs typeface="+mn-cs"/>
              </a:rPr>
              <a:t>CPU</a:t>
            </a:r>
            <a:r>
              <a:rPr kumimoji="0" lang="zh-CN" altLang="en-US" sz="2000" b="1" i="0" u="none" strike="noStrike" kern="1200" cap="none" spc="0" normalizeH="0" baseline="0" noProof="0" dirty="0" smtClean="0">
                <a:ln>
                  <a:noFill/>
                </a:ln>
                <a:solidFill>
                  <a:srgbClr val="0000FF"/>
                </a:solidFill>
                <a:effectLst/>
                <a:uLnTx/>
                <a:uFillTx/>
                <a:latin typeface="+mn-lt"/>
                <a:ea typeface="+mn-ea"/>
                <a:cs typeface="+mn-cs"/>
              </a:rPr>
              <a:t>必须响应它。</a:t>
            </a:r>
            <a:endParaRPr kumimoji="0" lang="zh-CN" altLang="en-US" sz="2000" b="1" i="0" u="none" strike="noStrike" kern="1200" cap="none" spc="0" normalizeH="0" baseline="0" noProof="0" dirty="0" smtClean="0">
              <a:ln>
                <a:noFill/>
              </a:ln>
              <a:solidFill>
                <a:srgbClr val="0000FF"/>
              </a:solidFill>
              <a:effectLst/>
              <a:uLnTx/>
              <a:uFillTx/>
              <a:latin typeface="+mn-lt"/>
              <a:ea typeface="+mn-ea"/>
              <a:cs typeface="+mn-cs"/>
            </a:endParaRPr>
          </a:p>
          <a:p>
            <a:pPr marL="1143000" marR="0" lvl="2" indent="-228600" algn="l" defTabSz="914400" rtl="0" eaLnBrk="1" fontAlgn="base" latinLnBrk="0" hangingPunct="1">
              <a:lnSpc>
                <a:spcPct val="80000"/>
              </a:lnSpc>
              <a:spcBef>
                <a:spcPct val="20000"/>
              </a:spcBef>
              <a:spcAft>
                <a:spcPct val="5000"/>
              </a:spcAft>
              <a:buClr>
                <a:schemeClr val="folHlink"/>
              </a:buClr>
              <a:buSzPct val="50000"/>
              <a:buFont typeface="Wingdings" panose="05000000000000000000" pitchFamily="2" charset="2"/>
              <a:buChar char="n"/>
              <a:defRPr/>
            </a:pPr>
            <a:r>
              <a:rPr kumimoji="0" lang="zh-CN" altLang="en-US" sz="2000" b="1" i="0" u="none" strike="noStrike" kern="1200" cap="none" spc="0" normalizeH="0" baseline="0" noProof="0" dirty="0" smtClean="0">
                <a:ln>
                  <a:noFill/>
                </a:ln>
                <a:solidFill>
                  <a:srgbClr val="0000FF"/>
                </a:solidFill>
                <a:effectLst/>
                <a:uLnTx/>
                <a:uFillTx/>
                <a:latin typeface="+mn-lt"/>
                <a:ea typeface="+mn-ea"/>
                <a:cs typeface="+mn-cs"/>
              </a:rPr>
              <a:t>可屏蔽中断</a:t>
            </a:r>
            <a:r>
              <a:rPr kumimoji="0" lang="en-US" altLang="zh-CN" sz="2000" b="1" i="0" u="none" strike="noStrike" kern="1200" cap="none" spc="0" normalizeH="0" baseline="0" noProof="0" dirty="0" smtClean="0">
                <a:ln>
                  <a:noFill/>
                </a:ln>
                <a:solidFill>
                  <a:srgbClr val="0000FF"/>
                </a:solidFill>
                <a:effectLst/>
                <a:uLnTx/>
                <a:uFillTx/>
                <a:latin typeface="+mn-lt"/>
                <a:ea typeface="+mn-ea"/>
                <a:cs typeface="+mn-cs"/>
              </a:rPr>
              <a:t>INTR</a:t>
            </a:r>
            <a:r>
              <a:rPr kumimoji="0" lang="zh-CN" altLang="en-US" sz="2000" b="1" i="0" u="none" strike="noStrike" kern="1200" cap="none" spc="0" normalizeH="0" baseline="0" noProof="0" dirty="0" smtClean="0">
                <a:ln>
                  <a:noFill/>
                </a:ln>
                <a:solidFill>
                  <a:srgbClr val="0000FF"/>
                </a:solidFill>
                <a:effectLst/>
                <a:uLnTx/>
                <a:uFillTx/>
                <a:latin typeface="+mn-lt"/>
                <a:ea typeface="+mn-ea"/>
                <a:cs typeface="+mn-cs"/>
              </a:rPr>
              <a:t>：类型号由</a:t>
            </a:r>
            <a:r>
              <a:rPr kumimoji="0" lang="en-US" altLang="zh-CN" sz="2000" b="1" i="0" u="none" strike="noStrike" kern="1200" cap="none" spc="0" normalizeH="0" baseline="0" noProof="0" dirty="0" smtClean="0">
                <a:ln>
                  <a:noFill/>
                </a:ln>
                <a:solidFill>
                  <a:srgbClr val="0000FF"/>
                </a:solidFill>
                <a:effectLst/>
                <a:uLnTx/>
                <a:uFillTx/>
                <a:latin typeface="+mn-lt"/>
                <a:ea typeface="+mn-ea"/>
                <a:cs typeface="+mn-cs"/>
              </a:rPr>
              <a:t>PIC</a:t>
            </a:r>
            <a:r>
              <a:rPr kumimoji="0" lang="zh-CN" altLang="en-US" sz="2000" b="1" i="0" u="none" strike="noStrike" kern="1200" cap="none" spc="0" normalizeH="0" baseline="0" noProof="0" dirty="0" smtClean="0">
                <a:ln>
                  <a:noFill/>
                </a:ln>
                <a:solidFill>
                  <a:srgbClr val="0000FF"/>
                </a:solidFill>
                <a:effectLst/>
                <a:uLnTx/>
                <a:uFillTx/>
                <a:latin typeface="+mn-lt"/>
                <a:ea typeface="+mn-ea"/>
                <a:cs typeface="+mn-cs"/>
              </a:rPr>
              <a:t>提供。</a:t>
            </a:r>
            <a:r>
              <a:rPr kumimoji="0" lang="en-US" altLang="zh-CN" sz="2000" b="1" i="0" u="none" strike="noStrike" kern="1200" cap="none" spc="0" normalizeH="0" baseline="0" noProof="0" dirty="0" smtClean="0">
                <a:ln>
                  <a:noFill/>
                </a:ln>
                <a:solidFill>
                  <a:srgbClr val="0000FF"/>
                </a:solidFill>
                <a:effectLst/>
                <a:uLnTx/>
                <a:uFillTx/>
                <a:latin typeface="+mn-lt"/>
                <a:ea typeface="+mn-ea"/>
                <a:cs typeface="+mn-cs"/>
              </a:rPr>
              <a:t>IF=1</a:t>
            </a:r>
            <a:r>
              <a:rPr kumimoji="0" lang="zh-CN" altLang="en-US" sz="2000" b="1" i="0" u="none" strike="noStrike" kern="1200" cap="none" spc="0" normalizeH="0" baseline="0" noProof="0" dirty="0" smtClean="0">
                <a:ln>
                  <a:noFill/>
                </a:ln>
                <a:solidFill>
                  <a:srgbClr val="0000FF"/>
                </a:solidFill>
                <a:effectLst/>
                <a:uLnTx/>
                <a:uFillTx/>
                <a:latin typeface="+mn-lt"/>
                <a:ea typeface="+mn-ea"/>
                <a:cs typeface="+mn-cs"/>
              </a:rPr>
              <a:t>时</a:t>
            </a:r>
            <a:r>
              <a:rPr kumimoji="0" lang="en-US" altLang="zh-CN" sz="2000" b="1" i="0" u="none" strike="noStrike" kern="1200" cap="none" spc="0" normalizeH="0" baseline="0" noProof="0" dirty="0" smtClean="0">
                <a:ln>
                  <a:noFill/>
                </a:ln>
                <a:solidFill>
                  <a:srgbClr val="0000FF"/>
                </a:solidFill>
                <a:effectLst/>
                <a:uLnTx/>
                <a:uFillTx/>
                <a:latin typeface="+mn-lt"/>
                <a:ea typeface="+mn-ea"/>
                <a:cs typeface="+mn-cs"/>
              </a:rPr>
              <a:t>CPU</a:t>
            </a:r>
            <a:r>
              <a:rPr kumimoji="0" lang="zh-CN" altLang="en-US" sz="2000" b="1" i="0" u="none" strike="noStrike" kern="1200" cap="none" spc="0" normalizeH="0" baseline="0" noProof="0" dirty="0" smtClean="0">
                <a:ln>
                  <a:noFill/>
                </a:ln>
                <a:solidFill>
                  <a:srgbClr val="0000FF"/>
                </a:solidFill>
                <a:effectLst/>
                <a:uLnTx/>
                <a:uFillTx/>
                <a:latin typeface="+mn-lt"/>
                <a:ea typeface="+mn-ea"/>
                <a:cs typeface="+mn-cs"/>
              </a:rPr>
              <a:t>才能响应。</a:t>
            </a:r>
            <a:endParaRPr kumimoji="0" lang="zh-CN" altLang="en-US" sz="2000" b="1" i="0" u="none" strike="noStrike" kern="1200" cap="none" spc="0" normalizeH="0" baseline="0" noProof="0" dirty="0" smtClean="0">
              <a:ln>
                <a:noFill/>
              </a:ln>
              <a:solidFill>
                <a:srgbClr val="0000FF"/>
              </a:solidFill>
              <a:effectLst/>
              <a:uLnTx/>
              <a:uFillTx/>
              <a:latin typeface="+mn-lt"/>
              <a:ea typeface="+mn-ea"/>
              <a:cs typeface="+mn-cs"/>
            </a:endParaRPr>
          </a:p>
        </p:txBody>
      </p:sp>
    </p:spTree>
  </p:cSld>
  <p:clrMapOvr>
    <a:masterClrMapping/>
  </p:clrMapOvr>
  <p:transition spd="slow">
    <p:zo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Font typeface="Arial" panose="020B0604020202020204" pitchFamily="34" charset="0"/>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graphicFrame>
        <p:nvGraphicFramePr>
          <p:cNvPr id="105475" name="内容占位符 105474"/>
          <p:cNvGraphicFramePr>
            <a:graphicFrameLocks noGrp="1"/>
          </p:cNvGraphicFramePr>
          <p:nvPr>
            <p:ph sz="half" idx="4294967295"/>
          </p:nvPr>
        </p:nvGraphicFramePr>
        <p:xfrm>
          <a:off x="1042988" y="2536825"/>
          <a:ext cx="6197600" cy="4083051"/>
        </p:xfrm>
        <a:graphic>
          <a:graphicData uri="http://schemas.openxmlformats.org/drawingml/2006/table">
            <a:tbl>
              <a:tblPr/>
              <a:tblGrid>
                <a:gridCol w="3694112"/>
                <a:gridCol w="2503488"/>
              </a:tblGrid>
              <a:tr h="461963">
                <a:tc>
                  <a:txBody>
                    <a:bodyPr/>
                    <a:lstStyle>
                      <a:lvl1pPr>
                        <a:lnSpc>
                          <a:spcPct val="110000"/>
                        </a:lnSpc>
                        <a:spcBef>
                          <a:spcPct val="20000"/>
                        </a:spcBef>
                        <a:spcAft>
                          <a:spcPct val="5000"/>
                        </a:spcAft>
                        <a:buClr>
                          <a:schemeClr val="folHlink"/>
                        </a:buClr>
                        <a:buSzPct val="60000"/>
                        <a:buFont typeface="Wingdings" panose="05000000000000000000" pitchFamily="2" charset="2"/>
                        <a:defRPr sz="24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defRPr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10000"/>
                        </a:lnSpc>
                        <a:spcBef>
                          <a:spcPct val="0"/>
                        </a:spcBef>
                        <a:spcAft>
                          <a:spcPct val="0"/>
                        </a:spcAft>
                        <a:buClr>
                          <a:srgbClr val="000000"/>
                        </a:buClr>
                        <a:buSzPct val="100000"/>
                        <a:buFont typeface="Arial" panose="020B0604020202020204" pitchFamily="34" charset="0"/>
                        <a:buNone/>
                      </a:pPr>
                      <a:r>
                        <a:rPr kumimoji="0" lang="zh-CN" altLang="en-US" sz="2400" b="0" i="0" u="none" strike="noStrike" cap="none" normalizeH="0" baseline="0">
                          <a:ln>
                            <a:noFill/>
                          </a:ln>
                          <a:solidFill>
                            <a:srgbClr val="CC6600"/>
                          </a:solidFill>
                          <a:effectLst/>
                          <a:latin typeface="Times New Roman" panose="02020603050405020304" pitchFamily="18" charset="0"/>
                          <a:ea typeface="宋体" panose="02010600030101010101" pitchFamily="2" charset="-122"/>
                          <a:cs typeface="楷体_GB2312"/>
                        </a:rPr>
                        <a:t>中断源</a:t>
                      </a:r>
                      <a:endParaRPr kumimoji="0" lang="zh-CN" altLang="en-US" sz="2400" b="0" i="0" u="none" strike="noStrike" cap="none" normalizeH="0" baseline="0">
                        <a:ln>
                          <a:noFill/>
                        </a:ln>
                        <a:solidFill>
                          <a:srgbClr val="CC6600"/>
                        </a:solidFill>
                        <a:effectLst/>
                        <a:latin typeface="Times New Roman" panose="02020603050405020304" pitchFamily="18" charset="0"/>
                        <a:ea typeface="宋体" panose="02010600030101010101" pitchFamily="2" charset="-122"/>
                        <a:cs typeface="楷体_GB2312"/>
                      </a:endParaRP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20000"/>
                        </a:spcBef>
                        <a:spcAft>
                          <a:spcPct val="5000"/>
                        </a:spcAft>
                        <a:buClr>
                          <a:schemeClr val="folHlink"/>
                        </a:buClr>
                        <a:buSzPct val="60000"/>
                        <a:buFont typeface="Wingdings" panose="05000000000000000000" pitchFamily="2" charset="2"/>
                        <a:defRPr sz="24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defRPr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10000"/>
                        </a:lnSpc>
                        <a:spcBef>
                          <a:spcPct val="0"/>
                        </a:spcBef>
                        <a:spcAft>
                          <a:spcPct val="0"/>
                        </a:spcAft>
                        <a:buClr>
                          <a:srgbClr val="000000"/>
                        </a:buClr>
                        <a:buSzPct val="100000"/>
                        <a:buFont typeface="Arial" panose="020B0604020202020204" pitchFamily="34" charset="0"/>
                        <a:buNone/>
                      </a:pPr>
                      <a:r>
                        <a:rPr kumimoji="0" lang="zh-CN" altLang="en-US" sz="2400" b="0" i="0" u="none" strike="noStrike" cap="none" normalizeH="0" baseline="0">
                          <a:ln>
                            <a:noFill/>
                          </a:ln>
                          <a:solidFill>
                            <a:srgbClr val="CC6600"/>
                          </a:solidFill>
                          <a:effectLst/>
                          <a:latin typeface="Times New Roman" panose="02020603050405020304" pitchFamily="18" charset="0"/>
                          <a:ea typeface="宋体" panose="02010600030101010101" pitchFamily="2" charset="-122"/>
                          <a:cs typeface="楷体_GB2312"/>
                        </a:rPr>
                        <a:t>优先级</a:t>
                      </a:r>
                      <a:endParaRPr kumimoji="0" lang="zh-CN" altLang="en-US" sz="2400" b="0" i="0" u="none" strike="noStrike" cap="none" normalizeH="0" baseline="0">
                        <a:ln>
                          <a:noFill/>
                        </a:ln>
                        <a:solidFill>
                          <a:srgbClr val="CC6600"/>
                        </a:solidFill>
                        <a:effectLst/>
                        <a:latin typeface="Times New Roman" panose="02020603050405020304" pitchFamily="18" charset="0"/>
                        <a:ea typeface="宋体" panose="02010600030101010101" pitchFamily="2" charset="-122"/>
                        <a:cs typeface="楷体_GB2312"/>
                      </a:endParaRP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63550">
                <a:tc>
                  <a:txBody>
                    <a:bodyPr/>
                    <a:lstStyle>
                      <a:lvl1pPr>
                        <a:lnSpc>
                          <a:spcPct val="110000"/>
                        </a:lnSpc>
                        <a:spcBef>
                          <a:spcPct val="20000"/>
                        </a:spcBef>
                        <a:spcAft>
                          <a:spcPct val="5000"/>
                        </a:spcAft>
                        <a:buClr>
                          <a:schemeClr val="folHlink"/>
                        </a:buClr>
                        <a:buSzPct val="60000"/>
                        <a:buFont typeface="Wingdings" panose="05000000000000000000" pitchFamily="2" charset="2"/>
                        <a:defRPr sz="24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defRPr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10000"/>
                        </a:lnSpc>
                        <a:spcBef>
                          <a:spcPct val="0"/>
                        </a:spcBef>
                        <a:spcAft>
                          <a:spcPct val="0"/>
                        </a:spcAft>
                        <a:buClr>
                          <a:srgbClr val="000000"/>
                        </a:buClr>
                        <a:buSzPct val="100000"/>
                        <a:buFont typeface="Arial" panose="020B0604020202020204" pitchFamily="34" charset="0"/>
                        <a:buNone/>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rPr>
                        <a:t>除法出错中断 </a:t>
                      </a: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rPr>
                        <a:t>INT 0</a:t>
                      </a:r>
                      <a:endPar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endParaRP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6">
                  <a:txBody>
                    <a:bodyPr/>
                    <a:lstStyle>
                      <a:lvl1pPr>
                        <a:lnSpc>
                          <a:spcPct val="110000"/>
                        </a:lnSpc>
                        <a:spcBef>
                          <a:spcPct val="20000"/>
                        </a:spcBef>
                        <a:spcAft>
                          <a:spcPct val="5000"/>
                        </a:spcAft>
                        <a:buClr>
                          <a:schemeClr val="folHlink"/>
                        </a:buClr>
                        <a:buSzPct val="60000"/>
                        <a:buFont typeface="Wingdings" panose="05000000000000000000" pitchFamily="2" charset="2"/>
                        <a:defRPr sz="24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defRPr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10000"/>
                        </a:lnSpc>
                        <a:spcBef>
                          <a:spcPct val="0"/>
                        </a:spcBef>
                        <a:spcAft>
                          <a:spcPct val="0"/>
                        </a:spcAft>
                        <a:buClr>
                          <a:srgbClr val="000000"/>
                        </a:buClr>
                        <a:buSzPct val="100000"/>
                        <a:buFont typeface="Arial" panose="020B0604020202020204" pitchFamily="34" charset="0"/>
                        <a:buNone/>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rPr>
                        <a:t>最高</a:t>
                      </a:r>
                      <a:endPar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endParaRPr>
                    </a:p>
                    <a:p>
                      <a:pPr marL="0" marR="0" lvl="0" indent="0" algn="ctr" defTabSz="914400" rtl="0" eaLnBrk="1" fontAlgn="base" latinLnBrk="0" hangingPunct="1">
                        <a:lnSpc>
                          <a:spcPct val="110000"/>
                        </a:lnSpc>
                        <a:spcBef>
                          <a:spcPct val="0"/>
                        </a:spcBef>
                        <a:spcAft>
                          <a:spcPct val="0"/>
                        </a:spcAft>
                        <a:buClr>
                          <a:srgbClr val="000000"/>
                        </a:buClr>
                        <a:buSzPct val="100000"/>
                        <a:buFont typeface="Arial" panose="020B0604020202020204" pitchFamily="34" charset="0"/>
                        <a:buNone/>
                      </a:pPr>
                      <a:endPar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endParaRPr>
                    </a:p>
                    <a:p>
                      <a:pPr marL="0" marR="0" lvl="0" indent="0" algn="ctr" defTabSz="914400" rtl="0" eaLnBrk="1" fontAlgn="base" latinLnBrk="0" hangingPunct="1">
                        <a:lnSpc>
                          <a:spcPct val="110000"/>
                        </a:lnSpc>
                        <a:spcBef>
                          <a:spcPct val="0"/>
                        </a:spcBef>
                        <a:spcAft>
                          <a:spcPct val="0"/>
                        </a:spcAft>
                        <a:buClr>
                          <a:srgbClr val="000000"/>
                        </a:buClr>
                        <a:buSzPct val="100000"/>
                        <a:buFont typeface="Arial" panose="020B0604020202020204" pitchFamily="34" charset="0"/>
                        <a:buNone/>
                      </a:pPr>
                      <a:endPar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endParaRPr>
                    </a:p>
                    <a:p>
                      <a:pPr marL="0" marR="0" lvl="0" indent="0" algn="ctr" defTabSz="914400" rtl="0" eaLnBrk="1" fontAlgn="base" latinLnBrk="0" hangingPunct="1">
                        <a:lnSpc>
                          <a:spcPct val="110000"/>
                        </a:lnSpc>
                        <a:spcBef>
                          <a:spcPct val="0"/>
                        </a:spcBef>
                        <a:spcAft>
                          <a:spcPct val="0"/>
                        </a:spcAft>
                        <a:buClr>
                          <a:srgbClr val="000000"/>
                        </a:buClr>
                        <a:buSzPct val="100000"/>
                        <a:buFont typeface="Arial" panose="020B0604020202020204" pitchFamily="34" charset="0"/>
                        <a:buNone/>
                      </a:pPr>
                      <a:endPar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endParaRPr>
                    </a:p>
                    <a:p>
                      <a:pPr marL="0" marR="0" lvl="0" indent="0" algn="ctr" defTabSz="914400" rtl="0" eaLnBrk="1" fontAlgn="base" latinLnBrk="0" hangingPunct="1">
                        <a:lnSpc>
                          <a:spcPct val="110000"/>
                        </a:lnSpc>
                        <a:spcBef>
                          <a:spcPct val="0"/>
                        </a:spcBef>
                        <a:spcAft>
                          <a:spcPct val="0"/>
                        </a:spcAft>
                        <a:buClr>
                          <a:srgbClr val="000000"/>
                        </a:buClr>
                        <a:buSzPct val="100000"/>
                        <a:buFont typeface="Arial" panose="020B0604020202020204" pitchFamily="34" charset="0"/>
                        <a:buNone/>
                      </a:pPr>
                      <a:endPar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endParaRPr>
                    </a:p>
                    <a:p>
                      <a:pPr marL="0" marR="0" lvl="0" indent="0" algn="ctr" defTabSz="914400" rtl="0" eaLnBrk="1" fontAlgn="base" latinLnBrk="0" hangingPunct="1">
                        <a:lnSpc>
                          <a:spcPct val="110000"/>
                        </a:lnSpc>
                        <a:spcBef>
                          <a:spcPct val="0"/>
                        </a:spcBef>
                        <a:spcAft>
                          <a:spcPct val="0"/>
                        </a:spcAft>
                        <a:buClr>
                          <a:srgbClr val="000000"/>
                        </a:buClr>
                        <a:buSzPct val="100000"/>
                        <a:buFont typeface="Arial" panose="020B0604020202020204" pitchFamily="34" charset="0"/>
                        <a:buNone/>
                      </a:pPr>
                      <a:endPar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endParaRPr>
                    </a:p>
                    <a:p>
                      <a:pPr marL="0" marR="0" lvl="0" indent="0" algn="ctr" defTabSz="914400" rtl="0" eaLnBrk="1" fontAlgn="base" latinLnBrk="0" hangingPunct="1">
                        <a:lnSpc>
                          <a:spcPct val="110000"/>
                        </a:lnSpc>
                        <a:spcBef>
                          <a:spcPct val="0"/>
                        </a:spcBef>
                        <a:spcAft>
                          <a:spcPct val="0"/>
                        </a:spcAft>
                        <a:buClr>
                          <a:srgbClr val="000000"/>
                        </a:buClr>
                        <a:buSzPct val="100000"/>
                        <a:buFont typeface="Arial" panose="020B0604020202020204" pitchFamily="34" charset="0"/>
                        <a:buNone/>
                      </a:pPr>
                      <a:endPar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endParaRPr>
                    </a:p>
                    <a:p>
                      <a:pPr marL="0" marR="0" lvl="0" indent="0" algn="ctr" defTabSz="914400" rtl="0" eaLnBrk="0" fontAlgn="base" latinLnBrk="0" hangingPunct="0">
                        <a:lnSpc>
                          <a:spcPct val="110000"/>
                        </a:lnSpc>
                        <a:spcBef>
                          <a:spcPct val="0"/>
                        </a:spcBef>
                        <a:spcAft>
                          <a:spcPct val="0"/>
                        </a:spcAft>
                        <a:buClr>
                          <a:srgbClr val="000000"/>
                        </a:buClr>
                        <a:buSzPct val="100000"/>
                        <a:buFont typeface="Arial" panose="020B0604020202020204" pitchFamily="34" charset="0"/>
                        <a:buNone/>
                      </a:pPr>
                      <a:endPar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endParaRPr>
                    </a:p>
                    <a:p>
                      <a:pPr marL="0" marR="0" lvl="0" indent="0" algn="ctr" defTabSz="914400" rtl="0" eaLnBrk="0" fontAlgn="base" latinLnBrk="0" hangingPunct="0">
                        <a:lnSpc>
                          <a:spcPct val="110000"/>
                        </a:lnSpc>
                        <a:spcBef>
                          <a:spcPct val="0"/>
                        </a:spcBef>
                        <a:spcAft>
                          <a:spcPct val="0"/>
                        </a:spcAft>
                        <a:buClr>
                          <a:srgbClr val="000000"/>
                        </a:buClr>
                        <a:buSzPct val="100000"/>
                        <a:buFont typeface="Arial" panose="020B0604020202020204" pitchFamily="34" charset="0"/>
                        <a:buNone/>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rPr>
                        <a:t>最低</a:t>
                      </a:r>
                      <a:endPar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endParaRP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61963">
                <a:tc>
                  <a:txBody>
                    <a:bodyPr/>
                    <a:lstStyle>
                      <a:lvl1pPr>
                        <a:lnSpc>
                          <a:spcPct val="110000"/>
                        </a:lnSpc>
                        <a:spcBef>
                          <a:spcPct val="20000"/>
                        </a:spcBef>
                        <a:spcAft>
                          <a:spcPct val="5000"/>
                        </a:spcAft>
                        <a:buClr>
                          <a:schemeClr val="folHlink"/>
                        </a:buClr>
                        <a:buSzPct val="60000"/>
                        <a:buFont typeface="Wingdings" panose="05000000000000000000" pitchFamily="2" charset="2"/>
                        <a:defRPr sz="24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defRPr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10000"/>
                        </a:lnSpc>
                        <a:spcBef>
                          <a:spcPct val="0"/>
                        </a:spcBef>
                        <a:spcAft>
                          <a:spcPct val="0"/>
                        </a:spcAft>
                        <a:buClr>
                          <a:srgbClr val="000000"/>
                        </a:buClr>
                        <a:buSzPct val="100000"/>
                        <a:buFont typeface="Arial" panose="020B0604020202020204" pitchFamily="34" charset="0"/>
                        <a:buNone/>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rPr>
                        <a:t>单步中断     </a:t>
                      </a: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rPr>
                        <a:t>INT 1</a:t>
                      </a:r>
                      <a:endPar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endParaRP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461963">
                <a:tc>
                  <a:txBody>
                    <a:bodyPr/>
                    <a:lstStyle>
                      <a:lvl1pPr>
                        <a:lnSpc>
                          <a:spcPct val="110000"/>
                        </a:lnSpc>
                        <a:spcBef>
                          <a:spcPct val="20000"/>
                        </a:spcBef>
                        <a:spcAft>
                          <a:spcPct val="5000"/>
                        </a:spcAft>
                        <a:buClr>
                          <a:schemeClr val="folHlink"/>
                        </a:buClr>
                        <a:buSzPct val="60000"/>
                        <a:buFont typeface="Wingdings" panose="05000000000000000000" pitchFamily="2" charset="2"/>
                        <a:defRPr sz="24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defRPr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10000"/>
                        </a:lnSpc>
                        <a:spcBef>
                          <a:spcPct val="0"/>
                        </a:spcBef>
                        <a:spcAft>
                          <a:spcPct val="0"/>
                        </a:spcAft>
                        <a:buClr>
                          <a:srgbClr val="000000"/>
                        </a:buClr>
                        <a:buSzPct val="100000"/>
                        <a:buFont typeface="Arial" panose="020B0604020202020204" pitchFamily="34" charset="0"/>
                        <a:buNone/>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rPr>
                        <a:t>非屏蔽中断    </a:t>
                      </a: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rPr>
                        <a:t>NMI 2</a:t>
                      </a: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rPr>
                        <a:t>号</a:t>
                      </a:r>
                      <a:endPar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endParaRP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461963">
                <a:tc>
                  <a:txBody>
                    <a:bodyPr/>
                    <a:lstStyle>
                      <a:lvl1pPr>
                        <a:lnSpc>
                          <a:spcPct val="110000"/>
                        </a:lnSpc>
                        <a:spcBef>
                          <a:spcPct val="20000"/>
                        </a:spcBef>
                        <a:spcAft>
                          <a:spcPct val="5000"/>
                        </a:spcAft>
                        <a:buClr>
                          <a:schemeClr val="folHlink"/>
                        </a:buClr>
                        <a:buSzPct val="60000"/>
                        <a:buFont typeface="Wingdings" panose="05000000000000000000" pitchFamily="2" charset="2"/>
                        <a:defRPr sz="24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defRPr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10000"/>
                        </a:lnSpc>
                        <a:spcBef>
                          <a:spcPct val="0"/>
                        </a:spcBef>
                        <a:spcAft>
                          <a:spcPct val="0"/>
                        </a:spcAft>
                        <a:buClr>
                          <a:srgbClr val="000000"/>
                        </a:buClr>
                        <a:buSzPct val="100000"/>
                        <a:buFont typeface="Arial" panose="020B0604020202020204" pitchFamily="34" charset="0"/>
                        <a:buNone/>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rPr>
                        <a:t>溢出中断 </a:t>
                      </a: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rPr>
                        <a:t>INT 4</a:t>
                      </a:r>
                      <a:endPar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endParaRP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461963">
                <a:tc>
                  <a:txBody>
                    <a:bodyPr/>
                    <a:lstStyle>
                      <a:lvl1pPr>
                        <a:lnSpc>
                          <a:spcPct val="110000"/>
                        </a:lnSpc>
                        <a:spcBef>
                          <a:spcPct val="20000"/>
                        </a:spcBef>
                        <a:spcAft>
                          <a:spcPct val="5000"/>
                        </a:spcAft>
                        <a:buClr>
                          <a:schemeClr val="folHlink"/>
                        </a:buClr>
                        <a:buSzPct val="60000"/>
                        <a:buFont typeface="Wingdings" panose="05000000000000000000" pitchFamily="2" charset="2"/>
                        <a:defRPr sz="24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defRPr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10000"/>
                        </a:lnSpc>
                        <a:spcBef>
                          <a:spcPct val="0"/>
                        </a:spcBef>
                        <a:spcAft>
                          <a:spcPct val="0"/>
                        </a:spcAft>
                        <a:buClr>
                          <a:srgbClr val="000000"/>
                        </a:buClr>
                        <a:buSzPct val="100000"/>
                        <a:buFont typeface="Arial" panose="020B0604020202020204" pitchFamily="34" charset="0"/>
                        <a:buNone/>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rPr>
                        <a:t>软件中断  </a:t>
                      </a: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rPr>
                        <a:t>INT n</a:t>
                      </a:r>
                      <a:endPar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endParaRP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1309686">
                <a:tc>
                  <a:txBody>
                    <a:bodyPr/>
                    <a:lstStyle>
                      <a:lvl1pPr>
                        <a:lnSpc>
                          <a:spcPct val="110000"/>
                        </a:lnSpc>
                        <a:spcBef>
                          <a:spcPct val="20000"/>
                        </a:spcBef>
                        <a:spcAft>
                          <a:spcPct val="5000"/>
                        </a:spcAft>
                        <a:buClr>
                          <a:schemeClr val="folHlink"/>
                        </a:buClr>
                        <a:buSzPct val="60000"/>
                        <a:buFont typeface="Wingdings" panose="05000000000000000000" pitchFamily="2" charset="2"/>
                        <a:defRPr sz="2400" b="1">
                          <a:solidFill>
                            <a:schemeClr val="tx2"/>
                          </a:solidFill>
                          <a:latin typeface="Arial" panose="020B0604020202020204" pitchFamily="34" charset="0"/>
                          <a:ea typeface="宋体" panose="02010600030101010101" pitchFamily="2" charset="-122"/>
                        </a:defRPr>
                      </a:lvl1pPr>
                      <a:lvl2pPr marL="742950" indent="-285750">
                        <a:lnSpc>
                          <a:spcPct val="110000"/>
                        </a:lnSpc>
                        <a:spcBef>
                          <a:spcPct val="20000"/>
                        </a:spcBef>
                        <a:spcAft>
                          <a:spcPct val="5000"/>
                        </a:spcAft>
                        <a:buClr>
                          <a:schemeClr val="hlink"/>
                        </a:buClr>
                        <a:buSzPct val="5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lnSpc>
                          <a:spcPct val="110000"/>
                        </a:lnSpc>
                        <a:spcBef>
                          <a:spcPct val="20000"/>
                        </a:spcBef>
                        <a:spcAft>
                          <a:spcPct val="5000"/>
                        </a:spcAft>
                        <a:buClr>
                          <a:schemeClr val="folHlink"/>
                        </a:buClr>
                        <a:buSzPct val="50000"/>
                        <a:buFont typeface="Wingdings" panose="05000000000000000000" pitchFamily="2" charset="2"/>
                        <a:defRPr b="1">
                          <a:solidFill>
                            <a:srgbClr val="FF0000"/>
                          </a:solidFill>
                          <a:latin typeface="Arial" panose="020B0604020202020204" pitchFamily="34" charset="0"/>
                          <a:ea typeface="宋体" panose="02010600030101010101" pitchFamily="2" charset="-122"/>
                        </a:defRPr>
                      </a:lvl3pPr>
                      <a:lvl4pPr marL="1600200" indent="-228600">
                        <a:lnSpc>
                          <a:spcPct val="110000"/>
                        </a:lnSpc>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nSpc>
                          <a:spcPct val="110000"/>
                        </a:lnSpc>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10000"/>
                        </a:lnSpc>
                        <a:spcBef>
                          <a:spcPct val="0"/>
                        </a:spcBef>
                        <a:spcAft>
                          <a:spcPct val="0"/>
                        </a:spcAft>
                        <a:buClr>
                          <a:srgbClr val="000000"/>
                        </a:buClr>
                        <a:buSzPct val="100000"/>
                        <a:buFont typeface="Arial" panose="020B0604020202020204" pitchFamily="34" charset="0"/>
                        <a:buNone/>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rPr>
                        <a:t>可屏蔽中断 </a:t>
                      </a: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rPr>
                        <a:t>INTR</a:t>
                      </a:r>
                      <a:endPar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楷体_GB2312"/>
                      </a:endParaRPr>
                    </a:p>
                  </a:txBody>
                  <a:tcPr marL="0" marR="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bl>
          </a:graphicData>
        </a:graphic>
      </p:graphicFrame>
      <p:sp>
        <p:nvSpPr>
          <p:cNvPr id="176152" name="Line 72"/>
          <p:cNvSpPr/>
          <p:nvPr/>
        </p:nvSpPr>
        <p:spPr>
          <a:xfrm>
            <a:off x="6083300" y="3429000"/>
            <a:ext cx="0" cy="2519363"/>
          </a:xfrm>
          <a:prstGeom prst="line">
            <a:avLst/>
          </a:prstGeom>
          <a:ln w="25400" cap="flat" cmpd="sng">
            <a:solidFill>
              <a:schemeClr val="tx1"/>
            </a:solidFill>
            <a:prstDash val="solid"/>
            <a:bevel/>
            <a:headEnd type="none" w="med" len="med"/>
            <a:tailEnd type="stealth" w="lg" len="lg"/>
          </a:ln>
        </p:spPr>
      </p:sp>
      <p:sp>
        <p:nvSpPr>
          <p:cNvPr id="86020" name="Rectangle 3"/>
          <p:cNvSpPr>
            <a:spLocks noGrp="1"/>
          </p:cNvSpPr>
          <p:nvPr/>
        </p:nvSpPr>
        <p:spPr>
          <a:xfrm>
            <a:off x="827088" y="1952625"/>
            <a:ext cx="7772400" cy="474663"/>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r>
              <a:rPr lang="zh-CN" altLang="en-US" sz="2400" dirty="0">
                <a:ea typeface="楷体_GB2312"/>
              </a:rPr>
              <a:t>中断源：引起</a:t>
            </a:r>
            <a:r>
              <a:rPr lang="en-US" altLang="zh-CN" sz="2400" dirty="0">
                <a:ea typeface="楷体_GB2312"/>
              </a:rPr>
              <a:t>CPU</a:t>
            </a:r>
            <a:r>
              <a:rPr lang="zh-CN" altLang="en-US" sz="2400" dirty="0">
                <a:ea typeface="楷体_GB2312"/>
              </a:rPr>
              <a:t>中断的事件，发出中断请求的来源</a:t>
            </a:r>
            <a:endParaRPr lang="zh-CN" altLang="en-US" sz="2400" dirty="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6020">
                                            <p:txEl>
                                              <p:charRg st="0" end="22"/>
                                            </p:txEl>
                                          </p:spTgt>
                                        </p:tgtEl>
                                        <p:attrNameLst>
                                          <p:attrName>style.visibility</p:attrName>
                                        </p:attrNameLst>
                                      </p:cBhvr>
                                      <p:to>
                                        <p:strVal val="visible"/>
                                      </p:to>
                                    </p:set>
                                    <p:animEffect transition="in" filter="wipe(left)">
                                      <p:cBhvr>
                                        <p:cTn id="7" dur="500"/>
                                        <p:tgtEl>
                                          <p:spTgt spid="86020">
                                            <p:txEl>
                                              <p:charRg st="0" end="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AutoShape 4"/>
          <p:cNvSpPr>
            <a:spLocks noChangeAspect="1"/>
          </p:cNvSpPr>
          <p:nvPr/>
        </p:nvSpPr>
        <p:spPr>
          <a:xfrm>
            <a:off x="735013" y="1557338"/>
            <a:ext cx="8027987" cy="4687887"/>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77155" name="Text Box 5"/>
          <p:cNvSpPr txBox="1"/>
          <p:nvPr/>
        </p:nvSpPr>
        <p:spPr>
          <a:xfrm>
            <a:off x="5272088" y="2312988"/>
            <a:ext cx="698500" cy="24130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rgbClr val="000000"/>
                </a:solidFill>
                <a:ea typeface="楷体_GB2312"/>
              </a:rPr>
              <a:t>NMI</a:t>
            </a:r>
            <a:endParaRPr lang="en-US" altLang="zh-CN" sz="1600" dirty="0">
              <a:solidFill>
                <a:srgbClr val="000000"/>
              </a:solidFill>
              <a:ea typeface="楷体_GB2312"/>
            </a:endParaRPr>
          </a:p>
        </p:txBody>
      </p:sp>
      <p:sp>
        <p:nvSpPr>
          <p:cNvPr id="177156" name="Text Box 6"/>
          <p:cNvSpPr txBox="1"/>
          <p:nvPr/>
        </p:nvSpPr>
        <p:spPr>
          <a:xfrm>
            <a:off x="5403850" y="4179888"/>
            <a:ext cx="495300" cy="22066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Aft>
                <a:spcPct val="0"/>
              </a:spcAft>
              <a:buClr>
                <a:srgbClr val="0000CC"/>
              </a:buClr>
              <a:buSzPct val="75000"/>
              <a:buNone/>
            </a:pPr>
            <a:r>
              <a:rPr lang="en-US" altLang="zh-CN" sz="1600" dirty="0">
                <a:solidFill>
                  <a:srgbClr val="000000"/>
                </a:solidFill>
                <a:ea typeface="楷体_GB2312"/>
              </a:rPr>
              <a:t>INTR</a:t>
            </a:r>
            <a:endParaRPr lang="en-US" altLang="zh-CN" sz="1600" dirty="0">
              <a:solidFill>
                <a:srgbClr val="000000"/>
              </a:solidFill>
              <a:ea typeface="楷体_GB2312"/>
            </a:endParaRPr>
          </a:p>
        </p:txBody>
      </p:sp>
      <p:sp>
        <p:nvSpPr>
          <p:cNvPr id="177157" name="Rectangle 7"/>
          <p:cNvSpPr/>
          <p:nvPr/>
        </p:nvSpPr>
        <p:spPr>
          <a:xfrm>
            <a:off x="1084263" y="1708150"/>
            <a:ext cx="4189412" cy="3933825"/>
          </a:xfrm>
          <a:prstGeom prst="rect">
            <a:avLst/>
          </a:prstGeom>
          <a:solidFill>
            <a:srgbClr val="339966"/>
          </a:solidFill>
          <a:ln w="9525" cap="flat" cmpd="sng">
            <a:solidFill>
              <a:srgbClr val="339966"/>
            </a:solidFill>
            <a:prstDash val="dash"/>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77158" name="Rectangle 8"/>
          <p:cNvSpPr/>
          <p:nvPr/>
        </p:nvSpPr>
        <p:spPr>
          <a:xfrm>
            <a:off x="3527425" y="2312988"/>
            <a:ext cx="1222375" cy="2419350"/>
          </a:xfrm>
          <a:prstGeom prst="rect">
            <a:avLst/>
          </a:prstGeom>
          <a:solidFill>
            <a:srgbClr val="FFFF0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pPr>
            <a:endParaRPr lang="en-US" altLang="zh-CN" sz="1600" dirty="0">
              <a:solidFill>
                <a:srgbClr val="000000"/>
              </a:solidFill>
              <a:latin typeface="Times New Roman" panose="02020603050405020304" pitchFamily="18" charset="0"/>
              <a:ea typeface="楷体_GB2312"/>
            </a:endParaRPr>
          </a:p>
          <a:p>
            <a:pPr marL="342900" lvl="0" indent="-342900" algn="ctr">
              <a:lnSpc>
                <a:spcPct val="100000"/>
              </a:lnSpc>
              <a:spcAft>
                <a:spcPct val="0"/>
              </a:spcAft>
              <a:buClr>
                <a:srgbClr val="0000CC"/>
              </a:buClr>
              <a:buSzPct val="75000"/>
            </a:pPr>
            <a:endParaRPr lang="en-US" altLang="zh-CN" sz="1600" dirty="0">
              <a:solidFill>
                <a:srgbClr val="000000"/>
              </a:solidFill>
              <a:latin typeface="Times New Roman" panose="02020603050405020304" pitchFamily="18" charset="0"/>
              <a:ea typeface="楷体_GB2312"/>
            </a:endParaRPr>
          </a:p>
          <a:p>
            <a:pPr marL="342900" lvl="0" indent="-342900" algn="ctr">
              <a:lnSpc>
                <a:spcPct val="100000"/>
              </a:lnSpc>
              <a:spcAft>
                <a:spcPct val="0"/>
              </a:spcAft>
              <a:buClr>
                <a:srgbClr val="0000CC"/>
              </a:buClr>
              <a:buSzPct val="75000"/>
            </a:pPr>
            <a:endParaRPr lang="en-US" altLang="zh-CN" sz="1600" dirty="0">
              <a:solidFill>
                <a:srgbClr val="000000"/>
              </a:solidFill>
              <a:latin typeface="Times New Roman" panose="02020603050405020304" pitchFamily="18" charset="0"/>
              <a:ea typeface="楷体_GB2312"/>
            </a:endParaRPr>
          </a:p>
          <a:p>
            <a:pPr marL="342900" lvl="0" indent="-342900" algn="ctr">
              <a:lnSpc>
                <a:spcPct val="100000"/>
              </a:lnSpc>
              <a:spcAft>
                <a:spcPct val="0"/>
              </a:spcAft>
              <a:buClr>
                <a:srgbClr val="0000CC"/>
              </a:buClr>
              <a:buSzPct val="75000"/>
              <a:buNone/>
            </a:pPr>
            <a:r>
              <a:rPr lang="zh-CN" altLang="en-US" sz="1600" dirty="0">
                <a:solidFill>
                  <a:srgbClr val="1C1C1C"/>
                </a:solidFill>
                <a:latin typeface="Times New Roman" panose="02020603050405020304" pitchFamily="18" charset="0"/>
                <a:ea typeface="楷体_GB2312"/>
              </a:rPr>
              <a:t>中断逻辑</a:t>
            </a:r>
            <a:endParaRPr lang="zh-CN" altLang="en-US" sz="1600" dirty="0">
              <a:solidFill>
                <a:srgbClr val="1C1C1C"/>
              </a:solidFill>
              <a:latin typeface="Times New Roman" panose="02020603050405020304" pitchFamily="18" charset="0"/>
              <a:ea typeface="楷体_GB2312"/>
            </a:endParaRPr>
          </a:p>
        </p:txBody>
      </p:sp>
      <p:sp>
        <p:nvSpPr>
          <p:cNvPr id="177159" name="Rectangle 9"/>
          <p:cNvSpPr/>
          <p:nvPr/>
        </p:nvSpPr>
        <p:spPr>
          <a:xfrm>
            <a:off x="1258888" y="1860550"/>
            <a:ext cx="1276350" cy="452438"/>
          </a:xfrm>
          <a:prstGeom prst="rect">
            <a:avLst/>
          </a:prstGeom>
          <a:solidFill>
            <a:schemeClr val="tx1"/>
          </a:solidFill>
          <a:ln w="9525" cap="flat" cmpd="sng">
            <a:solidFill>
              <a:schemeClr val="tx1"/>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600" dirty="0">
                <a:solidFill>
                  <a:srgbClr val="FFFFFF"/>
                </a:solidFill>
                <a:latin typeface="宋体" panose="02010600030101010101" pitchFamily="2" charset="-122"/>
                <a:ea typeface="楷体_GB2312"/>
              </a:rPr>
              <a:t>软件中断指令</a:t>
            </a:r>
            <a:endParaRPr lang="zh-CN" altLang="en-US" sz="1600" dirty="0">
              <a:solidFill>
                <a:srgbClr val="FFFFFF"/>
              </a:solidFill>
              <a:latin typeface="宋体" panose="02010600030101010101" pitchFamily="2" charset="-122"/>
              <a:ea typeface="楷体_GB2312"/>
            </a:endParaRPr>
          </a:p>
        </p:txBody>
      </p:sp>
      <p:sp>
        <p:nvSpPr>
          <p:cNvPr id="177160" name="Rectangle 10"/>
          <p:cNvSpPr/>
          <p:nvPr/>
        </p:nvSpPr>
        <p:spPr>
          <a:xfrm>
            <a:off x="1258888" y="2616200"/>
            <a:ext cx="1220787" cy="454025"/>
          </a:xfrm>
          <a:prstGeom prst="rect">
            <a:avLst/>
          </a:prstGeom>
          <a:solidFill>
            <a:schemeClr val="tx1"/>
          </a:solidFill>
          <a:ln w="9525" cap="flat" cmpd="sng">
            <a:solidFill>
              <a:schemeClr val="tx1"/>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600" dirty="0">
                <a:solidFill>
                  <a:srgbClr val="FFFFFF"/>
                </a:solidFill>
                <a:latin typeface="宋体" panose="02010600030101010101" pitchFamily="2" charset="-122"/>
                <a:ea typeface="楷体_GB2312"/>
              </a:rPr>
              <a:t>溢出中断</a:t>
            </a:r>
            <a:endParaRPr lang="zh-CN" altLang="en-US" sz="1600" dirty="0">
              <a:solidFill>
                <a:srgbClr val="FFFFFF"/>
              </a:solidFill>
              <a:latin typeface="宋体" panose="02010600030101010101" pitchFamily="2" charset="-122"/>
              <a:ea typeface="楷体_GB2312"/>
            </a:endParaRPr>
          </a:p>
        </p:txBody>
      </p:sp>
      <p:sp>
        <p:nvSpPr>
          <p:cNvPr id="177161" name="Rectangle 11"/>
          <p:cNvSpPr/>
          <p:nvPr/>
        </p:nvSpPr>
        <p:spPr>
          <a:xfrm>
            <a:off x="1258888" y="3898900"/>
            <a:ext cx="1220787" cy="452438"/>
          </a:xfrm>
          <a:prstGeom prst="rect">
            <a:avLst/>
          </a:prstGeom>
          <a:solidFill>
            <a:schemeClr val="tx1"/>
          </a:solidFill>
          <a:ln w="9525" cap="flat" cmpd="sng">
            <a:solidFill>
              <a:schemeClr val="tx1"/>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600" dirty="0">
                <a:solidFill>
                  <a:srgbClr val="FFFFFF"/>
                </a:solidFill>
                <a:latin typeface="Times New Roman" panose="02020603050405020304" pitchFamily="18" charset="0"/>
                <a:ea typeface="楷体_GB2312"/>
              </a:rPr>
              <a:t>除法错</a:t>
            </a:r>
            <a:endParaRPr lang="zh-CN" altLang="en-US" sz="1600" dirty="0">
              <a:solidFill>
                <a:srgbClr val="FFFFFF"/>
              </a:solidFill>
              <a:ea typeface="楷体_GB2312"/>
            </a:endParaRPr>
          </a:p>
        </p:txBody>
      </p:sp>
      <p:sp>
        <p:nvSpPr>
          <p:cNvPr id="177162" name="Rectangle 12"/>
          <p:cNvSpPr/>
          <p:nvPr/>
        </p:nvSpPr>
        <p:spPr>
          <a:xfrm>
            <a:off x="1258888" y="4668838"/>
            <a:ext cx="1220787" cy="454025"/>
          </a:xfrm>
          <a:prstGeom prst="rect">
            <a:avLst/>
          </a:prstGeom>
          <a:solidFill>
            <a:schemeClr val="tx1"/>
          </a:solidFill>
          <a:ln w="9525" cap="flat" cmpd="sng">
            <a:solidFill>
              <a:schemeClr val="tx1"/>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600" dirty="0">
                <a:solidFill>
                  <a:srgbClr val="FFFFFF"/>
                </a:solidFill>
                <a:latin typeface="Times New Roman" panose="02020603050405020304" pitchFamily="18" charset="0"/>
                <a:ea typeface="楷体_GB2312"/>
              </a:rPr>
              <a:t>单步中断</a:t>
            </a:r>
            <a:endParaRPr lang="zh-CN" altLang="en-US" sz="1600" dirty="0">
              <a:solidFill>
                <a:srgbClr val="FFFFFF"/>
              </a:solidFill>
              <a:latin typeface="Times New Roman" panose="02020603050405020304" pitchFamily="18" charset="0"/>
              <a:ea typeface="楷体_GB2312"/>
            </a:endParaRPr>
          </a:p>
        </p:txBody>
      </p:sp>
      <p:sp>
        <p:nvSpPr>
          <p:cNvPr id="177163" name="Line 13"/>
          <p:cNvSpPr/>
          <p:nvPr/>
        </p:nvSpPr>
        <p:spPr>
          <a:xfrm>
            <a:off x="2479675" y="2822575"/>
            <a:ext cx="1047750" cy="1588"/>
          </a:xfrm>
          <a:prstGeom prst="line">
            <a:avLst/>
          </a:prstGeom>
          <a:ln w="9525" cap="flat" cmpd="sng">
            <a:solidFill>
              <a:srgbClr val="000000"/>
            </a:solidFill>
            <a:prstDash val="solid"/>
            <a:bevel/>
            <a:headEnd type="none" w="med" len="med"/>
            <a:tailEnd type="triangle" w="med" len="med"/>
          </a:ln>
        </p:spPr>
      </p:sp>
      <p:sp>
        <p:nvSpPr>
          <p:cNvPr id="177164" name="Line 14"/>
          <p:cNvSpPr/>
          <p:nvPr/>
        </p:nvSpPr>
        <p:spPr>
          <a:xfrm>
            <a:off x="2479675" y="4127500"/>
            <a:ext cx="1047750" cy="1588"/>
          </a:xfrm>
          <a:prstGeom prst="line">
            <a:avLst/>
          </a:prstGeom>
          <a:ln w="9525" cap="flat" cmpd="sng">
            <a:solidFill>
              <a:srgbClr val="000000"/>
            </a:solidFill>
            <a:prstDash val="solid"/>
            <a:bevel/>
            <a:headEnd type="none" w="med" len="med"/>
            <a:tailEnd type="triangle" w="med" len="med"/>
          </a:ln>
        </p:spPr>
      </p:sp>
      <p:sp>
        <p:nvSpPr>
          <p:cNvPr id="177165" name="Line 15"/>
          <p:cNvSpPr/>
          <p:nvPr/>
        </p:nvSpPr>
        <p:spPr>
          <a:xfrm>
            <a:off x="2479675" y="4884738"/>
            <a:ext cx="523875" cy="0"/>
          </a:xfrm>
          <a:prstGeom prst="line">
            <a:avLst/>
          </a:prstGeom>
          <a:ln w="9525" cap="flat" cmpd="sng">
            <a:solidFill>
              <a:srgbClr val="000000"/>
            </a:solidFill>
            <a:prstDash val="solid"/>
            <a:bevel/>
            <a:headEnd type="none" w="med" len="med"/>
            <a:tailEnd type="none" w="med" len="med"/>
          </a:ln>
        </p:spPr>
      </p:sp>
      <p:sp>
        <p:nvSpPr>
          <p:cNvPr id="177166" name="Line 16"/>
          <p:cNvSpPr/>
          <p:nvPr/>
        </p:nvSpPr>
        <p:spPr>
          <a:xfrm flipV="1">
            <a:off x="3003550" y="4581525"/>
            <a:ext cx="1588" cy="303213"/>
          </a:xfrm>
          <a:prstGeom prst="line">
            <a:avLst/>
          </a:prstGeom>
          <a:ln w="9525" cap="flat" cmpd="sng">
            <a:solidFill>
              <a:srgbClr val="000000"/>
            </a:solidFill>
            <a:prstDash val="solid"/>
            <a:bevel/>
            <a:headEnd type="none" w="med" len="med"/>
            <a:tailEnd type="none" w="med" len="med"/>
          </a:ln>
        </p:spPr>
      </p:sp>
      <p:sp>
        <p:nvSpPr>
          <p:cNvPr id="177167" name="Line 17"/>
          <p:cNvSpPr/>
          <p:nvPr/>
        </p:nvSpPr>
        <p:spPr>
          <a:xfrm>
            <a:off x="3003550" y="4581525"/>
            <a:ext cx="523875" cy="1588"/>
          </a:xfrm>
          <a:prstGeom prst="line">
            <a:avLst/>
          </a:prstGeom>
          <a:ln w="9525" cap="flat" cmpd="sng">
            <a:solidFill>
              <a:srgbClr val="000000"/>
            </a:solidFill>
            <a:prstDash val="solid"/>
            <a:bevel/>
            <a:headEnd type="none" w="med" len="med"/>
            <a:tailEnd type="triangle" w="med" len="med"/>
          </a:ln>
        </p:spPr>
      </p:sp>
      <p:sp>
        <p:nvSpPr>
          <p:cNvPr id="177168" name="Line 18"/>
          <p:cNvSpPr/>
          <p:nvPr/>
        </p:nvSpPr>
        <p:spPr>
          <a:xfrm>
            <a:off x="2535238" y="2133600"/>
            <a:ext cx="468312" cy="0"/>
          </a:xfrm>
          <a:prstGeom prst="line">
            <a:avLst/>
          </a:prstGeom>
          <a:ln w="9525" cap="flat" cmpd="sng">
            <a:solidFill>
              <a:srgbClr val="000000"/>
            </a:solidFill>
            <a:prstDash val="solid"/>
            <a:bevel/>
            <a:headEnd type="none" w="med" len="med"/>
            <a:tailEnd type="none" w="med" len="med"/>
          </a:ln>
        </p:spPr>
      </p:sp>
      <p:sp>
        <p:nvSpPr>
          <p:cNvPr id="177169" name="Line 19"/>
          <p:cNvSpPr/>
          <p:nvPr/>
        </p:nvSpPr>
        <p:spPr>
          <a:xfrm flipV="1">
            <a:off x="3003550" y="2132013"/>
            <a:ext cx="1588" cy="323850"/>
          </a:xfrm>
          <a:prstGeom prst="line">
            <a:avLst/>
          </a:prstGeom>
          <a:ln w="9525" cap="flat" cmpd="sng">
            <a:solidFill>
              <a:srgbClr val="000000"/>
            </a:solidFill>
            <a:prstDash val="solid"/>
            <a:bevel/>
            <a:headEnd type="none" w="med" len="med"/>
            <a:tailEnd type="none" w="med" len="med"/>
          </a:ln>
        </p:spPr>
      </p:sp>
      <p:sp>
        <p:nvSpPr>
          <p:cNvPr id="177170" name="Line 20"/>
          <p:cNvSpPr/>
          <p:nvPr/>
        </p:nvSpPr>
        <p:spPr>
          <a:xfrm>
            <a:off x="3003550" y="2465388"/>
            <a:ext cx="523875" cy="0"/>
          </a:xfrm>
          <a:prstGeom prst="line">
            <a:avLst/>
          </a:prstGeom>
          <a:ln w="9525" cap="flat" cmpd="sng">
            <a:solidFill>
              <a:srgbClr val="000000"/>
            </a:solidFill>
            <a:prstDash val="solid"/>
            <a:bevel/>
            <a:headEnd type="none" w="med" len="med"/>
            <a:tailEnd type="triangle" w="med" len="med"/>
          </a:ln>
        </p:spPr>
      </p:sp>
      <p:sp>
        <p:nvSpPr>
          <p:cNvPr id="177171" name="Rectangle 21"/>
          <p:cNvSpPr/>
          <p:nvPr/>
        </p:nvSpPr>
        <p:spPr>
          <a:xfrm>
            <a:off x="5970588" y="2471738"/>
            <a:ext cx="2273300" cy="34766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2400" dirty="0">
                <a:solidFill>
                  <a:srgbClr val="000000"/>
                </a:solidFill>
                <a:latin typeface="Times New Roman" panose="02020603050405020304" pitchFamily="18" charset="0"/>
                <a:ea typeface="楷体_GB2312"/>
              </a:rPr>
              <a:t>非屏蔽中断请求</a:t>
            </a:r>
            <a:endParaRPr lang="zh-CN" altLang="en-US" sz="2400" dirty="0">
              <a:solidFill>
                <a:srgbClr val="000000"/>
              </a:solidFill>
              <a:latin typeface="Times New Roman" panose="02020603050405020304" pitchFamily="18" charset="0"/>
              <a:ea typeface="楷体_GB2312"/>
            </a:endParaRPr>
          </a:p>
        </p:txBody>
      </p:sp>
      <p:sp>
        <p:nvSpPr>
          <p:cNvPr id="177172" name="Rectangle 22"/>
          <p:cNvSpPr/>
          <p:nvPr/>
        </p:nvSpPr>
        <p:spPr>
          <a:xfrm>
            <a:off x="5970588" y="3221038"/>
            <a:ext cx="1222375" cy="2420937"/>
          </a:xfrm>
          <a:prstGeom prst="rect">
            <a:avLst/>
          </a:prstGeom>
          <a:solidFill>
            <a:schemeClr val="tx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pPr>
            <a:endParaRPr lang="zh-CN" altLang="en-US" sz="2000" dirty="0">
              <a:solidFill>
                <a:srgbClr val="FFFFFF"/>
              </a:solidFill>
              <a:latin typeface="Times New Roman" panose="02020603050405020304" pitchFamily="18" charset="0"/>
              <a:ea typeface="楷体_GB2312"/>
            </a:endParaRPr>
          </a:p>
          <a:p>
            <a:pPr marL="342900" lvl="0" indent="-342900" algn="ctr">
              <a:lnSpc>
                <a:spcPct val="100000"/>
              </a:lnSpc>
              <a:spcAft>
                <a:spcPct val="0"/>
              </a:spcAft>
              <a:buClr>
                <a:srgbClr val="0000CC"/>
              </a:buClr>
              <a:buSzPct val="75000"/>
              <a:buNone/>
            </a:pPr>
            <a:r>
              <a:rPr lang="zh-CN" altLang="en-US" sz="2000" dirty="0">
                <a:solidFill>
                  <a:srgbClr val="FFFFFF"/>
                </a:solidFill>
                <a:latin typeface="宋体" panose="02010600030101010101" pitchFamily="2" charset="-122"/>
                <a:ea typeface="楷体_GB2312"/>
              </a:rPr>
              <a:t>中断控</a:t>
            </a:r>
            <a:endParaRPr lang="zh-CN" altLang="en-US" sz="2000" dirty="0">
              <a:solidFill>
                <a:srgbClr val="FFFFFF"/>
              </a:solidFill>
              <a:latin typeface="宋体" panose="02010600030101010101" pitchFamily="2" charset="-122"/>
              <a:ea typeface="楷体_GB2312"/>
            </a:endParaRPr>
          </a:p>
          <a:p>
            <a:pPr marL="342900" lvl="0" indent="-342900" algn="ctr">
              <a:lnSpc>
                <a:spcPct val="100000"/>
              </a:lnSpc>
              <a:spcAft>
                <a:spcPct val="0"/>
              </a:spcAft>
              <a:buClr>
                <a:srgbClr val="0000CC"/>
              </a:buClr>
              <a:buSzPct val="75000"/>
              <a:buNone/>
            </a:pPr>
            <a:r>
              <a:rPr lang="zh-CN" altLang="en-US" sz="2000" dirty="0">
                <a:solidFill>
                  <a:srgbClr val="FFFFFF"/>
                </a:solidFill>
                <a:latin typeface="宋体" panose="02010600030101010101" pitchFamily="2" charset="-122"/>
                <a:ea typeface="楷体_GB2312"/>
              </a:rPr>
              <a:t>制器</a:t>
            </a:r>
            <a:endParaRPr lang="zh-CN" altLang="en-US" sz="2000" dirty="0">
              <a:solidFill>
                <a:srgbClr val="FFFFFF"/>
              </a:solidFill>
              <a:latin typeface="宋体" panose="02010600030101010101" pitchFamily="2" charset="-122"/>
              <a:ea typeface="楷体_GB2312"/>
            </a:endParaRPr>
          </a:p>
          <a:p>
            <a:pPr marL="342900" lvl="0" indent="-342900" algn="ctr">
              <a:lnSpc>
                <a:spcPct val="100000"/>
              </a:lnSpc>
              <a:spcAft>
                <a:spcPct val="0"/>
              </a:spcAft>
              <a:buClr>
                <a:srgbClr val="0000CC"/>
              </a:buClr>
              <a:buSzPct val="75000"/>
              <a:buNone/>
            </a:pPr>
            <a:r>
              <a:rPr lang="en-US" altLang="zh-CN" sz="2000" dirty="0">
                <a:solidFill>
                  <a:srgbClr val="FFFFFF"/>
                </a:solidFill>
                <a:ea typeface="楷体_GB2312"/>
              </a:rPr>
              <a:t>8259A</a:t>
            </a:r>
            <a:endParaRPr lang="en-US" altLang="zh-CN" sz="2000" dirty="0">
              <a:solidFill>
                <a:srgbClr val="FFFFFF"/>
              </a:solidFill>
              <a:ea typeface="楷体_GB2312"/>
            </a:endParaRPr>
          </a:p>
          <a:p>
            <a:pPr marL="342900" lvl="0" indent="-342900" algn="ctr">
              <a:lnSpc>
                <a:spcPct val="100000"/>
              </a:lnSpc>
              <a:spcAft>
                <a:spcPct val="0"/>
              </a:spcAft>
              <a:buClr>
                <a:srgbClr val="0000CC"/>
              </a:buClr>
              <a:buSzPct val="75000"/>
              <a:buNone/>
            </a:pPr>
            <a:r>
              <a:rPr lang="en-US" altLang="zh-CN" sz="2000" dirty="0">
                <a:solidFill>
                  <a:srgbClr val="FFFFFF"/>
                </a:solidFill>
                <a:ea typeface="楷体_GB2312"/>
              </a:rPr>
              <a:t>PIC</a:t>
            </a:r>
            <a:endParaRPr lang="en-US" altLang="zh-CN" sz="2000" dirty="0">
              <a:solidFill>
                <a:srgbClr val="FFFFFF"/>
              </a:solidFill>
              <a:ea typeface="楷体_GB2312"/>
            </a:endParaRPr>
          </a:p>
        </p:txBody>
      </p:sp>
      <p:sp>
        <p:nvSpPr>
          <p:cNvPr id="177173" name="Line 23"/>
          <p:cNvSpPr/>
          <p:nvPr/>
        </p:nvSpPr>
        <p:spPr>
          <a:xfrm flipH="1" flipV="1">
            <a:off x="4749800" y="2616200"/>
            <a:ext cx="1220788" cy="0"/>
          </a:xfrm>
          <a:prstGeom prst="line">
            <a:avLst/>
          </a:prstGeom>
          <a:ln w="25400" cap="flat" cmpd="sng">
            <a:solidFill>
              <a:srgbClr val="FF6600"/>
            </a:solidFill>
            <a:prstDash val="solid"/>
            <a:bevel/>
            <a:headEnd type="none" w="med" len="med"/>
            <a:tailEnd type="triangle" w="med" len="med"/>
          </a:ln>
        </p:spPr>
      </p:sp>
      <p:sp>
        <p:nvSpPr>
          <p:cNvPr id="177174" name="Line 24"/>
          <p:cNvSpPr/>
          <p:nvPr/>
        </p:nvSpPr>
        <p:spPr>
          <a:xfrm flipH="1">
            <a:off x="4749800" y="4432300"/>
            <a:ext cx="1220788" cy="0"/>
          </a:xfrm>
          <a:prstGeom prst="line">
            <a:avLst/>
          </a:prstGeom>
          <a:ln w="25400" cap="flat" cmpd="sng">
            <a:solidFill>
              <a:srgbClr val="FF6600"/>
            </a:solidFill>
            <a:prstDash val="solid"/>
            <a:bevel/>
            <a:headEnd type="none" w="med" len="med"/>
            <a:tailEnd type="triangle" w="med" len="med"/>
          </a:ln>
        </p:spPr>
      </p:sp>
      <p:sp>
        <p:nvSpPr>
          <p:cNvPr id="177175" name="Line 25"/>
          <p:cNvSpPr/>
          <p:nvPr/>
        </p:nvSpPr>
        <p:spPr>
          <a:xfrm flipH="1">
            <a:off x="7192963" y="3370263"/>
            <a:ext cx="522287" cy="3175"/>
          </a:xfrm>
          <a:prstGeom prst="line">
            <a:avLst/>
          </a:prstGeom>
          <a:ln w="25400" cap="flat" cmpd="sng">
            <a:solidFill>
              <a:srgbClr val="FF6600"/>
            </a:solidFill>
            <a:prstDash val="solid"/>
            <a:bevel/>
            <a:headEnd type="none" w="med" len="med"/>
            <a:tailEnd type="triangle" w="sm" len="med"/>
          </a:ln>
        </p:spPr>
      </p:sp>
      <p:sp>
        <p:nvSpPr>
          <p:cNvPr id="177176" name="Line 26"/>
          <p:cNvSpPr/>
          <p:nvPr/>
        </p:nvSpPr>
        <p:spPr>
          <a:xfrm flipH="1">
            <a:off x="7192963" y="3675063"/>
            <a:ext cx="522287" cy="0"/>
          </a:xfrm>
          <a:prstGeom prst="line">
            <a:avLst/>
          </a:prstGeom>
          <a:ln w="25400" cap="flat" cmpd="sng">
            <a:solidFill>
              <a:srgbClr val="FF6600"/>
            </a:solidFill>
            <a:prstDash val="solid"/>
            <a:bevel/>
            <a:headEnd type="none" w="med" len="med"/>
            <a:tailEnd type="triangle" w="sm" len="med"/>
          </a:ln>
        </p:spPr>
      </p:sp>
      <p:sp>
        <p:nvSpPr>
          <p:cNvPr id="177177" name="Line 27"/>
          <p:cNvSpPr/>
          <p:nvPr/>
        </p:nvSpPr>
        <p:spPr>
          <a:xfrm flipH="1">
            <a:off x="7192963" y="3976688"/>
            <a:ext cx="522287" cy="1587"/>
          </a:xfrm>
          <a:prstGeom prst="line">
            <a:avLst/>
          </a:prstGeom>
          <a:ln w="25400" cap="flat" cmpd="sng">
            <a:solidFill>
              <a:srgbClr val="FF6600"/>
            </a:solidFill>
            <a:prstDash val="solid"/>
            <a:bevel/>
            <a:headEnd type="none" w="med" len="med"/>
            <a:tailEnd type="triangle" w="sm" len="med"/>
          </a:ln>
        </p:spPr>
      </p:sp>
      <p:sp>
        <p:nvSpPr>
          <p:cNvPr id="177178" name="Line 28"/>
          <p:cNvSpPr/>
          <p:nvPr/>
        </p:nvSpPr>
        <p:spPr>
          <a:xfrm flipH="1">
            <a:off x="7192963" y="4281488"/>
            <a:ext cx="522287" cy="0"/>
          </a:xfrm>
          <a:prstGeom prst="line">
            <a:avLst/>
          </a:prstGeom>
          <a:ln w="25400" cap="flat" cmpd="sng">
            <a:solidFill>
              <a:srgbClr val="FF6600"/>
            </a:solidFill>
            <a:prstDash val="solid"/>
            <a:bevel/>
            <a:headEnd type="none" w="med" len="med"/>
            <a:tailEnd type="triangle" w="sm" len="med"/>
          </a:ln>
        </p:spPr>
      </p:sp>
      <p:sp>
        <p:nvSpPr>
          <p:cNvPr id="177179" name="Line 29"/>
          <p:cNvSpPr/>
          <p:nvPr/>
        </p:nvSpPr>
        <p:spPr>
          <a:xfrm flipH="1">
            <a:off x="7192963" y="4581525"/>
            <a:ext cx="522287" cy="1588"/>
          </a:xfrm>
          <a:prstGeom prst="line">
            <a:avLst/>
          </a:prstGeom>
          <a:ln w="25400" cap="flat" cmpd="sng">
            <a:solidFill>
              <a:srgbClr val="FF6600"/>
            </a:solidFill>
            <a:prstDash val="solid"/>
            <a:bevel/>
            <a:headEnd type="none" w="med" len="med"/>
            <a:tailEnd type="triangle" w="sm" len="med"/>
          </a:ln>
        </p:spPr>
      </p:sp>
      <p:sp>
        <p:nvSpPr>
          <p:cNvPr id="177180" name="Line 30"/>
          <p:cNvSpPr/>
          <p:nvPr/>
        </p:nvSpPr>
        <p:spPr>
          <a:xfrm flipH="1">
            <a:off x="7192963" y="4884738"/>
            <a:ext cx="522287" cy="0"/>
          </a:xfrm>
          <a:prstGeom prst="line">
            <a:avLst/>
          </a:prstGeom>
          <a:ln w="25400" cap="flat" cmpd="sng">
            <a:solidFill>
              <a:srgbClr val="FF6600"/>
            </a:solidFill>
            <a:prstDash val="solid"/>
            <a:bevel/>
            <a:headEnd type="none" w="med" len="med"/>
            <a:tailEnd type="triangle" w="sm" len="med"/>
          </a:ln>
        </p:spPr>
      </p:sp>
      <p:sp>
        <p:nvSpPr>
          <p:cNvPr id="177181" name="Line 31"/>
          <p:cNvSpPr/>
          <p:nvPr/>
        </p:nvSpPr>
        <p:spPr>
          <a:xfrm flipH="1">
            <a:off x="7192963" y="5186363"/>
            <a:ext cx="522287" cy="1587"/>
          </a:xfrm>
          <a:prstGeom prst="line">
            <a:avLst/>
          </a:prstGeom>
          <a:ln w="25400" cap="flat" cmpd="sng">
            <a:solidFill>
              <a:srgbClr val="FF6600"/>
            </a:solidFill>
            <a:prstDash val="solid"/>
            <a:bevel/>
            <a:headEnd type="none" w="med" len="med"/>
            <a:tailEnd type="triangle" w="sm" len="med"/>
          </a:ln>
        </p:spPr>
      </p:sp>
      <p:sp>
        <p:nvSpPr>
          <p:cNvPr id="177182" name="Line 32"/>
          <p:cNvSpPr/>
          <p:nvPr/>
        </p:nvSpPr>
        <p:spPr>
          <a:xfrm flipH="1">
            <a:off x="7192963" y="5491163"/>
            <a:ext cx="522287" cy="1587"/>
          </a:xfrm>
          <a:prstGeom prst="line">
            <a:avLst/>
          </a:prstGeom>
          <a:ln w="25400" cap="flat" cmpd="sng">
            <a:solidFill>
              <a:srgbClr val="FF6600"/>
            </a:solidFill>
            <a:prstDash val="solid"/>
            <a:bevel/>
            <a:headEnd type="none" w="med" len="med"/>
            <a:tailEnd type="triangle" w="sm" len="med"/>
          </a:ln>
        </p:spPr>
      </p:sp>
      <p:sp>
        <p:nvSpPr>
          <p:cNvPr id="177183" name="Text Box 33"/>
          <p:cNvSpPr txBox="1"/>
          <p:nvPr/>
        </p:nvSpPr>
        <p:spPr>
          <a:xfrm>
            <a:off x="2822575" y="5229225"/>
            <a:ext cx="2268538" cy="303213"/>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179705" lvl="1" indent="0" algn="just">
              <a:lnSpc>
                <a:spcPct val="100000"/>
              </a:lnSpc>
              <a:spcAft>
                <a:spcPct val="0"/>
              </a:spcAft>
              <a:buClr>
                <a:srgbClr val="0000CC"/>
              </a:buClr>
              <a:buSzPct val="75000"/>
              <a:buNone/>
            </a:pPr>
            <a:r>
              <a:rPr lang="en-US" altLang="zh-CN" sz="1600" i="1" dirty="0">
                <a:solidFill>
                  <a:srgbClr val="000000"/>
                </a:solidFill>
                <a:latin typeface="宋体" panose="02010600030101010101" pitchFamily="2" charset="-122"/>
                <a:ea typeface="楷体_GB2312"/>
              </a:rPr>
              <a:t>8086/8088CPU</a:t>
            </a:r>
            <a:r>
              <a:rPr lang="zh-CN" altLang="en-US" sz="1600" i="1" dirty="0">
                <a:solidFill>
                  <a:srgbClr val="000000"/>
                </a:solidFill>
                <a:latin typeface="宋体" panose="02010600030101010101" pitchFamily="2" charset="-122"/>
                <a:ea typeface="楷体_GB2312"/>
              </a:rPr>
              <a:t>内部逻辑</a:t>
            </a:r>
            <a:endParaRPr lang="zh-CN" altLang="en-US" sz="1600" i="1" dirty="0">
              <a:solidFill>
                <a:srgbClr val="000000"/>
              </a:solidFill>
              <a:ea typeface="楷体_GB2312"/>
            </a:endParaRPr>
          </a:p>
        </p:txBody>
      </p:sp>
      <p:sp>
        <p:nvSpPr>
          <p:cNvPr id="177184" name="AutoShape 34"/>
          <p:cNvSpPr/>
          <p:nvPr/>
        </p:nvSpPr>
        <p:spPr>
          <a:xfrm>
            <a:off x="7889875" y="3371850"/>
            <a:ext cx="174625" cy="2117725"/>
          </a:xfrm>
          <a:prstGeom prst="rightBrace">
            <a:avLst>
              <a:gd name="adj1" fmla="val 100386"/>
              <a:gd name="adj2" fmla="val 50000"/>
            </a:avLst>
          </a:prstGeom>
          <a:noFill/>
          <a:ln w="25400" cap="flat" cmpd="sng">
            <a:solidFill>
              <a:srgbClr val="FF66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77185" name="Rectangle 35"/>
          <p:cNvSpPr/>
          <p:nvPr/>
        </p:nvSpPr>
        <p:spPr>
          <a:xfrm>
            <a:off x="1258888" y="3221038"/>
            <a:ext cx="1220787" cy="454025"/>
          </a:xfrm>
          <a:prstGeom prst="rect">
            <a:avLst/>
          </a:prstGeom>
          <a:solidFill>
            <a:schemeClr val="tx1"/>
          </a:solidFill>
          <a:ln w="9525" cap="flat" cmpd="sng">
            <a:solidFill>
              <a:schemeClr val="tx1"/>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600" dirty="0">
                <a:solidFill>
                  <a:srgbClr val="FFFFFF"/>
                </a:solidFill>
                <a:latin typeface="Times New Roman" panose="02020603050405020304" pitchFamily="18" charset="0"/>
                <a:ea typeface="楷体_GB2312"/>
              </a:rPr>
              <a:t>断点中断</a:t>
            </a:r>
            <a:endParaRPr lang="zh-CN" altLang="en-US" sz="1600" dirty="0">
              <a:solidFill>
                <a:srgbClr val="FFFFFF"/>
              </a:solidFill>
              <a:latin typeface="Times New Roman" panose="02020603050405020304" pitchFamily="18" charset="0"/>
              <a:ea typeface="楷体_GB2312"/>
            </a:endParaRPr>
          </a:p>
        </p:txBody>
      </p:sp>
      <p:sp>
        <p:nvSpPr>
          <p:cNvPr id="177186" name="Line 36"/>
          <p:cNvSpPr/>
          <p:nvPr/>
        </p:nvSpPr>
        <p:spPr>
          <a:xfrm>
            <a:off x="2479675" y="3435350"/>
            <a:ext cx="1047750" cy="1588"/>
          </a:xfrm>
          <a:prstGeom prst="line">
            <a:avLst/>
          </a:prstGeom>
          <a:ln w="9525" cap="flat" cmpd="sng">
            <a:solidFill>
              <a:srgbClr val="000000"/>
            </a:solidFill>
            <a:prstDash val="solid"/>
            <a:bevel/>
            <a:headEnd type="none" w="med" len="med"/>
            <a:tailEnd type="triangle" w="med" len="med"/>
          </a:ln>
        </p:spPr>
      </p:sp>
      <p:sp>
        <p:nvSpPr>
          <p:cNvPr id="177187" name="Text Box 37"/>
          <p:cNvSpPr txBox="1"/>
          <p:nvPr/>
        </p:nvSpPr>
        <p:spPr>
          <a:xfrm>
            <a:off x="7696200" y="3343275"/>
            <a:ext cx="1219200" cy="206692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522605" lvl="1" indent="0">
              <a:lnSpc>
                <a:spcPct val="90000"/>
              </a:lnSpc>
              <a:spcAft>
                <a:spcPct val="0"/>
              </a:spcAft>
              <a:buClr>
                <a:srgbClr val="0000CC"/>
              </a:buClr>
              <a:buSzPct val="75000"/>
              <a:buNone/>
            </a:pPr>
            <a:r>
              <a:rPr lang="zh-CN" altLang="en-US" i="1" dirty="0">
                <a:solidFill>
                  <a:srgbClr val="000000"/>
                </a:solidFill>
                <a:ea typeface="楷体_GB2312"/>
              </a:rPr>
              <a:t>可</a:t>
            </a:r>
            <a:endParaRPr lang="zh-CN" altLang="en-US" i="1" dirty="0">
              <a:solidFill>
                <a:srgbClr val="000000"/>
              </a:solidFill>
              <a:ea typeface="楷体_GB2312"/>
            </a:endParaRPr>
          </a:p>
          <a:p>
            <a:pPr marL="522605" lvl="1" indent="0">
              <a:lnSpc>
                <a:spcPct val="90000"/>
              </a:lnSpc>
              <a:spcAft>
                <a:spcPct val="0"/>
              </a:spcAft>
              <a:buClr>
                <a:srgbClr val="0000CC"/>
              </a:buClr>
              <a:buSzPct val="75000"/>
              <a:buNone/>
            </a:pPr>
            <a:r>
              <a:rPr lang="zh-CN" altLang="en-US" i="1" dirty="0">
                <a:solidFill>
                  <a:srgbClr val="000000"/>
                </a:solidFill>
                <a:ea typeface="楷体_GB2312"/>
              </a:rPr>
              <a:t>屏</a:t>
            </a:r>
            <a:endParaRPr lang="zh-CN" altLang="en-US" i="1" dirty="0">
              <a:solidFill>
                <a:srgbClr val="000000"/>
              </a:solidFill>
              <a:ea typeface="楷体_GB2312"/>
            </a:endParaRPr>
          </a:p>
          <a:p>
            <a:pPr marL="522605" lvl="1" indent="0">
              <a:lnSpc>
                <a:spcPct val="90000"/>
              </a:lnSpc>
              <a:spcAft>
                <a:spcPct val="0"/>
              </a:spcAft>
              <a:buClr>
                <a:srgbClr val="0000CC"/>
              </a:buClr>
              <a:buSzPct val="75000"/>
              <a:buNone/>
            </a:pPr>
            <a:r>
              <a:rPr lang="zh-CN" altLang="en-US" i="1" dirty="0">
                <a:solidFill>
                  <a:srgbClr val="000000"/>
                </a:solidFill>
                <a:ea typeface="楷体_GB2312"/>
              </a:rPr>
              <a:t>蔽</a:t>
            </a:r>
            <a:endParaRPr lang="zh-CN" altLang="en-US" i="1" dirty="0">
              <a:solidFill>
                <a:srgbClr val="000000"/>
              </a:solidFill>
              <a:ea typeface="楷体_GB2312"/>
            </a:endParaRPr>
          </a:p>
          <a:p>
            <a:pPr marL="522605" lvl="1" indent="0">
              <a:lnSpc>
                <a:spcPct val="90000"/>
              </a:lnSpc>
              <a:spcAft>
                <a:spcPct val="0"/>
              </a:spcAft>
              <a:buClr>
                <a:srgbClr val="0000CC"/>
              </a:buClr>
              <a:buSzPct val="75000"/>
              <a:buNone/>
            </a:pPr>
            <a:r>
              <a:rPr lang="zh-CN" altLang="en-US" i="1" dirty="0">
                <a:solidFill>
                  <a:srgbClr val="000000"/>
                </a:solidFill>
                <a:ea typeface="楷体_GB2312"/>
              </a:rPr>
              <a:t>中</a:t>
            </a:r>
            <a:endParaRPr lang="zh-CN" altLang="en-US" i="1" dirty="0">
              <a:solidFill>
                <a:srgbClr val="000000"/>
              </a:solidFill>
              <a:ea typeface="楷体_GB2312"/>
            </a:endParaRPr>
          </a:p>
          <a:p>
            <a:pPr marL="522605" lvl="1" indent="0">
              <a:lnSpc>
                <a:spcPct val="90000"/>
              </a:lnSpc>
              <a:spcAft>
                <a:spcPct val="0"/>
              </a:spcAft>
              <a:buClr>
                <a:srgbClr val="0000CC"/>
              </a:buClr>
              <a:buSzPct val="75000"/>
              <a:buNone/>
            </a:pPr>
            <a:r>
              <a:rPr lang="zh-CN" altLang="en-US" i="1" dirty="0">
                <a:solidFill>
                  <a:srgbClr val="000000"/>
                </a:solidFill>
                <a:ea typeface="楷体_GB2312"/>
              </a:rPr>
              <a:t>断</a:t>
            </a:r>
            <a:endParaRPr lang="zh-CN" altLang="en-US" i="1" dirty="0">
              <a:solidFill>
                <a:srgbClr val="000000"/>
              </a:solidFill>
              <a:ea typeface="楷体_GB2312"/>
            </a:endParaRPr>
          </a:p>
          <a:p>
            <a:pPr marL="522605" lvl="1" indent="0">
              <a:lnSpc>
                <a:spcPct val="90000"/>
              </a:lnSpc>
              <a:spcAft>
                <a:spcPct val="0"/>
              </a:spcAft>
              <a:buClr>
                <a:srgbClr val="0000CC"/>
              </a:buClr>
              <a:buSzPct val="75000"/>
              <a:buNone/>
            </a:pPr>
            <a:r>
              <a:rPr lang="zh-CN" altLang="en-US" i="1" dirty="0">
                <a:solidFill>
                  <a:srgbClr val="000000"/>
                </a:solidFill>
                <a:ea typeface="楷体_GB2312"/>
              </a:rPr>
              <a:t>请</a:t>
            </a:r>
            <a:endParaRPr lang="zh-CN" altLang="en-US" i="1" dirty="0">
              <a:solidFill>
                <a:srgbClr val="000000"/>
              </a:solidFill>
              <a:ea typeface="楷体_GB2312"/>
            </a:endParaRPr>
          </a:p>
          <a:p>
            <a:pPr marL="522605" lvl="1" indent="0">
              <a:lnSpc>
                <a:spcPct val="90000"/>
              </a:lnSpc>
              <a:spcAft>
                <a:spcPct val="0"/>
              </a:spcAft>
              <a:buClr>
                <a:srgbClr val="0000CC"/>
              </a:buClr>
              <a:buSzPct val="75000"/>
              <a:buNone/>
            </a:pPr>
            <a:r>
              <a:rPr lang="zh-CN" altLang="en-US" i="1" dirty="0">
                <a:solidFill>
                  <a:srgbClr val="000000"/>
                </a:solidFill>
                <a:ea typeface="楷体_GB2312"/>
              </a:rPr>
              <a:t>求</a:t>
            </a:r>
            <a:endParaRPr lang="zh-CN" altLang="en-US" i="1" dirty="0">
              <a:solidFill>
                <a:srgbClr val="000000"/>
              </a:solidFill>
              <a:ea typeface="楷体_GB2312"/>
            </a:endParaRPr>
          </a:p>
        </p:txBody>
      </p:sp>
      <p:sp>
        <p:nvSpPr>
          <p:cNvPr id="177188" name="Text Box 38"/>
          <p:cNvSpPr txBox="1"/>
          <p:nvPr/>
        </p:nvSpPr>
        <p:spPr>
          <a:xfrm>
            <a:off x="3152775" y="2247900"/>
            <a:ext cx="144463" cy="144463"/>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600" dirty="0">
                <a:solidFill>
                  <a:srgbClr val="000000"/>
                </a:solidFill>
                <a:ea typeface="楷体_GB2312"/>
              </a:rPr>
              <a:t>n</a:t>
            </a:r>
            <a:endParaRPr lang="en-US" altLang="zh-CN" sz="1600" dirty="0">
              <a:solidFill>
                <a:srgbClr val="000000"/>
              </a:solidFill>
              <a:ea typeface="楷体_GB2312"/>
            </a:endParaRPr>
          </a:p>
        </p:txBody>
      </p:sp>
      <p:sp>
        <p:nvSpPr>
          <p:cNvPr id="177189" name="Text Box 39"/>
          <p:cNvSpPr txBox="1"/>
          <p:nvPr/>
        </p:nvSpPr>
        <p:spPr>
          <a:xfrm>
            <a:off x="3154363" y="2636838"/>
            <a:ext cx="144462" cy="14446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600" dirty="0">
                <a:solidFill>
                  <a:srgbClr val="000000"/>
                </a:solidFill>
                <a:ea typeface="楷体_GB2312"/>
              </a:rPr>
              <a:t>4</a:t>
            </a:r>
            <a:endParaRPr lang="en-US" altLang="zh-CN" sz="1600" dirty="0">
              <a:solidFill>
                <a:srgbClr val="000000"/>
              </a:solidFill>
              <a:ea typeface="楷体_GB2312"/>
            </a:endParaRPr>
          </a:p>
        </p:txBody>
      </p:sp>
      <p:sp>
        <p:nvSpPr>
          <p:cNvPr id="177190" name="Text Box 40"/>
          <p:cNvSpPr txBox="1"/>
          <p:nvPr/>
        </p:nvSpPr>
        <p:spPr>
          <a:xfrm>
            <a:off x="3140075" y="3213100"/>
            <a:ext cx="144463" cy="144463"/>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600" dirty="0">
                <a:solidFill>
                  <a:srgbClr val="000000"/>
                </a:solidFill>
                <a:ea typeface="楷体_GB2312"/>
              </a:rPr>
              <a:t>3</a:t>
            </a:r>
            <a:endParaRPr lang="en-US" altLang="zh-CN" sz="1600" dirty="0">
              <a:solidFill>
                <a:srgbClr val="000000"/>
              </a:solidFill>
              <a:ea typeface="楷体_GB2312"/>
            </a:endParaRPr>
          </a:p>
        </p:txBody>
      </p:sp>
      <p:sp>
        <p:nvSpPr>
          <p:cNvPr id="177191" name="Text Box 41"/>
          <p:cNvSpPr txBox="1"/>
          <p:nvPr/>
        </p:nvSpPr>
        <p:spPr>
          <a:xfrm>
            <a:off x="3140075" y="3933825"/>
            <a:ext cx="144463" cy="144463"/>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600" dirty="0">
                <a:solidFill>
                  <a:srgbClr val="000000"/>
                </a:solidFill>
                <a:ea typeface="楷体_GB2312"/>
              </a:rPr>
              <a:t>0</a:t>
            </a:r>
            <a:endParaRPr lang="en-US" altLang="zh-CN" sz="1600" dirty="0">
              <a:solidFill>
                <a:srgbClr val="000000"/>
              </a:solidFill>
              <a:ea typeface="楷体_GB2312"/>
            </a:endParaRPr>
          </a:p>
        </p:txBody>
      </p:sp>
      <p:sp>
        <p:nvSpPr>
          <p:cNvPr id="177192" name="Text Box 42"/>
          <p:cNvSpPr txBox="1"/>
          <p:nvPr/>
        </p:nvSpPr>
        <p:spPr>
          <a:xfrm>
            <a:off x="3140075" y="4408488"/>
            <a:ext cx="144463" cy="14446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600" dirty="0">
                <a:solidFill>
                  <a:srgbClr val="000000"/>
                </a:solidFill>
                <a:ea typeface="楷体_GB2312"/>
              </a:rPr>
              <a:t>1</a:t>
            </a:r>
            <a:endParaRPr lang="en-US" altLang="zh-CN" sz="1600" dirty="0">
              <a:solidFill>
                <a:srgbClr val="000000"/>
              </a:solidFill>
              <a:ea typeface="楷体_GB2312"/>
            </a:endParaRPr>
          </a:p>
        </p:txBody>
      </p:sp>
      <p:sp>
        <p:nvSpPr>
          <p:cNvPr id="177193" name="Text Box 43"/>
          <p:cNvSpPr txBox="1"/>
          <p:nvPr/>
        </p:nvSpPr>
        <p:spPr>
          <a:xfrm>
            <a:off x="4911725" y="2420938"/>
            <a:ext cx="144463" cy="14446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Bef>
                <a:spcPct val="0"/>
              </a:spcBef>
              <a:spcAft>
                <a:spcPct val="0"/>
              </a:spcAft>
              <a:buClr>
                <a:srgbClr val="0000CC"/>
              </a:buClr>
              <a:buSzPct val="75000"/>
              <a:buNone/>
            </a:pPr>
            <a:r>
              <a:rPr lang="en-US" altLang="zh-CN" sz="1600" dirty="0">
                <a:solidFill>
                  <a:srgbClr val="000000"/>
                </a:solidFill>
                <a:ea typeface="楷体_GB2312"/>
              </a:rPr>
              <a:t>2</a:t>
            </a:r>
            <a:endParaRPr lang="en-US" altLang="zh-CN" sz="1600" dirty="0">
              <a:solidFill>
                <a:srgbClr val="000000"/>
              </a:solidFill>
              <a:ea typeface="楷体_GB2312"/>
            </a:endParaRPr>
          </a:p>
        </p:txBody>
      </p:sp>
      <p:sp>
        <p:nvSpPr>
          <p:cNvPr id="177194" name="Text Box 44"/>
          <p:cNvSpPr txBox="1"/>
          <p:nvPr/>
        </p:nvSpPr>
        <p:spPr>
          <a:xfrm>
            <a:off x="1295400" y="457200"/>
            <a:ext cx="4800600" cy="579438"/>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3200" dirty="0">
                <a:solidFill>
                  <a:srgbClr val="000000"/>
                </a:solidFill>
                <a:ea typeface="楷体_GB2312"/>
              </a:rPr>
              <a:t>8086/8088</a:t>
            </a:r>
            <a:r>
              <a:rPr lang="zh-CN" altLang="en-US" sz="3200" dirty="0">
                <a:solidFill>
                  <a:srgbClr val="000000"/>
                </a:solidFill>
                <a:ea typeface="楷体_GB2312"/>
              </a:rPr>
              <a:t>中断源类型：</a:t>
            </a:r>
            <a:endParaRPr lang="zh-CN" altLang="en-US" sz="3200" dirty="0">
              <a:solidFill>
                <a:srgbClr val="000000"/>
              </a:solidFill>
              <a:ea typeface="楷体_GB2312"/>
            </a:endParaRPr>
          </a:p>
        </p:txBody>
      </p:sp>
    </p:spTree>
  </p:cSld>
  <p:clrMapOvr>
    <a:masterClrMapping/>
  </p:clrMapOvr>
  <p:transition spd="slow">
    <p:zo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2"/>
          <p:cNvSpPr>
            <a:spLocks noGrp="1"/>
          </p:cNvSpPr>
          <p:nvPr>
            <p:ph type="title" idx="4294967295"/>
          </p:nvPr>
        </p:nvSpPr>
        <p:spPr>
          <a:xfrm>
            <a:off x="1327150" y="1287463"/>
            <a:ext cx="3892550" cy="504825"/>
          </a:xfrm>
        </p:spPr>
        <p:txBody>
          <a:bodyPr vert="horz" wrap="square" lIns="91440" tIns="45720" rIns="91440" bIns="45720" anchor="b" anchorCtr="0"/>
          <a:p>
            <a:r>
              <a:rPr lang="zh-CN" altLang="en-US" dirty="0"/>
              <a:t>除法出错中断</a:t>
            </a:r>
            <a:endParaRPr lang="zh-CN" altLang="en-US" dirty="0"/>
          </a:p>
        </p:txBody>
      </p:sp>
      <p:sp>
        <p:nvSpPr>
          <p:cNvPr id="177155" name="Rectangle 3"/>
          <p:cNvSpPr>
            <a:spLocks noGrp="1" noChangeArrowheads="1"/>
          </p:cNvSpPr>
          <p:nvPr>
            <p:ph type="body" idx="4294967295"/>
          </p:nvPr>
        </p:nvSpPr>
        <p:spPr>
          <a:xfrm>
            <a:off x="392113" y="1989138"/>
            <a:ext cx="8229600" cy="1347788"/>
          </a:xfrm>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a:pPr>
            <a:r>
              <a:rPr kumimoji="0" lang="zh-CN" altLang="en-US" sz="2400" b="1" i="0" u="none" strike="noStrike" kern="1200" cap="none" spc="0" normalizeH="0" baseline="0" noProof="0" dirty="0">
                <a:ln>
                  <a:noFill/>
                </a:ln>
                <a:solidFill>
                  <a:schemeClr val="tx2"/>
                </a:solidFill>
                <a:effectLst/>
                <a:uLnTx/>
                <a:uFillTx/>
                <a:latin typeface="+mn-ea"/>
                <a:ea typeface="+mn-ea"/>
                <a:cs typeface="+mn-cs"/>
              </a:rPr>
              <a:t>在执行除法指令时，若除数为</a:t>
            </a:r>
            <a:r>
              <a:rPr kumimoji="0" lang="en-US" altLang="zh-CN" sz="2400" b="1" i="0" u="none" strike="noStrike" kern="1200" cap="none" spc="0" normalizeH="0" baseline="0" noProof="0" dirty="0">
                <a:ln>
                  <a:noFill/>
                </a:ln>
                <a:solidFill>
                  <a:schemeClr val="tx2"/>
                </a:solidFill>
                <a:effectLst/>
                <a:uLnTx/>
                <a:uFillTx/>
                <a:latin typeface="+mn-ea"/>
                <a:ea typeface="+mn-ea"/>
                <a:cs typeface="+mn-cs"/>
              </a:rPr>
              <a:t>0</a:t>
            </a:r>
            <a:r>
              <a:rPr kumimoji="0" lang="zh-CN" altLang="en-US" sz="2400" b="1" i="0" u="none" strike="noStrike" kern="1200" cap="none" spc="0" normalizeH="0" baseline="0" noProof="0" dirty="0">
                <a:ln>
                  <a:noFill/>
                </a:ln>
                <a:solidFill>
                  <a:schemeClr val="tx2"/>
                </a:solidFill>
                <a:effectLst/>
                <a:uLnTx/>
                <a:uFillTx/>
                <a:latin typeface="+mn-ea"/>
                <a:ea typeface="+mn-ea"/>
                <a:cs typeface="+mn-cs"/>
              </a:rPr>
              <a:t>或商超过了寄存器所能表达的范围，则产生一个</a:t>
            </a:r>
            <a:r>
              <a:rPr kumimoji="0" lang="zh-CN" altLang="en-US" sz="2400" b="1" i="0" u="none" strike="noStrike" kern="1200" cap="none" spc="0" normalizeH="0" baseline="0" noProof="0" dirty="0">
                <a:ln>
                  <a:noFill/>
                </a:ln>
                <a:solidFill>
                  <a:schemeClr val="tx1"/>
                </a:solidFill>
                <a:effectLst/>
                <a:uLnTx/>
                <a:uFillTx/>
                <a:latin typeface="+mn-ea"/>
                <a:ea typeface="+mn-ea"/>
                <a:cs typeface="+mn-cs"/>
              </a:rPr>
              <a:t>向量号为</a:t>
            </a:r>
            <a:r>
              <a:rPr kumimoji="0" lang="en-US" altLang="zh-CN" sz="2400" b="1" i="0" u="none" strike="noStrike" kern="1200" cap="none" spc="0" normalizeH="0" baseline="0" noProof="0" dirty="0">
                <a:ln>
                  <a:noFill/>
                </a:ln>
                <a:solidFill>
                  <a:schemeClr val="tx1"/>
                </a:solidFill>
                <a:effectLst/>
                <a:uLnTx/>
                <a:uFillTx/>
                <a:latin typeface="+mn-ea"/>
                <a:ea typeface="+mn-ea"/>
                <a:cs typeface="+mn-cs"/>
              </a:rPr>
              <a:t>0</a:t>
            </a:r>
            <a:r>
              <a:rPr kumimoji="0" lang="zh-CN" altLang="en-US" sz="2400" b="1" i="0" u="none" strike="noStrike" kern="1200" cap="none" spc="0" normalizeH="0" baseline="0" noProof="0" dirty="0">
                <a:ln>
                  <a:noFill/>
                </a:ln>
                <a:solidFill>
                  <a:schemeClr val="tx2"/>
                </a:solidFill>
                <a:effectLst/>
                <a:uLnTx/>
                <a:uFillTx/>
                <a:latin typeface="+mn-ea"/>
                <a:ea typeface="+mn-ea"/>
                <a:cs typeface="+mn-cs"/>
              </a:rPr>
              <a:t>的内部中断，称为</a:t>
            </a:r>
            <a:r>
              <a:rPr kumimoji="0" lang="zh-CN" altLang="en-US" sz="2400" b="1" i="0" u="none" strike="noStrike" kern="1200" cap="none" spc="0" normalizeH="0" baseline="0" noProof="0" dirty="0">
                <a:ln>
                  <a:noFill/>
                </a:ln>
                <a:solidFill>
                  <a:schemeClr val="tx1"/>
                </a:solidFill>
                <a:effectLst/>
                <a:uLnTx/>
                <a:uFillTx/>
                <a:latin typeface="+mn-ea"/>
                <a:ea typeface="+mn-ea"/>
                <a:cs typeface="+mn-cs"/>
              </a:rPr>
              <a:t>除法出错中断</a:t>
            </a:r>
            <a:endParaRPr kumimoji="0" lang="zh-CN" altLang="en-US" sz="2400" b="1" i="0" u="none" strike="noStrike" kern="1200" cap="none" spc="0" normalizeH="0" baseline="0" noProof="0" dirty="0">
              <a:ln>
                <a:noFill/>
              </a:ln>
              <a:solidFill>
                <a:schemeClr val="tx1"/>
              </a:solidFill>
              <a:effectLst/>
              <a:uLnTx/>
              <a:uFillTx/>
              <a:latin typeface="+mn-ea"/>
              <a:ea typeface="+mn-ea"/>
              <a:cs typeface="+mn-cs"/>
            </a:endParaRPr>
          </a:p>
        </p:txBody>
      </p:sp>
      <p:sp>
        <p:nvSpPr>
          <p:cNvPr id="178180" name="Text Box 4"/>
          <p:cNvSpPr txBox="1"/>
          <p:nvPr/>
        </p:nvSpPr>
        <p:spPr>
          <a:xfrm>
            <a:off x="760413" y="3354388"/>
            <a:ext cx="7493000" cy="955675"/>
          </a:xfrm>
          <a:prstGeom prst="rect">
            <a:avLst/>
          </a:prstGeom>
          <a:noFill/>
          <a:ln w="9525" cap="flat" cmpd="sng">
            <a:solidFill>
              <a:schemeClr val="hlink"/>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dirty="0">
                <a:solidFill>
                  <a:srgbClr val="0066FF"/>
                </a:solidFill>
                <a:ea typeface="楷体_GB2312"/>
              </a:rPr>
              <a:t>MOV BL,0</a:t>
            </a:r>
            <a:endParaRPr lang="en-US" altLang="zh-CN" dirty="0">
              <a:solidFill>
                <a:srgbClr val="0066FF"/>
              </a:solidFill>
              <a:ea typeface="楷体_GB2312"/>
            </a:endParaRPr>
          </a:p>
          <a:p>
            <a:pPr marL="0" lvl="0" indent="0">
              <a:lnSpc>
                <a:spcPct val="100000"/>
              </a:lnSpc>
              <a:spcBef>
                <a:spcPct val="0"/>
              </a:spcBef>
              <a:spcAft>
                <a:spcPct val="0"/>
              </a:spcAft>
              <a:buClrTx/>
              <a:buSzTx/>
              <a:buNone/>
            </a:pPr>
            <a:r>
              <a:rPr lang="en-US" altLang="zh-CN" dirty="0">
                <a:solidFill>
                  <a:srgbClr val="0066FF"/>
                </a:solidFill>
                <a:ea typeface="楷体_GB2312"/>
              </a:rPr>
              <a:t>IDIV BL	</a:t>
            </a:r>
            <a:r>
              <a:rPr lang="zh-CN" altLang="en-US" dirty="0">
                <a:solidFill>
                  <a:srgbClr val="0066FF"/>
                </a:solidFill>
                <a:ea typeface="楷体_GB2312"/>
              </a:rPr>
              <a:t>；除数</a:t>
            </a:r>
            <a:r>
              <a:rPr lang="en-US" altLang="zh-CN" dirty="0">
                <a:solidFill>
                  <a:srgbClr val="0066FF"/>
                </a:solidFill>
                <a:ea typeface="楷体_GB2312"/>
              </a:rPr>
              <a:t>BL</a:t>
            </a:r>
            <a:r>
              <a:rPr lang="zh-CN" altLang="en-US" dirty="0">
                <a:solidFill>
                  <a:srgbClr val="0066FF"/>
                </a:solidFill>
                <a:ea typeface="楷体_GB2312"/>
              </a:rPr>
              <a:t>＝</a:t>
            </a:r>
            <a:r>
              <a:rPr lang="en-US" altLang="zh-CN" dirty="0">
                <a:solidFill>
                  <a:srgbClr val="0066FF"/>
                </a:solidFill>
                <a:ea typeface="楷体_GB2312"/>
              </a:rPr>
              <a:t>0</a:t>
            </a:r>
            <a:r>
              <a:rPr lang="zh-CN" altLang="en-US" dirty="0">
                <a:solidFill>
                  <a:srgbClr val="0066FF"/>
                </a:solidFill>
                <a:ea typeface="楷体_GB2312"/>
              </a:rPr>
              <a:t>，产生除法溢出中断</a:t>
            </a:r>
            <a:endParaRPr lang="zh-CN" altLang="en-US" b="0" dirty="0">
              <a:solidFill>
                <a:schemeClr val="tx1"/>
              </a:solidFill>
              <a:ea typeface="楷体_GB2312"/>
            </a:endParaRPr>
          </a:p>
        </p:txBody>
      </p:sp>
      <p:sp>
        <p:nvSpPr>
          <p:cNvPr id="178181" name="Text Box 5"/>
          <p:cNvSpPr txBox="1"/>
          <p:nvPr/>
        </p:nvSpPr>
        <p:spPr>
          <a:xfrm>
            <a:off x="760413" y="4724400"/>
            <a:ext cx="7493000" cy="1809750"/>
          </a:xfrm>
          <a:prstGeom prst="rect">
            <a:avLst/>
          </a:prstGeom>
          <a:noFill/>
          <a:ln w="9525" cap="flat" cmpd="sng">
            <a:solidFill>
              <a:schemeClr val="hlink"/>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defTabSz="914400">
              <a:lnSpc>
                <a:spcPct val="100000"/>
              </a:lnSpc>
              <a:spcBef>
                <a:spcPct val="0"/>
              </a:spcBef>
              <a:spcAft>
                <a:spcPct val="0"/>
              </a:spcAft>
              <a:buClrTx/>
              <a:buSzTx/>
              <a:buNone/>
              <a:tabLst>
                <a:tab pos="2146300" algn="l"/>
              </a:tabLst>
            </a:pPr>
            <a:r>
              <a:rPr lang="en-US" altLang="zh-CN" dirty="0">
                <a:solidFill>
                  <a:srgbClr val="0066FF"/>
                </a:solidFill>
                <a:ea typeface="楷体_GB2312"/>
              </a:rPr>
              <a:t>MOV AX,200H</a:t>
            </a:r>
            <a:endParaRPr lang="en-US" altLang="zh-CN" dirty="0">
              <a:solidFill>
                <a:srgbClr val="0066FF"/>
              </a:solidFill>
              <a:ea typeface="楷体_GB2312"/>
            </a:endParaRPr>
          </a:p>
          <a:p>
            <a:pPr marL="0" lvl="0" indent="0" defTabSz="914400">
              <a:lnSpc>
                <a:spcPct val="100000"/>
              </a:lnSpc>
              <a:spcBef>
                <a:spcPct val="0"/>
              </a:spcBef>
              <a:spcAft>
                <a:spcPct val="0"/>
              </a:spcAft>
              <a:buClrTx/>
              <a:buSzTx/>
              <a:buNone/>
              <a:tabLst>
                <a:tab pos="2146300" algn="l"/>
              </a:tabLst>
            </a:pPr>
            <a:r>
              <a:rPr lang="en-US" altLang="zh-CN" dirty="0">
                <a:solidFill>
                  <a:srgbClr val="0066FF"/>
                </a:solidFill>
                <a:ea typeface="楷体_GB2312"/>
              </a:rPr>
              <a:t>MOV BL,1</a:t>
            </a:r>
            <a:endParaRPr lang="en-US" altLang="zh-CN" dirty="0">
              <a:solidFill>
                <a:srgbClr val="0066FF"/>
              </a:solidFill>
              <a:ea typeface="楷体_GB2312"/>
            </a:endParaRPr>
          </a:p>
          <a:p>
            <a:pPr marL="0" lvl="0" indent="0" defTabSz="914400">
              <a:lnSpc>
                <a:spcPct val="100000"/>
              </a:lnSpc>
              <a:spcBef>
                <a:spcPct val="0"/>
              </a:spcBef>
              <a:spcAft>
                <a:spcPct val="0"/>
              </a:spcAft>
              <a:buClrTx/>
              <a:buSzTx/>
              <a:buNone/>
              <a:tabLst>
                <a:tab pos="2146300" algn="l"/>
              </a:tabLst>
            </a:pPr>
            <a:r>
              <a:rPr lang="en-US" altLang="zh-CN" dirty="0">
                <a:solidFill>
                  <a:srgbClr val="0066FF"/>
                </a:solidFill>
                <a:ea typeface="楷体_GB2312"/>
              </a:rPr>
              <a:t>DIV BL	</a:t>
            </a:r>
            <a:r>
              <a:rPr lang="zh-CN" altLang="en-US" dirty="0">
                <a:solidFill>
                  <a:srgbClr val="0066FF"/>
                </a:solidFill>
                <a:ea typeface="楷体_GB2312"/>
              </a:rPr>
              <a:t>；商＝</a:t>
            </a:r>
            <a:r>
              <a:rPr lang="en-US" altLang="zh-CN" dirty="0">
                <a:solidFill>
                  <a:srgbClr val="0066FF"/>
                </a:solidFill>
                <a:ea typeface="楷体_GB2312"/>
              </a:rPr>
              <a:t>200H</a:t>
            </a:r>
            <a:r>
              <a:rPr lang="zh-CN" altLang="en-US" dirty="0">
                <a:solidFill>
                  <a:srgbClr val="0066FF"/>
                </a:solidFill>
                <a:ea typeface="楷体_GB2312"/>
              </a:rPr>
              <a:t>，不能用</a:t>
            </a:r>
            <a:r>
              <a:rPr lang="en-US" altLang="zh-CN" dirty="0">
                <a:solidFill>
                  <a:srgbClr val="0066FF"/>
                </a:solidFill>
                <a:ea typeface="楷体_GB2312"/>
              </a:rPr>
              <a:t>AL</a:t>
            </a:r>
            <a:r>
              <a:rPr lang="zh-CN" altLang="en-US" dirty="0">
                <a:solidFill>
                  <a:srgbClr val="0066FF"/>
                </a:solidFill>
                <a:ea typeface="楷体_GB2312"/>
              </a:rPr>
              <a:t>表达</a:t>
            </a:r>
            <a:endParaRPr lang="zh-CN" altLang="en-US" dirty="0">
              <a:solidFill>
                <a:srgbClr val="0066FF"/>
              </a:solidFill>
              <a:ea typeface="楷体_GB2312"/>
            </a:endParaRPr>
          </a:p>
          <a:p>
            <a:pPr marL="0" lvl="0" indent="0" defTabSz="914400">
              <a:lnSpc>
                <a:spcPct val="100000"/>
              </a:lnSpc>
              <a:spcBef>
                <a:spcPct val="0"/>
              </a:spcBef>
              <a:spcAft>
                <a:spcPct val="0"/>
              </a:spcAft>
              <a:buClrTx/>
              <a:buSzTx/>
              <a:buNone/>
              <a:tabLst>
                <a:tab pos="2146300" algn="l"/>
              </a:tabLst>
            </a:pPr>
            <a:r>
              <a:rPr lang="zh-CN" altLang="en-US" dirty="0">
                <a:solidFill>
                  <a:srgbClr val="0066FF"/>
                </a:solidFill>
                <a:ea typeface="楷体_GB2312"/>
              </a:rPr>
              <a:t>	；产生除法溢出中断</a:t>
            </a:r>
            <a:endParaRPr lang="zh-CN" altLang="en-US" b="0" dirty="0">
              <a:solidFill>
                <a:schemeClr val="tx1"/>
              </a:solidFill>
              <a:ea typeface="楷体_GB2312"/>
            </a:endParaRPr>
          </a:p>
        </p:txBody>
      </p:sp>
    </p:spTree>
  </p:cSld>
  <p:clrMapOvr>
    <a:masterClrMapping/>
  </p:clrMapOvr>
  <p:transition spd="slow">
    <p:zo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Grp="1"/>
          </p:cNvSpPr>
          <p:nvPr>
            <p:ph type="title" idx="4294967295"/>
          </p:nvPr>
        </p:nvSpPr>
        <p:spPr>
          <a:xfrm>
            <a:off x="1331913" y="1268413"/>
            <a:ext cx="2447925" cy="504825"/>
          </a:xfrm>
        </p:spPr>
        <p:txBody>
          <a:bodyPr vert="horz" wrap="square" lIns="91440" tIns="45720" rIns="91440" bIns="45720" anchor="b" anchorCtr="0"/>
          <a:p>
            <a:r>
              <a:rPr lang="zh-CN" altLang="en-US" dirty="0"/>
              <a:t>溢出中断</a:t>
            </a:r>
            <a:endParaRPr lang="zh-CN" altLang="en-US" dirty="0"/>
          </a:p>
        </p:txBody>
      </p:sp>
      <p:sp>
        <p:nvSpPr>
          <p:cNvPr id="178179" name="Rectangle 3"/>
          <p:cNvSpPr>
            <a:spLocks noGrp="1" noChangeArrowheads="1"/>
          </p:cNvSpPr>
          <p:nvPr>
            <p:ph type="body" idx="4294967295"/>
          </p:nvPr>
        </p:nvSpPr>
        <p:spPr>
          <a:xfrm>
            <a:off x="468313" y="2276475"/>
            <a:ext cx="8229600" cy="1584325"/>
          </a:xfrm>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a:pPr>
            <a:r>
              <a:rPr kumimoji="0" lang="zh-CN" altLang="en-US" sz="2800" b="1" i="0" u="none" strike="noStrike" kern="1200" cap="none" spc="0" normalizeH="0" baseline="0" noProof="0" dirty="0">
                <a:ln>
                  <a:noFill/>
                </a:ln>
                <a:solidFill>
                  <a:schemeClr val="tx2"/>
                </a:solidFill>
                <a:effectLst/>
                <a:uLnTx/>
                <a:uFillTx/>
                <a:latin typeface="+mn-ea"/>
                <a:ea typeface="+mn-ea"/>
                <a:cs typeface="+mn-cs"/>
              </a:rPr>
              <a:t>在执行溢出中断指令</a:t>
            </a:r>
            <a:r>
              <a:rPr kumimoji="0" lang="en-US" altLang="zh-CN" sz="2800" b="1" i="0" u="none" strike="noStrike" kern="1200" cap="none" spc="0" normalizeH="0" baseline="0" noProof="0" dirty="0">
                <a:ln>
                  <a:noFill/>
                </a:ln>
                <a:solidFill>
                  <a:schemeClr val="tx2"/>
                </a:solidFill>
                <a:effectLst/>
                <a:uLnTx/>
                <a:uFillTx/>
                <a:latin typeface="+mn-ea"/>
                <a:ea typeface="+mn-ea"/>
                <a:cs typeface="+mn-cs"/>
              </a:rPr>
              <a:t>INTO</a:t>
            </a:r>
            <a:r>
              <a:rPr kumimoji="0" lang="zh-CN" altLang="en-US" sz="2800" b="1" i="0" u="none" strike="noStrike" kern="1200" cap="none" spc="0" normalizeH="0" baseline="0" noProof="0" dirty="0">
                <a:ln>
                  <a:noFill/>
                </a:ln>
                <a:solidFill>
                  <a:schemeClr val="tx2"/>
                </a:solidFill>
                <a:effectLst/>
                <a:uLnTx/>
                <a:uFillTx/>
                <a:latin typeface="+mn-ea"/>
                <a:ea typeface="+mn-ea"/>
                <a:cs typeface="+mn-cs"/>
              </a:rPr>
              <a:t>时，若溢出标志</a:t>
            </a:r>
            <a:r>
              <a:rPr kumimoji="0" lang="en-US" altLang="zh-CN" sz="2800" b="1" i="0" u="none" strike="noStrike" kern="1200" cap="none" spc="0" normalizeH="0" baseline="0" noProof="0" dirty="0">
                <a:ln>
                  <a:noFill/>
                </a:ln>
                <a:solidFill>
                  <a:schemeClr val="tx2"/>
                </a:solidFill>
                <a:effectLst/>
                <a:uLnTx/>
                <a:uFillTx/>
                <a:latin typeface="+mn-ea"/>
                <a:ea typeface="+mn-ea"/>
                <a:cs typeface="+mn-cs"/>
              </a:rPr>
              <a:t>OF</a:t>
            </a:r>
            <a:r>
              <a:rPr kumimoji="0" lang="zh-CN" altLang="en-US" sz="2800" b="1" i="0" u="none" strike="noStrike" kern="1200" cap="none" spc="0" normalizeH="0" baseline="0" noProof="0" dirty="0">
                <a:ln>
                  <a:noFill/>
                </a:ln>
                <a:solidFill>
                  <a:schemeClr val="tx2"/>
                </a:solidFill>
                <a:effectLst/>
                <a:uLnTx/>
                <a:uFillTx/>
                <a:latin typeface="+mn-ea"/>
                <a:ea typeface="+mn-ea"/>
                <a:cs typeface="+mn-cs"/>
              </a:rPr>
              <a:t>为</a:t>
            </a:r>
            <a:r>
              <a:rPr kumimoji="0" lang="en-US" altLang="zh-CN" sz="2800" b="1" i="0" u="none" strike="noStrike" kern="1200" cap="none" spc="0" normalizeH="0" baseline="0" noProof="0" dirty="0">
                <a:ln>
                  <a:noFill/>
                </a:ln>
                <a:solidFill>
                  <a:schemeClr val="tx2"/>
                </a:solidFill>
                <a:effectLst/>
                <a:uLnTx/>
                <a:uFillTx/>
                <a:latin typeface="+mn-ea"/>
                <a:ea typeface="+mn-ea"/>
                <a:cs typeface="+mn-cs"/>
              </a:rPr>
              <a:t>1</a:t>
            </a:r>
            <a:r>
              <a:rPr kumimoji="0" lang="zh-CN" altLang="en-US" sz="2800" b="1" i="0" u="none" strike="noStrike" kern="1200" cap="none" spc="0" normalizeH="0" baseline="0" noProof="0" dirty="0">
                <a:ln>
                  <a:noFill/>
                </a:ln>
                <a:solidFill>
                  <a:schemeClr val="tx2"/>
                </a:solidFill>
                <a:effectLst/>
                <a:uLnTx/>
                <a:uFillTx/>
                <a:latin typeface="+mn-ea"/>
                <a:ea typeface="+mn-ea"/>
                <a:cs typeface="+mn-cs"/>
              </a:rPr>
              <a:t>，则产生一个</a:t>
            </a:r>
            <a:r>
              <a:rPr kumimoji="0" lang="zh-CN" altLang="en-US" sz="2800" b="1" i="0" u="none" strike="noStrike" kern="1200" cap="none" spc="0" normalizeH="0" baseline="0" noProof="0" dirty="0">
                <a:ln>
                  <a:noFill/>
                </a:ln>
                <a:solidFill>
                  <a:schemeClr val="tx1"/>
                </a:solidFill>
                <a:effectLst/>
                <a:uLnTx/>
                <a:uFillTx/>
                <a:latin typeface="+mn-ea"/>
                <a:ea typeface="+mn-ea"/>
                <a:cs typeface="+mn-cs"/>
              </a:rPr>
              <a:t>向量号为</a:t>
            </a:r>
            <a:r>
              <a:rPr kumimoji="0" lang="en-US" altLang="zh-CN" sz="2800" b="1" i="0" u="none" strike="noStrike" kern="1200" cap="none" spc="0" normalizeH="0" baseline="0" noProof="0" dirty="0">
                <a:ln>
                  <a:noFill/>
                </a:ln>
                <a:solidFill>
                  <a:schemeClr val="tx1"/>
                </a:solidFill>
                <a:effectLst/>
                <a:uLnTx/>
                <a:uFillTx/>
                <a:latin typeface="+mn-ea"/>
                <a:ea typeface="+mn-ea"/>
                <a:cs typeface="+mn-cs"/>
              </a:rPr>
              <a:t>4</a:t>
            </a:r>
            <a:r>
              <a:rPr kumimoji="0" lang="zh-CN" altLang="en-US" sz="2800" b="1" i="0" u="none" strike="noStrike" kern="1200" cap="none" spc="0" normalizeH="0" baseline="0" noProof="0" dirty="0">
                <a:ln>
                  <a:noFill/>
                </a:ln>
                <a:solidFill>
                  <a:schemeClr val="tx2"/>
                </a:solidFill>
                <a:effectLst/>
                <a:uLnTx/>
                <a:uFillTx/>
                <a:latin typeface="+mn-ea"/>
                <a:ea typeface="+mn-ea"/>
                <a:cs typeface="+mn-cs"/>
              </a:rPr>
              <a:t>的内部中断，被称为</a:t>
            </a:r>
            <a:r>
              <a:rPr kumimoji="0" lang="zh-CN" altLang="en-US" sz="2800" b="1" i="0" u="none" strike="noStrike" kern="1200" cap="none" spc="0" normalizeH="0" baseline="0" noProof="0" dirty="0">
                <a:ln>
                  <a:noFill/>
                </a:ln>
                <a:solidFill>
                  <a:schemeClr val="tx1"/>
                </a:solidFill>
                <a:effectLst/>
                <a:uLnTx/>
                <a:uFillTx/>
                <a:latin typeface="+mn-ea"/>
                <a:ea typeface="+mn-ea"/>
                <a:cs typeface="+mn-cs"/>
              </a:rPr>
              <a:t>溢出中断</a:t>
            </a:r>
            <a:endParaRPr kumimoji="0" lang="zh-CN" altLang="en-US" sz="2800" b="1" i="0" u="none" strike="noStrike" kern="1200" cap="none" spc="0" normalizeH="0" baseline="0" noProof="0" dirty="0">
              <a:ln>
                <a:noFill/>
              </a:ln>
              <a:solidFill>
                <a:schemeClr val="tx1"/>
              </a:solidFill>
              <a:effectLst/>
              <a:uLnTx/>
              <a:uFillTx/>
              <a:latin typeface="+mn-ea"/>
              <a:ea typeface="+mn-ea"/>
              <a:cs typeface="+mn-cs"/>
            </a:endParaRPr>
          </a:p>
        </p:txBody>
      </p:sp>
      <p:sp>
        <p:nvSpPr>
          <p:cNvPr id="179204" name="Text Box 4"/>
          <p:cNvSpPr txBox="1"/>
          <p:nvPr/>
        </p:nvSpPr>
        <p:spPr>
          <a:xfrm>
            <a:off x="493713" y="4333875"/>
            <a:ext cx="8064500" cy="1809750"/>
          </a:xfrm>
          <a:prstGeom prst="rect">
            <a:avLst/>
          </a:prstGeom>
          <a:noFill/>
          <a:ln w="9525" cap="flat" cmpd="sng">
            <a:solidFill>
              <a:schemeClr val="hlink"/>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defTabSz="914400">
              <a:lnSpc>
                <a:spcPct val="100000"/>
              </a:lnSpc>
              <a:spcBef>
                <a:spcPct val="0"/>
              </a:spcBef>
              <a:spcAft>
                <a:spcPct val="0"/>
              </a:spcAft>
              <a:buClrTx/>
              <a:buSzTx/>
              <a:buNone/>
              <a:tabLst>
                <a:tab pos="1076325" algn="l"/>
              </a:tabLst>
            </a:pPr>
            <a:r>
              <a:rPr lang="en-US" altLang="zh-CN" dirty="0">
                <a:solidFill>
                  <a:srgbClr val="0066FF"/>
                </a:solidFill>
                <a:ea typeface="楷体_GB2312"/>
              </a:rPr>
              <a:t>MOV AX,2000H</a:t>
            </a:r>
            <a:endParaRPr lang="en-US" altLang="zh-CN" dirty="0">
              <a:solidFill>
                <a:srgbClr val="0066FF"/>
              </a:solidFill>
              <a:ea typeface="楷体_GB2312"/>
            </a:endParaRPr>
          </a:p>
          <a:p>
            <a:pPr marL="0" lvl="0" indent="0" defTabSz="914400">
              <a:lnSpc>
                <a:spcPct val="100000"/>
              </a:lnSpc>
              <a:spcBef>
                <a:spcPct val="0"/>
              </a:spcBef>
              <a:spcAft>
                <a:spcPct val="0"/>
              </a:spcAft>
              <a:buClrTx/>
              <a:buSzTx/>
              <a:buNone/>
              <a:tabLst>
                <a:tab pos="1076325" algn="l"/>
              </a:tabLst>
            </a:pPr>
            <a:r>
              <a:rPr lang="en-US" altLang="zh-CN" dirty="0">
                <a:solidFill>
                  <a:srgbClr val="0066FF"/>
                </a:solidFill>
                <a:ea typeface="楷体_GB2312"/>
              </a:rPr>
              <a:t>ADD AX, 7000H</a:t>
            </a:r>
            <a:endParaRPr lang="en-US" altLang="zh-CN" dirty="0">
              <a:solidFill>
                <a:srgbClr val="0066FF"/>
              </a:solidFill>
              <a:ea typeface="楷体_GB2312"/>
            </a:endParaRPr>
          </a:p>
          <a:p>
            <a:pPr marL="0" lvl="0" indent="0" defTabSz="914400">
              <a:lnSpc>
                <a:spcPct val="100000"/>
              </a:lnSpc>
              <a:spcBef>
                <a:spcPct val="0"/>
              </a:spcBef>
              <a:spcAft>
                <a:spcPct val="0"/>
              </a:spcAft>
              <a:buClrTx/>
              <a:buSzTx/>
              <a:buNone/>
              <a:tabLst>
                <a:tab pos="1076325" algn="l"/>
              </a:tabLst>
            </a:pPr>
            <a:r>
              <a:rPr lang="en-US" altLang="zh-CN" dirty="0">
                <a:solidFill>
                  <a:srgbClr val="0066FF"/>
                </a:solidFill>
                <a:ea typeface="楷体_GB2312"/>
              </a:rPr>
              <a:t>	</a:t>
            </a:r>
            <a:r>
              <a:rPr lang="zh-CN" altLang="en-US" dirty="0">
                <a:solidFill>
                  <a:srgbClr val="0066FF"/>
                </a:solidFill>
                <a:ea typeface="楷体_GB2312"/>
              </a:rPr>
              <a:t>；</a:t>
            </a:r>
            <a:r>
              <a:rPr lang="en-US" altLang="zh-CN" dirty="0">
                <a:solidFill>
                  <a:srgbClr val="0066FF"/>
                </a:solidFill>
                <a:ea typeface="楷体_GB2312"/>
              </a:rPr>
              <a:t>2000H</a:t>
            </a:r>
            <a:r>
              <a:rPr lang="zh-CN" altLang="en-US" dirty="0">
                <a:solidFill>
                  <a:srgbClr val="0066FF"/>
                </a:solidFill>
                <a:ea typeface="楷体_GB2312"/>
              </a:rPr>
              <a:t>＋</a:t>
            </a:r>
            <a:r>
              <a:rPr lang="en-US" altLang="zh-CN" dirty="0">
                <a:solidFill>
                  <a:srgbClr val="0066FF"/>
                </a:solidFill>
                <a:ea typeface="楷体_GB2312"/>
              </a:rPr>
              <a:t>7000H</a:t>
            </a:r>
            <a:r>
              <a:rPr lang="zh-CN" altLang="en-US" dirty="0">
                <a:solidFill>
                  <a:srgbClr val="0066FF"/>
                </a:solidFill>
                <a:ea typeface="楷体_GB2312"/>
              </a:rPr>
              <a:t>＝</a:t>
            </a:r>
            <a:r>
              <a:rPr lang="en-US" altLang="zh-CN" dirty="0">
                <a:solidFill>
                  <a:srgbClr val="0066FF"/>
                </a:solidFill>
                <a:ea typeface="楷体_GB2312"/>
              </a:rPr>
              <a:t>9000H</a:t>
            </a:r>
            <a:r>
              <a:rPr lang="zh-CN" altLang="en-US" dirty="0">
                <a:solidFill>
                  <a:srgbClr val="0066FF"/>
                </a:solidFill>
                <a:ea typeface="楷体_GB2312"/>
              </a:rPr>
              <a:t>，溢出：</a:t>
            </a:r>
            <a:r>
              <a:rPr lang="en-US" altLang="zh-CN" dirty="0">
                <a:solidFill>
                  <a:srgbClr val="0066FF"/>
                </a:solidFill>
                <a:ea typeface="楷体_GB2312"/>
              </a:rPr>
              <a:t>OF</a:t>
            </a:r>
            <a:r>
              <a:rPr lang="zh-CN" altLang="en-US" dirty="0">
                <a:solidFill>
                  <a:srgbClr val="0066FF"/>
                </a:solidFill>
                <a:ea typeface="楷体_GB2312"/>
              </a:rPr>
              <a:t>＝</a:t>
            </a:r>
            <a:r>
              <a:rPr lang="en-US" altLang="zh-CN" dirty="0">
                <a:solidFill>
                  <a:srgbClr val="0066FF"/>
                </a:solidFill>
                <a:ea typeface="楷体_GB2312"/>
              </a:rPr>
              <a:t>1</a:t>
            </a:r>
            <a:endParaRPr lang="en-US" altLang="zh-CN" dirty="0">
              <a:solidFill>
                <a:srgbClr val="0066FF"/>
              </a:solidFill>
              <a:ea typeface="楷体_GB2312"/>
            </a:endParaRPr>
          </a:p>
          <a:p>
            <a:pPr marL="0" lvl="0" indent="0" defTabSz="914400">
              <a:lnSpc>
                <a:spcPct val="100000"/>
              </a:lnSpc>
              <a:spcBef>
                <a:spcPct val="0"/>
              </a:spcBef>
              <a:spcAft>
                <a:spcPct val="0"/>
              </a:spcAft>
              <a:buClrTx/>
              <a:buSzTx/>
              <a:buNone/>
              <a:tabLst>
                <a:tab pos="1076325" algn="l"/>
              </a:tabLst>
            </a:pPr>
            <a:r>
              <a:rPr lang="en-US" altLang="zh-CN" dirty="0">
                <a:solidFill>
                  <a:srgbClr val="0066FF"/>
                </a:solidFill>
                <a:ea typeface="楷体_GB2312"/>
              </a:rPr>
              <a:t>INTO	</a:t>
            </a:r>
            <a:r>
              <a:rPr lang="zh-CN" altLang="en-US" dirty="0">
                <a:solidFill>
                  <a:srgbClr val="0066FF"/>
                </a:solidFill>
                <a:ea typeface="楷体_GB2312"/>
              </a:rPr>
              <a:t>；因为</a:t>
            </a:r>
            <a:r>
              <a:rPr lang="en-US" altLang="zh-CN" dirty="0">
                <a:solidFill>
                  <a:srgbClr val="0066FF"/>
                </a:solidFill>
                <a:ea typeface="楷体_GB2312"/>
              </a:rPr>
              <a:t>OF</a:t>
            </a:r>
            <a:r>
              <a:rPr lang="zh-CN" altLang="en-US" dirty="0">
                <a:solidFill>
                  <a:srgbClr val="0066FF"/>
                </a:solidFill>
                <a:ea typeface="楷体_GB2312"/>
              </a:rPr>
              <a:t>＝</a:t>
            </a:r>
            <a:r>
              <a:rPr lang="en-US" altLang="zh-CN" dirty="0">
                <a:solidFill>
                  <a:srgbClr val="0066FF"/>
                </a:solidFill>
                <a:ea typeface="楷体_GB2312"/>
              </a:rPr>
              <a:t>1</a:t>
            </a:r>
            <a:r>
              <a:rPr lang="zh-CN" altLang="en-US" dirty="0">
                <a:solidFill>
                  <a:srgbClr val="0066FF"/>
                </a:solidFill>
                <a:ea typeface="楷体_GB2312"/>
              </a:rPr>
              <a:t>，所以产生溢出中断</a:t>
            </a:r>
            <a:endParaRPr lang="zh-CN" altLang="en-US" b="0" dirty="0">
              <a:solidFill>
                <a:schemeClr val="tx1"/>
              </a:solidFill>
              <a:ea typeface="楷体_GB2312"/>
            </a:endParaRPr>
          </a:p>
        </p:txBody>
      </p:sp>
    </p:spTree>
  </p:cSld>
  <p:clrMapOvr>
    <a:masterClrMapping/>
  </p:clrMapOvr>
  <p:transition spd="slow">
    <p:zo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2"/>
          <p:cNvSpPr>
            <a:spLocks noGrp="1"/>
          </p:cNvSpPr>
          <p:nvPr>
            <p:ph type="title" idx="4294967295"/>
          </p:nvPr>
        </p:nvSpPr>
        <p:spPr>
          <a:xfrm>
            <a:off x="881063" y="1152525"/>
            <a:ext cx="2898775" cy="504825"/>
          </a:xfrm>
        </p:spPr>
        <p:txBody>
          <a:bodyPr vert="horz" wrap="square" lIns="91440" tIns="45720" rIns="91440" bIns="45720" anchor="b" anchorCtr="0"/>
          <a:p>
            <a:r>
              <a:rPr lang="zh-CN" altLang="en-US" dirty="0"/>
              <a:t>单步中断</a:t>
            </a:r>
            <a:endParaRPr lang="zh-CN" altLang="en-US" dirty="0"/>
          </a:p>
        </p:txBody>
      </p:sp>
      <p:sp>
        <p:nvSpPr>
          <p:cNvPr id="180227" name="Rectangle 3"/>
          <p:cNvSpPr>
            <a:spLocks noGrp="1"/>
          </p:cNvSpPr>
          <p:nvPr>
            <p:ph type="body" idx="4294967295"/>
          </p:nvPr>
        </p:nvSpPr>
        <p:spPr>
          <a:xfrm>
            <a:off x="468313" y="2492375"/>
            <a:ext cx="8229600" cy="1871663"/>
          </a:xfrm>
        </p:spPr>
        <p:txBody>
          <a:bodyPr vert="horz" wrap="square" lIns="91440" tIns="45720" rIns="91440" bIns="45720" anchor="t" anchorCtr="0"/>
          <a:p>
            <a:r>
              <a:rPr lang="zh-CN" altLang="en-US" dirty="0">
                <a:latin typeface="Times New Roman" panose="02020603050405020304" pitchFamily="18" charset="0"/>
              </a:rPr>
              <a:t>若单步中断</a:t>
            </a:r>
            <a:r>
              <a:rPr lang="en-US" altLang="zh-CN" dirty="0">
                <a:latin typeface="Times New Roman" panose="02020603050405020304" pitchFamily="18" charset="0"/>
              </a:rPr>
              <a:t>TF</a:t>
            </a:r>
            <a:r>
              <a:rPr lang="zh-CN" altLang="en-US" dirty="0">
                <a:latin typeface="Times New Roman" panose="02020603050405020304" pitchFamily="18" charset="0"/>
              </a:rPr>
              <a:t>为</a:t>
            </a:r>
            <a:r>
              <a:rPr lang="en-US" altLang="zh-CN" dirty="0">
                <a:latin typeface="Times New Roman" panose="02020603050405020304" pitchFamily="18" charset="0"/>
              </a:rPr>
              <a:t>1</a:t>
            </a:r>
            <a:r>
              <a:rPr lang="zh-CN" altLang="en-US" dirty="0">
                <a:latin typeface="Times New Roman" panose="02020603050405020304" pitchFamily="18" charset="0"/>
              </a:rPr>
              <a:t>，则在每条指令执行结束后产生一个向量号为</a:t>
            </a:r>
            <a:r>
              <a:rPr lang="en-US" altLang="zh-CN" dirty="0">
                <a:latin typeface="Times New Roman" panose="02020603050405020304" pitchFamily="18" charset="0"/>
              </a:rPr>
              <a:t>1</a:t>
            </a:r>
            <a:r>
              <a:rPr lang="zh-CN" altLang="en-US" dirty="0">
                <a:latin typeface="Times New Roman" panose="02020603050405020304" pitchFamily="18" charset="0"/>
              </a:rPr>
              <a:t>的内部中断，称为单步中断</a:t>
            </a:r>
            <a:endParaRPr lang="zh-CN" altLang="en-US" dirty="0">
              <a:latin typeface="Times New Roman" panose="02020603050405020304" pitchFamily="18" charset="0"/>
            </a:endParaRPr>
          </a:p>
        </p:txBody>
      </p:sp>
      <p:sp>
        <p:nvSpPr>
          <p:cNvPr id="180228" name="Text Box 4"/>
          <p:cNvSpPr txBox="1"/>
          <p:nvPr/>
        </p:nvSpPr>
        <p:spPr>
          <a:xfrm>
            <a:off x="755650" y="5227638"/>
            <a:ext cx="7561263" cy="955675"/>
          </a:xfrm>
          <a:prstGeom prst="rect">
            <a:avLst/>
          </a:prstGeom>
          <a:noFill/>
          <a:ln w="9525" cap="flat" cmpd="sng">
            <a:solidFill>
              <a:schemeClr val="hlink"/>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1076325" lvl="0" indent="-1076325">
              <a:lnSpc>
                <a:spcPct val="100000"/>
              </a:lnSpc>
              <a:spcBef>
                <a:spcPct val="0"/>
              </a:spcBef>
              <a:spcAft>
                <a:spcPct val="0"/>
              </a:spcAft>
              <a:buClrTx/>
              <a:buSzTx/>
              <a:buNone/>
            </a:pPr>
            <a:r>
              <a:rPr lang="zh-CN" altLang="en-US" dirty="0">
                <a:solidFill>
                  <a:srgbClr val="0066FF"/>
                </a:solidFill>
                <a:ea typeface="楷体_GB2312"/>
              </a:rPr>
              <a:t>例如：</a:t>
            </a:r>
            <a:r>
              <a:rPr lang="en-US" altLang="zh-CN" dirty="0">
                <a:solidFill>
                  <a:srgbClr val="0066FF"/>
                </a:solidFill>
                <a:ea typeface="楷体_GB2312"/>
              </a:rPr>
              <a:t>DEBUG.EXE</a:t>
            </a:r>
            <a:r>
              <a:rPr lang="zh-CN" altLang="en-US" dirty="0">
                <a:solidFill>
                  <a:srgbClr val="0066FF"/>
                </a:solidFill>
                <a:ea typeface="楷体_GB2312"/>
              </a:rPr>
              <a:t>调试程序的单步命令</a:t>
            </a:r>
            <a:r>
              <a:rPr lang="en-US" altLang="zh-CN" dirty="0">
                <a:solidFill>
                  <a:srgbClr val="0066FF"/>
                </a:solidFill>
                <a:ea typeface="楷体_GB2312"/>
              </a:rPr>
              <a:t>T</a:t>
            </a:r>
            <a:r>
              <a:rPr lang="zh-CN" altLang="en-US" dirty="0">
                <a:solidFill>
                  <a:srgbClr val="0066FF"/>
                </a:solidFill>
                <a:ea typeface="楷体_GB2312"/>
              </a:rPr>
              <a:t>就利用单步中断实现对程序的单步调试</a:t>
            </a:r>
            <a:endParaRPr lang="zh-CN" altLang="en-US" b="0" dirty="0">
              <a:solidFill>
                <a:schemeClr val="tx1"/>
              </a:solidFill>
              <a:ea typeface="楷体_GB2312"/>
            </a:endParaRPr>
          </a:p>
        </p:txBody>
      </p:sp>
    </p:spTree>
  </p:cSld>
  <p:clrMapOvr>
    <a:masterClrMapping/>
  </p:clrMapOvr>
  <p:transition spd="slow">
    <p:zo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2"/>
          <p:cNvSpPr>
            <a:spLocks noGrp="1"/>
          </p:cNvSpPr>
          <p:nvPr>
            <p:ph type="title" idx="4294967295"/>
          </p:nvPr>
        </p:nvSpPr>
        <p:spPr>
          <a:xfrm>
            <a:off x="1258888" y="207963"/>
            <a:ext cx="7002462" cy="1493837"/>
          </a:xfrm>
        </p:spPr>
        <p:txBody>
          <a:bodyPr vert="horz" wrap="square" lIns="91440" tIns="45720" rIns="91440" bIns="45720" anchor="b" anchorCtr="0"/>
          <a:p>
            <a:r>
              <a:rPr lang="zh-CN" altLang="en-US" dirty="0"/>
              <a:t>指令软中断（用户自定义的软件中断）</a:t>
            </a:r>
            <a:endParaRPr lang="zh-CN" altLang="en-US" dirty="0"/>
          </a:p>
        </p:txBody>
      </p:sp>
      <p:sp>
        <p:nvSpPr>
          <p:cNvPr id="181251" name="Rectangle 3"/>
          <p:cNvSpPr>
            <a:spLocks noGrp="1"/>
          </p:cNvSpPr>
          <p:nvPr>
            <p:ph type="body" idx="4294967295"/>
          </p:nvPr>
        </p:nvSpPr>
        <p:spPr>
          <a:xfrm>
            <a:off x="611188" y="2492375"/>
            <a:ext cx="8204200" cy="3889375"/>
          </a:xfrm>
        </p:spPr>
        <p:txBody>
          <a:bodyPr vert="horz" wrap="square" lIns="91440" tIns="45720" rIns="91440" bIns="45720" anchor="t" anchorCtr="0"/>
          <a:p>
            <a:r>
              <a:rPr lang="zh-CN" altLang="en-US" dirty="0">
                <a:latin typeface="Times New Roman" panose="02020603050405020304" pitchFamily="18" charset="0"/>
              </a:rPr>
              <a:t>在执行中断调用指令</a:t>
            </a:r>
            <a:r>
              <a:rPr lang="en-US" altLang="zh-CN" dirty="0">
                <a:latin typeface="Times New Roman" panose="02020603050405020304" pitchFamily="18" charset="0"/>
              </a:rPr>
              <a:t>INT n</a:t>
            </a:r>
            <a:r>
              <a:rPr lang="zh-CN" altLang="en-US" dirty="0">
                <a:latin typeface="Times New Roman" panose="02020603050405020304" pitchFamily="18" charset="0"/>
              </a:rPr>
              <a:t>时产生的一个</a:t>
            </a:r>
            <a:r>
              <a:rPr lang="zh-CN" altLang="en-US" dirty="0">
                <a:solidFill>
                  <a:schemeClr val="tx1"/>
                </a:solidFill>
                <a:latin typeface="Times New Roman" panose="02020603050405020304" pitchFamily="18" charset="0"/>
              </a:rPr>
              <a:t>向量号为</a:t>
            </a:r>
            <a:r>
              <a:rPr lang="en-US" altLang="zh-CN" dirty="0">
                <a:solidFill>
                  <a:schemeClr val="tx1"/>
                </a:solidFill>
                <a:latin typeface="Times New Roman" panose="02020603050405020304" pitchFamily="18" charset="0"/>
              </a:rPr>
              <a:t>n</a:t>
            </a:r>
            <a:r>
              <a:rPr lang="zh-CN" altLang="en-US" dirty="0">
                <a:latin typeface="Times New Roman" panose="02020603050405020304" pitchFamily="18" charset="0"/>
              </a:rPr>
              <a:t>（</a:t>
            </a:r>
            <a:r>
              <a:rPr lang="en-US" altLang="zh-CN" dirty="0">
                <a:latin typeface="Times New Roman" panose="02020603050405020304" pitchFamily="18" charset="0"/>
              </a:rPr>
              <a:t>0 ~ 255</a:t>
            </a:r>
            <a:r>
              <a:rPr lang="zh-CN" altLang="en-US" dirty="0">
                <a:latin typeface="Times New Roman" panose="02020603050405020304" pitchFamily="18" charset="0"/>
              </a:rPr>
              <a:t>）的内部中断，称为</a:t>
            </a:r>
            <a:r>
              <a:rPr lang="zh-CN" altLang="en-US" dirty="0">
                <a:solidFill>
                  <a:schemeClr val="tx1"/>
                </a:solidFill>
                <a:latin typeface="Times New Roman" panose="02020603050405020304" pitchFamily="18" charset="0"/>
              </a:rPr>
              <a:t>指令中断</a:t>
            </a:r>
            <a:endParaRPr lang="zh-CN" altLang="en-US" dirty="0">
              <a:solidFill>
                <a:schemeClr val="tx1"/>
              </a:solidFill>
              <a:latin typeface="Times New Roman" panose="02020603050405020304" pitchFamily="18" charset="0"/>
            </a:endParaRPr>
          </a:p>
          <a:p>
            <a:r>
              <a:rPr lang="zh-CN" altLang="en-US" dirty="0">
                <a:latin typeface="Times New Roman" panose="02020603050405020304" pitchFamily="18" charset="0"/>
              </a:rPr>
              <a:t>其中</a:t>
            </a:r>
            <a:r>
              <a:rPr lang="zh-CN" altLang="en-US" dirty="0">
                <a:solidFill>
                  <a:schemeClr val="tx1"/>
                </a:solidFill>
                <a:latin typeface="Times New Roman" panose="02020603050405020304" pitchFamily="18" charset="0"/>
              </a:rPr>
              <a:t>向量号为</a:t>
            </a:r>
            <a:r>
              <a:rPr lang="en-US" altLang="zh-CN" dirty="0">
                <a:solidFill>
                  <a:schemeClr val="tx1"/>
                </a:solidFill>
                <a:latin typeface="Times New Roman" panose="02020603050405020304" pitchFamily="18" charset="0"/>
              </a:rPr>
              <a:t>3</a:t>
            </a:r>
            <a:r>
              <a:rPr lang="zh-CN" altLang="en-US" dirty="0">
                <a:latin typeface="Times New Roman" panose="02020603050405020304" pitchFamily="18" charset="0"/>
              </a:rPr>
              <a:t>的指令中断比较特别（生成一个字节的指令代码：</a:t>
            </a:r>
            <a:r>
              <a:rPr lang="en-US" altLang="zh-CN" dirty="0">
                <a:latin typeface="Times New Roman" panose="02020603050405020304" pitchFamily="18" charset="0"/>
              </a:rPr>
              <a:t>11001100</a:t>
            </a:r>
            <a:r>
              <a:rPr lang="zh-CN" altLang="en-US" dirty="0">
                <a:latin typeface="Times New Roman" panose="02020603050405020304" pitchFamily="18" charset="0"/>
              </a:rPr>
              <a:t>），常用于程序调试，被称为</a:t>
            </a:r>
            <a:r>
              <a:rPr lang="zh-CN" altLang="en-US" dirty="0">
                <a:solidFill>
                  <a:schemeClr val="tx1"/>
                </a:solidFill>
                <a:latin typeface="Times New Roman" panose="02020603050405020304" pitchFamily="18" charset="0"/>
              </a:rPr>
              <a:t>断点中断</a:t>
            </a:r>
            <a:endParaRPr lang="zh-CN" altLang="en-US" dirty="0">
              <a:solidFill>
                <a:schemeClr val="tx1"/>
              </a:solidFill>
              <a:latin typeface="Times New Roman" panose="02020603050405020304" pitchFamily="18" charset="0"/>
            </a:endParaRPr>
          </a:p>
        </p:txBody>
      </p:sp>
      <p:sp>
        <p:nvSpPr>
          <p:cNvPr id="181252" name="Text Box 4"/>
          <p:cNvSpPr txBox="1"/>
          <p:nvPr/>
        </p:nvSpPr>
        <p:spPr>
          <a:xfrm>
            <a:off x="822325" y="5013325"/>
            <a:ext cx="7561263" cy="955675"/>
          </a:xfrm>
          <a:prstGeom prst="rect">
            <a:avLst/>
          </a:prstGeom>
          <a:noFill/>
          <a:ln w="9525" cap="flat" cmpd="sng">
            <a:solidFill>
              <a:schemeClr val="hlink"/>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1076325" lvl="0" indent="-1076325">
              <a:lnSpc>
                <a:spcPct val="100000"/>
              </a:lnSpc>
              <a:spcBef>
                <a:spcPct val="0"/>
              </a:spcBef>
              <a:spcAft>
                <a:spcPct val="0"/>
              </a:spcAft>
              <a:buClrTx/>
              <a:buSzTx/>
              <a:buNone/>
            </a:pPr>
            <a:r>
              <a:rPr lang="zh-CN" altLang="en-US" dirty="0">
                <a:solidFill>
                  <a:srgbClr val="0066FF"/>
                </a:solidFill>
                <a:ea typeface="楷体_GB2312"/>
              </a:rPr>
              <a:t>例如：</a:t>
            </a:r>
            <a:r>
              <a:rPr lang="en-US" altLang="zh-CN" dirty="0">
                <a:solidFill>
                  <a:srgbClr val="0066FF"/>
                </a:solidFill>
                <a:ea typeface="楷体_GB2312"/>
              </a:rPr>
              <a:t>DEBUG.EXE</a:t>
            </a:r>
            <a:r>
              <a:rPr lang="zh-CN" altLang="en-US" dirty="0">
                <a:solidFill>
                  <a:srgbClr val="0066FF"/>
                </a:solidFill>
                <a:ea typeface="楷体_GB2312"/>
              </a:rPr>
              <a:t>调试程序的运行命令</a:t>
            </a:r>
            <a:r>
              <a:rPr lang="en-US" altLang="zh-CN" dirty="0">
                <a:solidFill>
                  <a:srgbClr val="0066FF"/>
                </a:solidFill>
                <a:ea typeface="楷体_GB2312"/>
              </a:rPr>
              <a:t>G</a:t>
            </a:r>
            <a:r>
              <a:rPr lang="zh-CN" altLang="en-US" dirty="0">
                <a:solidFill>
                  <a:srgbClr val="0066FF"/>
                </a:solidFill>
                <a:ea typeface="楷体_GB2312"/>
              </a:rPr>
              <a:t>设置的断点，就是利用</a:t>
            </a:r>
            <a:r>
              <a:rPr lang="en-US" altLang="zh-CN" dirty="0">
                <a:solidFill>
                  <a:srgbClr val="0066FF"/>
                </a:solidFill>
                <a:ea typeface="楷体_GB2312"/>
              </a:rPr>
              <a:t>INT 3</a:t>
            </a:r>
            <a:r>
              <a:rPr lang="zh-CN" altLang="en-US" dirty="0">
                <a:solidFill>
                  <a:srgbClr val="0066FF"/>
                </a:solidFill>
                <a:ea typeface="楷体_GB2312"/>
              </a:rPr>
              <a:t>指令实现的</a:t>
            </a:r>
            <a:endParaRPr lang="zh-CN" altLang="en-US" b="0" dirty="0">
              <a:solidFill>
                <a:schemeClr val="tx1"/>
              </a:solidFill>
              <a:ea typeface="楷体_GB2312"/>
            </a:endParaRPr>
          </a:p>
        </p:txBody>
      </p:sp>
    </p:spTree>
  </p:cSld>
  <p:clrMapOvr>
    <a:masterClrMapping/>
  </p:clrMapOvr>
  <p:transition spd="slow">
    <p:zo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2"/>
          <p:cNvSpPr>
            <a:spLocks noGrp="1"/>
          </p:cNvSpPr>
          <p:nvPr>
            <p:ph type="title" idx="4294967295"/>
          </p:nvPr>
        </p:nvSpPr>
        <p:spPr>
          <a:xfrm>
            <a:off x="1187450" y="1196975"/>
            <a:ext cx="3816350" cy="504825"/>
          </a:xfrm>
        </p:spPr>
        <p:txBody>
          <a:bodyPr vert="horz" wrap="square" lIns="91440" tIns="45720" rIns="91440" bIns="45720" anchor="b" anchorCtr="0"/>
          <a:p>
            <a:r>
              <a:rPr lang="zh-CN" altLang="en-US" dirty="0">
                <a:latin typeface="隶书" panose="02010509060101010101" pitchFamily="49" charset="-122"/>
              </a:rPr>
              <a:t>不可屏蔽中断</a:t>
            </a:r>
            <a:endParaRPr lang="zh-CN" altLang="en-US" dirty="0">
              <a:latin typeface="隶书" panose="02010509060101010101" pitchFamily="49" charset="-122"/>
            </a:endParaRPr>
          </a:p>
        </p:txBody>
      </p:sp>
      <p:sp>
        <p:nvSpPr>
          <p:cNvPr id="182275" name="Rectangle 3"/>
          <p:cNvSpPr>
            <a:spLocks noGrp="1"/>
          </p:cNvSpPr>
          <p:nvPr>
            <p:ph type="body" idx="4294967295"/>
          </p:nvPr>
        </p:nvSpPr>
        <p:spPr>
          <a:xfrm>
            <a:off x="725488" y="2276475"/>
            <a:ext cx="7772400" cy="4114800"/>
          </a:xfrm>
        </p:spPr>
        <p:txBody>
          <a:bodyPr vert="horz" wrap="square" lIns="91440" tIns="45720" rIns="91440" bIns="45720" anchor="t" anchorCtr="0"/>
          <a:p>
            <a:pPr>
              <a:lnSpc>
                <a:spcPct val="90000"/>
              </a:lnSpc>
            </a:pPr>
            <a:r>
              <a:rPr lang="zh-CN" altLang="en-US" dirty="0">
                <a:latin typeface="Times New Roman" panose="02020603050405020304" pitchFamily="18" charset="0"/>
              </a:rPr>
              <a:t>通过不可屏蔽中断请求信号向微处理器提出的中断请求，微处理器无法禁止，将在当前指令执行结束予以响应，这个中断被称为不可屏蔽中断</a:t>
            </a:r>
            <a:endParaRPr lang="zh-CN" altLang="en-US" dirty="0">
              <a:latin typeface="Times New Roman" panose="02020603050405020304" pitchFamily="18" charset="0"/>
            </a:endParaRPr>
          </a:p>
          <a:p>
            <a:pPr>
              <a:lnSpc>
                <a:spcPct val="90000"/>
              </a:lnSpc>
            </a:pPr>
            <a:r>
              <a:rPr lang="en-US" altLang="zh-CN" dirty="0">
                <a:latin typeface="Times New Roman" panose="02020603050405020304" pitchFamily="18" charset="0"/>
              </a:rPr>
              <a:t>8086</a:t>
            </a:r>
            <a:r>
              <a:rPr lang="zh-CN" altLang="en-US" dirty="0">
                <a:latin typeface="Times New Roman" panose="02020603050405020304" pitchFamily="18" charset="0"/>
              </a:rPr>
              <a:t>的不可屏蔽中断的向量号为</a:t>
            </a:r>
            <a:r>
              <a:rPr lang="en-US" altLang="zh-CN" dirty="0">
                <a:latin typeface="Times New Roman" panose="02020603050405020304" pitchFamily="18" charset="0"/>
              </a:rPr>
              <a:t>2</a:t>
            </a:r>
            <a:r>
              <a:rPr lang="zh-CN" altLang="en-US" dirty="0">
                <a:latin typeface="Times New Roman" panose="02020603050405020304" pitchFamily="18" charset="0"/>
              </a:rPr>
              <a:t>，不可屏蔽中断请求信号为</a:t>
            </a:r>
            <a:r>
              <a:rPr lang="en-US" altLang="zh-CN" dirty="0">
                <a:latin typeface="Times New Roman" panose="02020603050405020304" pitchFamily="18" charset="0"/>
              </a:rPr>
              <a:t>NMI</a:t>
            </a:r>
            <a:endParaRPr lang="en-US" altLang="zh-CN" dirty="0">
              <a:latin typeface="Times New Roman" panose="02020603050405020304" pitchFamily="18" charset="0"/>
            </a:endParaRPr>
          </a:p>
          <a:p>
            <a:pPr>
              <a:lnSpc>
                <a:spcPct val="90000"/>
              </a:lnSpc>
            </a:pPr>
            <a:r>
              <a:rPr lang="zh-CN" altLang="en-US" dirty="0">
                <a:latin typeface="Times New Roman" panose="02020603050405020304" pitchFamily="18" charset="0"/>
              </a:rPr>
              <a:t>不可屏蔽中断主要用于处理系统的意外或故障。例如：</a:t>
            </a:r>
            <a:endParaRPr lang="zh-CN" altLang="en-US" dirty="0">
              <a:latin typeface="Times New Roman" panose="02020603050405020304" pitchFamily="18" charset="0"/>
            </a:endParaRPr>
          </a:p>
          <a:p>
            <a:pPr lvl="1">
              <a:lnSpc>
                <a:spcPct val="90000"/>
              </a:lnSpc>
            </a:pPr>
            <a:r>
              <a:rPr lang="zh-CN" altLang="en-US" dirty="0">
                <a:latin typeface="Times New Roman" panose="02020603050405020304" pitchFamily="18" charset="0"/>
              </a:rPr>
              <a:t>电源掉电前的数据保护</a:t>
            </a:r>
            <a:endParaRPr lang="zh-CN" altLang="en-US" dirty="0">
              <a:latin typeface="Times New Roman" panose="02020603050405020304" pitchFamily="18" charset="0"/>
            </a:endParaRPr>
          </a:p>
          <a:p>
            <a:pPr lvl="1">
              <a:lnSpc>
                <a:spcPct val="90000"/>
              </a:lnSpc>
            </a:pPr>
            <a:r>
              <a:rPr lang="zh-CN" altLang="en-US" dirty="0">
                <a:latin typeface="Times New Roman" panose="02020603050405020304" pitchFamily="18" charset="0"/>
              </a:rPr>
              <a:t>存储器读写错误的处理</a:t>
            </a:r>
            <a:endParaRPr lang="zh-CN" altLang="en-US" dirty="0">
              <a:latin typeface="Times New Roman" panose="02020603050405020304" pitchFamily="18" charset="0"/>
            </a:endParaRPr>
          </a:p>
        </p:txBody>
      </p:sp>
    </p:spTree>
  </p:cSld>
  <p:clrMapOvr>
    <a:masterClrMapping/>
  </p:clrMapOvr>
  <p:transition spd="slow">
    <p:zo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2"/>
          <p:cNvSpPr>
            <a:spLocks noGrp="1"/>
          </p:cNvSpPr>
          <p:nvPr>
            <p:ph type="title" idx="4294967295"/>
          </p:nvPr>
        </p:nvSpPr>
        <p:spPr>
          <a:xfrm>
            <a:off x="1116013" y="1196975"/>
            <a:ext cx="3168650" cy="576263"/>
          </a:xfrm>
        </p:spPr>
        <p:txBody>
          <a:bodyPr vert="horz" wrap="square" lIns="91440" tIns="45720" rIns="91440" bIns="45720" anchor="b" anchorCtr="0"/>
          <a:p>
            <a:r>
              <a:rPr lang="zh-CN" altLang="en-US" dirty="0"/>
              <a:t>可屏蔽中断</a:t>
            </a:r>
            <a:endParaRPr lang="zh-CN" altLang="en-US" dirty="0"/>
          </a:p>
        </p:txBody>
      </p:sp>
      <p:sp>
        <p:nvSpPr>
          <p:cNvPr id="183299" name="Rectangle 3"/>
          <p:cNvSpPr>
            <a:spLocks noGrp="1"/>
          </p:cNvSpPr>
          <p:nvPr>
            <p:ph type="body" idx="4294967295"/>
          </p:nvPr>
        </p:nvSpPr>
        <p:spPr>
          <a:xfrm>
            <a:off x="323850" y="2133600"/>
            <a:ext cx="8567738" cy="4175125"/>
          </a:xfrm>
        </p:spPr>
        <p:txBody>
          <a:bodyPr vert="horz" wrap="square" lIns="91440" tIns="45720" rIns="91440" bIns="45720" anchor="t" anchorCtr="0"/>
          <a:p>
            <a:r>
              <a:rPr lang="zh-CN" altLang="en-US" sz="2400" dirty="0">
                <a:latin typeface="Times New Roman" panose="02020603050405020304" pitchFamily="18" charset="0"/>
              </a:rPr>
              <a:t>外部通过可屏蔽中断请求信号向微处理器提出的中断，微处理器在允许可屏蔽中断的条件下，在当前指令执行结束予以响应，同时输出可屏蔽中断响应信号，这个中断就是可屏蔽中断</a:t>
            </a:r>
            <a:endParaRPr lang="zh-CN" altLang="en-US" sz="2400" dirty="0">
              <a:latin typeface="Times New Roman" panose="02020603050405020304" pitchFamily="18" charset="0"/>
            </a:endParaRPr>
          </a:p>
          <a:p>
            <a:r>
              <a:rPr lang="en-US" altLang="zh-CN" sz="2400" dirty="0">
                <a:latin typeface="Times New Roman" panose="02020603050405020304" pitchFamily="18" charset="0"/>
              </a:rPr>
              <a:t>8086</a:t>
            </a:r>
            <a:r>
              <a:rPr lang="zh-CN" altLang="en-US" sz="2400" dirty="0">
                <a:latin typeface="Times New Roman" panose="02020603050405020304" pitchFamily="18" charset="0"/>
              </a:rPr>
              <a:t>的可屏蔽中断请求和响应信号分别是</a:t>
            </a:r>
            <a:r>
              <a:rPr lang="en-US" altLang="zh-CN" sz="2400" dirty="0">
                <a:latin typeface="Times New Roman" panose="02020603050405020304" pitchFamily="18" charset="0"/>
              </a:rPr>
              <a:t>INTR</a:t>
            </a:r>
            <a:r>
              <a:rPr lang="zh-CN" altLang="en-US" sz="2400" dirty="0">
                <a:latin typeface="Times New Roman" panose="02020603050405020304" pitchFamily="18" charset="0"/>
              </a:rPr>
              <a:t>和</a:t>
            </a:r>
            <a:r>
              <a:rPr lang="en-US" altLang="zh-CN" sz="2400" dirty="0">
                <a:latin typeface="Times New Roman" panose="02020603050405020304" pitchFamily="18" charset="0"/>
              </a:rPr>
              <a:t>INTA*</a:t>
            </a:r>
            <a:r>
              <a:rPr lang="zh-CN" altLang="en-US" sz="2400" dirty="0">
                <a:latin typeface="Times New Roman" panose="02020603050405020304" pitchFamily="18" charset="0"/>
              </a:rPr>
              <a:t>；</a:t>
            </a:r>
            <a:r>
              <a:rPr lang="zh-CN" altLang="en-US" sz="2400" dirty="0">
                <a:solidFill>
                  <a:schemeClr val="tx1"/>
                </a:solidFill>
                <a:latin typeface="Times New Roman" panose="02020603050405020304" pitchFamily="18" charset="0"/>
              </a:rPr>
              <a:t>由</a:t>
            </a:r>
            <a:r>
              <a:rPr lang="en-US" altLang="zh-CN" sz="2400" dirty="0">
                <a:solidFill>
                  <a:schemeClr val="tx1"/>
                </a:solidFill>
                <a:latin typeface="Times New Roman" panose="02020603050405020304" pitchFamily="18" charset="0"/>
              </a:rPr>
              <a:t>IF</a:t>
            </a:r>
            <a:r>
              <a:rPr lang="zh-CN" altLang="en-US" sz="2400" dirty="0">
                <a:solidFill>
                  <a:schemeClr val="tx1"/>
                </a:solidFill>
                <a:latin typeface="Times New Roman" panose="02020603050405020304" pitchFamily="18" charset="0"/>
              </a:rPr>
              <a:t>标志控制可屏蔽中断是否允许响应（</a:t>
            </a:r>
            <a:r>
              <a:rPr lang="en-US" altLang="zh-CN" sz="2400" dirty="0">
                <a:solidFill>
                  <a:schemeClr val="tx1"/>
                </a:solidFill>
                <a:latin typeface="Times New Roman" panose="02020603050405020304" pitchFamily="18" charset="0"/>
              </a:rPr>
              <a:t>CLI</a:t>
            </a:r>
            <a:r>
              <a:rPr lang="zh-CN" altLang="en-US" sz="2400" dirty="0">
                <a:solidFill>
                  <a:schemeClr val="tx1"/>
                </a:solidFill>
                <a:latin typeface="Times New Roman" panose="02020603050405020304" pitchFamily="18" charset="0"/>
              </a:rPr>
              <a:t>或</a:t>
            </a:r>
            <a:r>
              <a:rPr lang="en-US" altLang="zh-CN" sz="2400" dirty="0">
                <a:solidFill>
                  <a:schemeClr val="tx1"/>
                </a:solidFill>
                <a:latin typeface="Times New Roman" panose="02020603050405020304" pitchFamily="18" charset="0"/>
              </a:rPr>
              <a:t>STI)</a:t>
            </a:r>
            <a:r>
              <a:rPr lang="zh-CN" altLang="en-US" sz="2400" dirty="0">
                <a:latin typeface="Times New Roman" panose="02020603050405020304" pitchFamily="18" charset="0"/>
              </a:rPr>
              <a:t>；</a:t>
            </a:r>
            <a:r>
              <a:rPr lang="zh-CN" altLang="en-US" sz="2400" dirty="0">
                <a:solidFill>
                  <a:schemeClr val="tx1"/>
                </a:solidFill>
                <a:latin typeface="Times New Roman" panose="02020603050405020304" pitchFamily="18" charset="0"/>
              </a:rPr>
              <a:t>向量号来自外部中断控制器</a:t>
            </a:r>
            <a:endParaRPr lang="zh-CN" altLang="en-US" sz="2400" dirty="0">
              <a:solidFill>
                <a:schemeClr val="tx1"/>
              </a:solidFill>
              <a:latin typeface="Times New Roman" panose="02020603050405020304" pitchFamily="18" charset="0"/>
            </a:endParaRPr>
          </a:p>
          <a:p>
            <a:r>
              <a:rPr lang="en-US" altLang="zh-CN" sz="2400" dirty="0">
                <a:latin typeface="Times New Roman" panose="02020603050405020304" pitchFamily="18" charset="0"/>
              </a:rPr>
              <a:t>8086</a:t>
            </a:r>
            <a:r>
              <a:rPr lang="zh-CN" altLang="en-US" sz="2400" dirty="0">
                <a:latin typeface="Times New Roman" panose="02020603050405020304" pitchFamily="18" charset="0"/>
              </a:rPr>
              <a:t>通常需要配合中断控制器</a:t>
            </a:r>
            <a:r>
              <a:rPr lang="en-US" altLang="zh-CN" sz="2400" dirty="0">
                <a:latin typeface="Times New Roman" panose="02020603050405020304" pitchFamily="18" charset="0"/>
              </a:rPr>
              <a:t>8259A</a:t>
            </a:r>
            <a:r>
              <a:rPr lang="zh-CN" altLang="en-US" sz="2400" dirty="0">
                <a:latin typeface="Times New Roman" panose="02020603050405020304" pitchFamily="18" charset="0"/>
              </a:rPr>
              <a:t>共同处理可屏蔽中断</a:t>
            </a:r>
            <a:endParaRPr lang="zh-CN" altLang="en-US" sz="2400" dirty="0">
              <a:latin typeface="Times New Roman" panose="02020603050405020304" pitchFamily="18" charset="0"/>
            </a:endParaRPr>
          </a:p>
          <a:p>
            <a:r>
              <a:rPr lang="zh-CN" altLang="en-US" sz="2400" dirty="0">
                <a:latin typeface="Times New Roman" panose="02020603050405020304" pitchFamily="18" charset="0"/>
              </a:rPr>
              <a:t>可屏蔽中断主要用于主机与外设交换数据</a:t>
            </a:r>
            <a:endParaRPr lang="zh-CN" altLang="en-US" sz="2400" dirty="0">
              <a:latin typeface="Times New Roman" panose="02020603050405020304" pitchFamily="18" charset="0"/>
            </a:endParaRPr>
          </a:p>
        </p:txBody>
      </p:sp>
    </p:spTree>
  </p:cSld>
  <p:clrMapOvr>
    <a:masterClrMapping/>
  </p:clrMapOvr>
  <p:transition spd="slow">
    <p:zo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13667" name="Rectangle 3"/>
          <p:cNvSpPr txBox="1"/>
          <p:nvPr/>
        </p:nvSpPr>
        <p:spPr>
          <a:xfrm>
            <a:off x="323850" y="3721100"/>
            <a:ext cx="8280400" cy="9144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spcBef>
                <a:spcPct val="0"/>
              </a:spcBef>
              <a:buNone/>
            </a:pPr>
            <a:r>
              <a:rPr lang="zh-CN" altLang="en-US" sz="2400" dirty="0">
                <a:solidFill>
                  <a:srgbClr val="FF0000"/>
                </a:solidFill>
                <a:latin typeface="Tahoma" panose="020B0604030504040204" pitchFamily="34" charset="0"/>
                <a:ea typeface="黑体" panose="02010609060101010101" pitchFamily="49" charset="-122"/>
              </a:rPr>
              <a:t>中断向量：</a:t>
            </a:r>
            <a:r>
              <a:rPr lang="zh-CN" altLang="en-US" sz="2400" dirty="0">
                <a:latin typeface="Tahoma" panose="020B0604030504040204" pitchFamily="34" charset="0"/>
                <a:ea typeface="黑体" panose="02010609060101010101" pitchFamily="49" charset="-122"/>
              </a:rPr>
              <a:t>是中断处理子程序的入口地址，每个中断类型对</a:t>
            </a:r>
            <a:endParaRPr lang="en-US" altLang="zh-CN" sz="2400" dirty="0">
              <a:latin typeface="Tahoma" panose="020B0604030504040204" pitchFamily="34" charset="0"/>
              <a:ea typeface="黑体" panose="02010609060101010101" pitchFamily="49" charset="-122"/>
            </a:endParaRPr>
          </a:p>
          <a:p>
            <a:pPr marL="342900" lvl="0" indent="-342900">
              <a:spcBef>
                <a:spcPct val="0"/>
              </a:spcBef>
              <a:buNone/>
            </a:pPr>
            <a:r>
              <a:rPr lang="zh-CN" altLang="en-US" sz="2400" dirty="0">
                <a:latin typeface="Tahoma" panose="020B0604030504040204" pitchFamily="34" charset="0"/>
                <a:ea typeface="黑体" panose="02010609060101010101" pitchFamily="49" charset="-122"/>
              </a:rPr>
              <a:t>应一个中断矢量</a:t>
            </a:r>
            <a:endParaRPr lang="zh-CN" altLang="en-US" sz="2400" dirty="0">
              <a:latin typeface="Tahoma" panose="020B0604030504040204" pitchFamily="34" charset="0"/>
              <a:ea typeface="黑体" panose="02010609060101010101" pitchFamily="49" charset="-122"/>
            </a:endParaRPr>
          </a:p>
        </p:txBody>
      </p:sp>
      <p:grpSp>
        <p:nvGrpSpPr>
          <p:cNvPr id="184324" name="Group 12"/>
          <p:cNvGrpSpPr/>
          <p:nvPr/>
        </p:nvGrpSpPr>
        <p:grpSpPr>
          <a:xfrm>
            <a:off x="1304925" y="2409825"/>
            <a:ext cx="6810375" cy="784225"/>
            <a:chOff x="0" y="0"/>
            <a:chExt cx="4290" cy="494"/>
          </a:xfrm>
        </p:grpSpPr>
        <p:sp>
          <p:nvSpPr>
            <p:cNvPr id="184327" name="Text Box 4"/>
            <p:cNvSpPr txBox="1"/>
            <p:nvPr/>
          </p:nvSpPr>
          <p:spPr>
            <a:xfrm>
              <a:off x="0" y="0"/>
              <a:ext cx="864" cy="288"/>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1800" dirty="0">
                  <a:solidFill>
                    <a:schemeClr val="tx1"/>
                  </a:solidFill>
                  <a:ea typeface="黑体" panose="02010609060101010101" pitchFamily="49" charset="-122"/>
                </a:rPr>
                <a:t>中断</a:t>
              </a:r>
              <a:endParaRPr lang="zh-CN" altLang="en-US" sz="1800" dirty="0">
                <a:solidFill>
                  <a:schemeClr val="tx1"/>
                </a:solidFill>
                <a:ea typeface="黑体" panose="02010609060101010101" pitchFamily="49" charset="-122"/>
              </a:endParaRPr>
            </a:p>
          </p:txBody>
        </p:sp>
        <p:sp>
          <p:nvSpPr>
            <p:cNvPr id="184328" name="Text Box 5"/>
            <p:cNvSpPr txBox="1"/>
            <p:nvPr/>
          </p:nvSpPr>
          <p:spPr>
            <a:xfrm>
              <a:off x="1104" y="0"/>
              <a:ext cx="1584" cy="494"/>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1800" dirty="0">
                  <a:solidFill>
                    <a:schemeClr val="tx1"/>
                  </a:solidFill>
                  <a:ea typeface="黑体" panose="02010609060101010101" pitchFamily="49" charset="-122"/>
                </a:rPr>
                <a:t>中断向量码代号</a:t>
              </a:r>
              <a:endParaRPr lang="zh-CN" altLang="en-US" sz="1800" dirty="0">
                <a:solidFill>
                  <a:schemeClr val="tx1"/>
                </a:solidFill>
                <a:ea typeface="黑体" panose="02010609060101010101" pitchFamily="49" charset="-122"/>
              </a:endParaRPr>
            </a:p>
            <a:p>
              <a:pPr marL="0" lvl="0" indent="0">
                <a:lnSpc>
                  <a:spcPct val="100000"/>
                </a:lnSpc>
                <a:spcBef>
                  <a:spcPct val="50000"/>
                </a:spcBef>
                <a:spcAft>
                  <a:spcPct val="0"/>
                </a:spcAft>
                <a:buClrTx/>
                <a:buSzTx/>
                <a:buNone/>
              </a:pPr>
              <a:r>
                <a:rPr lang="zh-CN" altLang="en-US" sz="1800" dirty="0">
                  <a:solidFill>
                    <a:schemeClr val="tx1"/>
                  </a:solidFill>
                  <a:ea typeface="黑体" panose="02010609060101010101" pitchFamily="49" charset="-122"/>
                </a:rPr>
                <a:t>   （</a:t>
              </a:r>
              <a:r>
                <a:rPr lang="en-US" altLang="zh-CN" sz="1800" dirty="0">
                  <a:solidFill>
                    <a:srgbClr val="FF0000"/>
                  </a:solidFill>
                  <a:ea typeface="黑体" panose="02010609060101010101" pitchFamily="49" charset="-122"/>
                </a:rPr>
                <a:t>0</a:t>
              </a:r>
              <a:r>
                <a:rPr lang="zh-CN" altLang="en-US" sz="1800" dirty="0">
                  <a:solidFill>
                    <a:srgbClr val="FF0000"/>
                  </a:solidFill>
                  <a:ea typeface="黑体" panose="02010609060101010101" pitchFamily="49" charset="-122"/>
                </a:rPr>
                <a:t>～</a:t>
              </a:r>
              <a:r>
                <a:rPr lang="en-US" altLang="zh-CN" sz="1800" dirty="0">
                  <a:solidFill>
                    <a:srgbClr val="FF0000"/>
                  </a:solidFill>
                  <a:ea typeface="黑体" panose="02010609060101010101" pitchFamily="49" charset="-122"/>
                </a:rPr>
                <a:t>255</a:t>
              </a:r>
              <a:r>
                <a:rPr lang="zh-CN" altLang="en-US" sz="1800" dirty="0">
                  <a:solidFill>
                    <a:schemeClr val="tx1"/>
                  </a:solidFill>
                  <a:ea typeface="黑体" panose="02010609060101010101" pitchFamily="49" charset="-122"/>
                </a:rPr>
                <a:t>） </a:t>
              </a:r>
              <a:endParaRPr lang="zh-CN" altLang="en-US" sz="1800" dirty="0">
                <a:solidFill>
                  <a:schemeClr val="tx1"/>
                </a:solidFill>
                <a:ea typeface="黑体" panose="02010609060101010101" pitchFamily="49" charset="-122"/>
              </a:endParaRPr>
            </a:p>
          </p:txBody>
        </p:sp>
        <p:sp>
          <p:nvSpPr>
            <p:cNvPr id="184329" name="Text Box 6"/>
            <p:cNvSpPr txBox="1"/>
            <p:nvPr/>
          </p:nvSpPr>
          <p:spPr>
            <a:xfrm>
              <a:off x="2994" y="0"/>
              <a:ext cx="1296" cy="288"/>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1800" dirty="0">
                  <a:solidFill>
                    <a:schemeClr val="tx1"/>
                  </a:solidFill>
                  <a:ea typeface="黑体" panose="02010609060101010101" pitchFamily="49" charset="-122"/>
                </a:rPr>
                <a:t>中断服务程序 </a:t>
              </a:r>
              <a:endParaRPr lang="zh-CN" altLang="en-US" sz="1800" dirty="0">
                <a:solidFill>
                  <a:schemeClr val="tx1"/>
                </a:solidFill>
                <a:ea typeface="黑体" panose="02010609060101010101" pitchFamily="49" charset="-122"/>
              </a:endParaRPr>
            </a:p>
          </p:txBody>
        </p:sp>
        <p:sp>
          <p:nvSpPr>
            <p:cNvPr id="184330" name="AutoShape 7"/>
            <p:cNvSpPr/>
            <p:nvPr/>
          </p:nvSpPr>
          <p:spPr>
            <a:xfrm>
              <a:off x="528" y="96"/>
              <a:ext cx="528" cy="96"/>
            </a:xfrm>
            <a:prstGeom prst="leftRightArrow">
              <a:avLst>
                <a:gd name="adj1" fmla="val 50000"/>
                <a:gd name="adj2" fmla="val 110000"/>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184331" name="AutoShape 8"/>
            <p:cNvSpPr/>
            <p:nvPr/>
          </p:nvSpPr>
          <p:spPr>
            <a:xfrm>
              <a:off x="2349" y="78"/>
              <a:ext cx="528" cy="96"/>
            </a:xfrm>
            <a:prstGeom prst="leftRightArrow">
              <a:avLst>
                <a:gd name="adj1" fmla="val 50000"/>
                <a:gd name="adj2" fmla="val 110000"/>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grpSp>
      <p:sp>
        <p:nvSpPr>
          <p:cNvPr id="113674" name="Rectangle 13"/>
          <p:cNvSpPr/>
          <p:nvPr/>
        </p:nvSpPr>
        <p:spPr>
          <a:xfrm>
            <a:off x="323850" y="4711700"/>
            <a:ext cx="8620125" cy="11430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Bef>
                <a:spcPct val="0"/>
              </a:spcBef>
              <a:spcAft>
                <a:spcPct val="0"/>
              </a:spcAft>
              <a:buClrTx/>
              <a:buSzTx/>
              <a:buNone/>
            </a:pPr>
            <a:r>
              <a:rPr lang="zh-CN" altLang="en-US" sz="2400" dirty="0">
                <a:solidFill>
                  <a:srgbClr val="FF0000"/>
                </a:solidFill>
                <a:latin typeface="Times New Roman" panose="02020603050405020304" pitchFamily="18" charset="0"/>
                <a:ea typeface="黑体" panose="02010609060101010101" pitchFamily="49" charset="-122"/>
              </a:rPr>
              <a:t>中断向量表：</a:t>
            </a:r>
            <a:r>
              <a:rPr lang="zh-CN" altLang="en-US" sz="2400" dirty="0">
                <a:solidFill>
                  <a:schemeClr val="tx1"/>
                </a:solidFill>
                <a:latin typeface="黑体" panose="02010609060101010101" pitchFamily="49" charset="-122"/>
                <a:ea typeface="黑体" panose="02010609060101010101" pitchFamily="49" charset="-122"/>
              </a:rPr>
              <a:t>在内存中，开辟一个区域存放中断服务程序的</a:t>
            </a:r>
            <a:endParaRPr lang="en-US" altLang="zh-CN" sz="2400" dirty="0">
              <a:solidFill>
                <a:schemeClr val="tx1"/>
              </a:solidFill>
              <a:latin typeface="黑体" panose="02010609060101010101" pitchFamily="49" charset="-122"/>
              <a:ea typeface="黑体" panose="02010609060101010101" pitchFamily="49" charset="-122"/>
            </a:endParaRPr>
          </a:p>
          <a:p>
            <a:pPr marL="342900" lvl="0" indent="-342900">
              <a:lnSpc>
                <a:spcPct val="100000"/>
              </a:lnSpc>
              <a:spcBef>
                <a:spcPct val="0"/>
              </a:spcBef>
              <a:spcAft>
                <a:spcPct val="0"/>
              </a:spcAft>
              <a:buClrTx/>
              <a:buSzTx/>
              <a:buNone/>
            </a:pPr>
            <a:r>
              <a:rPr lang="zh-CN" altLang="en-US" sz="2400" dirty="0">
                <a:solidFill>
                  <a:schemeClr val="tx1"/>
                </a:solidFill>
                <a:latin typeface="黑体" panose="02010609060101010101" pitchFamily="49" charset="-122"/>
                <a:ea typeface="黑体" panose="02010609060101010101" pitchFamily="49" charset="-122"/>
              </a:rPr>
              <a:t>入口地址的表。对于</a:t>
            </a:r>
            <a:r>
              <a:rPr lang="en-US" altLang="zh-CN" sz="2400" dirty="0">
                <a:solidFill>
                  <a:schemeClr val="tx1"/>
                </a:solidFill>
                <a:latin typeface="黑体" panose="02010609060101010101" pitchFamily="49" charset="-122"/>
                <a:ea typeface="黑体" panose="02010609060101010101" pitchFamily="49" charset="-122"/>
              </a:rPr>
              <a:t>8086</a:t>
            </a:r>
            <a:r>
              <a:rPr lang="zh-CN" altLang="en-US" sz="2400" dirty="0">
                <a:solidFill>
                  <a:schemeClr val="tx1"/>
                </a:solidFill>
                <a:latin typeface="黑体" panose="02010609060101010101" pitchFamily="49" charset="-122"/>
                <a:ea typeface="黑体" panose="02010609060101010101" pitchFamily="49" charset="-122"/>
              </a:rPr>
              <a:t>，这个区域的首地址</a:t>
            </a:r>
            <a:r>
              <a:rPr lang="en-US" altLang="zh-CN" sz="2400" dirty="0">
                <a:solidFill>
                  <a:srgbClr val="FF0000"/>
                </a:solidFill>
                <a:latin typeface="黑体" panose="02010609060101010101" pitchFamily="49" charset="-122"/>
                <a:ea typeface="黑体" panose="02010609060101010101" pitchFamily="49" charset="-122"/>
              </a:rPr>
              <a:t>00000H</a:t>
            </a:r>
            <a:r>
              <a:rPr lang="zh-CN" altLang="en-US" sz="2400" dirty="0">
                <a:solidFill>
                  <a:srgbClr val="FF0000"/>
                </a:solidFill>
                <a:latin typeface="黑体" panose="02010609060101010101" pitchFamily="49" charset="-122"/>
                <a:ea typeface="黑体" panose="02010609060101010101" pitchFamily="49" charset="-122"/>
              </a:rPr>
              <a:t>（固定）</a:t>
            </a:r>
            <a:endParaRPr lang="zh-CN" altLang="en-US" sz="2400" dirty="0">
              <a:solidFill>
                <a:srgbClr val="FF0000"/>
              </a:solidFill>
              <a:latin typeface="Times New Roman" panose="02020603050405020304" pitchFamily="18" charset="0"/>
              <a:ea typeface="黑体" panose="02010609060101010101" pitchFamily="49" charset="-122"/>
            </a:endParaRPr>
          </a:p>
        </p:txBody>
      </p:sp>
      <p:sp>
        <p:nvSpPr>
          <p:cNvPr id="184326" name="Rectangle 2"/>
          <p:cNvSpPr>
            <a:spLocks noGrp="1"/>
          </p:cNvSpPr>
          <p:nvPr>
            <p:ph type="title" idx="4294967295"/>
          </p:nvPr>
        </p:nvSpPr>
        <p:spPr/>
        <p:txBody>
          <a:bodyPr vert="horz" wrap="square" lIns="91440" tIns="45720" rIns="91440" bIns="45720" anchor="b" anchorCtr="0"/>
          <a:p>
            <a:pPr eaLnBrk="1" hangingPunct="1"/>
            <a:r>
              <a:rPr lang="zh-CN" altLang="en-US" dirty="0"/>
              <a:t>中断向量表</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3667"/>
                                        </p:tgtEl>
                                        <p:attrNameLst>
                                          <p:attrName>style.visibility</p:attrName>
                                        </p:attrNameLst>
                                      </p:cBhvr>
                                      <p:to>
                                        <p:strVal val="visible"/>
                                      </p:to>
                                    </p:set>
                                    <p:anim calcmode="lin" valueType="num">
                                      <p:cBhvr>
                                        <p:cTn id="7" dur="500" fill="hold"/>
                                        <p:tgtEl>
                                          <p:spTgt spid="113667"/>
                                        </p:tgtEl>
                                        <p:attrNameLst>
                                          <p:attrName>ppt_x</p:attrName>
                                        </p:attrNameLst>
                                      </p:cBhvr>
                                      <p:tavLst>
                                        <p:tav tm="0">
                                          <p:val>
                                            <p:strVal val="0-#ppt_w/2"/>
                                          </p:val>
                                        </p:tav>
                                        <p:tav tm="100000">
                                          <p:val>
                                            <p:strVal val="#ppt_x"/>
                                          </p:val>
                                        </p:tav>
                                      </p:tavLst>
                                    </p:anim>
                                    <p:anim calcmode="lin" valueType="num">
                                      <p:cBhvr>
                                        <p:cTn id="8" dur="500" fill="hold"/>
                                        <p:tgtEl>
                                          <p:spTgt spid="11366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3674"/>
                                        </p:tgtEl>
                                        <p:attrNameLst>
                                          <p:attrName>style.visibility</p:attrName>
                                        </p:attrNameLst>
                                      </p:cBhvr>
                                      <p:to>
                                        <p:strVal val="visible"/>
                                      </p:to>
                                    </p:set>
                                    <p:anim calcmode="lin" valueType="num">
                                      <p:cBhvr>
                                        <p:cTn id="13" dur="500" fill="hold"/>
                                        <p:tgtEl>
                                          <p:spTgt spid="113674"/>
                                        </p:tgtEl>
                                        <p:attrNameLst>
                                          <p:attrName>ppt_x</p:attrName>
                                        </p:attrNameLst>
                                      </p:cBhvr>
                                      <p:tavLst>
                                        <p:tav tm="0">
                                          <p:val>
                                            <p:strVal val="0-#ppt_w/2"/>
                                          </p:val>
                                        </p:tav>
                                        <p:tav tm="100000">
                                          <p:val>
                                            <p:strVal val="#ppt_x"/>
                                          </p:val>
                                        </p:tav>
                                      </p:tavLst>
                                    </p:anim>
                                    <p:anim calcmode="lin" valueType="num">
                                      <p:cBhvr>
                                        <p:cTn id="14" dur="500" fill="hold"/>
                                        <p:tgtEl>
                                          <p:spTgt spid="1136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p:bldP spid="113674"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graphicFrame>
        <p:nvGraphicFramePr>
          <p:cNvPr id="185347" name="Object 4"/>
          <p:cNvGraphicFramePr>
            <a:graphicFrameLocks noChangeAspect="1"/>
          </p:cNvGraphicFramePr>
          <p:nvPr/>
        </p:nvGraphicFramePr>
        <p:xfrm>
          <a:off x="250825" y="1341438"/>
          <a:ext cx="8686800" cy="5283200"/>
        </p:xfrm>
        <a:graphic>
          <a:graphicData uri="http://schemas.openxmlformats.org/presentationml/2006/ole">
            <mc:AlternateContent xmlns:mc="http://schemas.openxmlformats.org/markup-compatibility/2006">
              <mc:Choice xmlns:v="urn:schemas-microsoft-com:vml" Requires="v">
                <p:oleObj spid="_x0000_s3081" name="" r:id="rId1" imgW="4762500" imgH="3600450" progId="PBrush">
                  <p:embed/>
                </p:oleObj>
              </mc:Choice>
              <mc:Fallback>
                <p:oleObj name="" r:id="rId1" imgW="4762500" imgH="3600450" progId="PBrush">
                  <p:embed/>
                  <p:pic>
                    <p:nvPicPr>
                      <p:cNvPr id="0" name="图片 3080"/>
                      <p:cNvPicPr/>
                      <p:nvPr/>
                    </p:nvPicPr>
                    <p:blipFill>
                      <a:blip r:embed="rId2"/>
                      <a:stretch>
                        <a:fillRect/>
                      </a:stretch>
                    </p:blipFill>
                    <p:spPr>
                      <a:xfrm>
                        <a:off x="250825" y="1341438"/>
                        <a:ext cx="8686800" cy="5283200"/>
                      </a:xfrm>
                      <a:prstGeom prst="rect">
                        <a:avLst/>
                      </a:prstGeom>
                      <a:noFill/>
                      <a:ln w="38100">
                        <a:noFill/>
                        <a:miter/>
                      </a:ln>
                    </p:spPr>
                  </p:pic>
                </p:oleObj>
              </mc:Fallback>
            </mc:AlternateContent>
          </a:graphicData>
        </a:graphic>
      </p:graphicFrame>
    </p:spTree>
  </p:cSld>
  <p:clrMapOvr>
    <a:masterClrMapping/>
  </p:clrMapOvr>
  <p:transition spd="slow">
    <p:zo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86371" name="Rectangle 4"/>
          <p:cNvSpPr/>
          <p:nvPr/>
        </p:nvSpPr>
        <p:spPr>
          <a:xfrm>
            <a:off x="6203950" y="2259013"/>
            <a:ext cx="1676400" cy="3962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86372" name="Line 5"/>
          <p:cNvSpPr/>
          <p:nvPr/>
        </p:nvSpPr>
        <p:spPr>
          <a:xfrm>
            <a:off x="6203950" y="2640013"/>
            <a:ext cx="1676400" cy="0"/>
          </a:xfrm>
          <a:prstGeom prst="line">
            <a:avLst/>
          </a:prstGeom>
          <a:ln w="25400" cap="sq" cmpd="sng">
            <a:solidFill>
              <a:schemeClr val="bg1"/>
            </a:solidFill>
            <a:prstDash val="solid"/>
            <a:bevel/>
            <a:headEnd type="none" w="med" len="med"/>
            <a:tailEnd type="none" w="med" len="med"/>
          </a:ln>
        </p:spPr>
      </p:sp>
      <p:sp>
        <p:nvSpPr>
          <p:cNvPr id="186373" name="Line 6"/>
          <p:cNvSpPr/>
          <p:nvPr/>
        </p:nvSpPr>
        <p:spPr>
          <a:xfrm>
            <a:off x="6203950" y="3021013"/>
            <a:ext cx="1676400" cy="0"/>
          </a:xfrm>
          <a:prstGeom prst="line">
            <a:avLst/>
          </a:prstGeom>
          <a:ln w="25400" cap="sq" cmpd="sng">
            <a:solidFill>
              <a:schemeClr val="bg1"/>
            </a:solidFill>
            <a:prstDash val="solid"/>
            <a:bevel/>
            <a:headEnd type="none" w="med" len="med"/>
            <a:tailEnd type="none" w="med" len="med"/>
          </a:ln>
        </p:spPr>
      </p:sp>
      <p:sp>
        <p:nvSpPr>
          <p:cNvPr id="186374" name="Line 7"/>
          <p:cNvSpPr/>
          <p:nvPr/>
        </p:nvSpPr>
        <p:spPr>
          <a:xfrm>
            <a:off x="6203950" y="3402013"/>
            <a:ext cx="1676400" cy="0"/>
          </a:xfrm>
          <a:prstGeom prst="line">
            <a:avLst/>
          </a:prstGeom>
          <a:ln w="25400" cap="sq" cmpd="sng">
            <a:solidFill>
              <a:schemeClr val="bg1"/>
            </a:solidFill>
            <a:prstDash val="solid"/>
            <a:bevel/>
            <a:headEnd type="none" w="med" len="med"/>
            <a:tailEnd type="none" w="med" len="med"/>
          </a:ln>
        </p:spPr>
      </p:sp>
      <p:sp>
        <p:nvSpPr>
          <p:cNvPr id="186375" name="Line 8"/>
          <p:cNvSpPr/>
          <p:nvPr/>
        </p:nvSpPr>
        <p:spPr>
          <a:xfrm>
            <a:off x="6203950" y="3783013"/>
            <a:ext cx="1676400" cy="0"/>
          </a:xfrm>
          <a:prstGeom prst="line">
            <a:avLst/>
          </a:prstGeom>
          <a:ln w="25400" cap="sq" cmpd="sng">
            <a:solidFill>
              <a:schemeClr val="bg1"/>
            </a:solidFill>
            <a:prstDash val="solid"/>
            <a:bevel/>
            <a:headEnd type="none" w="med" len="med"/>
            <a:tailEnd type="none" w="med" len="med"/>
          </a:ln>
        </p:spPr>
      </p:sp>
      <p:sp>
        <p:nvSpPr>
          <p:cNvPr id="186376" name="Text Box 9"/>
          <p:cNvSpPr txBox="1"/>
          <p:nvPr/>
        </p:nvSpPr>
        <p:spPr>
          <a:xfrm>
            <a:off x="6737350" y="3783013"/>
            <a:ext cx="5334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1C1C1C"/>
                </a:solidFill>
                <a:latin typeface="Times New Roman" panose="02020603050405020304" pitchFamily="18" charset="0"/>
                <a:ea typeface="楷体_GB2312"/>
              </a:rPr>
              <a:t>┇</a:t>
            </a:r>
            <a:endParaRPr lang="en-US" altLang="zh-CN" sz="2400" dirty="0">
              <a:solidFill>
                <a:srgbClr val="1C1C1C"/>
              </a:solidFill>
              <a:latin typeface="Times New Roman" panose="02020603050405020304" pitchFamily="18" charset="0"/>
              <a:ea typeface="楷体_GB2312"/>
            </a:endParaRPr>
          </a:p>
        </p:txBody>
      </p:sp>
      <p:sp>
        <p:nvSpPr>
          <p:cNvPr id="186377" name="Line 10"/>
          <p:cNvSpPr/>
          <p:nvPr/>
        </p:nvSpPr>
        <p:spPr>
          <a:xfrm>
            <a:off x="6203950" y="4240213"/>
            <a:ext cx="1676400" cy="0"/>
          </a:xfrm>
          <a:prstGeom prst="line">
            <a:avLst/>
          </a:prstGeom>
          <a:ln w="25400" cap="sq" cmpd="sng">
            <a:solidFill>
              <a:schemeClr val="bg1"/>
            </a:solidFill>
            <a:prstDash val="solid"/>
            <a:bevel/>
            <a:headEnd type="none" w="med" len="med"/>
            <a:tailEnd type="none" w="med" len="med"/>
          </a:ln>
        </p:spPr>
      </p:sp>
      <p:sp>
        <p:nvSpPr>
          <p:cNvPr id="186378" name="Line 11"/>
          <p:cNvSpPr/>
          <p:nvPr/>
        </p:nvSpPr>
        <p:spPr>
          <a:xfrm>
            <a:off x="6203950" y="4697413"/>
            <a:ext cx="1676400" cy="0"/>
          </a:xfrm>
          <a:prstGeom prst="line">
            <a:avLst/>
          </a:prstGeom>
          <a:ln w="25400" cap="sq" cmpd="sng">
            <a:solidFill>
              <a:schemeClr val="bg1"/>
            </a:solidFill>
            <a:prstDash val="solid"/>
            <a:bevel/>
            <a:headEnd type="none" w="med" len="med"/>
            <a:tailEnd type="none" w="med" len="med"/>
          </a:ln>
        </p:spPr>
      </p:sp>
      <p:sp>
        <p:nvSpPr>
          <p:cNvPr id="186379" name="Text Box 12"/>
          <p:cNvSpPr txBox="1"/>
          <p:nvPr/>
        </p:nvSpPr>
        <p:spPr>
          <a:xfrm>
            <a:off x="6737350" y="4773613"/>
            <a:ext cx="5334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1C1C1C"/>
                </a:solidFill>
                <a:latin typeface="Times New Roman" panose="02020603050405020304" pitchFamily="18" charset="0"/>
                <a:ea typeface="楷体_GB2312"/>
              </a:rPr>
              <a:t>┇</a:t>
            </a:r>
            <a:endParaRPr lang="en-US" altLang="zh-CN" sz="2400" dirty="0">
              <a:solidFill>
                <a:srgbClr val="1C1C1C"/>
              </a:solidFill>
              <a:latin typeface="Times New Roman" panose="02020603050405020304" pitchFamily="18" charset="0"/>
              <a:ea typeface="楷体_GB2312"/>
            </a:endParaRPr>
          </a:p>
        </p:txBody>
      </p:sp>
      <p:sp>
        <p:nvSpPr>
          <p:cNvPr id="186380" name="Text Box 13"/>
          <p:cNvSpPr txBox="1"/>
          <p:nvPr/>
        </p:nvSpPr>
        <p:spPr>
          <a:xfrm>
            <a:off x="4984750" y="2259013"/>
            <a:ext cx="13716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00000</a:t>
            </a:r>
            <a:r>
              <a:rPr lang="en-US" altLang="zh-CN" sz="2400" dirty="0">
                <a:solidFill>
                  <a:srgbClr val="000000"/>
                </a:solidFill>
                <a:latin typeface="Times New Roman" panose="02020603050405020304" pitchFamily="18" charset="0"/>
                <a:ea typeface="楷体_GB2312"/>
              </a:rPr>
              <a:t>H</a:t>
            </a:r>
            <a:endParaRPr lang="en-US" altLang="zh-CN" sz="2400" dirty="0">
              <a:solidFill>
                <a:srgbClr val="000000"/>
              </a:solidFill>
              <a:latin typeface="Times New Roman" panose="02020603050405020304" pitchFamily="18" charset="0"/>
              <a:ea typeface="楷体_GB2312"/>
            </a:endParaRPr>
          </a:p>
        </p:txBody>
      </p:sp>
      <p:sp>
        <p:nvSpPr>
          <p:cNvPr id="186381" name="Text Box 14"/>
          <p:cNvSpPr txBox="1"/>
          <p:nvPr/>
        </p:nvSpPr>
        <p:spPr>
          <a:xfrm>
            <a:off x="4984750" y="4273550"/>
            <a:ext cx="13716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400" dirty="0">
                <a:solidFill>
                  <a:srgbClr val="000000"/>
                </a:solidFill>
                <a:latin typeface="Times New Roman" panose="02020603050405020304" pitchFamily="18" charset="0"/>
                <a:ea typeface="楷体_GB2312"/>
              </a:rPr>
              <a:t>003</a:t>
            </a:r>
            <a:r>
              <a:rPr lang="en-US" altLang="zh-CN" sz="2400" dirty="0">
                <a:solidFill>
                  <a:srgbClr val="000000"/>
                </a:solidFill>
                <a:latin typeface="Times New Roman" panose="02020603050405020304" pitchFamily="18" charset="0"/>
                <a:ea typeface="楷体_GB2312"/>
              </a:rPr>
              <a:t>FFH</a:t>
            </a:r>
            <a:endParaRPr lang="en-US" altLang="zh-CN" sz="2400" dirty="0">
              <a:solidFill>
                <a:srgbClr val="000000"/>
              </a:solidFill>
              <a:latin typeface="Times New Roman" panose="02020603050405020304" pitchFamily="18" charset="0"/>
              <a:ea typeface="楷体_GB2312"/>
            </a:endParaRPr>
          </a:p>
        </p:txBody>
      </p:sp>
      <p:sp>
        <p:nvSpPr>
          <p:cNvPr id="186382" name="AutoShape 15"/>
          <p:cNvSpPr/>
          <p:nvPr/>
        </p:nvSpPr>
        <p:spPr>
          <a:xfrm>
            <a:off x="8066088" y="2363788"/>
            <a:ext cx="228600" cy="2286000"/>
          </a:xfrm>
          <a:prstGeom prst="rightBrace">
            <a:avLst>
              <a:gd name="adj1" fmla="val 82777"/>
              <a:gd name="adj2" fmla="val 50000"/>
            </a:avLst>
          </a:prstGeom>
          <a:noFill/>
          <a:ln w="25400" cap="sq" cmpd="sng">
            <a:solidFill>
              <a:srgbClr val="FF6600"/>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2400" b="0" dirty="0">
              <a:solidFill>
                <a:srgbClr val="000000"/>
              </a:solidFill>
              <a:latin typeface="Times New Roman" panose="02020603050405020304" pitchFamily="18" charset="0"/>
              <a:ea typeface="楷体_GB2312"/>
            </a:endParaRPr>
          </a:p>
        </p:txBody>
      </p:sp>
      <p:sp>
        <p:nvSpPr>
          <p:cNvPr id="186383" name="Text Box 16"/>
          <p:cNvSpPr txBox="1"/>
          <p:nvPr/>
        </p:nvSpPr>
        <p:spPr>
          <a:xfrm>
            <a:off x="8337550" y="3249613"/>
            <a:ext cx="1371600" cy="457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2400" dirty="0">
                <a:solidFill>
                  <a:srgbClr val="000000"/>
                </a:solidFill>
                <a:latin typeface="Times New Roman" panose="02020603050405020304" pitchFamily="18" charset="0"/>
                <a:ea typeface="楷体_GB2312"/>
              </a:rPr>
              <a:t>1KB</a:t>
            </a:r>
            <a:endParaRPr lang="en-US" altLang="zh-CN" sz="2400" dirty="0">
              <a:solidFill>
                <a:srgbClr val="000000"/>
              </a:solidFill>
              <a:latin typeface="Times New Roman" panose="02020603050405020304" pitchFamily="18" charset="0"/>
              <a:ea typeface="楷体_GB2312"/>
            </a:endParaRPr>
          </a:p>
        </p:txBody>
      </p:sp>
      <p:sp>
        <p:nvSpPr>
          <p:cNvPr id="115728" name="Rectangle 3"/>
          <p:cNvSpPr txBox="1"/>
          <p:nvPr/>
        </p:nvSpPr>
        <p:spPr>
          <a:xfrm>
            <a:off x="0" y="2171700"/>
            <a:ext cx="4984750" cy="3273425"/>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15000"/>
              </a:lnSpc>
            </a:pPr>
            <a:r>
              <a:rPr lang="zh-CN" altLang="en-US" dirty="0">
                <a:latin typeface="Tahoma" panose="020B0604030504040204" pitchFamily="34" charset="0"/>
                <a:ea typeface="楷体_GB2312"/>
              </a:rPr>
              <a:t>每个入口占用</a:t>
            </a:r>
            <a:r>
              <a:rPr lang="en-US" altLang="zh-CN" dirty="0">
                <a:latin typeface="Tahoma" panose="020B0604030504040204" pitchFamily="34" charset="0"/>
                <a:ea typeface="楷体_GB2312"/>
              </a:rPr>
              <a:t>4 Bytes</a:t>
            </a:r>
            <a:r>
              <a:rPr lang="zh-CN" altLang="en-US" dirty="0">
                <a:latin typeface="Tahoma" panose="020B0604030504040204" pitchFamily="34" charset="0"/>
                <a:ea typeface="楷体_GB2312"/>
              </a:rPr>
              <a:t>，低字为段内偏移，高字为段基址；</a:t>
            </a:r>
            <a:endParaRPr lang="en-US" altLang="zh-CN" dirty="0">
              <a:latin typeface="Tahoma" panose="020B0604030504040204" pitchFamily="34" charset="0"/>
              <a:ea typeface="楷体_GB2312"/>
            </a:endParaRPr>
          </a:p>
          <a:p>
            <a:pPr marL="342900" lvl="0" indent="-342900">
              <a:lnSpc>
                <a:spcPct val="115000"/>
              </a:lnSpc>
            </a:pPr>
            <a:r>
              <a:rPr lang="zh-CN" altLang="en-US" dirty="0">
                <a:latin typeface="Tahoma" panose="020B0604030504040204" pitchFamily="34" charset="0"/>
                <a:ea typeface="楷体_GB2312"/>
              </a:rPr>
              <a:t>表的地址位于内存的</a:t>
            </a:r>
            <a:r>
              <a:rPr lang="en-US" altLang="zh-CN" dirty="0">
                <a:solidFill>
                  <a:srgbClr val="FF0000"/>
                </a:solidFill>
                <a:latin typeface="Tahoma" panose="020B0604030504040204" pitchFamily="34" charset="0"/>
                <a:ea typeface="楷体_GB2312"/>
              </a:rPr>
              <a:t>00000H</a:t>
            </a:r>
            <a:r>
              <a:rPr lang="zh-CN" altLang="en-US" dirty="0">
                <a:solidFill>
                  <a:srgbClr val="FF0000"/>
                </a:solidFill>
                <a:latin typeface="Tahoma" panose="020B0604030504040204" pitchFamily="34" charset="0"/>
                <a:ea typeface="楷体_GB2312"/>
              </a:rPr>
              <a:t>～</a:t>
            </a:r>
            <a:r>
              <a:rPr lang="en-US" altLang="zh-CN" dirty="0">
                <a:solidFill>
                  <a:srgbClr val="FF0000"/>
                </a:solidFill>
                <a:latin typeface="Tahoma" panose="020B0604030504040204" pitchFamily="34" charset="0"/>
                <a:ea typeface="楷体_GB2312"/>
              </a:rPr>
              <a:t>003FFH</a:t>
            </a:r>
            <a:r>
              <a:rPr lang="zh-CN" altLang="en-US" dirty="0">
                <a:latin typeface="Tahoma" panose="020B0604030504040204" pitchFamily="34" charset="0"/>
                <a:ea typeface="楷体_GB2312"/>
              </a:rPr>
              <a:t>，大小为</a:t>
            </a:r>
            <a:r>
              <a:rPr lang="en-US" altLang="zh-CN" dirty="0">
                <a:latin typeface="Tahoma" panose="020B0604030504040204" pitchFamily="34" charset="0"/>
                <a:ea typeface="楷体_GB2312"/>
              </a:rPr>
              <a:t>1KB</a:t>
            </a:r>
            <a:r>
              <a:rPr lang="zh-CN" altLang="en-US" dirty="0">
                <a:latin typeface="Tahoma" panose="020B0604030504040204" pitchFamily="34" charset="0"/>
                <a:ea typeface="楷体_GB2312"/>
              </a:rPr>
              <a:t>，共</a:t>
            </a:r>
            <a:r>
              <a:rPr lang="en-US" altLang="zh-CN" dirty="0">
                <a:latin typeface="Tahoma" panose="020B0604030504040204" pitchFamily="34" charset="0"/>
                <a:ea typeface="楷体_GB2312"/>
              </a:rPr>
              <a:t>256</a:t>
            </a:r>
            <a:r>
              <a:rPr lang="zh-CN" altLang="en-US" dirty="0">
                <a:latin typeface="Tahoma" panose="020B0604030504040204" pitchFamily="34" charset="0"/>
                <a:ea typeface="楷体_GB2312"/>
              </a:rPr>
              <a:t>个入口。</a:t>
            </a:r>
            <a:endParaRPr lang="zh-CN" altLang="en-US" dirty="0">
              <a:latin typeface="Tahoma" panose="020B0604030504040204" pitchFamily="34"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5728">
                                            <p:txEl>
                                              <p:charRg st="0" end="24"/>
                                            </p:txEl>
                                          </p:spTgt>
                                        </p:tgtEl>
                                        <p:attrNameLst>
                                          <p:attrName>style.visibility</p:attrName>
                                        </p:attrNameLst>
                                      </p:cBhvr>
                                      <p:to>
                                        <p:strVal val="visible"/>
                                      </p:to>
                                    </p:set>
                                    <p:animEffect transition="in" filter="wipe(left)">
                                      <p:cBhvr>
                                        <p:cTn id="7" dur="500"/>
                                        <p:tgtEl>
                                          <p:spTgt spid="115728">
                                            <p:txEl>
                                              <p:charRg st="0" end="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5728">
                                            <p:txEl>
                                              <p:charRg st="34" end="69"/>
                                            </p:txEl>
                                          </p:spTgt>
                                        </p:tgtEl>
                                        <p:attrNameLst>
                                          <p:attrName>style.visibility</p:attrName>
                                        </p:attrNameLst>
                                      </p:cBhvr>
                                      <p:to>
                                        <p:strVal val="visible"/>
                                      </p:to>
                                    </p:set>
                                    <p:animEffect transition="in" filter="wipe(left)">
                                      <p:cBhvr>
                                        <p:cTn id="12" dur="500"/>
                                        <p:tgtEl>
                                          <p:spTgt spid="115728">
                                            <p:txEl>
                                              <p:charRg st="34" end="6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grpSp>
        <p:nvGrpSpPr>
          <p:cNvPr id="187395" name="Group 6"/>
          <p:cNvGrpSpPr/>
          <p:nvPr/>
        </p:nvGrpSpPr>
        <p:grpSpPr>
          <a:xfrm>
            <a:off x="1146175" y="1858963"/>
            <a:ext cx="6696075" cy="4857750"/>
            <a:chOff x="0" y="0"/>
            <a:chExt cx="4704" cy="3528"/>
          </a:xfrm>
        </p:grpSpPr>
        <p:pic>
          <p:nvPicPr>
            <p:cNvPr id="187397" name="Picture 7"/>
            <p:cNvPicPr>
              <a:picLocks noChangeAspect="1"/>
            </p:cNvPicPr>
            <p:nvPr/>
          </p:nvPicPr>
          <p:blipFill>
            <a:blip r:embed="rId1"/>
            <a:stretch>
              <a:fillRect/>
            </a:stretch>
          </p:blipFill>
          <p:spPr>
            <a:xfrm>
              <a:off x="0" y="0"/>
              <a:ext cx="4704" cy="3528"/>
            </a:xfrm>
            <a:prstGeom prst="rect">
              <a:avLst/>
            </a:prstGeom>
            <a:noFill/>
            <a:ln w="9525">
              <a:noFill/>
            </a:ln>
          </p:spPr>
        </p:pic>
        <p:sp>
          <p:nvSpPr>
            <p:cNvPr id="187398" name="Line 8"/>
            <p:cNvSpPr/>
            <p:nvPr/>
          </p:nvSpPr>
          <p:spPr>
            <a:xfrm>
              <a:off x="1920" y="3264"/>
              <a:ext cx="48" cy="0"/>
            </a:xfrm>
            <a:prstGeom prst="line">
              <a:avLst/>
            </a:prstGeom>
            <a:ln w="15875" cap="flat" cmpd="sng">
              <a:solidFill>
                <a:srgbClr val="FF0000"/>
              </a:solidFill>
              <a:prstDash val="solid"/>
              <a:bevel/>
              <a:headEnd type="none" w="med" len="med"/>
              <a:tailEnd type="none" w="med" len="med"/>
            </a:ln>
          </p:spPr>
        </p:sp>
        <p:sp>
          <p:nvSpPr>
            <p:cNvPr id="187399" name="Line 9"/>
            <p:cNvSpPr/>
            <p:nvPr/>
          </p:nvSpPr>
          <p:spPr>
            <a:xfrm>
              <a:off x="2976" y="3264"/>
              <a:ext cx="48" cy="0"/>
            </a:xfrm>
            <a:prstGeom prst="line">
              <a:avLst/>
            </a:prstGeom>
            <a:ln w="15875" cap="flat" cmpd="sng">
              <a:solidFill>
                <a:srgbClr val="FF0000"/>
              </a:solidFill>
              <a:prstDash val="solid"/>
              <a:bevel/>
              <a:headEnd type="none" w="med" len="med"/>
              <a:tailEnd type="none" w="med" len="med"/>
            </a:ln>
          </p:spPr>
        </p:sp>
        <p:sp>
          <p:nvSpPr>
            <p:cNvPr id="187400" name="Line 10"/>
            <p:cNvSpPr/>
            <p:nvPr/>
          </p:nvSpPr>
          <p:spPr>
            <a:xfrm>
              <a:off x="2976" y="3120"/>
              <a:ext cx="48" cy="0"/>
            </a:xfrm>
            <a:prstGeom prst="line">
              <a:avLst/>
            </a:prstGeom>
            <a:ln w="15875" cap="flat" cmpd="sng">
              <a:solidFill>
                <a:srgbClr val="FF0000"/>
              </a:solidFill>
              <a:prstDash val="solid"/>
              <a:bevel/>
              <a:headEnd type="none" w="med" len="med"/>
              <a:tailEnd type="none" w="med" len="med"/>
            </a:ln>
          </p:spPr>
        </p:sp>
        <p:sp>
          <p:nvSpPr>
            <p:cNvPr id="187401" name="Line 11"/>
            <p:cNvSpPr/>
            <p:nvPr/>
          </p:nvSpPr>
          <p:spPr>
            <a:xfrm>
              <a:off x="1920" y="3120"/>
              <a:ext cx="48" cy="0"/>
            </a:xfrm>
            <a:prstGeom prst="line">
              <a:avLst/>
            </a:prstGeom>
            <a:ln w="15875" cap="flat" cmpd="sng">
              <a:solidFill>
                <a:srgbClr val="FF0000"/>
              </a:solidFill>
              <a:prstDash val="solid"/>
              <a:bevel/>
              <a:headEnd type="none" w="med" len="med"/>
              <a:tailEnd type="none" w="med" len="med"/>
            </a:ln>
          </p:spPr>
        </p:sp>
        <p:sp>
          <p:nvSpPr>
            <p:cNvPr id="187402" name="Text Box 12"/>
            <p:cNvSpPr txBox="1"/>
            <p:nvPr/>
          </p:nvSpPr>
          <p:spPr>
            <a:xfrm>
              <a:off x="3456" y="3312"/>
              <a:ext cx="144" cy="134"/>
            </a:xfrm>
            <a:prstGeom prst="rect">
              <a:avLst/>
            </a:prstGeom>
            <a:solidFill>
              <a:schemeClr val="bg1"/>
            </a:solid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400" dirty="0">
                  <a:solidFill>
                    <a:schemeClr val="tx1"/>
                  </a:solidFill>
                  <a:ea typeface="楷体_GB2312"/>
                </a:rPr>
                <a:t>7</a:t>
              </a:r>
              <a:endParaRPr lang="en-US" altLang="zh-CN" sz="1400" dirty="0">
                <a:solidFill>
                  <a:schemeClr val="tx1"/>
                </a:solidFill>
                <a:ea typeface="楷体_GB2312"/>
              </a:endParaRPr>
            </a:p>
          </p:txBody>
        </p:sp>
        <p:grpSp>
          <p:nvGrpSpPr>
            <p:cNvPr id="187403" name="Group 13"/>
            <p:cNvGrpSpPr/>
            <p:nvPr/>
          </p:nvGrpSpPr>
          <p:grpSpPr>
            <a:xfrm>
              <a:off x="3408" y="3040"/>
              <a:ext cx="1015" cy="416"/>
              <a:chOff x="0" y="0"/>
              <a:chExt cx="2539" cy="1041"/>
            </a:xfrm>
          </p:grpSpPr>
          <p:sp>
            <p:nvSpPr>
              <p:cNvPr id="187404" name="Text Box 14"/>
              <p:cNvSpPr txBox="1"/>
              <p:nvPr/>
            </p:nvSpPr>
            <p:spPr>
              <a:xfrm>
                <a:off x="2290" y="693"/>
                <a:ext cx="249" cy="327"/>
              </a:xfrm>
              <a:prstGeom prst="rect">
                <a:avLst/>
              </a:prstGeom>
              <a:solidFill>
                <a:srgbClr val="FFFFFF"/>
              </a:solid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None/>
                </a:pPr>
                <a:r>
                  <a:rPr lang="en-US" altLang="zh-CN" sz="1000" dirty="0">
                    <a:solidFill>
                      <a:schemeClr val="tx1"/>
                    </a:solidFill>
                    <a:ea typeface="楷体_GB2312"/>
                  </a:rPr>
                  <a:t>0</a:t>
                </a:r>
                <a:endParaRPr lang="en-US" altLang="zh-CN" sz="1000" dirty="0">
                  <a:solidFill>
                    <a:schemeClr val="tx1"/>
                  </a:solidFill>
                  <a:ea typeface="楷体_GB2312"/>
                </a:endParaRPr>
              </a:p>
            </p:txBody>
          </p:sp>
          <p:sp>
            <p:nvSpPr>
              <p:cNvPr id="187405" name="Text Box 15"/>
              <p:cNvSpPr txBox="1"/>
              <p:nvPr/>
            </p:nvSpPr>
            <p:spPr>
              <a:xfrm>
                <a:off x="0" y="714"/>
                <a:ext cx="258" cy="327"/>
              </a:xfrm>
              <a:prstGeom prst="rect">
                <a:avLst/>
              </a:prstGeom>
              <a:solidFill>
                <a:srgbClr val="FFFFFF"/>
              </a:solid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None/>
                </a:pPr>
                <a:r>
                  <a:rPr lang="en-US" altLang="zh-CN" sz="1000" dirty="0">
                    <a:solidFill>
                      <a:schemeClr val="tx1"/>
                    </a:solidFill>
                    <a:ea typeface="楷体_GB2312"/>
                  </a:rPr>
                  <a:t>7</a:t>
                </a:r>
                <a:endParaRPr lang="en-US" altLang="zh-CN" sz="1000" dirty="0">
                  <a:solidFill>
                    <a:schemeClr val="tx1"/>
                  </a:solidFill>
                  <a:ea typeface="楷体_GB2312"/>
                </a:endParaRPr>
              </a:p>
            </p:txBody>
          </p:sp>
          <p:sp>
            <p:nvSpPr>
              <p:cNvPr id="187406" name="Rectangle 16"/>
              <p:cNvSpPr/>
              <p:nvPr/>
            </p:nvSpPr>
            <p:spPr>
              <a:xfrm>
                <a:off x="28" y="0"/>
                <a:ext cx="2400" cy="730"/>
              </a:xfrm>
              <a:prstGeom prst="rect">
                <a:avLst/>
              </a:prstGeom>
              <a:solidFill>
                <a:srgbClr val="FFFFFF"/>
              </a:solidFill>
              <a:ln w="1587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187407" name="Line 17"/>
              <p:cNvSpPr/>
              <p:nvPr/>
            </p:nvSpPr>
            <p:spPr>
              <a:xfrm>
                <a:off x="26" y="381"/>
                <a:ext cx="2390" cy="0"/>
              </a:xfrm>
              <a:prstGeom prst="line">
                <a:avLst/>
              </a:prstGeom>
              <a:ln w="15875" cap="flat" cmpd="sng">
                <a:solidFill>
                  <a:srgbClr val="FF0000"/>
                </a:solidFill>
                <a:prstDash val="solid"/>
                <a:bevel/>
                <a:headEnd type="none" w="med" len="med"/>
                <a:tailEnd type="none" w="med" len="med"/>
              </a:ln>
            </p:spPr>
          </p:sp>
          <p:sp>
            <p:nvSpPr>
              <p:cNvPr id="187408" name="Line 18"/>
              <p:cNvSpPr/>
              <p:nvPr/>
            </p:nvSpPr>
            <p:spPr>
              <a:xfrm>
                <a:off x="34" y="201"/>
                <a:ext cx="2390" cy="0"/>
              </a:xfrm>
              <a:prstGeom prst="line">
                <a:avLst/>
              </a:prstGeom>
              <a:ln w="15875" cap="flat" cmpd="sng">
                <a:solidFill>
                  <a:srgbClr val="FF0000"/>
                </a:solidFill>
                <a:prstDash val="dash"/>
                <a:bevel/>
                <a:headEnd type="none" w="med" len="med"/>
                <a:tailEnd type="none" w="med" len="med"/>
              </a:ln>
            </p:spPr>
          </p:sp>
          <p:sp>
            <p:nvSpPr>
              <p:cNvPr id="187409" name="Line 19"/>
              <p:cNvSpPr/>
              <p:nvPr/>
            </p:nvSpPr>
            <p:spPr>
              <a:xfrm>
                <a:off x="40" y="567"/>
                <a:ext cx="2390" cy="0"/>
              </a:xfrm>
              <a:prstGeom prst="line">
                <a:avLst/>
              </a:prstGeom>
              <a:ln w="15875" cap="flat" cmpd="sng">
                <a:solidFill>
                  <a:srgbClr val="FF0000"/>
                </a:solidFill>
                <a:prstDash val="dash"/>
                <a:bevel/>
                <a:headEnd type="none" w="med" len="med"/>
                <a:tailEnd type="none" w="med" len="med"/>
              </a:ln>
            </p:spPr>
          </p:sp>
        </p:grpSp>
      </p:grpSp>
      <p:sp>
        <p:nvSpPr>
          <p:cNvPr id="187396" name="文本框 18"/>
          <p:cNvSpPr txBox="1"/>
          <p:nvPr/>
        </p:nvSpPr>
        <p:spPr>
          <a:xfrm>
            <a:off x="6362700" y="3243263"/>
            <a:ext cx="2160588" cy="12001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3600" b="0" dirty="0">
                <a:solidFill>
                  <a:schemeClr val="tx1"/>
                </a:solidFill>
                <a:latin typeface="楷体_GB2312"/>
                <a:ea typeface="楷体_GB2312"/>
              </a:rPr>
              <a:t>8086</a:t>
            </a:r>
            <a:r>
              <a:rPr lang="zh-CN" altLang="en-US" sz="3600" b="0" dirty="0">
                <a:solidFill>
                  <a:schemeClr val="tx1"/>
                </a:solidFill>
                <a:latin typeface="楷体_GB2312"/>
                <a:ea typeface="楷体_GB2312"/>
              </a:rPr>
              <a:t>中断向量表</a:t>
            </a:r>
            <a:endParaRPr lang="zh-CN" altLang="en-US" sz="3600" b="0" dirty="0">
              <a:solidFill>
                <a:schemeClr val="tx1"/>
              </a:solidFill>
              <a:latin typeface="楷体_GB2312"/>
              <a:ea typeface="楷体_GB2312"/>
            </a:endParaRPr>
          </a:p>
        </p:txBody>
      </p:sp>
    </p:spTree>
  </p:cSld>
  <p:clrMapOvr>
    <a:masterClrMapping/>
  </p:clrMapOvr>
  <p:transition spd="slow">
    <p:zo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Rectangle 2"/>
          <p:cNvSpPr>
            <a:spLocks noGrp="1"/>
          </p:cNvSpPr>
          <p:nvPr>
            <p:ph type="title" idx="4294967295"/>
          </p:nvPr>
        </p:nvSpPr>
        <p:spPr>
          <a:xfrm>
            <a:off x="1042988" y="1009650"/>
            <a:ext cx="7772400" cy="609600"/>
          </a:xfrm>
        </p:spPr>
        <p:txBody>
          <a:bodyPr vert="horz" wrap="square" lIns="91440" tIns="45720" rIns="91440" bIns="45720" anchor="b" anchorCtr="0"/>
          <a:p>
            <a:r>
              <a:rPr lang="en-US" altLang="zh-CN" b="1" dirty="0">
                <a:solidFill>
                  <a:srgbClr val="C00000"/>
                </a:solidFill>
                <a:latin typeface="隶书" panose="02010509060101010101" pitchFamily="49" charset="-122"/>
              </a:rPr>
              <a:t>8086</a:t>
            </a:r>
            <a:r>
              <a:rPr lang="zh-CN" altLang="en-US" b="1" dirty="0">
                <a:solidFill>
                  <a:srgbClr val="C00000"/>
                </a:solidFill>
                <a:latin typeface="隶书" panose="02010509060101010101" pitchFamily="49" charset="-122"/>
              </a:rPr>
              <a:t>中断矢量表的初始化</a:t>
            </a:r>
            <a:endParaRPr lang="zh-CN" altLang="en-US" b="1" dirty="0">
              <a:solidFill>
                <a:srgbClr val="C00000"/>
              </a:solidFill>
              <a:latin typeface="隶书" panose="02010509060101010101" pitchFamily="49" charset="-122"/>
            </a:endParaRPr>
          </a:p>
        </p:txBody>
      </p:sp>
      <p:sp>
        <p:nvSpPr>
          <p:cNvPr id="117763" name="Rectangle 3"/>
          <p:cNvSpPr>
            <a:spLocks noGrp="1"/>
          </p:cNvSpPr>
          <p:nvPr>
            <p:ph type="body" idx="4294967295"/>
          </p:nvPr>
        </p:nvSpPr>
        <p:spPr>
          <a:xfrm>
            <a:off x="685800" y="3429000"/>
            <a:ext cx="7772400" cy="2971800"/>
          </a:xfrm>
        </p:spPr>
        <p:txBody>
          <a:bodyPr vert="horz" wrap="square" lIns="91440" tIns="45720" rIns="91440" bIns="45720" anchor="t" anchorCtr="0"/>
          <a:p>
            <a:pPr>
              <a:lnSpc>
                <a:spcPct val="90000"/>
              </a:lnSpc>
              <a:buNone/>
            </a:pPr>
            <a:r>
              <a:rPr lang="zh-CN" altLang="en-US" sz="2400" dirty="0">
                <a:solidFill>
                  <a:srgbClr val="FF0000"/>
                </a:solidFill>
                <a:ea typeface="黑体" panose="02010609060101010101" pitchFamily="49" charset="-122"/>
              </a:rPr>
              <a:t>格式</a:t>
            </a:r>
            <a:r>
              <a:rPr lang="zh-CN" altLang="en-US" sz="2400" dirty="0">
                <a:ea typeface="黑体" panose="02010609060101010101" pitchFamily="49" charset="-122"/>
              </a:rPr>
              <a:t>：</a:t>
            </a:r>
            <a:endParaRPr lang="zh-CN" altLang="en-US" sz="24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endParaRPr lang="zh-CN" altLang="en-US" sz="24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MOV    </a:t>
            </a:r>
            <a:r>
              <a:rPr lang="en-US" altLang="zh-CN" sz="2400" dirty="0">
                <a:solidFill>
                  <a:srgbClr val="FF0000"/>
                </a:solidFill>
                <a:ea typeface="黑体" panose="02010609060101010101" pitchFamily="49" charset="-122"/>
              </a:rPr>
              <a:t>DX</a:t>
            </a:r>
            <a:r>
              <a:rPr lang="zh-CN" altLang="en-US" sz="2400" dirty="0">
                <a:ea typeface="黑体" panose="02010609060101010101" pitchFamily="49" charset="-122"/>
              </a:rPr>
              <a:t>，</a:t>
            </a:r>
            <a:r>
              <a:rPr lang="en-US" altLang="zh-CN" sz="2400" dirty="0">
                <a:ea typeface="黑体" panose="02010609060101010101" pitchFamily="49" charset="-122"/>
              </a:rPr>
              <a:t>OFFSET  INT   </a:t>
            </a:r>
            <a:r>
              <a:rPr lang="zh-CN" altLang="en-US" sz="2000" dirty="0">
                <a:ea typeface="黑体" panose="02010609060101010101" pitchFamily="49" charset="-122"/>
              </a:rPr>
              <a:t>；中断服务程序偏移量→</a:t>
            </a:r>
            <a:r>
              <a:rPr lang="en-US" altLang="zh-CN" sz="2000" dirty="0">
                <a:ea typeface="黑体" panose="02010609060101010101" pitchFamily="49" charset="-122"/>
              </a:rPr>
              <a:t>DX</a:t>
            </a:r>
            <a:endParaRPr lang="en-US" altLang="zh-CN" sz="2000" dirty="0">
              <a:ea typeface="黑体" panose="02010609060101010101" pitchFamily="49" charset="-122"/>
            </a:endParaRPr>
          </a:p>
          <a:p>
            <a:pPr>
              <a:lnSpc>
                <a:spcPct val="90000"/>
              </a:lnSpc>
              <a:spcBef>
                <a:spcPct val="0"/>
              </a:spcBef>
              <a:buNone/>
            </a:pPr>
            <a:r>
              <a:rPr lang="en-US" altLang="zh-CN" sz="2400" dirty="0">
                <a:ea typeface="黑体" panose="02010609060101010101" pitchFamily="49" charset="-122"/>
              </a:rPr>
              <a:t>	MOV    AX</a:t>
            </a:r>
            <a:r>
              <a:rPr lang="zh-CN" altLang="en-US" sz="2400" dirty="0">
                <a:ea typeface="黑体" panose="02010609060101010101" pitchFamily="49" charset="-122"/>
              </a:rPr>
              <a:t>，</a:t>
            </a:r>
            <a:r>
              <a:rPr lang="en-US" altLang="zh-CN" sz="2400" dirty="0">
                <a:ea typeface="黑体" panose="02010609060101010101" pitchFamily="49" charset="-122"/>
              </a:rPr>
              <a:t>SEG  INT</a:t>
            </a:r>
            <a:endParaRPr lang="en-US" altLang="zh-CN" sz="2000" dirty="0">
              <a:ea typeface="黑体" panose="02010609060101010101" pitchFamily="49" charset="-122"/>
            </a:endParaRPr>
          </a:p>
          <a:p>
            <a:pPr>
              <a:lnSpc>
                <a:spcPct val="90000"/>
              </a:lnSpc>
              <a:spcBef>
                <a:spcPct val="0"/>
              </a:spcBef>
              <a:buNone/>
            </a:pPr>
            <a:r>
              <a:rPr lang="en-US" altLang="zh-CN" sz="2400" dirty="0">
                <a:ea typeface="黑体" panose="02010609060101010101" pitchFamily="49" charset="-122"/>
              </a:rPr>
              <a:t>	MOV    </a:t>
            </a:r>
            <a:r>
              <a:rPr lang="en-US" altLang="zh-CN" sz="2400" dirty="0">
                <a:solidFill>
                  <a:srgbClr val="FF0000"/>
                </a:solidFill>
                <a:ea typeface="黑体" panose="02010609060101010101" pitchFamily="49" charset="-122"/>
              </a:rPr>
              <a:t>DS</a:t>
            </a:r>
            <a:r>
              <a:rPr lang="zh-CN" altLang="en-US" sz="2400" dirty="0">
                <a:ea typeface="黑体" panose="02010609060101010101" pitchFamily="49" charset="-122"/>
              </a:rPr>
              <a:t>，</a:t>
            </a:r>
            <a:r>
              <a:rPr lang="en-US" altLang="zh-CN" sz="2400" dirty="0">
                <a:ea typeface="黑体" panose="02010609060101010101" pitchFamily="49" charset="-122"/>
              </a:rPr>
              <a:t>AX				</a:t>
            </a:r>
            <a:endParaRPr lang="en-US" altLang="zh-CN" sz="2400" dirty="0">
              <a:ea typeface="黑体" panose="02010609060101010101" pitchFamily="49" charset="-122"/>
            </a:endParaRPr>
          </a:p>
          <a:p>
            <a:pPr>
              <a:lnSpc>
                <a:spcPct val="90000"/>
              </a:lnSpc>
              <a:spcBef>
                <a:spcPct val="0"/>
              </a:spcBef>
              <a:buNone/>
            </a:pPr>
            <a:r>
              <a:rPr lang="en-US" altLang="zh-CN" sz="2400" dirty="0">
                <a:ea typeface="黑体" panose="02010609060101010101" pitchFamily="49" charset="-122"/>
              </a:rPr>
              <a:t>	MOV    AL</a:t>
            </a:r>
            <a:r>
              <a:rPr lang="zh-CN" altLang="en-US" sz="2400" dirty="0">
                <a:ea typeface="黑体" panose="02010609060101010101" pitchFamily="49" charset="-122"/>
              </a:rPr>
              <a:t>，</a:t>
            </a:r>
            <a:r>
              <a:rPr lang="en-US" altLang="zh-CN" sz="2400" dirty="0">
                <a:ea typeface="黑体" panose="02010609060101010101" pitchFamily="49" charset="-122"/>
              </a:rPr>
              <a:t>n		        </a:t>
            </a:r>
            <a:r>
              <a:rPr lang="zh-CN" altLang="en-US" sz="2000" dirty="0">
                <a:ea typeface="黑体" panose="02010609060101010101" pitchFamily="49" charset="-122"/>
              </a:rPr>
              <a:t>；中断矢量号</a:t>
            </a:r>
            <a:r>
              <a:rPr lang="en-US" altLang="zh-CN" sz="2000" dirty="0">
                <a:ea typeface="黑体" panose="02010609060101010101" pitchFamily="49" charset="-122"/>
              </a:rPr>
              <a:t>n→AL</a:t>
            </a:r>
            <a:endParaRPr lang="en-US" altLang="zh-CN" sz="2000" dirty="0">
              <a:ea typeface="黑体" panose="02010609060101010101" pitchFamily="49" charset="-122"/>
            </a:endParaRPr>
          </a:p>
          <a:p>
            <a:pPr>
              <a:lnSpc>
                <a:spcPct val="90000"/>
              </a:lnSpc>
              <a:spcBef>
                <a:spcPct val="0"/>
              </a:spcBef>
              <a:buNone/>
            </a:pPr>
            <a:r>
              <a:rPr lang="en-US" altLang="zh-CN" sz="2400" dirty="0">
                <a:ea typeface="黑体" panose="02010609060101010101" pitchFamily="49" charset="-122"/>
              </a:rPr>
              <a:t>	MOV    AH</a:t>
            </a:r>
            <a:r>
              <a:rPr lang="zh-CN" altLang="en-US" sz="2400" dirty="0">
                <a:ea typeface="黑体" panose="02010609060101010101" pitchFamily="49" charset="-122"/>
              </a:rPr>
              <a:t>，</a:t>
            </a:r>
            <a:r>
              <a:rPr lang="en-US" altLang="zh-CN" sz="2400" dirty="0">
                <a:ea typeface="黑体" panose="02010609060101010101" pitchFamily="49" charset="-122"/>
              </a:rPr>
              <a:t>25H                  </a:t>
            </a:r>
            <a:r>
              <a:rPr lang="zh-CN" altLang="en-US" sz="2000" dirty="0">
                <a:ea typeface="黑体" panose="02010609060101010101" pitchFamily="49" charset="-122"/>
              </a:rPr>
              <a:t>；功能号</a:t>
            </a:r>
            <a:r>
              <a:rPr lang="en-US" altLang="zh-CN" sz="2000" dirty="0">
                <a:ea typeface="黑体" panose="02010609060101010101" pitchFamily="49" charset="-122"/>
              </a:rPr>
              <a:t>25H→AH</a:t>
            </a:r>
            <a:endParaRPr lang="en-US" altLang="zh-CN" sz="2000" dirty="0">
              <a:ea typeface="黑体" panose="02010609060101010101" pitchFamily="49" charset="-122"/>
            </a:endParaRPr>
          </a:p>
          <a:p>
            <a:pPr>
              <a:lnSpc>
                <a:spcPct val="90000"/>
              </a:lnSpc>
              <a:spcBef>
                <a:spcPct val="0"/>
              </a:spcBef>
              <a:buNone/>
            </a:pPr>
            <a:r>
              <a:rPr lang="en-US" altLang="zh-CN" sz="2400" dirty="0">
                <a:ea typeface="黑体" panose="02010609060101010101" pitchFamily="49" charset="-122"/>
              </a:rPr>
              <a:t>	INT      21H</a:t>
            </a:r>
            <a:endParaRPr lang="en-US" altLang="zh-CN" sz="2400" dirty="0">
              <a:ea typeface="黑体" panose="02010609060101010101" pitchFamily="49" charset="-122"/>
            </a:endParaRPr>
          </a:p>
          <a:p>
            <a:pPr>
              <a:lnSpc>
                <a:spcPct val="90000"/>
              </a:lnSpc>
              <a:spcBef>
                <a:spcPct val="0"/>
              </a:spcBef>
              <a:buNone/>
            </a:pPr>
            <a:r>
              <a:rPr lang="en-US" altLang="zh-CN" sz="2400" dirty="0">
                <a:ea typeface="黑体" panose="02010609060101010101" pitchFamily="49" charset="-122"/>
              </a:rPr>
              <a:t>      ┇</a:t>
            </a:r>
            <a:endParaRPr lang="en-US" altLang="zh-CN" sz="2400" dirty="0">
              <a:ea typeface="黑体" panose="02010609060101010101" pitchFamily="49" charset="-122"/>
            </a:endParaRPr>
          </a:p>
        </p:txBody>
      </p:sp>
      <p:sp>
        <p:nvSpPr>
          <p:cNvPr id="188420" name="Rectangle 4"/>
          <p:cNvSpPr/>
          <p:nvPr/>
        </p:nvSpPr>
        <p:spPr>
          <a:xfrm>
            <a:off x="685800" y="1828800"/>
            <a:ext cx="7772400" cy="9144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Aft>
                <a:spcPct val="0"/>
              </a:spcAft>
              <a:buClrTx/>
              <a:buSzTx/>
              <a:buNone/>
            </a:pPr>
            <a:r>
              <a:rPr lang="zh-CN" altLang="en-US" dirty="0">
                <a:solidFill>
                  <a:srgbClr val="FF0000"/>
                </a:solidFill>
                <a:latin typeface="Times New Roman" panose="02020603050405020304" pitchFamily="18" charset="0"/>
                <a:ea typeface="黑体" panose="02010609060101010101" pitchFamily="49" charset="-122"/>
              </a:rPr>
              <a:t>方法一</a:t>
            </a:r>
            <a:r>
              <a:rPr lang="zh-CN" altLang="en-US" sz="2400" dirty="0">
                <a:solidFill>
                  <a:schemeClr val="tx1"/>
                </a:solidFill>
                <a:latin typeface="Times New Roman" panose="02020603050405020304" pitchFamily="18" charset="0"/>
                <a:ea typeface="黑体" panose="02010609060101010101" pitchFamily="49" charset="-122"/>
              </a:rPr>
              <a:t>：采用</a:t>
            </a:r>
            <a:r>
              <a:rPr lang="en-US" altLang="zh-CN" sz="2400" dirty="0">
                <a:solidFill>
                  <a:schemeClr val="tx1"/>
                </a:solidFill>
                <a:latin typeface="Times New Roman" panose="02020603050405020304" pitchFamily="18" charset="0"/>
                <a:ea typeface="黑体" panose="02010609060101010101" pitchFamily="49" charset="-122"/>
              </a:rPr>
              <a:t>DOS</a:t>
            </a:r>
            <a:r>
              <a:rPr lang="zh-CN" altLang="en-US" sz="2400" dirty="0">
                <a:solidFill>
                  <a:schemeClr val="tx1"/>
                </a:solidFill>
                <a:latin typeface="Times New Roman" panose="02020603050405020304" pitchFamily="18" charset="0"/>
                <a:ea typeface="黑体" panose="02010609060101010101" pitchFamily="49" charset="-122"/>
              </a:rPr>
              <a:t>系统功能调用，即</a:t>
            </a:r>
            <a:r>
              <a:rPr lang="en-US" altLang="zh-CN" sz="2400" dirty="0">
                <a:solidFill>
                  <a:schemeClr val="tx1"/>
                </a:solidFill>
                <a:latin typeface="Times New Roman" panose="02020603050405020304" pitchFamily="18" charset="0"/>
                <a:ea typeface="黑体" panose="02010609060101010101" pitchFamily="49" charset="-122"/>
              </a:rPr>
              <a:t>INT 21H</a:t>
            </a:r>
            <a:r>
              <a:rPr lang="zh-CN" altLang="en-US" sz="2400" dirty="0">
                <a:solidFill>
                  <a:schemeClr val="tx1"/>
                </a:solidFill>
                <a:latin typeface="Times New Roman" panose="02020603050405020304" pitchFamily="18" charset="0"/>
                <a:ea typeface="黑体" panose="02010609060101010101" pitchFamily="49" charset="-122"/>
              </a:rPr>
              <a:t>的</a:t>
            </a:r>
            <a:r>
              <a:rPr lang="en-US" altLang="zh-CN" sz="2400" dirty="0">
                <a:solidFill>
                  <a:schemeClr val="tx1"/>
                </a:solidFill>
                <a:latin typeface="Times New Roman" panose="02020603050405020304" pitchFamily="18" charset="0"/>
                <a:ea typeface="黑体" panose="02010609060101010101" pitchFamily="49" charset="-122"/>
              </a:rPr>
              <a:t>25H</a:t>
            </a:r>
            <a:r>
              <a:rPr lang="zh-CN" altLang="en-US" sz="2400" dirty="0">
                <a:solidFill>
                  <a:schemeClr val="tx1"/>
                </a:solidFill>
                <a:latin typeface="Times New Roman" panose="02020603050405020304" pitchFamily="18" charset="0"/>
                <a:ea typeface="黑体" panose="02010609060101010101" pitchFamily="49" charset="-122"/>
              </a:rPr>
              <a:t>号</a:t>
            </a:r>
            <a:r>
              <a:rPr lang="en-US" altLang="zh-CN" sz="2400" dirty="0">
                <a:solidFill>
                  <a:schemeClr val="tx1"/>
                </a:solidFill>
                <a:latin typeface="Times New Roman" panose="02020603050405020304" pitchFamily="18" charset="0"/>
                <a:ea typeface="黑体" panose="02010609060101010101" pitchFamily="49" charset="-122"/>
              </a:rPr>
              <a:t>(</a:t>
            </a:r>
            <a:r>
              <a:rPr lang="zh-CN" altLang="en-US" sz="2400" dirty="0">
                <a:solidFill>
                  <a:schemeClr val="tx1"/>
                </a:solidFill>
                <a:latin typeface="Times New Roman" panose="02020603050405020304" pitchFamily="18" charset="0"/>
                <a:ea typeface="黑体" panose="02010609060101010101" pitchFamily="49" charset="-122"/>
              </a:rPr>
              <a:t>设置中断向量</a:t>
            </a:r>
            <a:r>
              <a:rPr lang="en-US" altLang="zh-CN" sz="2400" dirty="0">
                <a:solidFill>
                  <a:schemeClr val="tx1"/>
                </a:solidFill>
                <a:latin typeface="Times New Roman" panose="02020603050405020304" pitchFamily="18" charset="0"/>
                <a:ea typeface="黑体" panose="02010609060101010101" pitchFamily="49" charset="-122"/>
              </a:rPr>
              <a:t>)</a:t>
            </a:r>
            <a:r>
              <a:rPr lang="zh-CN" altLang="en-US" sz="2400" dirty="0">
                <a:solidFill>
                  <a:schemeClr val="tx1"/>
                </a:solidFill>
                <a:latin typeface="Times New Roman" panose="02020603050405020304" pitchFamily="18" charset="0"/>
                <a:ea typeface="黑体" panose="02010609060101010101" pitchFamily="49" charset="-122"/>
              </a:rPr>
              <a:t>功能调用</a:t>
            </a:r>
            <a:endParaRPr lang="zh-CN" altLang="en-US" sz="2400" dirty="0">
              <a:solidFill>
                <a:schemeClr val="tx1"/>
              </a:solidFill>
              <a:latin typeface="Times New Roman" panose="02020603050405020304" pitchFamily="18" charset="0"/>
              <a:ea typeface="黑体" panose="02010609060101010101" pitchFamily="49" charset="-122"/>
            </a:endParaRPr>
          </a:p>
        </p:txBody>
      </p:sp>
      <p:grpSp>
        <p:nvGrpSpPr>
          <p:cNvPr id="117765" name="Group 7"/>
          <p:cNvGrpSpPr/>
          <p:nvPr/>
        </p:nvGrpSpPr>
        <p:grpSpPr>
          <a:xfrm>
            <a:off x="5029200" y="4572000"/>
            <a:ext cx="3581400" cy="533400"/>
            <a:chOff x="0" y="0"/>
            <a:chExt cx="2256" cy="336"/>
          </a:xfrm>
        </p:grpSpPr>
        <p:sp>
          <p:nvSpPr>
            <p:cNvPr id="188423" name="Text Box 5"/>
            <p:cNvSpPr txBox="1"/>
            <p:nvPr/>
          </p:nvSpPr>
          <p:spPr>
            <a:xfrm>
              <a:off x="48" y="0"/>
              <a:ext cx="2208" cy="2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2000" dirty="0">
                  <a:solidFill>
                    <a:schemeClr val="tx1"/>
                  </a:solidFill>
                  <a:ea typeface="黑体" panose="02010609060101010101" pitchFamily="49" charset="-122"/>
                </a:rPr>
                <a:t>；中断服务程序段地址→</a:t>
              </a:r>
              <a:r>
                <a:rPr lang="en-US" altLang="zh-CN" sz="2000" dirty="0">
                  <a:solidFill>
                    <a:schemeClr val="tx1"/>
                  </a:solidFill>
                  <a:ea typeface="黑体" panose="02010609060101010101" pitchFamily="49" charset="-122"/>
                </a:rPr>
                <a:t>AX</a:t>
              </a:r>
              <a:endParaRPr lang="en-US" altLang="zh-CN" sz="2000" dirty="0">
                <a:solidFill>
                  <a:schemeClr val="tx1"/>
                </a:solidFill>
                <a:ea typeface="黑体" panose="02010609060101010101" pitchFamily="49" charset="-122"/>
              </a:endParaRPr>
            </a:p>
          </p:txBody>
        </p:sp>
        <p:sp>
          <p:nvSpPr>
            <p:cNvPr id="188424" name="AutoShape 6"/>
            <p:cNvSpPr/>
            <p:nvPr/>
          </p:nvSpPr>
          <p:spPr>
            <a:xfrm>
              <a:off x="0" y="0"/>
              <a:ext cx="96" cy="336"/>
            </a:xfrm>
            <a:prstGeom prst="rightBrace">
              <a:avLst>
                <a:gd name="adj1" fmla="val 28972"/>
                <a:gd name="adj2" fmla="val 50000"/>
              </a:avLst>
            </a:prstGeom>
            <a:noFill/>
            <a:ln w="19050"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grpSp>
      <p:sp>
        <p:nvSpPr>
          <p:cNvPr id="117768" name="Rectangle 8"/>
          <p:cNvSpPr/>
          <p:nvPr/>
        </p:nvSpPr>
        <p:spPr>
          <a:xfrm>
            <a:off x="685800" y="2895600"/>
            <a:ext cx="7924800" cy="4572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Aft>
                <a:spcPct val="0"/>
              </a:spcAft>
              <a:buClrTx/>
              <a:buSzTx/>
              <a:buNone/>
            </a:pPr>
            <a:r>
              <a:rPr lang="zh-CN" altLang="en-US" sz="2400" dirty="0">
                <a:solidFill>
                  <a:srgbClr val="FF0000"/>
                </a:solidFill>
                <a:latin typeface="Times New Roman" panose="02020603050405020304" pitchFamily="18" charset="0"/>
                <a:ea typeface="黑体" panose="02010609060101010101" pitchFamily="49" charset="-122"/>
              </a:rPr>
              <a:t>已知</a:t>
            </a:r>
            <a:r>
              <a:rPr lang="zh-CN" altLang="en-US" sz="2400" dirty="0">
                <a:solidFill>
                  <a:schemeClr val="tx1"/>
                </a:solidFill>
                <a:latin typeface="Times New Roman" panose="02020603050405020304" pitchFamily="18" charset="0"/>
                <a:ea typeface="黑体" panose="02010609060101010101" pitchFamily="49" charset="-122"/>
              </a:rPr>
              <a:t>：某一中断服务程序的入口地址为</a:t>
            </a:r>
            <a:r>
              <a:rPr lang="en-US" altLang="zh-CN" sz="2400" dirty="0">
                <a:solidFill>
                  <a:schemeClr val="tx1"/>
                </a:solidFill>
                <a:latin typeface="Times New Roman" panose="02020603050405020304" pitchFamily="18" charset="0"/>
                <a:ea typeface="黑体" panose="02010609060101010101" pitchFamily="49" charset="-122"/>
              </a:rPr>
              <a:t>INT</a:t>
            </a:r>
            <a:r>
              <a:rPr lang="zh-CN" altLang="en-US" sz="2400" dirty="0">
                <a:solidFill>
                  <a:schemeClr val="tx1"/>
                </a:solidFill>
                <a:latin typeface="Times New Roman" panose="02020603050405020304" pitchFamily="18" charset="0"/>
                <a:ea typeface="黑体" panose="02010609060101010101" pitchFamily="49" charset="-122"/>
              </a:rPr>
              <a:t>（逻辑地址）</a:t>
            </a:r>
            <a:endParaRPr lang="zh-CN" altLang="en-US" sz="2400" dirty="0">
              <a:solidFill>
                <a:schemeClr val="tx1"/>
              </a:solidFill>
              <a:latin typeface="Times New Roman" panose="02020603050405020304" pitchFamily="18" charset="0"/>
              <a:ea typeface="黑体" panose="020106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768"/>
                                        </p:tgtEl>
                                        <p:attrNameLst>
                                          <p:attrName>style.visibility</p:attrName>
                                        </p:attrNameLst>
                                      </p:cBhvr>
                                      <p:to>
                                        <p:strVal val="visible"/>
                                      </p:to>
                                    </p:set>
                                    <p:anim calcmode="lin" valueType="num">
                                      <p:cBhvr>
                                        <p:cTn id="7" dur="500" fill="hold"/>
                                        <p:tgtEl>
                                          <p:spTgt spid="117768"/>
                                        </p:tgtEl>
                                        <p:attrNameLst>
                                          <p:attrName>ppt_x</p:attrName>
                                        </p:attrNameLst>
                                      </p:cBhvr>
                                      <p:tavLst>
                                        <p:tav tm="0">
                                          <p:val>
                                            <p:strVal val="0-#ppt_w/2"/>
                                          </p:val>
                                        </p:tav>
                                        <p:tav tm="100000">
                                          <p:val>
                                            <p:strVal val="#ppt_x"/>
                                          </p:val>
                                        </p:tav>
                                      </p:tavLst>
                                    </p:anim>
                                    <p:anim calcmode="lin" valueType="num">
                                      <p:cBhvr>
                                        <p:cTn id="8" dur="500" fill="hold"/>
                                        <p:tgtEl>
                                          <p:spTgt spid="11776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17763"/>
                                        </p:tgtEl>
                                        <p:attrNameLst>
                                          <p:attrName>style.visibility</p:attrName>
                                        </p:attrNameLst>
                                      </p:cBhvr>
                                      <p:to>
                                        <p:strVal val="visible"/>
                                      </p:to>
                                    </p:set>
                                    <p:animEffect transition="in" filter="blinds(vertical)">
                                      <p:cBhvr>
                                        <p:cTn id="13" dur="500"/>
                                        <p:tgtEl>
                                          <p:spTgt spid="11776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117765"/>
                                        </p:tgtEl>
                                        <p:attrNameLst>
                                          <p:attrName>style.visibility</p:attrName>
                                        </p:attrNameLst>
                                      </p:cBhvr>
                                      <p:to>
                                        <p:strVal val="visible"/>
                                      </p:to>
                                    </p:set>
                                    <p:anim calcmode="lin" valueType="num">
                                      <p:cBhvr>
                                        <p:cTn id="18" dur="500" fill="hold"/>
                                        <p:tgtEl>
                                          <p:spTgt spid="117765"/>
                                        </p:tgtEl>
                                        <p:attrNameLst>
                                          <p:attrName>ppt_x</p:attrName>
                                        </p:attrNameLst>
                                      </p:cBhvr>
                                      <p:tavLst>
                                        <p:tav tm="0">
                                          <p:val>
                                            <p:strVal val="1+#ppt_w/2"/>
                                          </p:val>
                                        </p:tav>
                                        <p:tav tm="100000">
                                          <p:val>
                                            <p:strVal val="#ppt_x"/>
                                          </p:val>
                                        </p:tav>
                                      </p:tavLst>
                                    </p:anim>
                                    <p:anim calcmode="lin" valueType="num">
                                      <p:cBhvr>
                                        <p:cTn id="19" dur="500" fill="hold"/>
                                        <p:tgtEl>
                                          <p:spTgt spid="1177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p:bldP spid="11776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Rectangle 2"/>
          <p:cNvSpPr>
            <a:spLocks noGrp="1"/>
          </p:cNvSpPr>
          <p:nvPr>
            <p:ph type="title" idx="4294967295"/>
          </p:nvPr>
        </p:nvSpPr>
        <p:spPr>
          <a:xfrm>
            <a:off x="685800" y="838200"/>
            <a:ext cx="8458200" cy="762000"/>
          </a:xfrm>
        </p:spPr>
        <p:txBody>
          <a:bodyPr vert="horz" wrap="square" lIns="91440" tIns="45720" rIns="91440" bIns="45720" anchor="b" anchorCtr="0"/>
          <a:p>
            <a:r>
              <a:rPr lang="zh-CN" altLang="en-US" sz="2800" b="1" dirty="0">
                <a:solidFill>
                  <a:srgbClr val="FF0000"/>
                </a:solidFill>
                <a:ea typeface="黑体" panose="02010609060101010101" pitchFamily="49" charset="-122"/>
              </a:rPr>
              <a:t>方法二</a:t>
            </a:r>
            <a:r>
              <a:rPr lang="zh-CN" altLang="en-US" sz="2400" b="1" dirty="0">
                <a:solidFill>
                  <a:schemeClr val="tx1"/>
                </a:solidFill>
                <a:ea typeface="黑体" panose="02010609060101010101" pitchFamily="49" charset="-122"/>
              </a:rPr>
              <a:t>：直接将中断服务程序的入口地址装入中断矢量表中</a:t>
            </a:r>
            <a:endParaRPr lang="zh-CN" altLang="en-US" sz="2400" b="1" dirty="0">
              <a:solidFill>
                <a:schemeClr val="tx1"/>
              </a:solidFill>
              <a:ea typeface="黑体" panose="02010609060101010101" pitchFamily="49" charset="-122"/>
            </a:endParaRPr>
          </a:p>
        </p:txBody>
      </p:sp>
      <p:sp>
        <p:nvSpPr>
          <p:cNvPr id="118787" name="Rectangle 3"/>
          <p:cNvSpPr>
            <a:spLocks noGrp="1"/>
          </p:cNvSpPr>
          <p:nvPr>
            <p:ph type="body" idx="4294967295"/>
          </p:nvPr>
        </p:nvSpPr>
        <p:spPr>
          <a:xfrm>
            <a:off x="685800" y="3124200"/>
            <a:ext cx="7772400" cy="3200400"/>
          </a:xfrm>
        </p:spPr>
        <p:txBody>
          <a:bodyPr vert="horz" wrap="square" lIns="91440" tIns="45720" rIns="91440" bIns="45720" anchor="t" anchorCtr="0"/>
          <a:p>
            <a:pPr>
              <a:lnSpc>
                <a:spcPct val="90000"/>
              </a:lnSpc>
              <a:buNone/>
            </a:pPr>
            <a:r>
              <a:rPr lang="en-US" altLang="zh-CN" sz="2000" dirty="0">
                <a:ea typeface="黑体" panose="02010609060101010101" pitchFamily="49" charset="-122"/>
              </a:rPr>
              <a:t>MOV	AX, 0</a:t>
            </a:r>
            <a:endParaRPr lang="en-US" altLang="zh-CN" sz="2000" dirty="0">
              <a:ea typeface="黑体" panose="02010609060101010101" pitchFamily="49" charset="-122"/>
            </a:endParaRPr>
          </a:p>
          <a:p>
            <a:pPr>
              <a:lnSpc>
                <a:spcPct val="90000"/>
              </a:lnSpc>
              <a:buNone/>
            </a:pPr>
            <a:r>
              <a:rPr lang="en-US" altLang="zh-CN" sz="2000" dirty="0">
                <a:ea typeface="黑体" panose="02010609060101010101" pitchFamily="49" charset="-122"/>
              </a:rPr>
              <a:t>MOV	ES, AX</a:t>
            </a:r>
            <a:endParaRPr lang="en-US" altLang="zh-CN" sz="2000" dirty="0">
              <a:ea typeface="黑体" panose="02010609060101010101" pitchFamily="49" charset="-122"/>
            </a:endParaRPr>
          </a:p>
          <a:p>
            <a:pPr>
              <a:lnSpc>
                <a:spcPct val="90000"/>
              </a:lnSpc>
              <a:buNone/>
            </a:pPr>
            <a:r>
              <a:rPr lang="en-US" altLang="zh-CN" sz="2000" dirty="0">
                <a:ea typeface="黑体" panose="02010609060101010101" pitchFamily="49" charset="-122"/>
              </a:rPr>
              <a:t>MOV	DI, n			</a:t>
            </a:r>
            <a:r>
              <a:rPr lang="zh-CN" altLang="en-US" sz="1800" dirty="0">
                <a:ea typeface="黑体" panose="02010609060101010101" pitchFamily="49" charset="-122"/>
              </a:rPr>
              <a:t>；中断矢量号</a:t>
            </a:r>
            <a:r>
              <a:rPr lang="en-US" altLang="zh-CN" sz="1800" dirty="0">
                <a:ea typeface="黑体" panose="02010609060101010101" pitchFamily="49" charset="-122"/>
              </a:rPr>
              <a:t>n</a:t>
            </a:r>
            <a:r>
              <a:rPr lang="en-US" altLang="zh-CN" sz="1800" dirty="0">
                <a:latin typeface="宋体" panose="02010600030101010101" pitchFamily="2" charset="-122"/>
              </a:rPr>
              <a:t>→</a:t>
            </a:r>
            <a:r>
              <a:rPr lang="en-US" altLang="zh-CN" sz="1800" dirty="0">
                <a:ea typeface="黑体" panose="02010609060101010101" pitchFamily="49" charset="-122"/>
              </a:rPr>
              <a:t> DI</a:t>
            </a:r>
            <a:endParaRPr lang="en-US" altLang="zh-CN" sz="1800" dirty="0">
              <a:ea typeface="黑体" panose="02010609060101010101" pitchFamily="49" charset="-122"/>
            </a:endParaRPr>
          </a:p>
          <a:p>
            <a:pPr>
              <a:lnSpc>
                <a:spcPct val="90000"/>
              </a:lnSpc>
              <a:buNone/>
            </a:pPr>
            <a:r>
              <a:rPr lang="en-US" altLang="zh-CN" sz="2000" dirty="0">
                <a:ea typeface="黑体" panose="02010609060101010101" pitchFamily="49" charset="-122"/>
              </a:rPr>
              <a:t>SHL	DI, 1			</a:t>
            </a:r>
            <a:r>
              <a:rPr lang="zh-CN" altLang="en-US" sz="1800" dirty="0">
                <a:ea typeface="黑体" panose="02010609060101010101" pitchFamily="49" charset="-122"/>
              </a:rPr>
              <a:t>；</a:t>
            </a:r>
            <a:r>
              <a:rPr lang="en-US" altLang="zh-CN" sz="1800" dirty="0">
                <a:ea typeface="黑体" panose="02010609060101010101" pitchFamily="49" charset="-122"/>
              </a:rPr>
              <a:t>n× 2</a:t>
            </a:r>
            <a:endParaRPr lang="en-US" altLang="zh-CN" sz="1800" dirty="0">
              <a:ea typeface="黑体" panose="02010609060101010101" pitchFamily="49" charset="-122"/>
            </a:endParaRPr>
          </a:p>
          <a:p>
            <a:pPr>
              <a:lnSpc>
                <a:spcPct val="90000"/>
              </a:lnSpc>
              <a:buNone/>
            </a:pPr>
            <a:r>
              <a:rPr lang="en-US" altLang="zh-CN" sz="2000" dirty="0">
                <a:ea typeface="黑体" panose="02010609060101010101" pitchFamily="49" charset="-122"/>
              </a:rPr>
              <a:t>SHL	DI, 1			</a:t>
            </a:r>
            <a:r>
              <a:rPr lang="zh-CN" altLang="en-US" sz="1800" dirty="0">
                <a:ea typeface="黑体" panose="02010609060101010101" pitchFamily="49" charset="-122"/>
              </a:rPr>
              <a:t>；</a:t>
            </a:r>
            <a:r>
              <a:rPr lang="en-US" altLang="zh-CN" sz="1800" dirty="0">
                <a:ea typeface="黑体" panose="02010609060101010101" pitchFamily="49" charset="-122"/>
              </a:rPr>
              <a:t>n× 4</a:t>
            </a:r>
            <a:endParaRPr lang="en-US" altLang="zh-CN" sz="1800" dirty="0">
              <a:ea typeface="黑体" panose="02010609060101010101" pitchFamily="49" charset="-122"/>
            </a:endParaRPr>
          </a:p>
          <a:p>
            <a:pPr>
              <a:lnSpc>
                <a:spcPct val="90000"/>
              </a:lnSpc>
              <a:buNone/>
            </a:pPr>
            <a:r>
              <a:rPr lang="en-US" altLang="zh-CN" sz="2000" dirty="0">
                <a:ea typeface="黑体" panose="02010609060101010101" pitchFamily="49" charset="-122"/>
              </a:rPr>
              <a:t>MOV	AX, </a:t>
            </a:r>
            <a:r>
              <a:rPr lang="en-US" altLang="zh-CN" sz="2000" dirty="0">
                <a:solidFill>
                  <a:srgbClr val="FF0000"/>
                </a:solidFill>
                <a:ea typeface="黑体" panose="02010609060101010101" pitchFamily="49" charset="-122"/>
              </a:rPr>
              <a:t>OFFSET</a:t>
            </a:r>
            <a:r>
              <a:rPr lang="en-US" altLang="zh-CN" sz="2000" dirty="0">
                <a:ea typeface="黑体" panose="02010609060101010101" pitchFamily="49" charset="-122"/>
              </a:rPr>
              <a:t>  INT	</a:t>
            </a:r>
            <a:r>
              <a:rPr lang="zh-CN" altLang="en-US" sz="1800" dirty="0">
                <a:ea typeface="黑体" panose="02010609060101010101" pitchFamily="49" charset="-122"/>
              </a:rPr>
              <a:t>；中断服务程序的偏移量→</a:t>
            </a:r>
            <a:r>
              <a:rPr lang="en-US" altLang="zh-CN" sz="1800" dirty="0">
                <a:ea typeface="黑体" panose="02010609060101010101" pitchFamily="49" charset="-122"/>
              </a:rPr>
              <a:t>AX</a:t>
            </a:r>
            <a:endParaRPr lang="en-US" altLang="zh-CN" sz="1800" dirty="0">
              <a:ea typeface="黑体" panose="02010609060101010101" pitchFamily="49" charset="-122"/>
            </a:endParaRPr>
          </a:p>
          <a:p>
            <a:pPr>
              <a:lnSpc>
                <a:spcPct val="90000"/>
              </a:lnSpc>
              <a:buNone/>
            </a:pPr>
            <a:r>
              <a:rPr lang="en-US" altLang="zh-CN" sz="2000" dirty="0">
                <a:ea typeface="黑体" panose="02010609060101010101" pitchFamily="49" charset="-122"/>
              </a:rPr>
              <a:t>MOV	BX, </a:t>
            </a:r>
            <a:r>
              <a:rPr lang="en-US" altLang="zh-CN" sz="2000" dirty="0">
                <a:solidFill>
                  <a:srgbClr val="FF0000"/>
                </a:solidFill>
                <a:ea typeface="黑体" panose="02010609060101010101" pitchFamily="49" charset="-122"/>
              </a:rPr>
              <a:t>SEG</a:t>
            </a:r>
            <a:r>
              <a:rPr lang="en-US" altLang="zh-CN" sz="2000" dirty="0">
                <a:ea typeface="黑体" panose="02010609060101010101" pitchFamily="49" charset="-122"/>
              </a:rPr>
              <a:t>      INT           </a:t>
            </a:r>
            <a:r>
              <a:rPr lang="zh-CN" altLang="en-US" sz="1800" dirty="0">
                <a:ea typeface="黑体" panose="02010609060101010101" pitchFamily="49" charset="-122"/>
              </a:rPr>
              <a:t>；中断服务程序的段基址→</a:t>
            </a:r>
            <a:r>
              <a:rPr lang="en-US" altLang="zh-CN" sz="1800" dirty="0">
                <a:ea typeface="黑体" panose="02010609060101010101" pitchFamily="49" charset="-122"/>
              </a:rPr>
              <a:t>BX</a:t>
            </a:r>
            <a:endParaRPr lang="en-US" altLang="zh-CN" sz="1800" dirty="0">
              <a:ea typeface="黑体" panose="02010609060101010101" pitchFamily="49" charset="-122"/>
            </a:endParaRPr>
          </a:p>
          <a:p>
            <a:pPr>
              <a:lnSpc>
                <a:spcPct val="90000"/>
              </a:lnSpc>
              <a:buNone/>
            </a:pPr>
            <a:r>
              <a:rPr lang="en-US" altLang="zh-CN" sz="2000" dirty="0">
                <a:ea typeface="黑体" panose="02010609060101010101" pitchFamily="49" charset="-122"/>
              </a:rPr>
              <a:t>MOV	ES: [DI],   AX		</a:t>
            </a:r>
            <a:r>
              <a:rPr lang="zh-CN" altLang="en-US" sz="1800" dirty="0">
                <a:ea typeface="黑体" panose="02010609060101010101" pitchFamily="49" charset="-122"/>
              </a:rPr>
              <a:t>；中断服务程序的偏移量→矢量表</a:t>
            </a:r>
            <a:endParaRPr lang="zh-CN" altLang="en-US" sz="1800" dirty="0">
              <a:ea typeface="黑体" panose="02010609060101010101" pitchFamily="49" charset="-122"/>
            </a:endParaRPr>
          </a:p>
          <a:p>
            <a:pPr>
              <a:lnSpc>
                <a:spcPct val="90000"/>
              </a:lnSpc>
              <a:buNone/>
            </a:pPr>
            <a:r>
              <a:rPr lang="en-US" altLang="zh-CN" sz="2000" dirty="0">
                <a:ea typeface="黑体" panose="02010609060101010101" pitchFamily="49" charset="-122"/>
              </a:rPr>
              <a:t>MOV	ES: [DI+2],  BX	</a:t>
            </a:r>
            <a:r>
              <a:rPr lang="zh-CN" altLang="en-US" sz="1800" dirty="0">
                <a:ea typeface="黑体" panose="02010609060101010101" pitchFamily="49" charset="-122"/>
              </a:rPr>
              <a:t>；中断服务程序的段基址→矢量表</a:t>
            </a:r>
            <a:endParaRPr lang="zh-CN" altLang="en-US" sz="1800" dirty="0">
              <a:ea typeface="黑体" panose="02010609060101010101" pitchFamily="49" charset="-122"/>
            </a:endParaRPr>
          </a:p>
        </p:txBody>
      </p:sp>
      <p:sp>
        <p:nvSpPr>
          <p:cNvPr id="118788" name="Rectangle 4"/>
          <p:cNvSpPr/>
          <p:nvPr/>
        </p:nvSpPr>
        <p:spPr>
          <a:xfrm>
            <a:off x="685800" y="1981200"/>
            <a:ext cx="8350250" cy="7620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Aft>
                <a:spcPct val="0"/>
              </a:spcAft>
              <a:buClrTx/>
              <a:buSzTx/>
              <a:buNone/>
            </a:pPr>
            <a:r>
              <a:rPr lang="zh-CN" altLang="en-US" sz="2400" dirty="0">
                <a:solidFill>
                  <a:srgbClr val="FF0000"/>
                </a:solidFill>
                <a:latin typeface="Times New Roman" panose="02020603050405020304" pitchFamily="18" charset="0"/>
                <a:ea typeface="黑体" panose="02010609060101010101" pitchFamily="49" charset="-122"/>
              </a:rPr>
              <a:t>已知</a:t>
            </a:r>
            <a:r>
              <a:rPr lang="zh-CN" altLang="en-US" sz="2400" dirty="0">
                <a:solidFill>
                  <a:schemeClr val="tx1"/>
                </a:solidFill>
                <a:latin typeface="Times New Roman" panose="02020603050405020304" pitchFamily="18" charset="0"/>
                <a:ea typeface="黑体" panose="02010609060101010101" pitchFamily="49" charset="-122"/>
              </a:rPr>
              <a:t>：某一中断矢量号为</a:t>
            </a:r>
            <a:r>
              <a:rPr lang="en-US" altLang="zh-CN" sz="2400" dirty="0">
                <a:solidFill>
                  <a:schemeClr val="tx1"/>
                </a:solidFill>
                <a:latin typeface="Times New Roman" panose="02020603050405020304" pitchFamily="18" charset="0"/>
                <a:ea typeface="黑体" panose="02010609060101010101" pitchFamily="49" charset="-122"/>
              </a:rPr>
              <a:t>n</a:t>
            </a:r>
            <a:r>
              <a:rPr lang="zh-CN" altLang="en-US" sz="2400" dirty="0">
                <a:solidFill>
                  <a:schemeClr val="tx1"/>
                </a:solidFill>
                <a:latin typeface="Times New Roman" panose="02020603050405020304" pitchFamily="18" charset="0"/>
                <a:ea typeface="黑体" panose="02010609060101010101" pitchFamily="49" charset="-122"/>
              </a:rPr>
              <a:t>，中断服务程序的入口地址为</a:t>
            </a:r>
            <a:r>
              <a:rPr lang="en-US" altLang="zh-CN" sz="2400" dirty="0">
                <a:solidFill>
                  <a:schemeClr val="tx1"/>
                </a:solidFill>
                <a:latin typeface="Times New Roman" panose="02020603050405020304" pitchFamily="18" charset="0"/>
                <a:ea typeface="黑体" panose="02010609060101010101" pitchFamily="49" charset="-122"/>
              </a:rPr>
              <a:t>INT</a:t>
            </a:r>
            <a:r>
              <a:rPr lang="zh-CN" altLang="en-US" sz="2400" dirty="0">
                <a:solidFill>
                  <a:schemeClr val="tx1"/>
                </a:solidFill>
                <a:latin typeface="Times New Roman" panose="02020603050405020304" pitchFamily="18" charset="0"/>
                <a:ea typeface="黑体" panose="02010609060101010101" pitchFamily="49" charset="-122"/>
              </a:rPr>
              <a:t>（逻辑地址）</a:t>
            </a:r>
            <a:endParaRPr lang="zh-CN" altLang="en-US" sz="2400" dirty="0">
              <a:solidFill>
                <a:schemeClr val="tx1"/>
              </a:solidFill>
              <a:latin typeface="Times New Roman" panose="02020603050405020304" pitchFamily="18" charset="0"/>
              <a:ea typeface="黑体" panose="020106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8788"/>
                                        </p:tgtEl>
                                        <p:attrNameLst>
                                          <p:attrName>style.visibility</p:attrName>
                                        </p:attrNameLst>
                                      </p:cBhvr>
                                      <p:to>
                                        <p:strVal val="visible"/>
                                      </p:to>
                                    </p:set>
                                    <p:anim calcmode="lin" valueType="num">
                                      <p:cBhvr>
                                        <p:cTn id="7" dur="500" fill="hold"/>
                                        <p:tgtEl>
                                          <p:spTgt spid="118788"/>
                                        </p:tgtEl>
                                        <p:attrNameLst>
                                          <p:attrName>ppt_x</p:attrName>
                                        </p:attrNameLst>
                                      </p:cBhvr>
                                      <p:tavLst>
                                        <p:tav tm="0">
                                          <p:val>
                                            <p:strVal val="0-#ppt_w/2"/>
                                          </p:val>
                                        </p:tav>
                                        <p:tav tm="100000">
                                          <p:val>
                                            <p:strVal val="#ppt_x"/>
                                          </p:val>
                                        </p:tav>
                                      </p:tavLst>
                                    </p:anim>
                                    <p:anim calcmode="lin" valueType="num">
                                      <p:cBhvr>
                                        <p:cTn id="8" dur="500" fill="hold"/>
                                        <p:tgtEl>
                                          <p:spTgt spid="11878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37" fill="hold" grpId="0" nodeType="clickEffect">
                                  <p:stCondLst>
                                    <p:cond delay="0"/>
                                  </p:stCondLst>
                                  <p:childTnLst>
                                    <p:set>
                                      <p:cBhvr>
                                        <p:cTn id="12" dur="1" fill="hold">
                                          <p:stCondLst>
                                            <p:cond delay="0"/>
                                          </p:stCondLst>
                                        </p:cTn>
                                        <p:tgtEl>
                                          <p:spTgt spid="118787"/>
                                        </p:tgtEl>
                                        <p:attrNameLst>
                                          <p:attrName>style.visibility</p:attrName>
                                        </p:attrNameLst>
                                      </p:cBhvr>
                                      <p:to>
                                        <p:strVal val="visible"/>
                                      </p:to>
                                    </p:set>
                                    <p:animEffect transition="in" filter="barn(outVertical)">
                                      <p:cBhvr>
                                        <p:cTn id="13" dur="500"/>
                                        <p:tgtEl>
                                          <p:spTgt spid="118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p:bldP spid="118788"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2"/>
          <p:cNvSpPr>
            <a:spLocks noGrp="1"/>
          </p:cNvSpPr>
          <p:nvPr>
            <p:ph type="title" idx="4294967295"/>
          </p:nvPr>
        </p:nvSpPr>
        <p:spPr>
          <a:xfrm>
            <a:off x="755650" y="1912938"/>
            <a:ext cx="5329238" cy="685800"/>
          </a:xfrm>
        </p:spPr>
        <p:txBody>
          <a:bodyPr vert="horz" wrap="square" lIns="91440" tIns="45720" rIns="91440" bIns="45720" anchor="b" anchorCtr="0"/>
          <a:p>
            <a:r>
              <a:rPr lang="zh-CN" altLang="en-US" sz="4000" b="1" dirty="0">
                <a:solidFill>
                  <a:schemeClr val="tx1"/>
                </a:solidFill>
                <a:latin typeface="隶书" panose="02010509060101010101" pitchFamily="49" charset="-122"/>
              </a:rPr>
              <a:t>常用的</a:t>
            </a:r>
            <a:r>
              <a:rPr lang="en-US" altLang="zh-CN" sz="4000" b="1" dirty="0">
                <a:solidFill>
                  <a:srgbClr val="FF0000"/>
                </a:solidFill>
                <a:latin typeface="隶书" panose="02010509060101010101" pitchFamily="49" charset="-122"/>
              </a:rPr>
              <a:t>BIOS</a:t>
            </a:r>
            <a:r>
              <a:rPr lang="zh-CN" altLang="en-US" sz="4000" b="1" dirty="0">
                <a:solidFill>
                  <a:srgbClr val="FF0000"/>
                </a:solidFill>
                <a:latin typeface="隶书" panose="02010509060101010101" pitchFamily="49" charset="-122"/>
              </a:rPr>
              <a:t>中断调用：</a:t>
            </a:r>
            <a:endParaRPr lang="zh-CN" altLang="en-US" sz="4000" b="1" dirty="0">
              <a:solidFill>
                <a:srgbClr val="FF0000"/>
              </a:solidFill>
              <a:latin typeface="隶书" panose="02010509060101010101" pitchFamily="49" charset="-122"/>
            </a:endParaRPr>
          </a:p>
        </p:txBody>
      </p:sp>
      <p:sp>
        <p:nvSpPr>
          <p:cNvPr id="190467" name="Rectangle 3"/>
          <p:cNvSpPr>
            <a:spLocks noGrp="1"/>
          </p:cNvSpPr>
          <p:nvPr>
            <p:ph type="body" idx="4294967295"/>
          </p:nvPr>
        </p:nvSpPr>
        <p:spPr>
          <a:xfrm>
            <a:off x="676275" y="2860675"/>
            <a:ext cx="8215313" cy="1144588"/>
          </a:xfrm>
        </p:spPr>
        <p:txBody>
          <a:bodyPr vert="horz" wrap="square" lIns="91440" tIns="45720" rIns="91440" bIns="45720" anchor="t" anchorCtr="0"/>
          <a:p>
            <a:pPr>
              <a:lnSpc>
                <a:spcPct val="90000"/>
              </a:lnSpc>
              <a:buNone/>
            </a:pPr>
            <a:r>
              <a:rPr lang="zh-CN" altLang="en-US" sz="2400" dirty="0">
                <a:solidFill>
                  <a:srgbClr val="FF0000"/>
                </a:solidFill>
                <a:ea typeface="黑体" panose="02010609060101010101" pitchFamily="49" charset="-122"/>
              </a:rPr>
              <a:t>特点</a:t>
            </a:r>
            <a:r>
              <a:rPr lang="zh-CN" altLang="en-US" sz="2400" dirty="0">
                <a:ea typeface="黑体" panose="02010609060101010101" pitchFamily="49" charset="-122"/>
              </a:rPr>
              <a:t>： </a:t>
            </a:r>
            <a:r>
              <a:rPr lang="en-US" altLang="zh-CN" sz="2400" dirty="0">
                <a:ea typeface="黑体" panose="02010609060101010101" pitchFamily="49" charset="-122"/>
              </a:rPr>
              <a:t>BIOS</a:t>
            </a:r>
            <a:r>
              <a:rPr lang="zh-CN" altLang="en-US" sz="2400" dirty="0">
                <a:ea typeface="黑体" panose="02010609060101010101" pitchFamily="49" charset="-122"/>
              </a:rPr>
              <a:t>中断调用要比</a:t>
            </a:r>
            <a:r>
              <a:rPr lang="en-US" altLang="zh-CN" sz="2400" dirty="0">
                <a:ea typeface="黑体" panose="02010609060101010101" pitchFamily="49" charset="-122"/>
              </a:rPr>
              <a:t>DOS</a:t>
            </a:r>
            <a:r>
              <a:rPr lang="zh-CN" altLang="en-US" sz="2400" dirty="0">
                <a:ea typeface="黑体" panose="02010609060101010101" pitchFamily="49" charset="-122"/>
              </a:rPr>
              <a:t>中断调用复杂些，但运行速度快，功能更强些</a:t>
            </a:r>
            <a:r>
              <a:rPr lang="en-US" altLang="zh-CN" sz="2400" dirty="0">
                <a:ea typeface="黑体" panose="02010609060101010101" pitchFamily="49" charset="-122"/>
              </a:rPr>
              <a:t>BIOS</a:t>
            </a:r>
            <a:r>
              <a:rPr lang="zh-CN" altLang="en-US" sz="2400" dirty="0">
                <a:ea typeface="黑体" panose="02010609060101010101" pitchFamily="49" charset="-122"/>
              </a:rPr>
              <a:t>中断调用颇具特色的是显示中断子程序，其矢量号是</a:t>
            </a:r>
            <a:r>
              <a:rPr lang="en-US" altLang="zh-CN" sz="2400" dirty="0">
                <a:solidFill>
                  <a:srgbClr val="FF0000"/>
                </a:solidFill>
                <a:ea typeface="黑体" panose="02010609060101010101" pitchFamily="49" charset="-122"/>
              </a:rPr>
              <a:t>10H</a:t>
            </a:r>
            <a:endParaRPr lang="en-US" altLang="zh-CN" sz="2400" dirty="0">
              <a:solidFill>
                <a:srgbClr val="FF0000"/>
              </a:solidFill>
              <a:ea typeface="黑体" panose="02010609060101010101" pitchFamily="49" charset="-122"/>
            </a:endParaRPr>
          </a:p>
        </p:txBody>
      </p:sp>
      <p:sp>
        <p:nvSpPr>
          <p:cNvPr id="119812" name="Rectangle 4"/>
          <p:cNvSpPr/>
          <p:nvPr/>
        </p:nvSpPr>
        <p:spPr>
          <a:xfrm>
            <a:off x="485775" y="4384675"/>
            <a:ext cx="7772400" cy="609600"/>
          </a:xfrm>
          <a:prstGeom prst="rect">
            <a:avLst/>
          </a:prstGeom>
          <a:noFill/>
          <a:ln w="9525">
            <a:noFill/>
          </a:ln>
        </p:spPr>
        <p:txBody>
          <a:bodyPr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1</a:t>
            </a:r>
            <a:r>
              <a:rPr lang="zh-CN" altLang="en-US" sz="2400" dirty="0">
                <a:solidFill>
                  <a:schemeClr val="tx1"/>
                </a:solidFill>
                <a:latin typeface="Times New Roman" panose="02020603050405020304" pitchFamily="18" charset="0"/>
                <a:ea typeface="黑体" panose="02010609060101010101" pitchFamily="49" charset="-122"/>
              </a:rPr>
              <a:t>）设置</a:t>
            </a:r>
            <a:r>
              <a:rPr lang="zh-CN" altLang="en-US" sz="2400" dirty="0">
                <a:solidFill>
                  <a:srgbClr val="FF0000"/>
                </a:solidFill>
                <a:latin typeface="Times New Roman" panose="02020603050405020304" pitchFamily="18" charset="0"/>
                <a:ea typeface="黑体" panose="02010609060101010101" pitchFamily="49" charset="-122"/>
              </a:rPr>
              <a:t>显示方式</a:t>
            </a:r>
            <a:endParaRPr lang="zh-CN" altLang="en-US" sz="2400" dirty="0">
              <a:solidFill>
                <a:srgbClr val="FF0000"/>
              </a:solidFill>
              <a:latin typeface="Times New Roman" panose="02020603050405020304" pitchFamily="18" charset="0"/>
              <a:ea typeface="黑体" panose="02010609060101010101" pitchFamily="49" charset="-122"/>
            </a:endParaRPr>
          </a:p>
        </p:txBody>
      </p:sp>
      <p:sp>
        <p:nvSpPr>
          <p:cNvPr id="119813" name="Rectangle 5"/>
          <p:cNvSpPr/>
          <p:nvPr/>
        </p:nvSpPr>
        <p:spPr>
          <a:xfrm>
            <a:off x="676275" y="5211763"/>
            <a:ext cx="6781800" cy="12954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矢量号：    </a:t>
            </a:r>
            <a:r>
              <a:rPr lang="en-US" altLang="zh-CN" sz="2400" dirty="0">
                <a:solidFill>
                  <a:schemeClr val="tx1"/>
                </a:solidFill>
                <a:latin typeface="Times New Roman" panose="02020603050405020304" pitchFamily="18" charset="0"/>
                <a:ea typeface="黑体" panose="02010609060101010101" pitchFamily="49" charset="-122"/>
              </a:rPr>
              <a:t>10H</a:t>
            </a:r>
            <a:endParaRPr lang="en-US" altLang="zh-CN" sz="2400" dirty="0">
              <a:solidFill>
                <a:schemeClr val="tx1"/>
              </a:solidFill>
              <a:latin typeface="Times New Roman" panose="02020603050405020304" pitchFamily="18" charset="0"/>
              <a:ea typeface="黑体" panose="02010609060101010101" pitchFamily="49" charset="-122"/>
            </a:endParaRPr>
          </a:p>
          <a:p>
            <a:pPr marL="342900" lvl="0" indent="-342900" algn="just">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功能号：    </a:t>
            </a:r>
            <a:r>
              <a:rPr lang="en-US" altLang="zh-CN" sz="2400" dirty="0">
                <a:solidFill>
                  <a:schemeClr val="tx1"/>
                </a:solidFill>
                <a:latin typeface="Times New Roman" panose="02020603050405020304" pitchFamily="18" charset="0"/>
                <a:ea typeface="黑体" panose="02010609060101010101" pitchFamily="49" charset="-122"/>
              </a:rPr>
              <a:t>AH</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0</a:t>
            </a:r>
            <a:endParaRPr lang="en-US" altLang="zh-CN" sz="2400" dirty="0">
              <a:solidFill>
                <a:schemeClr val="tx1"/>
              </a:solidFill>
              <a:latin typeface="Times New Roman" panose="02020603050405020304" pitchFamily="18" charset="0"/>
              <a:ea typeface="黑体" panose="02010609060101010101" pitchFamily="49" charset="-122"/>
            </a:endParaRPr>
          </a:p>
          <a:p>
            <a:pPr marL="342900" lvl="0" indent="-342900" algn="just">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入口参数：</a:t>
            </a:r>
            <a:r>
              <a:rPr lang="en-US" altLang="zh-CN" sz="2400" dirty="0">
                <a:solidFill>
                  <a:schemeClr val="tx1"/>
                </a:solidFill>
                <a:latin typeface="Times New Roman" panose="02020603050405020304" pitchFamily="18" charset="0"/>
                <a:ea typeface="黑体" panose="02010609060101010101" pitchFamily="49" charset="-122"/>
              </a:rPr>
              <a:t>AL</a:t>
            </a:r>
            <a:r>
              <a:rPr lang="zh-CN" altLang="en-US" sz="2400" dirty="0">
                <a:solidFill>
                  <a:schemeClr val="tx1"/>
                </a:solidFill>
                <a:latin typeface="Times New Roman" panose="02020603050405020304" pitchFamily="18" charset="0"/>
                <a:ea typeface="黑体" panose="02010609060101010101" pitchFamily="49" charset="-122"/>
              </a:rPr>
              <a:t>＝常用显示方式号（</a:t>
            </a:r>
            <a:r>
              <a:rPr lang="en-US" altLang="zh-CN" sz="2400" dirty="0">
                <a:solidFill>
                  <a:schemeClr val="tx1"/>
                </a:solidFill>
                <a:latin typeface="Times New Roman" panose="02020603050405020304" pitchFamily="18" charset="0"/>
                <a:ea typeface="黑体" panose="02010609060101010101" pitchFamily="49" charset="-122"/>
              </a:rPr>
              <a:t>0</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6</a:t>
            </a:r>
            <a:r>
              <a:rPr lang="zh-CN" altLang="en-US" sz="2400" dirty="0">
                <a:solidFill>
                  <a:schemeClr val="tx1"/>
                </a:solidFill>
                <a:latin typeface="Times New Roman" panose="02020603050405020304" pitchFamily="18" charset="0"/>
                <a:ea typeface="黑体" panose="02010609060101010101" pitchFamily="49" charset="-122"/>
              </a:rPr>
              <a:t>）</a:t>
            </a:r>
            <a:endParaRPr lang="zh-CN" altLang="en-US" sz="2400" dirty="0">
              <a:solidFill>
                <a:schemeClr val="tx1"/>
              </a:solidFill>
              <a:latin typeface="Times New Roman" panose="02020603050405020304" pitchFamily="18" charset="0"/>
              <a:ea typeface="黑体" panose="020106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9812"/>
                                        </p:tgtEl>
                                        <p:attrNameLst>
                                          <p:attrName>style.visibility</p:attrName>
                                        </p:attrNameLst>
                                      </p:cBhvr>
                                      <p:to>
                                        <p:strVal val="visible"/>
                                      </p:to>
                                    </p:set>
                                    <p:anim calcmode="lin" valueType="num">
                                      <p:cBhvr>
                                        <p:cTn id="7" dur="500" fill="hold"/>
                                        <p:tgtEl>
                                          <p:spTgt spid="119812"/>
                                        </p:tgtEl>
                                        <p:attrNameLst>
                                          <p:attrName>ppt_x</p:attrName>
                                        </p:attrNameLst>
                                      </p:cBhvr>
                                      <p:tavLst>
                                        <p:tav tm="0">
                                          <p:val>
                                            <p:strVal val="0-#ppt_w/2"/>
                                          </p:val>
                                        </p:tav>
                                        <p:tav tm="100000">
                                          <p:val>
                                            <p:strVal val="#ppt_x"/>
                                          </p:val>
                                        </p:tav>
                                      </p:tavLst>
                                    </p:anim>
                                    <p:anim calcmode="lin" valueType="num">
                                      <p:cBhvr>
                                        <p:cTn id="8" dur="500" fill="hold"/>
                                        <p:tgtEl>
                                          <p:spTgt spid="1198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9813"/>
                                        </p:tgtEl>
                                        <p:attrNameLst>
                                          <p:attrName>style.visibility</p:attrName>
                                        </p:attrNameLst>
                                      </p:cBhvr>
                                      <p:to>
                                        <p:strVal val="visible"/>
                                      </p:to>
                                    </p:set>
                                    <p:anim calcmode="lin" valueType="num">
                                      <p:cBhvr>
                                        <p:cTn id="13" dur="500" fill="hold"/>
                                        <p:tgtEl>
                                          <p:spTgt spid="119813"/>
                                        </p:tgtEl>
                                        <p:attrNameLst>
                                          <p:attrName>ppt_x</p:attrName>
                                        </p:attrNameLst>
                                      </p:cBhvr>
                                      <p:tavLst>
                                        <p:tav tm="0">
                                          <p:val>
                                            <p:strVal val="0-#ppt_w/2"/>
                                          </p:val>
                                        </p:tav>
                                        <p:tav tm="100000">
                                          <p:val>
                                            <p:strVal val="#ppt_x"/>
                                          </p:val>
                                        </p:tav>
                                      </p:tavLst>
                                    </p:anim>
                                    <p:anim calcmode="lin" valueType="num">
                                      <p:cBhvr>
                                        <p:cTn id="14" dur="500" fill="hold"/>
                                        <p:tgtEl>
                                          <p:spTgt spid="1198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2" grpId="0"/>
      <p:bldP spid="11981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3"/>
          <p:cNvSpPr>
            <a:spLocks noGrp="1"/>
          </p:cNvSpPr>
          <p:nvPr>
            <p:ph type="body" idx="4294967295"/>
          </p:nvPr>
        </p:nvSpPr>
        <p:spPr>
          <a:xfrm>
            <a:off x="827088" y="1412875"/>
            <a:ext cx="7772400" cy="2743200"/>
          </a:xfrm>
        </p:spPr>
        <p:txBody>
          <a:bodyPr vert="horz" wrap="square" lIns="91440" tIns="45720" rIns="91440" bIns="45720" anchor="t" anchorCtr="0"/>
          <a:p>
            <a:pPr>
              <a:lnSpc>
                <a:spcPct val="90000"/>
              </a:lnSpc>
              <a:spcBef>
                <a:spcPct val="0"/>
              </a:spcBef>
              <a:buNone/>
            </a:pPr>
            <a:r>
              <a:rPr lang="en-US" altLang="zh-CN" sz="2400" dirty="0">
                <a:ea typeface="黑体" panose="02010609060101010101" pitchFamily="49" charset="-122"/>
              </a:rPr>
              <a:t>      </a:t>
            </a:r>
            <a:r>
              <a:rPr lang="zh-CN" altLang="en-US" sz="2400" dirty="0">
                <a:ea typeface="黑体" panose="02010609060101010101" pitchFamily="49" charset="-122"/>
              </a:rPr>
              <a:t>显示方式号	                   显示方式</a:t>
            </a:r>
            <a:endParaRPr lang="zh-CN" altLang="en-US" sz="24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0		    40</a:t>
            </a:r>
            <a:r>
              <a:rPr lang="zh-CN" altLang="en-US" sz="2400" dirty="0">
                <a:ea typeface="黑体" panose="02010609060101010101" pitchFamily="49" charset="-122"/>
              </a:rPr>
              <a:t>列</a:t>
            </a:r>
            <a:r>
              <a:rPr lang="en-US" altLang="zh-CN" sz="2400" dirty="0">
                <a:ea typeface="黑体" panose="02010609060101010101" pitchFamily="49" charset="-122"/>
              </a:rPr>
              <a:t>×25</a:t>
            </a:r>
            <a:r>
              <a:rPr lang="zh-CN" altLang="en-US" sz="2400" dirty="0">
                <a:ea typeface="黑体" panose="02010609060101010101" pitchFamily="49" charset="-122"/>
              </a:rPr>
              <a:t>行黑白文本方式</a:t>
            </a:r>
            <a:endParaRPr lang="zh-CN" altLang="en-US" sz="24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1		    40</a:t>
            </a:r>
            <a:r>
              <a:rPr lang="zh-CN" altLang="en-US" sz="2400" dirty="0">
                <a:ea typeface="黑体" panose="02010609060101010101" pitchFamily="49" charset="-122"/>
              </a:rPr>
              <a:t>列</a:t>
            </a:r>
            <a:r>
              <a:rPr lang="en-US" altLang="zh-CN" sz="2400" dirty="0">
                <a:ea typeface="黑体" panose="02010609060101010101" pitchFamily="49" charset="-122"/>
              </a:rPr>
              <a:t>×25</a:t>
            </a:r>
            <a:r>
              <a:rPr lang="zh-CN" altLang="en-US" sz="2400" dirty="0">
                <a:ea typeface="黑体" panose="02010609060101010101" pitchFamily="49" charset="-122"/>
              </a:rPr>
              <a:t>行彩色文本方式</a:t>
            </a:r>
            <a:endParaRPr lang="zh-CN" altLang="en-US" sz="24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2		    80</a:t>
            </a:r>
            <a:r>
              <a:rPr lang="zh-CN" altLang="en-US" sz="2400" dirty="0">
                <a:ea typeface="黑体" panose="02010609060101010101" pitchFamily="49" charset="-122"/>
              </a:rPr>
              <a:t>列</a:t>
            </a:r>
            <a:r>
              <a:rPr lang="en-US" altLang="zh-CN" sz="2400" dirty="0">
                <a:ea typeface="黑体" panose="02010609060101010101" pitchFamily="49" charset="-122"/>
              </a:rPr>
              <a:t>×25</a:t>
            </a:r>
            <a:r>
              <a:rPr lang="zh-CN" altLang="en-US" sz="2400" dirty="0">
                <a:ea typeface="黑体" panose="02010609060101010101" pitchFamily="49" charset="-122"/>
              </a:rPr>
              <a:t>行黑白文本方式</a:t>
            </a:r>
            <a:endParaRPr lang="zh-CN" altLang="en-US" sz="24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3		    80</a:t>
            </a:r>
            <a:r>
              <a:rPr lang="zh-CN" altLang="en-US" sz="2400" dirty="0">
                <a:ea typeface="黑体" panose="02010609060101010101" pitchFamily="49" charset="-122"/>
              </a:rPr>
              <a:t>列</a:t>
            </a:r>
            <a:r>
              <a:rPr lang="en-US" altLang="zh-CN" sz="2400" dirty="0">
                <a:ea typeface="黑体" panose="02010609060101010101" pitchFamily="49" charset="-122"/>
              </a:rPr>
              <a:t>×25</a:t>
            </a:r>
            <a:r>
              <a:rPr lang="zh-CN" altLang="en-US" sz="2400" dirty="0">
                <a:ea typeface="黑体" panose="02010609060101010101" pitchFamily="49" charset="-122"/>
              </a:rPr>
              <a:t>行彩色文本方式</a:t>
            </a:r>
            <a:endParaRPr lang="zh-CN" altLang="en-US" sz="24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4		    320</a:t>
            </a:r>
            <a:r>
              <a:rPr lang="zh-CN" altLang="en-US" sz="2400" dirty="0">
                <a:ea typeface="黑体" panose="02010609060101010101" pitchFamily="49" charset="-122"/>
              </a:rPr>
              <a:t>列</a:t>
            </a:r>
            <a:r>
              <a:rPr lang="en-US" altLang="zh-CN" sz="2400" dirty="0">
                <a:ea typeface="黑体" panose="02010609060101010101" pitchFamily="49" charset="-122"/>
              </a:rPr>
              <a:t>×200</a:t>
            </a:r>
            <a:r>
              <a:rPr lang="zh-CN" altLang="en-US" sz="2400" dirty="0">
                <a:ea typeface="黑体" panose="02010609060101010101" pitchFamily="49" charset="-122"/>
              </a:rPr>
              <a:t>行黑白图形方式</a:t>
            </a:r>
            <a:endParaRPr lang="zh-CN" altLang="en-US" sz="24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5		    320</a:t>
            </a:r>
            <a:r>
              <a:rPr lang="zh-CN" altLang="en-US" sz="2400" dirty="0">
                <a:ea typeface="黑体" panose="02010609060101010101" pitchFamily="49" charset="-122"/>
              </a:rPr>
              <a:t>列</a:t>
            </a:r>
            <a:r>
              <a:rPr lang="en-US" altLang="zh-CN" sz="2400" dirty="0">
                <a:ea typeface="黑体" panose="02010609060101010101" pitchFamily="49" charset="-122"/>
              </a:rPr>
              <a:t>×200</a:t>
            </a:r>
            <a:r>
              <a:rPr lang="zh-CN" altLang="en-US" sz="2400" dirty="0">
                <a:ea typeface="黑体" panose="02010609060101010101" pitchFamily="49" charset="-122"/>
              </a:rPr>
              <a:t>行彩色图形方式</a:t>
            </a:r>
            <a:endParaRPr lang="zh-CN" altLang="en-US" sz="24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6		    640</a:t>
            </a:r>
            <a:r>
              <a:rPr lang="zh-CN" altLang="en-US" sz="2400" dirty="0">
                <a:ea typeface="黑体" panose="02010609060101010101" pitchFamily="49" charset="-122"/>
              </a:rPr>
              <a:t>列</a:t>
            </a:r>
            <a:r>
              <a:rPr lang="en-US" altLang="zh-CN" sz="2400" dirty="0">
                <a:ea typeface="黑体" panose="02010609060101010101" pitchFamily="49" charset="-122"/>
              </a:rPr>
              <a:t>×200</a:t>
            </a:r>
            <a:r>
              <a:rPr lang="zh-CN" altLang="en-US" sz="2400" dirty="0">
                <a:ea typeface="黑体" panose="02010609060101010101" pitchFamily="49" charset="-122"/>
              </a:rPr>
              <a:t>行黑白图形方式</a:t>
            </a:r>
            <a:endParaRPr lang="zh-CN" altLang="en-US" sz="2400" dirty="0">
              <a:ea typeface="黑体" panose="02010609060101010101" pitchFamily="49" charset="-122"/>
            </a:endParaRPr>
          </a:p>
        </p:txBody>
      </p:sp>
      <p:sp>
        <p:nvSpPr>
          <p:cNvPr id="120835" name="Rectangle 6"/>
          <p:cNvSpPr/>
          <p:nvPr/>
        </p:nvSpPr>
        <p:spPr>
          <a:xfrm>
            <a:off x="827088" y="4232275"/>
            <a:ext cx="7772400" cy="4572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Aft>
                <a:spcPct val="0"/>
              </a:spcAft>
              <a:buClrTx/>
              <a:buSzTx/>
              <a:buNone/>
            </a:pPr>
            <a:r>
              <a:rPr lang="zh-CN" altLang="en-US" sz="2400" dirty="0">
                <a:solidFill>
                  <a:srgbClr val="FF0000"/>
                </a:solidFill>
                <a:latin typeface="Times New Roman" panose="02020603050405020304" pitchFamily="18" charset="0"/>
                <a:ea typeface="黑体" panose="02010609060101010101" pitchFamily="49" charset="-122"/>
              </a:rPr>
              <a:t>注意</a:t>
            </a:r>
            <a:r>
              <a:rPr lang="zh-CN" altLang="en-US" sz="2400" dirty="0">
                <a:solidFill>
                  <a:schemeClr val="tx1"/>
                </a:solidFill>
                <a:latin typeface="Times New Roman" panose="02020603050405020304" pitchFamily="18" charset="0"/>
                <a:ea typeface="黑体" panose="02010609060101010101" pitchFamily="49" charset="-122"/>
              </a:rPr>
              <a:t>：对于高分辨率，只支持黑白显示</a:t>
            </a:r>
            <a:endParaRPr lang="zh-CN" altLang="en-US" sz="2400" dirty="0">
              <a:solidFill>
                <a:schemeClr val="tx1"/>
              </a:solidFill>
              <a:latin typeface="Times New Roman" panose="02020603050405020304" pitchFamily="18" charset="0"/>
              <a:ea typeface="黑体" panose="02010609060101010101" pitchFamily="49" charset="-122"/>
            </a:endParaRPr>
          </a:p>
        </p:txBody>
      </p:sp>
      <p:sp>
        <p:nvSpPr>
          <p:cNvPr id="120836" name="Rectangle 8"/>
          <p:cNvSpPr/>
          <p:nvPr/>
        </p:nvSpPr>
        <p:spPr>
          <a:xfrm>
            <a:off x="827088" y="4765675"/>
            <a:ext cx="7772400" cy="4572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Aft>
                <a:spcPct val="0"/>
              </a:spcAft>
              <a:buClrTx/>
              <a:buSzTx/>
              <a:buNone/>
            </a:pPr>
            <a:r>
              <a:rPr lang="zh-CN" altLang="en-US" dirty="0">
                <a:solidFill>
                  <a:srgbClr val="FF0000"/>
                </a:solidFill>
                <a:latin typeface="Times New Roman" panose="02020603050405020304" pitchFamily="18" charset="0"/>
                <a:ea typeface="黑体" panose="02010609060101010101" pitchFamily="49" charset="-122"/>
              </a:rPr>
              <a:t>例</a:t>
            </a:r>
            <a:r>
              <a:rPr lang="zh-CN" altLang="en-US" sz="2400" dirty="0">
                <a:solidFill>
                  <a:schemeClr val="tx1"/>
                </a:solidFill>
                <a:latin typeface="Times New Roman" panose="02020603050405020304" pitchFamily="18" charset="0"/>
                <a:ea typeface="黑体" panose="02010609060101010101" pitchFamily="49" charset="-122"/>
              </a:rPr>
              <a:t>：屏幕设置成</a:t>
            </a:r>
            <a:r>
              <a:rPr lang="en-US" altLang="zh-CN" sz="2400" dirty="0">
                <a:solidFill>
                  <a:schemeClr val="tx1"/>
                </a:solidFill>
                <a:latin typeface="Times New Roman" panose="02020603050405020304" pitchFamily="18" charset="0"/>
                <a:ea typeface="黑体" panose="02010609060101010101" pitchFamily="49" charset="-122"/>
              </a:rPr>
              <a:t>80×25</a:t>
            </a:r>
            <a:r>
              <a:rPr lang="zh-CN" altLang="en-US" sz="2400" dirty="0">
                <a:solidFill>
                  <a:schemeClr val="tx1"/>
                </a:solidFill>
                <a:latin typeface="Times New Roman" panose="02020603050405020304" pitchFamily="18" charset="0"/>
                <a:ea typeface="黑体" panose="02010609060101010101" pitchFamily="49" charset="-122"/>
              </a:rPr>
              <a:t>彩色文本方式</a:t>
            </a:r>
            <a:endParaRPr lang="zh-CN" altLang="en-US" sz="2400" dirty="0">
              <a:solidFill>
                <a:schemeClr val="tx1"/>
              </a:solidFill>
              <a:latin typeface="Times New Roman" panose="02020603050405020304" pitchFamily="18" charset="0"/>
              <a:ea typeface="黑体" panose="02010609060101010101" pitchFamily="49" charset="-122"/>
            </a:endParaRPr>
          </a:p>
        </p:txBody>
      </p:sp>
      <p:sp>
        <p:nvSpPr>
          <p:cNvPr id="120837" name="Rectangle 9"/>
          <p:cNvSpPr/>
          <p:nvPr/>
        </p:nvSpPr>
        <p:spPr>
          <a:xfrm>
            <a:off x="827088" y="5451475"/>
            <a:ext cx="7772400" cy="12192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Bef>
                <a:spcPct val="0"/>
              </a:spcBef>
              <a:spcAft>
                <a:spcPct val="0"/>
              </a:spcAft>
              <a:buClrTx/>
              <a:buSzTx/>
              <a:buNone/>
            </a:pPr>
            <a:r>
              <a:rPr lang="zh-CN" altLang="en-US" dirty="0">
                <a:solidFill>
                  <a:srgbClr val="FF0000"/>
                </a:solidFill>
                <a:latin typeface="Times New Roman" panose="02020603050405020304" pitchFamily="18" charset="0"/>
                <a:ea typeface="黑体" panose="02010609060101010101" pitchFamily="49" charset="-122"/>
              </a:rPr>
              <a:t>程序</a:t>
            </a: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MOV	AH</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0	</a:t>
            </a:r>
            <a:r>
              <a:rPr lang="zh-CN" altLang="en-US" sz="2000" dirty="0">
                <a:solidFill>
                  <a:schemeClr val="tx1"/>
                </a:solidFill>
                <a:latin typeface="Times New Roman" panose="02020603050405020304" pitchFamily="18" charset="0"/>
                <a:ea typeface="黑体" panose="02010609060101010101" pitchFamily="49" charset="-122"/>
              </a:rPr>
              <a:t>；设功能号</a:t>
            </a:r>
            <a:endParaRPr lang="zh-CN" altLang="en-US" sz="20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MOV	AL</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3</a:t>
            </a:r>
            <a:r>
              <a:rPr lang="en-US" altLang="zh-CN" sz="2000" dirty="0">
                <a:solidFill>
                  <a:schemeClr val="tx1"/>
                </a:solidFill>
                <a:latin typeface="Times New Roman" panose="02020603050405020304" pitchFamily="18" charset="0"/>
                <a:ea typeface="黑体" panose="02010609060101010101" pitchFamily="49" charset="-122"/>
              </a:rPr>
              <a:t>	              </a:t>
            </a:r>
            <a:r>
              <a:rPr lang="zh-CN" altLang="en-US" sz="2000" dirty="0">
                <a:solidFill>
                  <a:schemeClr val="tx1"/>
                </a:solidFill>
                <a:latin typeface="Times New Roman" panose="02020603050405020304" pitchFamily="18" charset="0"/>
                <a:ea typeface="黑体" panose="02010609060101010101" pitchFamily="49" charset="-122"/>
              </a:rPr>
              <a:t>；设显示方式</a:t>
            </a:r>
            <a:endParaRPr lang="zh-CN" altLang="en-US" sz="20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INT		10H</a:t>
            </a:r>
            <a:endParaRPr lang="en-US" altLang="zh-CN" sz="2400" dirty="0">
              <a:solidFill>
                <a:schemeClr val="tx1"/>
              </a:solidFill>
              <a:latin typeface="Times New Roman" panose="02020603050405020304" pitchFamily="18" charset="0"/>
              <a:ea typeface="黑体" panose="020106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0835"/>
                                        </p:tgtEl>
                                        <p:attrNameLst>
                                          <p:attrName>style.visibility</p:attrName>
                                        </p:attrNameLst>
                                      </p:cBhvr>
                                      <p:to>
                                        <p:strVal val="visible"/>
                                      </p:to>
                                    </p:set>
                                    <p:anim calcmode="lin" valueType="num">
                                      <p:cBhvr>
                                        <p:cTn id="7" dur="500" fill="hold"/>
                                        <p:tgtEl>
                                          <p:spTgt spid="120835"/>
                                        </p:tgtEl>
                                        <p:attrNameLst>
                                          <p:attrName>ppt_x</p:attrName>
                                        </p:attrNameLst>
                                      </p:cBhvr>
                                      <p:tavLst>
                                        <p:tav tm="0">
                                          <p:val>
                                            <p:strVal val="0-#ppt_w/2"/>
                                          </p:val>
                                        </p:tav>
                                        <p:tav tm="100000">
                                          <p:val>
                                            <p:strVal val="#ppt_x"/>
                                          </p:val>
                                        </p:tav>
                                      </p:tavLst>
                                    </p:anim>
                                    <p:anim calcmode="lin" valueType="num">
                                      <p:cBhvr>
                                        <p:cTn id="8" dur="500" fill="hold"/>
                                        <p:tgtEl>
                                          <p:spTgt spid="12083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0836"/>
                                        </p:tgtEl>
                                        <p:attrNameLst>
                                          <p:attrName>style.visibility</p:attrName>
                                        </p:attrNameLst>
                                      </p:cBhvr>
                                      <p:to>
                                        <p:strVal val="visible"/>
                                      </p:to>
                                    </p:set>
                                    <p:anim calcmode="lin" valueType="num">
                                      <p:cBhvr>
                                        <p:cTn id="13" dur="500" fill="hold"/>
                                        <p:tgtEl>
                                          <p:spTgt spid="120836"/>
                                        </p:tgtEl>
                                        <p:attrNameLst>
                                          <p:attrName>ppt_x</p:attrName>
                                        </p:attrNameLst>
                                      </p:cBhvr>
                                      <p:tavLst>
                                        <p:tav tm="0">
                                          <p:val>
                                            <p:strVal val="0-#ppt_w/2"/>
                                          </p:val>
                                        </p:tav>
                                        <p:tav tm="100000">
                                          <p:val>
                                            <p:strVal val="#ppt_x"/>
                                          </p:val>
                                        </p:tav>
                                      </p:tavLst>
                                    </p:anim>
                                    <p:anim calcmode="lin" valueType="num">
                                      <p:cBhvr>
                                        <p:cTn id="14" dur="500" fill="hold"/>
                                        <p:tgtEl>
                                          <p:spTgt spid="12083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0837"/>
                                        </p:tgtEl>
                                        <p:attrNameLst>
                                          <p:attrName>style.visibility</p:attrName>
                                        </p:attrNameLst>
                                      </p:cBhvr>
                                      <p:to>
                                        <p:strVal val="visible"/>
                                      </p:to>
                                    </p:set>
                                    <p:anim calcmode="lin" valueType="num">
                                      <p:cBhvr>
                                        <p:cTn id="19" dur="500" fill="hold"/>
                                        <p:tgtEl>
                                          <p:spTgt spid="120837"/>
                                        </p:tgtEl>
                                        <p:attrNameLst>
                                          <p:attrName>ppt_x</p:attrName>
                                        </p:attrNameLst>
                                      </p:cBhvr>
                                      <p:tavLst>
                                        <p:tav tm="0">
                                          <p:val>
                                            <p:strVal val="0-#ppt_w/2"/>
                                          </p:val>
                                        </p:tav>
                                        <p:tav tm="100000">
                                          <p:val>
                                            <p:strVal val="#ppt_x"/>
                                          </p:val>
                                        </p:tav>
                                      </p:tavLst>
                                    </p:anim>
                                    <p:anim calcmode="lin" valueType="num">
                                      <p:cBhvr>
                                        <p:cTn id="20" dur="500" fill="hold"/>
                                        <p:tgtEl>
                                          <p:spTgt spid="1208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p:bldP spid="120836" grpId="0"/>
      <p:bldP spid="120837"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Rectangle 2"/>
          <p:cNvSpPr>
            <a:spLocks noGrp="1"/>
          </p:cNvSpPr>
          <p:nvPr>
            <p:ph type="title" idx="4294967295"/>
          </p:nvPr>
        </p:nvSpPr>
        <p:spPr>
          <a:xfrm>
            <a:off x="900113" y="1916113"/>
            <a:ext cx="7772400" cy="609600"/>
          </a:xfrm>
        </p:spPr>
        <p:txBody>
          <a:bodyPr vert="horz" wrap="square" lIns="91440" tIns="45720" rIns="91440" bIns="45720" anchor="b" anchorCtr="0"/>
          <a:p>
            <a:r>
              <a:rPr lang="zh-CN" altLang="en-US" sz="2800" b="1" dirty="0">
                <a:solidFill>
                  <a:schemeClr val="tx1"/>
                </a:solidFill>
                <a:ea typeface="黑体" panose="02010609060101010101" pitchFamily="49" charset="-122"/>
              </a:rPr>
              <a:t>（</a:t>
            </a:r>
            <a:r>
              <a:rPr lang="en-US" altLang="zh-CN" sz="2800" b="1" dirty="0">
                <a:solidFill>
                  <a:schemeClr val="tx1"/>
                </a:solidFill>
                <a:ea typeface="黑体" panose="02010609060101010101" pitchFamily="49" charset="-122"/>
              </a:rPr>
              <a:t>2</a:t>
            </a:r>
            <a:r>
              <a:rPr lang="zh-CN" altLang="en-US" sz="2800" b="1" dirty="0">
                <a:solidFill>
                  <a:schemeClr val="tx1"/>
                </a:solidFill>
                <a:ea typeface="黑体" panose="02010609060101010101" pitchFamily="49" charset="-122"/>
              </a:rPr>
              <a:t>）设置</a:t>
            </a:r>
            <a:r>
              <a:rPr lang="zh-CN" altLang="en-US" sz="2800" b="1" dirty="0">
                <a:solidFill>
                  <a:srgbClr val="FF0000"/>
                </a:solidFill>
                <a:ea typeface="黑体" panose="02010609060101010101" pitchFamily="49" charset="-122"/>
              </a:rPr>
              <a:t>光标位置</a:t>
            </a:r>
            <a:endParaRPr lang="zh-CN" altLang="en-US" sz="2800" b="1" dirty="0">
              <a:solidFill>
                <a:srgbClr val="FF0000"/>
              </a:solidFill>
              <a:ea typeface="黑体" panose="02010609060101010101" pitchFamily="49" charset="-122"/>
            </a:endParaRPr>
          </a:p>
        </p:txBody>
      </p:sp>
      <p:sp>
        <p:nvSpPr>
          <p:cNvPr id="192515" name="Rectangle 3"/>
          <p:cNvSpPr>
            <a:spLocks noGrp="1"/>
          </p:cNvSpPr>
          <p:nvPr>
            <p:ph type="body" idx="4294967295"/>
          </p:nvPr>
        </p:nvSpPr>
        <p:spPr>
          <a:xfrm>
            <a:off x="976313" y="2443163"/>
            <a:ext cx="8167687" cy="2609850"/>
          </a:xfrm>
        </p:spPr>
        <p:txBody>
          <a:bodyPr vert="horz" wrap="square" lIns="91440" tIns="45720" rIns="91440" bIns="45720" anchor="t" anchorCtr="0"/>
          <a:p>
            <a:pPr>
              <a:spcBef>
                <a:spcPct val="0"/>
              </a:spcBef>
              <a:buNone/>
            </a:pPr>
            <a:r>
              <a:rPr lang="zh-CN" altLang="en-US" sz="2400" dirty="0">
                <a:ea typeface="黑体" panose="02010609060101010101" pitchFamily="49" charset="-122"/>
              </a:rPr>
              <a:t>矢量号：      </a:t>
            </a:r>
            <a:r>
              <a:rPr lang="en-US" altLang="zh-CN" sz="2400" dirty="0">
                <a:ea typeface="黑体" panose="02010609060101010101" pitchFamily="49" charset="-122"/>
              </a:rPr>
              <a:t>10H</a:t>
            </a:r>
            <a:endParaRPr lang="en-US" altLang="zh-CN" sz="2400" dirty="0">
              <a:ea typeface="黑体" panose="02010609060101010101" pitchFamily="49" charset="-122"/>
            </a:endParaRPr>
          </a:p>
          <a:p>
            <a:pPr>
              <a:spcBef>
                <a:spcPct val="0"/>
              </a:spcBef>
              <a:buNone/>
            </a:pPr>
            <a:r>
              <a:rPr lang="zh-CN" altLang="en-US" sz="2400" dirty="0">
                <a:ea typeface="黑体" panose="02010609060101010101" pitchFamily="49" charset="-122"/>
              </a:rPr>
              <a:t>功能号：      </a:t>
            </a:r>
            <a:r>
              <a:rPr lang="en-US" altLang="zh-CN" sz="2400" dirty="0">
                <a:ea typeface="黑体" panose="02010609060101010101" pitchFamily="49" charset="-122"/>
              </a:rPr>
              <a:t>AH</a:t>
            </a:r>
            <a:r>
              <a:rPr lang="zh-CN" altLang="en-US" sz="2400" dirty="0">
                <a:ea typeface="黑体" panose="02010609060101010101" pitchFamily="49" charset="-122"/>
              </a:rPr>
              <a:t>＝</a:t>
            </a:r>
            <a:r>
              <a:rPr lang="en-US" altLang="zh-CN" sz="2400" dirty="0">
                <a:ea typeface="黑体" panose="02010609060101010101" pitchFamily="49" charset="-122"/>
              </a:rPr>
              <a:t>2</a:t>
            </a:r>
            <a:endParaRPr lang="en-US" altLang="zh-CN" sz="2400" dirty="0">
              <a:ea typeface="黑体" panose="02010609060101010101" pitchFamily="49" charset="-122"/>
            </a:endParaRPr>
          </a:p>
          <a:p>
            <a:pPr>
              <a:spcBef>
                <a:spcPct val="0"/>
              </a:spcBef>
              <a:buNone/>
            </a:pPr>
            <a:r>
              <a:rPr lang="zh-CN" altLang="en-US" sz="2400" dirty="0">
                <a:ea typeface="黑体" panose="02010609060101010101" pitchFamily="49" charset="-122"/>
              </a:rPr>
              <a:t>入口参数：  </a:t>
            </a:r>
            <a:r>
              <a:rPr lang="en-US" altLang="zh-CN" sz="2400" dirty="0">
                <a:ea typeface="黑体" panose="02010609060101010101" pitchFamily="49" charset="-122"/>
              </a:rPr>
              <a:t>BH</a:t>
            </a:r>
            <a:r>
              <a:rPr lang="zh-CN" altLang="en-US" sz="2400" dirty="0">
                <a:ea typeface="黑体" panose="02010609060101010101" pitchFamily="49" charset="-122"/>
              </a:rPr>
              <a:t>＝页号，通常取</a:t>
            </a:r>
            <a:r>
              <a:rPr lang="en-US" altLang="zh-CN" sz="2400" dirty="0">
                <a:ea typeface="黑体" panose="02010609060101010101" pitchFamily="49" charset="-122"/>
              </a:rPr>
              <a:t>0</a:t>
            </a:r>
            <a:r>
              <a:rPr lang="zh-CN" altLang="en-US" sz="2400" dirty="0">
                <a:ea typeface="黑体" panose="02010609060101010101" pitchFamily="49" charset="-122"/>
              </a:rPr>
              <a:t>页</a:t>
            </a:r>
            <a:endParaRPr lang="zh-CN" altLang="en-US" sz="2400" dirty="0">
              <a:ea typeface="黑体" panose="02010609060101010101" pitchFamily="49" charset="-122"/>
            </a:endParaRPr>
          </a:p>
          <a:p>
            <a:pPr>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DH</a:t>
            </a:r>
            <a:r>
              <a:rPr lang="zh-CN" altLang="en-US" sz="2400" dirty="0">
                <a:ea typeface="黑体" panose="02010609060101010101" pitchFamily="49" charset="-122"/>
              </a:rPr>
              <a:t>＝行号，取值</a:t>
            </a:r>
            <a:r>
              <a:rPr lang="en-US" altLang="zh-CN" sz="2400" dirty="0">
                <a:ea typeface="黑体" panose="02010609060101010101" pitchFamily="49" charset="-122"/>
              </a:rPr>
              <a:t>0</a:t>
            </a:r>
            <a:r>
              <a:rPr lang="zh-CN" altLang="en-US" sz="2400" dirty="0">
                <a:ea typeface="黑体" panose="02010609060101010101" pitchFamily="49" charset="-122"/>
              </a:rPr>
              <a:t>～</a:t>
            </a:r>
            <a:r>
              <a:rPr lang="en-US" altLang="zh-CN" sz="2400" dirty="0">
                <a:ea typeface="黑体" panose="02010609060101010101" pitchFamily="49" charset="-122"/>
              </a:rPr>
              <a:t>24</a:t>
            </a:r>
            <a:endParaRPr lang="en-US" altLang="zh-CN" sz="2400" dirty="0">
              <a:ea typeface="黑体" panose="02010609060101010101" pitchFamily="49" charset="-122"/>
            </a:endParaRPr>
          </a:p>
          <a:p>
            <a:pPr>
              <a:spcBef>
                <a:spcPct val="0"/>
              </a:spcBef>
              <a:buNone/>
            </a:pPr>
            <a:r>
              <a:rPr lang="en-US" altLang="zh-CN" sz="2400" dirty="0">
                <a:ea typeface="黑体" panose="02010609060101010101" pitchFamily="49" charset="-122"/>
              </a:rPr>
              <a:t>		          DL</a:t>
            </a:r>
            <a:r>
              <a:rPr lang="zh-CN" altLang="en-US" sz="2400" dirty="0">
                <a:ea typeface="黑体" panose="02010609060101010101" pitchFamily="49" charset="-122"/>
              </a:rPr>
              <a:t>＝列号，对于</a:t>
            </a:r>
            <a:r>
              <a:rPr lang="en-US" altLang="zh-CN" sz="2400" dirty="0">
                <a:ea typeface="黑体" panose="02010609060101010101" pitchFamily="49" charset="-122"/>
              </a:rPr>
              <a:t>40</a:t>
            </a:r>
            <a:r>
              <a:rPr lang="zh-CN" altLang="en-US" sz="2400" dirty="0">
                <a:ea typeface="黑体" panose="02010609060101010101" pitchFamily="49" charset="-122"/>
              </a:rPr>
              <a:t>列文本，取值</a:t>
            </a:r>
            <a:r>
              <a:rPr lang="en-US" altLang="zh-CN" sz="2400" dirty="0">
                <a:ea typeface="黑体" panose="02010609060101010101" pitchFamily="49" charset="-122"/>
              </a:rPr>
              <a:t>0</a:t>
            </a:r>
            <a:r>
              <a:rPr lang="zh-CN" altLang="en-US" sz="2400" dirty="0">
                <a:ea typeface="黑体" panose="02010609060101010101" pitchFamily="49" charset="-122"/>
              </a:rPr>
              <a:t>～</a:t>
            </a:r>
            <a:r>
              <a:rPr lang="en-US" altLang="zh-CN" sz="2400" dirty="0">
                <a:ea typeface="黑体" panose="02010609060101010101" pitchFamily="49" charset="-122"/>
              </a:rPr>
              <a:t>39</a:t>
            </a:r>
            <a:endParaRPr lang="en-US" altLang="zh-CN" sz="2400" dirty="0">
              <a:ea typeface="黑体" panose="02010609060101010101" pitchFamily="49" charset="-122"/>
            </a:endParaRPr>
          </a:p>
          <a:p>
            <a:pPr>
              <a:spcBef>
                <a:spcPct val="0"/>
              </a:spcBef>
              <a:buNone/>
            </a:pPr>
            <a:r>
              <a:rPr lang="en-US" altLang="zh-CN" sz="2400" dirty="0">
                <a:ea typeface="黑体" panose="02010609060101010101" pitchFamily="49" charset="-122"/>
              </a:rPr>
              <a:t>                                            </a:t>
            </a:r>
            <a:r>
              <a:rPr lang="zh-CN" altLang="en-US" sz="2400" dirty="0">
                <a:ea typeface="黑体" panose="02010609060101010101" pitchFamily="49" charset="-122"/>
              </a:rPr>
              <a:t>对于</a:t>
            </a:r>
            <a:r>
              <a:rPr lang="en-US" altLang="zh-CN" sz="2400" dirty="0">
                <a:ea typeface="黑体" panose="02010609060101010101" pitchFamily="49" charset="-122"/>
              </a:rPr>
              <a:t>80</a:t>
            </a:r>
            <a:r>
              <a:rPr lang="zh-CN" altLang="en-US" sz="2400" dirty="0">
                <a:ea typeface="黑体" panose="02010609060101010101" pitchFamily="49" charset="-122"/>
              </a:rPr>
              <a:t>列文本，取值</a:t>
            </a:r>
            <a:r>
              <a:rPr lang="en-US" altLang="zh-CN" sz="2400" dirty="0">
                <a:ea typeface="黑体" panose="02010609060101010101" pitchFamily="49" charset="-122"/>
              </a:rPr>
              <a:t>0</a:t>
            </a:r>
            <a:r>
              <a:rPr lang="zh-CN" altLang="en-US" sz="2400" dirty="0">
                <a:ea typeface="黑体" panose="02010609060101010101" pitchFamily="49" charset="-122"/>
              </a:rPr>
              <a:t>～</a:t>
            </a:r>
            <a:r>
              <a:rPr lang="en-US" altLang="zh-CN" sz="2400" dirty="0">
                <a:ea typeface="黑体" panose="02010609060101010101" pitchFamily="49" charset="-122"/>
              </a:rPr>
              <a:t>79</a:t>
            </a:r>
            <a:endParaRPr lang="en-US" altLang="zh-CN" sz="2400" dirty="0">
              <a:ea typeface="黑体" panose="02010609060101010101" pitchFamily="49" charset="-122"/>
            </a:endParaRPr>
          </a:p>
        </p:txBody>
      </p:sp>
      <p:sp>
        <p:nvSpPr>
          <p:cNvPr id="121860" name="Rectangle 6"/>
          <p:cNvSpPr/>
          <p:nvPr/>
        </p:nvSpPr>
        <p:spPr>
          <a:xfrm>
            <a:off x="873125" y="5283200"/>
            <a:ext cx="7772400" cy="16002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Bef>
                <a:spcPct val="0"/>
              </a:spcBef>
              <a:spcAft>
                <a:spcPct val="0"/>
              </a:spcAft>
              <a:buClrTx/>
              <a:buSzTx/>
              <a:buNone/>
            </a:pPr>
            <a:r>
              <a:rPr lang="zh-CN" altLang="en-US" sz="2400" dirty="0">
                <a:solidFill>
                  <a:srgbClr val="FF0000"/>
                </a:solidFill>
                <a:latin typeface="Times New Roman" panose="02020603050405020304" pitchFamily="18" charset="0"/>
                <a:ea typeface="黑体" panose="02010609060101010101" pitchFamily="49" charset="-122"/>
              </a:rPr>
              <a:t>程序</a:t>
            </a:r>
            <a:r>
              <a:rPr lang="zh-CN" altLang="en-US" sz="2000" dirty="0">
                <a:solidFill>
                  <a:schemeClr val="tx1"/>
                </a:solidFill>
                <a:latin typeface="Times New Roman" panose="02020603050405020304" pitchFamily="18" charset="0"/>
                <a:ea typeface="黑体" panose="02010609060101010101" pitchFamily="49" charset="-122"/>
              </a:rPr>
              <a:t>：	</a:t>
            </a:r>
            <a:r>
              <a:rPr lang="en-US" altLang="zh-CN" sz="2000" dirty="0">
                <a:solidFill>
                  <a:schemeClr val="tx1"/>
                </a:solidFill>
                <a:latin typeface="Times New Roman" panose="02020603050405020304" pitchFamily="18" charset="0"/>
                <a:ea typeface="黑体" panose="02010609060101010101" pitchFamily="49" charset="-122"/>
              </a:rPr>
              <a:t>MOV	BH, 0</a:t>
            </a:r>
            <a:endParaRPr lang="en-US" altLang="zh-CN" sz="20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en-US" altLang="zh-CN" sz="2000" dirty="0">
                <a:solidFill>
                  <a:schemeClr val="tx1"/>
                </a:solidFill>
                <a:latin typeface="Times New Roman" panose="02020603050405020304" pitchFamily="18" charset="0"/>
                <a:ea typeface="黑体" panose="02010609060101010101" pitchFamily="49" charset="-122"/>
              </a:rPr>
              <a:t>		MOV	DH, 10</a:t>
            </a:r>
            <a:endParaRPr lang="en-US" altLang="zh-CN" sz="20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en-US" altLang="zh-CN" sz="2000" dirty="0">
                <a:solidFill>
                  <a:schemeClr val="tx1"/>
                </a:solidFill>
                <a:latin typeface="Times New Roman" panose="02020603050405020304" pitchFamily="18" charset="0"/>
                <a:ea typeface="黑体" panose="02010609060101010101" pitchFamily="49" charset="-122"/>
              </a:rPr>
              <a:t>		MOV	DL, 30</a:t>
            </a:r>
            <a:endParaRPr lang="en-US" altLang="zh-CN" sz="20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en-US" altLang="zh-CN" sz="2000" dirty="0">
                <a:solidFill>
                  <a:schemeClr val="tx1"/>
                </a:solidFill>
                <a:latin typeface="Times New Roman" panose="02020603050405020304" pitchFamily="18" charset="0"/>
                <a:ea typeface="黑体" panose="02010609060101010101" pitchFamily="49" charset="-122"/>
              </a:rPr>
              <a:t>		MOV 	AH, 2</a:t>
            </a:r>
            <a:endParaRPr lang="en-US" altLang="zh-CN" sz="20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en-US" altLang="zh-CN" sz="2000" dirty="0">
                <a:solidFill>
                  <a:schemeClr val="tx1"/>
                </a:solidFill>
                <a:latin typeface="Times New Roman" panose="02020603050405020304" pitchFamily="18" charset="0"/>
                <a:ea typeface="黑体" panose="02010609060101010101" pitchFamily="49" charset="-122"/>
              </a:rPr>
              <a:t>		INT	10H</a:t>
            </a:r>
            <a:endParaRPr lang="en-US" altLang="zh-CN" sz="2000" dirty="0">
              <a:solidFill>
                <a:schemeClr val="tx1"/>
              </a:solidFill>
              <a:latin typeface="Times New Roman" panose="02020603050405020304" pitchFamily="18" charset="0"/>
              <a:ea typeface="黑体" panose="02010609060101010101" pitchFamily="49" charset="-122"/>
            </a:endParaRPr>
          </a:p>
        </p:txBody>
      </p:sp>
      <p:sp>
        <p:nvSpPr>
          <p:cNvPr id="121861" name="Rectangle 7"/>
          <p:cNvSpPr/>
          <p:nvPr/>
        </p:nvSpPr>
        <p:spPr>
          <a:xfrm>
            <a:off x="850900" y="4710113"/>
            <a:ext cx="7772400" cy="4572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Aft>
                <a:spcPct val="0"/>
              </a:spcAft>
              <a:buClrTx/>
              <a:buSzTx/>
              <a:buNone/>
            </a:pPr>
            <a:r>
              <a:rPr lang="zh-CN" altLang="en-US" dirty="0">
                <a:solidFill>
                  <a:srgbClr val="FF0000"/>
                </a:solidFill>
                <a:latin typeface="Times New Roman" panose="02020603050405020304" pitchFamily="18" charset="0"/>
                <a:ea typeface="黑体" panose="02010609060101010101" pitchFamily="49" charset="-122"/>
              </a:rPr>
              <a:t>例</a:t>
            </a:r>
            <a:r>
              <a:rPr lang="zh-CN" altLang="en-US" sz="2400" dirty="0">
                <a:solidFill>
                  <a:schemeClr val="tx1"/>
                </a:solidFill>
                <a:latin typeface="Times New Roman" panose="02020603050405020304" pitchFamily="18" charset="0"/>
                <a:ea typeface="黑体" panose="02010609060101010101" pitchFamily="49" charset="-122"/>
              </a:rPr>
              <a:t>：将光标置在第</a:t>
            </a:r>
            <a:r>
              <a:rPr lang="en-US" altLang="zh-CN" sz="2400" dirty="0">
                <a:solidFill>
                  <a:schemeClr val="tx1"/>
                </a:solidFill>
                <a:latin typeface="Times New Roman" panose="02020603050405020304" pitchFamily="18" charset="0"/>
                <a:ea typeface="黑体" panose="02010609060101010101" pitchFamily="49" charset="-122"/>
              </a:rPr>
              <a:t>10</a:t>
            </a:r>
            <a:r>
              <a:rPr lang="zh-CN" altLang="en-US" sz="2400" dirty="0">
                <a:solidFill>
                  <a:schemeClr val="tx1"/>
                </a:solidFill>
                <a:latin typeface="Times New Roman" panose="02020603050405020304" pitchFamily="18" charset="0"/>
                <a:ea typeface="黑体" panose="02010609060101010101" pitchFamily="49" charset="-122"/>
              </a:rPr>
              <a:t>行</a:t>
            </a:r>
            <a:r>
              <a:rPr lang="en-US" altLang="zh-CN" sz="2400" dirty="0">
                <a:solidFill>
                  <a:schemeClr val="tx1"/>
                </a:solidFill>
                <a:latin typeface="Times New Roman" panose="02020603050405020304" pitchFamily="18" charset="0"/>
                <a:ea typeface="黑体" panose="02010609060101010101" pitchFamily="49" charset="-122"/>
              </a:rPr>
              <a:t>30</a:t>
            </a:r>
            <a:r>
              <a:rPr lang="zh-CN" altLang="en-US" sz="2400" dirty="0">
                <a:solidFill>
                  <a:schemeClr val="tx1"/>
                </a:solidFill>
                <a:latin typeface="Times New Roman" panose="02020603050405020304" pitchFamily="18" charset="0"/>
                <a:ea typeface="黑体" panose="02010609060101010101" pitchFamily="49" charset="-122"/>
              </a:rPr>
              <a:t>列</a:t>
            </a:r>
            <a:endParaRPr lang="zh-CN" altLang="en-US" sz="2400" dirty="0">
              <a:solidFill>
                <a:schemeClr val="tx1"/>
              </a:solidFill>
              <a:latin typeface="Times New Roman" panose="02020603050405020304" pitchFamily="18" charset="0"/>
              <a:ea typeface="黑体" panose="020106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861"/>
                                        </p:tgtEl>
                                        <p:attrNameLst>
                                          <p:attrName>style.visibility</p:attrName>
                                        </p:attrNameLst>
                                      </p:cBhvr>
                                      <p:to>
                                        <p:strVal val="visible"/>
                                      </p:to>
                                    </p:set>
                                    <p:anim calcmode="lin" valueType="num">
                                      <p:cBhvr>
                                        <p:cTn id="7" dur="500" fill="hold"/>
                                        <p:tgtEl>
                                          <p:spTgt spid="121861"/>
                                        </p:tgtEl>
                                        <p:attrNameLst>
                                          <p:attrName>ppt_x</p:attrName>
                                        </p:attrNameLst>
                                      </p:cBhvr>
                                      <p:tavLst>
                                        <p:tav tm="0">
                                          <p:val>
                                            <p:strVal val="0-#ppt_w/2"/>
                                          </p:val>
                                        </p:tav>
                                        <p:tav tm="100000">
                                          <p:val>
                                            <p:strVal val="#ppt_x"/>
                                          </p:val>
                                        </p:tav>
                                      </p:tavLst>
                                    </p:anim>
                                    <p:anim calcmode="lin" valueType="num">
                                      <p:cBhvr>
                                        <p:cTn id="8" dur="500" fill="hold"/>
                                        <p:tgtEl>
                                          <p:spTgt spid="12186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21860"/>
                                        </p:tgtEl>
                                        <p:attrNameLst>
                                          <p:attrName>style.visibility</p:attrName>
                                        </p:attrNameLst>
                                      </p:cBhvr>
                                      <p:to>
                                        <p:strVal val="visible"/>
                                      </p:to>
                                    </p:set>
                                    <p:animEffect transition="in" filter="blinds(vertical)">
                                      <p:cBhvr>
                                        <p:cTn id="13" dur="500"/>
                                        <p:tgtEl>
                                          <p:spTgt spid="121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0" grpId="0"/>
      <p:bldP spid="121861"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2"/>
          <p:cNvSpPr>
            <a:spLocks noGrp="1"/>
          </p:cNvSpPr>
          <p:nvPr>
            <p:ph type="title" idx="4294967295"/>
          </p:nvPr>
        </p:nvSpPr>
        <p:spPr>
          <a:xfrm>
            <a:off x="609600" y="990600"/>
            <a:ext cx="7772400" cy="609600"/>
          </a:xfrm>
        </p:spPr>
        <p:txBody>
          <a:bodyPr vert="horz" wrap="square" lIns="91440" tIns="45720" rIns="91440" bIns="45720" anchor="b" anchorCtr="0"/>
          <a:p>
            <a:r>
              <a:rPr lang="zh-CN" altLang="en-US" sz="2800" b="1" dirty="0">
                <a:solidFill>
                  <a:schemeClr val="tx1"/>
                </a:solidFill>
                <a:ea typeface="黑体" panose="02010609060101010101" pitchFamily="49" charset="-122"/>
              </a:rPr>
              <a:t>（</a:t>
            </a:r>
            <a:r>
              <a:rPr lang="en-US" altLang="zh-CN" sz="2800" b="1" dirty="0">
                <a:solidFill>
                  <a:schemeClr val="tx1"/>
                </a:solidFill>
                <a:ea typeface="黑体" panose="02010609060101010101" pitchFamily="49" charset="-122"/>
              </a:rPr>
              <a:t>3</a:t>
            </a:r>
            <a:r>
              <a:rPr lang="zh-CN" altLang="en-US" sz="2800" b="1" dirty="0">
                <a:solidFill>
                  <a:schemeClr val="tx1"/>
                </a:solidFill>
                <a:ea typeface="黑体" panose="02010609060101010101" pitchFamily="49" charset="-122"/>
              </a:rPr>
              <a:t>）在当前光标处写</a:t>
            </a:r>
            <a:r>
              <a:rPr lang="zh-CN" altLang="en-US" sz="2800" b="1" dirty="0">
                <a:solidFill>
                  <a:srgbClr val="FF0000"/>
                </a:solidFill>
                <a:ea typeface="黑体" panose="02010609060101010101" pitchFamily="49" charset="-122"/>
              </a:rPr>
              <a:t>字符</a:t>
            </a:r>
            <a:r>
              <a:rPr lang="zh-CN" altLang="en-US" sz="2800" b="1" dirty="0">
                <a:solidFill>
                  <a:schemeClr val="tx1"/>
                </a:solidFill>
                <a:ea typeface="黑体" panose="02010609060101010101" pitchFamily="49" charset="-122"/>
              </a:rPr>
              <a:t>和</a:t>
            </a:r>
            <a:r>
              <a:rPr lang="zh-CN" altLang="en-US" sz="2800" b="1" dirty="0">
                <a:solidFill>
                  <a:srgbClr val="FF0000"/>
                </a:solidFill>
                <a:ea typeface="黑体" panose="02010609060101010101" pitchFamily="49" charset="-122"/>
              </a:rPr>
              <a:t>属性</a:t>
            </a:r>
            <a:endParaRPr lang="zh-CN" altLang="en-US" sz="2800" b="1" dirty="0">
              <a:solidFill>
                <a:srgbClr val="FF0000"/>
              </a:solidFill>
              <a:ea typeface="黑体" panose="02010609060101010101" pitchFamily="49" charset="-122"/>
            </a:endParaRPr>
          </a:p>
        </p:txBody>
      </p:sp>
      <p:sp>
        <p:nvSpPr>
          <p:cNvPr id="193539" name="Rectangle 3"/>
          <p:cNvSpPr>
            <a:spLocks noGrp="1"/>
          </p:cNvSpPr>
          <p:nvPr>
            <p:ph type="body" idx="4294967295"/>
          </p:nvPr>
        </p:nvSpPr>
        <p:spPr>
          <a:xfrm>
            <a:off x="685800" y="1828800"/>
            <a:ext cx="7772400" cy="2533650"/>
          </a:xfrm>
        </p:spPr>
        <p:txBody>
          <a:bodyPr vert="horz" wrap="square" lIns="91440" tIns="45720" rIns="91440" bIns="45720" anchor="t" anchorCtr="0"/>
          <a:p>
            <a:pPr>
              <a:spcBef>
                <a:spcPct val="0"/>
              </a:spcBef>
              <a:buNone/>
            </a:pPr>
            <a:r>
              <a:rPr lang="en-US" altLang="zh-CN" sz="2400" dirty="0">
                <a:ea typeface="黑体" panose="02010609060101010101" pitchFamily="49" charset="-122"/>
              </a:rPr>
              <a:t>    </a:t>
            </a:r>
            <a:r>
              <a:rPr lang="zh-CN" altLang="en-US" sz="2400" dirty="0">
                <a:ea typeface="黑体" panose="02010609060101010101" pitchFamily="49" charset="-122"/>
              </a:rPr>
              <a:t>矢量号：	     </a:t>
            </a:r>
            <a:r>
              <a:rPr lang="en-US" altLang="zh-CN" sz="2400" dirty="0">
                <a:ea typeface="黑体" panose="02010609060101010101" pitchFamily="49" charset="-122"/>
              </a:rPr>
              <a:t>10H</a:t>
            </a:r>
            <a:endParaRPr lang="en-US" altLang="zh-CN" sz="2400" dirty="0">
              <a:ea typeface="黑体" panose="02010609060101010101" pitchFamily="49" charset="-122"/>
            </a:endParaRPr>
          </a:p>
          <a:p>
            <a:pPr>
              <a:spcBef>
                <a:spcPct val="0"/>
              </a:spcBef>
              <a:buNone/>
            </a:pPr>
            <a:r>
              <a:rPr lang="en-US" altLang="zh-CN" sz="2400" dirty="0">
                <a:ea typeface="黑体" panose="02010609060101010101" pitchFamily="49" charset="-122"/>
              </a:rPr>
              <a:t>    </a:t>
            </a:r>
            <a:r>
              <a:rPr lang="zh-CN" altLang="en-US" sz="2400" dirty="0">
                <a:ea typeface="黑体" panose="02010609060101010101" pitchFamily="49" charset="-122"/>
              </a:rPr>
              <a:t>功能号：	     </a:t>
            </a:r>
            <a:r>
              <a:rPr lang="en-US" altLang="zh-CN" sz="2400" dirty="0">
                <a:ea typeface="黑体" panose="02010609060101010101" pitchFamily="49" charset="-122"/>
              </a:rPr>
              <a:t>AH</a:t>
            </a:r>
            <a:r>
              <a:rPr lang="zh-CN" altLang="en-US" sz="2400" dirty="0">
                <a:ea typeface="黑体" panose="02010609060101010101" pitchFamily="49" charset="-122"/>
              </a:rPr>
              <a:t>＝</a:t>
            </a:r>
            <a:r>
              <a:rPr lang="en-US" altLang="zh-CN" sz="2400" dirty="0">
                <a:ea typeface="黑体" panose="02010609060101010101" pitchFamily="49" charset="-122"/>
              </a:rPr>
              <a:t>9</a:t>
            </a:r>
            <a:endParaRPr lang="en-US" altLang="zh-CN" sz="2400" dirty="0">
              <a:ea typeface="黑体" panose="02010609060101010101" pitchFamily="49" charset="-122"/>
            </a:endParaRPr>
          </a:p>
          <a:p>
            <a:pPr>
              <a:spcBef>
                <a:spcPct val="0"/>
              </a:spcBef>
              <a:buNone/>
            </a:pPr>
            <a:r>
              <a:rPr lang="en-US" altLang="zh-CN" sz="2400" dirty="0">
                <a:ea typeface="黑体" panose="02010609060101010101" pitchFamily="49" charset="-122"/>
              </a:rPr>
              <a:t>    </a:t>
            </a:r>
            <a:r>
              <a:rPr lang="zh-CN" altLang="en-US" sz="2400" dirty="0">
                <a:ea typeface="黑体" panose="02010609060101010101" pitchFamily="49" charset="-122"/>
              </a:rPr>
              <a:t>入口参数：    </a:t>
            </a:r>
            <a:r>
              <a:rPr lang="en-US" altLang="zh-CN" sz="2400" dirty="0">
                <a:ea typeface="黑体" panose="02010609060101010101" pitchFamily="49" charset="-122"/>
              </a:rPr>
              <a:t>BH</a:t>
            </a:r>
            <a:r>
              <a:rPr lang="zh-CN" altLang="en-US" sz="2400" dirty="0">
                <a:ea typeface="黑体" panose="02010609060101010101" pitchFamily="49" charset="-122"/>
              </a:rPr>
              <a:t>＝页号</a:t>
            </a:r>
            <a:endParaRPr lang="zh-CN" altLang="en-US" sz="2400" dirty="0">
              <a:ea typeface="黑体" panose="02010609060101010101" pitchFamily="49" charset="-122"/>
            </a:endParaRPr>
          </a:p>
          <a:p>
            <a:pPr>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AL</a:t>
            </a:r>
            <a:r>
              <a:rPr lang="zh-CN" altLang="en-US" sz="2400" dirty="0">
                <a:ea typeface="黑体" panose="02010609060101010101" pitchFamily="49" charset="-122"/>
              </a:rPr>
              <a:t>＝显示字符的</a:t>
            </a:r>
            <a:r>
              <a:rPr lang="en-US" altLang="zh-CN" sz="2400" dirty="0">
                <a:ea typeface="黑体" panose="02010609060101010101" pitchFamily="49" charset="-122"/>
              </a:rPr>
              <a:t>ASCII</a:t>
            </a:r>
            <a:r>
              <a:rPr lang="zh-CN" altLang="en-US" sz="2400" dirty="0">
                <a:ea typeface="黑体" panose="02010609060101010101" pitchFamily="49" charset="-122"/>
              </a:rPr>
              <a:t>码</a:t>
            </a:r>
            <a:endParaRPr lang="zh-CN" altLang="en-US" sz="2400" dirty="0">
              <a:ea typeface="黑体" panose="02010609060101010101" pitchFamily="49" charset="-122"/>
            </a:endParaRPr>
          </a:p>
          <a:p>
            <a:pPr>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BL</a:t>
            </a:r>
            <a:r>
              <a:rPr lang="zh-CN" altLang="en-US" sz="2400" dirty="0">
                <a:ea typeface="黑体" panose="02010609060101010101" pitchFamily="49" charset="-122"/>
              </a:rPr>
              <a:t>＝属性</a:t>
            </a:r>
            <a:endParaRPr lang="zh-CN" altLang="en-US" sz="2400" dirty="0">
              <a:ea typeface="黑体" panose="02010609060101010101" pitchFamily="49" charset="-122"/>
            </a:endParaRPr>
          </a:p>
          <a:p>
            <a:pPr>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CX</a:t>
            </a:r>
            <a:r>
              <a:rPr lang="zh-CN" altLang="en-US" sz="2400" dirty="0">
                <a:ea typeface="黑体" panose="02010609060101010101" pitchFamily="49" charset="-122"/>
              </a:rPr>
              <a:t>＝重复显示的次数</a:t>
            </a:r>
            <a:endParaRPr lang="zh-CN" altLang="en-US" sz="2400" dirty="0">
              <a:ea typeface="黑体" panose="02010609060101010101" pitchFamily="49" charset="-122"/>
            </a:endParaRPr>
          </a:p>
        </p:txBody>
      </p:sp>
      <p:sp>
        <p:nvSpPr>
          <p:cNvPr id="122884" name="Rectangle 6"/>
          <p:cNvSpPr/>
          <p:nvPr/>
        </p:nvSpPr>
        <p:spPr>
          <a:xfrm>
            <a:off x="762000" y="5638800"/>
            <a:ext cx="7772400" cy="8382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Aft>
                <a:spcPct val="0"/>
              </a:spcAft>
              <a:buClrTx/>
              <a:buSzTx/>
              <a:buNone/>
            </a:pPr>
            <a:r>
              <a:rPr lang="en-US" altLang="zh-CN" sz="2400" dirty="0">
                <a:solidFill>
                  <a:srgbClr val="FF0000"/>
                </a:solidFill>
                <a:latin typeface="Times New Roman" panose="02020603050405020304" pitchFamily="18" charset="0"/>
                <a:ea typeface="黑体" panose="02010609060101010101" pitchFamily="49" charset="-122"/>
              </a:rPr>
              <a:t>L</a:t>
            </a:r>
            <a:r>
              <a:rPr lang="zh-CN" altLang="en-US" sz="2400" dirty="0">
                <a:solidFill>
                  <a:srgbClr val="FF0000"/>
                </a:solidFill>
                <a:latin typeface="Times New Roman" panose="02020603050405020304" pitchFamily="18" charset="0"/>
                <a:ea typeface="黑体" panose="02010609060101010101" pitchFamily="49" charset="-122"/>
              </a:rPr>
              <a:t>位</a:t>
            </a:r>
            <a:r>
              <a:rPr lang="zh-CN" altLang="en-US" sz="2400" dirty="0">
                <a:solidFill>
                  <a:schemeClr val="tx1"/>
                </a:solidFill>
                <a:latin typeface="Times New Roman" panose="02020603050405020304" pitchFamily="18" charset="0"/>
                <a:ea typeface="黑体" panose="02010609060101010101" pitchFamily="49" charset="-122"/>
              </a:rPr>
              <a:t>为</a:t>
            </a:r>
            <a:r>
              <a:rPr lang="en-US" altLang="zh-CN" sz="2400" dirty="0">
                <a:solidFill>
                  <a:schemeClr val="tx1"/>
                </a:solidFill>
                <a:latin typeface="Times New Roman" panose="02020603050405020304" pitchFamily="18" charset="0"/>
                <a:ea typeface="黑体" panose="02010609060101010101" pitchFamily="49" charset="-122"/>
              </a:rPr>
              <a:t>1</a:t>
            </a:r>
            <a:r>
              <a:rPr lang="zh-CN" altLang="en-US" sz="2400" dirty="0">
                <a:solidFill>
                  <a:schemeClr val="tx1"/>
                </a:solidFill>
                <a:latin typeface="Times New Roman" panose="02020603050405020304" pitchFamily="18" charset="0"/>
                <a:ea typeface="黑体" panose="02010609060101010101" pitchFamily="49" charset="-122"/>
              </a:rPr>
              <a:t>时表示背景闪烁，否则不闪</a:t>
            </a:r>
            <a:endParaRPr lang="zh-CN" altLang="en-US" sz="24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Aft>
                <a:spcPct val="0"/>
              </a:spcAft>
              <a:buClrTx/>
              <a:buSzTx/>
              <a:buNone/>
            </a:pPr>
            <a:r>
              <a:rPr lang="en-US" altLang="zh-CN" sz="2400" dirty="0">
                <a:solidFill>
                  <a:srgbClr val="FF0000"/>
                </a:solidFill>
                <a:latin typeface="Times New Roman" panose="02020603050405020304" pitchFamily="18" charset="0"/>
                <a:ea typeface="黑体" panose="02010609060101010101" pitchFamily="49" charset="-122"/>
              </a:rPr>
              <a:t>I</a:t>
            </a:r>
            <a:r>
              <a:rPr lang="zh-CN" altLang="en-US" sz="2400" dirty="0">
                <a:solidFill>
                  <a:srgbClr val="FF0000"/>
                </a:solidFill>
                <a:latin typeface="Times New Roman" panose="02020603050405020304" pitchFamily="18" charset="0"/>
                <a:ea typeface="黑体" panose="02010609060101010101" pitchFamily="49" charset="-122"/>
              </a:rPr>
              <a:t>位</a:t>
            </a:r>
            <a:r>
              <a:rPr lang="zh-CN" altLang="en-US" sz="2400" dirty="0">
                <a:solidFill>
                  <a:schemeClr val="tx1"/>
                </a:solidFill>
                <a:latin typeface="Times New Roman" panose="02020603050405020304" pitchFamily="18" charset="0"/>
                <a:ea typeface="黑体" panose="02010609060101010101" pitchFamily="49" charset="-122"/>
              </a:rPr>
              <a:t>为</a:t>
            </a:r>
            <a:r>
              <a:rPr lang="en-US" altLang="zh-CN" sz="2400" dirty="0">
                <a:solidFill>
                  <a:schemeClr val="tx1"/>
                </a:solidFill>
                <a:latin typeface="Times New Roman" panose="02020603050405020304" pitchFamily="18" charset="0"/>
                <a:ea typeface="黑体" panose="02010609060101010101" pitchFamily="49" charset="-122"/>
              </a:rPr>
              <a:t>1</a:t>
            </a:r>
            <a:r>
              <a:rPr lang="zh-CN" altLang="en-US" sz="2400" dirty="0">
                <a:solidFill>
                  <a:schemeClr val="tx1"/>
                </a:solidFill>
                <a:latin typeface="Times New Roman" panose="02020603050405020304" pitchFamily="18" charset="0"/>
                <a:ea typeface="黑体" panose="02010609060101010101" pitchFamily="49" charset="-122"/>
              </a:rPr>
              <a:t>时表示前景为高亮度，否则为一般亮度</a:t>
            </a:r>
            <a:endParaRPr lang="zh-CN" altLang="en-US" sz="2400" dirty="0">
              <a:solidFill>
                <a:schemeClr val="tx1"/>
              </a:solidFill>
              <a:latin typeface="Times New Roman" panose="02020603050405020304" pitchFamily="18" charset="0"/>
              <a:ea typeface="黑体" panose="02010609060101010101" pitchFamily="49" charset="-122"/>
            </a:endParaRPr>
          </a:p>
        </p:txBody>
      </p:sp>
      <p:pic>
        <p:nvPicPr>
          <p:cNvPr id="122885" name="Picture 7"/>
          <p:cNvPicPr>
            <a:picLocks noChangeAspect="1"/>
          </p:cNvPicPr>
          <p:nvPr/>
        </p:nvPicPr>
        <p:blipFill>
          <a:blip r:embed="rId1"/>
          <a:stretch>
            <a:fillRect/>
          </a:stretch>
        </p:blipFill>
        <p:spPr>
          <a:xfrm>
            <a:off x="1908175" y="4362450"/>
            <a:ext cx="4038600" cy="1276350"/>
          </a:xfrm>
          <a:prstGeom prst="rect">
            <a:avLst/>
          </a:prstGeom>
          <a:noFill/>
          <a:ln w="9525">
            <a:noFill/>
          </a:ln>
        </p:spPr>
      </p:pic>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122885"/>
                                        </p:tgtEl>
                                        <p:attrNameLst>
                                          <p:attrName>style.visibility</p:attrName>
                                        </p:attrNameLst>
                                      </p:cBhvr>
                                      <p:to>
                                        <p:strVal val="visible"/>
                                      </p:to>
                                    </p:set>
                                    <p:anim calcmode="lin" valueType="num">
                                      <p:cBhvr>
                                        <p:cTn id="7" dur="500" fill="hold"/>
                                        <p:tgtEl>
                                          <p:spTgt spid="122885"/>
                                        </p:tgtEl>
                                        <p:attrNameLst>
                                          <p:attrName>ppt_x</p:attrName>
                                        </p:attrNameLst>
                                      </p:cBhvr>
                                      <p:tavLst>
                                        <p:tav tm="0">
                                          <p:val>
                                            <p:strVal val="1+#ppt_w/2"/>
                                          </p:val>
                                        </p:tav>
                                        <p:tav tm="100000">
                                          <p:val>
                                            <p:strVal val="#ppt_x"/>
                                          </p:val>
                                        </p:tav>
                                      </p:tavLst>
                                    </p:anim>
                                    <p:anim calcmode="lin" valueType="num">
                                      <p:cBhvr>
                                        <p:cTn id="8" dur="500" fill="hold"/>
                                        <p:tgtEl>
                                          <p:spTgt spid="12288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884"/>
                                        </p:tgtEl>
                                        <p:attrNameLst>
                                          <p:attrName>style.visibility</p:attrName>
                                        </p:attrNameLst>
                                      </p:cBhvr>
                                      <p:to>
                                        <p:strVal val="visible"/>
                                      </p:to>
                                    </p:set>
                                    <p:anim calcmode="lin" valueType="num">
                                      <p:cBhvr>
                                        <p:cTn id="13" dur="500" fill="hold"/>
                                        <p:tgtEl>
                                          <p:spTgt spid="122884"/>
                                        </p:tgtEl>
                                        <p:attrNameLst>
                                          <p:attrName>ppt_x</p:attrName>
                                        </p:attrNameLst>
                                      </p:cBhvr>
                                      <p:tavLst>
                                        <p:tav tm="0">
                                          <p:val>
                                            <p:strVal val="0-#ppt_w/2"/>
                                          </p:val>
                                        </p:tav>
                                        <p:tav tm="100000">
                                          <p:val>
                                            <p:strVal val="#ppt_x"/>
                                          </p:val>
                                        </p:tav>
                                      </p:tavLst>
                                    </p:anim>
                                    <p:anim calcmode="lin" valueType="num">
                                      <p:cBhvr>
                                        <p:cTn id="14" dur="500" fill="hold"/>
                                        <p:tgtEl>
                                          <p:spTgt spid="1228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4"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3"/>
          <p:cNvSpPr>
            <a:spLocks noGrp="1"/>
          </p:cNvSpPr>
          <p:nvPr>
            <p:ph type="body" idx="4294967295"/>
          </p:nvPr>
        </p:nvSpPr>
        <p:spPr>
          <a:xfrm>
            <a:off x="762000" y="990600"/>
            <a:ext cx="7772400" cy="457200"/>
          </a:xfrm>
        </p:spPr>
        <p:txBody>
          <a:bodyPr vert="horz" wrap="square" lIns="91440" tIns="45720" rIns="91440" bIns="45720" anchor="t" anchorCtr="0"/>
          <a:p>
            <a:pPr algn="ctr">
              <a:buNone/>
            </a:pPr>
            <a:r>
              <a:rPr lang="zh-CN" altLang="en-US" sz="2400" dirty="0">
                <a:ea typeface="黑体" panose="02010609060101010101" pitchFamily="49" charset="-122"/>
              </a:rPr>
              <a:t>文本方式</a:t>
            </a:r>
            <a:r>
              <a:rPr lang="en-US" altLang="zh-CN" sz="2400" dirty="0">
                <a:ea typeface="黑体" panose="02010609060101010101" pitchFamily="49" charset="-122"/>
              </a:rPr>
              <a:t>16</a:t>
            </a:r>
            <a:r>
              <a:rPr lang="zh-CN" altLang="en-US" sz="2400" dirty="0">
                <a:ea typeface="黑体" panose="02010609060101010101" pitchFamily="49" charset="-122"/>
              </a:rPr>
              <a:t>种颜色的组合</a:t>
            </a:r>
            <a:endParaRPr lang="zh-CN" altLang="en-US" sz="2400" dirty="0">
              <a:ea typeface="黑体" panose="02010609060101010101" pitchFamily="49" charset="-122"/>
            </a:endParaRPr>
          </a:p>
        </p:txBody>
      </p:sp>
      <p:graphicFrame>
        <p:nvGraphicFramePr>
          <p:cNvPr id="194563" name="Object 4"/>
          <p:cNvGraphicFramePr>
            <a:graphicFrameLocks noChangeAspect="1"/>
          </p:cNvGraphicFramePr>
          <p:nvPr/>
        </p:nvGraphicFramePr>
        <p:xfrm>
          <a:off x="1371600" y="1524000"/>
          <a:ext cx="6629400" cy="2082800"/>
        </p:xfrm>
        <a:graphic>
          <a:graphicData uri="http://schemas.openxmlformats.org/presentationml/2006/ole">
            <mc:AlternateContent xmlns:mc="http://schemas.openxmlformats.org/markup-compatibility/2006">
              <mc:Choice xmlns:v="urn:schemas-microsoft-com:vml" Requires="v">
                <p:oleObj spid="_x0000_s3082" name="" r:id="rId1" imgW="5467350" imgH="1847850" progId="PBrush">
                  <p:embed/>
                </p:oleObj>
              </mc:Choice>
              <mc:Fallback>
                <p:oleObj name="" r:id="rId1" imgW="5467350" imgH="1847850" progId="PBrush">
                  <p:embed/>
                  <p:pic>
                    <p:nvPicPr>
                      <p:cNvPr id="0" name="图片 3081"/>
                      <p:cNvPicPr/>
                      <p:nvPr/>
                    </p:nvPicPr>
                    <p:blipFill>
                      <a:blip r:embed="rId2"/>
                      <a:stretch>
                        <a:fillRect/>
                      </a:stretch>
                    </p:blipFill>
                    <p:spPr>
                      <a:xfrm>
                        <a:off x="1371600" y="1524000"/>
                        <a:ext cx="6629400" cy="2082800"/>
                      </a:xfrm>
                      <a:prstGeom prst="rect">
                        <a:avLst/>
                      </a:prstGeom>
                      <a:noFill/>
                      <a:ln w="38100">
                        <a:noFill/>
                        <a:miter/>
                      </a:ln>
                    </p:spPr>
                  </p:pic>
                </p:oleObj>
              </mc:Fallback>
            </mc:AlternateContent>
          </a:graphicData>
        </a:graphic>
      </p:graphicFrame>
      <p:sp>
        <p:nvSpPr>
          <p:cNvPr id="123908" name="Rectangle 5"/>
          <p:cNvSpPr/>
          <p:nvPr/>
        </p:nvSpPr>
        <p:spPr>
          <a:xfrm>
            <a:off x="609600" y="3886200"/>
            <a:ext cx="8355013" cy="8382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Aft>
                <a:spcPct val="0"/>
              </a:spcAft>
              <a:buClrTx/>
              <a:buSzTx/>
              <a:buNone/>
            </a:pPr>
            <a:r>
              <a:rPr lang="zh-CN" altLang="en-US" dirty="0">
                <a:solidFill>
                  <a:srgbClr val="FF0000"/>
                </a:solidFill>
                <a:latin typeface="Times New Roman" panose="02020603050405020304" pitchFamily="18" charset="0"/>
                <a:ea typeface="黑体" panose="02010609060101010101" pitchFamily="49" charset="-122"/>
              </a:rPr>
              <a:t>例</a:t>
            </a:r>
            <a:r>
              <a:rPr lang="zh-CN" altLang="en-US" sz="2400" dirty="0">
                <a:solidFill>
                  <a:schemeClr val="tx1"/>
                </a:solidFill>
                <a:latin typeface="Times New Roman" panose="02020603050405020304" pitchFamily="18" charset="0"/>
                <a:ea typeface="黑体" panose="02010609060101010101" pitchFamily="49" charset="-122"/>
              </a:rPr>
              <a:t>：用兰色清屏，然后在第</a:t>
            </a:r>
            <a:r>
              <a:rPr lang="en-US" altLang="zh-CN" sz="2400" dirty="0">
                <a:solidFill>
                  <a:schemeClr val="tx1"/>
                </a:solidFill>
                <a:latin typeface="Times New Roman" panose="02020603050405020304" pitchFamily="18" charset="0"/>
                <a:ea typeface="黑体" panose="02010609060101010101" pitchFamily="49" charset="-122"/>
              </a:rPr>
              <a:t>10</a:t>
            </a:r>
            <a:r>
              <a:rPr lang="zh-CN" altLang="en-US" sz="2400" dirty="0">
                <a:solidFill>
                  <a:schemeClr val="tx1"/>
                </a:solidFill>
                <a:latin typeface="Times New Roman" panose="02020603050405020304" pitchFamily="18" charset="0"/>
                <a:ea typeface="黑体" panose="02010609060101010101" pitchFamily="49" charset="-122"/>
              </a:rPr>
              <a:t>行</a:t>
            </a:r>
            <a:r>
              <a:rPr lang="en-US" altLang="zh-CN" sz="2400" dirty="0">
                <a:solidFill>
                  <a:schemeClr val="tx1"/>
                </a:solidFill>
                <a:latin typeface="Times New Roman" panose="02020603050405020304" pitchFamily="18" charset="0"/>
                <a:ea typeface="黑体" panose="02010609060101010101" pitchFamily="49" charset="-122"/>
              </a:rPr>
              <a:t>30</a:t>
            </a:r>
            <a:r>
              <a:rPr lang="zh-CN" altLang="en-US" sz="2400" dirty="0">
                <a:solidFill>
                  <a:schemeClr val="tx1"/>
                </a:solidFill>
                <a:latin typeface="Times New Roman" panose="02020603050405020304" pitchFamily="18" charset="0"/>
                <a:ea typeface="黑体" panose="02010609060101010101" pitchFamily="49" charset="-122"/>
              </a:rPr>
              <a:t>列显示</a:t>
            </a:r>
            <a:r>
              <a:rPr lang="en-US" altLang="zh-CN" sz="2400" dirty="0">
                <a:solidFill>
                  <a:schemeClr val="tx1"/>
                </a:solidFill>
                <a:latin typeface="Times New Roman" panose="02020603050405020304" pitchFamily="18" charset="0"/>
                <a:ea typeface="黑体" panose="02010609060101010101" pitchFamily="49" charset="-122"/>
              </a:rPr>
              <a:t>20</a:t>
            </a:r>
            <a:r>
              <a:rPr lang="zh-CN" altLang="en-US" sz="2400" dirty="0">
                <a:solidFill>
                  <a:schemeClr val="tx1"/>
                </a:solidFill>
                <a:latin typeface="Times New Roman" panose="02020603050405020304" pitchFamily="18" charset="0"/>
                <a:ea typeface="黑体" panose="02010609060101010101" pitchFamily="49" charset="-122"/>
              </a:rPr>
              <a:t>个红底白字‘</a:t>
            </a:r>
            <a:r>
              <a:rPr lang="en-US" altLang="zh-CN" sz="2400" dirty="0">
                <a:solidFill>
                  <a:schemeClr val="tx1"/>
                </a:solidFill>
                <a:latin typeface="Times New Roman" panose="02020603050405020304" pitchFamily="18" charset="0"/>
                <a:ea typeface="黑体" panose="02010609060101010101" pitchFamily="49" charset="-122"/>
              </a:rPr>
              <a:t>A’</a:t>
            </a:r>
            <a:endParaRPr lang="en-US" altLang="zh-CN" sz="2400" dirty="0">
              <a:solidFill>
                <a:schemeClr val="tx1"/>
              </a:solidFill>
              <a:latin typeface="Times New Roman" panose="02020603050405020304" pitchFamily="18" charset="0"/>
              <a:ea typeface="黑体" panose="02010609060101010101" pitchFamily="49" charset="-122"/>
            </a:endParaRPr>
          </a:p>
        </p:txBody>
      </p:sp>
      <p:sp>
        <p:nvSpPr>
          <p:cNvPr id="123909" name="Rectangle 6"/>
          <p:cNvSpPr/>
          <p:nvPr/>
        </p:nvSpPr>
        <p:spPr>
          <a:xfrm>
            <a:off x="609600" y="4800600"/>
            <a:ext cx="8229600" cy="16002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Aft>
                <a:spcPct val="0"/>
              </a:spcAft>
              <a:buClrTx/>
              <a:buSzTx/>
              <a:buNone/>
            </a:pPr>
            <a:r>
              <a:rPr lang="zh-CN" altLang="en-US" dirty="0">
                <a:solidFill>
                  <a:srgbClr val="FF0000"/>
                </a:solidFill>
                <a:latin typeface="Times New Roman" panose="02020603050405020304" pitchFamily="18" charset="0"/>
                <a:ea typeface="黑体" panose="02010609060101010101" pitchFamily="49" charset="-122"/>
              </a:rPr>
              <a:t>程序</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MOV		AL, 0         </a:t>
            </a:r>
            <a:r>
              <a:rPr lang="zh-CN" altLang="en-US" sz="2000" dirty="0">
                <a:solidFill>
                  <a:schemeClr val="tx1"/>
                </a:solidFill>
                <a:latin typeface="Times New Roman" panose="02020603050405020304" pitchFamily="18" charset="0"/>
                <a:ea typeface="黑体" panose="02010609060101010101" pitchFamily="49" charset="-122"/>
              </a:rPr>
              <a:t>；</a:t>
            </a:r>
            <a:r>
              <a:rPr lang="en-US" altLang="zh-CN" sz="2000" dirty="0">
                <a:solidFill>
                  <a:schemeClr val="tx1"/>
                </a:solidFill>
                <a:latin typeface="Times New Roman" panose="02020603050405020304" pitchFamily="18" charset="0"/>
                <a:ea typeface="黑体" panose="02010609060101010101" pitchFamily="49" charset="-122"/>
              </a:rPr>
              <a:t>AL=0</a:t>
            </a:r>
            <a:r>
              <a:rPr lang="zh-CN" altLang="en-US" sz="2000" dirty="0">
                <a:solidFill>
                  <a:schemeClr val="tx1"/>
                </a:solidFill>
                <a:latin typeface="Times New Roman" panose="02020603050405020304" pitchFamily="18" charset="0"/>
                <a:ea typeface="黑体" panose="02010609060101010101" pitchFamily="49" charset="-122"/>
              </a:rPr>
              <a:t>时，清屏参数</a:t>
            </a:r>
            <a:endParaRPr lang="zh-CN" altLang="en-US" sz="20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MOV		BL, 10H    </a:t>
            </a:r>
            <a:r>
              <a:rPr lang="zh-CN" altLang="en-US" sz="2000" dirty="0">
                <a:solidFill>
                  <a:schemeClr val="tx1"/>
                </a:solidFill>
                <a:latin typeface="Times New Roman" panose="02020603050405020304" pitchFamily="18" charset="0"/>
                <a:ea typeface="黑体" panose="02010609060101010101" pitchFamily="49" charset="-122"/>
              </a:rPr>
              <a:t>；蓝色背景，无闪烁，属性→</a:t>
            </a:r>
            <a:r>
              <a:rPr lang="en-US" altLang="zh-CN" sz="2000" dirty="0">
                <a:solidFill>
                  <a:schemeClr val="tx1"/>
                </a:solidFill>
                <a:latin typeface="Times New Roman" panose="02020603050405020304" pitchFamily="18" charset="0"/>
                <a:ea typeface="黑体" panose="02010609060101010101" pitchFamily="49" charset="-122"/>
              </a:rPr>
              <a:t>BL</a:t>
            </a:r>
            <a:r>
              <a:rPr lang="en-US" altLang="zh-CN" sz="2400" dirty="0">
                <a:solidFill>
                  <a:schemeClr val="tx1"/>
                </a:solidFill>
                <a:latin typeface="Times New Roman" panose="02020603050405020304" pitchFamily="18" charset="0"/>
                <a:ea typeface="黑体" panose="02010609060101010101" pitchFamily="49" charset="-122"/>
              </a:rPr>
              <a:t> </a:t>
            </a:r>
            <a:endParaRPr lang="en-US" altLang="zh-CN" sz="24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en-US" altLang="zh-CN" sz="2400" dirty="0">
                <a:solidFill>
                  <a:schemeClr val="tx1"/>
                </a:solidFill>
                <a:latin typeface="Times New Roman" panose="02020603050405020304" pitchFamily="18" charset="0"/>
                <a:ea typeface="黑体" panose="02010609060101010101" pitchFamily="49" charset="-122"/>
              </a:rPr>
              <a:t>		  MOV		AH, 6         </a:t>
            </a:r>
            <a:r>
              <a:rPr lang="zh-CN" altLang="en-US" sz="2000" dirty="0">
                <a:solidFill>
                  <a:schemeClr val="tx1"/>
                </a:solidFill>
                <a:latin typeface="Times New Roman" panose="02020603050405020304" pitchFamily="18" charset="0"/>
                <a:ea typeface="黑体" panose="02010609060101010101" pitchFamily="49" charset="-122"/>
              </a:rPr>
              <a:t>；清屏功能号</a:t>
            </a:r>
            <a:r>
              <a:rPr lang="en-US" altLang="zh-CN" sz="2000" dirty="0">
                <a:solidFill>
                  <a:schemeClr val="tx1"/>
                </a:solidFill>
                <a:latin typeface="Times New Roman" panose="02020603050405020304" pitchFamily="18" charset="0"/>
                <a:ea typeface="黑体" panose="02010609060101010101" pitchFamily="49" charset="-122"/>
              </a:rPr>
              <a:t>6</a:t>
            </a:r>
            <a:endParaRPr lang="en-US" altLang="zh-CN" sz="20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en-US" altLang="zh-CN" sz="2400" dirty="0">
                <a:solidFill>
                  <a:schemeClr val="tx1"/>
                </a:solidFill>
                <a:latin typeface="Times New Roman" panose="02020603050405020304" pitchFamily="18" charset="0"/>
                <a:ea typeface="黑体" panose="02010609060101010101" pitchFamily="49" charset="-122"/>
              </a:rPr>
              <a:t>		  MOV		CX, 0         </a:t>
            </a:r>
            <a:r>
              <a:rPr lang="zh-CN" altLang="en-US" sz="2000" dirty="0">
                <a:solidFill>
                  <a:schemeClr val="tx1"/>
                </a:solidFill>
                <a:latin typeface="Times New Roman" panose="02020603050405020304" pitchFamily="18" charset="0"/>
                <a:ea typeface="黑体" panose="02010609060101010101" pitchFamily="49" charset="-122"/>
              </a:rPr>
              <a:t>；从</a:t>
            </a:r>
            <a:r>
              <a:rPr lang="en-US" altLang="zh-CN" sz="2000" dirty="0">
                <a:solidFill>
                  <a:schemeClr val="tx1"/>
                </a:solidFill>
                <a:latin typeface="Times New Roman" panose="02020603050405020304" pitchFamily="18" charset="0"/>
                <a:ea typeface="黑体" panose="02010609060101010101" pitchFamily="49" charset="-122"/>
              </a:rPr>
              <a:t>0</a:t>
            </a:r>
            <a:r>
              <a:rPr lang="zh-CN" altLang="en-US" sz="2000" dirty="0">
                <a:solidFill>
                  <a:schemeClr val="tx1"/>
                </a:solidFill>
                <a:latin typeface="Times New Roman" panose="02020603050405020304" pitchFamily="18" charset="0"/>
                <a:ea typeface="黑体" panose="02010609060101010101" pitchFamily="49" charset="-122"/>
              </a:rPr>
              <a:t>行到</a:t>
            </a:r>
            <a:r>
              <a:rPr lang="en-US" altLang="zh-CN" sz="2000" dirty="0">
                <a:solidFill>
                  <a:schemeClr val="tx1"/>
                </a:solidFill>
                <a:latin typeface="Times New Roman" panose="02020603050405020304" pitchFamily="18" charset="0"/>
                <a:ea typeface="黑体" panose="02010609060101010101" pitchFamily="49" charset="-122"/>
              </a:rPr>
              <a:t>0</a:t>
            </a:r>
            <a:r>
              <a:rPr lang="zh-CN" altLang="en-US" sz="2000" dirty="0">
                <a:solidFill>
                  <a:schemeClr val="tx1"/>
                </a:solidFill>
                <a:latin typeface="Times New Roman" panose="02020603050405020304" pitchFamily="18" charset="0"/>
                <a:ea typeface="黑体" panose="02010609060101010101" pitchFamily="49" charset="-122"/>
              </a:rPr>
              <a:t>列</a:t>
            </a:r>
            <a:endParaRPr lang="zh-CN" altLang="en-US" sz="2000" dirty="0">
              <a:solidFill>
                <a:schemeClr val="tx1"/>
              </a:solidFill>
              <a:latin typeface="Times New Roman" panose="02020603050405020304" pitchFamily="18" charset="0"/>
              <a:ea typeface="黑体" panose="020106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3908"/>
                                        </p:tgtEl>
                                        <p:attrNameLst>
                                          <p:attrName>style.visibility</p:attrName>
                                        </p:attrNameLst>
                                      </p:cBhvr>
                                      <p:to>
                                        <p:strVal val="visible"/>
                                      </p:to>
                                    </p:set>
                                    <p:anim calcmode="lin" valueType="num">
                                      <p:cBhvr>
                                        <p:cTn id="7" dur="500" fill="hold"/>
                                        <p:tgtEl>
                                          <p:spTgt spid="123908"/>
                                        </p:tgtEl>
                                        <p:attrNameLst>
                                          <p:attrName>ppt_x</p:attrName>
                                        </p:attrNameLst>
                                      </p:cBhvr>
                                      <p:tavLst>
                                        <p:tav tm="0">
                                          <p:val>
                                            <p:strVal val="0-#ppt_w/2"/>
                                          </p:val>
                                        </p:tav>
                                        <p:tav tm="100000">
                                          <p:val>
                                            <p:strVal val="#ppt_x"/>
                                          </p:val>
                                        </p:tav>
                                      </p:tavLst>
                                    </p:anim>
                                    <p:anim calcmode="lin" valueType="num">
                                      <p:cBhvr>
                                        <p:cTn id="8" dur="500" fill="hold"/>
                                        <p:tgtEl>
                                          <p:spTgt spid="12390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23909"/>
                                        </p:tgtEl>
                                        <p:attrNameLst>
                                          <p:attrName>style.visibility</p:attrName>
                                        </p:attrNameLst>
                                      </p:cBhvr>
                                      <p:to>
                                        <p:strVal val="visible"/>
                                      </p:to>
                                    </p:set>
                                    <p:animEffect transition="in" filter="blinds(vertical)">
                                      <p:cBhvr>
                                        <p:cTn id="13" dur="500"/>
                                        <p:tgtEl>
                                          <p:spTgt spid="123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p:bldP spid="123909"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Rectangle 3"/>
          <p:cNvSpPr>
            <a:spLocks noGrp="1"/>
          </p:cNvSpPr>
          <p:nvPr>
            <p:ph type="body" idx="4294967295"/>
          </p:nvPr>
        </p:nvSpPr>
        <p:spPr>
          <a:xfrm>
            <a:off x="685800" y="1295400"/>
            <a:ext cx="7772400" cy="4724400"/>
          </a:xfrm>
        </p:spPr>
        <p:txBody>
          <a:bodyPr vert="horz" wrap="square" lIns="91440" tIns="45720" rIns="91440" bIns="45720" anchor="t" anchorCtr="0"/>
          <a:p>
            <a:pPr>
              <a:lnSpc>
                <a:spcPct val="90000"/>
              </a:lnSpc>
              <a:spcBef>
                <a:spcPct val="0"/>
              </a:spcBef>
              <a:buNone/>
            </a:pPr>
            <a:r>
              <a:rPr lang="en-US" altLang="zh-CN" sz="2400" dirty="0">
                <a:ea typeface="黑体" panose="02010609060101010101" pitchFamily="49" charset="-122"/>
              </a:rPr>
              <a:t>	MOV	DH, 24        	</a:t>
            </a:r>
            <a:r>
              <a:rPr lang="zh-CN" altLang="en-US" sz="2000" dirty="0">
                <a:ea typeface="黑体" panose="02010609060101010101" pitchFamily="49" charset="-122"/>
              </a:rPr>
              <a:t>；到</a:t>
            </a:r>
            <a:r>
              <a:rPr lang="en-US" altLang="zh-CN" sz="2000" dirty="0">
                <a:ea typeface="黑体" panose="02010609060101010101" pitchFamily="49" charset="-122"/>
              </a:rPr>
              <a:t>24</a:t>
            </a:r>
            <a:r>
              <a:rPr lang="zh-CN" altLang="en-US" sz="2000" dirty="0">
                <a:ea typeface="黑体" panose="02010609060101010101" pitchFamily="49" charset="-122"/>
              </a:rPr>
              <a:t>行</a:t>
            </a:r>
            <a:endParaRPr lang="zh-CN" altLang="en-US" sz="20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MOV	DL, 79        	</a:t>
            </a:r>
            <a:r>
              <a:rPr lang="zh-CN" altLang="en-US" sz="2000" dirty="0">
                <a:ea typeface="黑体" panose="02010609060101010101" pitchFamily="49" charset="-122"/>
              </a:rPr>
              <a:t>；</a:t>
            </a:r>
            <a:r>
              <a:rPr lang="en-US" altLang="zh-CN" sz="2000" dirty="0">
                <a:ea typeface="黑体" panose="02010609060101010101" pitchFamily="49" charset="-122"/>
              </a:rPr>
              <a:t>79</a:t>
            </a:r>
            <a:r>
              <a:rPr lang="zh-CN" altLang="en-US" sz="2000" dirty="0">
                <a:ea typeface="黑体" panose="02010609060101010101" pitchFamily="49" charset="-122"/>
              </a:rPr>
              <a:t>列</a:t>
            </a:r>
            <a:endParaRPr lang="zh-CN" altLang="en-US" sz="20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INT		10H	      	</a:t>
            </a:r>
            <a:r>
              <a:rPr lang="zh-CN" altLang="en-US" sz="2000" dirty="0">
                <a:ea typeface="黑体" panose="02010609060101010101" pitchFamily="49" charset="-122"/>
              </a:rPr>
              <a:t>；清屏幕</a:t>
            </a:r>
            <a:endParaRPr lang="zh-CN" altLang="en-US" sz="20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MOV	AH, 2</a:t>
            </a:r>
            <a:endParaRPr lang="en-US" altLang="zh-CN" sz="2400" dirty="0">
              <a:ea typeface="黑体" panose="02010609060101010101" pitchFamily="49" charset="-122"/>
            </a:endParaRPr>
          </a:p>
          <a:p>
            <a:pPr>
              <a:lnSpc>
                <a:spcPct val="90000"/>
              </a:lnSpc>
              <a:spcBef>
                <a:spcPct val="0"/>
              </a:spcBef>
              <a:buNone/>
            </a:pPr>
            <a:r>
              <a:rPr lang="en-US" altLang="zh-CN" sz="2400" dirty="0">
                <a:ea typeface="黑体" panose="02010609060101010101" pitchFamily="49" charset="-122"/>
              </a:rPr>
              <a:t>	MOV	BH, 0         	</a:t>
            </a:r>
            <a:r>
              <a:rPr lang="zh-CN" altLang="en-US" sz="2000" dirty="0">
                <a:ea typeface="黑体" panose="02010609060101010101" pitchFamily="49" charset="-122"/>
              </a:rPr>
              <a:t>；页号</a:t>
            </a:r>
            <a:endParaRPr lang="zh-CN" altLang="en-US" sz="20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MOV 	DH, 10</a:t>
            </a:r>
            <a:endParaRPr lang="en-US" altLang="zh-CN" sz="2400" dirty="0">
              <a:ea typeface="黑体" panose="02010609060101010101" pitchFamily="49" charset="-122"/>
            </a:endParaRPr>
          </a:p>
          <a:p>
            <a:pPr>
              <a:lnSpc>
                <a:spcPct val="90000"/>
              </a:lnSpc>
              <a:spcBef>
                <a:spcPct val="0"/>
              </a:spcBef>
              <a:buNone/>
            </a:pPr>
            <a:r>
              <a:rPr lang="en-US" altLang="zh-CN" sz="2400" dirty="0">
                <a:ea typeface="黑体" panose="02010609060101010101" pitchFamily="49" charset="-122"/>
              </a:rPr>
              <a:t>	MOV	DL, 30</a:t>
            </a:r>
            <a:endParaRPr lang="en-US" altLang="zh-CN" sz="2400" dirty="0">
              <a:ea typeface="黑体" panose="02010609060101010101" pitchFamily="49" charset="-122"/>
            </a:endParaRPr>
          </a:p>
          <a:p>
            <a:pPr>
              <a:lnSpc>
                <a:spcPct val="90000"/>
              </a:lnSpc>
              <a:spcBef>
                <a:spcPct val="0"/>
              </a:spcBef>
              <a:buNone/>
            </a:pPr>
            <a:r>
              <a:rPr lang="en-US" altLang="zh-CN" sz="2400" dirty="0">
                <a:ea typeface="黑体" panose="02010609060101010101" pitchFamily="49" charset="-122"/>
              </a:rPr>
              <a:t>	INT		10H	      	</a:t>
            </a:r>
            <a:r>
              <a:rPr lang="zh-CN" altLang="en-US" sz="2000" dirty="0">
                <a:ea typeface="黑体" panose="02010609060101010101" pitchFamily="49" charset="-122"/>
              </a:rPr>
              <a:t>；光标设置在第</a:t>
            </a:r>
            <a:r>
              <a:rPr lang="en-US" altLang="zh-CN" sz="2000" dirty="0">
                <a:ea typeface="黑体" panose="02010609060101010101" pitchFamily="49" charset="-122"/>
              </a:rPr>
              <a:t>10</a:t>
            </a:r>
            <a:r>
              <a:rPr lang="zh-CN" altLang="en-US" sz="2000" dirty="0">
                <a:ea typeface="黑体" panose="02010609060101010101" pitchFamily="49" charset="-122"/>
              </a:rPr>
              <a:t>行</a:t>
            </a:r>
            <a:r>
              <a:rPr lang="en-US" altLang="zh-CN" sz="2000" dirty="0">
                <a:ea typeface="黑体" panose="02010609060101010101" pitchFamily="49" charset="-122"/>
              </a:rPr>
              <a:t>30</a:t>
            </a:r>
            <a:r>
              <a:rPr lang="zh-CN" altLang="en-US" sz="2000" dirty="0">
                <a:ea typeface="黑体" panose="02010609060101010101" pitchFamily="49" charset="-122"/>
              </a:rPr>
              <a:t>列</a:t>
            </a:r>
            <a:endParaRPr lang="zh-CN" altLang="en-US" sz="20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MOV	AL, ’A’</a:t>
            </a:r>
            <a:endParaRPr lang="en-US" altLang="zh-CN" sz="2400" dirty="0">
              <a:ea typeface="黑体" panose="02010609060101010101" pitchFamily="49" charset="-122"/>
            </a:endParaRPr>
          </a:p>
          <a:p>
            <a:pPr>
              <a:lnSpc>
                <a:spcPct val="90000"/>
              </a:lnSpc>
              <a:spcBef>
                <a:spcPct val="0"/>
              </a:spcBef>
              <a:buNone/>
            </a:pPr>
            <a:r>
              <a:rPr lang="en-US" altLang="zh-CN" sz="2400" dirty="0">
                <a:ea typeface="黑体" panose="02010609060101010101" pitchFamily="49" charset="-122"/>
              </a:rPr>
              <a:t>	MOV	CX, 20           	</a:t>
            </a:r>
            <a:r>
              <a:rPr lang="zh-CN" altLang="en-US" sz="2000" dirty="0">
                <a:ea typeface="黑体" panose="02010609060101010101" pitchFamily="49" charset="-122"/>
              </a:rPr>
              <a:t>；重复显示</a:t>
            </a:r>
            <a:r>
              <a:rPr lang="en-US" altLang="zh-CN" sz="2000" dirty="0">
                <a:ea typeface="黑体" panose="02010609060101010101" pitchFamily="49" charset="-122"/>
              </a:rPr>
              <a:t>20</a:t>
            </a:r>
            <a:r>
              <a:rPr lang="zh-CN" altLang="en-US" sz="2000" dirty="0">
                <a:ea typeface="黑体" panose="02010609060101010101" pitchFamily="49" charset="-122"/>
              </a:rPr>
              <a:t>个字符‘</a:t>
            </a:r>
            <a:r>
              <a:rPr lang="en-US" altLang="zh-CN" sz="2000" dirty="0">
                <a:ea typeface="黑体" panose="02010609060101010101" pitchFamily="49" charset="-122"/>
              </a:rPr>
              <a:t>A’</a:t>
            </a:r>
            <a:endParaRPr lang="en-US" altLang="zh-CN" sz="2000" dirty="0">
              <a:ea typeface="黑体" panose="02010609060101010101" pitchFamily="49" charset="-122"/>
            </a:endParaRPr>
          </a:p>
          <a:p>
            <a:pPr>
              <a:lnSpc>
                <a:spcPct val="90000"/>
              </a:lnSpc>
              <a:spcBef>
                <a:spcPct val="0"/>
              </a:spcBef>
              <a:buNone/>
            </a:pPr>
            <a:r>
              <a:rPr lang="en-US" altLang="zh-CN" sz="2400" dirty="0">
                <a:ea typeface="黑体" panose="02010609060101010101" pitchFamily="49" charset="-122"/>
              </a:rPr>
              <a:t>	MOV	BH, 0             	</a:t>
            </a:r>
            <a:r>
              <a:rPr lang="zh-CN" altLang="en-US" sz="2000" dirty="0">
                <a:ea typeface="黑体" panose="02010609060101010101" pitchFamily="49" charset="-122"/>
              </a:rPr>
              <a:t>；页号</a:t>
            </a:r>
            <a:endParaRPr lang="zh-CN" altLang="en-US" sz="20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MOV	BL, 4FH         	</a:t>
            </a:r>
            <a:r>
              <a:rPr lang="zh-CN" altLang="en-US" sz="2000" dirty="0">
                <a:ea typeface="黑体" panose="02010609060101010101" pitchFamily="49" charset="-122"/>
              </a:rPr>
              <a:t>；属性→</a:t>
            </a:r>
            <a:r>
              <a:rPr lang="en-US" altLang="zh-CN" sz="2000" dirty="0">
                <a:ea typeface="黑体" panose="02010609060101010101" pitchFamily="49" charset="-122"/>
              </a:rPr>
              <a:t>BL</a:t>
            </a:r>
            <a:r>
              <a:rPr lang="zh-CN" altLang="en-US" sz="2000" dirty="0">
                <a:ea typeface="黑体" panose="02010609060101010101" pitchFamily="49" charset="-122"/>
              </a:rPr>
              <a:t>，红底，白字</a:t>
            </a:r>
            <a:endParaRPr lang="zh-CN" altLang="en-US" sz="2000" dirty="0">
              <a:ea typeface="黑体" panose="02010609060101010101" pitchFamily="49" charset="-122"/>
            </a:endParaRPr>
          </a:p>
          <a:p>
            <a:pPr>
              <a:lnSpc>
                <a:spcPct val="90000"/>
              </a:lnSpc>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MOV	AH, 9</a:t>
            </a:r>
            <a:endParaRPr lang="en-US" altLang="zh-CN" sz="2400" dirty="0">
              <a:ea typeface="黑体" panose="02010609060101010101" pitchFamily="49" charset="-122"/>
            </a:endParaRPr>
          </a:p>
          <a:p>
            <a:pPr>
              <a:lnSpc>
                <a:spcPct val="90000"/>
              </a:lnSpc>
              <a:spcBef>
                <a:spcPct val="0"/>
              </a:spcBef>
              <a:buNone/>
            </a:pPr>
            <a:r>
              <a:rPr lang="en-US" altLang="zh-CN" sz="2400" dirty="0">
                <a:ea typeface="黑体" panose="02010609060101010101" pitchFamily="49" charset="-122"/>
              </a:rPr>
              <a:t>	INT		10H	          	</a:t>
            </a:r>
            <a:r>
              <a:rPr lang="zh-CN" altLang="en-US" sz="2000" dirty="0">
                <a:ea typeface="黑体" panose="02010609060101010101" pitchFamily="49" charset="-122"/>
              </a:rPr>
              <a:t>；显示</a:t>
            </a:r>
            <a:r>
              <a:rPr lang="en-US" altLang="zh-CN" sz="2000" dirty="0">
                <a:ea typeface="黑体" panose="02010609060101010101" pitchFamily="49" charset="-122"/>
              </a:rPr>
              <a:t>20</a:t>
            </a:r>
            <a:r>
              <a:rPr lang="zh-CN" altLang="en-US" sz="2000" dirty="0">
                <a:ea typeface="黑体" panose="02010609060101010101" pitchFamily="49" charset="-122"/>
              </a:rPr>
              <a:t>个字母‘</a:t>
            </a:r>
            <a:r>
              <a:rPr lang="en-US" altLang="zh-CN" sz="2000" dirty="0">
                <a:ea typeface="黑体" panose="02010609060101010101" pitchFamily="49" charset="-122"/>
              </a:rPr>
              <a:t>A’</a:t>
            </a:r>
            <a:endParaRPr lang="en-US" altLang="zh-CN" sz="2000" dirty="0">
              <a:ea typeface="黑体" panose="02010609060101010101" pitchFamily="49" charset="-122"/>
            </a:endParaRPr>
          </a:p>
        </p:txBody>
      </p:sp>
    </p:spTree>
  </p:cSld>
  <p:clrMapOvr>
    <a:masterClrMapping/>
  </p:clrMapOvr>
  <p:transition spd="slow">
    <p:zo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Rectangle 2"/>
          <p:cNvSpPr>
            <a:spLocks noGrp="1"/>
          </p:cNvSpPr>
          <p:nvPr>
            <p:ph type="title" idx="4294967295"/>
          </p:nvPr>
        </p:nvSpPr>
        <p:spPr>
          <a:xfrm>
            <a:off x="609600" y="990600"/>
            <a:ext cx="7772400" cy="609600"/>
          </a:xfrm>
        </p:spPr>
        <p:txBody>
          <a:bodyPr vert="horz" wrap="square" lIns="91440" tIns="45720" rIns="91440" bIns="45720" anchor="b" anchorCtr="0"/>
          <a:p>
            <a:r>
              <a:rPr lang="zh-CN" altLang="en-US" sz="2800" b="1" dirty="0">
                <a:solidFill>
                  <a:schemeClr val="tx1"/>
                </a:solidFill>
                <a:ea typeface="黑体" panose="02010609060101010101" pitchFamily="49" charset="-122"/>
              </a:rPr>
              <a:t>（</a:t>
            </a:r>
            <a:r>
              <a:rPr lang="en-US" altLang="zh-CN" sz="2800" b="1" dirty="0">
                <a:solidFill>
                  <a:schemeClr val="tx1"/>
                </a:solidFill>
                <a:ea typeface="黑体" panose="02010609060101010101" pitchFamily="49" charset="-122"/>
              </a:rPr>
              <a:t>4</a:t>
            </a:r>
            <a:r>
              <a:rPr lang="zh-CN" altLang="en-US" sz="2800" b="1" dirty="0">
                <a:solidFill>
                  <a:schemeClr val="tx1"/>
                </a:solidFill>
                <a:ea typeface="黑体" panose="02010609060101010101" pitchFamily="49" charset="-122"/>
              </a:rPr>
              <a:t>）设置</a:t>
            </a:r>
            <a:r>
              <a:rPr lang="zh-CN" altLang="en-US" sz="2800" b="1" dirty="0">
                <a:solidFill>
                  <a:srgbClr val="FF0000"/>
                </a:solidFill>
                <a:ea typeface="黑体" panose="02010609060101010101" pitchFamily="49" charset="-122"/>
              </a:rPr>
              <a:t>图形方式显示</a:t>
            </a:r>
            <a:r>
              <a:rPr lang="zh-CN" altLang="en-US" sz="2800" b="1" dirty="0">
                <a:solidFill>
                  <a:schemeClr val="tx1"/>
                </a:solidFill>
                <a:ea typeface="黑体" panose="02010609060101010101" pitchFamily="49" charset="-122"/>
              </a:rPr>
              <a:t>的背景和彩色组</a:t>
            </a:r>
            <a:endParaRPr lang="zh-CN" altLang="en-US" sz="2800" b="1" dirty="0">
              <a:solidFill>
                <a:srgbClr val="FF0000"/>
              </a:solidFill>
              <a:ea typeface="黑体" panose="02010609060101010101" pitchFamily="49" charset="-122"/>
            </a:endParaRPr>
          </a:p>
        </p:txBody>
      </p:sp>
      <p:sp>
        <p:nvSpPr>
          <p:cNvPr id="196611" name="Rectangle 3"/>
          <p:cNvSpPr>
            <a:spLocks noGrp="1"/>
          </p:cNvSpPr>
          <p:nvPr>
            <p:ph type="body" idx="4294967295"/>
          </p:nvPr>
        </p:nvSpPr>
        <p:spPr>
          <a:xfrm>
            <a:off x="685800" y="1828800"/>
            <a:ext cx="7772400" cy="1981200"/>
          </a:xfrm>
        </p:spPr>
        <p:txBody>
          <a:bodyPr vert="horz" wrap="square" lIns="91440" tIns="45720" rIns="91440" bIns="45720" anchor="t" anchorCtr="0"/>
          <a:p>
            <a:pPr>
              <a:spcBef>
                <a:spcPct val="0"/>
              </a:spcBef>
              <a:buNone/>
            </a:pPr>
            <a:r>
              <a:rPr lang="zh-CN" altLang="en-US" sz="2400" dirty="0">
                <a:ea typeface="黑体" panose="02010609060101010101" pitchFamily="49" charset="-122"/>
              </a:rPr>
              <a:t>矢量号：	</a:t>
            </a:r>
            <a:r>
              <a:rPr lang="en-US" altLang="zh-CN" sz="2400" dirty="0">
                <a:ea typeface="黑体" panose="02010609060101010101" pitchFamily="49" charset="-122"/>
              </a:rPr>
              <a:t>10H</a:t>
            </a:r>
            <a:endParaRPr lang="en-US" altLang="zh-CN" sz="2400" dirty="0">
              <a:ea typeface="黑体" panose="02010609060101010101" pitchFamily="49" charset="-122"/>
            </a:endParaRPr>
          </a:p>
          <a:p>
            <a:pPr>
              <a:spcBef>
                <a:spcPct val="0"/>
              </a:spcBef>
              <a:buNone/>
            </a:pPr>
            <a:r>
              <a:rPr lang="zh-CN" altLang="en-US" sz="2400" dirty="0">
                <a:ea typeface="黑体" panose="02010609060101010101" pitchFamily="49" charset="-122"/>
              </a:rPr>
              <a:t>功能号：	</a:t>
            </a:r>
            <a:r>
              <a:rPr lang="en-US" altLang="zh-CN" sz="2400" dirty="0">
                <a:ea typeface="黑体" panose="02010609060101010101" pitchFamily="49" charset="-122"/>
              </a:rPr>
              <a:t>AH</a:t>
            </a:r>
            <a:r>
              <a:rPr lang="zh-CN" altLang="en-US" sz="2400" dirty="0">
                <a:ea typeface="黑体" panose="02010609060101010101" pitchFamily="49" charset="-122"/>
              </a:rPr>
              <a:t>＝</a:t>
            </a:r>
            <a:r>
              <a:rPr lang="en-US" altLang="zh-CN" sz="2400" dirty="0">
                <a:ea typeface="黑体" panose="02010609060101010101" pitchFamily="49" charset="-122"/>
              </a:rPr>
              <a:t>0BH</a:t>
            </a:r>
            <a:endParaRPr lang="en-US" altLang="zh-CN" sz="2400" dirty="0">
              <a:ea typeface="黑体" panose="02010609060101010101" pitchFamily="49" charset="-122"/>
            </a:endParaRPr>
          </a:p>
          <a:p>
            <a:pPr>
              <a:spcBef>
                <a:spcPct val="0"/>
              </a:spcBef>
              <a:buNone/>
            </a:pPr>
            <a:r>
              <a:rPr lang="zh-CN" altLang="en-US" sz="2400" dirty="0">
                <a:ea typeface="黑体" panose="02010609060101010101" pitchFamily="49" charset="-122"/>
              </a:rPr>
              <a:t>入口参数：	当</a:t>
            </a:r>
            <a:r>
              <a:rPr lang="en-US" altLang="zh-CN" sz="2400" dirty="0">
                <a:ea typeface="黑体" panose="02010609060101010101" pitchFamily="49" charset="-122"/>
              </a:rPr>
              <a:t>BH</a:t>
            </a:r>
            <a:r>
              <a:rPr lang="zh-CN" altLang="en-US" sz="2400" dirty="0">
                <a:ea typeface="黑体" panose="02010609060101010101" pitchFamily="49" charset="-122"/>
              </a:rPr>
              <a:t>＝</a:t>
            </a:r>
            <a:r>
              <a:rPr lang="en-US" altLang="zh-CN" sz="2400" dirty="0">
                <a:ea typeface="黑体" panose="02010609060101010101" pitchFamily="49" charset="-122"/>
              </a:rPr>
              <a:t>0</a:t>
            </a:r>
            <a:r>
              <a:rPr lang="zh-CN" altLang="en-US" sz="2400" dirty="0">
                <a:ea typeface="黑体" panose="02010609060101010101" pitchFamily="49" charset="-122"/>
              </a:rPr>
              <a:t>时，</a:t>
            </a:r>
            <a:r>
              <a:rPr lang="en-US" altLang="zh-CN" sz="2400" dirty="0">
                <a:ea typeface="黑体" panose="02010609060101010101" pitchFamily="49" charset="-122"/>
              </a:rPr>
              <a:t>BL</a:t>
            </a:r>
            <a:r>
              <a:rPr lang="zh-CN" altLang="en-US" sz="2400" dirty="0">
                <a:ea typeface="黑体" panose="02010609060101010101" pitchFamily="49" charset="-122"/>
              </a:rPr>
              <a:t>＝背景颜色，范围</a:t>
            </a:r>
            <a:r>
              <a:rPr lang="en-US" altLang="zh-CN" sz="2400" dirty="0">
                <a:ea typeface="黑体" panose="02010609060101010101" pitchFamily="49" charset="-122"/>
              </a:rPr>
              <a:t>0</a:t>
            </a:r>
            <a:r>
              <a:rPr lang="zh-CN" altLang="en-US" sz="2400" dirty="0">
                <a:ea typeface="黑体" panose="02010609060101010101" pitchFamily="49" charset="-122"/>
              </a:rPr>
              <a:t>～</a:t>
            </a:r>
            <a:r>
              <a:rPr lang="en-US" altLang="zh-CN" sz="2400" dirty="0">
                <a:ea typeface="黑体" panose="02010609060101010101" pitchFamily="49" charset="-122"/>
              </a:rPr>
              <a:t>15</a:t>
            </a:r>
            <a:endParaRPr lang="en-US" altLang="zh-CN" sz="2400" dirty="0">
              <a:ea typeface="黑体" panose="02010609060101010101" pitchFamily="49" charset="-122"/>
            </a:endParaRPr>
          </a:p>
          <a:p>
            <a:pPr>
              <a:spcBef>
                <a:spcPct val="0"/>
              </a:spcBef>
              <a:buNone/>
            </a:pPr>
            <a:r>
              <a:rPr lang="en-US" altLang="zh-CN" sz="2400" dirty="0">
                <a:ea typeface="黑体" panose="02010609060101010101" pitchFamily="49" charset="-122"/>
              </a:rPr>
              <a:t>	            	</a:t>
            </a:r>
            <a:r>
              <a:rPr lang="zh-CN" altLang="en-US" sz="2400" dirty="0">
                <a:ea typeface="黑体" panose="02010609060101010101" pitchFamily="49" charset="-122"/>
              </a:rPr>
              <a:t>当</a:t>
            </a:r>
            <a:r>
              <a:rPr lang="en-US" altLang="zh-CN" sz="2400" dirty="0">
                <a:ea typeface="黑体" panose="02010609060101010101" pitchFamily="49" charset="-122"/>
              </a:rPr>
              <a:t>BH</a:t>
            </a:r>
            <a:r>
              <a:rPr lang="zh-CN" altLang="en-US" sz="2400" dirty="0">
                <a:ea typeface="黑体" panose="02010609060101010101" pitchFamily="49" charset="-122"/>
              </a:rPr>
              <a:t>＝</a:t>
            </a:r>
            <a:r>
              <a:rPr lang="en-US" altLang="zh-CN" sz="2400" dirty="0">
                <a:ea typeface="黑体" panose="02010609060101010101" pitchFamily="49" charset="-122"/>
              </a:rPr>
              <a:t>1</a:t>
            </a:r>
            <a:r>
              <a:rPr lang="zh-CN" altLang="en-US" sz="2400" dirty="0">
                <a:ea typeface="黑体" panose="02010609060101010101" pitchFamily="49" charset="-122"/>
              </a:rPr>
              <a:t>时，</a:t>
            </a:r>
            <a:r>
              <a:rPr lang="en-US" altLang="zh-CN" sz="2400" dirty="0">
                <a:ea typeface="黑体" panose="02010609060101010101" pitchFamily="49" charset="-122"/>
              </a:rPr>
              <a:t>BL</a:t>
            </a:r>
            <a:r>
              <a:rPr lang="zh-CN" altLang="en-US" sz="2400" dirty="0">
                <a:ea typeface="黑体" panose="02010609060101010101" pitchFamily="49" charset="-122"/>
              </a:rPr>
              <a:t>＝颜色组， 范围</a:t>
            </a:r>
            <a:r>
              <a:rPr lang="en-US" altLang="zh-CN" sz="2400" dirty="0">
                <a:ea typeface="黑体" panose="02010609060101010101" pitchFamily="49" charset="-122"/>
              </a:rPr>
              <a:t>0</a:t>
            </a:r>
            <a:r>
              <a:rPr lang="zh-CN" altLang="en-US" sz="2400" dirty="0">
                <a:ea typeface="黑体" panose="02010609060101010101" pitchFamily="49" charset="-122"/>
              </a:rPr>
              <a:t>～</a:t>
            </a:r>
            <a:r>
              <a:rPr lang="en-US" altLang="zh-CN" sz="2400" dirty="0">
                <a:ea typeface="黑体" panose="02010609060101010101" pitchFamily="49" charset="-122"/>
              </a:rPr>
              <a:t>1</a:t>
            </a:r>
            <a:r>
              <a:rPr lang="zh-CN" altLang="en-US" sz="2400" dirty="0">
                <a:ea typeface="黑体" panose="02010609060101010101" pitchFamily="49" charset="-122"/>
              </a:rPr>
              <a:t>：</a:t>
            </a:r>
            <a:endParaRPr lang="zh-CN" altLang="en-US" sz="2400" dirty="0">
              <a:ea typeface="黑体" panose="02010609060101010101" pitchFamily="49" charset="-122"/>
            </a:endParaRPr>
          </a:p>
          <a:p>
            <a:pPr>
              <a:spcBef>
                <a:spcPct val="0"/>
              </a:spcBef>
              <a:buNone/>
            </a:pPr>
            <a:r>
              <a:rPr lang="zh-CN" altLang="en-US" sz="2400" dirty="0">
                <a:ea typeface="黑体" panose="02010609060101010101" pitchFamily="49" charset="-122"/>
              </a:rPr>
              <a:t>                     </a:t>
            </a:r>
            <a:r>
              <a:rPr lang="en-US" altLang="zh-CN" sz="2400" dirty="0">
                <a:ea typeface="黑体" panose="02010609060101010101" pitchFamily="49" charset="-122"/>
              </a:rPr>
              <a:t>0</a:t>
            </a:r>
            <a:r>
              <a:rPr lang="zh-CN" altLang="en-US" sz="2400" dirty="0">
                <a:ea typeface="黑体" panose="02010609060101010101" pitchFamily="49" charset="-122"/>
              </a:rPr>
              <a:t>表示绿</a:t>
            </a:r>
            <a:r>
              <a:rPr lang="en-US" altLang="zh-CN" sz="2400" dirty="0">
                <a:ea typeface="黑体" panose="02010609060101010101" pitchFamily="49" charset="-122"/>
              </a:rPr>
              <a:t>/</a:t>
            </a:r>
            <a:r>
              <a:rPr lang="zh-CN" altLang="en-US" sz="2400" dirty="0">
                <a:ea typeface="黑体" panose="02010609060101010101" pitchFamily="49" charset="-122"/>
              </a:rPr>
              <a:t>红</a:t>
            </a:r>
            <a:r>
              <a:rPr lang="en-US" altLang="zh-CN" sz="2400" dirty="0">
                <a:ea typeface="黑体" panose="02010609060101010101" pitchFamily="49" charset="-122"/>
              </a:rPr>
              <a:t>/</a:t>
            </a:r>
            <a:r>
              <a:rPr lang="zh-CN" altLang="en-US" sz="2400" dirty="0">
                <a:ea typeface="黑体" panose="02010609060101010101" pitchFamily="49" charset="-122"/>
              </a:rPr>
              <a:t>黄，</a:t>
            </a:r>
            <a:r>
              <a:rPr lang="en-US" altLang="zh-CN" sz="2400" dirty="0">
                <a:ea typeface="黑体" panose="02010609060101010101" pitchFamily="49" charset="-122"/>
              </a:rPr>
              <a:t>1</a:t>
            </a:r>
            <a:r>
              <a:rPr lang="zh-CN" altLang="en-US" sz="2400" dirty="0">
                <a:ea typeface="黑体" panose="02010609060101010101" pitchFamily="49" charset="-122"/>
              </a:rPr>
              <a:t>表示青</a:t>
            </a:r>
            <a:r>
              <a:rPr lang="en-US" altLang="zh-CN" sz="2400" dirty="0">
                <a:ea typeface="黑体" panose="02010609060101010101" pitchFamily="49" charset="-122"/>
              </a:rPr>
              <a:t>/</a:t>
            </a:r>
            <a:r>
              <a:rPr lang="zh-CN" altLang="en-US" sz="2400" dirty="0">
                <a:ea typeface="黑体" panose="02010609060101010101" pitchFamily="49" charset="-122"/>
              </a:rPr>
              <a:t>品红</a:t>
            </a:r>
            <a:r>
              <a:rPr lang="en-US" altLang="zh-CN" sz="2400" dirty="0">
                <a:ea typeface="黑体" panose="02010609060101010101" pitchFamily="49" charset="-122"/>
              </a:rPr>
              <a:t>/</a:t>
            </a:r>
            <a:r>
              <a:rPr lang="zh-CN" altLang="en-US" sz="2400" dirty="0">
                <a:ea typeface="黑体" panose="02010609060101010101" pitchFamily="49" charset="-122"/>
              </a:rPr>
              <a:t>白</a:t>
            </a:r>
            <a:endParaRPr lang="zh-CN" altLang="en-US" sz="2400" dirty="0">
              <a:ea typeface="黑体" panose="02010609060101010101" pitchFamily="49" charset="-122"/>
            </a:endParaRPr>
          </a:p>
        </p:txBody>
      </p:sp>
      <p:grpSp>
        <p:nvGrpSpPr>
          <p:cNvPr id="125956" name="Group 8"/>
          <p:cNvGrpSpPr/>
          <p:nvPr/>
        </p:nvGrpSpPr>
        <p:grpSpPr>
          <a:xfrm>
            <a:off x="609600" y="3962400"/>
            <a:ext cx="7772400" cy="2286000"/>
            <a:chOff x="0" y="0"/>
            <a:chExt cx="4896" cy="1440"/>
          </a:xfrm>
        </p:grpSpPr>
        <p:sp>
          <p:nvSpPr>
            <p:cNvPr id="196613" name="Rectangle 4"/>
            <p:cNvSpPr/>
            <p:nvPr/>
          </p:nvSpPr>
          <p:spPr>
            <a:xfrm>
              <a:off x="0" y="480"/>
              <a:ext cx="4896" cy="96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矢量号：	</a:t>
              </a:r>
              <a:r>
                <a:rPr lang="en-US" altLang="zh-CN" sz="2400" dirty="0">
                  <a:solidFill>
                    <a:schemeClr val="tx1"/>
                  </a:solidFill>
                  <a:latin typeface="Times New Roman" panose="02020603050405020304" pitchFamily="18" charset="0"/>
                  <a:ea typeface="黑体" panose="02010609060101010101" pitchFamily="49" charset="-122"/>
                </a:rPr>
                <a:t>14H</a:t>
              </a:r>
              <a:endParaRPr lang="en-US" altLang="zh-CN" sz="24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功能号：	</a:t>
              </a:r>
              <a:r>
                <a:rPr lang="en-US" altLang="zh-CN" sz="2400" dirty="0">
                  <a:solidFill>
                    <a:schemeClr val="tx1"/>
                  </a:solidFill>
                  <a:latin typeface="Times New Roman" panose="02020603050405020304" pitchFamily="18" charset="0"/>
                  <a:ea typeface="黑体" panose="02010609060101010101" pitchFamily="49" charset="-122"/>
                </a:rPr>
                <a:t>AH</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0H</a:t>
              </a:r>
              <a:endParaRPr lang="en-US" altLang="zh-CN" sz="24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入口参数：	</a:t>
              </a:r>
              <a:r>
                <a:rPr lang="en-US" altLang="zh-CN" sz="2400" dirty="0">
                  <a:solidFill>
                    <a:schemeClr val="tx1"/>
                  </a:solidFill>
                  <a:latin typeface="Times New Roman" panose="02020603050405020304" pitchFamily="18" charset="0"/>
                  <a:ea typeface="黑体" panose="02010609060101010101" pitchFamily="49" charset="-122"/>
                </a:rPr>
                <a:t>AL</a:t>
              </a:r>
              <a:r>
                <a:rPr lang="zh-CN" altLang="en-US" sz="2400" dirty="0">
                  <a:solidFill>
                    <a:schemeClr val="tx1"/>
                  </a:solidFill>
                  <a:latin typeface="Times New Roman" panose="02020603050405020304" pitchFamily="18" charset="0"/>
                  <a:ea typeface="黑体" panose="02010609060101010101" pitchFamily="49" charset="-122"/>
                </a:rPr>
                <a:t>＝初始化参数，</a:t>
              </a:r>
              <a:r>
                <a:rPr lang="en-US" altLang="zh-CN" sz="2400" dirty="0">
                  <a:solidFill>
                    <a:schemeClr val="tx1"/>
                  </a:solidFill>
                  <a:latin typeface="Times New Roman" panose="02020603050405020304" pitchFamily="18" charset="0"/>
                  <a:ea typeface="黑体" panose="02010609060101010101" pitchFamily="49" charset="-122"/>
                </a:rPr>
                <a:t>DX</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0</a:t>
              </a:r>
              <a:r>
                <a:rPr lang="zh-CN" altLang="en-US" sz="2400" dirty="0">
                  <a:solidFill>
                    <a:schemeClr val="tx1"/>
                  </a:solidFill>
                  <a:latin typeface="Times New Roman" panose="02020603050405020304" pitchFamily="18" charset="0"/>
                  <a:ea typeface="黑体" panose="02010609060101010101" pitchFamily="49" charset="-122"/>
                </a:rPr>
                <a:t>表示对</a:t>
              </a:r>
              <a:r>
                <a:rPr lang="en-US" altLang="zh-CN" sz="2400" dirty="0">
                  <a:solidFill>
                    <a:schemeClr val="tx1"/>
                  </a:solidFill>
                  <a:latin typeface="Times New Roman" panose="02020603050405020304" pitchFamily="18" charset="0"/>
                  <a:ea typeface="黑体" panose="02010609060101010101" pitchFamily="49" charset="-122"/>
                </a:rPr>
                <a:t>COM1</a:t>
              </a:r>
              <a:r>
                <a:rPr lang="zh-CN" altLang="en-US" sz="2400" dirty="0">
                  <a:solidFill>
                    <a:schemeClr val="tx1"/>
                  </a:solidFill>
                  <a:latin typeface="Times New Roman" panose="02020603050405020304" pitchFamily="18" charset="0"/>
                  <a:ea typeface="黑体" panose="02010609060101010101" pitchFamily="49" charset="-122"/>
                </a:rPr>
                <a:t>初</a:t>
              </a:r>
              <a:endParaRPr lang="zh-CN" altLang="en-US" sz="24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                       始化；</a:t>
              </a:r>
              <a:r>
                <a:rPr lang="en-US" altLang="zh-CN" sz="2400" dirty="0">
                  <a:solidFill>
                    <a:schemeClr val="tx1"/>
                  </a:solidFill>
                  <a:latin typeface="Times New Roman" panose="02020603050405020304" pitchFamily="18" charset="0"/>
                  <a:ea typeface="黑体" panose="02010609060101010101" pitchFamily="49" charset="-122"/>
                </a:rPr>
                <a:t>DX=1</a:t>
              </a:r>
              <a:r>
                <a:rPr lang="zh-CN" altLang="en-US" sz="2400" dirty="0">
                  <a:solidFill>
                    <a:schemeClr val="tx1"/>
                  </a:solidFill>
                  <a:latin typeface="Times New Roman" panose="02020603050405020304" pitchFamily="18" charset="0"/>
                  <a:ea typeface="黑体" panose="02010609060101010101" pitchFamily="49" charset="-122"/>
                </a:rPr>
                <a:t>表示对</a:t>
              </a:r>
              <a:r>
                <a:rPr lang="en-US" altLang="zh-CN" sz="2400" dirty="0">
                  <a:solidFill>
                    <a:schemeClr val="tx1"/>
                  </a:solidFill>
                  <a:latin typeface="Times New Roman" panose="02020603050405020304" pitchFamily="18" charset="0"/>
                  <a:ea typeface="黑体" panose="02010609060101010101" pitchFamily="49" charset="-122"/>
                </a:rPr>
                <a:t>COM2</a:t>
              </a:r>
              <a:r>
                <a:rPr lang="zh-CN" altLang="en-US" sz="2400" dirty="0">
                  <a:solidFill>
                    <a:schemeClr val="tx1"/>
                  </a:solidFill>
                  <a:latin typeface="Times New Roman" panose="02020603050405020304" pitchFamily="18" charset="0"/>
                  <a:ea typeface="黑体" panose="02010609060101010101" pitchFamily="49" charset="-122"/>
                </a:rPr>
                <a:t>初始化</a:t>
              </a:r>
              <a:endParaRPr lang="zh-CN" altLang="en-US" sz="2400" dirty="0">
                <a:solidFill>
                  <a:schemeClr val="tx1"/>
                </a:solidFill>
                <a:latin typeface="Times New Roman" panose="02020603050405020304" pitchFamily="18" charset="0"/>
                <a:ea typeface="黑体" panose="02010609060101010101" pitchFamily="49" charset="-122"/>
              </a:endParaRPr>
            </a:p>
          </p:txBody>
        </p:sp>
        <p:sp>
          <p:nvSpPr>
            <p:cNvPr id="196614" name="Rectangle 7"/>
            <p:cNvSpPr/>
            <p:nvPr/>
          </p:nvSpPr>
          <p:spPr>
            <a:xfrm>
              <a:off x="0" y="0"/>
              <a:ext cx="4896" cy="384"/>
            </a:xfrm>
            <a:prstGeom prst="rect">
              <a:avLst/>
            </a:prstGeom>
            <a:noFill/>
            <a:ln w="9525">
              <a:noFill/>
            </a:ln>
          </p:spPr>
          <p:txBody>
            <a:bodyPr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dirty="0">
                  <a:solidFill>
                    <a:schemeClr val="tx1"/>
                  </a:solidFill>
                  <a:latin typeface="Times New Roman" panose="02020603050405020304" pitchFamily="18" charset="0"/>
                  <a:ea typeface="黑体" panose="02010609060101010101" pitchFamily="49" charset="-122"/>
                </a:rPr>
                <a:t>（</a:t>
              </a:r>
              <a:r>
                <a:rPr lang="en-US" altLang="zh-CN" dirty="0">
                  <a:solidFill>
                    <a:schemeClr val="tx1"/>
                  </a:solidFill>
                  <a:latin typeface="Times New Roman" panose="02020603050405020304" pitchFamily="18" charset="0"/>
                  <a:ea typeface="黑体" panose="02010609060101010101" pitchFamily="49" charset="-122"/>
                </a:rPr>
                <a:t>5</a:t>
              </a:r>
              <a:r>
                <a:rPr lang="zh-CN" altLang="en-US" dirty="0">
                  <a:solidFill>
                    <a:schemeClr val="tx1"/>
                  </a:solidFill>
                  <a:latin typeface="Times New Roman" panose="02020603050405020304" pitchFamily="18" charset="0"/>
                  <a:ea typeface="黑体" panose="02010609060101010101" pitchFamily="49" charset="-122"/>
                </a:rPr>
                <a:t>）</a:t>
              </a:r>
              <a:r>
                <a:rPr lang="zh-CN" altLang="en-US" dirty="0">
                  <a:solidFill>
                    <a:srgbClr val="FF0000"/>
                  </a:solidFill>
                  <a:latin typeface="Times New Roman" panose="02020603050405020304" pitchFamily="18" charset="0"/>
                  <a:ea typeface="黑体" panose="02010609060101010101" pitchFamily="49" charset="-122"/>
                </a:rPr>
                <a:t>串行通信口</a:t>
              </a:r>
              <a:r>
                <a:rPr lang="zh-CN" altLang="en-US" dirty="0">
                  <a:solidFill>
                    <a:schemeClr val="tx1"/>
                  </a:solidFill>
                  <a:latin typeface="Times New Roman" panose="02020603050405020304" pitchFamily="18" charset="0"/>
                  <a:ea typeface="黑体" panose="02010609060101010101" pitchFamily="49" charset="-122"/>
                </a:rPr>
                <a:t>初始化</a:t>
              </a:r>
              <a:endParaRPr lang="zh-CN" altLang="en-US" dirty="0">
                <a:solidFill>
                  <a:schemeClr val="tx1"/>
                </a:solidFill>
                <a:latin typeface="Times New Roman" panose="02020603050405020304" pitchFamily="18" charset="0"/>
                <a:ea typeface="黑体" panose="02010609060101010101" pitchFamily="49" charset="-122"/>
              </a:endParaRPr>
            </a:p>
          </p:txBody>
        </p:sp>
      </p:gr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25956"/>
                                        </p:tgtEl>
                                        <p:attrNameLst>
                                          <p:attrName>style.visibility</p:attrName>
                                        </p:attrNameLst>
                                      </p:cBhvr>
                                      <p:to>
                                        <p:strVal val="visible"/>
                                      </p:to>
                                    </p:set>
                                    <p:animEffect transition="in" filter="barn(outVertical)">
                                      <p:cBhvr>
                                        <p:cTn id="7" dur="500"/>
                                        <p:tgtEl>
                                          <p:spTgt spid="125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3"/>
          <p:cNvSpPr>
            <a:spLocks noGrp="1"/>
          </p:cNvSpPr>
          <p:nvPr>
            <p:ph type="body" idx="4294967295"/>
          </p:nvPr>
        </p:nvSpPr>
        <p:spPr>
          <a:xfrm>
            <a:off x="457200" y="2514600"/>
            <a:ext cx="3657600" cy="3505200"/>
          </a:xfrm>
        </p:spPr>
        <p:txBody>
          <a:bodyPr vert="horz" wrap="square" lIns="91440" tIns="45720" rIns="91440" bIns="45720" anchor="t" anchorCtr="0"/>
          <a:p>
            <a:pPr>
              <a:spcBef>
                <a:spcPct val="0"/>
              </a:spcBef>
              <a:buNone/>
            </a:pPr>
            <a:r>
              <a:rPr lang="zh-CN" altLang="en-US" sz="2400" dirty="0">
                <a:ea typeface="黑体" panose="02010609060101010101" pitchFamily="49" charset="-122"/>
              </a:rPr>
              <a:t>位</a:t>
            </a:r>
            <a:r>
              <a:rPr lang="en-US" altLang="zh-CN" sz="2400" dirty="0">
                <a:ea typeface="黑体" panose="02010609060101010101" pitchFamily="49" charset="-122"/>
              </a:rPr>
              <a:t>7</a:t>
            </a:r>
            <a:r>
              <a:rPr lang="zh-CN" altLang="en-US" sz="2400" dirty="0">
                <a:ea typeface="黑体" panose="02010609060101010101" pitchFamily="49" charset="-122"/>
              </a:rPr>
              <a:t>、</a:t>
            </a:r>
            <a:r>
              <a:rPr lang="en-US" altLang="zh-CN" sz="2400" dirty="0">
                <a:ea typeface="黑体" panose="02010609060101010101" pitchFamily="49" charset="-122"/>
              </a:rPr>
              <a:t>6</a:t>
            </a:r>
            <a:r>
              <a:rPr lang="zh-CN" altLang="en-US" sz="2400" dirty="0">
                <a:ea typeface="黑体" panose="02010609060101010101" pitchFamily="49" charset="-122"/>
              </a:rPr>
              <a:t>、</a:t>
            </a:r>
            <a:r>
              <a:rPr lang="en-US" altLang="zh-CN" sz="2400" dirty="0">
                <a:ea typeface="黑体" panose="02010609060101010101" pitchFamily="49" charset="-122"/>
              </a:rPr>
              <a:t>5</a:t>
            </a:r>
            <a:r>
              <a:rPr lang="zh-CN" altLang="en-US" sz="2400" dirty="0">
                <a:ea typeface="黑体" panose="02010609060101010101" pitchFamily="49" charset="-122"/>
              </a:rPr>
              <a:t>表示波特率：</a:t>
            </a:r>
            <a:endParaRPr lang="zh-CN" altLang="en-US" sz="2400" dirty="0">
              <a:ea typeface="黑体" panose="02010609060101010101" pitchFamily="49" charset="-122"/>
            </a:endParaRPr>
          </a:p>
          <a:p>
            <a:pPr>
              <a:spcBef>
                <a:spcPct val="0"/>
              </a:spcBef>
              <a:buNone/>
            </a:pPr>
            <a:r>
              <a:rPr lang="en-US" altLang="zh-CN" sz="2400" dirty="0">
                <a:ea typeface="黑体" panose="02010609060101010101" pitchFamily="49" charset="-122"/>
              </a:rPr>
              <a:t>0 	  0	0	 110	</a:t>
            </a:r>
            <a:r>
              <a:rPr lang="zh-CN" altLang="en-US" sz="2400" dirty="0">
                <a:ea typeface="黑体" panose="02010609060101010101" pitchFamily="49" charset="-122"/>
              </a:rPr>
              <a:t>波特</a:t>
            </a:r>
            <a:endParaRPr lang="zh-CN" altLang="en-US" sz="2400" dirty="0">
              <a:ea typeface="黑体" panose="02010609060101010101" pitchFamily="49" charset="-122"/>
            </a:endParaRPr>
          </a:p>
          <a:p>
            <a:pPr>
              <a:spcBef>
                <a:spcPct val="0"/>
              </a:spcBef>
              <a:buNone/>
            </a:pPr>
            <a:r>
              <a:rPr lang="en-US" altLang="zh-CN" sz="2400" dirty="0">
                <a:ea typeface="黑体" panose="02010609060101010101" pitchFamily="49" charset="-122"/>
              </a:rPr>
              <a:t>0 	  0	1	 150	</a:t>
            </a:r>
            <a:r>
              <a:rPr lang="zh-CN" altLang="en-US" sz="2400" dirty="0">
                <a:ea typeface="黑体" panose="02010609060101010101" pitchFamily="49" charset="-122"/>
              </a:rPr>
              <a:t>波特</a:t>
            </a:r>
            <a:endParaRPr lang="zh-CN" altLang="en-US" sz="2400" dirty="0">
              <a:ea typeface="黑体" panose="02010609060101010101" pitchFamily="49" charset="-122"/>
            </a:endParaRPr>
          </a:p>
          <a:p>
            <a:pPr>
              <a:spcBef>
                <a:spcPct val="0"/>
              </a:spcBef>
              <a:buNone/>
            </a:pPr>
            <a:r>
              <a:rPr lang="en-US" altLang="zh-CN" sz="2400" dirty="0">
                <a:ea typeface="黑体" panose="02010609060101010101" pitchFamily="49" charset="-122"/>
              </a:rPr>
              <a:t>0 	  1	0	 300	</a:t>
            </a:r>
            <a:r>
              <a:rPr lang="zh-CN" altLang="en-US" sz="2400" dirty="0">
                <a:ea typeface="黑体" panose="02010609060101010101" pitchFamily="49" charset="-122"/>
              </a:rPr>
              <a:t>波特</a:t>
            </a:r>
            <a:endParaRPr lang="zh-CN" altLang="en-US" sz="2400" dirty="0">
              <a:ea typeface="黑体" panose="02010609060101010101" pitchFamily="49" charset="-122"/>
            </a:endParaRPr>
          </a:p>
          <a:p>
            <a:pPr>
              <a:spcBef>
                <a:spcPct val="0"/>
              </a:spcBef>
              <a:buNone/>
            </a:pPr>
            <a:r>
              <a:rPr lang="en-US" altLang="zh-CN" sz="2400" dirty="0">
                <a:ea typeface="黑体" panose="02010609060101010101" pitchFamily="49" charset="-122"/>
              </a:rPr>
              <a:t>0 	  1	1	 600	</a:t>
            </a:r>
            <a:r>
              <a:rPr lang="zh-CN" altLang="en-US" sz="2400" dirty="0">
                <a:ea typeface="黑体" panose="02010609060101010101" pitchFamily="49" charset="-122"/>
              </a:rPr>
              <a:t>波特</a:t>
            </a:r>
            <a:endParaRPr lang="zh-CN" altLang="en-US" sz="2400" dirty="0">
              <a:ea typeface="黑体" panose="02010609060101010101" pitchFamily="49" charset="-122"/>
            </a:endParaRPr>
          </a:p>
          <a:p>
            <a:pPr>
              <a:spcBef>
                <a:spcPct val="0"/>
              </a:spcBef>
              <a:buNone/>
            </a:pPr>
            <a:r>
              <a:rPr lang="en-US" altLang="zh-CN" sz="2400" dirty="0">
                <a:ea typeface="黑体" panose="02010609060101010101" pitchFamily="49" charset="-122"/>
              </a:rPr>
              <a:t>1 	  0	0	 1200	</a:t>
            </a:r>
            <a:r>
              <a:rPr lang="zh-CN" altLang="en-US" sz="2400" dirty="0">
                <a:ea typeface="黑体" panose="02010609060101010101" pitchFamily="49" charset="-122"/>
              </a:rPr>
              <a:t>波特</a:t>
            </a:r>
            <a:endParaRPr lang="zh-CN" altLang="en-US" sz="2400" dirty="0">
              <a:ea typeface="黑体" panose="02010609060101010101" pitchFamily="49" charset="-122"/>
            </a:endParaRPr>
          </a:p>
          <a:p>
            <a:pPr>
              <a:spcBef>
                <a:spcPct val="0"/>
              </a:spcBef>
              <a:buNone/>
            </a:pPr>
            <a:r>
              <a:rPr lang="en-US" altLang="zh-CN" sz="2400" dirty="0">
                <a:ea typeface="黑体" panose="02010609060101010101" pitchFamily="49" charset="-122"/>
              </a:rPr>
              <a:t>1 	  0	1	 2400	</a:t>
            </a:r>
            <a:r>
              <a:rPr lang="zh-CN" altLang="en-US" sz="2400" dirty="0">
                <a:ea typeface="黑体" panose="02010609060101010101" pitchFamily="49" charset="-122"/>
              </a:rPr>
              <a:t>波特</a:t>
            </a:r>
            <a:endParaRPr lang="zh-CN" altLang="en-US" sz="2400" dirty="0">
              <a:ea typeface="黑体" panose="02010609060101010101" pitchFamily="49" charset="-122"/>
            </a:endParaRPr>
          </a:p>
          <a:p>
            <a:pPr>
              <a:spcBef>
                <a:spcPct val="0"/>
              </a:spcBef>
              <a:buNone/>
            </a:pPr>
            <a:r>
              <a:rPr lang="en-US" altLang="zh-CN" sz="2400" dirty="0">
                <a:ea typeface="黑体" panose="02010609060101010101" pitchFamily="49" charset="-122"/>
              </a:rPr>
              <a:t>1 	  1	0	 4800	</a:t>
            </a:r>
            <a:r>
              <a:rPr lang="zh-CN" altLang="en-US" sz="2400" dirty="0">
                <a:ea typeface="黑体" panose="02010609060101010101" pitchFamily="49" charset="-122"/>
              </a:rPr>
              <a:t>波特</a:t>
            </a:r>
            <a:endParaRPr lang="zh-CN" altLang="en-US" sz="2400" dirty="0">
              <a:ea typeface="黑体" panose="02010609060101010101" pitchFamily="49" charset="-122"/>
            </a:endParaRPr>
          </a:p>
          <a:p>
            <a:pPr>
              <a:spcBef>
                <a:spcPct val="0"/>
              </a:spcBef>
              <a:buNone/>
            </a:pPr>
            <a:r>
              <a:rPr lang="en-US" altLang="zh-CN" sz="2400" dirty="0">
                <a:ea typeface="黑体" panose="02010609060101010101" pitchFamily="49" charset="-122"/>
              </a:rPr>
              <a:t>1 	  1	1	 9600	</a:t>
            </a:r>
            <a:r>
              <a:rPr lang="zh-CN" altLang="en-US" sz="2400" dirty="0">
                <a:ea typeface="黑体" panose="02010609060101010101" pitchFamily="49" charset="-122"/>
              </a:rPr>
              <a:t>波特</a:t>
            </a:r>
            <a:endParaRPr lang="zh-CN" altLang="en-US" sz="2400" dirty="0">
              <a:ea typeface="黑体" panose="02010609060101010101" pitchFamily="49" charset="-122"/>
            </a:endParaRPr>
          </a:p>
        </p:txBody>
      </p:sp>
      <p:graphicFrame>
        <p:nvGraphicFramePr>
          <p:cNvPr id="197635" name="Object 4"/>
          <p:cNvGraphicFramePr>
            <a:graphicFrameLocks noChangeAspect="1"/>
          </p:cNvGraphicFramePr>
          <p:nvPr/>
        </p:nvGraphicFramePr>
        <p:xfrm>
          <a:off x="2209800" y="985838"/>
          <a:ext cx="4267200" cy="1000125"/>
        </p:xfrm>
        <a:graphic>
          <a:graphicData uri="http://schemas.openxmlformats.org/presentationml/2006/ole">
            <mc:AlternateContent xmlns:mc="http://schemas.openxmlformats.org/markup-compatibility/2006">
              <mc:Choice xmlns:v="urn:schemas-microsoft-com:vml" Requires="v">
                <p:oleObj spid="_x0000_s3083" name="" r:id="rId1" imgW="4305300" imgH="1019175" progId="PBrush">
                  <p:embed/>
                </p:oleObj>
              </mc:Choice>
              <mc:Fallback>
                <p:oleObj name="" r:id="rId1" imgW="4305300" imgH="1019175" progId="PBrush">
                  <p:embed/>
                  <p:pic>
                    <p:nvPicPr>
                      <p:cNvPr id="0" name="图片 3082"/>
                      <p:cNvPicPr/>
                      <p:nvPr/>
                    </p:nvPicPr>
                    <p:blipFill>
                      <a:blip r:embed="rId2"/>
                      <a:stretch>
                        <a:fillRect/>
                      </a:stretch>
                    </p:blipFill>
                    <p:spPr>
                      <a:xfrm>
                        <a:off x="2209800" y="985838"/>
                        <a:ext cx="4267200" cy="1000125"/>
                      </a:xfrm>
                      <a:prstGeom prst="rect">
                        <a:avLst/>
                      </a:prstGeom>
                      <a:noFill/>
                      <a:ln w="38100">
                        <a:noFill/>
                        <a:miter/>
                      </a:ln>
                    </p:spPr>
                  </p:pic>
                </p:oleObj>
              </mc:Fallback>
            </mc:AlternateContent>
          </a:graphicData>
        </a:graphic>
      </p:graphicFrame>
      <p:sp>
        <p:nvSpPr>
          <p:cNvPr id="126980" name="Rectangle 5"/>
          <p:cNvSpPr/>
          <p:nvPr/>
        </p:nvSpPr>
        <p:spPr>
          <a:xfrm>
            <a:off x="4724400" y="2286000"/>
            <a:ext cx="3962400" cy="16002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位</a:t>
            </a:r>
            <a:r>
              <a:rPr lang="en-US" altLang="zh-CN" sz="2400" dirty="0">
                <a:solidFill>
                  <a:schemeClr val="tx1"/>
                </a:solidFill>
                <a:latin typeface="Times New Roman" panose="02020603050405020304" pitchFamily="18" charset="0"/>
                <a:ea typeface="黑体" panose="02010609060101010101" pitchFamily="49" charset="-122"/>
              </a:rPr>
              <a:t>4</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3</a:t>
            </a:r>
            <a:r>
              <a:rPr lang="zh-CN" altLang="en-US" sz="2400" dirty="0">
                <a:solidFill>
                  <a:schemeClr val="tx1"/>
                </a:solidFill>
                <a:latin typeface="Times New Roman" panose="02020603050405020304" pitchFamily="18" charset="0"/>
                <a:ea typeface="黑体" panose="02010609060101010101" pitchFamily="49" charset="-122"/>
              </a:rPr>
              <a:t>表示奇偶校验设定：</a:t>
            </a:r>
            <a:endParaRPr lang="zh-CN" altLang="en-US" sz="24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0	0	</a:t>
            </a:r>
            <a:r>
              <a:rPr lang="zh-CN" altLang="en-US" sz="2400" dirty="0">
                <a:solidFill>
                  <a:schemeClr val="tx1"/>
                </a:solidFill>
                <a:latin typeface="Times New Roman" panose="02020603050405020304" pitchFamily="18" charset="0"/>
                <a:ea typeface="黑体" panose="02010609060101010101" pitchFamily="49" charset="-122"/>
              </a:rPr>
              <a:t>无奇偶校验</a:t>
            </a:r>
            <a:endParaRPr lang="zh-CN" altLang="en-US" sz="24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0	1	</a:t>
            </a:r>
            <a:r>
              <a:rPr lang="zh-CN" altLang="en-US" sz="2400" dirty="0">
                <a:solidFill>
                  <a:schemeClr val="tx1"/>
                </a:solidFill>
                <a:latin typeface="Times New Roman" panose="02020603050405020304" pitchFamily="18" charset="0"/>
                <a:ea typeface="黑体" panose="02010609060101010101" pitchFamily="49" charset="-122"/>
              </a:rPr>
              <a:t>奇校验</a:t>
            </a:r>
            <a:endParaRPr lang="zh-CN" altLang="en-US" sz="24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1	1	</a:t>
            </a:r>
            <a:r>
              <a:rPr lang="zh-CN" altLang="en-US" sz="2400" dirty="0">
                <a:solidFill>
                  <a:schemeClr val="tx1"/>
                </a:solidFill>
                <a:latin typeface="Times New Roman" panose="02020603050405020304" pitchFamily="18" charset="0"/>
                <a:ea typeface="黑体" panose="02010609060101010101" pitchFamily="49" charset="-122"/>
              </a:rPr>
              <a:t>偶校验</a:t>
            </a:r>
            <a:endParaRPr lang="zh-CN" altLang="en-US" sz="2400" dirty="0">
              <a:solidFill>
                <a:schemeClr val="tx1"/>
              </a:solidFill>
              <a:latin typeface="Times New Roman" panose="02020603050405020304" pitchFamily="18" charset="0"/>
              <a:ea typeface="黑体" panose="02010609060101010101" pitchFamily="49" charset="-122"/>
            </a:endParaRPr>
          </a:p>
        </p:txBody>
      </p:sp>
      <p:sp>
        <p:nvSpPr>
          <p:cNvPr id="126981" name="Rectangle 6"/>
          <p:cNvSpPr/>
          <p:nvPr/>
        </p:nvSpPr>
        <p:spPr>
          <a:xfrm>
            <a:off x="4724400" y="3962400"/>
            <a:ext cx="3657600" cy="12192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位</a:t>
            </a:r>
            <a:r>
              <a:rPr lang="en-US" altLang="zh-CN" sz="2400" dirty="0">
                <a:solidFill>
                  <a:schemeClr val="tx1"/>
                </a:solidFill>
                <a:latin typeface="Times New Roman" panose="02020603050405020304" pitchFamily="18" charset="0"/>
                <a:ea typeface="黑体" panose="02010609060101010101" pitchFamily="49" charset="-122"/>
              </a:rPr>
              <a:t>2</a:t>
            </a:r>
            <a:r>
              <a:rPr lang="zh-CN" altLang="en-US" sz="2400" dirty="0">
                <a:solidFill>
                  <a:schemeClr val="tx1"/>
                </a:solidFill>
                <a:latin typeface="Times New Roman" panose="02020603050405020304" pitchFamily="18" charset="0"/>
                <a:ea typeface="黑体" panose="02010609060101010101" pitchFamily="49" charset="-122"/>
              </a:rPr>
              <a:t>表示停止位数设定</a:t>
            </a:r>
            <a:endParaRPr lang="zh-CN" altLang="en-US" sz="24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0		1</a:t>
            </a:r>
            <a:r>
              <a:rPr lang="zh-CN" altLang="en-US" sz="2400" dirty="0">
                <a:solidFill>
                  <a:schemeClr val="tx1"/>
                </a:solidFill>
                <a:latin typeface="Times New Roman" panose="02020603050405020304" pitchFamily="18" charset="0"/>
                <a:ea typeface="黑体" panose="02010609060101010101" pitchFamily="49" charset="-122"/>
              </a:rPr>
              <a:t>位停止位</a:t>
            </a:r>
            <a:endParaRPr lang="zh-CN" altLang="en-US" sz="24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1		2</a:t>
            </a:r>
            <a:r>
              <a:rPr lang="zh-CN" altLang="en-US" sz="2400" dirty="0">
                <a:solidFill>
                  <a:schemeClr val="tx1"/>
                </a:solidFill>
                <a:latin typeface="Times New Roman" panose="02020603050405020304" pitchFamily="18" charset="0"/>
                <a:ea typeface="黑体" panose="02010609060101010101" pitchFamily="49" charset="-122"/>
              </a:rPr>
              <a:t>位停止位</a:t>
            </a:r>
            <a:endParaRPr lang="zh-CN" altLang="en-US" sz="2400" dirty="0">
              <a:solidFill>
                <a:schemeClr val="tx1"/>
              </a:solidFill>
              <a:latin typeface="Times New Roman" panose="02020603050405020304" pitchFamily="18" charset="0"/>
              <a:ea typeface="黑体" panose="02010609060101010101" pitchFamily="49" charset="-122"/>
            </a:endParaRPr>
          </a:p>
        </p:txBody>
      </p:sp>
      <p:sp>
        <p:nvSpPr>
          <p:cNvPr id="126982" name="Rectangle 7"/>
          <p:cNvSpPr/>
          <p:nvPr/>
        </p:nvSpPr>
        <p:spPr>
          <a:xfrm>
            <a:off x="4724400" y="5257800"/>
            <a:ext cx="4267200" cy="11430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位</a:t>
            </a:r>
            <a:r>
              <a:rPr lang="en-US" altLang="zh-CN" sz="2400" dirty="0">
                <a:solidFill>
                  <a:schemeClr val="tx1"/>
                </a:solidFill>
                <a:latin typeface="Times New Roman" panose="02020603050405020304" pitchFamily="18" charset="0"/>
                <a:ea typeface="黑体" panose="02010609060101010101" pitchFamily="49" charset="-122"/>
              </a:rPr>
              <a:t>1</a:t>
            </a:r>
            <a:r>
              <a:rPr lang="zh-CN" altLang="en-US"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Times New Roman" panose="02020603050405020304" pitchFamily="18" charset="0"/>
                <a:ea typeface="黑体" panose="02010609060101010101" pitchFamily="49" charset="-122"/>
              </a:rPr>
              <a:t>0</a:t>
            </a:r>
            <a:r>
              <a:rPr lang="zh-CN" altLang="en-US" sz="2400" dirty="0">
                <a:solidFill>
                  <a:schemeClr val="tx1"/>
                </a:solidFill>
                <a:latin typeface="Times New Roman" panose="02020603050405020304" pitchFamily="18" charset="0"/>
                <a:ea typeface="黑体" panose="02010609060101010101" pitchFamily="49" charset="-122"/>
              </a:rPr>
              <a:t>表示通信数据位数设定</a:t>
            </a:r>
            <a:endParaRPr lang="zh-CN" altLang="en-US" sz="24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1	0	7</a:t>
            </a:r>
            <a:r>
              <a:rPr lang="zh-CN" altLang="en-US" sz="2400" dirty="0">
                <a:solidFill>
                  <a:schemeClr val="tx1"/>
                </a:solidFill>
                <a:latin typeface="Times New Roman" panose="02020603050405020304" pitchFamily="18" charset="0"/>
                <a:ea typeface="黑体" panose="02010609060101010101" pitchFamily="49" charset="-122"/>
              </a:rPr>
              <a:t>位数据通信</a:t>
            </a:r>
            <a:endParaRPr lang="zh-CN" altLang="en-US" sz="24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	</a:t>
            </a:r>
            <a:r>
              <a:rPr lang="en-US" altLang="zh-CN" sz="2400" dirty="0">
                <a:solidFill>
                  <a:schemeClr val="tx1"/>
                </a:solidFill>
                <a:latin typeface="Times New Roman" panose="02020603050405020304" pitchFamily="18" charset="0"/>
                <a:ea typeface="黑体" panose="02010609060101010101" pitchFamily="49" charset="-122"/>
              </a:rPr>
              <a:t>1	1	8</a:t>
            </a:r>
            <a:r>
              <a:rPr lang="zh-CN" altLang="en-US" sz="2400" dirty="0">
                <a:solidFill>
                  <a:schemeClr val="tx1"/>
                </a:solidFill>
                <a:latin typeface="Times New Roman" panose="02020603050405020304" pitchFamily="18" charset="0"/>
                <a:ea typeface="黑体" panose="02010609060101010101" pitchFamily="49" charset="-122"/>
              </a:rPr>
              <a:t>位数据通信</a:t>
            </a:r>
            <a:endParaRPr lang="zh-CN" altLang="en-US" sz="2400" dirty="0">
              <a:solidFill>
                <a:schemeClr val="tx1"/>
              </a:solidFill>
              <a:latin typeface="Times New Roman" panose="02020603050405020304" pitchFamily="18" charset="0"/>
              <a:ea typeface="黑体" panose="020106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6978"/>
                                        </p:tgtEl>
                                        <p:attrNameLst>
                                          <p:attrName>style.visibility</p:attrName>
                                        </p:attrNameLst>
                                      </p:cBhvr>
                                      <p:to>
                                        <p:strVal val="visible"/>
                                      </p:to>
                                    </p:set>
                                    <p:anim calcmode="lin" valueType="num">
                                      <p:cBhvr>
                                        <p:cTn id="7" dur="500" fill="hold"/>
                                        <p:tgtEl>
                                          <p:spTgt spid="126978"/>
                                        </p:tgtEl>
                                        <p:attrNameLst>
                                          <p:attrName>ppt_x</p:attrName>
                                        </p:attrNameLst>
                                      </p:cBhvr>
                                      <p:tavLst>
                                        <p:tav tm="0">
                                          <p:val>
                                            <p:strVal val="0-#ppt_w/2"/>
                                          </p:val>
                                        </p:tav>
                                        <p:tav tm="100000">
                                          <p:val>
                                            <p:strVal val="#ppt_x"/>
                                          </p:val>
                                        </p:tav>
                                      </p:tavLst>
                                    </p:anim>
                                    <p:anim calcmode="lin" valueType="num">
                                      <p:cBhvr>
                                        <p:cTn id="8" dur="500" fill="hold"/>
                                        <p:tgtEl>
                                          <p:spTgt spid="12697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6980"/>
                                        </p:tgtEl>
                                        <p:attrNameLst>
                                          <p:attrName>style.visibility</p:attrName>
                                        </p:attrNameLst>
                                      </p:cBhvr>
                                      <p:to>
                                        <p:strVal val="visible"/>
                                      </p:to>
                                    </p:set>
                                    <p:anim calcmode="lin" valueType="num">
                                      <p:cBhvr>
                                        <p:cTn id="13" dur="500" fill="hold"/>
                                        <p:tgtEl>
                                          <p:spTgt spid="126980"/>
                                        </p:tgtEl>
                                        <p:attrNameLst>
                                          <p:attrName>ppt_x</p:attrName>
                                        </p:attrNameLst>
                                      </p:cBhvr>
                                      <p:tavLst>
                                        <p:tav tm="0">
                                          <p:val>
                                            <p:strVal val="1+#ppt_w/2"/>
                                          </p:val>
                                        </p:tav>
                                        <p:tav tm="100000">
                                          <p:val>
                                            <p:strVal val="#ppt_x"/>
                                          </p:val>
                                        </p:tav>
                                      </p:tavLst>
                                    </p:anim>
                                    <p:anim calcmode="lin" valueType="num">
                                      <p:cBhvr>
                                        <p:cTn id="14" dur="500" fill="hold"/>
                                        <p:tgtEl>
                                          <p:spTgt spid="12698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26981"/>
                                        </p:tgtEl>
                                        <p:attrNameLst>
                                          <p:attrName>style.visibility</p:attrName>
                                        </p:attrNameLst>
                                      </p:cBhvr>
                                      <p:to>
                                        <p:strVal val="visible"/>
                                      </p:to>
                                    </p:set>
                                    <p:anim calcmode="lin" valueType="num">
                                      <p:cBhvr>
                                        <p:cTn id="19" dur="500" fill="hold"/>
                                        <p:tgtEl>
                                          <p:spTgt spid="126981"/>
                                        </p:tgtEl>
                                        <p:attrNameLst>
                                          <p:attrName>ppt_x</p:attrName>
                                        </p:attrNameLst>
                                      </p:cBhvr>
                                      <p:tavLst>
                                        <p:tav tm="0">
                                          <p:val>
                                            <p:strVal val="1+#ppt_w/2"/>
                                          </p:val>
                                        </p:tav>
                                        <p:tav tm="100000">
                                          <p:val>
                                            <p:strVal val="#ppt_x"/>
                                          </p:val>
                                        </p:tav>
                                      </p:tavLst>
                                    </p:anim>
                                    <p:anim calcmode="lin" valueType="num">
                                      <p:cBhvr>
                                        <p:cTn id="20" dur="500" fill="hold"/>
                                        <p:tgtEl>
                                          <p:spTgt spid="12698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26982"/>
                                        </p:tgtEl>
                                        <p:attrNameLst>
                                          <p:attrName>style.visibility</p:attrName>
                                        </p:attrNameLst>
                                      </p:cBhvr>
                                      <p:to>
                                        <p:strVal val="visible"/>
                                      </p:to>
                                    </p:set>
                                    <p:anim calcmode="lin" valueType="num">
                                      <p:cBhvr>
                                        <p:cTn id="25" dur="500" fill="hold"/>
                                        <p:tgtEl>
                                          <p:spTgt spid="126982"/>
                                        </p:tgtEl>
                                        <p:attrNameLst>
                                          <p:attrName>ppt_x</p:attrName>
                                        </p:attrNameLst>
                                      </p:cBhvr>
                                      <p:tavLst>
                                        <p:tav tm="0">
                                          <p:val>
                                            <p:strVal val="1+#ppt_w/2"/>
                                          </p:val>
                                        </p:tav>
                                        <p:tav tm="100000">
                                          <p:val>
                                            <p:strVal val="#ppt_x"/>
                                          </p:val>
                                        </p:tav>
                                      </p:tavLst>
                                    </p:anim>
                                    <p:anim calcmode="lin" valueType="num">
                                      <p:cBhvr>
                                        <p:cTn id="26" dur="500" fill="hold"/>
                                        <p:tgtEl>
                                          <p:spTgt spid="1269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p:bldP spid="126980" grpId="0"/>
      <p:bldP spid="126981" grpId="0"/>
      <p:bldP spid="126982"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标题 1"/>
          <p:cNvSpPr>
            <a:spLocks noGrp="1"/>
          </p:cNvSpPr>
          <p:nvPr>
            <p:ph type="title" idx="4294967295"/>
          </p:nvPr>
        </p:nvSpPr>
        <p:spPr/>
        <p:txBody>
          <a:bodyPr vert="horz" wrap="square" lIns="91440" tIns="45720" rIns="91440" bIns="45720" anchor="b" anchorCtr="0"/>
          <a:p>
            <a:endParaRPr lang="zh-CN" altLang="zh-CN" dirty="0"/>
          </a:p>
        </p:txBody>
      </p:sp>
      <p:sp>
        <p:nvSpPr>
          <p:cNvPr id="198659"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98660" name="Rectangle 3"/>
          <p:cNvSpPr txBox="1"/>
          <p:nvPr/>
        </p:nvSpPr>
        <p:spPr>
          <a:xfrm>
            <a:off x="827088" y="1916113"/>
            <a:ext cx="7772400" cy="12954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spcBef>
                <a:spcPct val="0"/>
              </a:spcBef>
              <a:buNone/>
            </a:pPr>
            <a:r>
              <a:rPr lang="zh-CN" altLang="en-US" dirty="0">
                <a:solidFill>
                  <a:srgbClr val="FF0000"/>
                </a:solidFill>
                <a:latin typeface="Tahoma" panose="020B0604030504040204" pitchFamily="34" charset="0"/>
                <a:ea typeface="黑体" panose="02010609060101010101" pitchFamily="49" charset="-122"/>
              </a:rPr>
              <a:t>例</a:t>
            </a:r>
            <a:r>
              <a:rPr lang="zh-CN" altLang="en-US" sz="2400" dirty="0">
                <a:latin typeface="Tahoma" panose="020B0604030504040204" pitchFamily="34" charset="0"/>
                <a:ea typeface="黑体" panose="02010609060101010101" pitchFamily="49" charset="-122"/>
              </a:rPr>
              <a:t>： 键盘中断的矢量号为</a:t>
            </a:r>
            <a:r>
              <a:rPr lang="en-US" altLang="zh-CN" sz="2400" dirty="0">
                <a:latin typeface="Tahoma" panose="020B0604030504040204" pitchFamily="34" charset="0"/>
                <a:ea typeface="黑体" panose="02010609060101010101" pitchFamily="49" charset="-122"/>
              </a:rPr>
              <a:t>09H</a:t>
            </a:r>
            <a:r>
              <a:rPr lang="zh-CN" altLang="en-US" sz="2400" dirty="0">
                <a:latin typeface="Tahoma" panose="020B0604030504040204" pitchFamily="34" charset="0"/>
                <a:ea typeface="黑体" panose="02010609060101010101" pitchFamily="49" charset="-122"/>
              </a:rPr>
              <a:t>，它的中断服务程序入口地址为</a:t>
            </a:r>
            <a:r>
              <a:rPr lang="en-US" altLang="zh-CN" sz="2400" dirty="0">
                <a:latin typeface="Tahoma" panose="020B0604030504040204" pitchFamily="34" charset="0"/>
                <a:ea typeface="黑体" panose="02010609060101010101" pitchFamily="49" charset="-122"/>
              </a:rPr>
              <a:t>0BA9H:0125H</a:t>
            </a:r>
            <a:r>
              <a:rPr lang="zh-CN" altLang="en-US" sz="2400" dirty="0">
                <a:latin typeface="Tahoma" panose="020B0604030504040204" pitchFamily="34" charset="0"/>
                <a:ea typeface="黑体" panose="02010609060101010101" pitchFamily="49" charset="-122"/>
              </a:rPr>
              <a:t>，求它在中断矢量表中的地址及相应单元内容</a:t>
            </a:r>
            <a:endParaRPr lang="zh-CN" altLang="en-US" sz="2400" dirty="0">
              <a:latin typeface="Tahoma" panose="020B0604030504040204" pitchFamily="34" charset="0"/>
              <a:ea typeface="黑体" panose="02010609060101010101" pitchFamily="49" charset="-122"/>
            </a:endParaRPr>
          </a:p>
        </p:txBody>
      </p:sp>
      <p:pic>
        <p:nvPicPr>
          <p:cNvPr id="128005" name="Picture 4"/>
          <p:cNvPicPr>
            <a:picLocks noChangeAspect="1"/>
          </p:cNvPicPr>
          <p:nvPr/>
        </p:nvPicPr>
        <p:blipFill>
          <a:blip r:embed="rId1"/>
          <a:stretch>
            <a:fillRect/>
          </a:stretch>
        </p:blipFill>
        <p:spPr>
          <a:xfrm>
            <a:off x="2916238" y="4567238"/>
            <a:ext cx="2971800" cy="2133600"/>
          </a:xfrm>
          <a:prstGeom prst="rect">
            <a:avLst/>
          </a:prstGeom>
          <a:noFill/>
          <a:ln w="9525">
            <a:noFill/>
          </a:ln>
        </p:spPr>
      </p:pic>
      <p:sp>
        <p:nvSpPr>
          <p:cNvPr id="128006" name="Rectangle 5"/>
          <p:cNvSpPr/>
          <p:nvPr/>
        </p:nvSpPr>
        <p:spPr>
          <a:xfrm>
            <a:off x="903288" y="3287713"/>
            <a:ext cx="7543800" cy="12192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Bef>
                <a:spcPct val="0"/>
              </a:spcBef>
              <a:spcAft>
                <a:spcPct val="0"/>
              </a:spcAft>
              <a:buClrTx/>
              <a:buSzTx/>
              <a:buNone/>
            </a:pPr>
            <a:r>
              <a:rPr lang="en-US" altLang="zh-CN" sz="2400" dirty="0">
                <a:solidFill>
                  <a:srgbClr val="FF0000"/>
                </a:solidFill>
                <a:latin typeface="Times New Roman" panose="02020603050405020304" pitchFamily="18" charset="0"/>
                <a:ea typeface="黑体" panose="02010609060101010101" pitchFamily="49" charset="-122"/>
              </a:rPr>
              <a:t> </a:t>
            </a:r>
            <a:r>
              <a:rPr lang="zh-CN" altLang="en-US" sz="2400" dirty="0">
                <a:solidFill>
                  <a:srgbClr val="FF0000"/>
                </a:solidFill>
                <a:latin typeface="Times New Roman" panose="02020603050405020304" pitchFamily="18" charset="0"/>
                <a:ea typeface="黑体" panose="02010609060101010101" pitchFamily="49" charset="-122"/>
              </a:rPr>
              <a:t>解</a:t>
            </a:r>
            <a:r>
              <a:rPr lang="zh-CN" altLang="en-US" sz="2400" dirty="0">
                <a:solidFill>
                  <a:schemeClr val="tx1"/>
                </a:solidFill>
                <a:latin typeface="Times New Roman" panose="02020603050405020304" pitchFamily="18" charset="0"/>
                <a:ea typeface="黑体" panose="02010609060101010101" pitchFamily="49" charset="-122"/>
              </a:rPr>
              <a:t>：键盘中断对应的中断矢量表位于</a:t>
            </a:r>
            <a:r>
              <a:rPr lang="en-US" altLang="zh-CN" sz="2400" dirty="0">
                <a:solidFill>
                  <a:schemeClr val="tx1"/>
                </a:solidFill>
                <a:latin typeface="Times New Roman" panose="02020603050405020304" pitchFamily="18" charset="0"/>
                <a:ea typeface="黑体" panose="02010609060101010101" pitchFamily="49" charset="-122"/>
              </a:rPr>
              <a:t>0000:0024H</a:t>
            </a:r>
            <a:endParaRPr lang="en-US" altLang="zh-CN" sz="24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en-US" altLang="zh-CN" sz="2400" dirty="0">
                <a:solidFill>
                  <a:schemeClr val="tx1"/>
                </a:solidFill>
                <a:latin typeface="Times New Roman" panose="02020603050405020304" pitchFamily="18" charset="0"/>
                <a:ea typeface="黑体" panose="02010609060101010101" pitchFamily="49" charset="-122"/>
              </a:rPr>
              <a:t>        (09H×4=24H)</a:t>
            </a:r>
            <a:r>
              <a:rPr lang="zh-CN" altLang="en-US" sz="2400" dirty="0">
                <a:solidFill>
                  <a:schemeClr val="tx1"/>
                </a:solidFill>
                <a:latin typeface="Times New Roman" panose="02020603050405020304" pitchFamily="18" charset="0"/>
                <a:ea typeface="黑体" panose="02010609060101010101" pitchFamily="49" charset="-122"/>
              </a:rPr>
              <a:t>开始的</a:t>
            </a:r>
            <a:r>
              <a:rPr lang="en-US" altLang="zh-CN" sz="2400" dirty="0">
                <a:solidFill>
                  <a:schemeClr val="tx1"/>
                </a:solidFill>
                <a:latin typeface="Times New Roman" panose="02020603050405020304" pitchFamily="18" charset="0"/>
                <a:ea typeface="黑体" panose="02010609060101010101" pitchFamily="49" charset="-122"/>
              </a:rPr>
              <a:t>4</a:t>
            </a:r>
            <a:r>
              <a:rPr lang="zh-CN" altLang="en-US" sz="2400" dirty="0">
                <a:solidFill>
                  <a:schemeClr val="tx1"/>
                </a:solidFill>
                <a:latin typeface="Times New Roman" panose="02020603050405020304" pitchFamily="18" charset="0"/>
                <a:ea typeface="黑体" panose="02010609060101010101" pitchFamily="49" charset="-122"/>
              </a:rPr>
              <a:t>单元</a:t>
            </a:r>
            <a:endParaRPr lang="zh-CN" altLang="en-US" sz="2400" dirty="0">
              <a:solidFill>
                <a:schemeClr val="tx1"/>
              </a:solidFill>
              <a:latin typeface="Times New Roman" panose="02020603050405020304" pitchFamily="18" charset="0"/>
              <a:ea typeface="黑体" panose="02010609060101010101" pitchFamily="49" charset="-122"/>
            </a:endParaRPr>
          </a:p>
          <a:p>
            <a:pPr marL="342900" lvl="0" indent="-342900">
              <a:lnSpc>
                <a:spcPct val="100000"/>
              </a:lnSpc>
              <a:spcBef>
                <a:spcPct val="0"/>
              </a:spcBef>
              <a:spcAft>
                <a:spcPct val="0"/>
              </a:spcAft>
              <a:buClrTx/>
              <a:buSzTx/>
              <a:buNone/>
            </a:pPr>
            <a:r>
              <a:rPr lang="zh-CN" altLang="en-US" sz="2400" dirty="0">
                <a:solidFill>
                  <a:schemeClr val="tx1"/>
                </a:solidFill>
                <a:latin typeface="Times New Roman" panose="02020603050405020304" pitchFamily="18" charset="0"/>
                <a:ea typeface="黑体" panose="02010609060101010101" pitchFamily="49" charset="-122"/>
              </a:rPr>
              <a:t>        这</a:t>
            </a:r>
            <a:r>
              <a:rPr lang="en-US" altLang="zh-CN" sz="2400" dirty="0">
                <a:solidFill>
                  <a:schemeClr val="tx1"/>
                </a:solidFill>
                <a:latin typeface="Times New Roman" panose="02020603050405020304" pitchFamily="18" charset="0"/>
                <a:ea typeface="黑体" panose="02010609060101010101" pitchFamily="49" charset="-122"/>
              </a:rPr>
              <a:t>4</a:t>
            </a:r>
            <a:r>
              <a:rPr lang="zh-CN" altLang="en-US" sz="2400" dirty="0">
                <a:solidFill>
                  <a:schemeClr val="tx1"/>
                </a:solidFill>
                <a:latin typeface="Times New Roman" panose="02020603050405020304" pitchFamily="18" charset="0"/>
                <a:ea typeface="黑体" panose="02010609060101010101" pitchFamily="49" charset="-122"/>
              </a:rPr>
              <a:t>个单元的内容见表</a:t>
            </a:r>
            <a:r>
              <a:rPr lang="en-US" altLang="zh-CN" sz="2400" dirty="0">
                <a:solidFill>
                  <a:schemeClr val="tx1"/>
                </a:solidFill>
                <a:latin typeface="Times New Roman" panose="02020603050405020304" pitchFamily="18" charset="0"/>
                <a:ea typeface="黑体" panose="02010609060101010101" pitchFamily="49" charset="-122"/>
              </a:rPr>
              <a:t>:</a:t>
            </a:r>
            <a:endParaRPr lang="en-US" altLang="zh-CN" sz="2400" b="0" dirty="0">
              <a:solidFill>
                <a:schemeClr val="tx1"/>
              </a:solidFill>
              <a:latin typeface="Times New Roman" panose="02020603050405020304" pitchFamily="18" charset="0"/>
              <a:ea typeface="黑体" panose="020106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8006"/>
                                        </p:tgtEl>
                                        <p:attrNameLst>
                                          <p:attrName>style.visibility</p:attrName>
                                        </p:attrNameLst>
                                      </p:cBhvr>
                                      <p:to>
                                        <p:strVal val="visible"/>
                                      </p:to>
                                    </p:set>
                                    <p:anim calcmode="lin" valueType="num">
                                      <p:cBhvr>
                                        <p:cTn id="7" dur="500" fill="hold"/>
                                        <p:tgtEl>
                                          <p:spTgt spid="128006"/>
                                        </p:tgtEl>
                                        <p:attrNameLst>
                                          <p:attrName>ppt_x</p:attrName>
                                        </p:attrNameLst>
                                      </p:cBhvr>
                                      <p:tavLst>
                                        <p:tav tm="0">
                                          <p:val>
                                            <p:strVal val="0-#ppt_w/2"/>
                                          </p:val>
                                        </p:tav>
                                        <p:tav tm="100000">
                                          <p:val>
                                            <p:strVal val="#ppt_x"/>
                                          </p:val>
                                        </p:tav>
                                      </p:tavLst>
                                    </p:anim>
                                    <p:anim calcmode="lin" valueType="num">
                                      <p:cBhvr>
                                        <p:cTn id="8" dur="500" fill="hold"/>
                                        <p:tgtEl>
                                          <p:spTgt spid="12800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8005"/>
                                        </p:tgtEl>
                                        <p:attrNameLst>
                                          <p:attrName>style.visibility</p:attrName>
                                        </p:attrNameLst>
                                      </p:cBhvr>
                                      <p:to>
                                        <p:strVal val="visible"/>
                                      </p:to>
                                    </p:set>
                                    <p:anim calcmode="lin" valueType="num">
                                      <p:cBhvr>
                                        <p:cTn id="13" dur="500" fill="hold"/>
                                        <p:tgtEl>
                                          <p:spTgt spid="128005"/>
                                        </p:tgtEl>
                                        <p:attrNameLst>
                                          <p:attrName>ppt_x</p:attrName>
                                        </p:attrNameLst>
                                      </p:cBhvr>
                                      <p:tavLst>
                                        <p:tav tm="0">
                                          <p:val>
                                            <p:strVal val="#ppt_x"/>
                                          </p:val>
                                        </p:tav>
                                        <p:tav tm="100000">
                                          <p:val>
                                            <p:strVal val="#ppt_x"/>
                                          </p:val>
                                        </p:tav>
                                      </p:tavLst>
                                    </p:anim>
                                    <p:anim calcmode="lin" valueType="num">
                                      <p:cBhvr>
                                        <p:cTn id="14" dur="500" fill="hold"/>
                                        <p:tgtEl>
                                          <p:spTgt spid="1280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6"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标题 1"/>
          <p:cNvSpPr>
            <a:spLocks noGrp="1"/>
          </p:cNvSpPr>
          <p:nvPr>
            <p:ph type="title" idx="4294967295"/>
          </p:nvPr>
        </p:nvSpPr>
        <p:spPr/>
        <p:txBody>
          <a:bodyPr vert="horz" wrap="square" lIns="91440" tIns="45720" rIns="91440" bIns="45720" anchor="b" anchorCtr="0"/>
          <a:p>
            <a:r>
              <a:rPr lang="zh-CN" altLang="en-US" dirty="0"/>
              <a:t>四、可编程中断控制器</a:t>
            </a:r>
            <a:r>
              <a:rPr lang="en-GB" altLang="en-US" dirty="0"/>
              <a:t>8259A</a:t>
            </a:r>
            <a:endParaRPr lang="zh-CN" altLang="en-US" dirty="0"/>
          </a:p>
        </p:txBody>
      </p:sp>
      <p:sp>
        <p:nvSpPr>
          <p:cNvPr id="199683" name="灯片编号占位符 2"/>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199684" name="矩形 3"/>
          <p:cNvSpPr/>
          <p:nvPr/>
        </p:nvSpPr>
        <p:spPr>
          <a:xfrm>
            <a:off x="323850" y="2139950"/>
            <a:ext cx="8404225" cy="4560888"/>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spcBef>
                <a:spcPct val="0"/>
              </a:spcBef>
              <a:spcAft>
                <a:spcPct val="0"/>
              </a:spcAft>
              <a:buClrTx/>
              <a:buSzTx/>
              <a:buFont typeface="Wingdings" panose="05000000000000000000" pitchFamily="2" charset="2"/>
              <a:buChar char="Ø"/>
            </a:pPr>
            <a:r>
              <a:rPr lang="en-US" altLang="zh-CN" sz="2400" dirty="0">
                <a:solidFill>
                  <a:schemeClr val="tx1"/>
                </a:solidFill>
                <a:latin typeface="楷体_GB2312"/>
                <a:ea typeface="楷体_GB2312"/>
              </a:rPr>
              <a:t>Intel8259A</a:t>
            </a:r>
            <a:r>
              <a:rPr lang="zh-CN" altLang="en-US" sz="2400" dirty="0">
                <a:solidFill>
                  <a:schemeClr val="tx1"/>
                </a:solidFill>
                <a:latin typeface="楷体_GB2312"/>
                <a:ea typeface="楷体_GB2312"/>
              </a:rPr>
              <a:t>是一种可编程的中断控制器</a:t>
            </a:r>
            <a:r>
              <a:rPr lang="en-GB" altLang="en-US" sz="2400" b="0" dirty="0">
                <a:solidFill>
                  <a:schemeClr val="tx1"/>
                </a:solidFill>
                <a:latin typeface="楷体_GB2312"/>
                <a:ea typeface="楷体_GB2312"/>
              </a:rPr>
              <a:t>PIC</a:t>
            </a:r>
            <a:r>
              <a:rPr lang="zh-CN" altLang="en-US" sz="2400" b="0" dirty="0">
                <a:solidFill>
                  <a:schemeClr val="tx1"/>
                </a:solidFill>
                <a:latin typeface="楷体_GB2312"/>
                <a:ea typeface="楷体_GB2312"/>
              </a:rPr>
              <a:t>（</a:t>
            </a:r>
            <a:r>
              <a:rPr lang="en-GB" altLang="en-US" sz="2400" b="0" dirty="0">
                <a:solidFill>
                  <a:schemeClr val="tx1"/>
                </a:solidFill>
                <a:latin typeface="楷体_GB2312"/>
                <a:ea typeface="楷体_GB2312"/>
              </a:rPr>
              <a:t>Programmable Interrupt Controller</a:t>
            </a:r>
            <a:r>
              <a:rPr lang="zh-CN" altLang="en-US" sz="2400" b="0" dirty="0">
                <a:solidFill>
                  <a:schemeClr val="tx1"/>
                </a:solidFill>
                <a:latin typeface="楷体_GB2312"/>
                <a:ea typeface="楷体_GB2312"/>
              </a:rPr>
              <a:t>）</a:t>
            </a:r>
            <a:endParaRPr lang="en-US" altLang="zh-CN" sz="2400" b="0" dirty="0">
              <a:solidFill>
                <a:schemeClr val="tx1"/>
              </a:solidFill>
              <a:latin typeface="楷体_GB2312"/>
              <a:ea typeface="楷体_GB2312"/>
            </a:endParaRPr>
          </a:p>
          <a:p>
            <a:pPr marL="342900" lvl="0" indent="-342900">
              <a:spcBef>
                <a:spcPct val="0"/>
              </a:spcBef>
              <a:spcAft>
                <a:spcPct val="0"/>
              </a:spcAft>
              <a:buClrTx/>
              <a:buSzTx/>
              <a:buFont typeface="Wingdings" panose="05000000000000000000" pitchFamily="2" charset="2"/>
              <a:buChar char="l"/>
            </a:pPr>
            <a:r>
              <a:rPr lang="zh-CN" altLang="en-US" sz="2400" dirty="0">
                <a:solidFill>
                  <a:schemeClr val="tx1"/>
                </a:solidFill>
                <a:latin typeface="楷体_GB2312"/>
                <a:ea typeface="楷体_GB2312"/>
              </a:rPr>
              <a:t>可为</a:t>
            </a:r>
            <a:r>
              <a:rPr lang="en-US" altLang="zh-CN" sz="2400" dirty="0">
                <a:solidFill>
                  <a:schemeClr val="tx1"/>
                </a:solidFill>
                <a:latin typeface="楷体_GB2312"/>
                <a:ea typeface="楷体_GB2312"/>
              </a:rPr>
              <a:t>CPU</a:t>
            </a:r>
            <a:r>
              <a:rPr lang="zh-CN" altLang="en-US" sz="2400" dirty="0">
                <a:solidFill>
                  <a:schemeClr val="tx1"/>
                </a:solidFill>
                <a:latin typeface="楷体_GB2312"/>
                <a:ea typeface="楷体_GB2312"/>
              </a:rPr>
              <a:t>管理和处理</a:t>
            </a:r>
            <a:r>
              <a:rPr lang="en-US" altLang="zh-CN" sz="2400" dirty="0">
                <a:solidFill>
                  <a:schemeClr val="tx1"/>
                </a:solidFill>
                <a:latin typeface="楷体_GB2312"/>
                <a:ea typeface="楷体_GB2312"/>
              </a:rPr>
              <a:t>8</a:t>
            </a:r>
            <a:r>
              <a:rPr lang="zh-CN" altLang="en-US" sz="2400" dirty="0">
                <a:solidFill>
                  <a:schemeClr val="tx1"/>
                </a:solidFill>
                <a:latin typeface="楷体_GB2312"/>
                <a:ea typeface="楷体_GB2312"/>
              </a:rPr>
              <a:t>个中断源电路的中断，并对它们进行优先级管理。</a:t>
            </a:r>
            <a:endParaRPr lang="en-US" altLang="zh-CN" sz="2400" dirty="0">
              <a:solidFill>
                <a:schemeClr val="tx1"/>
              </a:solidFill>
              <a:latin typeface="楷体_GB2312"/>
              <a:ea typeface="楷体_GB2312"/>
            </a:endParaRPr>
          </a:p>
          <a:p>
            <a:pPr marL="342900" lvl="0" indent="-342900">
              <a:spcBef>
                <a:spcPct val="0"/>
              </a:spcBef>
              <a:spcAft>
                <a:spcPct val="0"/>
              </a:spcAft>
              <a:buClrTx/>
              <a:buSzTx/>
              <a:buFont typeface="Wingdings" panose="05000000000000000000" pitchFamily="2" charset="2"/>
              <a:buChar char="l"/>
            </a:pPr>
            <a:r>
              <a:rPr lang="zh-CN" altLang="en-US" sz="2400" dirty="0">
                <a:solidFill>
                  <a:schemeClr val="tx1"/>
                </a:solidFill>
                <a:latin typeface="楷体_GB2312"/>
                <a:ea typeface="楷体_GB2312"/>
              </a:rPr>
              <a:t>可与其它</a:t>
            </a:r>
            <a:r>
              <a:rPr lang="en-US" altLang="zh-CN" sz="2400" dirty="0">
                <a:solidFill>
                  <a:schemeClr val="tx1"/>
                </a:solidFill>
                <a:latin typeface="楷体_GB2312"/>
                <a:ea typeface="楷体_GB2312"/>
              </a:rPr>
              <a:t>8</a:t>
            </a:r>
            <a:r>
              <a:rPr lang="zh-CN" altLang="en-US" sz="2400" dirty="0">
                <a:solidFill>
                  <a:schemeClr val="tx1"/>
                </a:solidFill>
                <a:latin typeface="楷体_GB2312"/>
                <a:ea typeface="楷体_GB2312"/>
              </a:rPr>
              <a:t>个</a:t>
            </a:r>
            <a:r>
              <a:rPr lang="en-US" altLang="zh-CN" sz="2400" dirty="0">
                <a:solidFill>
                  <a:schemeClr val="tx1"/>
                </a:solidFill>
                <a:latin typeface="楷体_GB2312"/>
                <a:ea typeface="楷体_GB2312"/>
              </a:rPr>
              <a:t>8259A</a:t>
            </a:r>
            <a:r>
              <a:rPr lang="zh-CN" altLang="en-US" sz="2400" dirty="0">
                <a:solidFill>
                  <a:schemeClr val="tx1"/>
                </a:solidFill>
                <a:latin typeface="楷体_GB2312"/>
                <a:ea typeface="楷体_GB2312"/>
              </a:rPr>
              <a:t>芯片组成主从式中断系统，实现</a:t>
            </a:r>
            <a:r>
              <a:rPr lang="en-US" altLang="zh-CN" sz="2400" dirty="0">
                <a:solidFill>
                  <a:schemeClr val="tx1"/>
                </a:solidFill>
                <a:latin typeface="楷体_GB2312"/>
                <a:ea typeface="楷体_GB2312"/>
              </a:rPr>
              <a:t>64</a:t>
            </a:r>
            <a:r>
              <a:rPr lang="zh-CN" altLang="en-US" sz="2400" dirty="0">
                <a:solidFill>
                  <a:schemeClr val="tx1"/>
                </a:solidFill>
                <a:latin typeface="楷体_GB2312"/>
                <a:ea typeface="楷体_GB2312"/>
              </a:rPr>
              <a:t>级中断源控制。</a:t>
            </a:r>
            <a:endParaRPr lang="en-US" altLang="zh-CN" sz="2400" dirty="0">
              <a:solidFill>
                <a:schemeClr val="tx1"/>
              </a:solidFill>
              <a:latin typeface="楷体_GB2312"/>
              <a:ea typeface="楷体_GB2312"/>
            </a:endParaRPr>
          </a:p>
          <a:p>
            <a:pPr marL="342900" lvl="0" indent="-342900">
              <a:spcBef>
                <a:spcPct val="0"/>
              </a:spcBef>
              <a:spcAft>
                <a:spcPct val="0"/>
              </a:spcAft>
              <a:buClrTx/>
              <a:buSzTx/>
              <a:buFont typeface="Wingdings" panose="05000000000000000000" pitchFamily="2" charset="2"/>
              <a:buChar char="l"/>
            </a:pPr>
            <a:r>
              <a:rPr lang="zh-CN" altLang="en-US" sz="2400" dirty="0">
                <a:solidFill>
                  <a:schemeClr val="tx1"/>
                </a:solidFill>
                <a:latin typeface="楷体_GB2312"/>
                <a:ea typeface="楷体_GB2312"/>
              </a:rPr>
              <a:t>优先级方式在执行程序时可动态改变，有多种中断管理方式。</a:t>
            </a:r>
            <a:endParaRPr lang="en-US" altLang="zh-CN" sz="2400" dirty="0">
              <a:solidFill>
                <a:schemeClr val="tx1"/>
              </a:solidFill>
              <a:latin typeface="楷体_GB2312"/>
              <a:ea typeface="楷体_GB2312"/>
            </a:endParaRPr>
          </a:p>
          <a:p>
            <a:pPr marL="342900" lvl="0" indent="-342900">
              <a:spcBef>
                <a:spcPct val="0"/>
              </a:spcBef>
              <a:spcAft>
                <a:spcPct val="0"/>
              </a:spcAft>
              <a:buClrTx/>
              <a:buSzTx/>
              <a:buFont typeface="Wingdings" panose="05000000000000000000" pitchFamily="2" charset="2"/>
              <a:buChar char="l"/>
            </a:pPr>
            <a:r>
              <a:rPr lang="zh-CN" altLang="en-US" sz="2400" dirty="0">
                <a:solidFill>
                  <a:schemeClr val="tx1"/>
                </a:solidFill>
                <a:latin typeface="楷体_GB2312"/>
                <a:ea typeface="楷体_GB2312"/>
              </a:rPr>
              <a:t>每一中断源中断都可以屏蔽或允许，可通过编程选择。</a:t>
            </a:r>
            <a:endParaRPr lang="en-US" altLang="zh-CN" sz="2400" dirty="0">
              <a:solidFill>
                <a:schemeClr val="tx1"/>
              </a:solidFill>
              <a:latin typeface="楷体_GB2312"/>
              <a:ea typeface="楷体_GB2312"/>
            </a:endParaRPr>
          </a:p>
          <a:p>
            <a:pPr marL="342900" lvl="0" indent="-342900">
              <a:spcBef>
                <a:spcPct val="0"/>
              </a:spcBef>
              <a:spcAft>
                <a:spcPct val="0"/>
              </a:spcAft>
              <a:buClrTx/>
              <a:buSzTx/>
              <a:buFont typeface="Wingdings" panose="05000000000000000000" pitchFamily="2" charset="2"/>
              <a:buChar char="l"/>
            </a:pPr>
            <a:r>
              <a:rPr lang="zh-CN" altLang="en-US" sz="2400" dirty="0">
                <a:solidFill>
                  <a:schemeClr val="tx1"/>
                </a:solidFill>
                <a:latin typeface="楷体_GB2312"/>
                <a:ea typeface="楷体_GB2312"/>
              </a:rPr>
              <a:t>能自动送出中断类型号，使</a:t>
            </a:r>
            <a:r>
              <a:rPr lang="en-US" altLang="zh-CN" sz="2400" dirty="0">
                <a:solidFill>
                  <a:schemeClr val="tx1"/>
                </a:solidFill>
                <a:latin typeface="楷体_GB2312"/>
                <a:ea typeface="楷体_GB2312"/>
              </a:rPr>
              <a:t>CPU</a:t>
            </a:r>
            <a:r>
              <a:rPr lang="zh-CN" altLang="en-US" sz="2400" dirty="0">
                <a:solidFill>
                  <a:schemeClr val="tx1"/>
                </a:solidFill>
                <a:latin typeface="楷体_GB2312"/>
                <a:ea typeface="楷体_GB2312"/>
              </a:rPr>
              <a:t>方便的找到中断服务程序的入口地址。</a:t>
            </a:r>
            <a:endParaRPr lang="zh-CN" altLang="en-US" sz="2400" dirty="0">
              <a:solidFill>
                <a:schemeClr val="tx1"/>
              </a:solidFill>
              <a:latin typeface="楷体_GB2312"/>
              <a:ea typeface="楷体_GB2312"/>
            </a:endParaRPr>
          </a:p>
        </p:txBody>
      </p:sp>
    </p:spTree>
  </p:cSld>
  <p:clrMapOvr>
    <a:masterClrMapping/>
  </p:clrMapOvr>
  <p:transition spd="slow">
    <p:zo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灯片编号占位符 5"/>
          <p:cNvSpPr txBox="1">
            <a:spLocks noGrp="1"/>
          </p:cNvSpPr>
          <p:nvPr/>
        </p:nvSpPr>
        <p:spPr>
          <a:xfrm>
            <a:off x="7237413" y="6342063"/>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00707" name="Rectangle 2"/>
          <p:cNvSpPr>
            <a:spLocks noGrp="1" noRot="1"/>
          </p:cNvSpPr>
          <p:nvPr>
            <p:ph type="title" idx="4294967295"/>
          </p:nvPr>
        </p:nvSpPr>
        <p:spPr>
          <a:xfrm>
            <a:off x="1116013" y="1125538"/>
            <a:ext cx="8915400" cy="609600"/>
          </a:xfrm>
        </p:spPr>
        <p:txBody>
          <a:bodyPr vert="horz" wrap="square" lIns="91440" tIns="45720" rIns="91440" bIns="45720" anchor="b" anchorCtr="0"/>
          <a:p>
            <a:pPr eaLnBrk="1" hangingPunct="1">
              <a:lnSpc>
                <a:spcPct val="120000"/>
              </a:lnSpc>
            </a:pPr>
            <a:r>
              <a:rPr lang="en-US" altLang="zh-CN" sz="4000" b="1" dirty="0">
                <a:latin typeface="黑体" panose="02010609060101010101" pitchFamily="49" charset="-122"/>
                <a:ea typeface="黑体" panose="02010609060101010101" pitchFamily="49" charset="-122"/>
              </a:rPr>
              <a:t>8259A</a:t>
            </a:r>
            <a:r>
              <a:rPr lang="zh-CN" altLang="en-US" sz="4000" b="1" dirty="0">
                <a:latin typeface="黑体" panose="02010609060101010101" pitchFamily="49" charset="-122"/>
                <a:ea typeface="黑体" panose="02010609060101010101" pitchFamily="49" charset="-122"/>
              </a:rPr>
              <a:t>的结构功能</a:t>
            </a:r>
            <a:endParaRPr lang="zh-CN" altLang="en-US" sz="4000" b="1" dirty="0">
              <a:latin typeface="黑体" panose="02010609060101010101" pitchFamily="49" charset="-122"/>
              <a:ea typeface="黑体" panose="02010609060101010101" pitchFamily="49" charset="-122"/>
            </a:endParaRPr>
          </a:p>
        </p:txBody>
      </p:sp>
      <p:grpSp>
        <p:nvGrpSpPr>
          <p:cNvPr id="200708" name="Group 16"/>
          <p:cNvGrpSpPr/>
          <p:nvPr/>
        </p:nvGrpSpPr>
        <p:grpSpPr>
          <a:xfrm>
            <a:off x="6407150" y="2678113"/>
            <a:ext cx="228600" cy="1373187"/>
            <a:chOff x="0" y="0"/>
            <a:chExt cx="144" cy="865"/>
          </a:xfrm>
        </p:grpSpPr>
        <p:sp>
          <p:nvSpPr>
            <p:cNvPr id="200804" name="Line 9"/>
            <p:cNvSpPr/>
            <p:nvPr/>
          </p:nvSpPr>
          <p:spPr>
            <a:xfrm flipH="1">
              <a:off x="0" y="0"/>
              <a:ext cx="144" cy="1"/>
            </a:xfrm>
            <a:prstGeom prst="line">
              <a:avLst/>
            </a:prstGeom>
            <a:ln w="12700" cap="flat" cmpd="sng">
              <a:solidFill>
                <a:srgbClr val="000000"/>
              </a:solidFill>
              <a:prstDash val="solid"/>
              <a:bevel/>
              <a:headEnd type="none" w="med" len="med"/>
              <a:tailEnd type="none" w="med" len="med"/>
            </a:ln>
          </p:spPr>
        </p:sp>
        <p:sp>
          <p:nvSpPr>
            <p:cNvPr id="200805" name="Line 10"/>
            <p:cNvSpPr/>
            <p:nvPr/>
          </p:nvSpPr>
          <p:spPr>
            <a:xfrm flipH="1">
              <a:off x="0" y="144"/>
              <a:ext cx="144" cy="1"/>
            </a:xfrm>
            <a:prstGeom prst="line">
              <a:avLst/>
            </a:prstGeom>
            <a:ln w="12700" cap="flat" cmpd="sng">
              <a:solidFill>
                <a:srgbClr val="000000"/>
              </a:solidFill>
              <a:prstDash val="solid"/>
              <a:bevel/>
              <a:headEnd type="none" w="med" len="med"/>
              <a:tailEnd type="none" w="med" len="med"/>
            </a:ln>
          </p:spPr>
        </p:sp>
        <p:sp>
          <p:nvSpPr>
            <p:cNvPr id="200806" name="Line 11"/>
            <p:cNvSpPr/>
            <p:nvPr/>
          </p:nvSpPr>
          <p:spPr>
            <a:xfrm flipH="1">
              <a:off x="0" y="288"/>
              <a:ext cx="144" cy="1"/>
            </a:xfrm>
            <a:prstGeom prst="line">
              <a:avLst/>
            </a:prstGeom>
            <a:ln w="12700" cap="flat" cmpd="sng">
              <a:solidFill>
                <a:srgbClr val="000000"/>
              </a:solidFill>
              <a:prstDash val="solid"/>
              <a:bevel/>
              <a:headEnd type="none" w="med" len="med"/>
              <a:tailEnd type="none" w="med" len="med"/>
            </a:ln>
          </p:spPr>
        </p:sp>
        <p:sp>
          <p:nvSpPr>
            <p:cNvPr id="200807" name="Line 12"/>
            <p:cNvSpPr/>
            <p:nvPr/>
          </p:nvSpPr>
          <p:spPr>
            <a:xfrm flipH="1">
              <a:off x="0" y="432"/>
              <a:ext cx="144" cy="1"/>
            </a:xfrm>
            <a:prstGeom prst="line">
              <a:avLst/>
            </a:prstGeom>
            <a:ln w="12700" cap="flat" cmpd="sng">
              <a:solidFill>
                <a:srgbClr val="000000"/>
              </a:solidFill>
              <a:prstDash val="solid"/>
              <a:bevel/>
              <a:headEnd type="none" w="med" len="med"/>
              <a:tailEnd type="none" w="med" len="med"/>
            </a:ln>
          </p:spPr>
        </p:sp>
        <p:sp>
          <p:nvSpPr>
            <p:cNvPr id="200808" name="Line 13"/>
            <p:cNvSpPr/>
            <p:nvPr/>
          </p:nvSpPr>
          <p:spPr>
            <a:xfrm flipH="1">
              <a:off x="0" y="576"/>
              <a:ext cx="144" cy="1"/>
            </a:xfrm>
            <a:prstGeom prst="line">
              <a:avLst/>
            </a:prstGeom>
            <a:ln w="12700" cap="flat" cmpd="sng">
              <a:solidFill>
                <a:srgbClr val="000000"/>
              </a:solidFill>
              <a:prstDash val="solid"/>
              <a:bevel/>
              <a:headEnd type="none" w="med" len="med"/>
              <a:tailEnd type="none" w="med" len="med"/>
            </a:ln>
          </p:spPr>
        </p:sp>
        <p:sp>
          <p:nvSpPr>
            <p:cNvPr id="200809" name="Line 14"/>
            <p:cNvSpPr/>
            <p:nvPr/>
          </p:nvSpPr>
          <p:spPr>
            <a:xfrm flipH="1">
              <a:off x="0" y="720"/>
              <a:ext cx="144" cy="1"/>
            </a:xfrm>
            <a:prstGeom prst="line">
              <a:avLst/>
            </a:prstGeom>
            <a:ln w="12700" cap="flat" cmpd="sng">
              <a:solidFill>
                <a:srgbClr val="000000"/>
              </a:solidFill>
              <a:prstDash val="solid"/>
              <a:bevel/>
              <a:headEnd type="none" w="med" len="med"/>
              <a:tailEnd type="none" w="med" len="med"/>
            </a:ln>
          </p:spPr>
        </p:sp>
        <p:sp>
          <p:nvSpPr>
            <p:cNvPr id="200810" name="Line 15"/>
            <p:cNvSpPr/>
            <p:nvPr/>
          </p:nvSpPr>
          <p:spPr>
            <a:xfrm flipH="1">
              <a:off x="0" y="864"/>
              <a:ext cx="144" cy="1"/>
            </a:xfrm>
            <a:prstGeom prst="line">
              <a:avLst/>
            </a:prstGeom>
            <a:ln w="12700" cap="flat" cmpd="sng">
              <a:solidFill>
                <a:srgbClr val="000000"/>
              </a:solidFill>
              <a:prstDash val="solid"/>
              <a:bevel/>
              <a:headEnd type="none" w="med" len="med"/>
              <a:tailEnd type="none" w="med" len="med"/>
            </a:ln>
          </p:spPr>
        </p:sp>
      </p:grpSp>
      <p:grpSp>
        <p:nvGrpSpPr>
          <p:cNvPr id="200709" name="Group 24"/>
          <p:cNvGrpSpPr/>
          <p:nvPr/>
        </p:nvGrpSpPr>
        <p:grpSpPr>
          <a:xfrm>
            <a:off x="6407150" y="4278313"/>
            <a:ext cx="228600" cy="1373187"/>
            <a:chOff x="0" y="0"/>
            <a:chExt cx="144" cy="865"/>
          </a:xfrm>
        </p:grpSpPr>
        <p:sp>
          <p:nvSpPr>
            <p:cNvPr id="200797" name="Line 17"/>
            <p:cNvSpPr/>
            <p:nvPr/>
          </p:nvSpPr>
          <p:spPr>
            <a:xfrm flipH="1">
              <a:off x="0" y="0"/>
              <a:ext cx="144" cy="1"/>
            </a:xfrm>
            <a:prstGeom prst="line">
              <a:avLst/>
            </a:prstGeom>
            <a:ln w="12700" cap="flat" cmpd="sng">
              <a:solidFill>
                <a:srgbClr val="000000"/>
              </a:solidFill>
              <a:prstDash val="solid"/>
              <a:bevel/>
              <a:headEnd type="none" w="med" len="med"/>
              <a:tailEnd type="none" w="med" len="med"/>
            </a:ln>
          </p:spPr>
        </p:sp>
        <p:sp>
          <p:nvSpPr>
            <p:cNvPr id="200798" name="Line 18"/>
            <p:cNvSpPr/>
            <p:nvPr/>
          </p:nvSpPr>
          <p:spPr>
            <a:xfrm flipH="1">
              <a:off x="0" y="144"/>
              <a:ext cx="144" cy="1"/>
            </a:xfrm>
            <a:prstGeom prst="line">
              <a:avLst/>
            </a:prstGeom>
            <a:ln w="12700" cap="flat" cmpd="sng">
              <a:solidFill>
                <a:srgbClr val="000000"/>
              </a:solidFill>
              <a:prstDash val="solid"/>
              <a:bevel/>
              <a:headEnd type="none" w="med" len="med"/>
              <a:tailEnd type="none" w="med" len="med"/>
            </a:ln>
          </p:spPr>
        </p:sp>
        <p:sp>
          <p:nvSpPr>
            <p:cNvPr id="200799" name="Line 19"/>
            <p:cNvSpPr/>
            <p:nvPr/>
          </p:nvSpPr>
          <p:spPr>
            <a:xfrm flipH="1">
              <a:off x="0" y="288"/>
              <a:ext cx="144" cy="1"/>
            </a:xfrm>
            <a:prstGeom prst="line">
              <a:avLst/>
            </a:prstGeom>
            <a:ln w="12700" cap="flat" cmpd="sng">
              <a:solidFill>
                <a:srgbClr val="000000"/>
              </a:solidFill>
              <a:prstDash val="solid"/>
              <a:bevel/>
              <a:headEnd type="none" w="med" len="med"/>
              <a:tailEnd type="none" w="med" len="med"/>
            </a:ln>
          </p:spPr>
        </p:sp>
        <p:sp>
          <p:nvSpPr>
            <p:cNvPr id="200800" name="Line 20"/>
            <p:cNvSpPr/>
            <p:nvPr/>
          </p:nvSpPr>
          <p:spPr>
            <a:xfrm flipH="1">
              <a:off x="0" y="432"/>
              <a:ext cx="144" cy="1"/>
            </a:xfrm>
            <a:prstGeom prst="line">
              <a:avLst/>
            </a:prstGeom>
            <a:ln w="12700" cap="flat" cmpd="sng">
              <a:solidFill>
                <a:srgbClr val="000000"/>
              </a:solidFill>
              <a:prstDash val="solid"/>
              <a:bevel/>
              <a:headEnd type="none" w="med" len="med"/>
              <a:tailEnd type="none" w="med" len="med"/>
            </a:ln>
          </p:spPr>
        </p:sp>
        <p:sp>
          <p:nvSpPr>
            <p:cNvPr id="200801" name="Line 21"/>
            <p:cNvSpPr/>
            <p:nvPr/>
          </p:nvSpPr>
          <p:spPr>
            <a:xfrm flipH="1">
              <a:off x="0" y="576"/>
              <a:ext cx="144" cy="1"/>
            </a:xfrm>
            <a:prstGeom prst="line">
              <a:avLst/>
            </a:prstGeom>
            <a:ln w="12700" cap="flat" cmpd="sng">
              <a:solidFill>
                <a:srgbClr val="000000"/>
              </a:solidFill>
              <a:prstDash val="solid"/>
              <a:bevel/>
              <a:headEnd type="none" w="med" len="med"/>
              <a:tailEnd type="none" w="med" len="med"/>
            </a:ln>
          </p:spPr>
        </p:sp>
        <p:sp>
          <p:nvSpPr>
            <p:cNvPr id="200802" name="Line 22"/>
            <p:cNvSpPr/>
            <p:nvPr/>
          </p:nvSpPr>
          <p:spPr>
            <a:xfrm flipH="1">
              <a:off x="0" y="720"/>
              <a:ext cx="144" cy="1"/>
            </a:xfrm>
            <a:prstGeom prst="line">
              <a:avLst/>
            </a:prstGeom>
            <a:ln w="12700" cap="flat" cmpd="sng">
              <a:solidFill>
                <a:srgbClr val="000000"/>
              </a:solidFill>
              <a:prstDash val="solid"/>
              <a:bevel/>
              <a:headEnd type="none" w="med" len="med"/>
              <a:tailEnd type="none" w="med" len="med"/>
            </a:ln>
          </p:spPr>
        </p:sp>
        <p:sp>
          <p:nvSpPr>
            <p:cNvPr id="200803" name="Line 23"/>
            <p:cNvSpPr/>
            <p:nvPr/>
          </p:nvSpPr>
          <p:spPr>
            <a:xfrm flipH="1">
              <a:off x="0" y="864"/>
              <a:ext cx="144" cy="1"/>
            </a:xfrm>
            <a:prstGeom prst="line">
              <a:avLst/>
            </a:prstGeom>
            <a:ln w="12700" cap="flat" cmpd="sng">
              <a:solidFill>
                <a:srgbClr val="000000"/>
              </a:solidFill>
              <a:prstDash val="solid"/>
              <a:bevel/>
              <a:headEnd type="none" w="med" len="med"/>
              <a:tailEnd type="none" w="med" len="med"/>
            </a:ln>
          </p:spPr>
        </p:sp>
      </p:grpSp>
      <p:sp>
        <p:nvSpPr>
          <p:cNvPr id="200710" name="Rectangle 25"/>
          <p:cNvSpPr/>
          <p:nvPr/>
        </p:nvSpPr>
        <p:spPr>
          <a:xfrm>
            <a:off x="6734175" y="2557463"/>
            <a:ext cx="127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1</a:t>
            </a:r>
            <a:endParaRPr lang="en-US" altLang="zh-CN" sz="1800" b="0" dirty="0">
              <a:solidFill>
                <a:schemeClr val="tx1"/>
              </a:solidFill>
              <a:ea typeface="楷体_GB2312"/>
            </a:endParaRPr>
          </a:p>
        </p:txBody>
      </p:sp>
      <p:sp>
        <p:nvSpPr>
          <p:cNvPr id="200711" name="Rectangle 26"/>
          <p:cNvSpPr/>
          <p:nvPr/>
        </p:nvSpPr>
        <p:spPr>
          <a:xfrm>
            <a:off x="6734175" y="2786063"/>
            <a:ext cx="127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2</a:t>
            </a:r>
            <a:endParaRPr lang="en-US" altLang="zh-CN" sz="1800" b="0" dirty="0">
              <a:solidFill>
                <a:schemeClr val="tx1"/>
              </a:solidFill>
              <a:ea typeface="楷体_GB2312"/>
            </a:endParaRPr>
          </a:p>
        </p:txBody>
      </p:sp>
      <p:sp>
        <p:nvSpPr>
          <p:cNvPr id="200712" name="Rectangle 27"/>
          <p:cNvSpPr/>
          <p:nvPr/>
        </p:nvSpPr>
        <p:spPr>
          <a:xfrm>
            <a:off x="6734175" y="3014663"/>
            <a:ext cx="127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3</a:t>
            </a:r>
            <a:endParaRPr lang="en-US" altLang="zh-CN" sz="1800" b="0" dirty="0">
              <a:solidFill>
                <a:schemeClr val="tx1"/>
              </a:solidFill>
              <a:ea typeface="楷体_GB2312"/>
            </a:endParaRPr>
          </a:p>
        </p:txBody>
      </p:sp>
      <p:sp>
        <p:nvSpPr>
          <p:cNvPr id="200713" name="Rectangle 28"/>
          <p:cNvSpPr/>
          <p:nvPr/>
        </p:nvSpPr>
        <p:spPr>
          <a:xfrm>
            <a:off x="6734175" y="3243263"/>
            <a:ext cx="127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4</a:t>
            </a:r>
            <a:endParaRPr lang="en-US" altLang="zh-CN" sz="1800" b="0" dirty="0">
              <a:solidFill>
                <a:schemeClr val="tx1"/>
              </a:solidFill>
              <a:ea typeface="楷体_GB2312"/>
            </a:endParaRPr>
          </a:p>
        </p:txBody>
      </p:sp>
      <p:sp>
        <p:nvSpPr>
          <p:cNvPr id="200714" name="Rectangle 29"/>
          <p:cNvSpPr/>
          <p:nvPr/>
        </p:nvSpPr>
        <p:spPr>
          <a:xfrm>
            <a:off x="6734175" y="3471863"/>
            <a:ext cx="127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5</a:t>
            </a:r>
            <a:endParaRPr lang="en-US" altLang="zh-CN" sz="1800" b="0" dirty="0">
              <a:solidFill>
                <a:schemeClr val="tx1"/>
              </a:solidFill>
              <a:ea typeface="楷体_GB2312"/>
            </a:endParaRPr>
          </a:p>
        </p:txBody>
      </p:sp>
      <p:sp>
        <p:nvSpPr>
          <p:cNvPr id="200715" name="Rectangle 30"/>
          <p:cNvSpPr/>
          <p:nvPr/>
        </p:nvSpPr>
        <p:spPr>
          <a:xfrm>
            <a:off x="6734175" y="3700463"/>
            <a:ext cx="127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6</a:t>
            </a:r>
            <a:endParaRPr lang="en-US" altLang="zh-CN" sz="1800" b="0" dirty="0">
              <a:solidFill>
                <a:schemeClr val="tx1"/>
              </a:solidFill>
              <a:ea typeface="楷体_GB2312"/>
            </a:endParaRPr>
          </a:p>
        </p:txBody>
      </p:sp>
      <p:sp>
        <p:nvSpPr>
          <p:cNvPr id="200716" name="Rectangle 31"/>
          <p:cNvSpPr/>
          <p:nvPr/>
        </p:nvSpPr>
        <p:spPr>
          <a:xfrm>
            <a:off x="6734175" y="3929063"/>
            <a:ext cx="127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7</a:t>
            </a:r>
            <a:endParaRPr lang="en-US" altLang="zh-CN" sz="1800" b="0" dirty="0">
              <a:solidFill>
                <a:schemeClr val="tx1"/>
              </a:solidFill>
              <a:ea typeface="楷体_GB2312"/>
            </a:endParaRPr>
          </a:p>
        </p:txBody>
      </p:sp>
      <p:sp>
        <p:nvSpPr>
          <p:cNvPr id="200717" name="Rectangle 32"/>
          <p:cNvSpPr/>
          <p:nvPr/>
        </p:nvSpPr>
        <p:spPr>
          <a:xfrm>
            <a:off x="6734175" y="4157663"/>
            <a:ext cx="127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8</a:t>
            </a:r>
            <a:endParaRPr lang="en-US" altLang="zh-CN" sz="1800" b="0" dirty="0">
              <a:solidFill>
                <a:schemeClr val="tx1"/>
              </a:solidFill>
              <a:ea typeface="楷体_GB2312"/>
            </a:endParaRPr>
          </a:p>
        </p:txBody>
      </p:sp>
      <p:sp>
        <p:nvSpPr>
          <p:cNvPr id="200718" name="Rectangle 33"/>
          <p:cNvSpPr/>
          <p:nvPr/>
        </p:nvSpPr>
        <p:spPr>
          <a:xfrm>
            <a:off x="6734175" y="4386263"/>
            <a:ext cx="127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9</a:t>
            </a:r>
            <a:endParaRPr lang="en-US" altLang="zh-CN" sz="1800" b="0" dirty="0">
              <a:solidFill>
                <a:schemeClr val="tx1"/>
              </a:solidFill>
              <a:ea typeface="楷体_GB2312"/>
            </a:endParaRPr>
          </a:p>
        </p:txBody>
      </p:sp>
      <p:sp>
        <p:nvSpPr>
          <p:cNvPr id="200719" name="Rectangle 34"/>
          <p:cNvSpPr/>
          <p:nvPr/>
        </p:nvSpPr>
        <p:spPr>
          <a:xfrm>
            <a:off x="6726238" y="46148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10</a:t>
            </a:r>
            <a:endParaRPr lang="en-US" altLang="zh-CN" sz="1800" b="0" dirty="0">
              <a:solidFill>
                <a:schemeClr val="tx1"/>
              </a:solidFill>
              <a:ea typeface="楷体_GB2312"/>
            </a:endParaRPr>
          </a:p>
        </p:txBody>
      </p:sp>
      <p:sp>
        <p:nvSpPr>
          <p:cNvPr id="200720" name="Rectangle 35"/>
          <p:cNvSpPr/>
          <p:nvPr/>
        </p:nvSpPr>
        <p:spPr>
          <a:xfrm>
            <a:off x="6726238" y="48434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11</a:t>
            </a:r>
            <a:endParaRPr lang="en-US" altLang="zh-CN" sz="1800" b="0" dirty="0">
              <a:solidFill>
                <a:schemeClr val="tx1"/>
              </a:solidFill>
              <a:ea typeface="楷体_GB2312"/>
            </a:endParaRPr>
          </a:p>
        </p:txBody>
      </p:sp>
      <p:sp>
        <p:nvSpPr>
          <p:cNvPr id="200721" name="Rectangle 36"/>
          <p:cNvSpPr/>
          <p:nvPr/>
        </p:nvSpPr>
        <p:spPr>
          <a:xfrm>
            <a:off x="6726238" y="50720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12</a:t>
            </a:r>
            <a:endParaRPr lang="en-US" altLang="zh-CN" sz="1800" b="0" dirty="0">
              <a:solidFill>
                <a:schemeClr val="tx1"/>
              </a:solidFill>
              <a:ea typeface="楷体_GB2312"/>
            </a:endParaRPr>
          </a:p>
        </p:txBody>
      </p:sp>
      <p:sp>
        <p:nvSpPr>
          <p:cNvPr id="200722" name="Rectangle 37"/>
          <p:cNvSpPr/>
          <p:nvPr/>
        </p:nvSpPr>
        <p:spPr>
          <a:xfrm>
            <a:off x="6726238" y="53006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13</a:t>
            </a:r>
            <a:endParaRPr lang="en-US" altLang="zh-CN" sz="1800" b="0" dirty="0">
              <a:solidFill>
                <a:schemeClr val="tx1"/>
              </a:solidFill>
              <a:ea typeface="楷体_GB2312"/>
            </a:endParaRPr>
          </a:p>
        </p:txBody>
      </p:sp>
      <p:sp>
        <p:nvSpPr>
          <p:cNvPr id="200723" name="Rectangle 38"/>
          <p:cNvSpPr/>
          <p:nvPr/>
        </p:nvSpPr>
        <p:spPr>
          <a:xfrm>
            <a:off x="6726238" y="55292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14</a:t>
            </a:r>
            <a:endParaRPr lang="en-US" altLang="zh-CN" sz="1800" b="0" dirty="0">
              <a:solidFill>
                <a:schemeClr val="tx1"/>
              </a:solidFill>
              <a:ea typeface="楷体_GB2312"/>
            </a:endParaRPr>
          </a:p>
        </p:txBody>
      </p:sp>
      <p:sp>
        <p:nvSpPr>
          <p:cNvPr id="200724" name="Rectangle 39"/>
          <p:cNvSpPr/>
          <p:nvPr/>
        </p:nvSpPr>
        <p:spPr>
          <a:xfrm>
            <a:off x="5857875" y="2543175"/>
            <a:ext cx="3810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 CS</a:t>
            </a:r>
            <a:endParaRPr lang="en-US" altLang="zh-CN" sz="1800" b="0" dirty="0">
              <a:solidFill>
                <a:schemeClr val="tx1"/>
              </a:solidFill>
              <a:ea typeface="楷体_GB2312"/>
            </a:endParaRPr>
          </a:p>
        </p:txBody>
      </p:sp>
      <p:sp>
        <p:nvSpPr>
          <p:cNvPr id="200725" name="Rectangle 40"/>
          <p:cNvSpPr/>
          <p:nvPr/>
        </p:nvSpPr>
        <p:spPr>
          <a:xfrm>
            <a:off x="5857875" y="2786063"/>
            <a:ext cx="4445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 WR</a:t>
            </a:r>
            <a:endParaRPr lang="en-US" altLang="zh-CN" sz="1800" b="0" dirty="0">
              <a:solidFill>
                <a:schemeClr val="tx1"/>
              </a:solidFill>
              <a:ea typeface="楷体_GB2312"/>
            </a:endParaRPr>
          </a:p>
        </p:txBody>
      </p:sp>
      <p:sp>
        <p:nvSpPr>
          <p:cNvPr id="200726" name="Rectangle 41"/>
          <p:cNvSpPr/>
          <p:nvPr/>
        </p:nvSpPr>
        <p:spPr>
          <a:xfrm>
            <a:off x="5895975" y="3014663"/>
            <a:ext cx="3937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 RD</a:t>
            </a:r>
            <a:endParaRPr lang="en-US" altLang="zh-CN" sz="1800" b="0" dirty="0">
              <a:solidFill>
                <a:schemeClr val="tx1"/>
              </a:solidFill>
              <a:ea typeface="楷体_GB2312"/>
            </a:endParaRPr>
          </a:p>
        </p:txBody>
      </p:sp>
      <p:sp>
        <p:nvSpPr>
          <p:cNvPr id="200727" name="Rectangle 42"/>
          <p:cNvSpPr/>
          <p:nvPr/>
        </p:nvSpPr>
        <p:spPr>
          <a:xfrm>
            <a:off x="5934075" y="324326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 D7</a:t>
            </a:r>
            <a:endParaRPr lang="en-US" altLang="zh-CN" sz="1800" b="0" dirty="0">
              <a:solidFill>
                <a:schemeClr val="tx1"/>
              </a:solidFill>
              <a:ea typeface="楷体_GB2312"/>
            </a:endParaRPr>
          </a:p>
        </p:txBody>
      </p:sp>
      <p:sp>
        <p:nvSpPr>
          <p:cNvPr id="200728" name="Rectangle 43"/>
          <p:cNvSpPr/>
          <p:nvPr/>
        </p:nvSpPr>
        <p:spPr>
          <a:xfrm>
            <a:off x="5934075" y="347186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 D6</a:t>
            </a:r>
            <a:endParaRPr lang="en-US" altLang="zh-CN" sz="1800" b="0" dirty="0">
              <a:solidFill>
                <a:schemeClr val="tx1"/>
              </a:solidFill>
              <a:ea typeface="楷体_GB2312"/>
            </a:endParaRPr>
          </a:p>
        </p:txBody>
      </p:sp>
      <p:sp>
        <p:nvSpPr>
          <p:cNvPr id="200729" name="Rectangle 44"/>
          <p:cNvSpPr/>
          <p:nvPr/>
        </p:nvSpPr>
        <p:spPr>
          <a:xfrm>
            <a:off x="5934075" y="370046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 D5</a:t>
            </a:r>
            <a:endParaRPr lang="en-US" altLang="zh-CN" sz="1800" b="0" dirty="0">
              <a:solidFill>
                <a:schemeClr val="tx1"/>
              </a:solidFill>
              <a:ea typeface="楷体_GB2312"/>
            </a:endParaRPr>
          </a:p>
        </p:txBody>
      </p:sp>
      <p:sp>
        <p:nvSpPr>
          <p:cNvPr id="200730" name="Rectangle 45"/>
          <p:cNvSpPr/>
          <p:nvPr/>
        </p:nvSpPr>
        <p:spPr>
          <a:xfrm>
            <a:off x="5934075" y="392906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 D4</a:t>
            </a:r>
            <a:endParaRPr lang="en-US" altLang="zh-CN" sz="1800" b="0" dirty="0">
              <a:solidFill>
                <a:schemeClr val="tx1"/>
              </a:solidFill>
              <a:ea typeface="楷体_GB2312"/>
            </a:endParaRPr>
          </a:p>
        </p:txBody>
      </p:sp>
      <p:sp>
        <p:nvSpPr>
          <p:cNvPr id="200731" name="Rectangle 46"/>
          <p:cNvSpPr/>
          <p:nvPr/>
        </p:nvSpPr>
        <p:spPr>
          <a:xfrm>
            <a:off x="5934075" y="415766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 D3</a:t>
            </a:r>
            <a:endParaRPr lang="en-US" altLang="zh-CN" sz="1800" b="0" dirty="0">
              <a:solidFill>
                <a:schemeClr val="tx1"/>
              </a:solidFill>
              <a:ea typeface="楷体_GB2312"/>
            </a:endParaRPr>
          </a:p>
        </p:txBody>
      </p:sp>
      <p:sp>
        <p:nvSpPr>
          <p:cNvPr id="200732" name="Rectangle 47"/>
          <p:cNvSpPr/>
          <p:nvPr/>
        </p:nvSpPr>
        <p:spPr>
          <a:xfrm>
            <a:off x="5934075" y="438626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 D2</a:t>
            </a:r>
            <a:endParaRPr lang="en-US" altLang="zh-CN" sz="1800" b="0" dirty="0">
              <a:solidFill>
                <a:schemeClr val="tx1"/>
              </a:solidFill>
              <a:ea typeface="楷体_GB2312"/>
            </a:endParaRPr>
          </a:p>
        </p:txBody>
      </p:sp>
      <p:sp>
        <p:nvSpPr>
          <p:cNvPr id="200733" name="Rectangle 48"/>
          <p:cNvSpPr/>
          <p:nvPr/>
        </p:nvSpPr>
        <p:spPr>
          <a:xfrm>
            <a:off x="5934075" y="461486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 D1</a:t>
            </a:r>
            <a:endParaRPr lang="en-US" altLang="zh-CN" sz="1800" b="0" dirty="0">
              <a:solidFill>
                <a:schemeClr val="tx1"/>
              </a:solidFill>
              <a:ea typeface="楷体_GB2312"/>
            </a:endParaRPr>
          </a:p>
        </p:txBody>
      </p:sp>
      <p:sp>
        <p:nvSpPr>
          <p:cNvPr id="200734" name="Rectangle 49"/>
          <p:cNvSpPr/>
          <p:nvPr/>
        </p:nvSpPr>
        <p:spPr>
          <a:xfrm>
            <a:off x="5934075" y="484346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 D0</a:t>
            </a:r>
            <a:endParaRPr lang="en-US" altLang="zh-CN" sz="1800" b="0" dirty="0">
              <a:solidFill>
                <a:schemeClr val="tx1"/>
              </a:solidFill>
              <a:ea typeface="楷体_GB2312"/>
            </a:endParaRPr>
          </a:p>
        </p:txBody>
      </p:sp>
      <p:sp>
        <p:nvSpPr>
          <p:cNvPr id="200735" name="Rectangle 50"/>
          <p:cNvSpPr/>
          <p:nvPr/>
        </p:nvSpPr>
        <p:spPr>
          <a:xfrm>
            <a:off x="5713413" y="5072063"/>
            <a:ext cx="609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CAS0</a:t>
            </a:r>
            <a:endParaRPr lang="en-US" altLang="zh-CN" sz="1800" b="0" dirty="0">
              <a:solidFill>
                <a:schemeClr val="tx1"/>
              </a:solidFill>
              <a:ea typeface="楷体_GB2312"/>
            </a:endParaRPr>
          </a:p>
        </p:txBody>
      </p:sp>
      <p:sp>
        <p:nvSpPr>
          <p:cNvPr id="200736" name="Rectangle 51"/>
          <p:cNvSpPr/>
          <p:nvPr/>
        </p:nvSpPr>
        <p:spPr>
          <a:xfrm>
            <a:off x="5713413" y="5300663"/>
            <a:ext cx="609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CAS1</a:t>
            </a:r>
            <a:endParaRPr lang="en-US" altLang="zh-CN" sz="1800" b="0" dirty="0">
              <a:solidFill>
                <a:schemeClr val="tx1"/>
              </a:solidFill>
              <a:ea typeface="楷体_GB2312"/>
            </a:endParaRPr>
          </a:p>
        </p:txBody>
      </p:sp>
      <p:sp>
        <p:nvSpPr>
          <p:cNvPr id="200737" name="Rectangle 52"/>
          <p:cNvSpPr/>
          <p:nvPr/>
        </p:nvSpPr>
        <p:spPr>
          <a:xfrm>
            <a:off x="5784850" y="5529263"/>
            <a:ext cx="508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GND</a:t>
            </a:r>
            <a:endParaRPr lang="en-US" altLang="zh-CN" sz="1800" b="0" dirty="0">
              <a:solidFill>
                <a:schemeClr val="tx1"/>
              </a:solidFill>
              <a:ea typeface="楷体_GB2312"/>
            </a:endParaRPr>
          </a:p>
        </p:txBody>
      </p:sp>
      <p:sp>
        <p:nvSpPr>
          <p:cNvPr id="200738" name="Rectangle 54"/>
          <p:cNvSpPr/>
          <p:nvPr/>
        </p:nvSpPr>
        <p:spPr>
          <a:xfrm>
            <a:off x="7132638" y="3640138"/>
            <a:ext cx="520700"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rgbClr val="FF0000"/>
                </a:solidFill>
                <a:ea typeface="楷体_GB2312"/>
              </a:rPr>
              <a:t>Intel</a:t>
            </a:r>
            <a:endParaRPr lang="en-US" altLang="zh-CN" sz="2000" b="0" dirty="0">
              <a:solidFill>
                <a:srgbClr val="FF0000"/>
              </a:solidFill>
              <a:ea typeface="楷体_GB2312"/>
            </a:endParaRPr>
          </a:p>
        </p:txBody>
      </p:sp>
      <p:sp>
        <p:nvSpPr>
          <p:cNvPr id="200739" name="Rectangle 55"/>
          <p:cNvSpPr/>
          <p:nvPr/>
        </p:nvSpPr>
        <p:spPr>
          <a:xfrm>
            <a:off x="7019925" y="3944938"/>
            <a:ext cx="749300"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rgbClr val="FF0000"/>
                </a:solidFill>
                <a:ea typeface="楷体_GB2312"/>
              </a:rPr>
              <a:t>8259A</a:t>
            </a:r>
            <a:endParaRPr lang="en-US" altLang="zh-CN" sz="2000" b="0" dirty="0">
              <a:solidFill>
                <a:srgbClr val="FF0000"/>
              </a:solidFill>
              <a:ea typeface="楷体_GB2312"/>
            </a:endParaRPr>
          </a:p>
        </p:txBody>
      </p:sp>
      <p:sp>
        <p:nvSpPr>
          <p:cNvPr id="200740" name="Line 56"/>
          <p:cNvSpPr/>
          <p:nvPr/>
        </p:nvSpPr>
        <p:spPr>
          <a:xfrm flipH="1">
            <a:off x="6642100" y="2525713"/>
            <a:ext cx="1588" cy="3276600"/>
          </a:xfrm>
          <a:prstGeom prst="line">
            <a:avLst/>
          </a:prstGeom>
          <a:ln w="12700" cap="flat" cmpd="sng">
            <a:solidFill>
              <a:srgbClr val="FF0000"/>
            </a:solidFill>
            <a:prstDash val="solid"/>
            <a:bevel/>
            <a:headEnd type="none" w="med" len="med"/>
            <a:tailEnd type="none" w="med" len="med"/>
          </a:ln>
        </p:spPr>
      </p:sp>
      <p:sp>
        <p:nvSpPr>
          <p:cNvPr id="200741" name="Rectangle 57"/>
          <p:cNvSpPr/>
          <p:nvPr/>
        </p:nvSpPr>
        <p:spPr>
          <a:xfrm>
            <a:off x="7835900" y="25574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28</a:t>
            </a:r>
            <a:endParaRPr lang="en-US" altLang="zh-CN" sz="1800" b="0" dirty="0">
              <a:solidFill>
                <a:schemeClr val="tx1"/>
              </a:solidFill>
              <a:ea typeface="楷体_GB2312"/>
            </a:endParaRPr>
          </a:p>
        </p:txBody>
      </p:sp>
      <p:sp>
        <p:nvSpPr>
          <p:cNvPr id="200742" name="Rectangle 58"/>
          <p:cNvSpPr/>
          <p:nvPr/>
        </p:nvSpPr>
        <p:spPr>
          <a:xfrm>
            <a:off x="7835900" y="27860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27</a:t>
            </a:r>
            <a:endParaRPr lang="en-US" altLang="zh-CN" sz="1800" b="0" dirty="0">
              <a:solidFill>
                <a:schemeClr val="tx1"/>
              </a:solidFill>
              <a:ea typeface="楷体_GB2312"/>
            </a:endParaRPr>
          </a:p>
        </p:txBody>
      </p:sp>
      <p:sp>
        <p:nvSpPr>
          <p:cNvPr id="200743" name="Rectangle 59"/>
          <p:cNvSpPr/>
          <p:nvPr/>
        </p:nvSpPr>
        <p:spPr>
          <a:xfrm>
            <a:off x="7835900" y="30146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26</a:t>
            </a:r>
            <a:endParaRPr lang="en-US" altLang="zh-CN" sz="1800" b="0" dirty="0">
              <a:solidFill>
                <a:schemeClr val="tx1"/>
              </a:solidFill>
              <a:ea typeface="楷体_GB2312"/>
            </a:endParaRPr>
          </a:p>
        </p:txBody>
      </p:sp>
      <p:sp>
        <p:nvSpPr>
          <p:cNvPr id="200744" name="Rectangle 60"/>
          <p:cNvSpPr/>
          <p:nvPr/>
        </p:nvSpPr>
        <p:spPr>
          <a:xfrm>
            <a:off x="7835900" y="32432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25</a:t>
            </a:r>
            <a:endParaRPr lang="en-US" altLang="zh-CN" sz="1800" b="0" dirty="0">
              <a:solidFill>
                <a:schemeClr val="tx1"/>
              </a:solidFill>
              <a:ea typeface="楷体_GB2312"/>
            </a:endParaRPr>
          </a:p>
        </p:txBody>
      </p:sp>
      <p:sp>
        <p:nvSpPr>
          <p:cNvPr id="200745" name="Rectangle 61"/>
          <p:cNvSpPr/>
          <p:nvPr/>
        </p:nvSpPr>
        <p:spPr>
          <a:xfrm>
            <a:off x="7835900" y="34718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24</a:t>
            </a:r>
            <a:endParaRPr lang="en-US" altLang="zh-CN" sz="1800" b="0" dirty="0">
              <a:solidFill>
                <a:schemeClr val="tx1"/>
              </a:solidFill>
              <a:ea typeface="楷体_GB2312"/>
            </a:endParaRPr>
          </a:p>
        </p:txBody>
      </p:sp>
      <p:sp>
        <p:nvSpPr>
          <p:cNvPr id="200746" name="Rectangle 62"/>
          <p:cNvSpPr/>
          <p:nvPr/>
        </p:nvSpPr>
        <p:spPr>
          <a:xfrm>
            <a:off x="7835900" y="37004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23</a:t>
            </a:r>
            <a:endParaRPr lang="en-US" altLang="zh-CN" sz="1800" b="0" dirty="0">
              <a:solidFill>
                <a:schemeClr val="tx1"/>
              </a:solidFill>
              <a:ea typeface="楷体_GB2312"/>
            </a:endParaRPr>
          </a:p>
        </p:txBody>
      </p:sp>
      <p:sp>
        <p:nvSpPr>
          <p:cNvPr id="200747" name="Rectangle 63"/>
          <p:cNvSpPr/>
          <p:nvPr/>
        </p:nvSpPr>
        <p:spPr>
          <a:xfrm>
            <a:off x="7835900" y="39290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22</a:t>
            </a:r>
            <a:endParaRPr lang="en-US" altLang="zh-CN" sz="1800" b="0" dirty="0">
              <a:solidFill>
                <a:schemeClr val="tx1"/>
              </a:solidFill>
              <a:ea typeface="楷体_GB2312"/>
            </a:endParaRPr>
          </a:p>
        </p:txBody>
      </p:sp>
      <p:sp>
        <p:nvSpPr>
          <p:cNvPr id="200748" name="Rectangle 64"/>
          <p:cNvSpPr/>
          <p:nvPr/>
        </p:nvSpPr>
        <p:spPr>
          <a:xfrm>
            <a:off x="7835900" y="41576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21</a:t>
            </a:r>
            <a:endParaRPr lang="en-US" altLang="zh-CN" sz="1800" b="0" dirty="0">
              <a:solidFill>
                <a:schemeClr val="tx1"/>
              </a:solidFill>
              <a:ea typeface="楷体_GB2312"/>
            </a:endParaRPr>
          </a:p>
        </p:txBody>
      </p:sp>
      <p:sp>
        <p:nvSpPr>
          <p:cNvPr id="200749" name="Rectangle 65"/>
          <p:cNvSpPr/>
          <p:nvPr/>
        </p:nvSpPr>
        <p:spPr>
          <a:xfrm>
            <a:off x="7835900" y="43862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20</a:t>
            </a:r>
            <a:endParaRPr lang="en-US" altLang="zh-CN" sz="1800" b="0" dirty="0">
              <a:solidFill>
                <a:schemeClr val="tx1"/>
              </a:solidFill>
              <a:ea typeface="楷体_GB2312"/>
            </a:endParaRPr>
          </a:p>
        </p:txBody>
      </p:sp>
      <p:sp>
        <p:nvSpPr>
          <p:cNvPr id="200750" name="Rectangle 66"/>
          <p:cNvSpPr/>
          <p:nvPr/>
        </p:nvSpPr>
        <p:spPr>
          <a:xfrm>
            <a:off x="7835900" y="46148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19</a:t>
            </a:r>
            <a:endParaRPr lang="en-US" altLang="zh-CN" sz="1800" b="0" dirty="0">
              <a:solidFill>
                <a:schemeClr val="tx1"/>
              </a:solidFill>
              <a:ea typeface="楷体_GB2312"/>
            </a:endParaRPr>
          </a:p>
        </p:txBody>
      </p:sp>
      <p:sp>
        <p:nvSpPr>
          <p:cNvPr id="200751" name="Rectangle 67"/>
          <p:cNvSpPr/>
          <p:nvPr/>
        </p:nvSpPr>
        <p:spPr>
          <a:xfrm>
            <a:off x="7835900" y="48434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18</a:t>
            </a:r>
            <a:endParaRPr lang="en-US" altLang="zh-CN" sz="1800" b="0" dirty="0">
              <a:solidFill>
                <a:schemeClr val="tx1"/>
              </a:solidFill>
              <a:ea typeface="楷体_GB2312"/>
            </a:endParaRPr>
          </a:p>
        </p:txBody>
      </p:sp>
      <p:sp>
        <p:nvSpPr>
          <p:cNvPr id="200752" name="Rectangle 68"/>
          <p:cNvSpPr/>
          <p:nvPr/>
        </p:nvSpPr>
        <p:spPr>
          <a:xfrm>
            <a:off x="7835900" y="50720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17</a:t>
            </a:r>
            <a:endParaRPr lang="en-US" altLang="zh-CN" sz="1800" b="0" dirty="0">
              <a:solidFill>
                <a:schemeClr val="tx1"/>
              </a:solidFill>
              <a:ea typeface="楷体_GB2312"/>
            </a:endParaRPr>
          </a:p>
        </p:txBody>
      </p:sp>
      <p:sp>
        <p:nvSpPr>
          <p:cNvPr id="200753" name="Rectangle 69"/>
          <p:cNvSpPr/>
          <p:nvPr/>
        </p:nvSpPr>
        <p:spPr>
          <a:xfrm>
            <a:off x="7835900" y="53006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16</a:t>
            </a:r>
            <a:endParaRPr lang="en-US" altLang="zh-CN" sz="1800" b="0" dirty="0">
              <a:solidFill>
                <a:schemeClr val="tx1"/>
              </a:solidFill>
              <a:ea typeface="楷体_GB2312"/>
            </a:endParaRPr>
          </a:p>
        </p:txBody>
      </p:sp>
      <p:sp>
        <p:nvSpPr>
          <p:cNvPr id="200754" name="Rectangle 70"/>
          <p:cNvSpPr/>
          <p:nvPr/>
        </p:nvSpPr>
        <p:spPr>
          <a:xfrm>
            <a:off x="7835900" y="5529263"/>
            <a:ext cx="254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15</a:t>
            </a:r>
            <a:endParaRPr lang="en-US" altLang="zh-CN" sz="1800" b="0" dirty="0">
              <a:solidFill>
                <a:schemeClr val="tx1"/>
              </a:solidFill>
              <a:ea typeface="楷体_GB2312"/>
            </a:endParaRPr>
          </a:p>
        </p:txBody>
      </p:sp>
      <p:sp>
        <p:nvSpPr>
          <p:cNvPr id="200755" name="Line 71"/>
          <p:cNvSpPr/>
          <p:nvPr/>
        </p:nvSpPr>
        <p:spPr>
          <a:xfrm flipH="1">
            <a:off x="8159750" y="2525713"/>
            <a:ext cx="1588" cy="3276600"/>
          </a:xfrm>
          <a:prstGeom prst="line">
            <a:avLst/>
          </a:prstGeom>
          <a:ln w="12700" cap="flat" cmpd="sng">
            <a:solidFill>
              <a:srgbClr val="FF0000"/>
            </a:solidFill>
            <a:prstDash val="solid"/>
            <a:bevel/>
            <a:headEnd type="none" w="med" len="med"/>
            <a:tailEnd type="none" w="med" len="med"/>
          </a:ln>
        </p:spPr>
      </p:sp>
      <p:sp>
        <p:nvSpPr>
          <p:cNvPr id="200756" name="Line 72"/>
          <p:cNvSpPr/>
          <p:nvPr/>
        </p:nvSpPr>
        <p:spPr>
          <a:xfrm>
            <a:off x="6629400" y="5802313"/>
            <a:ext cx="1522413" cy="1587"/>
          </a:xfrm>
          <a:prstGeom prst="line">
            <a:avLst/>
          </a:prstGeom>
          <a:ln w="12700" cap="flat" cmpd="sng">
            <a:solidFill>
              <a:srgbClr val="FF0000"/>
            </a:solidFill>
            <a:prstDash val="solid"/>
            <a:bevel/>
            <a:headEnd type="none" w="med" len="med"/>
            <a:tailEnd type="none" w="med" len="med"/>
          </a:ln>
        </p:spPr>
      </p:sp>
      <p:sp>
        <p:nvSpPr>
          <p:cNvPr id="200757" name="Line 73"/>
          <p:cNvSpPr/>
          <p:nvPr/>
        </p:nvSpPr>
        <p:spPr>
          <a:xfrm flipH="1">
            <a:off x="6629400" y="2525713"/>
            <a:ext cx="608013" cy="1587"/>
          </a:xfrm>
          <a:prstGeom prst="line">
            <a:avLst/>
          </a:prstGeom>
          <a:ln w="12700" cap="flat" cmpd="sng">
            <a:solidFill>
              <a:srgbClr val="FF0000"/>
            </a:solidFill>
            <a:prstDash val="solid"/>
            <a:bevel/>
            <a:headEnd type="none" w="med" len="med"/>
            <a:tailEnd type="none" w="med" len="med"/>
          </a:ln>
        </p:spPr>
      </p:sp>
      <p:sp>
        <p:nvSpPr>
          <p:cNvPr id="200758" name="Line 74"/>
          <p:cNvSpPr/>
          <p:nvPr/>
        </p:nvSpPr>
        <p:spPr>
          <a:xfrm flipH="1">
            <a:off x="7543800" y="2525713"/>
            <a:ext cx="608013" cy="1587"/>
          </a:xfrm>
          <a:prstGeom prst="line">
            <a:avLst/>
          </a:prstGeom>
          <a:ln w="12700" cap="flat" cmpd="sng">
            <a:solidFill>
              <a:srgbClr val="FF0000"/>
            </a:solidFill>
            <a:prstDash val="solid"/>
            <a:bevel/>
            <a:headEnd type="none" w="med" len="med"/>
            <a:tailEnd type="none" w="med" len="med"/>
          </a:ln>
        </p:spPr>
      </p:sp>
      <p:sp>
        <p:nvSpPr>
          <p:cNvPr id="200759" name="Arc 75"/>
          <p:cNvSpPr/>
          <p:nvPr/>
        </p:nvSpPr>
        <p:spPr>
          <a:xfrm>
            <a:off x="7239000" y="2525713"/>
            <a:ext cx="152400" cy="228600"/>
          </a:xfrm>
          <a:custGeom>
            <a:avLst/>
            <a:gdLst/>
            <a:ahLst/>
            <a:cxnLst>
              <a:cxn ang="0">
                <a:pos x="2147483646" y="2147483646"/>
              </a:cxn>
              <a:cxn ang="0">
                <a:pos x="0" y="0"/>
              </a:cxn>
              <a:cxn ang="0">
                <a:pos x="2147483646" y="2147483646"/>
              </a:cxn>
              <a:cxn ang="0">
                <a:pos x="0" y="0"/>
              </a:cxn>
              <a:cxn ang="0">
                <a:pos x="2147483646" y="0"/>
              </a:cxn>
              <a:cxn ang="0">
                <a:pos x="2147483646" y="2147483646"/>
              </a:cxn>
            </a:cxnLst>
            <a:pathLst>
              <a:path w="21600" h="21600" fill="none">
                <a:moveTo>
                  <a:pt x="21600" y="21600"/>
                </a:moveTo>
                <a:cubicBezTo>
                  <a:pt x="9670" y="21600"/>
                  <a:pt x="0" y="11929"/>
                  <a:pt x="0" y="0"/>
                </a:cubicBezTo>
              </a:path>
              <a:path w="21600" h="21600" stroke="0">
                <a:moveTo>
                  <a:pt x="21600" y="21600"/>
                </a:moveTo>
                <a:cubicBezTo>
                  <a:pt x="9670" y="21600"/>
                  <a:pt x="0" y="11929"/>
                  <a:pt x="0" y="0"/>
                </a:cubicBezTo>
                <a:lnTo>
                  <a:pt x="21600" y="0"/>
                </a:lnTo>
                <a:lnTo>
                  <a:pt x="21600" y="21600"/>
                </a:lnTo>
                <a:close/>
              </a:path>
            </a:pathLst>
          </a:custGeom>
          <a:noFill/>
          <a:ln w="12700" cap="flat" cmpd="sng">
            <a:solidFill>
              <a:srgbClr val="FF0000">
                <a:alpha val="100000"/>
              </a:srgbClr>
            </a:solidFill>
            <a:prstDash val="solid"/>
            <a:bevel/>
            <a:headEnd type="none" w="med" len="med"/>
            <a:tailEnd type="none" w="med" len="med"/>
          </a:ln>
        </p:spPr>
        <p:txBody>
          <a:bodyPr/>
          <a:p>
            <a:endParaRPr lang="zh-CN" altLang="en-US"/>
          </a:p>
        </p:txBody>
      </p:sp>
      <p:sp>
        <p:nvSpPr>
          <p:cNvPr id="200760" name="Arc 76"/>
          <p:cNvSpPr/>
          <p:nvPr/>
        </p:nvSpPr>
        <p:spPr>
          <a:xfrm>
            <a:off x="7391400" y="2525713"/>
            <a:ext cx="152400" cy="228600"/>
          </a:xfrm>
          <a:custGeom>
            <a:avLst/>
            <a:gdLst/>
            <a:ahLst/>
            <a:cxnLst>
              <a:cxn ang="0">
                <a:pos x="2147483646" y="0"/>
              </a:cxn>
              <a:cxn ang="0">
                <a:pos x="0" y="2147483646"/>
              </a:cxn>
              <a:cxn ang="0">
                <a:pos x="2147483646" y="0"/>
              </a:cxn>
              <a:cxn ang="0">
                <a:pos x="0" y="2147483646"/>
              </a:cxn>
              <a:cxn ang="0">
                <a:pos x="0" y="0"/>
              </a:cxn>
              <a:cxn ang="0">
                <a:pos x="2147483646" y="0"/>
              </a:cxn>
            </a:cxnLst>
            <a:pathLst>
              <a:path w="21600" h="21600" fill="none">
                <a:moveTo>
                  <a:pt x="21600" y="0"/>
                </a:moveTo>
                <a:cubicBezTo>
                  <a:pt x="21600" y="11929"/>
                  <a:pt x="11929" y="21599"/>
                  <a:pt x="0" y="21600"/>
                </a:cubicBezTo>
              </a:path>
              <a:path w="21600" h="21600" stroke="0">
                <a:moveTo>
                  <a:pt x="21600" y="0"/>
                </a:moveTo>
                <a:cubicBezTo>
                  <a:pt x="21600" y="11929"/>
                  <a:pt x="11929" y="21599"/>
                  <a:pt x="0" y="21600"/>
                </a:cubicBezTo>
                <a:lnTo>
                  <a:pt x="0" y="0"/>
                </a:lnTo>
                <a:lnTo>
                  <a:pt x="21600" y="0"/>
                </a:lnTo>
                <a:close/>
              </a:path>
            </a:pathLst>
          </a:custGeom>
          <a:noFill/>
          <a:ln w="12700" cap="flat" cmpd="sng">
            <a:solidFill>
              <a:srgbClr val="FF0000">
                <a:alpha val="100000"/>
              </a:srgbClr>
            </a:solidFill>
            <a:prstDash val="solid"/>
            <a:bevel/>
            <a:headEnd type="none" w="med" len="med"/>
            <a:tailEnd type="none" w="med" len="med"/>
          </a:ln>
        </p:spPr>
        <p:txBody>
          <a:bodyPr/>
          <a:p>
            <a:endParaRPr lang="zh-CN" altLang="en-US"/>
          </a:p>
        </p:txBody>
      </p:sp>
      <p:sp>
        <p:nvSpPr>
          <p:cNvPr id="200761" name="Line 77"/>
          <p:cNvSpPr/>
          <p:nvPr/>
        </p:nvSpPr>
        <p:spPr>
          <a:xfrm>
            <a:off x="8153400" y="2678113"/>
            <a:ext cx="228600" cy="1587"/>
          </a:xfrm>
          <a:prstGeom prst="line">
            <a:avLst/>
          </a:prstGeom>
          <a:ln w="12700" cap="flat" cmpd="sng">
            <a:solidFill>
              <a:srgbClr val="000000"/>
            </a:solidFill>
            <a:prstDash val="solid"/>
            <a:bevel/>
            <a:headEnd type="none" w="med" len="med"/>
            <a:tailEnd type="none" w="med" len="med"/>
          </a:ln>
        </p:spPr>
      </p:sp>
      <p:sp>
        <p:nvSpPr>
          <p:cNvPr id="200762" name="Line 78"/>
          <p:cNvSpPr/>
          <p:nvPr/>
        </p:nvSpPr>
        <p:spPr>
          <a:xfrm>
            <a:off x="8153400" y="2906713"/>
            <a:ext cx="228600" cy="1587"/>
          </a:xfrm>
          <a:prstGeom prst="line">
            <a:avLst/>
          </a:prstGeom>
          <a:ln w="12700" cap="flat" cmpd="sng">
            <a:solidFill>
              <a:srgbClr val="000000"/>
            </a:solidFill>
            <a:prstDash val="solid"/>
            <a:bevel/>
            <a:headEnd type="none" w="med" len="med"/>
            <a:tailEnd type="none" w="med" len="med"/>
          </a:ln>
        </p:spPr>
      </p:sp>
      <p:sp>
        <p:nvSpPr>
          <p:cNvPr id="200763" name="Line 79"/>
          <p:cNvSpPr/>
          <p:nvPr/>
        </p:nvSpPr>
        <p:spPr>
          <a:xfrm>
            <a:off x="8153400" y="3135313"/>
            <a:ext cx="228600" cy="1587"/>
          </a:xfrm>
          <a:prstGeom prst="line">
            <a:avLst/>
          </a:prstGeom>
          <a:ln w="12700" cap="flat" cmpd="sng">
            <a:solidFill>
              <a:srgbClr val="000000"/>
            </a:solidFill>
            <a:prstDash val="solid"/>
            <a:bevel/>
            <a:headEnd type="none" w="med" len="med"/>
            <a:tailEnd type="none" w="med" len="med"/>
          </a:ln>
        </p:spPr>
      </p:sp>
      <p:sp>
        <p:nvSpPr>
          <p:cNvPr id="200764" name="Line 80"/>
          <p:cNvSpPr/>
          <p:nvPr/>
        </p:nvSpPr>
        <p:spPr>
          <a:xfrm>
            <a:off x="8153400" y="3363913"/>
            <a:ext cx="228600" cy="1587"/>
          </a:xfrm>
          <a:prstGeom prst="line">
            <a:avLst/>
          </a:prstGeom>
          <a:ln w="12700" cap="flat" cmpd="sng">
            <a:solidFill>
              <a:srgbClr val="000000"/>
            </a:solidFill>
            <a:prstDash val="solid"/>
            <a:bevel/>
            <a:headEnd type="none" w="med" len="med"/>
            <a:tailEnd type="none" w="med" len="med"/>
          </a:ln>
        </p:spPr>
      </p:sp>
      <p:sp>
        <p:nvSpPr>
          <p:cNvPr id="200765" name="Line 81"/>
          <p:cNvSpPr/>
          <p:nvPr/>
        </p:nvSpPr>
        <p:spPr>
          <a:xfrm>
            <a:off x="8153400" y="3592513"/>
            <a:ext cx="228600" cy="1587"/>
          </a:xfrm>
          <a:prstGeom prst="line">
            <a:avLst/>
          </a:prstGeom>
          <a:ln w="12700" cap="flat" cmpd="sng">
            <a:solidFill>
              <a:srgbClr val="000000"/>
            </a:solidFill>
            <a:prstDash val="solid"/>
            <a:bevel/>
            <a:headEnd type="none" w="med" len="med"/>
            <a:tailEnd type="none" w="med" len="med"/>
          </a:ln>
        </p:spPr>
      </p:sp>
      <p:sp>
        <p:nvSpPr>
          <p:cNvPr id="200766" name="Line 82"/>
          <p:cNvSpPr/>
          <p:nvPr/>
        </p:nvSpPr>
        <p:spPr>
          <a:xfrm>
            <a:off x="8153400" y="3821113"/>
            <a:ext cx="228600" cy="1587"/>
          </a:xfrm>
          <a:prstGeom prst="line">
            <a:avLst/>
          </a:prstGeom>
          <a:ln w="12700" cap="flat" cmpd="sng">
            <a:solidFill>
              <a:srgbClr val="000000"/>
            </a:solidFill>
            <a:prstDash val="solid"/>
            <a:bevel/>
            <a:headEnd type="none" w="med" len="med"/>
            <a:tailEnd type="none" w="med" len="med"/>
          </a:ln>
        </p:spPr>
      </p:sp>
      <p:sp>
        <p:nvSpPr>
          <p:cNvPr id="200767" name="Line 83"/>
          <p:cNvSpPr/>
          <p:nvPr/>
        </p:nvSpPr>
        <p:spPr>
          <a:xfrm>
            <a:off x="8153400" y="4049713"/>
            <a:ext cx="228600" cy="1587"/>
          </a:xfrm>
          <a:prstGeom prst="line">
            <a:avLst/>
          </a:prstGeom>
          <a:ln w="12700" cap="flat" cmpd="sng">
            <a:solidFill>
              <a:srgbClr val="000000"/>
            </a:solidFill>
            <a:prstDash val="solid"/>
            <a:bevel/>
            <a:headEnd type="none" w="med" len="med"/>
            <a:tailEnd type="none" w="med" len="med"/>
          </a:ln>
        </p:spPr>
      </p:sp>
      <p:sp>
        <p:nvSpPr>
          <p:cNvPr id="200768" name="Line 84"/>
          <p:cNvSpPr/>
          <p:nvPr/>
        </p:nvSpPr>
        <p:spPr>
          <a:xfrm>
            <a:off x="8153400" y="4278313"/>
            <a:ext cx="228600" cy="1587"/>
          </a:xfrm>
          <a:prstGeom prst="line">
            <a:avLst/>
          </a:prstGeom>
          <a:ln w="12700" cap="flat" cmpd="sng">
            <a:solidFill>
              <a:srgbClr val="000000"/>
            </a:solidFill>
            <a:prstDash val="solid"/>
            <a:bevel/>
            <a:headEnd type="none" w="med" len="med"/>
            <a:tailEnd type="none" w="med" len="med"/>
          </a:ln>
        </p:spPr>
      </p:sp>
      <p:sp>
        <p:nvSpPr>
          <p:cNvPr id="200769" name="Line 85"/>
          <p:cNvSpPr/>
          <p:nvPr/>
        </p:nvSpPr>
        <p:spPr>
          <a:xfrm>
            <a:off x="8153400" y="4506913"/>
            <a:ext cx="228600" cy="1587"/>
          </a:xfrm>
          <a:prstGeom prst="line">
            <a:avLst/>
          </a:prstGeom>
          <a:ln w="12700" cap="flat" cmpd="sng">
            <a:solidFill>
              <a:srgbClr val="000000"/>
            </a:solidFill>
            <a:prstDash val="solid"/>
            <a:bevel/>
            <a:headEnd type="none" w="med" len="med"/>
            <a:tailEnd type="none" w="med" len="med"/>
          </a:ln>
        </p:spPr>
      </p:sp>
      <p:sp>
        <p:nvSpPr>
          <p:cNvPr id="200770" name="Line 86"/>
          <p:cNvSpPr/>
          <p:nvPr/>
        </p:nvSpPr>
        <p:spPr>
          <a:xfrm>
            <a:off x="8153400" y="4735513"/>
            <a:ext cx="228600" cy="1587"/>
          </a:xfrm>
          <a:prstGeom prst="line">
            <a:avLst/>
          </a:prstGeom>
          <a:ln w="12700" cap="flat" cmpd="sng">
            <a:solidFill>
              <a:srgbClr val="000000"/>
            </a:solidFill>
            <a:prstDash val="solid"/>
            <a:bevel/>
            <a:headEnd type="none" w="med" len="med"/>
            <a:tailEnd type="none" w="med" len="med"/>
          </a:ln>
        </p:spPr>
      </p:sp>
      <p:sp>
        <p:nvSpPr>
          <p:cNvPr id="200771" name="Line 87"/>
          <p:cNvSpPr/>
          <p:nvPr/>
        </p:nvSpPr>
        <p:spPr>
          <a:xfrm>
            <a:off x="8153400" y="4964113"/>
            <a:ext cx="228600" cy="1587"/>
          </a:xfrm>
          <a:prstGeom prst="line">
            <a:avLst/>
          </a:prstGeom>
          <a:ln w="12700" cap="flat" cmpd="sng">
            <a:solidFill>
              <a:srgbClr val="000000"/>
            </a:solidFill>
            <a:prstDash val="solid"/>
            <a:bevel/>
            <a:headEnd type="none" w="med" len="med"/>
            <a:tailEnd type="none" w="med" len="med"/>
          </a:ln>
        </p:spPr>
      </p:sp>
      <p:sp>
        <p:nvSpPr>
          <p:cNvPr id="200772" name="Line 88"/>
          <p:cNvSpPr/>
          <p:nvPr/>
        </p:nvSpPr>
        <p:spPr>
          <a:xfrm>
            <a:off x="8153400" y="5192713"/>
            <a:ext cx="228600" cy="1587"/>
          </a:xfrm>
          <a:prstGeom prst="line">
            <a:avLst/>
          </a:prstGeom>
          <a:ln w="12700" cap="flat" cmpd="sng">
            <a:solidFill>
              <a:srgbClr val="000000"/>
            </a:solidFill>
            <a:prstDash val="solid"/>
            <a:bevel/>
            <a:headEnd type="none" w="med" len="med"/>
            <a:tailEnd type="none" w="med" len="med"/>
          </a:ln>
        </p:spPr>
      </p:sp>
      <p:sp>
        <p:nvSpPr>
          <p:cNvPr id="200773" name="Line 89"/>
          <p:cNvSpPr/>
          <p:nvPr/>
        </p:nvSpPr>
        <p:spPr>
          <a:xfrm>
            <a:off x="8153400" y="5421313"/>
            <a:ext cx="228600" cy="1587"/>
          </a:xfrm>
          <a:prstGeom prst="line">
            <a:avLst/>
          </a:prstGeom>
          <a:ln w="12700" cap="flat" cmpd="sng">
            <a:solidFill>
              <a:srgbClr val="000000"/>
            </a:solidFill>
            <a:prstDash val="solid"/>
            <a:bevel/>
            <a:headEnd type="none" w="med" len="med"/>
            <a:tailEnd type="none" w="med" len="med"/>
          </a:ln>
        </p:spPr>
      </p:sp>
      <p:sp>
        <p:nvSpPr>
          <p:cNvPr id="200774" name="Line 90"/>
          <p:cNvSpPr/>
          <p:nvPr/>
        </p:nvSpPr>
        <p:spPr>
          <a:xfrm>
            <a:off x="8153400" y="5649913"/>
            <a:ext cx="228600" cy="1587"/>
          </a:xfrm>
          <a:prstGeom prst="line">
            <a:avLst/>
          </a:prstGeom>
          <a:ln w="12700" cap="flat" cmpd="sng">
            <a:solidFill>
              <a:srgbClr val="000000"/>
            </a:solidFill>
            <a:prstDash val="solid"/>
            <a:bevel/>
            <a:headEnd type="none" w="med" len="med"/>
            <a:tailEnd type="none" w="med" len="med"/>
          </a:ln>
        </p:spPr>
      </p:sp>
      <p:sp>
        <p:nvSpPr>
          <p:cNvPr id="200775" name="Line 111"/>
          <p:cNvSpPr/>
          <p:nvPr/>
        </p:nvSpPr>
        <p:spPr>
          <a:xfrm>
            <a:off x="5929313" y="2541588"/>
            <a:ext cx="287337" cy="0"/>
          </a:xfrm>
          <a:prstGeom prst="line">
            <a:avLst/>
          </a:prstGeom>
          <a:ln w="25400" cap="flat" cmpd="sng">
            <a:solidFill>
              <a:schemeClr val="tx1"/>
            </a:solidFill>
            <a:prstDash val="solid"/>
            <a:bevel/>
            <a:headEnd type="none" w="med" len="med"/>
            <a:tailEnd type="none" w="med" len="med"/>
          </a:ln>
        </p:spPr>
      </p:sp>
      <p:sp>
        <p:nvSpPr>
          <p:cNvPr id="200776" name="Line 112"/>
          <p:cNvSpPr/>
          <p:nvPr/>
        </p:nvSpPr>
        <p:spPr>
          <a:xfrm>
            <a:off x="5959475" y="2801938"/>
            <a:ext cx="287338" cy="0"/>
          </a:xfrm>
          <a:prstGeom prst="line">
            <a:avLst/>
          </a:prstGeom>
          <a:ln w="25400" cap="flat" cmpd="sng">
            <a:solidFill>
              <a:schemeClr val="tx1"/>
            </a:solidFill>
            <a:prstDash val="solid"/>
            <a:bevel/>
            <a:headEnd type="none" w="med" len="med"/>
            <a:tailEnd type="none" w="med" len="med"/>
          </a:ln>
        </p:spPr>
      </p:sp>
      <p:sp>
        <p:nvSpPr>
          <p:cNvPr id="200777" name="Line 113"/>
          <p:cNvSpPr/>
          <p:nvPr/>
        </p:nvSpPr>
        <p:spPr>
          <a:xfrm>
            <a:off x="5973763" y="3032125"/>
            <a:ext cx="287337" cy="0"/>
          </a:xfrm>
          <a:prstGeom prst="line">
            <a:avLst/>
          </a:prstGeom>
          <a:ln w="25400" cap="flat" cmpd="sng">
            <a:solidFill>
              <a:schemeClr val="tx1"/>
            </a:solidFill>
            <a:prstDash val="solid"/>
            <a:bevel/>
            <a:headEnd type="none" w="med" len="med"/>
            <a:tailEnd type="none" w="med" len="med"/>
          </a:ln>
        </p:spPr>
      </p:sp>
      <p:sp>
        <p:nvSpPr>
          <p:cNvPr id="200778" name="Rectangle 91"/>
          <p:cNvSpPr/>
          <p:nvPr/>
        </p:nvSpPr>
        <p:spPr>
          <a:xfrm>
            <a:off x="8456613" y="2527300"/>
            <a:ext cx="406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Vcc</a:t>
            </a:r>
            <a:endParaRPr lang="en-US" altLang="zh-CN" sz="1800" b="0" dirty="0">
              <a:solidFill>
                <a:schemeClr val="tx1"/>
              </a:solidFill>
              <a:ea typeface="楷体_GB2312"/>
            </a:endParaRPr>
          </a:p>
        </p:txBody>
      </p:sp>
      <p:sp>
        <p:nvSpPr>
          <p:cNvPr id="200779" name="Rectangle 92"/>
          <p:cNvSpPr/>
          <p:nvPr/>
        </p:nvSpPr>
        <p:spPr>
          <a:xfrm>
            <a:off x="8455025" y="2757488"/>
            <a:ext cx="2921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A0</a:t>
            </a:r>
            <a:endParaRPr lang="en-US" altLang="zh-CN" sz="1800" b="0" dirty="0">
              <a:solidFill>
                <a:schemeClr val="tx1"/>
              </a:solidFill>
              <a:ea typeface="楷体_GB2312"/>
            </a:endParaRPr>
          </a:p>
        </p:txBody>
      </p:sp>
      <p:sp>
        <p:nvSpPr>
          <p:cNvPr id="200780" name="Rectangle 93"/>
          <p:cNvSpPr/>
          <p:nvPr/>
        </p:nvSpPr>
        <p:spPr>
          <a:xfrm>
            <a:off x="8448675" y="3000375"/>
            <a:ext cx="533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INTA</a:t>
            </a:r>
            <a:endParaRPr lang="en-US" altLang="zh-CN" sz="1800" b="0" dirty="0">
              <a:solidFill>
                <a:schemeClr val="tx1"/>
              </a:solidFill>
              <a:ea typeface="楷体_GB2312"/>
            </a:endParaRPr>
          </a:p>
        </p:txBody>
      </p:sp>
      <p:sp>
        <p:nvSpPr>
          <p:cNvPr id="200781" name="Rectangle 94"/>
          <p:cNvSpPr/>
          <p:nvPr/>
        </p:nvSpPr>
        <p:spPr>
          <a:xfrm>
            <a:off x="8482013" y="3228975"/>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IR7</a:t>
            </a:r>
            <a:endParaRPr lang="en-US" altLang="zh-CN" sz="1800" b="0" dirty="0">
              <a:solidFill>
                <a:schemeClr val="tx1"/>
              </a:solidFill>
              <a:ea typeface="楷体_GB2312"/>
            </a:endParaRPr>
          </a:p>
        </p:txBody>
      </p:sp>
      <p:sp>
        <p:nvSpPr>
          <p:cNvPr id="200782" name="Rectangle 95"/>
          <p:cNvSpPr/>
          <p:nvPr/>
        </p:nvSpPr>
        <p:spPr>
          <a:xfrm>
            <a:off x="8482013" y="3457575"/>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IR6</a:t>
            </a:r>
            <a:endParaRPr lang="en-US" altLang="zh-CN" sz="1800" b="0" dirty="0">
              <a:solidFill>
                <a:schemeClr val="tx1"/>
              </a:solidFill>
              <a:ea typeface="楷体_GB2312"/>
            </a:endParaRPr>
          </a:p>
        </p:txBody>
      </p:sp>
      <p:sp>
        <p:nvSpPr>
          <p:cNvPr id="200783" name="Rectangle 96"/>
          <p:cNvSpPr/>
          <p:nvPr/>
        </p:nvSpPr>
        <p:spPr>
          <a:xfrm>
            <a:off x="8482013" y="3686175"/>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IR5</a:t>
            </a:r>
            <a:endParaRPr lang="en-US" altLang="zh-CN" sz="1800" b="0" dirty="0">
              <a:solidFill>
                <a:schemeClr val="tx1"/>
              </a:solidFill>
              <a:ea typeface="楷体_GB2312"/>
            </a:endParaRPr>
          </a:p>
        </p:txBody>
      </p:sp>
      <p:sp>
        <p:nvSpPr>
          <p:cNvPr id="200784" name="Rectangle 97"/>
          <p:cNvSpPr/>
          <p:nvPr/>
        </p:nvSpPr>
        <p:spPr>
          <a:xfrm>
            <a:off x="8482013" y="3914775"/>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IR4</a:t>
            </a:r>
            <a:endParaRPr lang="en-US" altLang="zh-CN" sz="1800" b="0" dirty="0">
              <a:solidFill>
                <a:schemeClr val="tx1"/>
              </a:solidFill>
              <a:ea typeface="楷体_GB2312"/>
            </a:endParaRPr>
          </a:p>
        </p:txBody>
      </p:sp>
      <p:sp>
        <p:nvSpPr>
          <p:cNvPr id="200785" name="Rectangle 98"/>
          <p:cNvSpPr/>
          <p:nvPr/>
        </p:nvSpPr>
        <p:spPr>
          <a:xfrm>
            <a:off x="8482013" y="4143375"/>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IR3</a:t>
            </a:r>
            <a:endParaRPr lang="en-US" altLang="zh-CN" sz="1800" b="0" dirty="0">
              <a:solidFill>
                <a:schemeClr val="tx1"/>
              </a:solidFill>
              <a:ea typeface="楷体_GB2312"/>
            </a:endParaRPr>
          </a:p>
        </p:txBody>
      </p:sp>
      <p:sp>
        <p:nvSpPr>
          <p:cNvPr id="200786" name="Rectangle 99"/>
          <p:cNvSpPr/>
          <p:nvPr/>
        </p:nvSpPr>
        <p:spPr>
          <a:xfrm>
            <a:off x="8482013" y="4371975"/>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IR2</a:t>
            </a:r>
            <a:endParaRPr lang="en-US" altLang="zh-CN" sz="1800" b="0" dirty="0">
              <a:solidFill>
                <a:schemeClr val="tx1"/>
              </a:solidFill>
              <a:ea typeface="楷体_GB2312"/>
            </a:endParaRPr>
          </a:p>
        </p:txBody>
      </p:sp>
      <p:sp>
        <p:nvSpPr>
          <p:cNvPr id="200787" name="Rectangle 100"/>
          <p:cNvSpPr/>
          <p:nvPr/>
        </p:nvSpPr>
        <p:spPr>
          <a:xfrm>
            <a:off x="8482013" y="4600575"/>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IR1</a:t>
            </a:r>
            <a:endParaRPr lang="en-US" altLang="zh-CN" sz="1800" b="0" dirty="0">
              <a:solidFill>
                <a:schemeClr val="tx1"/>
              </a:solidFill>
              <a:ea typeface="楷体_GB2312"/>
            </a:endParaRPr>
          </a:p>
        </p:txBody>
      </p:sp>
      <p:sp>
        <p:nvSpPr>
          <p:cNvPr id="200788" name="Rectangle 101"/>
          <p:cNvSpPr/>
          <p:nvPr/>
        </p:nvSpPr>
        <p:spPr>
          <a:xfrm>
            <a:off x="8482013" y="4829175"/>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IR0</a:t>
            </a:r>
            <a:endParaRPr lang="en-US" altLang="zh-CN" sz="1800" b="0" dirty="0">
              <a:solidFill>
                <a:schemeClr val="tx1"/>
              </a:solidFill>
              <a:ea typeface="楷体_GB2312"/>
            </a:endParaRPr>
          </a:p>
        </p:txBody>
      </p:sp>
      <p:sp>
        <p:nvSpPr>
          <p:cNvPr id="200789" name="Rectangle 102"/>
          <p:cNvSpPr/>
          <p:nvPr/>
        </p:nvSpPr>
        <p:spPr>
          <a:xfrm>
            <a:off x="8475663" y="5043488"/>
            <a:ext cx="3683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INT</a:t>
            </a:r>
            <a:endParaRPr lang="en-US" altLang="zh-CN" sz="1800" b="0" dirty="0">
              <a:solidFill>
                <a:schemeClr val="tx1"/>
              </a:solidFill>
              <a:ea typeface="楷体_GB2312"/>
            </a:endParaRPr>
          </a:p>
        </p:txBody>
      </p:sp>
      <p:sp>
        <p:nvSpPr>
          <p:cNvPr id="200790" name="Rectangle 103"/>
          <p:cNvSpPr/>
          <p:nvPr/>
        </p:nvSpPr>
        <p:spPr>
          <a:xfrm>
            <a:off x="8431213" y="5314950"/>
            <a:ext cx="6858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SP/EN</a:t>
            </a:r>
            <a:endParaRPr lang="en-US" altLang="zh-CN" sz="1800" b="0" dirty="0">
              <a:solidFill>
                <a:schemeClr val="tx1"/>
              </a:solidFill>
              <a:ea typeface="楷体_GB2312"/>
            </a:endParaRPr>
          </a:p>
        </p:txBody>
      </p:sp>
      <p:sp>
        <p:nvSpPr>
          <p:cNvPr id="200791" name="Rectangle 104"/>
          <p:cNvSpPr/>
          <p:nvPr/>
        </p:nvSpPr>
        <p:spPr>
          <a:xfrm>
            <a:off x="8410575" y="5529263"/>
            <a:ext cx="609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CAS2</a:t>
            </a:r>
            <a:endParaRPr lang="en-US" altLang="zh-CN" sz="1800" b="0" dirty="0">
              <a:solidFill>
                <a:schemeClr val="tx1"/>
              </a:solidFill>
              <a:ea typeface="楷体_GB2312"/>
            </a:endParaRPr>
          </a:p>
        </p:txBody>
      </p:sp>
      <p:sp>
        <p:nvSpPr>
          <p:cNvPr id="200792" name="Line 114"/>
          <p:cNvSpPr/>
          <p:nvPr/>
        </p:nvSpPr>
        <p:spPr>
          <a:xfrm>
            <a:off x="8464550" y="5307013"/>
            <a:ext cx="215900" cy="0"/>
          </a:xfrm>
          <a:prstGeom prst="line">
            <a:avLst/>
          </a:prstGeom>
          <a:ln w="25400" cap="flat" cmpd="sng">
            <a:solidFill>
              <a:schemeClr val="tx1"/>
            </a:solidFill>
            <a:prstDash val="solid"/>
            <a:bevel/>
            <a:headEnd type="none" w="med" len="med"/>
            <a:tailEnd type="none" w="med" len="med"/>
          </a:ln>
        </p:spPr>
      </p:sp>
      <p:sp>
        <p:nvSpPr>
          <p:cNvPr id="200793" name="Line 116"/>
          <p:cNvSpPr/>
          <p:nvPr/>
        </p:nvSpPr>
        <p:spPr>
          <a:xfrm>
            <a:off x="8809038" y="5307013"/>
            <a:ext cx="288925" cy="0"/>
          </a:xfrm>
          <a:prstGeom prst="line">
            <a:avLst/>
          </a:prstGeom>
          <a:ln w="25400" cap="flat" cmpd="sng">
            <a:solidFill>
              <a:schemeClr val="tx1"/>
            </a:solidFill>
            <a:prstDash val="solid"/>
            <a:bevel/>
            <a:headEnd type="none" w="med" len="med"/>
            <a:tailEnd type="none" w="med" len="med"/>
          </a:ln>
        </p:spPr>
      </p:sp>
      <p:sp>
        <p:nvSpPr>
          <p:cNvPr id="200794" name="Line 117"/>
          <p:cNvSpPr/>
          <p:nvPr/>
        </p:nvSpPr>
        <p:spPr>
          <a:xfrm flipH="1">
            <a:off x="8450263" y="3003550"/>
            <a:ext cx="503237" cy="0"/>
          </a:xfrm>
          <a:prstGeom prst="line">
            <a:avLst/>
          </a:prstGeom>
          <a:ln w="25400" cap="flat" cmpd="sng">
            <a:solidFill>
              <a:schemeClr val="tx1"/>
            </a:solidFill>
            <a:prstDash val="solid"/>
            <a:bevel/>
            <a:headEnd type="none" w="med" len="med"/>
            <a:tailEnd type="none" w="med" len="med"/>
          </a:ln>
        </p:spPr>
      </p:sp>
      <p:sp>
        <p:nvSpPr>
          <p:cNvPr id="200795" name="Text Box 121"/>
          <p:cNvSpPr txBox="1"/>
          <p:nvPr/>
        </p:nvSpPr>
        <p:spPr>
          <a:xfrm>
            <a:off x="6578600" y="5969000"/>
            <a:ext cx="1700213" cy="396875"/>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ea typeface="楷体_GB2312"/>
              </a:rPr>
              <a:t>8259A</a:t>
            </a:r>
            <a:r>
              <a:rPr lang="zh-CN" altLang="en-US" sz="2000" b="0" dirty="0">
                <a:ea typeface="楷体_GB2312"/>
              </a:rPr>
              <a:t>引脚图</a:t>
            </a:r>
            <a:endParaRPr lang="zh-CN" altLang="en-US" sz="2000" b="0" dirty="0">
              <a:ea typeface="楷体_GB2312"/>
            </a:endParaRPr>
          </a:p>
        </p:txBody>
      </p:sp>
      <p:sp>
        <p:nvSpPr>
          <p:cNvPr id="200796" name="Rectangle 125"/>
          <p:cNvSpPr/>
          <p:nvPr/>
        </p:nvSpPr>
        <p:spPr>
          <a:xfrm>
            <a:off x="106363" y="1989138"/>
            <a:ext cx="5680075" cy="4432300"/>
          </a:xfrm>
          <a:prstGeom prst="rect">
            <a:avLst/>
          </a:prstGeom>
          <a:solidFill>
            <a:schemeClr val="bg1"/>
          </a:solid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spcBef>
                <a:spcPct val="0"/>
              </a:spcBef>
              <a:spcAft>
                <a:spcPct val="0"/>
              </a:spcAft>
              <a:buClr>
                <a:srgbClr val="990099"/>
              </a:buClr>
              <a:buSzTx/>
              <a:buFont typeface="楷体_GB2312"/>
              <a:buChar char="※"/>
            </a:pPr>
            <a:r>
              <a:rPr lang="en-US" altLang="zh-CN" sz="2000" b="0" dirty="0">
                <a:solidFill>
                  <a:srgbClr val="990099"/>
                </a:solidFill>
                <a:latin typeface="Times New Roman" panose="02020603050405020304" pitchFamily="18" charset="0"/>
                <a:ea typeface="楷体_GB2312"/>
              </a:rPr>
              <a:t>  </a:t>
            </a:r>
            <a:r>
              <a:rPr lang="zh-CN" altLang="en-US" sz="2000" b="0" dirty="0">
                <a:solidFill>
                  <a:srgbClr val="990099"/>
                </a:solidFill>
                <a:latin typeface="Times New Roman" panose="02020603050405020304" pitchFamily="18" charset="0"/>
                <a:ea typeface="楷体_GB2312"/>
              </a:rPr>
              <a:t>内部结构说明</a:t>
            </a:r>
            <a:endParaRPr lang="zh-CN" altLang="en-US" sz="2000" b="0" dirty="0">
              <a:solidFill>
                <a:schemeClr val="tx1"/>
              </a:solidFill>
              <a:ea typeface="楷体_GB2312"/>
            </a:endParaRPr>
          </a:p>
          <a:p>
            <a:pPr marL="342900" lvl="0" indent="-342900">
              <a:lnSpc>
                <a:spcPct val="130000"/>
              </a:lnSpc>
              <a:spcBef>
                <a:spcPct val="0"/>
              </a:spcBef>
              <a:spcAft>
                <a:spcPct val="0"/>
              </a:spcAft>
              <a:buClr>
                <a:srgbClr val="A50021"/>
              </a:buClr>
              <a:buSzTx/>
              <a:buFont typeface="Wingdings" panose="05000000000000000000" pitchFamily="2" charset="2"/>
              <a:buChar char="l"/>
            </a:pPr>
            <a:r>
              <a:rPr lang="zh-CN" altLang="en-US" sz="2000" b="0" dirty="0">
                <a:solidFill>
                  <a:schemeClr val="tx1"/>
                </a:solidFill>
                <a:ea typeface="楷体_GB2312"/>
              </a:rPr>
              <a:t>  </a:t>
            </a:r>
            <a:r>
              <a:rPr lang="en-US" altLang="zh-CN" sz="2000" b="0" dirty="0">
                <a:solidFill>
                  <a:schemeClr val="tx1"/>
                </a:solidFill>
                <a:latin typeface="楷体_GB2312"/>
                <a:ea typeface="楷体_GB2312"/>
              </a:rPr>
              <a:t>D7~D0  </a:t>
            </a:r>
            <a:r>
              <a:rPr lang="zh-CN" altLang="en-US" sz="2000" b="0" dirty="0">
                <a:solidFill>
                  <a:schemeClr val="tx1"/>
                </a:solidFill>
                <a:latin typeface="楷体_GB2312"/>
                <a:ea typeface="楷体_GB2312"/>
              </a:rPr>
              <a:t>双向三态数据线，传送数据</a:t>
            </a:r>
            <a:endParaRPr lang="zh-CN" altLang="en-US" sz="2000" b="0" dirty="0">
              <a:solidFill>
                <a:schemeClr val="tx1"/>
              </a:solidFill>
              <a:latin typeface="楷体_GB2312"/>
              <a:ea typeface="楷体_GB2312"/>
            </a:endParaRPr>
          </a:p>
          <a:p>
            <a:pPr marL="342900" lvl="0" indent="-342900">
              <a:lnSpc>
                <a:spcPct val="130000"/>
              </a:lnSpc>
              <a:spcBef>
                <a:spcPct val="0"/>
              </a:spcBef>
              <a:spcAft>
                <a:spcPct val="0"/>
              </a:spcAft>
              <a:buClr>
                <a:srgbClr val="A50021"/>
              </a:buClr>
              <a:buSzTx/>
              <a:buFont typeface="Wingdings" panose="05000000000000000000" pitchFamily="2" charset="2"/>
              <a:buChar char="l"/>
            </a:pPr>
            <a:r>
              <a:rPr lang="zh-CN" altLang="en-US" sz="2000" b="0" dirty="0">
                <a:solidFill>
                  <a:schemeClr val="tx1"/>
                </a:solidFill>
                <a:latin typeface="楷体_GB2312"/>
                <a:ea typeface="楷体_GB2312"/>
              </a:rPr>
              <a:t>  </a:t>
            </a:r>
            <a:r>
              <a:rPr lang="en-US" altLang="zh-CN" sz="2000" b="0" dirty="0">
                <a:solidFill>
                  <a:schemeClr val="tx1"/>
                </a:solidFill>
                <a:latin typeface="楷体_GB2312"/>
                <a:ea typeface="楷体_GB2312"/>
              </a:rPr>
              <a:t>/RD   </a:t>
            </a:r>
            <a:r>
              <a:rPr lang="zh-CN" altLang="en-US" sz="2000" b="0" dirty="0">
                <a:solidFill>
                  <a:schemeClr val="tx1"/>
                </a:solidFill>
                <a:latin typeface="楷体_GB2312"/>
                <a:ea typeface="楷体_GB2312"/>
              </a:rPr>
              <a:t>读信号，低电平有效</a:t>
            </a:r>
            <a:endParaRPr lang="zh-CN" altLang="en-US" sz="2000" b="0" dirty="0">
              <a:solidFill>
                <a:schemeClr val="tx1"/>
              </a:solidFill>
              <a:latin typeface="楷体_GB2312"/>
              <a:ea typeface="楷体_GB2312"/>
            </a:endParaRPr>
          </a:p>
          <a:p>
            <a:pPr marL="342900" lvl="0" indent="-342900">
              <a:lnSpc>
                <a:spcPct val="130000"/>
              </a:lnSpc>
              <a:spcBef>
                <a:spcPct val="0"/>
              </a:spcBef>
              <a:spcAft>
                <a:spcPct val="0"/>
              </a:spcAft>
              <a:buClr>
                <a:srgbClr val="A50021"/>
              </a:buClr>
              <a:buSzTx/>
              <a:buFont typeface="Wingdings" panose="05000000000000000000" pitchFamily="2" charset="2"/>
              <a:buChar char="l"/>
            </a:pPr>
            <a:r>
              <a:rPr lang="zh-CN" altLang="en-US" sz="2000" b="0" dirty="0">
                <a:solidFill>
                  <a:schemeClr val="tx1"/>
                </a:solidFill>
                <a:latin typeface="楷体_GB2312"/>
                <a:ea typeface="楷体_GB2312"/>
              </a:rPr>
              <a:t>  </a:t>
            </a:r>
            <a:r>
              <a:rPr lang="en-US" altLang="zh-CN" sz="2000" b="0" dirty="0">
                <a:solidFill>
                  <a:schemeClr val="tx1"/>
                </a:solidFill>
                <a:latin typeface="楷体_GB2312"/>
                <a:ea typeface="楷体_GB2312"/>
              </a:rPr>
              <a:t>/WR   </a:t>
            </a:r>
            <a:r>
              <a:rPr lang="zh-CN" altLang="en-US" sz="2000" b="0" dirty="0">
                <a:solidFill>
                  <a:schemeClr val="tx1"/>
                </a:solidFill>
                <a:latin typeface="楷体_GB2312"/>
                <a:ea typeface="楷体_GB2312"/>
              </a:rPr>
              <a:t>写信号，低电平有效</a:t>
            </a:r>
            <a:endParaRPr lang="zh-CN" altLang="en-US" sz="2000" b="0" dirty="0">
              <a:solidFill>
                <a:schemeClr val="tx1"/>
              </a:solidFill>
              <a:latin typeface="楷体_GB2312"/>
              <a:ea typeface="楷体_GB2312"/>
            </a:endParaRPr>
          </a:p>
          <a:p>
            <a:pPr marL="342900" lvl="0" indent="-342900">
              <a:lnSpc>
                <a:spcPct val="130000"/>
              </a:lnSpc>
              <a:spcBef>
                <a:spcPct val="0"/>
              </a:spcBef>
              <a:spcAft>
                <a:spcPct val="0"/>
              </a:spcAft>
              <a:buClr>
                <a:srgbClr val="A50021"/>
              </a:buClr>
              <a:buSzTx/>
              <a:buFont typeface="Wingdings" panose="05000000000000000000" pitchFamily="2" charset="2"/>
              <a:buChar char="l"/>
            </a:pPr>
            <a:r>
              <a:rPr lang="zh-CN" altLang="en-US" sz="2000" b="0" dirty="0">
                <a:solidFill>
                  <a:schemeClr val="tx1"/>
                </a:solidFill>
                <a:latin typeface="楷体_GB2312"/>
                <a:ea typeface="楷体_GB2312"/>
              </a:rPr>
              <a:t>  </a:t>
            </a:r>
            <a:r>
              <a:rPr lang="en-US" altLang="zh-CN" sz="2000" b="0" dirty="0">
                <a:solidFill>
                  <a:schemeClr val="tx1"/>
                </a:solidFill>
                <a:latin typeface="楷体_GB2312"/>
                <a:ea typeface="楷体_GB2312"/>
              </a:rPr>
              <a:t>/CS   </a:t>
            </a:r>
            <a:r>
              <a:rPr lang="zh-CN" altLang="en-US" sz="2000" b="0" dirty="0">
                <a:solidFill>
                  <a:schemeClr val="tx1"/>
                </a:solidFill>
                <a:latin typeface="楷体_GB2312"/>
                <a:ea typeface="楷体_GB2312"/>
              </a:rPr>
              <a:t>片选信号，低有效，给</a:t>
            </a:r>
            <a:r>
              <a:rPr lang="en-US" altLang="zh-CN" sz="2000" b="0" dirty="0">
                <a:solidFill>
                  <a:schemeClr val="tx1"/>
                </a:solidFill>
                <a:latin typeface="楷体_GB2312"/>
                <a:ea typeface="楷体_GB2312"/>
              </a:rPr>
              <a:t>8259</a:t>
            </a:r>
            <a:r>
              <a:rPr lang="zh-CN" altLang="en-US" sz="2000" b="0" dirty="0">
                <a:solidFill>
                  <a:schemeClr val="tx1"/>
                </a:solidFill>
                <a:latin typeface="楷体_GB2312"/>
                <a:ea typeface="楷体_GB2312"/>
              </a:rPr>
              <a:t>分配地址</a:t>
            </a:r>
            <a:endParaRPr lang="zh-CN" altLang="en-US" sz="2000" b="0" dirty="0">
              <a:solidFill>
                <a:schemeClr val="tx1"/>
              </a:solidFill>
              <a:latin typeface="楷体_GB2312"/>
              <a:ea typeface="楷体_GB2312"/>
            </a:endParaRPr>
          </a:p>
          <a:p>
            <a:pPr marL="342900" lvl="0" indent="-342900">
              <a:lnSpc>
                <a:spcPct val="130000"/>
              </a:lnSpc>
              <a:spcBef>
                <a:spcPct val="0"/>
              </a:spcBef>
              <a:spcAft>
                <a:spcPct val="0"/>
              </a:spcAft>
              <a:buClr>
                <a:srgbClr val="A50021"/>
              </a:buClr>
              <a:buSzTx/>
              <a:buFont typeface="Wingdings" panose="05000000000000000000" pitchFamily="2" charset="2"/>
              <a:buChar char="l"/>
            </a:pPr>
            <a:r>
              <a:rPr lang="zh-CN" altLang="en-US" sz="2000" b="0" dirty="0">
                <a:solidFill>
                  <a:schemeClr val="tx1"/>
                </a:solidFill>
                <a:latin typeface="楷体_GB2312"/>
                <a:ea typeface="楷体_GB2312"/>
              </a:rPr>
              <a:t>  </a:t>
            </a:r>
            <a:r>
              <a:rPr lang="en-US" altLang="zh-CN" sz="2000" b="0" dirty="0">
                <a:solidFill>
                  <a:schemeClr val="tx1"/>
                </a:solidFill>
                <a:latin typeface="楷体_GB2312"/>
                <a:ea typeface="楷体_GB2312"/>
              </a:rPr>
              <a:t>A0   </a:t>
            </a:r>
            <a:r>
              <a:rPr lang="zh-CN" altLang="en-US" sz="2000" b="0" dirty="0">
                <a:solidFill>
                  <a:schemeClr val="tx1"/>
                </a:solidFill>
                <a:latin typeface="楷体_GB2312"/>
                <a:ea typeface="楷体_GB2312"/>
              </a:rPr>
              <a:t>用于选择</a:t>
            </a:r>
            <a:r>
              <a:rPr lang="en-US" altLang="zh-CN" sz="2000" b="0" dirty="0">
                <a:solidFill>
                  <a:schemeClr val="tx1"/>
                </a:solidFill>
                <a:latin typeface="楷体_GB2312"/>
                <a:ea typeface="楷体_GB2312"/>
              </a:rPr>
              <a:t>8259</a:t>
            </a:r>
            <a:r>
              <a:rPr lang="zh-CN" altLang="en-US" sz="2000" b="0" dirty="0">
                <a:solidFill>
                  <a:schemeClr val="tx1"/>
                </a:solidFill>
                <a:latin typeface="楷体_GB2312"/>
                <a:ea typeface="楷体_GB2312"/>
              </a:rPr>
              <a:t>内部不同的寄存器。</a:t>
            </a:r>
            <a:endParaRPr lang="zh-CN" altLang="en-US" sz="2000" b="0" dirty="0">
              <a:solidFill>
                <a:schemeClr val="tx1"/>
              </a:solidFill>
              <a:latin typeface="楷体_GB2312"/>
              <a:ea typeface="楷体_GB2312"/>
            </a:endParaRPr>
          </a:p>
          <a:p>
            <a:pPr marL="342900" lvl="0" indent="-342900">
              <a:lnSpc>
                <a:spcPct val="130000"/>
              </a:lnSpc>
              <a:spcBef>
                <a:spcPct val="0"/>
              </a:spcBef>
              <a:spcAft>
                <a:spcPct val="0"/>
              </a:spcAft>
              <a:buClr>
                <a:srgbClr val="A50021"/>
              </a:buClr>
              <a:buSzTx/>
              <a:buFont typeface="Wingdings" panose="05000000000000000000" pitchFamily="2" charset="2"/>
              <a:buChar char="l"/>
            </a:pPr>
            <a:r>
              <a:rPr lang="zh-CN" altLang="en-US" sz="2000" b="0" dirty="0">
                <a:solidFill>
                  <a:schemeClr val="tx1"/>
                </a:solidFill>
                <a:latin typeface="楷体_GB2312"/>
                <a:ea typeface="楷体_GB2312"/>
              </a:rPr>
              <a:t> </a:t>
            </a:r>
            <a:r>
              <a:rPr lang="en-US" altLang="zh-CN" sz="2000" b="0" dirty="0">
                <a:solidFill>
                  <a:schemeClr val="tx1"/>
                </a:solidFill>
                <a:latin typeface="楷体_GB2312"/>
                <a:ea typeface="楷体_GB2312"/>
              </a:rPr>
              <a:t>CAS2~CAS0   </a:t>
            </a:r>
            <a:r>
              <a:rPr lang="zh-CN" altLang="en-US" sz="2000" b="0" dirty="0">
                <a:solidFill>
                  <a:schemeClr val="tx1"/>
                </a:solidFill>
                <a:latin typeface="楷体_GB2312"/>
                <a:ea typeface="楷体_GB2312"/>
              </a:rPr>
              <a:t>级联信号线，当</a:t>
            </a:r>
            <a:r>
              <a:rPr lang="en-US" altLang="zh-CN" sz="2000" b="0" dirty="0">
                <a:solidFill>
                  <a:schemeClr val="tx1"/>
                </a:solidFill>
                <a:latin typeface="楷体_GB2312"/>
                <a:ea typeface="楷体_GB2312"/>
              </a:rPr>
              <a:t>8259</a:t>
            </a:r>
            <a:r>
              <a:rPr lang="zh-CN" altLang="en-US" sz="2000" b="0" dirty="0">
                <a:solidFill>
                  <a:schemeClr val="tx1"/>
                </a:solidFill>
                <a:latin typeface="楷体_GB2312"/>
                <a:ea typeface="楷体_GB2312"/>
              </a:rPr>
              <a:t>为主片时为输出，从片时为输入</a:t>
            </a:r>
            <a:endParaRPr lang="zh-CN" altLang="en-US" sz="2000" b="0" dirty="0">
              <a:solidFill>
                <a:schemeClr val="tx1"/>
              </a:solidFill>
              <a:latin typeface="楷体_GB2312"/>
              <a:ea typeface="楷体_GB2312"/>
            </a:endParaRPr>
          </a:p>
          <a:p>
            <a:pPr marL="342900" lvl="0" indent="-342900">
              <a:lnSpc>
                <a:spcPct val="130000"/>
              </a:lnSpc>
              <a:spcBef>
                <a:spcPct val="0"/>
              </a:spcBef>
              <a:spcAft>
                <a:spcPct val="0"/>
              </a:spcAft>
              <a:buClr>
                <a:srgbClr val="A50021"/>
              </a:buClr>
              <a:buSzTx/>
              <a:buFont typeface="Wingdings" panose="05000000000000000000" pitchFamily="2" charset="2"/>
              <a:buChar char="l"/>
            </a:pPr>
            <a:r>
              <a:rPr lang="zh-CN" altLang="en-US" sz="2000" b="0" dirty="0">
                <a:solidFill>
                  <a:schemeClr val="tx1"/>
                </a:solidFill>
                <a:latin typeface="楷体_GB2312"/>
                <a:ea typeface="楷体_GB2312"/>
              </a:rPr>
              <a:t>  </a:t>
            </a:r>
            <a:r>
              <a:rPr lang="en-US" altLang="zh-CN" sz="2000" b="0" dirty="0">
                <a:solidFill>
                  <a:schemeClr val="tx1"/>
                </a:solidFill>
                <a:latin typeface="楷体_GB2312"/>
                <a:ea typeface="楷体_GB2312"/>
              </a:rPr>
              <a:t>SP/EN  </a:t>
            </a:r>
            <a:r>
              <a:rPr lang="zh-CN" altLang="en-US" sz="2000" b="0" dirty="0">
                <a:solidFill>
                  <a:schemeClr val="tx1"/>
                </a:solidFill>
                <a:latin typeface="楷体_GB2312"/>
                <a:ea typeface="楷体_GB2312"/>
              </a:rPr>
              <a:t>在非缓冲工作方式时，用作输入，决定</a:t>
            </a:r>
            <a:r>
              <a:rPr lang="en-US" altLang="zh-CN" sz="2000" b="0" dirty="0">
                <a:solidFill>
                  <a:schemeClr val="tx1"/>
                </a:solidFill>
                <a:latin typeface="楷体_GB2312"/>
                <a:ea typeface="楷体_GB2312"/>
              </a:rPr>
              <a:t>8259A</a:t>
            </a:r>
            <a:r>
              <a:rPr lang="zh-CN" altLang="en-US" sz="2000" b="0" dirty="0">
                <a:solidFill>
                  <a:schemeClr val="tx1"/>
                </a:solidFill>
                <a:latin typeface="楷体_GB2312"/>
                <a:ea typeface="楷体_GB2312"/>
              </a:rPr>
              <a:t>为主片还是从片；在缓冲工作方式时，用作输出，由它打开总线缓冲器</a:t>
            </a:r>
            <a:endParaRPr lang="zh-CN" altLang="en-US" sz="2000" b="0" dirty="0">
              <a:solidFill>
                <a:schemeClr val="tx1"/>
              </a:solidFill>
              <a:latin typeface="楷体_GB2312"/>
              <a:ea typeface="楷体_GB2312"/>
            </a:endParaRPr>
          </a:p>
        </p:txBody>
      </p:sp>
    </p:spTree>
  </p:cSld>
  <p:clrMapOvr>
    <a:masterClrMapping/>
  </p:clrMapOvr>
  <p:transition spd="slow">
    <p:zoom/>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sp>
        <p:nvSpPr>
          <p:cNvPr id="202755" name="Rectangle 122"/>
          <p:cNvSpPr/>
          <p:nvPr/>
        </p:nvSpPr>
        <p:spPr>
          <a:xfrm>
            <a:off x="5462588" y="4541838"/>
            <a:ext cx="787400" cy="1109662"/>
          </a:xfrm>
          <a:prstGeom prst="rect">
            <a:avLst/>
          </a:prstGeom>
          <a:solidFill>
            <a:srgbClr val="CCFF66"/>
          </a:solidFill>
          <a:ln w="254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756" name="Rectangle 26"/>
          <p:cNvSpPr/>
          <p:nvPr/>
        </p:nvSpPr>
        <p:spPr>
          <a:xfrm>
            <a:off x="2206625" y="4370388"/>
            <a:ext cx="1184275" cy="855662"/>
          </a:xfrm>
          <a:prstGeom prst="rect">
            <a:avLst/>
          </a:prstGeom>
          <a:solidFill>
            <a:srgbClr val="FFFF99"/>
          </a:solidFill>
          <a:ln w="254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757" name="Rectangle 21"/>
          <p:cNvSpPr/>
          <p:nvPr/>
        </p:nvSpPr>
        <p:spPr>
          <a:xfrm>
            <a:off x="2206625" y="3349625"/>
            <a:ext cx="1184275" cy="854075"/>
          </a:xfrm>
          <a:prstGeom prst="rect">
            <a:avLst/>
          </a:prstGeom>
          <a:solidFill>
            <a:srgbClr val="FFFF99"/>
          </a:solidFill>
          <a:ln w="254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758" name="Rectangle 13"/>
          <p:cNvSpPr/>
          <p:nvPr/>
        </p:nvSpPr>
        <p:spPr>
          <a:xfrm>
            <a:off x="4443413" y="2006600"/>
            <a:ext cx="533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INTA</a:t>
            </a:r>
            <a:endParaRPr lang="en-US" altLang="zh-CN" sz="1800" b="0" dirty="0">
              <a:solidFill>
                <a:schemeClr val="tx1"/>
              </a:solidFill>
              <a:ea typeface="楷体_GB2312"/>
            </a:endParaRPr>
          </a:p>
        </p:txBody>
      </p:sp>
      <p:sp>
        <p:nvSpPr>
          <p:cNvPr id="202759" name="Rectangle 14"/>
          <p:cNvSpPr/>
          <p:nvPr/>
        </p:nvSpPr>
        <p:spPr>
          <a:xfrm>
            <a:off x="6003925" y="1966913"/>
            <a:ext cx="3683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INT</a:t>
            </a:r>
            <a:endParaRPr lang="en-US" altLang="zh-CN" sz="1800" b="0" dirty="0">
              <a:solidFill>
                <a:schemeClr val="tx1"/>
              </a:solidFill>
              <a:ea typeface="楷体_GB2312"/>
            </a:endParaRPr>
          </a:p>
        </p:txBody>
      </p:sp>
      <p:sp>
        <p:nvSpPr>
          <p:cNvPr id="202760" name="Rectangle 15"/>
          <p:cNvSpPr/>
          <p:nvPr/>
        </p:nvSpPr>
        <p:spPr>
          <a:xfrm>
            <a:off x="2108200" y="2486025"/>
            <a:ext cx="1382713" cy="681038"/>
          </a:xfrm>
          <a:prstGeom prst="rect">
            <a:avLst/>
          </a:prstGeom>
          <a:solidFill>
            <a:srgbClr val="FFFF99"/>
          </a:solidFill>
          <a:ln w="254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761" name="Rectangle 16"/>
          <p:cNvSpPr/>
          <p:nvPr/>
        </p:nvSpPr>
        <p:spPr>
          <a:xfrm>
            <a:off x="2284413" y="2549525"/>
            <a:ext cx="1022350"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数据总线</a:t>
            </a:r>
            <a:endParaRPr lang="zh-CN" altLang="en-US" sz="2000" b="0" dirty="0">
              <a:solidFill>
                <a:schemeClr val="tx1"/>
              </a:solidFill>
              <a:ea typeface="楷体_GB2312"/>
            </a:endParaRPr>
          </a:p>
        </p:txBody>
      </p:sp>
      <p:sp>
        <p:nvSpPr>
          <p:cNvPr id="202762" name="Rectangle 17"/>
          <p:cNvSpPr/>
          <p:nvPr/>
        </p:nvSpPr>
        <p:spPr>
          <a:xfrm>
            <a:off x="2357438" y="2847975"/>
            <a:ext cx="836612"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chemeClr val="tx1"/>
                </a:solidFill>
                <a:ea typeface="楷体_GB2312"/>
              </a:rPr>
              <a:t> </a:t>
            </a:r>
            <a:r>
              <a:rPr lang="zh-CN" altLang="en-US" sz="2000" b="0" dirty="0">
                <a:solidFill>
                  <a:schemeClr val="tx1"/>
                </a:solidFill>
                <a:ea typeface="楷体_GB2312"/>
              </a:rPr>
              <a:t>缓冲器</a:t>
            </a:r>
            <a:endParaRPr lang="zh-CN" altLang="en-US" sz="2000" b="0" dirty="0">
              <a:solidFill>
                <a:schemeClr val="tx1"/>
              </a:solidFill>
              <a:ea typeface="楷体_GB2312"/>
            </a:endParaRPr>
          </a:p>
        </p:txBody>
      </p:sp>
      <p:sp>
        <p:nvSpPr>
          <p:cNvPr id="202763" name="Rectangle 18"/>
          <p:cNvSpPr/>
          <p:nvPr/>
        </p:nvSpPr>
        <p:spPr>
          <a:xfrm>
            <a:off x="2500313" y="3370263"/>
            <a:ext cx="581025"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读</a:t>
            </a:r>
            <a:r>
              <a:rPr lang="en-US" altLang="zh-CN" sz="2000" b="0" dirty="0">
                <a:solidFill>
                  <a:schemeClr val="tx1"/>
                </a:solidFill>
                <a:ea typeface="楷体_GB2312"/>
              </a:rPr>
              <a:t>/</a:t>
            </a:r>
            <a:r>
              <a:rPr lang="zh-CN" altLang="en-US" sz="2000" b="0" dirty="0">
                <a:solidFill>
                  <a:schemeClr val="tx1"/>
                </a:solidFill>
                <a:ea typeface="楷体_GB2312"/>
              </a:rPr>
              <a:t>写</a:t>
            </a:r>
            <a:endParaRPr lang="zh-CN" altLang="en-US" sz="2000" b="0" dirty="0">
              <a:solidFill>
                <a:schemeClr val="tx1"/>
              </a:solidFill>
              <a:ea typeface="楷体_GB2312"/>
            </a:endParaRPr>
          </a:p>
        </p:txBody>
      </p:sp>
      <p:sp>
        <p:nvSpPr>
          <p:cNvPr id="202764" name="Rectangle 19"/>
          <p:cNvSpPr/>
          <p:nvPr/>
        </p:nvSpPr>
        <p:spPr>
          <a:xfrm>
            <a:off x="2500313" y="3627438"/>
            <a:ext cx="581025"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控 制</a:t>
            </a:r>
            <a:endParaRPr lang="zh-CN" altLang="en-US" sz="2000" b="0" dirty="0">
              <a:solidFill>
                <a:schemeClr val="tx1"/>
              </a:solidFill>
              <a:ea typeface="楷体_GB2312"/>
            </a:endParaRPr>
          </a:p>
        </p:txBody>
      </p:sp>
      <p:sp>
        <p:nvSpPr>
          <p:cNvPr id="202765" name="Rectangle 20"/>
          <p:cNvSpPr/>
          <p:nvPr/>
        </p:nvSpPr>
        <p:spPr>
          <a:xfrm>
            <a:off x="2500313" y="3884613"/>
            <a:ext cx="581025"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逻 辑</a:t>
            </a:r>
            <a:endParaRPr lang="zh-CN" altLang="en-US" sz="2000" b="0" dirty="0">
              <a:solidFill>
                <a:schemeClr val="tx1"/>
              </a:solidFill>
              <a:ea typeface="楷体_GB2312"/>
            </a:endParaRPr>
          </a:p>
        </p:txBody>
      </p:sp>
      <p:sp>
        <p:nvSpPr>
          <p:cNvPr id="202766" name="Rectangle 23"/>
          <p:cNvSpPr/>
          <p:nvPr/>
        </p:nvSpPr>
        <p:spPr>
          <a:xfrm>
            <a:off x="2500313" y="4391025"/>
            <a:ext cx="581025"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级 连</a:t>
            </a:r>
            <a:endParaRPr lang="zh-CN" altLang="en-US" sz="2000" b="0" dirty="0">
              <a:solidFill>
                <a:schemeClr val="tx1"/>
              </a:solidFill>
              <a:ea typeface="楷体_GB2312"/>
            </a:endParaRPr>
          </a:p>
        </p:txBody>
      </p:sp>
      <p:sp>
        <p:nvSpPr>
          <p:cNvPr id="202767" name="Rectangle 24"/>
          <p:cNvSpPr/>
          <p:nvPr/>
        </p:nvSpPr>
        <p:spPr>
          <a:xfrm>
            <a:off x="2500313" y="4648200"/>
            <a:ext cx="581025"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缓 冲</a:t>
            </a:r>
            <a:endParaRPr lang="zh-CN" altLang="en-US" sz="2000" b="0" dirty="0">
              <a:solidFill>
                <a:schemeClr val="tx1"/>
              </a:solidFill>
              <a:ea typeface="楷体_GB2312"/>
            </a:endParaRPr>
          </a:p>
        </p:txBody>
      </p:sp>
      <p:sp>
        <p:nvSpPr>
          <p:cNvPr id="202768" name="Rectangle 25"/>
          <p:cNvSpPr/>
          <p:nvPr/>
        </p:nvSpPr>
        <p:spPr>
          <a:xfrm>
            <a:off x="2500313" y="4905375"/>
            <a:ext cx="581025"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比 较</a:t>
            </a:r>
            <a:endParaRPr lang="zh-CN" altLang="en-US" sz="2000" b="0" dirty="0">
              <a:solidFill>
                <a:schemeClr val="tx1"/>
              </a:solidFill>
              <a:ea typeface="楷体_GB2312"/>
            </a:endParaRPr>
          </a:p>
        </p:txBody>
      </p:sp>
      <p:sp>
        <p:nvSpPr>
          <p:cNvPr id="202769" name="Rectangle 27"/>
          <p:cNvSpPr/>
          <p:nvPr/>
        </p:nvSpPr>
        <p:spPr>
          <a:xfrm>
            <a:off x="1095375" y="4362450"/>
            <a:ext cx="6858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SP/EN</a:t>
            </a:r>
            <a:endParaRPr lang="en-US" altLang="zh-CN" sz="1800" b="0" dirty="0">
              <a:solidFill>
                <a:schemeClr val="tx1"/>
              </a:solidFill>
              <a:ea typeface="楷体_GB2312"/>
            </a:endParaRPr>
          </a:p>
        </p:txBody>
      </p:sp>
      <p:grpSp>
        <p:nvGrpSpPr>
          <p:cNvPr id="202770" name="Group 30"/>
          <p:cNvGrpSpPr/>
          <p:nvPr/>
        </p:nvGrpSpPr>
        <p:grpSpPr>
          <a:xfrm>
            <a:off x="1985963" y="2671763"/>
            <a:ext cx="107950" cy="225425"/>
            <a:chOff x="0" y="0"/>
            <a:chExt cx="68" cy="142"/>
          </a:xfrm>
        </p:grpSpPr>
        <p:sp>
          <p:nvSpPr>
            <p:cNvPr id="202973" name="Freeform 28"/>
            <p:cNvSpPr/>
            <p:nvPr/>
          </p:nvSpPr>
          <p:spPr>
            <a:xfrm>
              <a:off x="0" y="0"/>
              <a:ext cx="60" cy="61"/>
            </a:xfrm>
            <a:custGeom>
              <a:avLst/>
              <a:gdLst/>
              <a:ahLst/>
              <a:cxnLst>
                <a:cxn ang="0">
                  <a:pos x="60" y="61"/>
                </a:cxn>
                <a:cxn ang="0">
                  <a:pos x="0" y="0"/>
                </a:cxn>
                <a:cxn ang="0">
                  <a:pos x="0" y="43"/>
                </a:cxn>
              </a:cxnLst>
              <a:pathLst>
                <a:path w="60" h="61">
                  <a:moveTo>
                    <a:pt x="60" y="61"/>
                  </a:moveTo>
                  <a:lnTo>
                    <a:pt x="0" y="0"/>
                  </a:lnTo>
                  <a:lnTo>
                    <a:pt x="0" y="43"/>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74" name="Freeform 29"/>
            <p:cNvSpPr/>
            <p:nvPr/>
          </p:nvSpPr>
          <p:spPr>
            <a:xfrm>
              <a:off x="3" y="63"/>
              <a:ext cx="65" cy="79"/>
            </a:xfrm>
            <a:custGeom>
              <a:avLst/>
              <a:gdLst/>
              <a:ahLst/>
              <a:cxnLst>
                <a:cxn ang="0">
                  <a:pos x="65" y="0"/>
                </a:cxn>
                <a:cxn ang="0">
                  <a:pos x="0" y="79"/>
                </a:cxn>
                <a:cxn ang="0">
                  <a:pos x="0" y="38"/>
                </a:cxn>
              </a:cxnLst>
              <a:pathLst>
                <a:path w="65" h="79">
                  <a:moveTo>
                    <a:pt x="65" y="0"/>
                  </a:moveTo>
                  <a:lnTo>
                    <a:pt x="0" y="79"/>
                  </a:lnTo>
                  <a:lnTo>
                    <a:pt x="0" y="38"/>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771" name="Line 31"/>
          <p:cNvSpPr/>
          <p:nvPr/>
        </p:nvSpPr>
        <p:spPr>
          <a:xfrm flipH="1" flipV="1">
            <a:off x="1692275" y="2743200"/>
            <a:ext cx="292100" cy="1588"/>
          </a:xfrm>
          <a:prstGeom prst="line">
            <a:avLst/>
          </a:prstGeom>
          <a:ln w="15875" cap="flat" cmpd="sng">
            <a:solidFill>
              <a:srgbClr val="000000"/>
            </a:solidFill>
            <a:prstDash val="solid"/>
            <a:bevel/>
            <a:headEnd type="none" w="med" len="med"/>
            <a:tailEnd type="none" w="med" len="med"/>
          </a:ln>
        </p:spPr>
      </p:sp>
      <p:sp>
        <p:nvSpPr>
          <p:cNvPr id="202772" name="Line 32"/>
          <p:cNvSpPr/>
          <p:nvPr/>
        </p:nvSpPr>
        <p:spPr>
          <a:xfrm flipH="1">
            <a:off x="1692275" y="2833688"/>
            <a:ext cx="293688" cy="1587"/>
          </a:xfrm>
          <a:prstGeom prst="line">
            <a:avLst/>
          </a:prstGeom>
          <a:ln w="15875" cap="flat" cmpd="sng">
            <a:solidFill>
              <a:srgbClr val="000000"/>
            </a:solidFill>
            <a:prstDash val="solid"/>
            <a:bevel/>
            <a:headEnd type="none" w="med" len="med"/>
            <a:tailEnd type="none" w="med" len="med"/>
          </a:ln>
        </p:spPr>
      </p:sp>
      <p:grpSp>
        <p:nvGrpSpPr>
          <p:cNvPr id="202773" name="Group 35"/>
          <p:cNvGrpSpPr/>
          <p:nvPr/>
        </p:nvGrpSpPr>
        <p:grpSpPr>
          <a:xfrm>
            <a:off x="1573213" y="2678113"/>
            <a:ext cx="106362" cy="223837"/>
            <a:chOff x="0" y="0"/>
            <a:chExt cx="67" cy="141"/>
          </a:xfrm>
        </p:grpSpPr>
        <p:sp>
          <p:nvSpPr>
            <p:cNvPr id="202971" name="Freeform 33"/>
            <p:cNvSpPr/>
            <p:nvPr/>
          </p:nvSpPr>
          <p:spPr>
            <a:xfrm>
              <a:off x="7" y="81"/>
              <a:ext cx="60" cy="60"/>
            </a:xfrm>
            <a:custGeom>
              <a:avLst/>
              <a:gdLst/>
              <a:ahLst/>
              <a:cxnLst>
                <a:cxn ang="0">
                  <a:pos x="0" y="0"/>
                </a:cxn>
                <a:cxn ang="0">
                  <a:pos x="60" y="60"/>
                </a:cxn>
                <a:cxn ang="0">
                  <a:pos x="60" y="18"/>
                </a:cxn>
              </a:cxnLst>
              <a:pathLst>
                <a:path w="60" h="60">
                  <a:moveTo>
                    <a:pt x="0" y="0"/>
                  </a:moveTo>
                  <a:lnTo>
                    <a:pt x="60" y="60"/>
                  </a:lnTo>
                  <a:lnTo>
                    <a:pt x="60" y="18"/>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72" name="Freeform 34"/>
            <p:cNvSpPr/>
            <p:nvPr/>
          </p:nvSpPr>
          <p:spPr>
            <a:xfrm>
              <a:off x="0" y="0"/>
              <a:ext cx="64" cy="78"/>
            </a:xfrm>
            <a:custGeom>
              <a:avLst/>
              <a:gdLst/>
              <a:ahLst/>
              <a:cxnLst>
                <a:cxn ang="0">
                  <a:pos x="0" y="78"/>
                </a:cxn>
                <a:cxn ang="0">
                  <a:pos x="64" y="0"/>
                </a:cxn>
                <a:cxn ang="0">
                  <a:pos x="64" y="40"/>
                </a:cxn>
              </a:cxnLst>
              <a:pathLst>
                <a:path w="64" h="78">
                  <a:moveTo>
                    <a:pt x="0" y="78"/>
                  </a:moveTo>
                  <a:lnTo>
                    <a:pt x="64" y="0"/>
                  </a:lnTo>
                  <a:lnTo>
                    <a:pt x="64" y="40"/>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774" name="Rectangle 36"/>
          <p:cNvSpPr/>
          <p:nvPr/>
        </p:nvSpPr>
        <p:spPr>
          <a:xfrm>
            <a:off x="3983038" y="2492375"/>
            <a:ext cx="3059112" cy="1455738"/>
          </a:xfrm>
          <a:prstGeom prst="rect">
            <a:avLst/>
          </a:prstGeom>
          <a:solidFill>
            <a:srgbClr val="CCECFF"/>
          </a:solidFill>
          <a:ln w="254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775" name="Rectangle 37"/>
          <p:cNvSpPr/>
          <p:nvPr/>
        </p:nvSpPr>
        <p:spPr>
          <a:xfrm>
            <a:off x="4862513" y="2600325"/>
            <a:ext cx="1285875" cy="339725"/>
          </a:xfrm>
          <a:prstGeom prst="rect">
            <a:avLst/>
          </a:prstGeom>
          <a:noFill/>
          <a:ln w="1587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776" name="Rectangle 38"/>
          <p:cNvSpPr/>
          <p:nvPr/>
        </p:nvSpPr>
        <p:spPr>
          <a:xfrm>
            <a:off x="4989513" y="2620963"/>
            <a:ext cx="1022350"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控制电路</a:t>
            </a:r>
            <a:endParaRPr lang="zh-CN" altLang="en-US" sz="2000" b="0" dirty="0">
              <a:solidFill>
                <a:schemeClr val="tx1"/>
              </a:solidFill>
              <a:ea typeface="楷体_GB2312"/>
            </a:endParaRPr>
          </a:p>
        </p:txBody>
      </p:sp>
      <p:sp>
        <p:nvSpPr>
          <p:cNvPr id="202777" name="Rectangle 39"/>
          <p:cNvSpPr/>
          <p:nvPr/>
        </p:nvSpPr>
        <p:spPr>
          <a:xfrm>
            <a:off x="4892675" y="2919413"/>
            <a:ext cx="1225550" cy="36512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b="0" dirty="0">
                <a:solidFill>
                  <a:srgbClr val="A50021"/>
                </a:solidFill>
                <a:ea typeface="楷体_GB2312"/>
              </a:rPr>
              <a:t>控制逻辑</a:t>
            </a:r>
            <a:endParaRPr lang="zh-CN" altLang="en-US" sz="1800" b="0" dirty="0">
              <a:solidFill>
                <a:srgbClr val="A50021"/>
              </a:solidFill>
              <a:ea typeface="楷体_GB2312"/>
            </a:endParaRPr>
          </a:p>
        </p:txBody>
      </p:sp>
      <p:sp>
        <p:nvSpPr>
          <p:cNvPr id="202778" name="Rectangle 40"/>
          <p:cNvSpPr/>
          <p:nvPr/>
        </p:nvSpPr>
        <p:spPr>
          <a:xfrm>
            <a:off x="4081463" y="3263900"/>
            <a:ext cx="2862262" cy="598488"/>
          </a:xfrm>
          <a:prstGeom prst="rect">
            <a:avLst/>
          </a:prstGeom>
          <a:noFill/>
          <a:ln w="1587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779" name="Rectangle 41"/>
          <p:cNvSpPr/>
          <p:nvPr/>
        </p:nvSpPr>
        <p:spPr>
          <a:xfrm>
            <a:off x="4156075" y="3255963"/>
            <a:ext cx="1277938"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初始化命令</a:t>
            </a:r>
            <a:endParaRPr lang="zh-CN" altLang="en-US" sz="2000" b="0" dirty="0">
              <a:solidFill>
                <a:schemeClr val="tx1"/>
              </a:solidFill>
              <a:ea typeface="楷体_GB2312"/>
            </a:endParaRPr>
          </a:p>
        </p:txBody>
      </p:sp>
      <p:sp>
        <p:nvSpPr>
          <p:cNvPr id="202780" name="Rectangle 42"/>
          <p:cNvSpPr/>
          <p:nvPr/>
        </p:nvSpPr>
        <p:spPr>
          <a:xfrm>
            <a:off x="4216400" y="3556000"/>
            <a:ext cx="1092200"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chemeClr val="tx1"/>
                </a:solidFill>
                <a:ea typeface="楷体_GB2312"/>
              </a:rPr>
              <a:t> </a:t>
            </a:r>
            <a:r>
              <a:rPr lang="zh-CN" altLang="en-US" sz="2000" b="0" dirty="0">
                <a:solidFill>
                  <a:schemeClr val="tx1"/>
                </a:solidFill>
                <a:ea typeface="楷体_GB2312"/>
              </a:rPr>
              <a:t>寄存器组</a:t>
            </a:r>
            <a:endParaRPr lang="zh-CN" altLang="en-US" sz="2000" b="0" dirty="0">
              <a:solidFill>
                <a:schemeClr val="tx1"/>
              </a:solidFill>
              <a:ea typeface="楷体_GB2312"/>
            </a:endParaRPr>
          </a:p>
        </p:txBody>
      </p:sp>
      <p:sp>
        <p:nvSpPr>
          <p:cNvPr id="202781" name="Line 43"/>
          <p:cNvSpPr/>
          <p:nvPr/>
        </p:nvSpPr>
        <p:spPr>
          <a:xfrm>
            <a:off x="5595938" y="3262313"/>
            <a:ext cx="1587" cy="600075"/>
          </a:xfrm>
          <a:prstGeom prst="line">
            <a:avLst/>
          </a:prstGeom>
          <a:ln w="15875" cap="flat" cmpd="sng">
            <a:solidFill>
              <a:srgbClr val="000000"/>
            </a:solidFill>
            <a:prstDash val="solid"/>
            <a:bevel/>
            <a:headEnd type="none" w="med" len="med"/>
            <a:tailEnd type="none" w="med" len="med"/>
          </a:ln>
        </p:spPr>
      </p:sp>
      <p:sp>
        <p:nvSpPr>
          <p:cNvPr id="202782" name="Rectangle 44"/>
          <p:cNvSpPr/>
          <p:nvPr/>
        </p:nvSpPr>
        <p:spPr>
          <a:xfrm>
            <a:off x="5794375" y="3255963"/>
            <a:ext cx="1022350"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操作命令</a:t>
            </a:r>
            <a:endParaRPr lang="zh-CN" altLang="en-US" sz="2000" b="0" dirty="0">
              <a:solidFill>
                <a:schemeClr val="tx1"/>
              </a:solidFill>
              <a:ea typeface="楷体_GB2312"/>
            </a:endParaRPr>
          </a:p>
        </p:txBody>
      </p:sp>
      <p:sp>
        <p:nvSpPr>
          <p:cNvPr id="202783" name="Rectangle 45"/>
          <p:cNvSpPr/>
          <p:nvPr/>
        </p:nvSpPr>
        <p:spPr>
          <a:xfrm>
            <a:off x="5783263" y="3527425"/>
            <a:ext cx="1022350"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寄存器组</a:t>
            </a:r>
            <a:endParaRPr lang="zh-CN" altLang="en-US" sz="2000" b="0" dirty="0">
              <a:solidFill>
                <a:schemeClr val="tx1"/>
              </a:solidFill>
              <a:ea typeface="楷体_GB2312"/>
            </a:endParaRPr>
          </a:p>
        </p:txBody>
      </p:sp>
      <p:sp>
        <p:nvSpPr>
          <p:cNvPr id="202784" name="Rectangle 46"/>
          <p:cNvSpPr/>
          <p:nvPr/>
        </p:nvSpPr>
        <p:spPr>
          <a:xfrm>
            <a:off x="6662738" y="4513263"/>
            <a:ext cx="792162" cy="1619250"/>
          </a:xfrm>
          <a:prstGeom prst="rect">
            <a:avLst/>
          </a:prstGeom>
          <a:solidFill>
            <a:srgbClr val="CCFF66"/>
          </a:solidFill>
          <a:ln w="254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785" name="Rectangle 47"/>
          <p:cNvSpPr/>
          <p:nvPr/>
        </p:nvSpPr>
        <p:spPr>
          <a:xfrm>
            <a:off x="6734175" y="4545013"/>
            <a:ext cx="581025"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chemeClr val="tx1"/>
                </a:solidFill>
                <a:ea typeface="楷体_GB2312"/>
              </a:rPr>
              <a:t> </a:t>
            </a:r>
            <a:r>
              <a:rPr lang="zh-CN" altLang="en-US" sz="2000" b="0" dirty="0">
                <a:solidFill>
                  <a:schemeClr val="tx1"/>
                </a:solidFill>
                <a:ea typeface="楷体_GB2312"/>
              </a:rPr>
              <a:t>中断</a:t>
            </a:r>
            <a:endParaRPr lang="zh-CN" altLang="en-US" sz="2000" b="0" dirty="0">
              <a:solidFill>
                <a:schemeClr val="tx1"/>
              </a:solidFill>
              <a:ea typeface="楷体_GB2312"/>
            </a:endParaRPr>
          </a:p>
        </p:txBody>
      </p:sp>
      <p:sp>
        <p:nvSpPr>
          <p:cNvPr id="202786" name="Rectangle 48"/>
          <p:cNvSpPr/>
          <p:nvPr/>
        </p:nvSpPr>
        <p:spPr>
          <a:xfrm>
            <a:off x="6734175" y="4868863"/>
            <a:ext cx="581025"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chemeClr val="tx1"/>
                </a:solidFill>
                <a:ea typeface="楷体_GB2312"/>
              </a:rPr>
              <a:t> </a:t>
            </a:r>
            <a:r>
              <a:rPr lang="zh-CN" altLang="en-US" sz="2000" b="0" dirty="0">
                <a:solidFill>
                  <a:schemeClr val="tx1"/>
                </a:solidFill>
                <a:ea typeface="楷体_GB2312"/>
              </a:rPr>
              <a:t>请求</a:t>
            </a:r>
            <a:endParaRPr lang="zh-CN" altLang="en-US" sz="2000" b="0" dirty="0">
              <a:solidFill>
                <a:schemeClr val="tx1"/>
              </a:solidFill>
              <a:ea typeface="楷体_GB2312"/>
            </a:endParaRPr>
          </a:p>
        </p:txBody>
      </p:sp>
      <p:sp>
        <p:nvSpPr>
          <p:cNvPr id="202787" name="Rectangle 49"/>
          <p:cNvSpPr/>
          <p:nvPr/>
        </p:nvSpPr>
        <p:spPr>
          <a:xfrm>
            <a:off x="6748463" y="5175250"/>
            <a:ext cx="695325"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chemeClr val="tx1"/>
                </a:solidFill>
                <a:ea typeface="楷体_GB2312"/>
              </a:rPr>
              <a:t> </a:t>
            </a:r>
            <a:r>
              <a:rPr lang="zh-CN" altLang="en-US" sz="2000" b="0" dirty="0">
                <a:solidFill>
                  <a:schemeClr val="tx1"/>
                </a:solidFill>
                <a:ea typeface="楷体_GB2312"/>
              </a:rPr>
              <a:t>寄存</a:t>
            </a:r>
            <a:r>
              <a:rPr lang="zh-CN" altLang="en-US" sz="1600" b="0" dirty="0">
                <a:solidFill>
                  <a:schemeClr val="tx1"/>
                </a:solidFill>
                <a:ea typeface="楷体_GB2312"/>
              </a:rPr>
              <a:t>  </a:t>
            </a:r>
            <a:endParaRPr lang="zh-CN" altLang="en-US" sz="1600" b="0" dirty="0">
              <a:solidFill>
                <a:schemeClr val="tx1"/>
              </a:solidFill>
              <a:ea typeface="楷体_GB2312"/>
            </a:endParaRPr>
          </a:p>
        </p:txBody>
      </p:sp>
      <p:sp>
        <p:nvSpPr>
          <p:cNvPr id="202788" name="Rectangle 50"/>
          <p:cNvSpPr/>
          <p:nvPr/>
        </p:nvSpPr>
        <p:spPr>
          <a:xfrm>
            <a:off x="6675438" y="5464175"/>
            <a:ext cx="395287"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chemeClr val="tx1"/>
                </a:solidFill>
                <a:ea typeface="楷体_GB2312"/>
              </a:rPr>
              <a:t>  </a:t>
            </a:r>
            <a:r>
              <a:rPr lang="zh-CN" altLang="en-US" sz="2000" b="0" dirty="0">
                <a:solidFill>
                  <a:schemeClr val="tx1"/>
                </a:solidFill>
                <a:ea typeface="楷体_GB2312"/>
              </a:rPr>
              <a:t>器</a:t>
            </a:r>
            <a:endParaRPr lang="zh-CN" altLang="en-US" sz="2000" b="0" dirty="0">
              <a:solidFill>
                <a:schemeClr val="tx1"/>
              </a:solidFill>
              <a:ea typeface="楷体_GB2312"/>
            </a:endParaRPr>
          </a:p>
        </p:txBody>
      </p:sp>
      <p:sp>
        <p:nvSpPr>
          <p:cNvPr id="202789" name="Rectangle 51"/>
          <p:cNvSpPr/>
          <p:nvPr/>
        </p:nvSpPr>
        <p:spPr>
          <a:xfrm>
            <a:off x="6575425" y="5740400"/>
            <a:ext cx="949325"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a:t>
            </a:r>
            <a:r>
              <a:rPr lang="en-US" altLang="zh-CN" sz="2000" b="0" dirty="0">
                <a:solidFill>
                  <a:schemeClr val="tx1"/>
                </a:solidFill>
                <a:ea typeface="楷体_GB2312"/>
              </a:rPr>
              <a:t>IRR</a:t>
            </a:r>
            <a:r>
              <a:rPr lang="zh-CN" altLang="en-US" sz="2000" b="0" dirty="0">
                <a:solidFill>
                  <a:schemeClr val="tx1"/>
                </a:solidFill>
                <a:ea typeface="楷体_GB2312"/>
              </a:rPr>
              <a:t>）</a:t>
            </a:r>
            <a:endParaRPr lang="zh-CN" altLang="en-US" sz="2000" b="0" dirty="0">
              <a:solidFill>
                <a:schemeClr val="tx1"/>
              </a:solidFill>
              <a:ea typeface="楷体_GB2312"/>
            </a:endParaRPr>
          </a:p>
        </p:txBody>
      </p:sp>
      <p:grpSp>
        <p:nvGrpSpPr>
          <p:cNvPr id="202790" name="Group 54"/>
          <p:cNvGrpSpPr/>
          <p:nvPr/>
        </p:nvGrpSpPr>
        <p:grpSpPr>
          <a:xfrm>
            <a:off x="7467600" y="4506913"/>
            <a:ext cx="131763" cy="103187"/>
            <a:chOff x="0" y="0"/>
            <a:chExt cx="83" cy="65"/>
          </a:xfrm>
        </p:grpSpPr>
        <p:sp>
          <p:nvSpPr>
            <p:cNvPr id="202969" name="Freeform 52"/>
            <p:cNvSpPr/>
            <p:nvPr/>
          </p:nvSpPr>
          <p:spPr>
            <a:xfrm>
              <a:off x="0" y="34"/>
              <a:ext cx="83" cy="31"/>
            </a:xfrm>
            <a:custGeom>
              <a:avLst/>
              <a:gdLst/>
              <a:ahLst/>
              <a:cxnLst>
                <a:cxn ang="0">
                  <a:pos x="0" y="2"/>
                </a:cxn>
                <a:cxn ang="0">
                  <a:pos x="80" y="31"/>
                </a:cxn>
                <a:cxn ang="0">
                  <a:pos x="83" y="0"/>
                </a:cxn>
                <a:cxn ang="0">
                  <a:pos x="0" y="2"/>
                </a:cxn>
              </a:cxnLst>
              <a:pathLst>
                <a:path w="83" h="31">
                  <a:moveTo>
                    <a:pt x="0" y="2"/>
                  </a:moveTo>
                  <a:lnTo>
                    <a:pt x="80" y="31"/>
                  </a:lnTo>
                  <a:lnTo>
                    <a:pt x="83" y="0"/>
                  </a:lnTo>
                  <a:lnTo>
                    <a:pt x="0" y="2"/>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70" name="Freeform 53"/>
            <p:cNvSpPr/>
            <p:nvPr/>
          </p:nvSpPr>
          <p:spPr>
            <a:xfrm>
              <a:off x="0" y="0"/>
              <a:ext cx="83" cy="31"/>
            </a:xfrm>
            <a:custGeom>
              <a:avLst/>
              <a:gdLst/>
              <a:ahLst/>
              <a:cxnLst>
                <a:cxn ang="0">
                  <a:pos x="0" y="29"/>
                </a:cxn>
                <a:cxn ang="0">
                  <a:pos x="80" y="0"/>
                </a:cxn>
                <a:cxn ang="0">
                  <a:pos x="83" y="31"/>
                </a:cxn>
                <a:cxn ang="0">
                  <a:pos x="0" y="29"/>
                </a:cxn>
              </a:cxnLst>
              <a:pathLst>
                <a:path w="83" h="31">
                  <a:moveTo>
                    <a:pt x="0" y="29"/>
                  </a:moveTo>
                  <a:lnTo>
                    <a:pt x="80" y="0"/>
                  </a:lnTo>
                  <a:lnTo>
                    <a:pt x="83" y="31"/>
                  </a:lnTo>
                  <a:lnTo>
                    <a:pt x="0" y="29"/>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791" name="Line 55"/>
          <p:cNvSpPr/>
          <p:nvPr/>
        </p:nvSpPr>
        <p:spPr>
          <a:xfrm>
            <a:off x="7607300" y="4560888"/>
            <a:ext cx="155575" cy="1587"/>
          </a:xfrm>
          <a:prstGeom prst="line">
            <a:avLst/>
          </a:prstGeom>
          <a:ln w="15875" cap="flat" cmpd="sng">
            <a:solidFill>
              <a:srgbClr val="000000"/>
            </a:solidFill>
            <a:prstDash val="solid"/>
            <a:bevel/>
            <a:headEnd type="none" w="med" len="med"/>
            <a:tailEnd type="none" w="med" len="med"/>
          </a:ln>
        </p:spPr>
      </p:sp>
      <p:sp>
        <p:nvSpPr>
          <p:cNvPr id="202792" name="Oval 56"/>
          <p:cNvSpPr/>
          <p:nvPr/>
        </p:nvSpPr>
        <p:spPr>
          <a:xfrm>
            <a:off x="7773988" y="4513263"/>
            <a:ext cx="114300" cy="119062"/>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793" name="Rectangle 57"/>
          <p:cNvSpPr/>
          <p:nvPr/>
        </p:nvSpPr>
        <p:spPr>
          <a:xfrm>
            <a:off x="7967663" y="4425950"/>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IR0</a:t>
            </a:r>
            <a:endParaRPr lang="en-US" altLang="zh-CN" sz="1800" b="0" dirty="0">
              <a:solidFill>
                <a:schemeClr val="tx1"/>
              </a:solidFill>
              <a:ea typeface="楷体_GB2312"/>
            </a:endParaRPr>
          </a:p>
        </p:txBody>
      </p:sp>
      <p:grpSp>
        <p:nvGrpSpPr>
          <p:cNvPr id="202794" name="Group 60"/>
          <p:cNvGrpSpPr/>
          <p:nvPr/>
        </p:nvGrpSpPr>
        <p:grpSpPr>
          <a:xfrm>
            <a:off x="7467600" y="4713288"/>
            <a:ext cx="131763" cy="104775"/>
            <a:chOff x="0" y="0"/>
            <a:chExt cx="83" cy="66"/>
          </a:xfrm>
        </p:grpSpPr>
        <p:sp>
          <p:nvSpPr>
            <p:cNvPr id="202967" name="Freeform 58"/>
            <p:cNvSpPr/>
            <p:nvPr/>
          </p:nvSpPr>
          <p:spPr>
            <a:xfrm>
              <a:off x="0" y="34"/>
              <a:ext cx="83" cy="32"/>
            </a:xfrm>
            <a:custGeom>
              <a:avLst/>
              <a:gdLst/>
              <a:ahLst/>
              <a:cxnLst>
                <a:cxn ang="0">
                  <a:pos x="0" y="2"/>
                </a:cxn>
                <a:cxn ang="0">
                  <a:pos x="80" y="32"/>
                </a:cxn>
                <a:cxn ang="0">
                  <a:pos x="83" y="0"/>
                </a:cxn>
                <a:cxn ang="0">
                  <a:pos x="0" y="2"/>
                </a:cxn>
              </a:cxnLst>
              <a:pathLst>
                <a:path w="83" h="32">
                  <a:moveTo>
                    <a:pt x="0" y="2"/>
                  </a:moveTo>
                  <a:lnTo>
                    <a:pt x="80" y="32"/>
                  </a:lnTo>
                  <a:lnTo>
                    <a:pt x="83" y="0"/>
                  </a:lnTo>
                  <a:lnTo>
                    <a:pt x="0" y="2"/>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68" name="Freeform 59"/>
            <p:cNvSpPr/>
            <p:nvPr/>
          </p:nvSpPr>
          <p:spPr>
            <a:xfrm>
              <a:off x="0" y="0"/>
              <a:ext cx="83" cy="32"/>
            </a:xfrm>
            <a:custGeom>
              <a:avLst/>
              <a:gdLst/>
              <a:ahLst/>
              <a:cxnLst>
                <a:cxn ang="0">
                  <a:pos x="0" y="30"/>
                </a:cxn>
                <a:cxn ang="0">
                  <a:pos x="80" y="0"/>
                </a:cxn>
                <a:cxn ang="0">
                  <a:pos x="83" y="32"/>
                </a:cxn>
                <a:cxn ang="0">
                  <a:pos x="0" y="30"/>
                </a:cxn>
              </a:cxnLst>
              <a:pathLst>
                <a:path w="83" h="32">
                  <a:moveTo>
                    <a:pt x="0" y="30"/>
                  </a:moveTo>
                  <a:lnTo>
                    <a:pt x="80" y="0"/>
                  </a:lnTo>
                  <a:lnTo>
                    <a:pt x="83" y="32"/>
                  </a:lnTo>
                  <a:lnTo>
                    <a:pt x="0" y="30"/>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795" name="Line 61"/>
          <p:cNvSpPr/>
          <p:nvPr/>
        </p:nvSpPr>
        <p:spPr>
          <a:xfrm>
            <a:off x="7607300" y="4767263"/>
            <a:ext cx="155575" cy="1587"/>
          </a:xfrm>
          <a:prstGeom prst="line">
            <a:avLst/>
          </a:prstGeom>
          <a:ln w="15875" cap="flat" cmpd="sng">
            <a:solidFill>
              <a:srgbClr val="000000"/>
            </a:solidFill>
            <a:prstDash val="solid"/>
            <a:bevel/>
            <a:headEnd type="none" w="med" len="med"/>
            <a:tailEnd type="none" w="med" len="med"/>
          </a:ln>
        </p:spPr>
      </p:sp>
      <p:sp>
        <p:nvSpPr>
          <p:cNvPr id="202796" name="Oval 62"/>
          <p:cNvSpPr/>
          <p:nvPr/>
        </p:nvSpPr>
        <p:spPr>
          <a:xfrm>
            <a:off x="7773988" y="4719638"/>
            <a:ext cx="114300" cy="120650"/>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797" name="Rectangle 63"/>
          <p:cNvSpPr/>
          <p:nvPr/>
        </p:nvSpPr>
        <p:spPr>
          <a:xfrm>
            <a:off x="7967663" y="463391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IR1</a:t>
            </a:r>
            <a:endParaRPr lang="en-US" altLang="zh-CN" sz="1800" b="0" dirty="0">
              <a:solidFill>
                <a:schemeClr val="tx1"/>
              </a:solidFill>
              <a:ea typeface="楷体_GB2312"/>
            </a:endParaRPr>
          </a:p>
        </p:txBody>
      </p:sp>
      <p:grpSp>
        <p:nvGrpSpPr>
          <p:cNvPr id="202798" name="Group 66"/>
          <p:cNvGrpSpPr/>
          <p:nvPr/>
        </p:nvGrpSpPr>
        <p:grpSpPr>
          <a:xfrm>
            <a:off x="7459663" y="4913313"/>
            <a:ext cx="131762" cy="103187"/>
            <a:chOff x="0" y="0"/>
            <a:chExt cx="83" cy="65"/>
          </a:xfrm>
        </p:grpSpPr>
        <p:sp>
          <p:nvSpPr>
            <p:cNvPr id="202965" name="Freeform 64"/>
            <p:cNvSpPr/>
            <p:nvPr/>
          </p:nvSpPr>
          <p:spPr>
            <a:xfrm>
              <a:off x="0" y="34"/>
              <a:ext cx="83" cy="31"/>
            </a:xfrm>
            <a:custGeom>
              <a:avLst/>
              <a:gdLst/>
              <a:ahLst/>
              <a:cxnLst>
                <a:cxn ang="0">
                  <a:pos x="0" y="2"/>
                </a:cxn>
                <a:cxn ang="0">
                  <a:pos x="80" y="31"/>
                </a:cxn>
                <a:cxn ang="0">
                  <a:pos x="83" y="0"/>
                </a:cxn>
                <a:cxn ang="0">
                  <a:pos x="0" y="2"/>
                </a:cxn>
              </a:cxnLst>
              <a:pathLst>
                <a:path w="83" h="31">
                  <a:moveTo>
                    <a:pt x="0" y="2"/>
                  </a:moveTo>
                  <a:lnTo>
                    <a:pt x="80" y="31"/>
                  </a:lnTo>
                  <a:lnTo>
                    <a:pt x="83" y="0"/>
                  </a:lnTo>
                  <a:lnTo>
                    <a:pt x="0" y="2"/>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66" name="Freeform 65"/>
            <p:cNvSpPr/>
            <p:nvPr/>
          </p:nvSpPr>
          <p:spPr>
            <a:xfrm>
              <a:off x="0" y="0"/>
              <a:ext cx="83" cy="32"/>
            </a:xfrm>
            <a:custGeom>
              <a:avLst/>
              <a:gdLst/>
              <a:ahLst/>
              <a:cxnLst>
                <a:cxn ang="0">
                  <a:pos x="0" y="30"/>
                </a:cxn>
                <a:cxn ang="0">
                  <a:pos x="80" y="0"/>
                </a:cxn>
                <a:cxn ang="0">
                  <a:pos x="83" y="32"/>
                </a:cxn>
                <a:cxn ang="0">
                  <a:pos x="0" y="30"/>
                </a:cxn>
              </a:cxnLst>
              <a:pathLst>
                <a:path w="83" h="32">
                  <a:moveTo>
                    <a:pt x="0" y="30"/>
                  </a:moveTo>
                  <a:lnTo>
                    <a:pt x="80" y="0"/>
                  </a:lnTo>
                  <a:lnTo>
                    <a:pt x="83" y="32"/>
                  </a:lnTo>
                  <a:lnTo>
                    <a:pt x="0" y="30"/>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799" name="Line 67"/>
          <p:cNvSpPr/>
          <p:nvPr/>
        </p:nvSpPr>
        <p:spPr>
          <a:xfrm>
            <a:off x="7593013" y="4965700"/>
            <a:ext cx="160337" cy="1588"/>
          </a:xfrm>
          <a:prstGeom prst="line">
            <a:avLst/>
          </a:prstGeom>
          <a:ln w="15875" cap="flat" cmpd="sng">
            <a:solidFill>
              <a:srgbClr val="000000"/>
            </a:solidFill>
            <a:prstDash val="solid"/>
            <a:bevel/>
            <a:headEnd type="none" w="med" len="med"/>
            <a:tailEnd type="none" w="med" len="med"/>
          </a:ln>
        </p:spPr>
      </p:sp>
      <p:sp>
        <p:nvSpPr>
          <p:cNvPr id="202800" name="Oval 68"/>
          <p:cNvSpPr/>
          <p:nvPr/>
        </p:nvSpPr>
        <p:spPr>
          <a:xfrm>
            <a:off x="7764463" y="4919663"/>
            <a:ext cx="115887" cy="120650"/>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01" name="Rectangle 69"/>
          <p:cNvSpPr/>
          <p:nvPr/>
        </p:nvSpPr>
        <p:spPr>
          <a:xfrm>
            <a:off x="7974013" y="4833938"/>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IR2</a:t>
            </a:r>
            <a:endParaRPr lang="en-US" altLang="zh-CN" sz="1800" b="0" dirty="0">
              <a:solidFill>
                <a:schemeClr val="tx1"/>
              </a:solidFill>
              <a:ea typeface="楷体_GB2312"/>
            </a:endParaRPr>
          </a:p>
        </p:txBody>
      </p:sp>
      <p:grpSp>
        <p:nvGrpSpPr>
          <p:cNvPr id="202802" name="Group 72"/>
          <p:cNvGrpSpPr/>
          <p:nvPr/>
        </p:nvGrpSpPr>
        <p:grpSpPr>
          <a:xfrm>
            <a:off x="7459663" y="5121275"/>
            <a:ext cx="131762" cy="103188"/>
            <a:chOff x="0" y="0"/>
            <a:chExt cx="83" cy="65"/>
          </a:xfrm>
        </p:grpSpPr>
        <p:sp>
          <p:nvSpPr>
            <p:cNvPr id="202963" name="Freeform 70"/>
            <p:cNvSpPr/>
            <p:nvPr/>
          </p:nvSpPr>
          <p:spPr>
            <a:xfrm>
              <a:off x="0" y="33"/>
              <a:ext cx="83" cy="32"/>
            </a:xfrm>
            <a:custGeom>
              <a:avLst/>
              <a:gdLst/>
              <a:ahLst/>
              <a:cxnLst>
                <a:cxn ang="0">
                  <a:pos x="0" y="3"/>
                </a:cxn>
                <a:cxn ang="0">
                  <a:pos x="80" y="32"/>
                </a:cxn>
                <a:cxn ang="0">
                  <a:pos x="83" y="0"/>
                </a:cxn>
                <a:cxn ang="0">
                  <a:pos x="0" y="3"/>
                </a:cxn>
              </a:cxnLst>
              <a:pathLst>
                <a:path w="83" h="32">
                  <a:moveTo>
                    <a:pt x="0" y="3"/>
                  </a:moveTo>
                  <a:lnTo>
                    <a:pt x="80" y="32"/>
                  </a:lnTo>
                  <a:lnTo>
                    <a:pt x="83" y="0"/>
                  </a:lnTo>
                  <a:lnTo>
                    <a:pt x="0" y="3"/>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64" name="Freeform 71"/>
            <p:cNvSpPr/>
            <p:nvPr/>
          </p:nvSpPr>
          <p:spPr>
            <a:xfrm>
              <a:off x="0" y="0"/>
              <a:ext cx="83" cy="31"/>
            </a:xfrm>
            <a:custGeom>
              <a:avLst/>
              <a:gdLst/>
              <a:ahLst/>
              <a:cxnLst>
                <a:cxn ang="0">
                  <a:pos x="0" y="29"/>
                </a:cxn>
                <a:cxn ang="0">
                  <a:pos x="80" y="0"/>
                </a:cxn>
                <a:cxn ang="0">
                  <a:pos x="83" y="31"/>
                </a:cxn>
                <a:cxn ang="0">
                  <a:pos x="0" y="29"/>
                </a:cxn>
              </a:cxnLst>
              <a:pathLst>
                <a:path w="83" h="31">
                  <a:moveTo>
                    <a:pt x="0" y="29"/>
                  </a:moveTo>
                  <a:lnTo>
                    <a:pt x="80" y="0"/>
                  </a:lnTo>
                  <a:lnTo>
                    <a:pt x="83" y="31"/>
                  </a:lnTo>
                  <a:lnTo>
                    <a:pt x="0" y="29"/>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803" name="Line 73"/>
          <p:cNvSpPr/>
          <p:nvPr/>
        </p:nvSpPr>
        <p:spPr>
          <a:xfrm>
            <a:off x="7599363" y="5173663"/>
            <a:ext cx="155575" cy="1587"/>
          </a:xfrm>
          <a:prstGeom prst="line">
            <a:avLst/>
          </a:prstGeom>
          <a:ln w="15875" cap="flat" cmpd="sng">
            <a:solidFill>
              <a:srgbClr val="000000"/>
            </a:solidFill>
            <a:prstDash val="solid"/>
            <a:bevel/>
            <a:headEnd type="none" w="med" len="med"/>
            <a:tailEnd type="none" w="med" len="med"/>
          </a:ln>
        </p:spPr>
      </p:sp>
      <p:sp>
        <p:nvSpPr>
          <p:cNvPr id="202804" name="Oval 74"/>
          <p:cNvSpPr/>
          <p:nvPr/>
        </p:nvSpPr>
        <p:spPr>
          <a:xfrm>
            <a:off x="7764463" y="5127625"/>
            <a:ext cx="115887" cy="119063"/>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05" name="Rectangle 75"/>
          <p:cNvSpPr/>
          <p:nvPr/>
        </p:nvSpPr>
        <p:spPr>
          <a:xfrm>
            <a:off x="7974013" y="504031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IR3</a:t>
            </a:r>
            <a:endParaRPr lang="en-US" altLang="zh-CN" sz="1800" b="0" dirty="0">
              <a:solidFill>
                <a:schemeClr val="tx1"/>
              </a:solidFill>
              <a:ea typeface="楷体_GB2312"/>
            </a:endParaRPr>
          </a:p>
        </p:txBody>
      </p:sp>
      <p:grpSp>
        <p:nvGrpSpPr>
          <p:cNvPr id="202806" name="Group 78"/>
          <p:cNvGrpSpPr/>
          <p:nvPr/>
        </p:nvGrpSpPr>
        <p:grpSpPr>
          <a:xfrm>
            <a:off x="7467600" y="5335588"/>
            <a:ext cx="131763" cy="103187"/>
            <a:chOff x="0" y="0"/>
            <a:chExt cx="83" cy="65"/>
          </a:xfrm>
        </p:grpSpPr>
        <p:sp>
          <p:nvSpPr>
            <p:cNvPr id="202961" name="Freeform 76"/>
            <p:cNvSpPr/>
            <p:nvPr/>
          </p:nvSpPr>
          <p:spPr>
            <a:xfrm>
              <a:off x="0" y="33"/>
              <a:ext cx="83" cy="32"/>
            </a:xfrm>
            <a:custGeom>
              <a:avLst/>
              <a:gdLst/>
              <a:ahLst/>
              <a:cxnLst>
                <a:cxn ang="0">
                  <a:pos x="0" y="3"/>
                </a:cxn>
                <a:cxn ang="0">
                  <a:pos x="80" y="32"/>
                </a:cxn>
                <a:cxn ang="0">
                  <a:pos x="83" y="0"/>
                </a:cxn>
                <a:cxn ang="0">
                  <a:pos x="0" y="3"/>
                </a:cxn>
              </a:cxnLst>
              <a:pathLst>
                <a:path w="83" h="32">
                  <a:moveTo>
                    <a:pt x="0" y="3"/>
                  </a:moveTo>
                  <a:lnTo>
                    <a:pt x="80" y="32"/>
                  </a:lnTo>
                  <a:lnTo>
                    <a:pt x="83" y="0"/>
                  </a:lnTo>
                  <a:lnTo>
                    <a:pt x="0" y="3"/>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62" name="Freeform 77"/>
            <p:cNvSpPr/>
            <p:nvPr/>
          </p:nvSpPr>
          <p:spPr>
            <a:xfrm>
              <a:off x="0" y="0"/>
              <a:ext cx="83" cy="31"/>
            </a:xfrm>
            <a:custGeom>
              <a:avLst/>
              <a:gdLst/>
              <a:ahLst/>
              <a:cxnLst>
                <a:cxn ang="0">
                  <a:pos x="0" y="29"/>
                </a:cxn>
                <a:cxn ang="0">
                  <a:pos x="80" y="0"/>
                </a:cxn>
                <a:cxn ang="0">
                  <a:pos x="83" y="31"/>
                </a:cxn>
                <a:cxn ang="0">
                  <a:pos x="0" y="29"/>
                </a:cxn>
              </a:cxnLst>
              <a:pathLst>
                <a:path w="83" h="31">
                  <a:moveTo>
                    <a:pt x="0" y="29"/>
                  </a:moveTo>
                  <a:lnTo>
                    <a:pt x="80" y="0"/>
                  </a:lnTo>
                  <a:lnTo>
                    <a:pt x="83" y="31"/>
                  </a:lnTo>
                  <a:lnTo>
                    <a:pt x="0" y="29"/>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807" name="Oval 79"/>
          <p:cNvSpPr/>
          <p:nvPr/>
        </p:nvSpPr>
        <p:spPr>
          <a:xfrm>
            <a:off x="7773988" y="5340350"/>
            <a:ext cx="114300" cy="120650"/>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08" name="Rectangle 80"/>
          <p:cNvSpPr/>
          <p:nvPr/>
        </p:nvSpPr>
        <p:spPr>
          <a:xfrm>
            <a:off x="7966075" y="5254625"/>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IR4</a:t>
            </a:r>
            <a:endParaRPr lang="en-US" altLang="zh-CN" sz="1800" b="0" dirty="0">
              <a:solidFill>
                <a:schemeClr val="tx1"/>
              </a:solidFill>
              <a:ea typeface="楷体_GB2312"/>
            </a:endParaRPr>
          </a:p>
        </p:txBody>
      </p:sp>
      <p:grpSp>
        <p:nvGrpSpPr>
          <p:cNvPr id="202809" name="Group 83"/>
          <p:cNvGrpSpPr/>
          <p:nvPr/>
        </p:nvGrpSpPr>
        <p:grpSpPr>
          <a:xfrm>
            <a:off x="7467600" y="5541963"/>
            <a:ext cx="131763" cy="103187"/>
            <a:chOff x="0" y="0"/>
            <a:chExt cx="83" cy="65"/>
          </a:xfrm>
        </p:grpSpPr>
        <p:sp>
          <p:nvSpPr>
            <p:cNvPr id="202959" name="Freeform 81"/>
            <p:cNvSpPr/>
            <p:nvPr/>
          </p:nvSpPr>
          <p:spPr>
            <a:xfrm>
              <a:off x="0" y="34"/>
              <a:ext cx="83" cy="31"/>
            </a:xfrm>
            <a:custGeom>
              <a:avLst/>
              <a:gdLst/>
              <a:ahLst/>
              <a:cxnLst>
                <a:cxn ang="0">
                  <a:pos x="0" y="2"/>
                </a:cxn>
                <a:cxn ang="0">
                  <a:pos x="80" y="31"/>
                </a:cxn>
                <a:cxn ang="0">
                  <a:pos x="83" y="0"/>
                </a:cxn>
                <a:cxn ang="0">
                  <a:pos x="0" y="2"/>
                </a:cxn>
              </a:cxnLst>
              <a:pathLst>
                <a:path w="83" h="31">
                  <a:moveTo>
                    <a:pt x="0" y="2"/>
                  </a:moveTo>
                  <a:lnTo>
                    <a:pt x="80" y="31"/>
                  </a:lnTo>
                  <a:lnTo>
                    <a:pt x="83" y="0"/>
                  </a:lnTo>
                  <a:lnTo>
                    <a:pt x="0" y="2"/>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60" name="Freeform 82"/>
            <p:cNvSpPr/>
            <p:nvPr/>
          </p:nvSpPr>
          <p:spPr>
            <a:xfrm>
              <a:off x="0" y="0"/>
              <a:ext cx="83" cy="32"/>
            </a:xfrm>
            <a:custGeom>
              <a:avLst/>
              <a:gdLst/>
              <a:ahLst/>
              <a:cxnLst>
                <a:cxn ang="0">
                  <a:pos x="0" y="29"/>
                </a:cxn>
                <a:cxn ang="0">
                  <a:pos x="80" y="0"/>
                </a:cxn>
                <a:cxn ang="0">
                  <a:pos x="83" y="32"/>
                </a:cxn>
                <a:cxn ang="0">
                  <a:pos x="0" y="29"/>
                </a:cxn>
              </a:cxnLst>
              <a:pathLst>
                <a:path w="83" h="32">
                  <a:moveTo>
                    <a:pt x="0" y="29"/>
                  </a:moveTo>
                  <a:lnTo>
                    <a:pt x="80" y="0"/>
                  </a:lnTo>
                  <a:lnTo>
                    <a:pt x="83" y="32"/>
                  </a:lnTo>
                  <a:lnTo>
                    <a:pt x="0" y="29"/>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810" name="Oval 84"/>
          <p:cNvSpPr/>
          <p:nvPr/>
        </p:nvSpPr>
        <p:spPr>
          <a:xfrm>
            <a:off x="7773988" y="5548313"/>
            <a:ext cx="114300" cy="119062"/>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11" name="Rectangle 85"/>
          <p:cNvSpPr/>
          <p:nvPr/>
        </p:nvSpPr>
        <p:spPr>
          <a:xfrm>
            <a:off x="7964488" y="5475288"/>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IR5</a:t>
            </a:r>
            <a:endParaRPr lang="en-US" altLang="zh-CN" sz="1800" b="0" dirty="0">
              <a:solidFill>
                <a:schemeClr val="tx1"/>
              </a:solidFill>
              <a:ea typeface="楷体_GB2312"/>
            </a:endParaRPr>
          </a:p>
        </p:txBody>
      </p:sp>
      <p:grpSp>
        <p:nvGrpSpPr>
          <p:cNvPr id="202812" name="Group 88"/>
          <p:cNvGrpSpPr/>
          <p:nvPr/>
        </p:nvGrpSpPr>
        <p:grpSpPr>
          <a:xfrm>
            <a:off x="7467600" y="5748338"/>
            <a:ext cx="131763" cy="104775"/>
            <a:chOff x="0" y="0"/>
            <a:chExt cx="83" cy="66"/>
          </a:xfrm>
        </p:grpSpPr>
        <p:sp>
          <p:nvSpPr>
            <p:cNvPr id="202957" name="Freeform 86"/>
            <p:cNvSpPr/>
            <p:nvPr/>
          </p:nvSpPr>
          <p:spPr>
            <a:xfrm>
              <a:off x="0" y="34"/>
              <a:ext cx="83" cy="32"/>
            </a:xfrm>
            <a:custGeom>
              <a:avLst/>
              <a:gdLst/>
              <a:ahLst/>
              <a:cxnLst>
                <a:cxn ang="0">
                  <a:pos x="0" y="2"/>
                </a:cxn>
                <a:cxn ang="0">
                  <a:pos x="80" y="32"/>
                </a:cxn>
                <a:cxn ang="0">
                  <a:pos x="83" y="0"/>
                </a:cxn>
                <a:cxn ang="0">
                  <a:pos x="0" y="2"/>
                </a:cxn>
              </a:cxnLst>
              <a:pathLst>
                <a:path w="83" h="32">
                  <a:moveTo>
                    <a:pt x="0" y="2"/>
                  </a:moveTo>
                  <a:lnTo>
                    <a:pt x="80" y="32"/>
                  </a:lnTo>
                  <a:lnTo>
                    <a:pt x="83" y="0"/>
                  </a:lnTo>
                  <a:lnTo>
                    <a:pt x="0" y="2"/>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58" name="Freeform 87"/>
            <p:cNvSpPr/>
            <p:nvPr/>
          </p:nvSpPr>
          <p:spPr>
            <a:xfrm>
              <a:off x="0" y="0"/>
              <a:ext cx="83" cy="32"/>
            </a:xfrm>
            <a:custGeom>
              <a:avLst/>
              <a:gdLst/>
              <a:ahLst/>
              <a:cxnLst>
                <a:cxn ang="0">
                  <a:pos x="0" y="30"/>
                </a:cxn>
                <a:cxn ang="0">
                  <a:pos x="80" y="0"/>
                </a:cxn>
                <a:cxn ang="0">
                  <a:pos x="83" y="32"/>
                </a:cxn>
                <a:cxn ang="0">
                  <a:pos x="0" y="30"/>
                </a:cxn>
              </a:cxnLst>
              <a:pathLst>
                <a:path w="83" h="32">
                  <a:moveTo>
                    <a:pt x="0" y="30"/>
                  </a:moveTo>
                  <a:lnTo>
                    <a:pt x="80" y="0"/>
                  </a:lnTo>
                  <a:lnTo>
                    <a:pt x="83" y="32"/>
                  </a:lnTo>
                  <a:lnTo>
                    <a:pt x="0" y="30"/>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813" name="Oval 89"/>
          <p:cNvSpPr/>
          <p:nvPr/>
        </p:nvSpPr>
        <p:spPr>
          <a:xfrm>
            <a:off x="7773988" y="5754688"/>
            <a:ext cx="114300" cy="120650"/>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14" name="Rectangle 90"/>
          <p:cNvSpPr/>
          <p:nvPr/>
        </p:nvSpPr>
        <p:spPr>
          <a:xfrm>
            <a:off x="7967663" y="5683250"/>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IR6</a:t>
            </a:r>
            <a:endParaRPr lang="en-US" altLang="zh-CN" sz="1800" b="0" dirty="0">
              <a:solidFill>
                <a:schemeClr val="tx1"/>
              </a:solidFill>
              <a:ea typeface="楷体_GB2312"/>
            </a:endParaRPr>
          </a:p>
        </p:txBody>
      </p:sp>
      <p:grpSp>
        <p:nvGrpSpPr>
          <p:cNvPr id="202815" name="Group 93"/>
          <p:cNvGrpSpPr/>
          <p:nvPr/>
        </p:nvGrpSpPr>
        <p:grpSpPr>
          <a:xfrm>
            <a:off x="7475538" y="5956300"/>
            <a:ext cx="131762" cy="103188"/>
            <a:chOff x="0" y="0"/>
            <a:chExt cx="83" cy="65"/>
          </a:xfrm>
        </p:grpSpPr>
        <p:sp>
          <p:nvSpPr>
            <p:cNvPr id="202955" name="Freeform 91"/>
            <p:cNvSpPr/>
            <p:nvPr/>
          </p:nvSpPr>
          <p:spPr>
            <a:xfrm>
              <a:off x="0" y="34"/>
              <a:ext cx="83" cy="31"/>
            </a:xfrm>
            <a:custGeom>
              <a:avLst/>
              <a:gdLst/>
              <a:ahLst/>
              <a:cxnLst>
                <a:cxn ang="0">
                  <a:pos x="0" y="2"/>
                </a:cxn>
                <a:cxn ang="0">
                  <a:pos x="80" y="31"/>
                </a:cxn>
                <a:cxn ang="0">
                  <a:pos x="83" y="0"/>
                </a:cxn>
                <a:cxn ang="0">
                  <a:pos x="0" y="2"/>
                </a:cxn>
              </a:cxnLst>
              <a:pathLst>
                <a:path w="83" h="31">
                  <a:moveTo>
                    <a:pt x="0" y="2"/>
                  </a:moveTo>
                  <a:lnTo>
                    <a:pt x="80" y="31"/>
                  </a:lnTo>
                  <a:lnTo>
                    <a:pt x="83" y="0"/>
                  </a:lnTo>
                  <a:lnTo>
                    <a:pt x="0" y="2"/>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56" name="Freeform 92"/>
            <p:cNvSpPr/>
            <p:nvPr/>
          </p:nvSpPr>
          <p:spPr>
            <a:xfrm>
              <a:off x="0" y="0"/>
              <a:ext cx="83" cy="31"/>
            </a:xfrm>
            <a:custGeom>
              <a:avLst/>
              <a:gdLst/>
              <a:ahLst/>
              <a:cxnLst>
                <a:cxn ang="0">
                  <a:pos x="0" y="29"/>
                </a:cxn>
                <a:cxn ang="0">
                  <a:pos x="80" y="0"/>
                </a:cxn>
                <a:cxn ang="0">
                  <a:pos x="83" y="31"/>
                </a:cxn>
                <a:cxn ang="0">
                  <a:pos x="0" y="29"/>
                </a:cxn>
              </a:cxnLst>
              <a:pathLst>
                <a:path w="83" h="31">
                  <a:moveTo>
                    <a:pt x="0" y="29"/>
                  </a:moveTo>
                  <a:lnTo>
                    <a:pt x="80" y="0"/>
                  </a:lnTo>
                  <a:lnTo>
                    <a:pt x="83" y="31"/>
                  </a:lnTo>
                  <a:lnTo>
                    <a:pt x="0" y="29"/>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816" name="Oval 94"/>
          <p:cNvSpPr/>
          <p:nvPr/>
        </p:nvSpPr>
        <p:spPr>
          <a:xfrm>
            <a:off x="7781925" y="5962650"/>
            <a:ext cx="115888" cy="119063"/>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17" name="Rectangle 95"/>
          <p:cNvSpPr/>
          <p:nvPr/>
        </p:nvSpPr>
        <p:spPr>
          <a:xfrm>
            <a:off x="7975600" y="590391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IR7</a:t>
            </a:r>
            <a:endParaRPr lang="en-US" altLang="zh-CN" sz="1800" b="0" dirty="0">
              <a:solidFill>
                <a:schemeClr val="tx1"/>
              </a:solidFill>
              <a:ea typeface="楷体_GB2312"/>
            </a:endParaRPr>
          </a:p>
        </p:txBody>
      </p:sp>
      <p:grpSp>
        <p:nvGrpSpPr>
          <p:cNvPr id="202818" name="Group 98"/>
          <p:cNvGrpSpPr/>
          <p:nvPr/>
        </p:nvGrpSpPr>
        <p:grpSpPr>
          <a:xfrm>
            <a:off x="3498850" y="2697163"/>
            <a:ext cx="107950" cy="225425"/>
            <a:chOff x="0" y="0"/>
            <a:chExt cx="68" cy="142"/>
          </a:xfrm>
        </p:grpSpPr>
        <p:sp>
          <p:nvSpPr>
            <p:cNvPr id="202953" name="Freeform 96"/>
            <p:cNvSpPr/>
            <p:nvPr/>
          </p:nvSpPr>
          <p:spPr>
            <a:xfrm>
              <a:off x="8" y="81"/>
              <a:ext cx="60" cy="61"/>
            </a:xfrm>
            <a:custGeom>
              <a:avLst/>
              <a:gdLst/>
              <a:ahLst/>
              <a:cxnLst>
                <a:cxn ang="0">
                  <a:pos x="0" y="0"/>
                </a:cxn>
                <a:cxn ang="0">
                  <a:pos x="60" y="61"/>
                </a:cxn>
                <a:cxn ang="0">
                  <a:pos x="60" y="18"/>
                </a:cxn>
              </a:cxnLst>
              <a:pathLst>
                <a:path w="60" h="61">
                  <a:moveTo>
                    <a:pt x="0" y="0"/>
                  </a:moveTo>
                  <a:lnTo>
                    <a:pt x="60" y="61"/>
                  </a:lnTo>
                  <a:lnTo>
                    <a:pt x="60" y="18"/>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54" name="Freeform 97"/>
            <p:cNvSpPr/>
            <p:nvPr/>
          </p:nvSpPr>
          <p:spPr>
            <a:xfrm>
              <a:off x="0" y="0"/>
              <a:ext cx="65" cy="79"/>
            </a:xfrm>
            <a:custGeom>
              <a:avLst/>
              <a:gdLst/>
              <a:ahLst/>
              <a:cxnLst>
                <a:cxn ang="0">
                  <a:pos x="0" y="79"/>
                </a:cxn>
                <a:cxn ang="0">
                  <a:pos x="65" y="0"/>
                </a:cxn>
                <a:cxn ang="0">
                  <a:pos x="65" y="40"/>
                </a:cxn>
              </a:cxnLst>
              <a:pathLst>
                <a:path w="65" h="79">
                  <a:moveTo>
                    <a:pt x="0" y="79"/>
                  </a:moveTo>
                  <a:lnTo>
                    <a:pt x="65" y="0"/>
                  </a:lnTo>
                  <a:lnTo>
                    <a:pt x="65" y="40"/>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819" name="Freeform 99"/>
          <p:cNvSpPr/>
          <p:nvPr/>
        </p:nvSpPr>
        <p:spPr>
          <a:xfrm>
            <a:off x="3860800" y="2817813"/>
            <a:ext cx="95250" cy="96837"/>
          </a:xfrm>
          <a:custGeom>
            <a:avLst/>
            <a:gdLst/>
            <a:ahLst/>
            <a:cxnLst>
              <a:cxn ang="0">
                <a:pos x="2147483646" y="0"/>
              </a:cxn>
              <a:cxn ang="0">
                <a:pos x="0" y="2147483646"/>
              </a:cxn>
              <a:cxn ang="0">
                <a:pos x="0" y="2147483646"/>
              </a:cxn>
            </a:cxnLst>
            <a:pathLst>
              <a:path w="60" h="61">
                <a:moveTo>
                  <a:pt x="60" y="0"/>
                </a:moveTo>
                <a:lnTo>
                  <a:pt x="0" y="61"/>
                </a:lnTo>
                <a:lnTo>
                  <a:pt x="0" y="18"/>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820" name="Freeform 100"/>
          <p:cNvSpPr/>
          <p:nvPr/>
        </p:nvSpPr>
        <p:spPr>
          <a:xfrm>
            <a:off x="3865563" y="2689225"/>
            <a:ext cx="103187" cy="125413"/>
          </a:xfrm>
          <a:custGeom>
            <a:avLst/>
            <a:gdLst/>
            <a:ahLst/>
            <a:cxnLst>
              <a:cxn ang="0">
                <a:pos x="2147483646" y="2147483646"/>
              </a:cxn>
              <a:cxn ang="0">
                <a:pos x="0" y="0"/>
              </a:cxn>
              <a:cxn ang="0">
                <a:pos x="0" y="2147483646"/>
              </a:cxn>
            </a:cxnLst>
            <a:pathLst>
              <a:path w="65" h="79">
                <a:moveTo>
                  <a:pt x="65" y="79"/>
                </a:moveTo>
                <a:lnTo>
                  <a:pt x="0" y="0"/>
                </a:lnTo>
                <a:lnTo>
                  <a:pt x="0" y="41"/>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821" name="Line 101"/>
          <p:cNvSpPr/>
          <p:nvPr/>
        </p:nvSpPr>
        <p:spPr>
          <a:xfrm flipH="1">
            <a:off x="3613150" y="2770188"/>
            <a:ext cx="250825" cy="1587"/>
          </a:xfrm>
          <a:prstGeom prst="line">
            <a:avLst/>
          </a:prstGeom>
          <a:ln w="15875" cap="flat" cmpd="sng">
            <a:solidFill>
              <a:srgbClr val="000000"/>
            </a:solidFill>
            <a:prstDash val="solid"/>
            <a:bevel/>
            <a:headEnd type="none" w="med" len="med"/>
            <a:tailEnd type="none" w="med" len="med"/>
          </a:ln>
        </p:spPr>
      </p:sp>
      <p:sp>
        <p:nvSpPr>
          <p:cNvPr id="202822" name="Line 102"/>
          <p:cNvSpPr/>
          <p:nvPr/>
        </p:nvSpPr>
        <p:spPr>
          <a:xfrm>
            <a:off x="3616325" y="2844800"/>
            <a:ext cx="58738" cy="1588"/>
          </a:xfrm>
          <a:prstGeom prst="line">
            <a:avLst/>
          </a:prstGeom>
          <a:ln w="15875" cap="flat" cmpd="sng">
            <a:solidFill>
              <a:srgbClr val="000000"/>
            </a:solidFill>
            <a:prstDash val="solid"/>
            <a:bevel/>
            <a:headEnd type="none" w="med" len="med"/>
            <a:tailEnd type="none" w="med" len="med"/>
          </a:ln>
        </p:spPr>
      </p:sp>
      <p:sp>
        <p:nvSpPr>
          <p:cNvPr id="202823" name="Line 103"/>
          <p:cNvSpPr/>
          <p:nvPr/>
        </p:nvSpPr>
        <p:spPr>
          <a:xfrm flipH="1">
            <a:off x="3784600" y="2847975"/>
            <a:ext cx="71438" cy="1588"/>
          </a:xfrm>
          <a:prstGeom prst="line">
            <a:avLst/>
          </a:prstGeom>
          <a:ln w="15875" cap="flat" cmpd="sng">
            <a:solidFill>
              <a:srgbClr val="000000"/>
            </a:solidFill>
            <a:prstDash val="solid"/>
            <a:bevel/>
            <a:headEnd type="none" w="med" len="med"/>
            <a:tailEnd type="none" w="med" len="med"/>
          </a:ln>
        </p:spPr>
      </p:sp>
      <p:sp>
        <p:nvSpPr>
          <p:cNvPr id="202824" name="Line 104"/>
          <p:cNvSpPr/>
          <p:nvPr/>
        </p:nvSpPr>
        <p:spPr>
          <a:xfrm>
            <a:off x="3784600" y="2847975"/>
            <a:ext cx="1588" cy="1263650"/>
          </a:xfrm>
          <a:prstGeom prst="line">
            <a:avLst/>
          </a:prstGeom>
          <a:ln w="15875" cap="flat" cmpd="sng">
            <a:solidFill>
              <a:srgbClr val="000000"/>
            </a:solidFill>
            <a:prstDash val="solid"/>
            <a:bevel/>
            <a:headEnd type="none" w="med" len="med"/>
            <a:tailEnd type="none" w="med" len="med"/>
          </a:ln>
        </p:spPr>
      </p:sp>
      <p:grpSp>
        <p:nvGrpSpPr>
          <p:cNvPr id="202825" name="Group 111"/>
          <p:cNvGrpSpPr/>
          <p:nvPr/>
        </p:nvGrpSpPr>
        <p:grpSpPr>
          <a:xfrm>
            <a:off x="3686175" y="6083300"/>
            <a:ext cx="477838" cy="257175"/>
            <a:chOff x="0" y="0"/>
            <a:chExt cx="301" cy="162"/>
          </a:xfrm>
        </p:grpSpPr>
        <p:sp>
          <p:nvSpPr>
            <p:cNvPr id="202947" name="Line 105"/>
            <p:cNvSpPr/>
            <p:nvPr/>
          </p:nvSpPr>
          <p:spPr>
            <a:xfrm>
              <a:off x="62" y="54"/>
              <a:ext cx="125" cy="1"/>
            </a:xfrm>
            <a:prstGeom prst="line">
              <a:avLst/>
            </a:prstGeom>
            <a:ln w="15875" cap="flat" cmpd="sng">
              <a:solidFill>
                <a:srgbClr val="000000"/>
              </a:solidFill>
              <a:prstDash val="solid"/>
              <a:bevel/>
              <a:headEnd type="none" w="med" len="med"/>
              <a:tailEnd type="none" w="med" len="med"/>
            </a:ln>
          </p:spPr>
        </p:sp>
        <p:sp>
          <p:nvSpPr>
            <p:cNvPr id="202948" name="Line 106"/>
            <p:cNvSpPr/>
            <p:nvPr/>
          </p:nvSpPr>
          <p:spPr>
            <a:xfrm>
              <a:off x="0" y="54"/>
              <a:ext cx="1" cy="54"/>
            </a:xfrm>
            <a:prstGeom prst="line">
              <a:avLst/>
            </a:prstGeom>
            <a:ln w="15875" cap="flat" cmpd="sng">
              <a:solidFill>
                <a:srgbClr val="000000"/>
              </a:solidFill>
              <a:prstDash val="solid"/>
              <a:bevel/>
              <a:headEnd type="none" w="med" len="med"/>
              <a:tailEnd type="none" w="med" len="med"/>
            </a:ln>
          </p:spPr>
        </p:sp>
        <p:sp>
          <p:nvSpPr>
            <p:cNvPr id="202949" name="Line 107"/>
            <p:cNvSpPr/>
            <p:nvPr/>
          </p:nvSpPr>
          <p:spPr>
            <a:xfrm>
              <a:off x="0" y="108"/>
              <a:ext cx="187" cy="1"/>
            </a:xfrm>
            <a:prstGeom prst="line">
              <a:avLst/>
            </a:prstGeom>
            <a:ln w="15875" cap="flat" cmpd="sng">
              <a:solidFill>
                <a:srgbClr val="000000"/>
              </a:solidFill>
              <a:prstDash val="solid"/>
              <a:bevel/>
              <a:headEnd type="none" w="med" len="med"/>
              <a:tailEnd type="none" w="med" len="med"/>
            </a:ln>
          </p:spPr>
        </p:sp>
        <p:grpSp>
          <p:nvGrpSpPr>
            <p:cNvPr id="202950" name="Group 110"/>
            <p:cNvGrpSpPr/>
            <p:nvPr/>
          </p:nvGrpSpPr>
          <p:grpSpPr>
            <a:xfrm>
              <a:off x="187" y="0"/>
              <a:ext cx="114" cy="162"/>
              <a:chOff x="0" y="0"/>
              <a:chExt cx="114" cy="162"/>
            </a:xfrm>
          </p:grpSpPr>
          <p:sp>
            <p:nvSpPr>
              <p:cNvPr id="202951" name="Freeform 108"/>
              <p:cNvSpPr/>
              <p:nvPr/>
            </p:nvSpPr>
            <p:spPr>
              <a:xfrm>
                <a:off x="0" y="92"/>
                <a:ext cx="101" cy="70"/>
              </a:xfrm>
              <a:custGeom>
                <a:avLst/>
                <a:gdLst/>
                <a:ahLst/>
                <a:cxnLst>
                  <a:cxn ang="0">
                    <a:pos x="101" y="0"/>
                  </a:cxn>
                  <a:cxn ang="0">
                    <a:pos x="0" y="70"/>
                  </a:cxn>
                  <a:cxn ang="0">
                    <a:pos x="0" y="21"/>
                  </a:cxn>
                </a:cxnLst>
                <a:pathLst>
                  <a:path w="101" h="70">
                    <a:moveTo>
                      <a:pt x="101" y="0"/>
                    </a:moveTo>
                    <a:lnTo>
                      <a:pt x="0" y="70"/>
                    </a:lnTo>
                    <a:lnTo>
                      <a:pt x="0" y="21"/>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52" name="Freeform 109"/>
              <p:cNvSpPr/>
              <p:nvPr/>
            </p:nvSpPr>
            <p:spPr>
              <a:xfrm>
                <a:off x="4" y="0"/>
                <a:ext cx="110" cy="90"/>
              </a:xfrm>
              <a:custGeom>
                <a:avLst/>
                <a:gdLst/>
                <a:ahLst/>
                <a:cxnLst>
                  <a:cxn ang="0">
                    <a:pos x="110" y="90"/>
                  </a:cxn>
                  <a:cxn ang="0">
                    <a:pos x="0" y="0"/>
                  </a:cxn>
                  <a:cxn ang="0">
                    <a:pos x="0" y="46"/>
                  </a:cxn>
                </a:cxnLst>
                <a:pathLst>
                  <a:path w="110" h="90">
                    <a:moveTo>
                      <a:pt x="110" y="90"/>
                    </a:moveTo>
                    <a:lnTo>
                      <a:pt x="0" y="0"/>
                    </a:lnTo>
                    <a:lnTo>
                      <a:pt x="0" y="46"/>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grpSp>
      </p:grpSp>
      <p:sp>
        <p:nvSpPr>
          <p:cNvPr id="202826" name="Rectangle 112"/>
          <p:cNvSpPr/>
          <p:nvPr/>
        </p:nvSpPr>
        <p:spPr>
          <a:xfrm>
            <a:off x="3965575" y="4541838"/>
            <a:ext cx="1084263" cy="1025525"/>
          </a:xfrm>
          <a:prstGeom prst="rect">
            <a:avLst/>
          </a:prstGeom>
          <a:solidFill>
            <a:srgbClr val="CCFF66"/>
          </a:solidFill>
          <a:ln w="254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27" name="Rectangle 113"/>
          <p:cNvSpPr/>
          <p:nvPr/>
        </p:nvSpPr>
        <p:spPr>
          <a:xfrm>
            <a:off x="3927475" y="4633913"/>
            <a:ext cx="1092200"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chemeClr val="tx1"/>
                </a:solidFill>
                <a:ea typeface="楷体_GB2312"/>
              </a:rPr>
              <a:t> </a:t>
            </a:r>
            <a:r>
              <a:rPr lang="zh-CN" altLang="en-US" sz="2000" b="0" dirty="0">
                <a:solidFill>
                  <a:schemeClr val="tx1"/>
                </a:solidFill>
                <a:ea typeface="楷体_GB2312"/>
              </a:rPr>
              <a:t>中断服务</a:t>
            </a:r>
            <a:endParaRPr lang="zh-CN" altLang="en-US" sz="2000" b="0" dirty="0">
              <a:solidFill>
                <a:schemeClr val="tx1"/>
              </a:solidFill>
              <a:ea typeface="楷体_GB2312"/>
            </a:endParaRPr>
          </a:p>
        </p:txBody>
      </p:sp>
      <p:sp>
        <p:nvSpPr>
          <p:cNvPr id="202828" name="Rectangle 115"/>
          <p:cNvSpPr/>
          <p:nvPr/>
        </p:nvSpPr>
        <p:spPr>
          <a:xfrm>
            <a:off x="4127500" y="4918075"/>
            <a:ext cx="766763"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寄存器</a:t>
            </a:r>
            <a:endParaRPr lang="zh-CN" altLang="en-US" sz="2000" b="0" dirty="0">
              <a:solidFill>
                <a:schemeClr val="tx1"/>
              </a:solidFill>
              <a:ea typeface="楷体_GB2312"/>
            </a:endParaRPr>
          </a:p>
        </p:txBody>
      </p:sp>
      <p:sp>
        <p:nvSpPr>
          <p:cNvPr id="202829" name="Rectangle 116"/>
          <p:cNvSpPr/>
          <p:nvPr/>
        </p:nvSpPr>
        <p:spPr>
          <a:xfrm>
            <a:off x="4054475" y="5264150"/>
            <a:ext cx="935038"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a:t>
            </a:r>
            <a:r>
              <a:rPr lang="en-US" altLang="zh-CN" sz="2000" b="0" dirty="0">
                <a:solidFill>
                  <a:schemeClr val="tx1"/>
                </a:solidFill>
                <a:ea typeface="楷体_GB2312"/>
              </a:rPr>
              <a:t>ISR</a:t>
            </a:r>
            <a:r>
              <a:rPr lang="zh-CN" altLang="en-US" sz="2000" b="0" dirty="0">
                <a:solidFill>
                  <a:schemeClr val="tx1"/>
                </a:solidFill>
                <a:ea typeface="楷体_GB2312"/>
              </a:rPr>
              <a:t>）</a:t>
            </a:r>
            <a:endParaRPr lang="zh-CN" altLang="en-US" sz="2000" b="0" dirty="0">
              <a:solidFill>
                <a:schemeClr val="tx1"/>
              </a:solidFill>
              <a:ea typeface="楷体_GB2312"/>
            </a:endParaRPr>
          </a:p>
        </p:txBody>
      </p:sp>
      <p:sp>
        <p:nvSpPr>
          <p:cNvPr id="202830" name="Rectangle 118"/>
          <p:cNvSpPr/>
          <p:nvPr/>
        </p:nvSpPr>
        <p:spPr>
          <a:xfrm>
            <a:off x="5589588" y="4578350"/>
            <a:ext cx="511175"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中断</a:t>
            </a:r>
            <a:endParaRPr lang="zh-CN" altLang="en-US" sz="2000" b="0" dirty="0">
              <a:solidFill>
                <a:schemeClr val="tx1"/>
              </a:solidFill>
              <a:ea typeface="楷体_GB2312"/>
            </a:endParaRPr>
          </a:p>
        </p:txBody>
      </p:sp>
      <p:sp>
        <p:nvSpPr>
          <p:cNvPr id="202831" name="Rectangle 119"/>
          <p:cNvSpPr/>
          <p:nvPr/>
        </p:nvSpPr>
        <p:spPr>
          <a:xfrm>
            <a:off x="5595938" y="4835525"/>
            <a:ext cx="511175"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优先</a:t>
            </a:r>
            <a:endParaRPr lang="zh-CN" altLang="en-US" sz="2000" b="0" dirty="0">
              <a:solidFill>
                <a:schemeClr val="tx1"/>
              </a:solidFill>
              <a:ea typeface="楷体_GB2312"/>
            </a:endParaRPr>
          </a:p>
        </p:txBody>
      </p:sp>
      <p:sp>
        <p:nvSpPr>
          <p:cNvPr id="202832" name="Rectangle 120"/>
          <p:cNvSpPr/>
          <p:nvPr/>
        </p:nvSpPr>
        <p:spPr>
          <a:xfrm>
            <a:off x="5595938" y="5092700"/>
            <a:ext cx="511175"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级分</a:t>
            </a:r>
            <a:endParaRPr lang="zh-CN" altLang="en-US" sz="2000" b="0" dirty="0">
              <a:solidFill>
                <a:schemeClr val="tx1"/>
              </a:solidFill>
              <a:ea typeface="楷体_GB2312"/>
            </a:endParaRPr>
          </a:p>
        </p:txBody>
      </p:sp>
      <p:sp>
        <p:nvSpPr>
          <p:cNvPr id="202833" name="Rectangle 121"/>
          <p:cNvSpPr/>
          <p:nvPr/>
        </p:nvSpPr>
        <p:spPr>
          <a:xfrm>
            <a:off x="5595938" y="5349875"/>
            <a:ext cx="511175"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析器</a:t>
            </a:r>
            <a:endParaRPr lang="zh-CN" altLang="en-US" sz="2000" b="0" dirty="0">
              <a:solidFill>
                <a:schemeClr val="tx1"/>
              </a:solidFill>
              <a:ea typeface="楷体_GB2312"/>
            </a:endParaRPr>
          </a:p>
        </p:txBody>
      </p:sp>
      <p:sp>
        <p:nvSpPr>
          <p:cNvPr id="202834" name="Rectangle 123"/>
          <p:cNvSpPr/>
          <p:nvPr/>
        </p:nvSpPr>
        <p:spPr>
          <a:xfrm>
            <a:off x="4179888" y="6005513"/>
            <a:ext cx="2374900" cy="592137"/>
          </a:xfrm>
          <a:prstGeom prst="rect">
            <a:avLst/>
          </a:prstGeom>
          <a:solidFill>
            <a:srgbClr val="FFCCCC"/>
          </a:solidFill>
          <a:ln w="254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35" name="Rectangle 124"/>
          <p:cNvSpPr/>
          <p:nvPr/>
        </p:nvSpPr>
        <p:spPr>
          <a:xfrm>
            <a:off x="4502150" y="6026150"/>
            <a:ext cx="1789113"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中断屏蔽寄存器</a:t>
            </a:r>
            <a:endParaRPr lang="zh-CN" altLang="en-US" sz="2000" b="0" dirty="0">
              <a:solidFill>
                <a:schemeClr val="tx1"/>
              </a:solidFill>
              <a:ea typeface="楷体_GB2312"/>
            </a:endParaRPr>
          </a:p>
        </p:txBody>
      </p:sp>
      <p:sp>
        <p:nvSpPr>
          <p:cNvPr id="202836" name="Rectangle 125"/>
          <p:cNvSpPr/>
          <p:nvPr/>
        </p:nvSpPr>
        <p:spPr>
          <a:xfrm>
            <a:off x="4672013" y="6326188"/>
            <a:ext cx="1069975"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   </a:t>
            </a:r>
            <a:r>
              <a:rPr lang="zh-CN" altLang="en-US" sz="1800" b="0" dirty="0">
                <a:solidFill>
                  <a:schemeClr val="tx1"/>
                </a:solidFill>
                <a:ea typeface="楷体_GB2312"/>
              </a:rPr>
              <a:t>（</a:t>
            </a:r>
            <a:r>
              <a:rPr lang="en-US" altLang="zh-CN" sz="1800" b="0" dirty="0">
                <a:solidFill>
                  <a:schemeClr val="tx1"/>
                </a:solidFill>
                <a:ea typeface="楷体_GB2312"/>
              </a:rPr>
              <a:t>IMR</a:t>
            </a:r>
            <a:r>
              <a:rPr lang="zh-CN" altLang="en-US" sz="1800" b="0" dirty="0">
                <a:solidFill>
                  <a:schemeClr val="tx1"/>
                </a:solidFill>
                <a:ea typeface="楷体_GB2312"/>
              </a:rPr>
              <a:t>）</a:t>
            </a:r>
            <a:endParaRPr lang="zh-CN" altLang="en-US" sz="1800" b="0" dirty="0">
              <a:solidFill>
                <a:schemeClr val="tx1"/>
              </a:solidFill>
              <a:ea typeface="楷体_GB2312"/>
            </a:endParaRPr>
          </a:p>
        </p:txBody>
      </p:sp>
      <p:sp>
        <p:nvSpPr>
          <p:cNvPr id="202837" name="Freeform 126"/>
          <p:cNvSpPr/>
          <p:nvPr/>
        </p:nvSpPr>
        <p:spPr>
          <a:xfrm>
            <a:off x="5915025" y="5665788"/>
            <a:ext cx="127000" cy="138112"/>
          </a:xfrm>
          <a:custGeom>
            <a:avLst/>
            <a:gdLst/>
            <a:ahLst/>
            <a:cxnLst>
              <a:cxn ang="0">
                <a:pos x="0" y="0"/>
              </a:cxn>
              <a:cxn ang="0">
                <a:pos x="2147483646" y="2147483646"/>
              </a:cxn>
              <a:cxn ang="0">
                <a:pos x="2147483646" y="2147483646"/>
              </a:cxn>
            </a:cxnLst>
            <a:pathLst>
              <a:path w="80" h="87">
                <a:moveTo>
                  <a:pt x="0" y="0"/>
                </a:moveTo>
                <a:lnTo>
                  <a:pt x="80" y="87"/>
                </a:lnTo>
                <a:lnTo>
                  <a:pt x="25" y="87"/>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838" name="Freeform 127"/>
          <p:cNvSpPr/>
          <p:nvPr/>
        </p:nvSpPr>
        <p:spPr>
          <a:xfrm>
            <a:off x="5740400" y="5659438"/>
            <a:ext cx="165100" cy="152400"/>
          </a:xfrm>
          <a:custGeom>
            <a:avLst/>
            <a:gdLst/>
            <a:ahLst/>
            <a:cxnLst>
              <a:cxn ang="0">
                <a:pos x="2147483646" y="0"/>
              </a:cxn>
              <a:cxn ang="0">
                <a:pos x="0" y="2147483646"/>
              </a:cxn>
              <a:cxn ang="0">
                <a:pos x="2147483646" y="2147483646"/>
              </a:cxn>
            </a:cxnLst>
            <a:pathLst>
              <a:path w="104" h="96">
                <a:moveTo>
                  <a:pt x="104" y="0"/>
                </a:moveTo>
                <a:lnTo>
                  <a:pt x="0" y="96"/>
                </a:lnTo>
                <a:lnTo>
                  <a:pt x="53" y="96"/>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839" name="Freeform 128"/>
          <p:cNvSpPr/>
          <p:nvPr/>
        </p:nvSpPr>
        <p:spPr>
          <a:xfrm>
            <a:off x="6261100" y="5005388"/>
            <a:ext cx="160338" cy="109537"/>
          </a:xfrm>
          <a:custGeom>
            <a:avLst/>
            <a:gdLst/>
            <a:ahLst/>
            <a:cxnLst>
              <a:cxn ang="0">
                <a:pos x="0" y="2147483646"/>
              </a:cxn>
              <a:cxn ang="0">
                <a:pos x="2147483646" y="0"/>
              </a:cxn>
              <a:cxn ang="0">
                <a:pos x="2147483646" y="2147483646"/>
              </a:cxn>
            </a:cxnLst>
            <a:pathLst>
              <a:path w="101" h="69">
                <a:moveTo>
                  <a:pt x="0" y="69"/>
                </a:moveTo>
                <a:lnTo>
                  <a:pt x="101" y="0"/>
                </a:lnTo>
                <a:lnTo>
                  <a:pt x="101" y="48"/>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840" name="Freeform 129"/>
          <p:cNvSpPr/>
          <p:nvPr/>
        </p:nvSpPr>
        <p:spPr>
          <a:xfrm>
            <a:off x="6256338" y="5126038"/>
            <a:ext cx="174625" cy="142875"/>
          </a:xfrm>
          <a:custGeom>
            <a:avLst/>
            <a:gdLst/>
            <a:ahLst/>
            <a:cxnLst>
              <a:cxn ang="0">
                <a:pos x="0" y="0"/>
              </a:cxn>
              <a:cxn ang="0">
                <a:pos x="2147483646" y="2147483646"/>
              </a:cxn>
              <a:cxn ang="0">
                <a:pos x="2147483646" y="2147483646"/>
              </a:cxn>
            </a:cxnLst>
            <a:pathLst>
              <a:path w="110" h="90">
                <a:moveTo>
                  <a:pt x="0" y="0"/>
                </a:moveTo>
                <a:lnTo>
                  <a:pt x="110" y="90"/>
                </a:lnTo>
                <a:lnTo>
                  <a:pt x="110" y="44"/>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841" name="Freeform 130"/>
          <p:cNvSpPr/>
          <p:nvPr/>
        </p:nvSpPr>
        <p:spPr>
          <a:xfrm>
            <a:off x="4302125" y="4392613"/>
            <a:ext cx="127000" cy="139700"/>
          </a:xfrm>
          <a:custGeom>
            <a:avLst/>
            <a:gdLst/>
            <a:ahLst/>
            <a:cxnLst>
              <a:cxn ang="0">
                <a:pos x="0" y="2147483646"/>
              </a:cxn>
              <a:cxn ang="0">
                <a:pos x="2147483646" y="0"/>
              </a:cxn>
              <a:cxn ang="0">
                <a:pos x="2147483646" y="0"/>
              </a:cxn>
            </a:cxnLst>
            <a:pathLst>
              <a:path w="80" h="88">
                <a:moveTo>
                  <a:pt x="0" y="88"/>
                </a:moveTo>
                <a:lnTo>
                  <a:pt x="80" y="0"/>
                </a:lnTo>
                <a:lnTo>
                  <a:pt x="24" y="0"/>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842" name="Freeform 131"/>
          <p:cNvSpPr/>
          <p:nvPr/>
        </p:nvSpPr>
        <p:spPr>
          <a:xfrm>
            <a:off x="4130675" y="4389438"/>
            <a:ext cx="165100" cy="150812"/>
          </a:xfrm>
          <a:custGeom>
            <a:avLst/>
            <a:gdLst/>
            <a:ahLst/>
            <a:cxnLst>
              <a:cxn ang="0">
                <a:pos x="2147483646" y="2147483646"/>
              </a:cxn>
              <a:cxn ang="0">
                <a:pos x="0" y="0"/>
              </a:cxn>
              <a:cxn ang="0">
                <a:pos x="2147483646" y="0"/>
              </a:cxn>
            </a:cxnLst>
            <a:pathLst>
              <a:path w="104" h="95">
                <a:moveTo>
                  <a:pt x="104" y="95"/>
                </a:moveTo>
                <a:lnTo>
                  <a:pt x="0" y="0"/>
                </a:lnTo>
                <a:lnTo>
                  <a:pt x="53" y="0"/>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843" name="Line 132"/>
          <p:cNvSpPr/>
          <p:nvPr/>
        </p:nvSpPr>
        <p:spPr>
          <a:xfrm flipV="1">
            <a:off x="4337050" y="4197350"/>
            <a:ext cx="1588" cy="193675"/>
          </a:xfrm>
          <a:prstGeom prst="line">
            <a:avLst/>
          </a:prstGeom>
          <a:ln w="15875" cap="flat" cmpd="sng">
            <a:solidFill>
              <a:srgbClr val="000000"/>
            </a:solidFill>
            <a:prstDash val="solid"/>
            <a:bevel/>
            <a:headEnd type="none" w="med" len="med"/>
            <a:tailEnd type="none" w="med" len="med"/>
          </a:ln>
        </p:spPr>
      </p:sp>
      <p:sp>
        <p:nvSpPr>
          <p:cNvPr id="202844" name="Freeform 133"/>
          <p:cNvSpPr/>
          <p:nvPr/>
        </p:nvSpPr>
        <p:spPr>
          <a:xfrm>
            <a:off x="6794500" y="4356100"/>
            <a:ext cx="128588" cy="139700"/>
          </a:xfrm>
          <a:custGeom>
            <a:avLst/>
            <a:gdLst/>
            <a:ahLst/>
            <a:cxnLst>
              <a:cxn ang="0">
                <a:pos x="0" y="2147483646"/>
              </a:cxn>
              <a:cxn ang="0">
                <a:pos x="2147483646" y="0"/>
              </a:cxn>
              <a:cxn ang="0">
                <a:pos x="2147483646" y="0"/>
              </a:cxn>
            </a:cxnLst>
            <a:pathLst>
              <a:path w="81" h="88">
                <a:moveTo>
                  <a:pt x="0" y="88"/>
                </a:moveTo>
                <a:lnTo>
                  <a:pt x="81" y="0"/>
                </a:lnTo>
                <a:lnTo>
                  <a:pt x="25" y="0"/>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845" name="Freeform 134"/>
          <p:cNvSpPr/>
          <p:nvPr/>
        </p:nvSpPr>
        <p:spPr>
          <a:xfrm>
            <a:off x="6623050" y="4352925"/>
            <a:ext cx="163513" cy="152400"/>
          </a:xfrm>
          <a:custGeom>
            <a:avLst/>
            <a:gdLst/>
            <a:ahLst/>
            <a:cxnLst>
              <a:cxn ang="0">
                <a:pos x="2147483646" y="2147483646"/>
              </a:cxn>
              <a:cxn ang="0">
                <a:pos x="0" y="0"/>
              </a:cxn>
              <a:cxn ang="0">
                <a:pos x="2147483646" y="0"/>
              </a:cxn>
            </a:cxnLst>
            <a:pathLst>
              <a:path w="103" h="96">
                <a:moveTo>
                  <a:pt x="103" y="96"/>
                </a:moveTo>
                <a:lnTo>
                  <a:pt x="0" y="0"/>
                </a:lnTo>
                <a:lnTo>
                  <a:pt x="53" y="0"/>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grpSp>
        <p:nvGrpSpPr>
          <p:cNvPr id="202846" name="Group 137"/>
          <p:cNvGrpSpPr/>
          <p:nvPr/>
        </p:nvGrpSpPr>
        <p:grpSpPr>
          <a:xfrm>
            <a:off x="4611688" y="4416425"/>
            <a:ext cx="119062" cy="114300"/>
            <a:chOff x="0" y="0"/>
            <a:chExt cx="75" cy="72"/>
          </a:xfrm>
        </p:grpSpPr>
        <p:sp>
          <p:nvSpPr>
            <p:cNvPr id="202945" name="Freeform 135"/>
            <p:cNvSpPr/>
            <p:nvPr/>
          </p:nvSpPr>
          <p:spPr>
            <a:xfrm>
              <a:off x="39" y="0"/>
              <a:ext cx="36" cy="72"/>
            </a:xfrm>
            <a:custGeom>
              <a:avLst/>
              <a:gdLst/>
              <a:ahLst/>
              <a:cxnLst>
                <a:cxn ang="0">
                  <a:pos x="3" y="72"/>
                </a:cxn>
                <a:cxn ang="0">
                  <a:pos x="36" y="2"/>
                </a:cxn>
                <a:cxn ang="0">
                  <a:pos x="0" y="0"/>
                </a:cxn>
                <a:cxn ang="0">
                  <a:pos x="3" y="72"/>
                </a:cxn>
              </a:cxnLst>
              <a:pathLst>
                <a:path w="36" h="72">
                  <a:moveTo>
                    <a:pt x="3" y="72"/>
                  </a:moveTo>
                  <a:lnTo>
                    <a:pt x="36" y="2"/>
                  </a:lnTo>
                  <a:lnTo>
                    <a:pt x="0" y="0"/>
                  </a:lnTo>
                  <a:lnTo>
                    <a:pt x="3" y="72"/>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46" name="Freeform 136"/>
            <p:cNvSpPr/>
            <p:nvPr/>
          </p:nvSpPr>
          <p:spPr>
            <a:xfrm>
              <a:off x="0" y="0"/>
              <a:ext cx="36" cy="72"/>
            </a:xfrm>
            <a:custGeom>
              <a:avLst/>
              <a:gdLst/>
              <a:ahLst/>
              <a:cxnLst>
                <a:cxn ang="0">
                  <a:pos x="34" y="72"/>
                </a:cxn>
                <a:cxn ang="0">
                  <a:pos x="0" y="2"/>
                </a:cxn>
                <a:cxn ang="0">
                  <a:pos x="36" y="0"/>
                </a:cxn>
                <a:cxn ang="0">
                  <a:pos x="34" y="72"/>
                </a:cxn>
              </a:cxnLst>
              <a:pathLst>
                <a:path w="36" h="72">
                  <a:moveTo>
                    <a:pt x="34" y="72"/>
                  </a:moveTo>
                  <a:lnTo>
                    <a:pt x="0" y="2"/>
                  </a:lnTo>
                  <a:lnTo>
                    <a:pt x="36" y="0"/>
                  </a:lnTo>
                  <a:lnTo>
                    <a:pt x="34" y="72"/>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847" name="Line 138"/>
          <p:cNvSpPr/>
          <p:nvPr/>
        </p:nvSpPr>
        <p:spPr>
          <a:xfrm>
            <a:off x="4665663" y="4205288"/>
            <a:ext cx="1587" cy="206375"/>
          </a:xfrm>
          <a:prstGeom prst="line">
            <a:avLst/>
          </a:prstGeom>
          <a:ln w="15875" cap="flat" cmpd="sng">
            <a:solidFill>
              <a:srgbClr val="000000"/>
            </a:solidFill>
            <a:prstDash val="solid"/>
            <a:bevel/>
            <a:headEnd type="none" w="med" len="med"/>
            <a:tailEnd type="none" w="med" len="med"/>
          </a:ln>
        </p:spPr>
      </p:sp>
      <p:grpSp>
        <p:nvGrpSpPr>
          <p:cNvPr id="202848" name="Group 141"/>
          <p:cNvGrpSpPr/>
          <p:nvPr/>
        </p:nvGrpSpPr>
        <p:grpSpPr>
          <a:xfrm>
            <a:off x="5803900" y="4416425"/>
            <a:ext cx="119063" cy="114300"/>
            <a:chOff x="0" y="0"/>
            <a:chExt cx="75" cy="72"/>
          </a:xfrm>
        </p:grpSpPr>
        <p:sp>
          <p:nvSpPr>
            <p:cNvPr id="202943" name="Freeform 139"/>
            <p:cNvSpPr/>
            <p:nvPr/>
          </p:nvSpPr>
          <p:spPr>
            <a:xfrm>
              <a:off x="39" y="0"/>
              <a:ext cx="36" cy="72"/>
            </a:xfrm>
            <a:custGeom>
              <a:avLst/>
              <a:gdLst/>
              <a:ahLst/>
              <a:cxnLst>
                <a:cxn ang="0">
                  <a:pos x="3" y="72"/>
                </a:cxn>
                <a:cxn ang="0">
                  <a:pos x="36" y="2"/>
                </a:cxn>
                <a:cxn ang="0">
                  <a:pos x="0" y="0"/>
                </a:cxn>
                <a:cxn ang="0">
                  <a:pos x="3" y="72"/>
                </a:cxn>
              </a:cxnLst>
              <a:pathLst>
                <a:path w="36" h="72">
                  <a:moveTo>
                    <a:pt x="3" y="72"/>
                  </a:moveTo>
                  <a:lnTo>
                    <a:pt x="36" y="2"/>
                  </a:lnTo>
                  <a:lnTo>
                    <a:pt x="0" y="0"/>
                  </a:lnTo>
                  <a:lnTo>
                    <a:pt x="3" y="72"/>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44" name="Freeform 140"/>
            <p:cNvSpPr/>
            <p:nvPr/>
          </p:nvSpPr>
          <p:spPr>
            <a:xfrm>
              <a:off x="0" y="0"/>
              <a:ext cx="36" cy="72"/>
            </a:xfrm>
            <a:custGeom>
              <a:avLst/>
              <a:gdLst/>
              <a:ahLst/>
              <a:cxnLst>
                <a:cxn ang="0">
                  <a:pos x="34" y="72"/>
                </a:cxn>
                <a:cxn ang="0">
                  <a:pos x="0" y="2"/>
                </a:cxn>
                <a:cxn ang="0">
                  <a:pos x="36" y="0"/>
                </a:cxn>
                <a:cxn ang="0">
                  <a:pos x="34" y="72"/>
                </a:cxn>
              </a:cxnLst>
              <a:pathLst>
                <a:path w="36" h="72">
                  <a:moveTo>
                    <a:pt x="34" y="72"/>
                  </a:moveTo>
                  <a:lnTo>
                    <a:pt x="0" y="2"/>
                  </a:lnTo>
                  <a:lnTo>
                    <a:pt x="36" y="0"/>
                  </a:lnTo>
                  <a:lnTo>
                    <a:pt x="34" y="72"/>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849" name="Line 142"/>
          <p:cNvSpPr/>
          <p:nvPr/>
        </p:nvSpPr>
        <p:spPr>
          <a:xfrm>
            <a:off x="5865813" y="4205288"/>
            <a:ext cx="1587" cy="206375"/>
          </a:xfrm>
          <a:prstGeom prst="line">
            <a:avLst/>
          </a:prstGeom>
          <a:ln w="15875" cap="flat" cmpd="sng">
            <a:solidFill>
              <a:srgbClr val="000000"/>
            </a:solidFill>
            <a:prstDash val="solid"/>
            <a:bevel/>
            <a:headEnd type="none" w="med" len="med"/>
            <a:tailEnd type="none" w="med" len="med"/>
          </a:ln>
        </p:spPr>
      </p:sp>
      <p:grpSp>
        <p:nvGrpSpPr>
          <p:cNvPr id="202850" name="Group 145"/>
          <p:cNvGrpSpPr/>
          <p:nvPr/>
        </p:nvGrpSpPr>
        <p:grpSpPr>
          <a:xfrm>
            <a:off x="7189788" y="4383088"/>
            <a:ext cx="96837" cy="123825"/>
            <a:chOff x="0" y="0"/>
            <a:chExt cx="61" cy="78"/>
          </a:xfrm>
        </p:grpSpPr>
        <p:sp>
          <p:nvSpPr>
            <p:cNvPr id="202941" name="Freeform 143"/>
            <p:cNvSpPr/>
            <p:nvPr/>
          </p:nvSpPr>
          <p:spPr>
            <a:xfrm>
              <a:off x="31" y="0"/>
              <a:ext cx="30" cy="78"/>
            </a:xfrm>
            <a:custGeom>
              <a:avLst/>
              <a:gdLst/>
              <a:ahLst/>
              <a:cxnLst>
                <a:cxn ang="0">
                  <a:pos x="1" y="78"/>
                </a:cxn>
                <a:cxn ang="0">
                  <a:pos x="30" y="3"/>
                </a:cxn>
                <a:cxn ang="0">
                  <a:pos x="0" y="0"/>
                </a:cxn>
                <a:cxn ang="0">
                  <a:pos x="1" y="78"/>
                </a:cxn>
              </a:cxnLst>
              <a:pathLst>
                <a:path w="30" h="78">
                  <a:moveTo>
                    <a:pt x="1" y="78"/>
                  </a:moveTo>
                  <a:lnTo>
                    <a:pt x="30" y="3"/>
                  </a:lnTo>
                  <a:lnTo>
                    <a:pt x="0" y="0"/>
                  </a:lnTo>
                  <a:lnTo>
                    <a:pt x="1" y="78"/>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42" name="Freeform 144"/>
            <p:cNvSpPr/>
            <p:nvPr/>
          </p:nvSpPr>
          <p:spPr>
            <a:xfrm>
              <a:off x="0" y="0"/>
              <a:ext cx="30" cy="78"/>
            </a:xfrm>
            <a:custGeom>
              <a:avLst/>
              <a:gdLst/>
              <a:ahLst/>
              <a:cxnLst>
                <a:cxn ang="0">
                  <a:pos x="27" y="78"/>
                </a:cxn>
                <a:cxn ang="0">
                  <a:pos x="0" y="3"/>
                </a:cxn>
                <a:cxn ang="0">
                  <a:pos x="30" y="0"/>
                </a:cxn>
                <a:cxn ang="0">
                  <a:pos x="27" y="78"/>
                </a:cxn>
              </a:cxnLst>
              <a:pathLst>
                <a:path w="30" h="78">
                  <a:moveTo>
                    <a:pt x="27" y="78"/>
                  </a:moveTo>
                  <a:lnTo>
                    <a:pt x="0" y="3"/>
                  </a:lnTo>
                  <a:lnTo>
                    <a:pt x="30" y="0"/>
                  </a:lnTo>
                  <a:lnTo>
                    <a:pt x="27" y="78"/>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851" name="Line 146"/>
          <p:cNvSpPr/>
          <p:nvPr/>
        </p:nvSpPr>
        <p:spPr>
          <a:xfrm>
            <a:off x="7239000" y="3856038"/>
            <a:ext cx="1588" cy="520700"/>
          </a:xfrm>
          <a:prstGeom prst="line">
            <a:avLst/>
          </a:prstGeom>
          <a:ln w="15875" cap="flat" cmpd="sng">
            <a:solidFill>
              <a:srgbClr val="000000"/>
            </a:solidFill>
            <a:prstDash val="solid"/>
            <a:bevel/>
            <a:headEnd type="none" w="med" len="med"/>
            <a:tailEnd type="none" w="med" len="med"/>
          </a:ln>
        </p:spPr>
      </p:sp>
      <p:sp>
        <p:nvSpPr>
          <p:cNvPr id="202852" name="Line 147"/>
          <p:cNvSpPr/>
          <p:nvPr/>
        </p:nvSpPr>
        <p:spPr>
          <a:xfrm>
            <a:off x="4337050" y="4197350"/>
            <a:ext cx="2366963" cy="7938"/>
          </a:xfrm>
          <a:prstGeom prst="line">
            <a:avLst/>
          </a:prstGeom>
          <a:ln w="15875" cap="flat" cmpd="sng">
            <a:solidFill>
              <a:srgbClr val="000000"/>
            </a:solidFill>
            <a:prstDash val="solid"/>
            <a:bevel/>
            <a:headEnd type="none" w="med" len="med"/>
            <a:tailEnd type="none" w="med" len="med"/>
          </a:ln>
        </p:spPr>
      </p:sp>
      <p:sp>
        <p:nvSpPr>
          <p:cNvPr id="202853" name="Line 148"/>
          <p:cNvSpPr/>
          <p:nvPr/>
        </p:nvSpPr>
        <p:spPr>
          <a:xfrm>
            <a:off x="3784600" y="4111625"/>
            <a:ext cx="3035300" cy="1588"/>
          </a:xfrm>
          <a:prstGeom prst="line">
            <a:avLst/>
          </a:prstGeom>
          <a:ln w="15875" cap="flat" cmpd="sng">
            <a:solidFill>
              <a:srgbClr val="000000"/>
            </a:solidFill>
            <a:prstDash val="solid"/>
            <a:bevel/>
            <a:headEnd type="none" w="med" len="med"/>
            <a:tailEnd type="none" w="med" len="med"/>
          </a:ln>
        </p:spPr>
      </p:sp>
      <p:sp>
        <p:nvSpPr>
          <p:cNvPr id="202854" name="Line 149"/>
          <p:cNvSpPr/>
          <p:nvPr/>
        </p:nvSpPr>
        <p:spPr>
          <a:xfrm>
            <a:off x="6827838" y="4111625"/>
            <a:ext cx="1587" cy="242888"/>
          </a:xfrm>
          <a:prstGeom prst="line">
            <a:avLst/>
          </a:prstGeom>
          <a:ln w="15875" cap="flat" cmpd="sng">
            <a:solidFill>
              <a:srgbClr val="000000"/>
            </a:solidFill>
            <a:prstDash val="solid"/>
            <a:bevel/>
            <a:headEnd type="none" w="med" len="med"/>
            <a:tailEnd type="none" w="med" len="med"/>
          </a:ln>
        </p:spPr>
      </p:sp>
      <p:grpSp>
        <p:nvGrpSpPr>
          <p:cNvPr id="202855" name="Group 152"/>
          <p:cNvGrpSpPr/>
          <p:nvPr/>
        </p:nvGrpSpPr>
        <p:grpSpPr>
          <a:xfrm>
            <a:off x="5354638" y="4932363"/>
            <a:ext cx="106362" cy="223837"/>
            <a:chOff x="0" y="0"/>
            <a:chExt cx="67" cy="141"/>
          </a:xfrm>
        </p:grpSpPr>
        <p:sp>
          <p:nvSpPr>
            <p:cNvPr id="202939" name="Freeform 150"/>
            <p:cNvSpPr/>
            <p:nvPr/>
          </p:nvSpPr>
          <p:spPr>
            <a:xfrm>
              <a:off x="0" y="0"/>
              <a:ext cx="59" cy="60"/>
            </a:xfrm>
            <a:custGeom>
              <a:avLst/>
              <a:gdLst/>
              <a:ahLst/>
              <a:cxnLst>
                <a:cxn ang="0">
                  <a:pos x="59" y="60"/>
                </a:cxn>
                <a:cxn ang="0">
                  <a:pos x="0" y="0"/>
                </a:cxn>
                <a:cxn ang="0">
                  <a:pos x="0" y="42"/>
                </a:cxn>
              </a:cxnLst>
              <a:pathLst>
                <a:path w="59" h="60">
                  <a:moveTo>
                    <a:pt x="59" y="60"/>
                  </a:moveTo>
                  <a:lnTo>
                    <a:pt x="0" y="0"/>
                  </a:lnTo>
                  <a:lnTo>
                    <a:pt x="0" y="42"/>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40" name="Freeform 151"/>
            <p:cNvSpPr/>
            <p:nvPr/>
          </p:nvSpPr>
          <p:spPr>
            <a:xfrm>
              <a:off x="2" y="62"/>
              <a:ext cx="65" cy="79"/>
            </a:xfrm>
            <a:custGeom>
              <a:avLst/>
              <a:gdLst/>
              <a:ahLst/>
              <a:cxnLst>
                <a:cxn ang="0">
                  <a:pos x="65" y="0"/>
                </a:cxn>
                <a:cxn ang="0">
                  <a:pos x="0" y="79"/>
                </a:cxn>
                <a:cxn ang="0">
                  <a:pos x="0" y="39"/>
                </a:cxn>
              </a:cxnLst>
              <a:pathLst>
                <a:path w="65" h="79">
                  <a:moveTo>
                    <a:pt x="65" y="0"/>
                  </a:moveTo>
                  <a:lnTo>
                    <a:pt x="0" y="79"/>
                  </a:lnTo>
                  <a:lnTo>
                    <a:pt x="0" y="39"/>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grpSp>
      <p:grpSp>
        <p:nvGrpSpPr>
          <p:cNvPr id="202856" name="Group 155"/>
          <p:cNvGrpSpPr/>
          <p:nvPr/>
        </p:nvGrpSpPr>
        <p:grpSpPr>
          <a:xfrm>
            <a:off x="5049838" y="4932363"/>
            <a:ext cx="106362" cy="223837"/>
            <a:chOff x="0" y="0"/>
            <a:chExt cx="67" cy="141"/>
          </a:xfrm>
        </p:grpSpPr>
        <p:sp>
          <p:nvSpPr>
            <p:cNvPr id="202937" name="Freeform 153"/>
            <p:cNvSpPr/>
            <p:nvPr/>
          </p:nvSpPr>
          <p:spPr>
            <a:xfrm>
              <a:off x="8" y="80"/>
              <a:ext cx="59" cy="61"/>
            </a:xfrm>
            <a:custGeom>
              <a:avLst/>
              <a:gdLst/>
              <a:ahLst/>
              <a:cxnLst>
                <a:cxn ang="0">
                  <a:pos x="0" y="0"/>
                </a:cxn>
                <a:cxn ang="0">
                  <a:pos x="59" y="61"/>
                </a:cxn>
                <a:cxn ang="0">
                  <a:pos x="59" y="18"/>
                </a:cxn>
              </a:cxnLst>
              <a:pathLst>
                <a:path w="59" h="61">
                  <a:moveTo>
                    <a:pt x="0" y="0"/>
                  </a:moveTo>
                  <a:lnTo>
                    <a:pt x="59" y="61"/>
                  </a:lnTo>
                  <a:lnTo>
                    <a:pt x="59" y="18"/>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38" name="Freeform 154"/>
            <p:cNvSpPr/>
            <p:nvPr/>
          </p:nvSpPr>
          <p:spPr>
            <a:xfrm>
              <a:off x="0" y="0"/>
              <a:ext cx="65" cy="78"/>
            </a:xfrm>
            <a:custGeom>
              <a:avLst/>
              <a:gdLst/>
              <a:ahLst/>
              <a:cxnLst>
                <a:cxn ang="0">
                  <a:pos x="0" y="78"/>
                </a:cxn>
                <a:cxn ang="0">
                  <a:pos x="65" y="0"/>
                </a:cxn>
                <a:cxn ang="0">
                  <a:pos x="65" y="40"/>
                </a:cxn>
              </a:cxnLst>
              <a:pathLst>
                <a:path w="65" h="78">
                  <a:moveTo>
                    <a:pt x="0" y="78"/>
                  </a:moveTo>
                  <a:lnTo>
                    <a:pt x="65" y="0"/>
                  </a:lnTo>
                  <a:lnTo>
                    <a:pt x="65" y="40"/>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857" name="Line 156"/>
          <p:cNvSpPr/>
          <p:nvPr/>
        </p:nvSpPr>
        <p:spPr>
          <a:xfrm flipH="1">
            <a:off x="5156200" y="5002213"/>
            <a:ext cx="198438" cy="1587"/>
          </a:xfrm>
          <a:prstGeom prst="line">
            <a:avLst/>
          </a:prstGeom>
          <a:ln w="15875" cap="flat" cmpd="sng">
            <a:solidFill>
              <a:srgbClr val="000000"/>
            </a:solidFill>
            <a:prstDash val="solid"/>
            <a:bevel/>
            <a:headEnd type="none" w="med" len="med"/>
            <a:tailEnd type="none" w="med" len="med"/>
          </a:ln>
        </p:spPr>
      </p:sp>
      <p:sp>
        <p:nvSpPr>
          <p:cNvPr id="202858" name="Line 157"/>
          <p:cNvSpPr/>
          <p:nvPr/>
        </p:nvSpPr>
        <p:spPr>
          <a:xfrm flipH="1">
            <a:off x="5160963" y="5091113"/>
            <a:ext cx="196850" cy="1587"/>
          </a:xfrm>
          <a:prstGeom prst="line">
            <a:avLst/>
          </a:prstGeom>
          <a:ln w="15875" cap="flat" cmpd="sng">
            <a:solidFill>
              <a:srgbClr val="000000"/>
            </a:solidFill>
            <a:prstDash val="solid"/>
            <a:bevel/>
            <a:headEnd type="none" w="med" len="med"/>
            <a:tailEnd type="none" w="med" len="med"/>
          </a:ln>
        </p:spPr>
      </p:sp>
      <p:grpSp>
        <p:nvGrpSpPr>
          <p:cNvPr id="202859" name="Group 160"/>
          <p:cNvGrpSpPr/>
          <p:nvPr/>
        </p:nvGrpSpPr>
        <p:grpSpPr>
          <a:xfrm>
            <a:off x="3397250" y="4799013"/>
            <a:ext cx="131763" cy="104775"/>
            <a:chOff x="0" y="0"/>
            <a:chExt cx="83" cy="66"/>
          </a:xfrm>
        </p:grpSpPr>
        <p:sp>
          <p:nvSpPr>
            <p:cNvPr id="202935" name="Freeform 158"/>
            <p:cNvSpPr/>
            <p:nvPr/>
          </p:nvSpPr>
          <p:spPr>
            <a:xfrm>
              <a:off x="0" y="34"/>
              <a:ext cx="83" cy="32"/>
            </a:xfrm>
            <a:custGeom>
              <a:avLst/>
              <a:gdLst/>
              <a:ahLst/>
              <a:cxnLst>
                <a:cxn ang="0">
                  <a:pos x="0" y="2"/>
                </a:cxn>
                <a:cxn ang="0">
                  <a:pos x="80" y="32"/>
                </a:cxn>
                <a:cxn ang="0">
                  <a:pos x="83" y="0"/>
                </a:cxn>
                <a:cxn ang="0">
                  <a:pos x="0" y="2"/>
                </a:cxn>
              </a:cxnLst>
              <a:pathLst>
                <a:path w="83" h="32">
                  <a:moveTo>
                    <a:pt x="0" y="2"/>
                  </a:moveTo>
                  <a:lnTo>
                    <a:pt x="80" y="32"/>
                  </a:lnTo>
                  <a:lnTo>
                    <a:pt x="83" y="0"/>
                  </a:lnTo>
                  <a:lnTo>
                    <a:pt x="0" y="2"/>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36" name="Freeform 159"/>
            <p:cNvSpPr/>
            <p:nvPr/>
          </p:nvSpPr>
          <p:spPr>
            <a:xfrm>
              <a:off x="0" y="0"/>
              <a:ext cx="83" cy="32"/>
            </a:xfrm>
            <a:custGeom>
              <a:avLst/>
              <a:gdLst/>
              <a:ahLst/>
              <a:cxnLst>
                <a:cxn ang="0">
                  <a:pos x="0" y="30"/>
                </a:cxn>
                <a:cxn ang="0">
                  <a:pos x="80" y="0"/>
                </a:cxn>
                <a:cxn ang="0">
                  <a:pos x="83" y="32"/>
                </a:cxn>
                <a:cxn ang="0">
                  <a:pos x="0" y="30"/>
                </a:cxn>
              </a:cxnLst>
              <a:pathLst>
                <a:path w="83" h="32">
                  <a:moveTo>
                    <a:pt x="0" y="30"/>
                  </a:moveTo>
                  <a:lnTo>
                    <a:pt x="80" y="0"/>
                  </a:lnTo>
                  <a:lnTo>
                    <a:pt x="83" y="32"/>
                  </a:lnTo>
                  <a:lnTo>
                    <a:pt x="0" y="30"/>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grpSp>
        <p:nvGrpSpPr>
          <p:cNvPr id="202860" name="Group 163"/>
          <p:cNvGrpSpPr/>
          <p:nvPr/>
        </p:nvGrpSpPr>
        <p:grpSpPr>
          <a:xfrm>
            <a:off x="3400425" y="3714750"/>
            <a:ext cx="131763" cy="103188"/>
            <a:chOff x="0" y="0"/>
            <a:chExt cx="83" cy="65"/>
          </a:xfrm>
        </p:grpSpPr>
        <p:sp>
          <p:nvSpPr>
            <p:cNvPr id="202933" name="Freeform 161"/>
            <p:cNvSpPr/>
            <p:nvPr/>
          </p:nvSpPr>
          <p:spPr>
            <a:xfrm>
              <a:off x="0" y="33"/>
              <a:ext cx="83" cy="32"/>
            </a:xfrm>
            <a:custGeom>
              <a:avLst/>
              <a:gdLst/>
              <a:ahLst/>
              <a:cxnLst>
                <a:cxn ang="0">
                  <a:pos x="0" y="3"/>
                </a:cxn>
                <a:cxn ang="0">
                  <a:pos x="81" y="32"/>
                </a:cxn>
                <a:cxn ang="0">
                  <a:pos x="83" y="0"/>
                </a:cxn>
                <a:cxn ang="0">
                  <a:pos x="0" y="3"/>
                </a:cxn>
              </a:cxnLst>
              <a:pathLst>
                <a:path w="83" h="32">
                  <a:moveTo>
                    <a:pt x="0" y="3"/>
                  </a:moveTo>
                  <a:lnTo>
                    <a:pt x="81" y="32"/>
                  </a:lnTo>
                  <a:lnTo>
                    <a:pt x="83" y="0"/>
                  </a:lnTo>
                  <a:lnTo>
                    <a:pt x="0" y="3"/>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34" name="Freeform 162"/>
            <p:cNvSpPr/>
            <p:nvPr/>
          </p:nvSpPr>
          <p:spPr>
            <a:xfrm>
              <a:off x="0" y="0"/>
              <a:ext cx="83" cy="31"/>
            </a:xfrm>
            <a:custGeom>
              <a:avLst/>
              <a:gdLst/>
              <a:ahLst/>
              <a:cxnLst>
                <a:cxn ang="0">
                  <a:pos x="0" y="29"/>
                </a:cxn>
                <a:cxn ang="0">
                  <a:pos x="81" y="0"/>
                </a:cxn>
                <a:cxn ang="0">
                  <a:pos x="83" y="31"/>
                </a:cxn>
                <a:cxn ang="0">
                  <a:pos x="0" y="29"/>
                </a:cxn>
              </a:cxnLst>
              <a:pathLst>
                <a:path w="83" h="31">
                  <a:moveTo>
                    <a:pt x="0" y="29"/>
                  </a:moveTo>
                  <a:lnTo>
                    <a:pt x="81" y="0"/>
                  </a:lnTo>
                  <a:lnTo>
                    <a:pt x="83" y="31"/>
                  </a:lnTo>
                  <a:lnTo>
                    <a:pt x="0" y="29"/>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861" name="Line 164"/>
          <p:cNvSpPr/>
          <p:nvPr/>
        </p:nvSpPr>
        <p:spPr>
          <a:xfrm flipV="1">
            <a:off x="3536950" y="4848225"/>
            <a:ext cx="44450" cy="3175"/>
          </a:xfrm>
          <a:prstGeom prst="line">
            <a:avLst/>
          </a:prstGeom>
          <a:ln w="15875" cap="flat" cmpd="sng">
            <a:solidFill>
              <a:srgbClr val="000000"/>
            </a:solidFill>
            <a:prstDash val="solid"/>
            <a:bevel/>
            <a:headEnd type="none" w="med" len="med"/>
            <a:tailEnd type="none" w="med" len="med"/>
          </a:ln>
        </p:spPr>
      </p:sp>
      <p:grpSp>
        <p:nvGrpSpPr>
          <p:cNvPr id="202862" name="Group 167"/>
          <p:cNvGrpSpPr/>
          <p:nvPr/>
        </p:nvGrpSpPr>
        <p:grpSpPr>
          <a:xfrm>
            <a:off x="2068513" y="3906838"/>
            <a:ext cx="131762" cy="103187"/>
            <a:chOff x="0" y="0"/>
            <a:chExt cx="83" cy="65"/>
          </a:xfrm>
        </p:grpSpPr>
        <p:sp>
          <p:nvSpPr>
            <p:cNvPr id="202931" name="Freeform 165"/>
            <p:cNvSpPr/>
            <p:nvPr/>
          </p:nvSpPr>
          <p:spPr>
            <a:xfrm>
              <a:off x="0" y="34"/>
              <a:ext cx="83" cy="31"/>
            </a:xfrm>
            <a:custGeom>
              <a:avLst/>
              <a:gdLst/>
              <a:ahLst/>
              <a:cxnLst>
                <a:cxn ang="0">
                  <a:pos x="83" y="2"/>
                </a:cxn>
                <a:cxn ang="0">
                  <a:pos x="3" y="31"/>
                </a:cxn>
                <a:cxn ang="0">
                  <a:pos x="0" y="0"/>
                </a:cxn>
                <a:cxn ang="0">
                  <a:pos x="83" y="2"/>
                </a:cxn>
              </a:cxnLst>
              <a:pathLst>
                <a:path w="83" h="31">
                  <a:moveTo>
                    <a:pt x="83" y="2"/>
                  </a:moveTo>
                  <a:lnTo>
                    <a:pt x="3" y="31"/>
                  </a:lnTo>
                  <a:lnTo>
                    <a:pt x="0" y="0"/>
                  </a:lnTo>
                  <a:lnTo>
                    <a:pt x="83" y="2"/>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32" name="Freeform 166"/>
            <p:cNvSpPr/>
            <p:nvPr/>
          </p:nvSpPr>
          <p:spPr>
            <a:xfrm>
              <a:off x="0" y="0"/>
              <a:ext cx="83" cy="32"/>
            </a:xfrm>
            <a:custGeom>
              <a:avLst/>
              <a:gdLst/>
              <a:ahLst/>
              <a:cxnLst>
                <a:cxn ang="0">
                  <a:pos x="83" y="29"/>
                </a:cxn>
                <a:cxn ang="0">
                  <a:pos x="3" y="0"/>
                </a:cxn>
                <a:cxn ang="0">
                  <a:pos x="0" y="32"/>
                </a:cxn>
                <a:cxn ang="0">
                  <a:pos x="83" y="29"/>
                </a:cxn>
              </a:cxnLst>
              <a:pathLst>
                <a:path w="83" h="32">
                  <a:moveTo>
                    <a:pt x="83" y="29"/>
                  </a:moveTo>
                  <a:lnTo>
                    <a:pt x="3" y="0"/>
                  </a:lnTo>
                  <a:lnTo>
                    <a:pt x="0" y="32"/>
                  </a:lnTo>
                  <a:lnTo>
                    <a:pt x="83" y="29"/>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grpSp>
        <p:nvGrpSpPr>
          <p:cNvPr id="202863" name="Group 170"/>
          <p:cNvGrpSpPr/>
          <p:nvPr/>
        </p:nvGrpSpPr>
        <p:grpSpPr>
          <a:xfrm>
            <a:off x="4619625" y="2368550"/>
            <a:ext cx="119063" cy="114300"/>
            <a:chOff x="0" y="0"/>
            <a:chExt cx="75" cy="72"/>
          </a:xfrm>
        </p:grpSpPr>
        <p:sp>
          <p:nvSpPr>
            <p:cNvPr id="202929" name="Freeform 168"/>
            <p:cNvSpPr/>
            <p:nvPr/>
          </p:nvSpPr>
          <p:spPr>
            <a:xfrm>
              <a:off x="0" y="0"/>
              <a:ext cx="37" cy="72"/>
            </a:xfrm>
            <a:custGeom>
              <a:avLst/>
              <a:gdLst/>
              <a:ahLst/>
              <a:cxnLst>
                <a:cxn ang="0">
                  <a:pos x="34" y="72"/>
                </a:cxn>
                <a:cxn ang="0">
                  <a:pos x="0" y="2"/>
                </a:cxn>
                <a:cxn ang="0">
                  <a:pos x="37" y="0"/>
                </a:cxn>
                <a:cxn ang="0">
                  <a:pos x="34" y="72"/>
                </a:cxn>
              </a:cxnLst>
              <a:pathLst>
                <a:path w="37" h="72">
                  <a:moveTo>
                    <a:pt x="34" y="72"/>
                  </a:moveTo>
                  <a:lnTo>
                    <a:pt x="0" y="2"/>
                  </a:lnTo>
                  <a:lnTo>
                    <a:pt x="37" y="0"/>
                  </a:lnTo>
                  <a:lnTo>
                    <a:pt x="34" y="72"/>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30" name="Freeform 169"/>
            <p:cNvSpPr/>
            <p:nvPr/>
          </p:nvSpPr>
          <p:spPr>
            <a:xfrm>
              <a:off x="39" y="0"/>
              <a:ext cx="36" cy="72"/>
            </a:xfrm>
            <a:custGeom>
              <a:avLst/>
              <a:gdLst/>
              <a:ahLst/>
              <a:cxnLst>
                <a:cxn ang="0">
                  <a:pos x="3" y="72"/>
                </a:cxn>
                <a:cxn ang="0">
                  <a:pos x="36" y="2"/>
                </a:cxn>
                <a:cxn ang="0">
                  <a:pos x="0" y="0"/>
                </a:cxn>
                <a:cxn ang="0">
                  <a:pos x="3" y="72"/>
                </a:cxn>
              </a:cxnLst>
              <a:pathLst>
                <a:path w="36" h="72">
                  <a:moveTo>
                    <a:pt x="3" y="72"/>
                  </a:moveTo>
                  <a:lnTo>
                    <a:pt x="36" y="2"/>
                  </a:lnTo>
                  <a:lnTo>
                    <a:pt x="0" y="0"/>
                  </a:lnTo>
                  <a:lnTo>
                    <a:pt x="3" y="72"/>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864" name="Line 171"/>
          <p:cNvSpPr/>
          <p:nvPr/>
        </p:nvSpPr>
        <p:spPr>
          <a:xfrm>
            <a:off x="4679950" y="2224088"/>
            <a:ext cx="1588" cy="134937"/>
          </a:xfrm>
          <a:prstGeom prst="line">
            <a:avLst/>
          </a:prstGeom>
          <a:ln w="25400" cap="flat" cmpd="sng">
            <a:solidFill>
              <a:srgbClr val="000000"/>
            </a:solidFill>
            <a:prstDash val="solid"/>
            <a:bevel/>
            <a:headEnd type="none" w="med" len="med"/>
            <a:tailEnd type="none" w="med" len="med"/>
          </a:ln>
        </p:spPr>
      </p:sp>
      <p:grpSp>
        <p:nvGrpSpPr>
          <p:cNvPr id="202865" name="Group 174"/>
          <p:cNvGrpSpPr/>
          <p:nvPr/>
        </p:nvGrpSpPr>
        <p:grpSpPr>
          <a:xfrm>
            <a:off x="6142038" y="2212975"/>
            <a:ext cx="119062" cy="114300"/>
            <a:chOff x="0" y="0"/>
            <a:chExt cx="75" cy="72"/>
          </a:xfrm>
        </p:grpSpPr>
        <p:sp>
          <p:nvSpPr>
            <p:cNvPr id="202927" name="Freeform 172"/>
            <p:cNvSpPr/>
            <p:nvPr/>
          </p:nvSpPr>
          <p:spPr>
            <a:xfrm>
              <a:off x="0" y="0"/>
              <a:ext cx="36" cy="72"/>
            </a:xfrm>
            <a:custGeom>
              <a:avLst/>
              <a:gdLst/>
              <a:ahLst/>
              <a:cxnLst>
                <a:cxn ang="0">
                  <a:pos x="33" y="0"/>
                </a:cxn>
                <a:cxn ang="0">
                  <a:pos x="0" y="70"/>
                </a:cxn>
                <a:cxn ang="0">
                  <a:pos x="36" y="72"/>
                </a:cxn>
                <a:cxn ang="0">
                  <a:pos x="33" y="0"/>
                </a:cxn>
              </a:cxnLst>
              <a:pathLst>
                <a:path w="36" h="72">
                  <a:moveTo>
                    <a:pt x="33" y="0"/>
                  </a:moveTo>
                  <a:lnTo>
                    <a:pt x="0" y="70"/>
                  </a:lnTo>
                  <a:lnTo>
                    <a:pt x="36" y="72"/>
                  </a:lnTo>
                  <a:lnTo>
                    <a:pt x="33" y="0"/>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02928" name="Freeform 173"/>
            <p:cNvSpPr/>
            <p:nvPr/>
          </p:nvSpPr>
          <p:spPr>
            <a:xfrm>
              <a:off x="38" y="0"/>
              <a:ext cx="37" cy="72"/>
            </a:xfrm>
            <a:custGeom>
              <a:avLst/>
              <a:gdLst/>
              <a:ahLst/>
              <a:cxnLst>
                <a:cxn ang="0">
                  <a:pos x="3" y="0"/>
                </a:cxn>
                <a:cxn ang="0">
                  <a:pos x="37" y="70"/>
                </a:cxn>
                <a:cxn ang="0">
                  <a:pos x="0" y="72"/>
                </a:cxn>
                <a:cxn ang="0">
                  <a:pos x="3" y="0"/>
                </a:cxn>
              </a:cxnLst>
              <a:pathLst>
                <a:path w="37" h="72">
                  <a:moveTo>
                    <a:pt x="3" y="0"/>
                  </a:moveTo>
                  <a:lnTo>
                    <a:pt x="37" y="70"/>
                  </a:lnTo>
                  <a:lnTo>
                    <a:pt x="0" y="72"/>
                  </a:lnTo>
                  <a:lnTo>
                    <a:pt x="3" y="0"/>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grpSp>
      <p:sp>
        <p:nvSpPr>
          <p:cNvPr id="202866" name="Line 175"/>
          <p:cNvSpPr/>
          <p:nvPr/>
        </p:nvSpPr>
        <p:spPr>
          <a:xfrm>
            <a:off x="6199188" y="2324100"/>
            <a:ext cx="1587" cy="157163"/>
          </a:xfrm>
          <a:prstGeom prst="line">
            <a:avLst/>
          </a:prstGeom>
          <a:ln w="15875" cap="flat" cmpd="sng">
            <a:solidFill>
              <a:srgbClr val="000000"/>
            </a:solidFill>
            <a:prstDash val="solid"/>
            <a:bevel/>
            <a:headEnd type="none" w="med" len="med"/>
            <a:tailEnd type="none" w="med" len="med"/>
          </a:ln>
        </p:spPr>
      </p:sp>
      <p:sp>
        <p:nvSpPr>
          <p:cNvPr id="202867" name="Rectangle 176"/>
          <p:cNvSpPr/>
          <p:nvPr/>
        </p:nvSpPr>
        <p:spPr>
          <a:xfrm>
            <a:off x="1258888" y="2455863"/>
            <a:ext cx="2921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D7</a:t>
            </a:r>
            <a:endParaRPr lang="en-US" altLang="zh-CN" sz="1800" b="0" dirty="0">
              <a:solidFill>
                <a:schemeClr val="tx1"/>
              </a:solidFill>
              <a:ea typeface="楷体_GB2312"/>
            </a:endParaRPr>
          </a:p>
        </p:txBody>
      </p:sp>
      <p:sp>
        <p:nvSpPr>
          <p:cNvPr id="202868" name="Rectangle 177"/>
          <p:cNvSpPr/>
          <p:nvPr/>
        </p:nvSpPr>
        <p:spPr>
          <a:xfrm>
            <a:off x="1336675" y="2655888"/>
            <a:ext cx="13335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t>
            </a:r>
            <a:endParaRPr lang="en-US" altLang="zh-CN" sz="1800" b="0" dirty="0">
              <a:solidFill>
                <a:schemeClr val="tx1"/>
              </a:solidFill>
              <a:ea typeface="楷体_GB2312"/>
            </a:endParaRPr>
          </a:p>
        </p:txBody>
      </p:sp>
      <p:sp>
        <p:nvSpPr>
          <p:cNvPr id="202869" name="Rectangle 178"/>
          <p:cNvSpPr/>
          <p:nvPr/>
        </p:nvSpPr>
        <p:spPr>
          <a:xfrm>
            <a:off x="1258888" y="2855913"/>
            <a:ext cx="2921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D0</a:t>
            </a:r>
            <a:endParaRPr lang="en-US" altLang="zh-CN" sz="1800" b="0" dirty="0">
              <a:solidFill>
                <a:schemeClr val="tx1"/>
              </a:solidFill>
              <a:ea typeface="楷体_GB2312"/>
            </a:endParaRPr>
          </a:p>
        </p:txBody>
      </p:sp>
      <p:sp>
        <p:nvSpPr>
          <p:cNvPr id="202870" name="Oval 179"/>
          <p:cNvSpPr/>
          <p:nvPr/>
        </p:nvSpPr>
        <p:spPr>
          <a:xfrm>
            <a:off x="2049463" y="3398838"/>
            <a:ext cx="141287" cy="149225"/>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71" name="Oval 180"/>
          <p:cNvSpPr/>
          <p:nvPr/>
        </p:nvSpPr>
        <p:spPr>
          <a:xfrm>
            <a:off x="1679575" y="3406775"/>
            <a:ext cx="141288" cy="147638"/>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72" name="Rectangle 181"/>
          <p:cNvSpPr/>
          <p:nvPr/>
        </p:nvSpPr>
        <p:spPr>
          <a:xfrm>
            <a:off x="1268413" y="3363913"/>
            <a:ext cx="3302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RD</a:t>
            </a:r>
            <a:endParaRPr lang="en-US" altLang="zh-CN" sz="1800" b="0" dirty="0">
              <a:solidFill>
                <a:schemeClr val="tx1"/>
              </a:solidFill>
              <a:ea typeface="楷体_GB2312"/>
            </a:endParaRPr>
          </a:p>
        </p:txBody>
      </p:sp>
      <p:sp>
        <p:nvSpPr>
          <p:cNvPr id="202873" name="Oval 183"/>
          <p:cNvSpPr/>
          <p:nvPr/>
        </p:nvSpPr>
        <p:spPr>
          <a:xfrm>
            <a:off x="2049463" y="3678238"/>
            <a:ext cx="141287" cy="147637"/>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74" name="Oval 184"/>
          <p:cNvSpPr/>
          <p:nvPr/>
        </p:nvSpPr>
        <p:spPr>
          <a:xfrm>
            <a:off x="1679575" y="3684588"/>
            <a:ext cx="141288" cy="149225"/>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75" name="Rectangle 185"/>
          <p:cNvSpPr/>
          <p:nvPr/>
        </p:nvSpPr>
        <p:spPr>
          <a:xfrm>
            <a:off x="1216025" y="3633788"/>
            <a:ext cx="3810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WR</a:t>
            </a:r>
            <a:endParaRPr lang="en-US" altLang="zh-CN" sz="1800" b="0" dirty="0">
              <a:solidFill>
                <a:schemeClr val="tx1"/>
              </a:solidFill>
              <a:ea typeface="楷体_GB2312"/>
            </a:endParaRPr>
          </a:p>
        </p:txBody>
      </p:sp>
      <p:sp>
        <p:nvSpPr>
          <p:cNvPr id="202876" name="Oval 187"/>
          <p:cNvSpPr/>
          <p:nvPr/>
        </p:nvSpPr>
        <p:spPr>
          <a:xfrm>
            <a:off x="2049463" y="4090988"/>
            <a:ext cx="141287" cy="149225"/>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77" name="Oval 188"/>
          <p:cNvSpPr/>
          <p:nvPr/>
        </p:nvSpPr>
        <p:spPr>
          <a:xfrm>
            <a:off x="1679575" y="4098925"/>
            <a:ext cx="141288" cy="147638"/>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78" name="Oval 190"/>
          <p:cNvSpPr/>
          <p:nvPr/>
        </p:nvSpPr>
        <p:spPr>
          <a:xfrm>
            <a:off x="1697038" y="3884613"/>
            <a:ext cx="139700" cy="147637"/>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79" name="Rectangle 191"/>
          <p:cNvSpPr/>
          <p:nvPr/>
        </p:nvSpPr>
        <p:spPr>
          <a:xfrm>
            <a:off x="1228725" y="4097338"/>
            <a:ext cx="3175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CS</a:t>
            </a:r>
            <a:endParaRPr lang="en-US" altLang="zh-CN" sz="1800" b="0" dirty="0">
              <a:solidFill>
                <a:schemeClr val="tx1"/>
              </a:solidFill>
              <a:ea typeface="楷体_GB2312"/>
            </a:endParaRPr>
          </a:p>
        </p:txBody>
      </p:sp>
      <p:sp>
        <p:nvSpPr>
          <p:cNvPr id="202880" name="Rectangle 192"/>
          <p:cNvSpPr/>
          <p:nvPr/>
        </p:nvSpPr>
        <p:spPr>
          <a:xfrm>
            <a:off x="1277938" y="3848100"/>
            <a:ext cx="2921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A0</a:t>
            </a:r>
            <a:endParaRPr lang="en-US" altLang="zh-CN" sz="1800" b="0" dirty="0">
              <a:solidFill>
                <a:schemeClr val="tx1"/>
              </a:solidFill>
              <a:ea typeface="楷体_GB2312"/>
            </a:endParaRPr>
          </a:p>
        </p:txBody>
      </p:sp>
      <p:sp>
        <p:nvSpPr>
          <p:cNvPr id="202881" name="Oval 195"/>
          <p:cNvSpPr/>
          <p:nvPr/>
        </p:nvSpPr>
        <p:spPr>
          <a:xfrm>
            <a:off x="1836738" y="4427538"/>
            <a:ext cx="139700" cy="147637"/>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82" name="Oval 196"/>
          <p:cNvSpPr/>
          <p:nvPr/>
        </p:nvSpPr>
        <p:spPr>
          <a:xfrm>
            <a:off x="1844675" y="4656138"/>
            <a:ext cx="139700" cy="147637"/>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83" name="Oval 197"/>
          <p:cNvSpPr/>
          <p:nvPr/>
        </p:nvSpPr>
        <p:spPr>
          <a:xfrm>
            <a:off x="1844675" y="4870450"/>
            <a:ext cx="139700" cy="147638"/>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84" name="Oval 198"/>
          <p:cNvSpPr/>
          <p:nvPr/>
        </p:nvSpPr>
        <p:spPr>
          <a:xfrm>
            <a:off x="1836738" y="5091113"/>
            <a:ext cx="139700" cy="149225"/>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02885" name="Rectangle 199"/>
          <p:cNvSpPr/>
          <p:nvPr/>
        </p:nvSpPr>
        <p:spPr>
          <a:xfrm>
            <a:off x="1146175" y="4854575"/>
            <a:ext cx="609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CAS1</a:t>
            </a:r>
            <a:endParaRPr lang="en-US" altLang="zh-CN" sz="1800" b="0" dirty="0">
              <a:solidFill>
                <a:schemeClr val="tx1"/>
              </a:solidFill>
              <a:ea typeface="楷体_GB2312"/>
            </a:endParaRPr>
          </a:p>
        </p:txBody>
      </p:sp>
      <p:sp>
        <p:nvSpPr>
          <p:cNvPr id="202886" name="Rectangle 200"/>
          <p:cNvSpPr/>
          <p:nvPr/>
        </p:nvSpPr>
        <p:spPr>
          <a:xfrm>
            <a:off x="1146175" y="5083175"/>
            <a:ext cx="609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CAS2</a:t>
            </a:r>
            <a:endParaRPr lang="en-US" altLang="zh-CN" sz="1800" b="0" dirty="0">
              <a:solidFill>
                <a:schemeClr val="tx1"/>
              </a:solidFill>
              <a:ea typeface="楷体_GB2312"/>
            </a:endParaRPr>
          </a:p>
        </p:txBody>
      </p:sp>
      <p:sp>
        <p:nvSpPr>
          <p:cNvPr id="202887" name="Rectangle 201"/>
          <p:cNvSpPr/>
          <p:nvPr/>
        </p:nvSpPr>
        <p:spPr>
          <a:xfrm>
            <a:off x="1144588" y="4605338"/>
            <a:ext cx="609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CAS0</a:t>
            </a:r>
            <a:endParaRPr lang="en-US" altLang="zh-CN" sz="1800" b="0" dirty="0">
              <a:solidFill>
                <a:schemeClr val="tx1"/>
              </a:solidFill>
              <a:ea typeface="楷体_GB2312"/>
            </a:endParaRPr>
          </a:p>
        </p:txBody>
      </p:sp>
      <p:sp>
        <p:nvSpPr>
          <p:cNvPr id="202888" name="Line 202"/>
          <p:cNvSpPr/>
          <p:nvPr/>
        </p:nvSpPr>
        <p:spPr>
          <a:xfrm>
            <a:off x="3783013" y="4203700"/>
            <a:ext cx="1587" cy="1965325"/>
          </a:xfrm>
          <a:prstGeom prst="line">
            <a:avLst/>
          </a:prstGeom>
          <a:ln w="15875" cap="flat" cmpd="sng">
            <a:solidFill>
              <a:srgbClr val="000000"/>
            </a:solidFill>
            <a:prstDash val="solid"/>
            <a:bevel/>
            <a:headEnd type="none" w="med" len="med"/>
            <a:tailEnd type="none" w="med" len="med"/>
          </a:ln>
        </p:spPr>
      </p:sp>
      <p:sp>
        <p:nvSpPr>
          <p:cNvPr id="202889" name="Line 203"/>
          <p:cNvSpPr/>
          <p:nvPr/>
        </p:nvSpPr>
        <p:spPr>
          <a:xfrm>
            <a:off x="3678238" y="2855913"/>
            <a:ext cx="7937" cy="2676525"/>
          </a:xfrm>
          <a:prstGeom prst="line">
            <a:avLst/>
          </a:prstGeom>
          <a:ln w="15875" cap="flat" cmpd="sng">
            <a:solidFill>
              <a:srgbClr val="000000"/>
            </a:solidFill>
            <a:prstDash val="solid"/>
            <a:bevel/>
            <a:headEnd type="none" w="med" len="med"/>
            <a:tailEnd type="none" w="med" len="med"/>
          </a:ln>
        </p:spPr>
      </p:sp>
      <p:sp>
        <p:nvSpPr>
          <p:cNvPr id="202890" name="Line 204"/>
          <p:cNvSpPr/>
          <p:nvPr/>
        </p:nvSpPr>
        <p:spPr>
          <a:xfrm flipH="1">
            <a:off x="3784600" y="3476625"/>
            <a:ext cx="198438" cy="1588"/>
          </a:xfrm>
          <a:prstGeom prst="line">
            <a:avLst/>
          </a:prstGeom>
          <a:ln w="15875" cap="flat" cmpd="sng">
            <a:solidFill>
              <a:srgbClr val="000000"/>
            </a:solidFill>
            <a:prstDash val="solid"/>
            <a:bevel/>
            <a:headEnd type="none" w="med" len="med"/>
            <a:tailEnd type="none" w="med" len="med"/>
          </a:ln>
        </p:spPr>
      </p:sp>
      <p:sp>
        <p:nvSpPr>
          <p:cNvPr id="202891" name="Line 205"/>
          <p:cNvSpPr/>
          <p:nvPr/>
        </p:nvSpPr>
        <p:spPr>
          <a:xfrm flipH="1" flipV="1">
            <a:off x="3587750" y="3476625"/>
            <a:ext cx="77788" cy="3175"/>
          </a:xfrm>
          <a:prstGeom prst="line">
            <a:avLst/>
          </a:prstGeom>
          <a:ln w="15875" cap="flat" cmpd="sng">
            <a:solidFill>
              <a:srgbClr val="000000"/>
            </a:solidFill>
            <a:prstDash val="solid"/>
            <a:bevel/>
            <a:headEnd type="none" w="med" len="med"/>
            <a:tailEnd type="none" w="med" len="med"/>
          </a:ln>
        </p:spPr>
      </p:sp>
      <p:sp>
        <p:nvSpPr>
          <p:cNvPr id="202892" name="Line 206"/>
          <p:cNvSpPr/>
          <p:nvPr/>
        </p:nvSpPr>
        <p:spPr>
          <a:xfrm>
            <a:off x="3587750" y="3476625"/>
            <a:ext cx="1588" cy="1285875"/>
          </a:xfrm>
          <a:prstGeom prst="line">
            <a:avLst/>
          </a:prstGeom>
          <a:ln w="15875" cap="flat" cmpd="sng">
            <a:solidFill>
              <a:srgbClr val="000000"/>
            </a:solidFill>
            <a:prstDash val="solid"/>
            <a:bevel/>
            <a:headEnd type="none" w="med" len="med"/>
            <a:tailEnd type="none" w="med" len="med"/>
          </a:ln>
        </p:spPr>
      </p:sp>
      <p:sp>
        <p:nvSpPr>
          <p:cNvPr id="202893" name="Line 207"/>
          <p:cNvSpPr/>
          <p:nvPr/>
        </p:nvSpPr>
        <p:spPr>
          <a:xfrm>
            <a:off x="3587750" y="4762500"/>
            <a:ext cx="1588" cy="85725"/>
          </a:xfrm>
          <a:prstGeom prst="line">
            <a:avLst/>
          </a:prstGeom>
          <a:ln w="15875" cap="flat" cmpd="sng">
            <a:solidFill>
              <a:srgbClr val="000000"/>
            </a:solidFill>
            <a:prstDash val="solid"/>
            <a:bevel/>
            <a:headEnd type="none" w="med" len="med"/>
            <a:tailEnd type="none" w="med" len="med"/>
          </a:ln>
        </p:spPr>
      </p:sp>
      <p:sp>
        <p:nvSpPr>
          <p:cNvPr id="202894" name="Line 208"/>
          <p:cNvSpPr/>
          <p:nvPr/>
        </p:nvSpPr>
        <p:spPr>
          <a:xfrm flipH="1">
            <a:off x="3517900" y="3770313"/>
            <a:ext cx="57150" cy="1587"/>
          </a:xfrm>
          <a:prstGeom prst="line">
            <a:avLst/>
          </a:prstGeom>
          <a:ln w="15875" cap="flat" cmpd="sng">
            <a:solidFill>
              <a:srgbClr val="000000"/>
            </a:solidFill>
            <a:prstDash val="solid"/>
            <a:bevel/>
            <a:headEnd type="none" w="med" len="med"/>
            <a:tailEnd type="none" w="med" len="med"/>
          </a:ln>
        </p:spPr>
      </p:sp>
      <p:sp>
        <p:nvSpPr>
          <p:cNvPr id="202895" name="Line 210"/>
          <p:cNvSpPr/>
          <p:nvPr/>
        </p:nvSpPr>
        <p:spPr>
          <a:xfrm>
            <a:off x="3686175" y="5540375"/>
            <a:ext cx="1588" cy="649288"/>
          </a:xfrm>
          <a:prstGeom prst="line">
            <a:avLst/>
          </a:prstGeom>
          <a:ln w="15875" cap="flat" cmpd="sng">
            <a:solidFill>
              <a:srgbClr val="000000"/>
            </a:solidFill>
            <a:prstDash val="solid"/>
            <a:bevel/>
            <a:headEnd type="none" w="med" len="med"/>
            <a:tailEnd type="none" w="med" len="med"/>
          </a:ln>
        </p:spPr>
      </p:sp>
      <p:sp>
        <p:nvSpPr>
          <p:cNvPr id="202896" name="Line 211"/>
          <p:cNvSpPr/>
          <p:nvPr/>
        </p:nvSpPr>
        <p:spPr>
          <a:xfrm flipV="1">
            <a:off x="3865563" y="2759075"/>
            <a:ext cx="1587" cy="6350"/>
          </a:xfrm>
          <a:prstGeom prst="line">
            <a:avLst/>
          </a:prstGeom>
          <a:ln w="15875" cap="flat" cmpd="sng">
            <a:solidFill>
              <a:srgbClr val="000000"/>
            </a:solidFill>
            <a:prstDash val="solid"/>
            <a:bevel/>
            <a:headEnd type="none" w="med" len="med"/>
            <a:tailEnd type="none" w="med" len="med"/>
          </a:ln>
        </p:spPr>
      </p:sp>
      <p:sp>
        <p:nvSpPr>
          <p:cNvPr id="202897" name="Line 212"/>
          <p:cNvSpPr/>
          <p:nvPr/>
        </p:nvSpPr>
        <p:spPr>
          <a:xfrm flipH="1">
            <a:off x="1825625" y="3475038"/>
            <a:ext cx="220663" cy="1587"/>
          </a:xfrm>
          <a:prstGeom prst="line">
            <a:avLst/>
          </a:prstGeom>
          <a:ln w="15875" cap="flat" cmpd="sng">
            <a:solidFill>
              <a:srgbClr val="000000"/>
            </a:solidFill>
            <a:prstDash val="solid"/>
            <a:bevel/>
            <a:headEnd type="none" w="med" len="med"/>
            <a:tailEnd type="none" w="med" len="med"/>
          </a:ln>
        </p:spPr>
      </p:sp>
      <p:sp>
        <p:nvSpPr>
          <p:cNvPr id="202898" name="Line 213"/>
          <p:cNvSpPr/>
          <p:nvPr/>
        </p:nvSpPr>
        <p:spPr>
          <a:xfrm flipH="1">
            <a:off x="1822450" y="3744913"/>
            <a:ext cx="217488" cy="1587"/>
          </a:xfrm>
          <a:prstGeom prst="line">
            <a:avLst/>
          </a:prstGeom>
          <a:ln w="15875" cap="flat" cmpd="sng">
            <a:solidFill>
              <a:srgbClr val="000000"/>
            </a:solidFill>
            <a:prstDash val="solid"/>
            <a:bevel/>
            <a:headEnd type="none" w="med" len="med"/>
            <a:tailEnd type="none" w="med" len="med"/>
          </a:ln>
        </p:spPr>
      </p:sp>
      <p:sp>
        <p:nvSpPr>
          <p:cNvPr id="202899" name="Line 214"/>
          <p:cNvSpPr/>
          <p:nvPr/>
        </p:nvSpPr>
        <p:spPr>
          <a:xfrm flipH="1">
            <a:off x="1844675" y="3956050"/>
            <a:ext cx="215900" cy="1588"/>
          </a:xfrm>
          <a:prstGeom prst="line">
            <a:avLst/>
          </a:prstGeom>
          <a:ln w="15875" cap="flat" cmpd="sng">
            <a:solidFill>
              <a:srgbClr val="000000"/>
            </a:solidFill>
            <a:prstDash val="solid"/>
            <a:bevel/>
            <a:headEnd type="none" w="med" len="med"/>
            <a:tailEnd type="none" w="med" len="med"/>
          </a:ln>
        </p:spPr>
      </p:sp>
      <p:sp>
        <p:nvSpPr>
          <p:cNvPr id="202900" name="Line 215"/>
          <p:cNvSpPr/>
          <p:nvPr/>
        </p:nvSpPr>
        <p:spPr>
          <a:xfrm flipH="1">
            <a:off x="1825625" y="4164013"/>
            <a:ext cx="214313" cy="1587"/>
          </a:xfrm>
          <a:prstGeom prst="line">
            <a:avLst/>
          </a:prstGeom>
          <a:ln w="15875" cap="flat" cmpd="sng">
            <a:solidFill>
              <a:srgbClr val="000000"/>
            </a:solidFill>
            <a:prstDash val="solid"/>
            <a:bevel/>
            <a:headEnd type="none" w="med" len="med"/>
            <a:tailEnd type="none" w="med" len="med"/>
          </a:ln>
        </p:spPr>
      </p:sp>
      <p:sp>
        <p:nvSpPr>
          <p:cNvPr id="202901" name="Line 216"/>
          <p:cNvSpPr/>
          <p:nvPr/>
        </p:nvSpPr>
        <p:spPr>
          <a:xfrm flipH="1">
            <a:off x="1984375" y="4505325"/>
            <a:ext cx="215900" cy="1588"/>
          </a:xfrm>
          <a:prstGeom prst="line">
            <a:avLst/>
          </a:prstGeom>
          <a:ln w="15875" cap="flat" cmpd="sng">
            <a:solidFill>
              <a:srgbClr val="000000"/>
            </a:solidFill>
            <a:prstDash val="solid"/>
            <a:bevel/>
            <a:headEnd type="none" w="med" len="med"/>
            <a:tailEnd type="none" w="med" len="med"/>
          </a:ln>
        </p:spPr>
      </p:sp>
      <p:sp>
        <p:nvSpPr>
          <p:cNvPr id="202902" name="Line 217"/>
          <p:cNvSpPr/>
          <p:nvPr/>
        </p:nvSpPr>
        <p:spPr>
          <a:xfrm flipH="1">
            <a:off x="1992313" y="4725988"/>
            <a:ext cx="209550" cy="1587"/>
          </a:xfrm>
          <a:prstGeom prst="line">
            <a:avLst/>
          </a:prstGeom>
          <a:ln w="15875" cap="flat" cmpd="sng">
            <a:solidFill>
              <a:srgbClr val="000000"/>
            </a:solidFill>
            <a:prstDash val="solid"/>
            <a:bevel/>
            <a:headEnd type="none" w="med" len="med"/>
            <a:tailEnd type="none" w="med" len="med"/>
          </a:ln>
        </p:spPr>
      </p:sp>
      <p:sp>
        <p:nvSpPr>
          <p:cNvPr id="202903" name="Line 218"/>
          <p:cNvSpPr/>
          <p:nvPr/>
        </p:nvSpPr>
        <p:spPr>
          <a:xfrm flipH="1">
            <a:off x="1992313" y="4935538"/>
            <a:ext cx="203200" cy="1587"/>
          </a:xfrm>
          <a:prstGeom prst="line">
            <a:avLst/>
          </a:prstGeom>
          <a:ln w="15875" cap="flat" cmpd="sng">
            <a:solidFill>
              <a:srgbClr val="000000"/>
            </a:solidFill>
            <a:prstDash val="solid"/>
            <a:bevel/>
            <a:headEnd type="none" w="med" len="med"/>
            <a:tailEnd type="none" w="med" len="med"/>
          </a:ln>
        </p:spPr>
      </p:sp>
      <p:sp>
        <p:nvSpPr>
          <p:cNvPr id="202904" name="Line 219"/>
          <p:cNvSpPr/>
          <p:nvPr/>
        </p:nvSpPr>
        <p:spPr>
          <a:xfrm flipH="1">
            <a:off x="1982788" y="5154613"/>
            <a:ext cx="215900" cy="1587"/>
          </a:xfrm>
          <a:prstGeom prst="line">
            <a:avLst/>
          </a:prstGeom>
          <a:ln w="15875" cap="flat" cmpd="sng">
            <a:solidFill>
              <a:srgbClr val="000000"/>
            </a:solidFill>
            <a:prstDash val="solid"/>
            <a:bevel/>
            <a:headEnd type="none" w="med" len="med"/>
            <a:tailEnd type="none" w="med" len="med"/>
          </a:ln>
        </p:spPr>
      </p:sp>
      <p:sp>
        <p:nvSpPr>
          <p:cNvPr id="202905" name="Line 220"/>
          <p:cNvSpPr/>
          <p:nvPr/>
        </p:nvSpPr>
        <p:spPr>
          <a:xfrm>
            <a:off x="5830888" y="5813425"/>
            <a:ext cx="1587" cy="184150"/>
          </a:xfrm>
          <a:prstGeom prst="line">
            <a:avLst/>
          </a:prstGeom>
          <a:ln w="15875" cap="flat" cmpd="sng">
            <a:solidFill>
              <a:srgbClr val="000000"/>
            </a:solidFill>
            <a:prstDash val="solid"/>
            <a:bevel/>
            <a:headEnd type="none" w="med" len="med"/>
            <a:tailEnd type="none" w="med" len="med"/>
          </a:ln>
        </p:spPr>
      </p:sp>
      <p:sp>
        <p:nvSpPr>
          <p:cNvPr id="202906" name="Line 221"/>
          <p:cNvSpPr/>
          <p:nvPr/>
        </p:nvSpPr>
        <p:spPr>
          <a:xfrm>
            <a:off x="5949950" y="5805488"/>
            <a:ext cx="1588" cy="192087"/>
          </a:xfrm>
          <a:prstGeom prst="line">
            <a:avLst/>
          </a:prstGeom>
          <a:ln w="15875" cap="flat" cmpd="sng">
            <a:solidFill>
              <a:srgbClr val="000000"/>
            </a:solidFill>
            <a:prstDash val="solid"/>
            <a:bevel/>
            <a:headEnd type="none" w="med" len="med"/>
            <a:tailEnd type="none" w="med" len="med"/>
          </a:ln>
        </p:spPr>
      </p:sp>
      <p:sp>
        <p:nvSpPr>
          <p:cNvPr id="202907" name="Line 222"/>
          <p:cNvSpPr/>
          <p:nvPr/>
        </p:nvSpPr>
        <p:spPr>
          <a:xfrm>
            <a:off x="6710363" y="4203700"/>
            <a:ext cx="1587" cy="144463"/>
          </a:xfrm>
          <a:prstGeom prst="line">
            <a:avLst/>
          </a:prstGeom>
          <a:ln w="15875" cap="flat" cmpd="sng">
            <a:solidFill>
              <a:srgbClr val="000000"/>
            </a:solidFill>
            <a:prstDash val="solid"/>
            <a:bevel/>
            <a:headEnd type="none" w="med" len="med"/>
            <a:tailEnd type="none" w="med" len="med"/>
          </a:ln>
        </p:spPr>
      </p:sp>
      <p:sp>
        <p:nvSpPr>
          <p:cNvPr id="202908" name="Line 223"/>
          <p:cNvSpPr/>
          <p:nvPr/>
        </p:nvSpPr>
        <p:spPr>
          <a:xfrm flipV="1">
            <a:off x="4221163" y="4206875"/>
            <a:ext cx="1587" cy="177800"/>
          </a:xfrm>
          <a:prstGeom prst="line">
            <a:avLst/>
          </a:prstGeom>
          <a:ln w="15875" cap="flat" cmpd="sng">
            <a:solidFill>
              <a:srgbClr val="000000"/>
            </a:solidFill>
            <a:prstDash val="solid"/>
            <a:bevel/>
            <a:headEnd type="none" w="med" len="med"/>
            <a:tailEnd type="none" w="med" len="med"/>
          </a:ln>
        </p:spPr>
      </p:sp>
      <p:sp>
        <p:nvSpPr>
          <p:cNvPr id="202909" name="Line 224"/>
          <p:cNvSpPr/>
          <p:nvPr/>
        </p:nvSpPr>
        <p:spPr>
          <a:xfrm flipH="1">
            <a:off x="3784600" y="4202113"/>
            <a:ext cx="436563" cy="1587"/>
          </a:xfrm>
          <a:prstGeom prst="line">
            <a:avLst/>
          </a:prstGeom>
          <a:ln w="15875" cap="flat" cmpd="sng">
            <a:solidFill>
              <a:srgbClr val="000000"/>
            </a:solidFill>
            <a:prstDash val="solid"/>
            <a:bevel/>
            <a:headEnd type="none" w="med" len="med"/>
            <a:tailEnd type="none" w="med" len="med"/>
          </a:ln>
        </p:spPr>
      </p:sp>
      <p:sp>
        <p:nvSpPr>
          <p:cNvPr id="202910" name="Line 225"/>
          <p:cNvSpPr/>
          <p:nvPr/>
        </p:nvSpPr>
        <p:spPr>
          <a:xfrm>
            <a:off x="6421438" y="5086350"/>
            <a:ext cx="236537" cy="1588"/>
          </a:xfrm>
          <a:prstGeom prst="line">
            <a:avLst/>
          </a:prstGeom>
          <a:ln w="15875" cap="flat" cmpd="sng">
            <a:solidFill>
              <a:srgbClr val="000000"/>
            </a:solidFill>
            <a:prstDash val="solid"/>
            <a:bevel/>
            <a:headEnd type="none" w="med" len="med"/>
            <a:tailEnd type="none" w="med" len="med"/>
          </a:ln>
        </p:spPr>
      </p:sp>
      <p:sp>
        <p:nvSpPr>
          <p:cNvPr id="202911" name="Line 226"/>
          <p:cNvSpPr/>
          <p:nvPr/>
        </p:nvSpPr>
        <p:spPr>
          <a:xfrm>
            <a:off x="6435725" y="5194300"/>
            <a:ext cx="222250" cy="1588"/>
          </a:xfrm>
          <a:prstGeom prst="line">
            <a:avLst/>
          </a:prstGeom>
          <a:ln w="15875" cap="flat" cmpd="sng">
            <a:solidFill>
              <a:srgbClr val="000000"/>
            </a:solidFill>
            <a:prstDash val="solid"/>
            <a:bevel/>
            <a:headEnd type="none" w="med" len="med"/>
            <a:tailEnd type="none" w="med" len="med"/>
          </a:ln>
        </p:spPr>
      </p:sp>
      <p:sp>
        <p:nvSpPr>
          <p:cNvPr id="202912" name="Line 227"/>
          <p:cNvSpPr/>
          <p:nvPr/>
        </p:nvSpPr>
        <p:spPr>
          <a:xfrm>
            <a:off x="7605713" y="5389563"/>
            <a:ext cx="161925" cy="1587"/>
          </a:xfrm>
          <a:prstGeom prst="line">
            <a:avLst/>
          </a:prstGeom>
          <a:ln w="15875" cap="flat" cmpd="sng">
            <a:solidFill>
              <a:srgbClr val="000000"/>
            </a:solidFill>
            <a:prstDash val="solid"/>
            <a:bevel/>
            <a:headEnd type="none" w="med" len="med"/>
            <a:tailEnd type="none" w="med" len="med"/>
          </a:ln>
        </p:spPr>
      </p:sp>
      <p:sp>
        <p:nvSpPr>
          <p:cNvPr id="202913" name="Line 228"/>
          <p:cNvSpPr/>
          <p:nvPr/>
        </p:nvSpPr>
        <p:spPr>
          <a:xfrm>
            <a:off x="7607300" y="5595938"/>
            <a:ext cx="155575" cy="1587"/>
          </a:xfrm>
          <a:prstGeom prst="line">
            <a:avLst/>
          </a:prstGeom>
          <a:ln w="15875" cap="flat" cmpd="sng">
            <a:solidFill>
              <a:srgbClr val="000000"/>
            </a:solidFill>
            <a:prstDash val="solid"/>
            <a:bevel/>
            <a:headEnd type="none" w="med" len="med"/>
            <a:tailEnd type="none" w="med" len="med"/>
          </a:ln>
        </p:spPr>
      </p:sp>
      <p:sp>
        <p:nvSpPr>
          <p:cNvPr id="202914" name="Line 229"/>
          <p:cNvSpPr/>
          <p:nvPr/>
        </p:nvSpPr>
        <p:spPr>
          <a:xfrm>
            <a:off x="7608888" y="5802313"/>
            <a:ext cx="157162" cy="1587"/>
          </a:xfrm>
          <a:prstGeom prst="line">
            <a:avLst/>
          </a:prstGeom>
          <a:ln w="15875" cap="flat" cmpd="sng">
            <a:solidFill>
              <a:srgbClr val="000000"/>
            </a:solidFill>
            <a:prstDash val="solid"/>
            <a:bevel/>
            <a:headEnd type="none" w="med" len="med"/>
            <a:tailEnd type="none" w="med" len="med"/>
          </a:ln>
        </p:spPr>
      </p:sp>
      <p:sp>
        <p:nvSpPr>
          <p:cNvPr id="202915" name="Line 230"/>
          <p:cNvSpPr/>
          <p:nvPr/>
        </p:nvSpPr>
        <p:spPr>
          <a:xfrm>
            <a:off x="7615238" y="6007100"/>
            <a:ext cx="160337" cy="1588"/>
          </a:xfrm>
          <a:prstGeom prst="line">
            <a:avLst/>
          </a:prstGeom>
          <a:ln w="15875" cap="flat" cmpd="sng">
            <a:solidFill>
              <a:srgbClr val="000000"/>
            </a:solidFill>
            <a:prstDash val="solid"/>
            <a:bevel/>
            <a:headEnd type="none" w="med" len="med"/>
            <a:tailEnd type="none" w="med" len="med"/>
          </a:ln>
        </p:spPr>
      </p:sp>
      <p:sp>
        <p:nvSpPr>
          <p:cNvPr id="202916" name="Line 231"/>
          <p:cNvSpPr/>
          <p:nvPr/>
        </p:nvSpPr>
        <p:spPr>
          <a:xfrm flipH="1">
            <a:off x="7048500" y="3851275"/>
            <a:ext cx="190500" cy="1588"/>
          </a:xfrm>
          <a:prstGeom prst="line">
            <a:avLst/>
          </a:prstGeom>
          <a:ln w="15875" cap="flat" cmpd="sng">
            <a:solidFill>
              <a:srgbClr val="000000"/>
            </a:solidFill>
            <a:prstDash val="solid"/>
            <a:bevel/>
            <a:headEnd type="none" w="med" len="med"/>
            <a:tailEnd type="none" w="med" len="med"/>
          </a:ln>
        </p:spPr>
      </p:sp>
      <p:sp>
        <p:nvSpPr>
          <p:cNvPr id="202917" name="Line 232"/>
          <p:cNvSpPr/>
          <p:nvPr/>
        </p:nvSpPr>
        <p:spPr>
          <a:xfrm>
            <a:off x="4673600" y="3956050"/>
            <a:ext cx="1588" cy="147638"/>
          </a:xfrm>
          <a:prstGeom prst="line">
            <a:avLst/>
          </a:prstGeom>
          <a:ln w="15875" cap="flat" cmpd="sng">
            <a:solidFill>
              <a:srgbClr val="000000"/>
            </a:solidFill>
            <a:prstDash val="solid"/>
            <a:bevel/>
            <a:headEnd type="none" w="med" len="med"/>
            <a:tailEnd type="none" w="med" len="med"/>
          </a:ln>
        </p:spPr>
      </p:sp>
      <p:sp>
        <p:nvSpPr>
          <p:cNvPr id="202918" name="Line 233"/>
          <p:cNvSpPr/>
          <p:nvPr/>
        </p:nvSpPr>
        <p:spPr>
          <a:xfrm flipV="1">
            <a:off x="5859463" y="3956050"/>
            <a:ext cx="1587" cy="150813"/>
          </a:xfrm>
          <a:prstGeom prst="line">
            <a:avLst/>
          </a:prstGeom>
          <a:ln w="15875" cap="flat" cmpd="sng">
            <a:solidFill>
              <a:srgbClr val="000000"/>
            </a:solidFill>
            <a:prstDash val="solid"/>
            <a:bevel/>
            <a:headEnd type="none" w="med" len="med"/>
            <a:tailEnd type="none" w="med" len="med"/>
          </a:ln>
        </p:spPr>
      </p:sp>
      <p:sp>
        <p:nvSpPr>
          <p:cNvPr id="202919" name="Line 234"/>
          <p:cNvSpPr/>
          <p:nvPr/>
        </p:nvSpPr>
        <p:spPr>
          <a:xfrm>
            <a:off x="1274763" y="3349625"/>
            <a:ext cx="288925" cy="0"/>
          </a:xfrm>
          <a:prstGeom prst="line">
            <a:avLst/>
          </a:prstGeom>
          <a:ln w="25400" cap="flat" cmpd="sng">
            <a:solidFill>
              <a:schemeClr val="tx1"/>
            </a:solidFill>
            <a:prstDash val="solid"/>
            <a:bevel/>
            <a:headEnd type="none" w="med" len="med"/>
            <a:tailEnd type="none" w="med" len="med"/>
          </a:ln>
        </p:spPr>
      </p:sp>
      <p:sp>
        <p:nvSpPr>
          <p:cNvPr id="202920" name="Line 235"/>
          <p:cNvSpPr/>
          <p:nvPr/>
        </p:nvSpPr>
        <p:spPr>
          <a:xfrm>
            <a:off x="1217613" y="3636963"/>
            <a:ext cx="360362" cy="0"/>
          </a:xfrm>
          <a:prstGeom prst="line">
            <a:avLst/>
          </a:prstGeom>
          <a:ln w="25400" cap="flat" cmpd="sng">
            <a:solidFill>
              <a:schemeClr val="tx1"/>
            </a:solidFill>
            <a:prstDash val="solid"/>
            <a:bevel/>
            <a:headEnd type="none" w="med" len="med"/>
            <a:tailEnd type="none" w="med" len="med"/>
          </a:ln>
        </p:spPr>
      </p:sp>
      <p:sp>
        <p:nvSpPr>
          <p:cNvPr id="202921" name="Line 236"/>
          <p:cNvSpPr/>
          <p:nvPr/>
        </p:nvSpPr>
        <p:spPr>
          <a:xfrm>
            <a:off x="1260475" y="4111625"/>
            <a:ext cx="288925" cy="0"/>
          </a:xfrm>
          <a:prstGeom prst="line">
            <a:avLst/>
          </a:prstGeom>
          <a:ln w="25400" cap="flat" cmpd="sng">
            <a:solidFill>
              <a:schemeClr val="tx1"/>
            </a:solidFill>
            <a:prstDash val="solid"/>
            <a:bevel/>
            <a:headEnd type="none" w="med" len="med"/>
            <a:tailEnd type="none" w="med" len="med"/>
          </a:ln>
        </p:spPr>
      </p:sp>
      <p:sp>
        <p:nvSpPr>
          <p:cNvPr id="202922" name="Line 237"/>
          <p:cNvSpPr/>
          <p:nvPr/>
        </p:nvSpPr>
        <p:spPr>
          <a:xfrm>
            <a:off x="1203325" y="4616450"/>
            <a:ext cx="504825" cy="0"/>
          </a:xfrm>
          <a:prstGeom prst="line">
            <a:avLst/>
          </a:prstGeom>
          <a:ln w="25400" cap="flat" cmpd="sng">
            <a:solidFill>
              <a:schemeClr val="tx1"/>
            </a:solidFill>
            <a:prstDash val="solid"/>
            <a:bevel/>
            <a:headEnd type="none" w="med" len="med"/>
            <a:tailEnd type="none" w="med" len="med"/>
          </a:ln>
        </p:spPr>
      </p:sp>
      <p:sp>
        <p:nvSpPr>
          <p:cNvPr id="202923" name="Line 238"/>
          <p:cNvSpPr/>
          <p:nvPr/>
        </p:nvSpPr>
        <p:spPr>
          <a:xfrm>
            <a:off x="1203325" y="4860925"/>
            <a:ext cx="504825" cy="0"/>
          </a:xfrm>
          <a:prstGeom prst="line">
            <a:avLst/>
          </a:prstGeom>
          <a:ln w="25400" cap="flat" cmpd="sng">
            <a:solidFill>
              <a:schemeClr val="tx1"/>
            </a:solidFill>
            <a:prstDash val="solid"/>
            <a:bevel/>
            <a:headEnd type="none" w="med" len="med"/>
            <a:tailEnd type="none" w="med" len="med"/>
          </a:ln>
        </p:spPr>
      </p:sp>
      <p:sp>
        <p:nvSpPr>
          <p:cNvPr id="202924" name="Line 239"/>
          <p:cNvSpPr/>
          <p:nvPr/>
        </p:nvSpPr>
        <p:spPr>
          <a:xfrm>
            <a:off x="1204913" y="5091113"/>
            <a:ext cx="504825" cy="0"/>
          </a:xfrm>
          <a:prstGeom prst="line">
            <a:avLst/>
          </a:prstGeom>
          <a:ln w="25400" cap="flat" cmpd="sng">
            <a:solidFill>
              <a:schemeClr val="tx1"/>
            </a:solidFill>
            <a:prstDash val="solid"/>
            <a:bevel/>
            <a:headEnd type="none" w="med" len="med"/>
            <a:tailEnd type="none" w="med" len="med"/>
          </a:ln>
        </p:spPr>
      </p:sp>
      <p:sp>
        <p:nvSpPr>
          <p:cNvPr id="202925" name="Line 240"/>
          <p:cNvSpPr/>
          <p:nvPr/>
        </p:nvSpPr>
        <p:spPr>
          <a:xfrm>
            <a:off x="4471988" y="1995488"/>
            <a:ext cx="431800" cy="0"/>
          </a:xfrm>
          <a:prstGeom prst="line">
            <a:avLst/>
          </a:prstGeom>
          <a:ln w="25400" cap="flat" cmpd="sng">
            <a:solidFill>
              <a:schemeClr val="tx1"/>
            </a:solidFill>
            <a:prstDash val="solid"/>
            <a:bevel/>
            <a:headEnd type="none" w="med" len="med"/>
            <a:tailEnd type="none" w="med" len="med"/>
          </a:ln>
        </p:spPr>
      </p:sp>
      <p:sp>
        <p:nvSpPr>
          <p:cNvPr id="202926" name="Rectangle 243"/>
          <p:cNvSpPr/>
          <p:nvPr/>
        </p:nvSpPr>
        <p:spPr>
          <a:xfrm>
            <a:off x="746125" y="5588000"/>
            <a:ext cx="2741613" cy="70802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
                <a:srgbClr val="A50021"/>
              </a:buClr>
              <a:buSzTx/>
              <a:buNone/>
            </a:pPr>
            <a:r>
              <a:rPr lang="en-US" altLang="zh-CN" sz="2000" b="0" dirty="0">
                <a:solidFill>
                  <a:schemeClr val="tx1"/>
                </a:solidFill>
                <a:ea typeface="楷体_GB2312"/>
              </a:rPr>
              <a:t>    </a:t>
            </a:r>
            <a:r>
              <a:rPr lang="zh-CN" altLang="en-US" sz="2000" b="0" dirty="0">
                <a:solidFill>
                  <a:schemeClr val="tx1"/>
                </a:solidFill>
                <a:ea typeface="楷体_GB2312"/>
              </a:rPr>
              <a:t>级联逻辑控制</a:t>
            </a:r>
            <a:r>
              <a:rPr lang="en-US" altLang="zh-CN" sz="2000" b="0" dirty="0">
                <a:solidFill>
                  <a:schemeClr val="tx1"/>
                </a:solidFill>
                <a:ea typeface="楷体_GB2312"/>
              </a:rPr>
              <a:t>8259A</a:t>
            </a:r>
            <a:r>
              <a:rPr lang="zh-CN" altLang="en-US" sz="2000" b="0" dirty="0">
                <a:solidFill>
                  <a:schemeClr val="tx1"/>
                </a:solidFill>
                <a:ea typeface="楷体_GB2312"/>
              </a:rPr>
              <a:t>的主从工作方式</a:t>
            </a:r>
            <a:endParaRPr lang="zh-CN" altLang="en-US" sz="2000" b="0" dirty="0">
              <a:solidFill>
                <a:schemeClr val="tx1"/>
              </a:solidFill>
              <a:ea typeface="楷体_GB2312"/>
            </a:endParaRPr>
          </a:p>
        </p:txBody>
      </p:sp>
    </p:spTree>
  </p:cSld>
  <p:clrMapOvr>
    <a:masterClrMapping/>
  </p:clrMapOvr>
  <p:transition spd="slow">
    <p:zo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03778" name="Group 2"/>
          <p:cNvGrpSpPr/>
          <p:nvPr/>
        </p:nvGrpSpPr>
        <p:grpSpPr>
          <a:xfrm>
            <a:off x="107950" y="1628775"/>
            <a:ext cx="8588375" cy="4800600"/>
            <a:chOff x="0" y="0"/>
            <a:chExt cx="5568" cy="3024"/>
          </a:xfrm>
        </p:grpSpPr>
        <p:grpSp>
          <p:nvGrpSpPr>
            <p:cNvPr id="203779" name="Group 3"/>
            <p:cNvGrpSpPr/>
            <p:nvPr/>
          </p:nvGrpSpPr>
          <p:grpSpPr>
            <a:xfrm>
              <a:off x="0" y="1872"/>
              <a:ext cx="864" cy="304"/>
              <a:chOff x="0" y="0"/>
              <a:chExt cx="864" cy="304"/>
            </a:xfrm>
          </p:grpSpPr>
          <p:sp>
            <p:nvSpPr>
              <p:cNvPr id="203890" name="Text Box 4"/>
              <p:cNvSpPr txBox="1"/>
              <p:nvPr/>
            </p:nvSpPr>
            <p:spPr>
              <a:xfrm>
                <a:off x="624" y="0"/>
                <a:ext cx="240" cy="294"/>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&amp;</a:t>
                </a:r>
                <a:endParaRPr lang="en-US" altLang="zh-CN" sz="2400" dirty="0">
                  <a:solidFill>
                    <a:schemeClr val="tx1"/>
                  </a:solidFill>
                  <a:latin typeface="Times New Roman" panose="02020603050405020304" pitchFamily="18" charset="0"/>
                  <a:ea typeface="楷体_GB2312"/>
                </a:endParaRPr>
              </a:p>
            </p:txBody>
          </p:sp>
          <p:sp>
            <p:nvSpPr>
              <p:cNvPr id="203891" name="Line 5"/>
              <p:cNvSpPr/>
              <p:nvPr/>
            </p:nvSpPr>
            <p:spPr>
              <a:xfrm flipH="1">
                <a:off x="384" y="150"/>
                <a:ext cx="240" cy="0"/>
              </a:xfrm>
              <a:prstGeom prst="line">
                <a:avLst/>
              </a:prstGeom>
              <a:ln w="9525" cap="flat" cmpd="sng">
                <a:solidFill>
                  <a:schemeClr val="tx1"/>
                </a:solidFill>
                <a:prstDash val="solid"/>
                <a:bevel/>
                <a:headEnd type="none" w="med" len="med"/>
                <a:tailEnd type="triangle" w="med" len="med"/>
              </a:ln>
            </p:spPr>
          </p:sp>
          <p:sp>
            <p:nvSpPr>
              <p:cNvPr id="203892" name="Text Box 6"/>
              <p:cNvSpPr txBox="1"/>
              <p:nvPr/>
            </p:nvSpPr>
            <p:spPr>
              <a:xfrm>
                <a:off x="0" y="54"/>
                <a:ext cx="413" cy="250"/>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INT</a:t>
                </a:r>
                <a:endParaRPr lang="en-US" altLang="zh-CN" sz="2000" dirty="0">
                  <a:solidFill>
                    <a:schemeClr val="tx1"/>
                  </a:solidFill>
                  <a:latin typeface="Times New Roman" panose="02020603050405020304" pitchFamily="18" charset="0"/>
                  <a:ea typeface="楷体_GB2312"/>
                </a:endParaRPr>
              </a:p>
            </p:txBody>
          </p:sp>
        </p:grpSp>
        <p:sp>
          <p:nvSpPr>
            <p:cNvPr id="203780" name="Text Box 7"/>
            <p:cNvSpPr txBox="1"/>
            <p:nvPr/>
          </p:nvSpPr>
          <p:spPr>
            <a:xfrm>
              <a:off x="1325" y="416"/>
              <a:ext cx="731" cy="256"/>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ISR</a:t>
              </a:r>
              <a:r>
                <a:rPr lang="zh-CN" altLang="en-US" sz="2000" dirty="0">
                  <a:solidFill>
                    <a:schemeClr val="tx1"/>
                  </a:solidFill>
                  <a:latin typeface="Times New Roman" panose="02020603050405020304" pitchFamily="18" charset="0"/>
                  <a:ea typeface="楷体_GB2312"/>
                </a:rPr>
                <a:t>编码</a:t>
              </a:r>
              <a:endParaRPr lang="zh-CN" altLang="en-US" sz="2000" dirty="0">
                <a:solidFill>
                  <a:schemeClr val="tx1"/>
                </a:solidFill>
                <a:latin typeface="Times New Roman" panose="02020603050405020304" pitchFamily="18" charset="0"/>
                <a:ea typeface="楷体_GB2312"/>
              </a:endParaRPr>
            </a:p>
          </p:txBody>
        </p:sp>
        <p:sp>
          <p:nvSpPr>
            <p:cNvPr id="203781" name="Text Box 8"/>
            <p:cNvSpPr txBox="1"/>
            <p:nvPr/>
          </p:nvSpPr>
          <p:spPr>
            <a:xfrm>
              <a:off x="2077" y="832"/>
              <a:ext cx="323" cy="2144"/>
            </a:xfrm>
            <a:prstGeom prst="rect">
              <a:avLst/>
            </a:prstGeom>
            <a:noFill/>
            <a:ln w="9525" cap="flat" cmpd="sng">
              <a:solidFill>
                <a:schemeClr val="tx1"/>
              </a:solidFill>
              <a:prstDash val="solid"/>
              <a:miter/>
              <a:headEnd type="none" w="med" len="med"/>
              <a:tailEnd type="none" w="med" len="med"/>
            </a:ln>
          </p:spPr>
          <p:txBody>
            <a:bodyPr vert="eaVert">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2000" dirty="0">
                  <a:solidFill>
                    <a:schemeClr val="tx1"/>
                  </a:solidFill>
                  <a:latin typeface="Times New Roman" panose="02020603050405020304" pitchFamily="18" charset="0"/>
                  <a:ea typeface="楷体_GB2312"/>
                </a:rPr>
                <a:t>中断请求优先级编码器</a:t>
              </a:r>
              <a:endParaRPr lang="zh-CN" altLang="en-US" sz="2000" dirty="0">
                <a:solidFill>
                  <a:schemeClr val="tx1"/>
                </a:solidFill>
                <a:latin typeface="Times New Roman" panose="02020603050405020304" pitchFamily="18" charset="0"/>
                <a:ea typeface="楷体_GB2312"/>
              </a:endParaRPr>
            </a:p>
          </p:txBody>
        </p:sp>
        <p:grpSp>
          <p:nvGrpSpPr>
            <p:cNvPr id="203782" name="Group 9"/>
            <p:cNvGrpSpPr/>
            <p:nvPr/>
          </p:nvGrpSpPr>
          <p:grpSpPr>
            <a:xfrm>
              <a:off x="4611" y="912"/>
              <a:ext cx="957" cy="2112"/>
              <a:chOff x="0" y="0"/>
              <a:chExt cx="957" cy="2112"/>
            </a:xfrm>
          </p:grpSpPr>
          <p:sp>
            <p:nvSpPr>
              <p:cNvPr id="203877" name="Text Box 10"/>
              <p:cNvSpPr txBox="1"/>
              <p:nvPr/>
            </p:nvSpPr>
            <p:spPr>
              <a:xfrm>
                <a:off x="0" y="0"/>
                <a:ext cx="323" cy="2064"/>
              </a:xfrm>
              <a:prstGeom prst="rect">
                <a:avLst/>
              </a:prstGeom>
              <a:noFill/>
              <a:ln w="9525" cap="flat" cmpd="sng">
                <a:solidFill>
                  <a:schemeClr val="tx1"/>
                </a:solidFill>
                <a:prstDash val="solid"/>
                <a:miter/>
                <a:headEnd type="none" w="med" len="med"/>
                <a:tailEnd type="none" w="med" len="med"/>
              </a:ln>
            </p:spPr>
            <p:txBody>
              <a:bodyPr vert="eaVert">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2000" dirty="0">
                    <a:solidFill>
                      <a:schemeClr val="tx1"/>
                    </a:solidFill>
                    <a:latin typeface="Times New Roman" panose="02020603050405020304" pitchFamily="18" charset="0"/>
                    <a:ea typeface="楷体_GB2312"/>
                  </a:rPr>
                  <a:t>中断请求寄存器</a:t>
                </a:r>
                <a:r>
                  <a:rPr lang="en-US" altLang="zh-CN" sz="2000" dirty="0">
                    <a:solidFill>
                      <a:schemeClr val="tx1"/>
                    </a:solidFill>
                    <a:latin typeface="Times New Roman" panose="02020603050405020304" pitchFamily="18" charset="0"/>
                    <a:ea typeface="楷体_GB2312"/>
                  </a:rPr>
                  <a:t>IRR</a:t>
                </a:r>
                <a:endParaRPr lang="en-US" altLang="zh-CN" sz="2000" dirty="0">
                  <a:solidFill>
                    <a:schemeClr val="tx1"/>
                  </a:solidFill>
                  <a:latin typeface="Times New Roman" panose="02020603050405020304" pitchFamily="18" charset="0"/>
                  <a:ea typeface="楷体_GB2312"/>
                </a:endParaRPr>
              </a:p>
            </p:txBody>
          </p:sp>
          <p:sp>
            <p:nvSpPr>
              <p:cNvPr id="203878" name="Line 11"/>
              <p:cNvSpPr/>
              <p:nvPr/>
            </p:nvSpPr>
            <p:spPr>
              <a:xfrm flipH="1">
                <a:off x="323" y="114"/>
                <a:ext cx="192" cy="0"/>
              </a:xfrm>
              <a:prstGeom prst="line">
                <a:avLst/>
              </a:prstGeom>
              <a:ln w="9525" cap="flat" cmpd="sng">
                <a:solidFill>
                  <a:schemeClr val="tx1"/>
                </a:solidFill>
                <a:prstDash val="solid"/>
                <a:bevel/>
                <a:headEnd type="none" w="med" len="med"/>
                <a:tailEnd type="triangle" w="med" len="med"/>
              </a:ln>
            </p:spPr>
          </p:sp>
          <p:sp>
            <p:nvSpPr>
              <p:cNvPr id="203879" name="Line 12"/>
              <p:cNvSpPr/>
              <p:nvPr/>
            </p:nvSpPr>
            <p:spPr>
              <a:xfrm flipH="1">
                <a:off x="323" y="384"/>
                <a:ext cx="192" cy="0"/>
              </a:xfrm>
              <a:prstGeom prst="line">
                <a:avLst/>
              </a:prstGeom>
              <a:ln w="9525" cap="flat" cmpd="sng">
                <a:solidFill>
                  <a:schemeClr val="tx1"/>
                </a:solidFill>
                <a:prstDash val="solid"/>
                <a:bevel/>
                <a:headEnd type="none" w="med" len="med"/>
                <a:tailEnd type="triangle" w="med" len="med"/>
              </a:ln>
            </p:spPr>
          </p:sp>
          <p:sp>
            <p:nvSpPr>
              <p:cNvPr id="203880" name="Line 13"/>
              <p:cNvSpPr/>
              <p:nvPr/>
            </p:nvSpPr>
            <p:spPr>
              <a:xfrm flipH="1">
                <a:off x="323" y="672"/>
                <a:ext cx="192" cy="0"/>
              </a:xfrm>
              <a:prstGeom prst="line">
                <a:avLst/>
              </a:prstGeom>
              <a:ln w="9525" cap="flat" cmpd="sng">
                <a:solidFill>
                  <a:schemeClr val="tx1"/>
                </a:solidFill>
                <a:prstDash val="solid"/>
                <a:bevel/>
                <a:headEnd type="none" w="med" len="med"/>
                <a:tailEnd type="triangle" w="med" len="med"/>
              </a:ln>
            </p:spPr>
          </p:sp>
          <p:sp>
            <p:nvSpPr>
              <p:cNvPr id="203881" name="Line 14"/>
              <p:cNvSpPr/>
              <p:nvPr/>
            </p:nvSpPr>
            <p:spPr>
              <a:xfrm flipH="1">
                <a:off x="323" y="960"/>
                <a:ext cx="192" cy="0"/>
              </a:xfrm>
              <a:prstGeom prst="line">
                <a:avLst/>
              </a:prstGeom>
              <a:ln w="9525" cap="flat" cmpd="sng">
                <a:solidFill>
                  <a:schemeClr val="tx1"/>
                </a:solidFill>
                <a:prstDash val="solid"/>
                <a:bevel/>
                <a:headEnd type="none" w="med" len="med"/>
                <a:tailEnd type="triangle" w="med" len="med"/>
              </a:ln>
            </p:spPr>
          </p:sp>
          <p:sp>
            <p:nvSpPr>
              <p:cNvPr id="203882" name="Line 15"/>
              <p:cNvSpPr/>
              <p:nvPr/>
            </p:nvSpPr>
            <p:spPr>
              <a:xfrm flipH="1">
                <a:off x="323" y="1200"/>
                <a:ext cx="192" cy="0"/>
              </a:xfrm>
              <a:prstGeom prst="line">
                <a:avLst/>
              </a:prstGeom>
              <a:ln w="9525" cap="flat" cmpd="sng">
                <a:solidFill>
                  <a:schemeClr val="tx1"/>
                </a:solidFill>
                <a:prstDash val="solid"/>
                <a:bevel/>
                <a:headEnd type="none" w="med" len="med"/>
                <a:tailEnd type="triangle" w="med" len="med"/>
              </a:ln>
            </p:spPr>
          </p:sp>
          <p:sp>
            <p:nvSpPr>
              <p:cNvPr id="203883" name="Line 16"/>
              <p:cNvSpPr/>
              <p:nvPr/>
            </p:nvSpPr>
            <p:spPr>
              <a:xfrm flipH="1">
                <a:off x="323" y="1488"/>
                <a:ext cx="192" cy="0"/>
              </a:xfrm>
              <a:prstGeom prst="line">
                <a:avLst/>
              </a:prstGeom>
              <a:ln w="9525" cap="flat" cmpd="sng">
                <a:solidFill>
                  <a:schemeClr val="tx1"/>
                </a:solidFill>
                <a:prstDash val="solid"/>
                <a:bevel/>
                <a:headEnd type="none" w="med" len="med"/>
                <a:tailEnd type="triangle" w="med" len="med"/>
              </a:ln>
            </p:spPr>
          </p:sp>
          <p:sp>
            <p:nvSpPr>
              <p:cNvPr id="203884" name="Line 17"/>
              <p:cNvSpPr/>
              <p:nvPr/>
            </p:nvSpPr>
            <p:spPr>
              <a:xfrm flipH="1">
                <a:off x="323" y="1728"/>
                <a:ext cx="192" cy="0"/>
              </a:xfrm>
              <a:prstGeom prst="line">
                <a:avLst/>
              </a:prstGeom>
              <a:ln w="9525" cap="flat" cmpd="sng">
                <a:solidFill>
                  <a:schemeClr val="tx1"/>
                </a:solidFill>
                <a:prstDash val="solid"/>
                <a:bevel/>
                <a:headEnd type="none" w="med" len="med"/>
                <a:tailEnd type="triangle" w="med" len="med"/>
              </a:ln>
            </p:spPr>
          </p:sp>
          <p:sp>
            <p:nvSpPr>
              <p:cNvPr id="203885" name="Line 18"/>
              <p:cNvSpPr/>
              <p:nvPr/>
            </p:nvSpPr>
            <p:spPr>
              <a:xfrm flipH="1">
                <a:off x="323" y="1968"/>
                <a:ext cx="192" cy="0"/>
              </a:xfrm>
              <a:prstGeom prst="line">
                <a:avLst/>
              </a:prstGeom>
              <a:ln w="9525" cap="flat" cmpd="sng">
                <a:solidFill>
                  <a:schemeClr val="tx1"/>
                </a:solidFill>
                <a:prstDash val="solid"/>
                <a:bevel/>
                <a:headEnd type="none" w="med" len="med"/>
                <a:tailEnd type="triangle" w="med" len="med"/>
              </a:ln>
            </p:spPr>
          </p:sp>
          <p:sp>
            <p:nvSpPr>
              <p:cNvPr id="203886" name="Text Box 19"/>
              <p:cNvSpPr txBox="1"/>
              <p:nvPr/>
            </p:nvSpPr>
            <p:spPr>
              <a:xfrm>
                <a:off x="563" y="0"/>
                <a:ext cx="356" cy="250"/>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a:t>
                </a:r>
                <a:r>
                  <a:rPr lang="en-US" altLang="zh-CN" sz="2000" baseline="-14000" dirty="0">
                    <a:solidFill>
                      <a:schemeClr val="tx1"/>
                    </a:solidFill>
                    <a:latin typeface="Times New Roman" panose="02020603050405020304" pitchFamily="18" charset="0"/>
                    <a:ea typeface="楷体_GB2312"/>
                  </a:rPr>
                  <a:t>0</a:t>
                </a:r>
                <a:endParaRPr lang="en-US" altLang="zh-CN" sz="2000" baseline="-14000" dirty="0">
                  <a:solidFill>
                    <a:schemeClr val="tx1"/>
                  </a:solidFill>
                  <a:latin typeface="Times New Roman" panose="02020603050405020304" pitchFamily="18" charset="0"/>
                  <a:ea typeface="楷体_GB2312"/>
                </a:endParaRPr>
              </a:p>
            </p:txBody>
          </p:sp>
          <p:sp>
            <p:nvSpPr>
              <p:cNvPr id="203887" name="Text Box 20"/>
              <p:cNvSpPr txBox="1"/>
              <p:nvPr/>
            </p:nvSpPr>
            <p:spPr>
              <a:xfrm>
                <a:off x="563" y="1862"/>
                <a:ext cx="356" cy="250"/>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a:t>
                </a:r>
                <a:r>
                  <a:rPr lang="en-US" altLang="zh-CN" sz="2000" baseline="-14000" dirty="0">
                    <a:solidFill>
                      <a:schemeClr val="tx1"/>
                    </a:solidFill>
                    <a:latin typeface="Times New Roman" panose="02020603050405020304" pitchFamily="18" charset="0"/>
                    <a:ea typeface="楷体_GB2312"/>
                  </a:rPr>
                  <a:t>7</a:t>
                </a:r>
                <a:endParaRPr lang="en-US" altLang="zh-CN" sz="2000" baseline="-14000" dirty="0">
                  <a:solidFill>
                    <a:schemeClr val="tx1"/>
                  </a:solidFill>
                  <a:latin typeface="Times New Roman" panose="02020603050405020304" pitchFamily="18" charset="0"/>
                  <a:ea typeface="楷体_GB2312"/>
                </a:endParaRPr>
              </a:p>
            </p:txBody>
          </p:sp>
          <p:sp>
            <p:nvSpPr>
              <p:cNvPr id="203888" name="Text Box 21"/>
              <p:cNvSpPr txBox="1"/>
              <p:nvPr/>
            </p:nvSpPr>
            <p:spPr>
              <a:xfrm>
                <a:off x="601" y="624"/>
                <a:ext cx="356" cy="250"/>
              </a:xfrm>
              <a:prstGeom prst="rect">
                <a:avLst/>
              </a:prstGeom>
              <a:noFill/>
              <a:ln w="9525">
                <a:noFill/>
              </a:ln>
            </p:spPr>
            <p:txBody>
              <a:bodyPr vert="eaVert"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a:t>
                </a:r>
                <a:endParaRPr lang="en-US" altLang="zh-CN" sz="2400" baseline="-14000" dirty="0">
                  <a:solidFill>
                    <a:schemeClr val="tx1"/>
                  </a:solidFill>
                  <a:latin typeface="Times New Roman" panose="02020603050405020304" pitchFamily="18" charset="0"/>
                  <a:ea typeface="楷体_GB2312"/>
                </a:endParaRPr>
              </a:p>
            </p:txBody>
          </p:sp>
          <p:sp>
            <p:nvSpPr>
              <p:cNvPr id="203889" name="Text Box 22"/>
              <p:cNvSpPr txBox="1"/>
              <p:nvPr/>
            </p:nvSpPr>
            <p:spPr>
              <a:xfrm>
                <a:off x="601" y="950"/>
                <a:ext cx="356" cy="250"/>
              </a:xfrm>
              <a:prstGeom prst="rect">
                <a:avLst/>
              </a:prstGeom>
              <a:noFill/>
              <a:ln w="9525">
                <a:noFill/>
              </a:ln>
            </p:spPr>
            <p:txBody>
              <a:bodyPr vert="eaVert"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a:t>
                </a:r>
                <a:endParaRPr lang="en-US" altLang="zh-CN" sz="2400" baseline="-14000" dirty="0">
                  <a:solidFill>
                    <a:schemeClr val="tx1"/>
                  </a:solidFill>
                  <a:latin typeface="Times New Roman" panose="02020603050405020304" pitchFamily="18" charset="0"/>
                  <a:ea typeface="楷体_GB2312"/>
                </a:endParaRPr>
              </a:p>
            </p:txBody>
          </p:sp>
        </p:grpSp>
        <p:grpSp>
          <p:nvGrpSpPr>
            <p:cNvPr id="203783" name="Group 23"/>
            <p:cNvGrpSpPr/>
            <p:nvPr/>
          </p:nvGrpSpPr>
          <p:grpSpPr>
            <a:xfrm>
              <a:off x="3398" y="849"/>
              <a:ext cx="543" cy="212"/>
              <a:chOff x="0" y="0"/>
              <a:chExt cx="543" cy="212"/>
            </a:xfrm>
          </p:grpSpPr>
          <p:sp>
            <p:nvSpPr>
              <p:cNvPr id="203873" name="Text Box 24"/>
              <p:cNvSpPr txBox="1"/>
              <p:nvPr/>
            </p:nvSpPr>
            <p:spPr>
              <a:xfrm>
                <a:off x="0" y="0"/>
                <a:ext cx="263" cy="212"/>
              </a:xfrm>
              <a:prstGeom prst="rect">
                <a:avLst/>
              </a:prstGeom>
              <a:noFill/>
              <a:ln w="9525" cap="flat" cmpd="sng">
                <a:solidFill>
                  <a:schemeClr val="tx1"/>
                </a:solidFill>
                <a:prstDash val="solid"/>
                <a:miter/>
                <a:headEnd type="none" w="med" len="med"/>
                <a:tailEnd type="none" w="med" len="med"/>
              </a:ln>
            </p:spPr>
            <p:txBody>
              <a:bodyPr wrap="none" tIns="10800" bIns="10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&amp;</a:t>
                </a:r>
                <a:endParaRPr lang="en-US" altLang="zh-CN" sz="2000" dirty="0">
                  <a:solidFill>
                    <a:schemeClr val="tx1"/>
                  </a:solidFill>
                  <a:latin typeface="Times New Roman" panose="02020603050405020304" pitchFamily="18" charset="0"/>
                  <a:ea typeface="楷体_GB2312"/>
                </a:endParaRPr>
              </a:p>
            </p:txBody>
          </p:sp>
          <p:sp>
            <p:nvSpPr>
              <p:cNvPr id="203874" name="Oval 25"/>
              <p:cNvSpPr/>
              <p:nvPr/>
            </p:nvSpPr>
            <p:spPr>
              <a:xfrm>
                <a:off x="255" y="49"/>
                <a:ext cx="48" cy="48"/>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03875" name="Line 26"/>
              <p:cNvSpPr/>
              <p:nvPr/>
            </p:nvSpPr>
            <p:spPr>
              <a:xfrm>
                <a:off x="303" y="67"/>
                <a:ext cx="192" cy="0"/>
              </a:xfrm>
              <a:prstGeom prst="line">
                <a:avLst/>
              </a:prstGeom>
              <a:ln w="9525" cap="flat" cmpd="sng">
                <a:solidFill>
                  <a:schemeClr val="tx1"/>
                </a:solidFill>
                <a:prstDash val="solid"/>
                <a:bevel/>
                <a:headEnd type="none" w="med" len="med"/>
                <a:tailEnd type="none" w="med" len="med"/>
              </a:ln>
            </p:spPr>
          </p:sp>
          <p:sp>
            <p:nvSpPr>
              <p:cNvPr id="203876" name="Line 27"/>
              <p:cNvSpPr/>
              <p:nvPr/>
            </p:nvSpPr>
            <p:spPr>
              <a:xfrm>
                <a:off x="255" y="162"/>
                <a:ext cx="288" cy="0"/>
              </a:xfrm>
              <a:prstGeom prst="line">
                <a:avLst/>
              </a:prstGeom>
              <a:ln w="9525" cap="flat" cmpd="sng">
                <a:solidFill>
                  <a:schemeClr val="tx1"/>
                </a:solidFill>
                <a:prstDash val="solid"/>
                <a:bevel/>
                <a:headEnd type="none" w="med" len="med"/>
                <a:tailEnd type="none" w="med" len="med"/>
              </a:ln>
            </p:spPr>
          </p:sp>
        </p:grpSp>
        <p:grpSp>
          <p:nvGrpSpPr>
            <p:cNvPr id="203784" name="Group 28"/>
            <p:cNvGrpSpPr/>
            <p:nvPr/>
          </p:nvGrpSpPr>
          <p:grpSpPr>
            <a:xfrm>
              <a:off x="3398" y="1132"/>
              <a:ext cx="543" cy="212"/>
              <a:chOff x="0" y="0"/>
              <a:chExt cx="543" cy="212"/>
            </a:xfrm>
          </p:grpSpPr>
          <p:sp>
            <p:nvSpPr>
              <p:cNvPr id="203869" name="Text Box 29"/>
              <p:cNvSpPr txBox="1"/>
              <p:nvPr/>
            </p:nvSpPr>
            <p:spPr>
              <a:xfrm>
                <a:off x="0" y="0"/>
                <a:ext cx="263" cy="212"/>
              </a:xfrm>
              <a:prstGeom prst="rect">
                <a:avLst/>
              </a:prstGeom>
              <a:noFill/>
              <a:ln w="9525" cap="flat" cmpd="sng">
                <a:solidFill>
                  <a:schemeClr val="tx1"/>
                </a:solidFill>
                <a:prstDash val="solid"/>
                <a:miter/>
                <a:headEnd type="none" w="med" len="med"/>
                <a:tailEnd type="none" w="med" len="med"/>
              </a:ln>
            </p:spPr>
            <p:txBody>
              <a:bodyPr wrap="none" tIns="10800" bIns="10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&amp;</a:t>
                </a:r>
                <a:endParaRPr lang="en-US" altLang="zh-CN" sz="2000" dirty="0">
                  <a:solidFill>
                    <a:schemeClr val="tx1"/>
                  </a:solidFill>
                  <a:latin typeface="Times New Roman" panose="02020603050405020304" pitchFamily="18" charset="0"/>
                  <a:ea typeface="楷体_GB2312"/>
                </a:endParaRPr>
              </a:p>
            </p:txBody>
          </p:sp>
          <p:sp>
            <p:nvSpPr>
              <p:cNvPr id="203870" name="Oval 30"/>
              <p:cNvSpPr/>
              <p:nvPr/>
            </p:nvSpPr>
            <p:spPr>
              <a:xfrm>
                <a:off x="255" y="49"/>
                <a:ext cx="48" cy="48"/>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03871" name="Line 31"/>
              <p:cNvSpPr/>
              <p:nvPr/>
            </p:nvSpPr>
            <p:spPr>
              <a:xfrm>
                <a:off x="303" y="67"/>
                <a:ext cx="192" cy="0"/>
              </a:xfrm>
              <a:prstGeom prst="line">
                <a:avLst/>
              </a:prstGeom>
              <a:ln w="9525" cap="flat" cmpd="sng">
                <a:solidFill>
                  <a:schemeClr val="tx1"/>
                </a:solidFill>
                <a:prstDash val="solid"/>
                <a:bevel/>
                <a:headEnd type="none" w="med" len="med"/>
                <a:tailEnd type="none" w="med" len="med"/>
              </a:ln>
            </p:spPr>
          </p:sp>
          <p:sp>
            <p:nvSpPr>
              <p:cNvPr id="203872" name="Line 32"/>
              <p:cNvSpPr/>
              <p:nvPr/>
            </p:nvSpPr>
            <p:spPr>
              <a:xfrm>
                <a:off x="255" y="162"/>
                <a:ext cx="288" cy="0"/>
              </a:xfrm>
              <a:prstGeom prst="line">
                <a:avLst/>
              </a:prstGeom>
              <a:ln w="9525" cap="flat" cmpd="sng">
                <a:solidFill>
                  <a:schemeClr val="tx1"/>
                </a:solidFill>
                <a:prstDash val="solid"/>
                <a:bevel/>
                <a:headEnd type="none" w="med" len="med"/>
                <a:tailEnd type="none" w="med" len="med"/>
              </a:ln>
            </p:spPr>
          </p:sp>
        </p:grpSp>
        <p:grpSp>
          <p:nvGrpSpPr>
            <p:cNvPr id="203785" name="Group 33"/>
            <p:cNvGrpSpPr/>
            <p:nvPr/>
          </p:nvGrpSpPr>
          <p:grpSpPr>
            <a:xfrm>
              <a:off x="3398" y="1407"/>
              <a:ext cx="543" cy="212"/>
              <a:chOff x="0" y="0"/>
              <a:chExt cx="543" cy="212"/>
            </a:xfrm>
          </p:grpSpPr>
          <p:sp>
            <p:nvSpPr>
              <p:cNvPr id="203865" name="Text Box 34"/>
              <p:cNvSpPr txBox="1"/>
              <p:nvPr/>
            </p:nvSpPr>
            <p:spPr>
              <a:xfrm>
                <a:off x="0" y="0"/>
                <a:ext cx="263" cy="212"/>
              </a:xfrm>
              <a:prstGeom prst="rect">
                <a:avLst/>
              </a:prstGeom>
              <a:noFill/>
              <a:ln w="9525" cap="flat" cmpd="sng">
                <a:solidFill>
                  <a:schemeClr val="tx1"/>
                </a:solidFill>
                <a:prstDash val="solid"/>
                <a:miter/>
                <a:headEnd type="none" w="med" len="med"/>
                <a:tailEnd type="none" w="med" len="med"/>
              </a:ln>
            </p:spPr>
            <p:txBody>
              <a:bodyPr wrap="none" tIns="10800" bIns="10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&amp;</a:t>
                </a:r>
                <a:endParaRPr lang="en-US" altLang="zh-CN" sz="2000" dirty="0">
                  <a:solidFill>
                    <a:schemeClr val="tx1"/>
                  </a:solidFill>
                  <a:latin typeface="Times New Roman" panose="02020603050405020304" pitchFamily="18" charset="0"/>
                  <a:ea typeface="楷体_GB2312"/>
                </a:endParaRPr>
              </a:p>
            </p:txBody>
          </p:sp>
          <p:sp>
            <p:nvSpPr>
              <p:cNvPr id="203866" name="Oval 35"/>
              <p:cNvSpPr/>
              <p:nvPr/>
            </p:nvSpPr>
            <p:spPr>
              <a:xfrm>
                <a:off x="255" y="49"/>
                <a:ext cx="48" cy="48"/>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03867" name="Line 36"/>
              <p:cNvSpPr/>
              <p:nvPr/>
            </p:nvSpPr>
            <p:spPr>
              <a:xfrm>
                <a:off x="303" y="67"/>
                <a:ext cx="192" cy="0"/>
              </a:xfrm>
              <a:prstGeom prst="line">
                <a:avLst/>
              </a:prstGeom>
              <a:ln w="9525" cap="flat" cmpd="sng">
                <a:solidFill>
                  <a:schemeClr val="tx1"/>
                </a:solidFill>
                <a:prstDash val="solid"/>
                <a:bevel/>
                <a:headEnd type="none" w="med" len="med"/>
                <a:tailEnd type="none" w="med" len="med"/>
              </a:ln>
            </p:spPr>
          </p:sp>
          <p:sp>
            <p:nvSpPr>
              <p:cNvPr id="203868" name="Line 37"/>
              <p:cNvSpPr/>
              <p:nvPr/>
            </p:nvSpPr>
            <p:spPr>
              <a:xfrm>
                <a:off x="255" y="162"/>
                <a:ext cx="288" cy="0"/>
              </a:xfrm>
              <a:prstGeom prst="line">
                <a:avLst/>
              </a:prstGeom>
              <a:ln w="9525" cap="flat" cmpd="sng">
                <a:solidFill>
                  <a:schemeClr val="tx1"/>
                </a:solidFill>
                <a:prstDash val="solid"/>
                <a:bevel/>
                <a:headEnd type="none" w="med" len="med"/>
                <a:tailEnd type="none" w="med" len="med"/>
              </a:ln>
            </p:spPr>
          </p:sp>
        </p:grpSp>
        <p:grpSp>
          <p:nvGrpSpPr>
            <p:cNvPr id="203786" name="Group 38"/>
            <p:cNvGrpSpPr/>
            <p:nvPr/>
          </p:nvGrpSpPr>
          <p:grpSpPr>
            <a:xfrm>
              <a:off x="3398" y="1675"/>
              <a:ext cx="543" cy="212"/>
              <a:chOff x="0" y="0"/>
              <a:chExt cx="543" cy="212"/>
            </a:xfrm>
          </p:grpSpPr>
          <p:sp>
            <p:nvSpPr>
              <p:cNvPr id="203861" name="Text Box 39"/>
              <p:cNvSpPr txBox="1"/>
              <p:nvPr/>
            </p:nvSpPr>
            <p:spPr>
              <a:xfrm>
                <a:off x="0" y="0"/>
                <a:ext cx="263" cy="212"/>
              </a:xfrm>
              <a:prstGeom prst="rect">
                <a:avLst/>
              </a:prstGeom>
              <a:noFill/>
              <a:ln w="9525" cap="flat" cmpd="sng">
                <a:solidFill>
                  <a:schemeClr val="tx1"/>
                </a:solidFill>
                <a:prstDash val="solid"/>
                <a:miter/>
                <a:headEnd type="none" w="med" len="med"/>
                <a:tailEnd type="none" w="med" len="med"/>
              </a:ln>
            </p:spPr>
            <p:txBody>
              <a:bodyPr wrap="none" tIns="10800" bIns="10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&amp;</a:t>
                </a:r>
                <a:endParaRPr lang="en-US" altLang="zh-CN" sz="2000" dirty="0">
                  <a:solidFill>
                    <a:schemeClr val="tx1"/>
                  </a:solidFill>
                  <a:latin typeface="Times New Roman" panose="02020603050405020304" pitchFamily="18" charset="0"/>
                  <a:ea typeface="楷体_GB2312"/>
                </a:endParaRPr>
              </a:p>
            </p:txBody>
          </p:sp>
          <p:sp>
            <p:nvSpPr>
              <p:cNvPr id="203862" name="Oval 40"/>
              <p:cNvSpPr/>
              <p:nvPr/>
            </p:nvSpPr>
            <p:spPr>
              <a:xfrm>
                <a:off x="255" y="49"/>
                <a:ext cx="48" cy="48"/>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03863" name="Line 41"/>
              <p:cNvSpPr/>
              <p:nvPr/>
            </p:nvSpPr>
            <p:spPr>
              <a:xfrm>
                <a:off x="303" y="67"/>
                <a:ext cx="192" cy="0"/>
              </a:xfrm>
              <a:prstGeom prst="line">
                <a:avLst/>
              </a:prstGeom>
              <a:ln w="9525" cap="flat" cmpd="sng">
                <a:solidFill>
                  <a:schemeClr val="tx1"/>
                </a:solidFill>
                <a:prstDash val="solid"/>
                <a:bevel/>
                <a:headEnd type="none" w="med" len="med"/>
                <a:tailEnd type="none" w="med" len="med"/>
              </a:ln>
            </p:spPr>
          </p:sp>
          <p:sp>
            <p:nvSpPr>
              <p:cNvPr id="203864" name="Line 42"/>
              <p:cNvSpPr/>
              <p:nvPr/>
            </p:nvSpPr>
            <p:spPr>
              <a:xfrm>
                <a:off x="255" y="162"/>
                <a:ext cx="288" cy="0"/>
              </a:xfrm>
              <a:prstGeom prst="line">
                <a:avLst/>
              </a:prstGeom>
              <a:ln w="9525" cap="flat" cmpd="sng">
                <a:solidFill>
                  <a:schemeClr val="tx1"/>
                </a:solidFill>
                <a:prstDash val="solid"/>
                <a:bevel/>
                <a:headEnd type="none" w="med" len="med"/>
                <a:tailEnd type="none" w="med" len="med"/>
              </a:ln>
            </p:spPr>
          </p:sp>
        </p:grpSp>
        <p:grpSp>
          <p:nvGrpSpPr>
            <p:cNvPr id="203787" name="Group 43"/>
            <p:cNvGrpSpPr/>
            <p:nvPr/>
          </p:nvGrpSpPr>
          <p:grpSpPr>
            <a:xfrm>
              <a:off x="3398" y="1953"/>
              <a:ext cx="543" cy="212"/>
              <a:chOff x="0" y="0"/>
              <a:chExt cx="543" cy="212"/>
            </a:xfrm>
          </p:grpSpPr>
          <p:sp>
            <p:nvSpPr>
              <p:cNvPr id="203857" name="Text Box 44"/>
              <p:cNvSpPr txBox="1"/>
              <p:nvPr/>
            </p:nvSpPr>
            <p:spPr>
              <a:xfrm>
                <a:off x="0" y="0"/>
                <a:ext cx="263" cy="212"/>
              </a:xfrm>
              <a:prstGeom prst="rect">
                <a:avLst/>
              </a:prstGeom>
              <a:noFill/>
              <a:ln w="9525" cap="flat" cmpd="sng">
                <a:solidFill>
                  <a:schemeClr val="tx1"/>
                </a:solidFill>
                <a:prstDash val="solid"/>
                <a:miter/>
                <a:headEnd type="none" w="med" len="med"/>
                <a:tailEnd type="none" w="med" len="med"/>
              </a:ln>
            </p:spPr>
            <p:txBody>
              <a:bodyPr wrap="none" tIns="10800" bIns="10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&amp;</a:t>
                </a:r>
                <a:endParaRPr lang="en-US" altLang="zh-CN" sz="2000" dirty="0">
                  <a:solidFill>
                    <a:schemeClr val="tx1"/>
                  </a:solidFill>
                  <a:latin typeface="Times New Roman" panose="02020603050405020304" pitchFamily="18" charset="0"/>
                  <a:ea typeface="楷体_GB2312"/>
                </a:endParaRPr>
              </a:p>
            </p:txBody>
          </p:sp>
          <p:sp>
            <p:nvSpPr>
              <p:cNvPr id="203858" name="Oval 45"/>
              <p:cNvSpPr/>
              <p:nvPr/>
            </p:nvSpPr>
            <p:spPr>
              <a:xfrm>
                <a:off x="255" y="49"/>
                <a:ext cx="48" cy="48"/>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03859" name="Line 46"/>
              <p:cNvSpPr/>
              <p:nvPr/>
            </p:nvSpPr>
            <p:spPr>
              <a:xfrm>
                <a:off x="303" y="67"/>
                <a:ext cx="192" cy="0"/>
              </a:xfrm>
              <a:prstGeom prst="line">
                <a:avLst/>
              </a:prstGeom>
              <a:ln w="9525" cap="flat" cmpd="sng">
                <a:solidFill>
                  <a:schemeClr val="tx1"/>
                </a:solidFill>
                <a:prstDash val="solid"/>
                <a:bevel/>
                <a:headEnd type="none" w="med" len="med"/>
                <a:tailEnd type="none" w="med" len="med"/>
              </a:ln>
            </p:spPr>
          </p:sp>
          <p:sp>
            <p:nvSpPr>
              <p:cNvPr id="203860" name="Line 47"/>
              <p:cNvSpPr/>
              <p:nvPr/>
            </p:nvSpPr>
            <p:spPr>
              <a:xfrm>
                <a:off x="255" y="162"/>
                <a:ext cx="288" cy="0"/>
              </a:xfrm>
              <a:prstGeom prst="line">
                <a:avLst/>
              </a:prstGeom>
              <a:ln w="9525" cap="flat" cmpd="sng">
                <a:solidFill>
                  <a:schemeClr val="tx1"/>
                </a:solidFill>
                <a:prstDash val="solid"/>
                <a:bevel/>
                <a:headEnd type="none" w="med" len="med"/>
                <a:tailEnd type="none" w="med" len="med"/>
              </a:ln>
            </p:spPr>
          </p:sp>
        </p:grpSp>
        <p:grpSp>
          <p:nvGrpSpPr>
            <p:cNvPr id="203788" name="Group 48"/>
            <p:cNvGrpSpPr/>
            <p:nvPr/>
          </p:nvGrpSpPr>
          <p:grpSpPr>
            <a:xfrm>
              <a:off x="3398" y="2221"/>
              <a:ext cx="543" cy="212"/>
              <a:chOff x="0" y="0"/>
              <a:chExt cx="543" cy="212"/>
            </a:xfrm>
          </p:grpSpPr>
          <p:sp>
            <p:nvSpPr>
              <p:cNvPr id="203853" name="Text Box 49"/>
              <p:cNvSpPr txBox="1"/>
              <p:nvPr/>
            </p:nvSpPr>
            <p:spPr>
              <a:xfrm>
                <a:off x="0" y="0"/>
                <a:ext cx="263" cy="212"/>
              </a:xfrm>
              <a:prstGeom prst="rect">
                <a:avLst/>
              </a:prstGeom>
              <a:noFill/>
              <a:ln w="9525" cap="flat" cmpd="sng">
                <a:solidFill>
                  <a:schemeClr val="tx1"/>
                </a:solidFill>
                <a:prstDash val="solid"/>
                <a:miter/>
                <a:headEnd type="none" w="med" len="med"/>
                <a:tailEnd type="none" w="med" len="med"/>
              </a:ln>
            </p:spPr>
            <p:txBody>
              <a:bodyPr wrap="none" tIns="10800" bIns="10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&amp;</a:t>
                </a:r>
                <a:endParaRPr lang="en-US" altLang="zh-CN" sz="2000" dirty="0">
                  <a:solidFill>
                    <a:schemeClr val="tx1"/>
                  </a:solidFill>
                  <a:latin typeface="Times New Roman" panose="02020603050405020304" pitchFamily="18" charset="0"/>
                  <a:ea typeface="楷体_GB2312"/>
                </a:endParaRPr>
              </a:p>
            </p:txBody>
          </p:sp>
          <p:sp>
            <p:nvSpPr>
              <p:cNvPr id="203854" name="Oval 50"/>
              <p:cNvSpPr/>
              <p:nvPr/>
            </p:nvSpPr>
            <p:spPr>
              <a:xfrm>
                <a:off x="255" y="49"/>
                <a:ext cx="48" cy="48"/>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03855" name="Line 51"/>
              <p:cNvSpPr/>
              <p:nvPr/>
            </p:nvSpPr>
            <p:spPr>
              <a:xfrm>
                <a:off x="303" y="67"/>
                <a:ext cx="192" cy="0"/>
              </a:xfrm>
              <a:prstGeom prst="line">
                <a:avLst/>
              </a:prstGeom>
              <a:ln w="9525" cap="flat" cmpd="sng">
                <a:solidFill>
                  <a:schemeClr val="tx1"/>
                </a:solidFill>
                <a:prstDash val="solid"/>
                <a:bevel/>
                <a:headEnd type="none" w="med" len="med"/>
                <a:tailEnd type="none" w="med" len="med"/>
              </a:ln>
            </p:spPr>
          </p:sp>
          <p:sp>
            <p:nvSpPr>
              <p:cNvPr id="203856" name="Line 52"/>
              <p:cNvSpPr/>
              <p:nvPr/>
            </p:nvSpPr>
            <p:spPr>
              <a:xfrm>
                <a:off x="255" y="162"/>
                <a:ext cx="288" cy="0"/>
              </a:xfrm>
              <a:prstGeom prst="line">
                <a:avLst/>
              </a:prstGeom>
              <a:ln w="9525" cap="flat" cmpd="sng">
                <a:solidFill>
                  <a:schemeClr val="tx1"/>
                </a:solidFill>
                <a:prstDash val="solid"/>
                <a:bevel/>
                <a:headEnd type="none" w="med" len="med"/>
                <a:tailEnd type="none" w="med" len="med"/>
              </a:ln>
            </p:spPr>
          </p:sp>
        </p:grpSp>
        <p:grpSp>
          <p:nvGrpSpPr>
            <p:cNvPr id="203789" name="Group 53"/>
            <p:cNvGrpSpPr/>
            <p:nvPr/>
          </p:nvGrpSpPr>
          <p:grpSpPr>
            <a:xfrm>
              <a:off x="3398" y="2496"/>
              <a:ext cx="543" cy="212"/>
              <a:chOff x="0" y="0"/>
              <a:chExt cx="543" cy="212"/>
            </a:xfrm>
          </p:grpSpPr>
          <p:sp>
            <p:nvSpPr>
              <p:cNvPr id="203849" name="Text Box 54"/>
              <p:cNvSpPr txBox="1"/>
              <p:nvPr/>
            </p:nvSpPr>
            <p:spPr>
              <a:xfrm>
                <a:off x="0" y="0"/>
                <a:ext cx="263" cy="212"/>
              </a:xfrm>
              <a:prstGeom prst="rect">
                <a:avLst/>
              </a:prstGeom>
              <a:noFill/>
              <a:ln w="9525" cap="flat" cmpd="sng">
                <a:solidFill>
                  <a:schemeClr val="tx1"/>
                </a:solidFill>
                <a:prstDash val="solid"/>
                <a:miter/>
                <a:headEnd type="none" w="med" len="med"/>
                <a:tailEnd type="none" w="med" len="med"/>
              </a:ln>
            </p:spPr>
            <p:txBody>
              <a:bodyPr wrap="none" tIns="10800" bIns="10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&amp;</a:t>
                </a:r>
                <a:endParaRPr lang="en-US" altLang="zh-CN" sz="2000" dirty="0">
                  <a:solidFill>
                    <a:schemeClr val="tx1"/>
                  </a:solidFill>
                  <a:latin typeface="Times New Roman" panose="02020603050405020304" pitchFamily="18" charset="0"/>
                  <a:ea typeface="楷体_GB2312"/>
                </a:endParaRPr>
              </a:p>
            </p:txBody>
          </p:sp>
          <p:sp>
            <p:nvSpPr>
              <p:cNvPr id="203850" name="Oval 55"/>
              <p:cNvSpPr/>
              <p:nvPr/>
            </p:nvSpPr>
            <p:spPr>
              <a:xfrm>
                <a:off x="255" y="49"/>
                <a:ext cx="48" cy="48"/>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03851" name="Line 56"/>
              <p:cNvSpPr/>
              <p:nvPr/>
            </p:nvSpPr>
            <p:spPr>
              <a:xfrm>
                <a:off x="303" y="67"/>
                <a:ext cx="192" cy="0"/>
              </a:xfrm>
              <a:prstGeom prst="line">
                <a:avLst/>
              </a:prstGeom>
              <a:ln w="9525" cap="flat" cmpd="sng">
                <a:solidFill>
                  <a:schemeClr val="tx1"/>
                </a:solidFill>
                <a:prstDash val="solid"/>
                <a:bevel/>
                <a:headEnd type="none" w="med" len="med"/>
                <a:tailEnd type="none" w="med" len="med"/>
              </a:ln>
            </p:spPr>
          </p:sp>
          <p:sp>
            <p:nvSpPr>
              <p:cNvPr id="203852" name="Line 57"/>
              <p:cNvSpPr/>
              <p:nvPr/>
            </p:nvSpPr>
            <p:spPr>
              <a:xfrm>
                <a:off x="255" y="162"/>
                <a:ext cx="288" cy="0"/>
              </a:xfrm>
              <a:prstGeom prst="line">
                <a:avLst/>
              </a:prstGeom>
              <a:ln w="9525" cap="flat" cmpd="sng">
                <a:solidFill>
                  <a:schemeClr val="tx1"/>
                </a:solidFill>
                <a:prstDash val="solid"/>
                <a:bevel/>
                <a:headEnd type="none" w="med" len="med"/>
                <a:tailEnd type="none" w="med" len="med"/>
              </a:ln>
            </p:spPr>
          </p:sp>
        </p:grpSp>
        <p:grpSp>
          <p:nvGrpSpPr>
            <p:cNvPr id="203790" name="Group 58"/>
            <p:cNvGrpSpPr/>
            <p:nvPr/>
          </p:nvGrpSpPr>
          <p:grpSpPr>
            <a:xfrm>
              <a:off x="3398" y="2764"/>
              <a:ext cx="543" cy="212"/>
              <a:chOff x="0" y="0"/>
              <a:chExt cx="543" cy="212"/>
            </a:xfrm>
          </p:grpSpPr>
          <p:sp>
            <p:nvSpPr>
              <p:cNvPr id="203845" name="Text Box 59"/>
              <p:cNvSpPr txBox="1"/>
              <p:nvPr/>
            </p:nvSpPr>
            <p:spPr>
              <a:xfrm>
                <a:off x="0" y="0"/>
                <a:ext cx="263" cy="212"/>
              </a:xfrm>
              <a:prstGeom prst="rect">
                <a:avLst/>
              </a:prstGeom>
              <a:noFill/>
              <a:ln w="9525" cap="flat" cmpd="sng">
                <a:solidFill>
                  <a:schemeClr val="tx1"/>
                </a:solidFill>
                <a:prstDash val="solid"/>
                <a:miter/>
                <a:headEnd type="none" w="med" len="med"/>
                <a:tailEnd type="none" w="med" len="med"/>
              </a:ln>
            </p:spPr>
            <p:txBody>
              <a:bodyPr wrap="none" tIns="10800" bIns="10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&amp;</a:t>
                </a:r>
                <a:endParaRPr lang="en-US" altLang="zh-CN" sz="2000" dirty="0">
                  <a:solidFill>
                    <a:schemeClr val="tx1"/>
                  </a:solidFill>
                  <a:latin typeface="Times New Roman" panose="02020603050405020304" pitchFamily="18" charset="0"/>
                  <a:ea typeface="楷体_GB2312"/>
                </a:endParaRPr>
              </a:p>
            </p:txBody>
          </p:sp>
          <p:sp>
            <p:nvSpPr>
              <p:cNvPr id="203846" name="Oval 60"/>
              <p:cNvSpPr/>
              <p:nvPr/>
            </p:nvSpPr>
            <p:spPr>
              <a:xfrm>
                <a:off x="255" y="49"/>
                <a:ext cx="48" cy="48"/>
              </a:xfrm>
              <a:prstGeom prst="ellipse">
                <a:avLst/>
              </a:prstGeom>
              <a:noFill/>
              <a:ln w="9525"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03847" name="Line 61"/>
              <p:cNvSpPr/>
              <p:nvPr/>
            </p:nvSpPr>
            <p:spPr>
              <a:xfrm>
                <a:off x="303" y="67"/>
                <a:ext cx="192" cy="0"/>
              </a:xfrm>
              <a:prstGeom prst="line">
                <a:avLst/>
              </a:prstGeom>
              <a:ln w="9525" cap="flat" cmpd="sng">
                <a:solidFill>
                  <a:schemeClr val="tx1"/>
                </a:solidFill>
                <a:prstDash val="solid"/>
                <a:bevel/>
                <a:headEnd type="none" w="med" len="med"/>
                <a:tailEnd type="none" w="med" len="med"/>
              </a:ln>
            </p:spPr>
          </p:sp>
          <p:sp>
            <p:nvSpPr>
              <p:cNvPr id="203848" name="Line 62"/>
              <p:cNvSpPr/>
              <p:nvPr/>
            </p:nvSpPr>
            <p:spPr>
              <a:xfrm>
                <a:off x="255" y="162"/>
                <a:ext cx="288" cy="0"/>
              </a:xfrm>
              <a:prstGeom prst="line">
                <a:avLst/>
              </a:prstGeom>
              <a:ln w="9525" cap="flat" cmpd="sng">
                <a:solidFill>
                  <a:schemeClr val="tx1"/>
                </a:solidFill>
                <a:prstDash val="solid"/>
                <a:bevel/>
                <a:headEnd type="none" w="med" len="med"/>
                <a:tailEnd type="none" w="med" len="med"/>
              </a:ln>
            </p:spPr>
          </p:sp>
        </p:grpSp>
        <p:sp>
          <p:nvSpPr>
            <p:cNvPr id="203791" name="Text Box 63"/>
            <p:cNvSpPr txBox="1"/>
            <p:nvPr/>
          </p:nvSpPr>
          <p:spPr>
            <a:xfrm>
              <a:off x="3398" y="464"/>
              <a:ext cx="1625" cy="256"/>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zh-CN" altLang="en-US" sz="2000" dirty="0">
                  <a:solidFill>
                    <a:schemeClr val="tx1"/>
                  </a:solidFill>
                  <a:latin typeface="Times New Roman" panose="02020603050405020304" pitchFamily="18" charset="0"/>
                  <a:ea typeface="楷体_GB2312"/>
                </a:rPr>
                <a:t>中断屏蔽寄存器</a:t>
              </a:r>
              <a:r>
                <a:rPr lang="en-US" altLang="zh-CN" sz="2000" dirty="0">
                  <a:solidFill>
                    <a:schemeClr val="tx1"/>
                  </a:solidFill>
                  <a:latin typeface="Times New Roman" panose="02020603050405020304" pitchFamily="18" charset="0"/>
                  <a:ea typeface="楷体_GB2312"/>
                </a:rPr>
                <a:t>IMR</a:t>
              </a:r>
              <a:endParaRPr lang="en-US" altLang="zh-CN" sz="2000" dirty="0">
                <a:solidFill>
                  <a:schemeClr val="tx1"/>
                </a:solidFill>
                <a:latin typeface="Times New Roman" panose="02020603050405020304" pitchFamily="18" charset="0"/>
                <a:ea typeface="楷体_GB2312"/>
              </a:endParaRPr>
            </a:p>
          </p:txBody>
        </p:sp>
        <p:sp>
          <p:nvSpPr>
            <p:cNvPr id="203792" name="Line 64"/>
            <p:cNvSpPr/>
            <p:nvPr/>
          </p:nvSpPr>
          <p:spPr>
            <a:xfrm>
              <a:off x="3926" y="1008"/>
              <a:ext cx="672" cy="0"/>
            </a:xfrm>
            <a:prstGeom prst="line">
              <a:avLst/>
            </a:prstGeom>
            <a:ln w="9525" cap="flat" cmpd="sng">
              <a:solidFill>
                <a:schemeClr val="tx1"/>
              </a:solidFill>
              <a:prstDash val="solid"/>
              <a:bevel/>
              <a:headEnd type="none" w="med" len="med"/>
              <a:tailEnd type="none" w="med" len="med"/>
            </a:ln>
          </p:spPr>
        </p:sp>
        <p:sp>
          <p:nvSpPr>
            <p:cNvPr id="203793" name="Line 65"/>
            <p:cNvSpPr/>
            <p:nvPr/>
          </p:nvSpPr>
          <p:spPr>
            <a:xfrm>
              <a:off x="3926" y="1296"/>
              <a:ext cx="672" cy="0"/>
            </a:xfrm>
            <a:prstGeom prst="line">
              <a:avLst/>
            </a:prstGeom>
            <a:ln w="9525" cap="flat" cmpd="sng">
              <a:solidFill>
                <a:schemeClr val="tx1"/>
              </a:solidFill>
              <a:prstDash val="solid"/>
              <a:bevel/>
              <a:headEnd type="none" w="med" len="med"/>
              <a:tailEnd type="none" w="med" len="med"/>
            </a:ln>
          </p:spPr>
        </p:sp>
        <p:sp>
          <p:nvSpPr>
            <p:cNvPr id="203794" name="Line 66"/>
            <p:cNvSpPr/>
            <p:nvPr/>
          </p:nvSpPr>
          <p:spPr>
            <a:xfrm>
              <a:off x="3926" y="1569"/>
              <a:ext cx="672" cy="0"/>
            </a:xfrm>
            <a:prstGeom prst="line">
              <a:avLst/>
            </a:prstGeom>
            <a:ln w="9525" cap="flat" cmpd="sng">
              <a:solidFill>
                <a:schemeClr val="tx1"/>
              </a:solidFill>
              <a:prstDash val="solid"/>
              <a:bevel/>
              <a:headEnd type="none" w="med" len="med"/>
              <a:tailEnd type="none" w="med" len="med"/>
            </a:ln>
          </p:spPr>
        </p:sp>
        <p:sp>
          <p:nvSpPr>
            <p:cNvPr id="203795" name="Line 67"/>
            <p:cNvSpPr/>
            <p:nvPr/>
          </p:nvSpPr>
          <p:spPr>
            <a:xfrm>
              <a:off x="3916" y="1829"/>
              <a:ext cx="672" cy="0"/>
            </a:xfrm>
            <a:prstGeom prst="line">
              <a:avLst/>
            </a:prstGeom>
            <a:ln w="9525" cap="flat" cmpd="sng">
              <a:solidFill>
                <a:schemeClr val="tx1"/>
              </a:solidFill>
              <a:prstDash val="solid"/>
              <a:bevel/>
              <a:headEnd type="none" w="med" len="med"/>
              <a:tailEnd type="none" w="med" len="med"/>
            </a:ln>
          </p:spPr>
        </p:sp>
        <p:sp>
          <p:nvSpPr>
            <p:cNvPr id="203796" name="Line 68"/>
            <p:cNvSpPr/>
            <p:nvPr/>
          </p:nvSpPr>
          <p:spPr>
            <a:xfrm>
              <a:off x="3926" y="2112"/>
              <a:ext cx="672" cy="0"/>
            </a:xfrm>
            <a:prstGeom prst="line">
              <a:avLst/>
            </a:prstGeom>
            <a:ln w="9525" cap="flat" cmpd="sng">
              <a:solidFill>
                <a:schemeClr val="tx1"/>
              </a:solidFill>
              <a:prstDash val="solid"/>
              <a:bevel/>
              <a:headEnd type="none" w="med" len="med"/>
              <a:tailEnd type="none" w="med" len="med"/>
            </a:ln>
          </p:spPr>
        </p:sp>
        <p:sp>
          <p:nvSpPr>
            <p:cNvPr id="203797" name="Line 69"/>
            <p:cNvSpPr/>
            <p:nvPr/>
          </p:nvSpPr>
          <p:spPr>
            <a:xfrm>
              <a:off x="3926" y="2385"/>
              <a:ext cx="672" cy="0"/>
            </a:xfrm>
            <a:prstGeom prst="line">
              <a:avLst/>
            </a:prstGeom>
            <a:ln w="9525" cap="flat" cmpd="sng">
              <a:solidFill>
                <a:schemeClr val="tx1"/>
              </a:solidFill>
              <a:prstDash val="solid"/>
              <a:bevel/>
              <a:headEnd type="none" w="med" len="med"/>
              <a:tailEnd type="none" w="med" len="med"/>
            </a:ln>
          </p:spPr>
        </p:sp>
        <p:sp>
          <p:nvSpPr>
            <p:cNvPr id="203798" name="Line 70"/>
            <p:cNvSpPr/>
            <p:nvPr/>
          </p:nvSpPr>
          <p:spPr>
            <a:xfrm>
              <a:off x="3926" y="2658"/>
              <a:ext cx="672" cy="0"/>
            </a:xfrm>
            <a:prstGeom prst="line">
              <a:avLst/>
            </a:prstGeom>
            <a:ln w="9525" cap="flat" cmpd="sng">
              <a:solidFill>
                <a:schemeClr val="tx1"/>
              </a:solidFill>
              <a:prstDash val="solid"/>
              <a:bevel/>
              <a:headEnd type="none" w="med" len="med"/>
              <a:tailEnd type="none" w="med" len="med"/>
            </a:ln>
          </p:spPr>
        </p:sp>
        <p:sp>
          <p:nvSpPr>
            <p:cNvPr id="203799" name="Line 71"/>
            <p:cNvSpPr/>
            <p:nvPr/>
          </p:nvSpPr>
          <p:spPr>
            <a:xfrm>
              <a:off x="3926" y="2928"/>
              <a:ext cx="672" cy="0"/>
            </a:xfrm>
            <a:prstGeom prst="line">
              <a:avLst/>
            </a:prstGeom>
            <a:ln w="9525" cap="flat" cmpd="sng">
              <a:solidFill>
                <a:schemeClr val="tx1"/>
              </a:solidFill>
              <a:prstDash val="solid"/>
              <a:bevel/>
              <a:headEnd type="none" w="med" len="med"/>
              <a:tailEnd type="none" w="med" len="med"/>
            </a:ln>
          </p:spPr>
        </p:sp>
        <p:sp>
          <p:nvSpPr>
            <p:cNvPr id="203800" name="Line 72"/>
            <p:cNvSpPr/>
            <p:nvPr/>
          </p:nvSpPr>
          <p:spPr>
            <a:xfrm flipV="1">
              <a:off x="3878" y="720"/>
              <a:ext cx="0" cy="192"/>
            </a:xfrm>
            <a:prstGeom prst="line">
              <a:avLst/>
            </a:prstGeom>
            <a:ln w="9525" cap="flat" cmpd="sng">
              <a:solidFill>
                <a:schemeClr val="tx1"/>
              </a:solidFill>
              <a:prstDash val="solid"/>
              <a:bevel/>
              <a:headEnd type="none" w="med" len="med"/>
              <a:tailEnd type="none" w="med" len="med"/>
            </a:ln>
          </p:spPr>
        </p:sp>
        <p:sp>
          <p:nvSpPr>
            <p:cNvPr id="203801" name="Freeform 73"/>
            <p:cNvSpPr/>
            <p:nvPr/>
          </p:nvSpPr>
          <p:spPr>
            <a:xfrm>
              <a:off x="3773" y="711"/>
              <a:ext cx="700" cy="2121"/>
            </a:xfrm>
            <a:custGeom>
              <a:avLst/>
              <a:gdLst/>
              <a:ahLst/>
              <a:cxnLst>
                <a:cxn ang="0">
                  <a:pos x="2208" y="0"/>
                </a:cxn>
                <a:cxn ang="0">
                  <a:pos x="2183" y="2204"/>
                </a:cxn>
                <a:cxn ang="0">
                  <a:pos x="0" y="2211"/>
                </a:cxn>
              </a:cxnLst>
              <a:pathLst>
                <a:path w="624" h="2112">
                  <a:moveTo>
                    <a:pt x="624" y="0"/>
                  </a:moveTo>
                  <a:lnTo>
                    <a:pt x="617" y="2105"/>
                  </a:lnTo>
                  <a:lnTo>
                    <a:pt x="0" y="2112"/>
                  </a:lnTo>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03802" name="Freeform 74"/>
            <p:cNvSpPr/>
            <p:nvPr/>
          </p:nvSpPr>
          <p:spPr>
            <a:xfrm>
              <a:off x="3859" y="720"/>
              <a:ext cx="547" cy="1843"/>
            </a:xfrm>
            <a:custGeom>
              <a:avLst/>
              <a:gdLst/>
              <a:ahLst/>
              <a:cxnLst>
                <a:cxn ang="0">
                  <a:pos x="778" y="0"/>
                </a:cxn>
                <a:cxn ang="0">
                  <a:pos x="778" y="2044"/>
                </a:cxn>
                <a:cxn ang="0">
                  <a:pos x="0" y="2044"/>
                </a:cxn>
              </a:cxnLst>
              <a:pathLst>
                <a:path w="528" h="1824">
                  <a:moveTo>
                    <a:pt x="528" y="0"/>
                  </a:moveTo>
                  <a:lnTo>
                    <a:pt x="528" y="1824"/>
                  </a:lnTo>
                  <a:lnTo>
                    <a:pt x="0" y="1824"/>
                  </a:lnTo>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03803" name="Freeform 75"/>
            <p:cNvSpPr/>
            <p:nvPr/>
          </p:nvSpPr>
          <p:spPr>
            <a:xfrm>
              <a:off x="3878" y="720"/>
              <a:ext cx="432" cy="1569"/>
            </a:xfrm>
            <a:custGeom>
              <a:avLst/>
              <a:gdLst/>
              <a:ahLst/>
              <a:cxnLst>
                <a:cxn ang="0">
                  <a:pos x="432" y="0"/>
                </a:cxn>
                <a:cxn ang="0">
                  <a:pos x="425" y="1391"/>
                </a:cxn>
                <a:cxn ang="0">
                  <a:pos x="0" y="1388"/>
                </a:cxn>
              </a:cxnLst>
              <a:pathLst>
                <a:path w="432" h="1588">
                  <a:moveTo>
                    <a:pt x="432" y="0"/>
                  </a:moveTo>
                  <a:lnTo>
                    <a:pt x="425" y="1588"/>
                  </a:lnTo>
                  <a:lnTo>
                    <a:pt x="0" y="1584"/>
                  </a:lnTo>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03804" name="Freeform 76"/>
            <p:cNvSpPr/>
            <p:nvPr/>
          </p:nvSpPr>
          <p:spPr>
            <a:xfrm>
              <a:off x="3878" y="720"/>
              <a:ext cx="336" cy="1296"/>
            </a:xfrm>
            <a:custGeom>
              <a:avLst/>
              <a:gdLst/>
              <a:ahLst/>
              <a:cxnLst>
                <a:cxn ang="0">
                  <a:pos x="336" y="0"/>
                </a:cxn>
                <a:cxn ang="0">
                  <a:pos x="336" y="1292"/>
                </a:cxn>
                <a:cxn ang="0">
                  <a:pos x="0" y="1296"/>
                </a:cxn>
              </a:cxnLst>
              <a:pathLst>
                <a:path w="336" h="1296">
                  <a:moveTo>
                    <a:pt x="336" y="0"/>
                  </a:moveTo>
                  <a:lnTo>
                    <a:pt x="336" y="1292"/>
                  </a:lnTo>
                  <a:lnTo>
                    <a:pt x="0" y="1296"/>
                  </a:lnTo>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03805" name="Freeform 77"/>
            <p:cNvSpPr/>
            <p:nvPr/>
          </p:nvSpPr>
          <p:spPr>
            <a:xfrm>
              <a:off x="3850" y="730"/>
              <a:ext cx="230" cy="757"/>
            </a:xfrm>
            <a:custGeom>
              <a:avLst/>
              <a:gdLst/>
              <a:ahLst/>
              <a:cxnLst>
                <a:cxn ang="0">
                  <a:pos x="1406" y="0"/>
                </a:cxn>
                <a:cxn ang="0">
                  <a:pos x="1372" y="649"/>
                </a:cxn>
                <a:cxn ang="0">
                  <a:pos x="0" y="654"/>
                </a:cxn>
              </a:cxnLst>
              <a:pathLst>
                <a:path w="192" h="768">
                  <a:moveTo>
                    <a:pt x="192" y="0"/>
                  </a:moveTo>
                  <a:lnTo>
                    <a:pt x="188" y="761"/>
                  </a:lnTo>
                  <a:lnTo>
                    <a:pt x="0" y="768"/>
                  </a:lnTo>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03806" name="Freeform 78"/>
            <p:cNvSpPr/>
            <p:nvPr/>
          </p:nvSpPr>
          <p:spPr>
            <a:xfrm>
              <a:off x="3897" y="720"/>
              <a:ext cx="90" cy="496"/>
            </a:xfrm>
            <a:custGeom>
              <a:avLst/>
              <a:gdLst/>
              <a:ahLst/>
              <a:cxnLst>
                <a:cxn ang="0">
                  <a:pos x="30" y="0"/>
                </a:cxn>
                <a:cxn ang="0">
                  <a:pos x="32" y="506"/>
                </a:cxn>
                <a:cxn ang="0">
                  <a:pos x="0" y="491"/>
                </a:cxn>
              </a:cxnLst>
              <a:pathLst>
                <a:path w="100" h="495">
                  <a:moveTo>
                    <a:pt x="96" y="0"/>
                  </a:moveTo>
                  <a:lnTo>
                    <a:pt x="100" y="495"/>
                  </a:lnTo>
                  <a:lnTo>
                    <a:pt x="0" y="480"/>
                  </a:lnTo>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03807" name="Freeform 79"/>
            <p:cNvSpPr/>
            <p:nvPr/>
          </p:nvSpPr>
          <p:spPr>
            <a:xfrm>
              <a:off x="3859" y="720"/>
              <a:ext cx="281" cy="1022"/>
            </a:xfrm>
            <a:custGeom>
              <a:avLst/>
              <a:gdLst/>
              <a:ahLst/>
              <a:cxnLst>
                <a:cxn ang="0">
                  <a:pos x="277" y="0"/>
                </a:cxn>
                <a:cxn ang="0">
                  <a:pos x="281" y="850"/>
                </a:cxn>
                <a:cxn ang="0">
                  <a:pos x="0" y="850"/>
                </a:cxn>
              </a:cxnLst>
              <a:pathLst>
                <a:path w="281" h="1041">
                  <a:moveTo>
                    <a:pt x="277" y="0"/>
                  </a:moveTo>
                  <a:lnTo>
                    <a:pt x="281" y="1041"/>
                  </a:lnTo>
                  <a:lnTo>
                    <a:pt x="0" y="1041"/>
                  </a:lnTo>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03808" name="Line 80"/>
            <p:cNvSpPr/>
            <p:nvPr/>
          </p:nvSpPr>
          <p:spPr>
            <a:xfrm>
              <a:off x="3638" y="336"/>
              <a:ext cx="0" cy="144"/>
            </a:xfrm>
            <a:prstGeom prst="line">
              <a:avLst/>
            </a:prstGeom>
            <a:ln w="9525" cap="flat" cmpd="sng">
              <a:solidFill>
                <a:schemeClr val="tx1"/>
              </a:solidFill>
              <a:prstDash val="solid"/>
              <a:bevel/>
              <a:headEnd type="none" w="med" len="med"/>
              <a:tailEnd type="triangle" w="med" len="med"/>
            </a:ln>
          </p:spPr>
        </p:sp>
        <p:sp>
          <p:nvSpPr>
            <p:cNvPr id="203809" name="Line 81"/>
            <p:cNvSpPr/>
            <p:nvPr/>
          </p:nvSpPr>
          <p:spPr>
            <a:xfrm>
              <a:off x="4646" y="336"/>
              <a:ext cx="0" cy="144"/>
            </a:xfrm>
            <a:prstGeom prst="line">
              <a:avLst/>
            </a:prstGeom>
            <a:ln w="9525" cap="flat" cmpd="sng">
              <a:solidFill>
                <a:schemeClr val="tx1"/>
              </a:solidFill>
              <a:prstDash val="solid"/>
              <a:bevel/>
              <a:headEnd type="none" w="med" len="med"/>
              <a:tailEnd type="triangle" w="med" len="med"/>
            </a:ln>
          </p:spPr>
        </p:sp>
        <p:sp>
          <p:nvSpPr>
            <p:cNvPr id="203810" name="Line 82"/>
            <p:cNvSpPr/>
            <p:nvPr/>
          </p:nvSpPr>
          <p:spPr>
            <a:xfrm>
              <a:off x="4214" y="336"/>
              <a:ext cx="0" cy="144"/>
            </a:xfrm>
            <a:prstGeom prst="line">
              <a:avLst/>
            </a:prstGeom>
            <a:ln w="9525" cap="flat" cmpd="sng">
              <a:solidFill>
                <a:schemeClr val="tx1"/>
              </a:solidFill>
              <a:prstDash val="solid"/>
              <a:bevel/>
              <a:headEnd type="none" w="med" len="med"/>
              <a:tailEnd type="triangle" w="med" len="med"/>
            </a:ln>
          </p:spPr>
        </p:sp>
        <p:sp>
          <p:nvSpPr>
            <p:cNvPr id="203811" name="Line 83"/>
            <p:cNvSpPr/>
            <p:nvPr/>
          </p:nvSpPr>
          <p:spPr>
            <a:xfrm>
              <a:off x="4070" y="336"/>
              <a:ext cx="0" cy="144"/>
            </a:xfrm>
            <a:prstGeom prst="line">
              <a:avLst/>
            </a:prstGeom>
            <a:ln w="9525" cap="flat" cmpd="sng">
              <a:solidFill>
                <a:schemeClr val="tx1"/>
              </a:solidFill>
              <a:prstDash val="solid"/>
              <a:bevel/>
              <a:headEnd type="none" w="med" len="med"/>
              <a:tailEnd type="triangle" w="med" len="med"/>
            </a:ln>
          </p:spPr>
        </p:sp>
        <p:sp>
          <p:nvSpPr>
            <p:cNvPr id="203812" name="Line 84"/>
            <p:cNvSpPr/>
            <p:nvPr/>
          </p:nvSpPr>
          <p:spPr>
            <a:xfrm>
              <a:off x="4502" y="336"/>
              <a:ext cx="0" cy="144"/>
            </a:xfrm>
            <a:prstGeom prst="line">
              <a:avLst/>
            </a:prstGeom>
            <a:ln w="9525" cap="flat" cmpd="sng">
              <a:solidFill>
                <a:schemeClr val="tx1"/>
              </a:solidFill>
              <a:prstDash val="solid"/>
              <a:bevel/>
              <a:headEnd type="none" w="med" len="med"/>
              <a:tailEnd type="triangle" w="med" len="med"/>
            </a:ln>
          </p:spPr>
        </p:sp>
        <p:sp>
          <p:nvSpPr>
            <p:cNvPr id="203813" name="Line 85"/>
            <p:cNvSpPr/>
            <p:nvPr/>
          </p:nvSpPr>
          <p:spPr>
            <a:xfrm>
              <a:off x="4358" y="336"/>
              <a:ext cx="0" cy="144"/>
            </a:xfrm>
            <a:prstGeom prst="line">
              <a:avLst/>
            </a:prstGeom>
            <a:ln w="9525" cap="flat" cmpd="sng">
              <a:solidFill>
                <a:schemeClr val="tx1"/>
              </a:solidFill>
              <a:prstDash val="solid"/>
              <a:bevel/>
              <a:headEnd type="none" w="med" len="med"/>
              <a:tailEnd type="triangle" w="med" len="med"/>
            </a:ln>
          </p:spPr>
        </p:sp>
        <p:sp>
          <p:nvSpPr>
            <p:cNvPr id="203814" name="Line 86"/>
            <p:cNvSpPr/>
            <p:nvPr/>
          </p:nvSpPr>
          <p:spPr>
            <a:xfrm>
              <a:off x="3782" y="336"/>
              <a:ext cx="0" cy="144"/>
            </a:xfrm>
            <a:prstGeom prst="line">
              <a:avLst/>
            </a:prstGeom>
            <a:ln w="9525" cap="flat" cmpd="sng">
              <a:solidFill>
                <a:schemeClr val="tx1"/>
              </a:solidFill>
              <a:prstDash val="solid"/>
              <a:bevel/>
              <a:headEnd type="none" w="med" len="med"/>
              <a:tailEnd type="triangle" w="med" len="med"/>
            </a:ln>
          </p:spPr>
        </p:sp>
        <p:sp>
          <p:nvSpPr>
            <p:cNvPr id="203815" name="Line 87"/>
            <p:cNvSpPr/>
            <p:nvPr/>
          </p:nvSpPr>
          <p:spPr>
            <a:xfrm>
              <a:off x="3926" y="336"/>
              <a:ext cx="0" cy="144"/>
            </a:xfrm>
            <a:prstGeom prst="line">
              <a:avLst/>
            </a:prstGeom>
            <a:ln w="9525" cap="flat" cmpd="sng">
              <a:solidFill>
                <a:schemeClr val="tx1"/>
              </a:solidFill>
              <a:prstDash val="solid"/>
              <a:bevel/>
              <a:headEnd type="none" w="med" len="med"/>
              <a:tailEnd type="triangle" w="med" len="med"/>
            </a:ln>
          </p:spPr>
        </p:sp>
        <p:sp>
          <p:nvSpPr>
            <p:cNvPr id="203816" name="Text Box 88"/>
            <p:cNvSpPr txBox="1"/>
            <p:nvPr/>
          </p:nvSpPr>
          <p:spPr>
            <a:xfrm>
              <a:off x="3514" y="48"/>
              <a:ext cx="276" cy="231"/>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D</a:t>
              </a:r>
              <a:r>
                <a:rPr lang="en-US" altLang="zh-CN" sz="1800" baseline="-14000" dirty="0">
                  <a:solidFill>
                    <a:schemeClr val="tx1"/>
                  </a:solidFill>
                  <a:latin typeface="Times New Roman" panose="02020603050405020304" pitchFamily="18" charset="0"/>
                  <a:ea typeface="楷体_GB2312"/>
                </a:rPr>
                <a:t>0</a:t>
              </a:r>
              <a:endParaRPr lang="en-US" altLang="zh-CN" sz="1800" baseline="-14000" dirty="0">
                <a:solidFill>
                  <a:schemeClr val="tx1"/>
                </a:solidFill>
                <a:latin typeface="Times New Roman" panose="02020603050405020304" pitchFamily="18" charset="0"/>
                <a:ea typeface="楷体_GB2312"/>
              </a:endParaRPr>
            </a:p>
          </p:txBody>
        </p:sp>
        <p:sp>
          <p:nvSpPr>
            <p:cNvPr id="203817" name="Text Box 89"/>
            <p:cNvSpPr txBox="1"/>
            <p:nvPr/>
          </p:nvSpPr>
          <p:spPr>
            <a:xfrm>
              <a:off x="4522" y="48"/>
              <a:ext cx="276" cy="231"/>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D</a:t>
              </a:r>
              <a:r>
                <a:rPr lang="en-US" altLang="zh-CN" sz="1800" baseline="-14000" dirty="0">
                  <a:solidFill>
                    <a:schemeClr val="tx1"/>
                  </a:solidFill>
                  <a:latin typeface="Times New Roman" panose="02020603050405020304" pitchFamily="18" charset="0"/>
                  <a:ea typeface="楷体_GB2312"/>
                </a:rPr>
                <a:t>7</a:t>
              </a:r>
              <a:endParaRPr lang="en-US" altLang="zh-CN" sz="1800" baseline="-14000" dirty="0">
                <a:solidFill>
                  <a:schemeClr val="tx1"/>
                </a:solidFill>
                <a:latin typeface="Times New Roman" panose="02020603050405020304" pitchFamily="18" charset="0"/>
                <a:ea typeface="楷体_GB2312"/>
              </a:endParaRPr>
            </a:p>
          </p:txBody>
        </p:sp>
        <p:sp>
          <p:nvSpPr>
            <p:cNvPr id="203818" name="Text Box 90"/>
            <p:cNvSpPr txBox="1"/>
            <p:nvPr/>
          </p:nvSpPr>
          <p:spPr>
            <a:xfrm>
              <a:off x="3974" y="0"/>
              <a:ext cx="284" cy="250"/>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t>
              </a:r>
              <a:endParaRPr lang="en-US" altLang="zh-CN" sz="2000" baseline="-14000" dirty="0">
                <a:solidFill>
                  <a:schemeClr val="tx1"/>
                </a:solidFill>
                <a:latin typeface="Times New Roman" panose="02020603050405020304" pitchFamily="18" charset="0"/>
                <a:ea typeface="楷体_GB2312"/>
              </a:endParaRPr>
            </a:p>
          </p:txBody>
        </p:sp>
        <p:sp>
          <p:nvSpPr>
            <p:cNvPr id="203819" name="Line 91"/>
            <p:cNvSpPr/>
            <p:nvPr/>
          </p:nvSpPr>
          <p:spPr>
            <a:xfrm flipH="1">
              <a:off x="2400" y="2880"/>
              <a:ext cx="1008" cy="0"/>
            </a:xfrm>
            <a:prstGeom prst="line">
              <a:avLst/>
            </a:prstGeom>
            <a:ln w="9525" cap="flat" cmpd="sng">
              <a:solidFill>
                <a:schemeClr val="tx1"/>
              </a:solidFill>
              <a:prstDash val="solid"/>
              <a:bevel/>
              <a:headEnd type="none" w="med" len="med"/>
              <a:tailEnd type="triangle" w="med" len="med"/>
            </a:ln>
          </p:spPr>
        </p:sp>
        <p:sp>
          <p:nvSpPr>
            <p:cNvPr id="203820" name="Line 92"/>
            <p:cNvSpPr/>
            <p:nvPr/>
          </p:nvSpPr>
          <p:spPr>
            <a:xfrm flipH="1">
              <a:off x="2400" y="2592"/>
              <a:ext cx="1008" cy="0"/>
            </a:xfrm>
            <a:prstGeom prst="line">
              <a:avLst/>
            </a:prstGeom>
            <a:ln w="9525" cap="flat" cmpd="sng">
              <a:solidFill>
                <a:schemeClr val="tx1"/>
              </a:solidFill>
              <a:prstDash val="solid"/>
              <a:bevel/>
              <a:headEnd type="none" w="med" len="med"/>
              <a:tailEnd type="triangle" w="med" len="med"/>
            </a:ln>
          </p:spPr>
        </p:sp>
        <p:sp>
          <p:nvSpPr>
            <p:cNvPr id="203821" name="Line 93"/>
            <p:cNvSpPr/>
            <p:nvPr/>
          </p:nvSpPr>
          <p:spPr>
            <a:xfrm flipH="1">
              <a:off x="2400" y="2304"/>
              <a:ext cx="1008" cy="0"/>
            </a:xfrm>
            <a:prstGeom prst="line">
              <a:avLst/>
            </a:prstGeom>
            <a:ln w="9525" cap="flat" cmpd="sng">
              <a:solidFill>
                <a:schemeClr val="tx1"/>
              </a:solidFill>
              <a:prstDash val="solid"/>
              <a:bevel/>
              <a:headEnd type="none" w="med" len="med"/>
              <a:tailEnd type="triangle" w="med" len="med"/>
            </a:ln>
          </p:spPr>
        </p:sp>
        <p:sp>
          <p:nvSpPr>
            <p:cNvPr id="203822" name="Line 94"/>
            <p:cNvSpPr/>
            <p:nvPr/>
          </p:nvSpPr>
          <p:spPr>
            <a:xfrm flipH="1">
              <a:off x="2400" y="2064"/>
              <a:ext cx="1008" cy="0"/>
            </a:xfrm>
            <a:prstGeom prst="line">
              <a:avLst/>
            </a:prstGeom>
            <a:ln w="9525" cap="flat" cmpd="sng">
              <a:solidFill>
                <a:schemeClr val="tx1"/>
              </a:solidFill>
              <a:prstDash val="solid"/>
              <a:bevel/>
              <a:headEnd type="none" w="med" len="med"/>
              <a:tailEnd type="triangle" w="med" len="med"/>
            </a:ln>
          </p:spPr>
        </p:sp>
        <p:sp>
          <p:nvSpPr>
            <p:cNvPr id="203823" name="Line 95"/>
            <p:cNvSpPr/>
            <p:nvPr/>
          </p:nvSpPr>
          <p:spPr>
            <a:xfrm flipH="1">
              <a:off x="2400" y="1776"/>
              <a:ext cx="1008" cy="0"/>
            </a:xfrm>
            <a:prstGeom prst="line">
              <a:avLst/>
            </a:prstGeom>
            <a:ln w="9525" cap="flat" cmpd="sng">
              <a:solidFill>
                <a:schemeClr val="tx1"/>
              </a:solidFill>
              <a:prstDash val="solid"/>
              <a:bevel/>
              <a:headEnd type="none" w="med" len="med"/>
              <a:tailEnd type="triangle" w="med" len="med"/>
            </a:ln>
          </p:spPr>
        </p:sp>
        <p:sp>
          <p:nvSpPr>
            <p:cNvPr id="203824" name="Line 96"/>
            <p:cNvSpPr/>
            <p:nvPr/>
          </p:nvSpPr>
          <p:spPr>
            <a:xfrm flipH="1">
              <a:off x="2400" y="1488"/>
              <a:ext cx="1008" cy="0"/>
            </a:xfrm>
            <a:prstGeom prst="line">
              <a:avLst/>
            </a:prstGeom>
            <a:ln w="9525" cap="flat" cmpd="sng">
              <a:solidFill>
                <a:schemeClr val="tx1"/>
              </a:solidFill>
              <a:prstDash val="solid"/>
              <a:bevel/>
              <a:headEnd type="none" w="med" len="med"/>
              <a:tailEnd type="triangle" w="med" len="med"/>
            </a:ln>
          </p:spPr>
        </p:sp>
        <p:sp>
          <p:nvSpPr>
            <p:cNvPr id="203825" name="Line 97"/>
            <p:cNvSpPr/>
            <p:nvPr/>
          </p:nvSpPr>
          <p:spPr>
            <a:xfrm flipH="1">
              <a:off x="2400" y="1248"/>
              <a:ext cx="1008" cy="0"/>
            </a:xfrm>
            <a:prstGeom prst="line">
              <a:avLst/>
            </a:prstGeom>
            <a:ln w="9525" cap="flat" cmpd="sng">
              <a:solidFill>
                <a:schemeClr val="tx1"/>
              </a:solidFill>
              <a:prstDash val="solid"/>
              <a:bevel/>
              <a:headEnd type="none" w="med" len="med"/>
              <a:tailEnd type="triangle" w="med" len="med"/>
            </a:ln>
          </p:spPr>
        </p:sp>
        <p:sp>
          <p:nvSpPr>
            <p:cNvPr id="203826" name="Line 98"/>
            <p:cNvSpPr/>
            <p:nvPr/>
          </p:nvSpPr>
          <p:spPr>
            <a:xfrm flipH="1">
              <a:off x="2400" y="960"/>
              <a:ext cx="1008" cy="0"/>
            </a:xfrm>
            <a:prstGeom prst="line">
              <a:avLst/>
            </a:prstGeom>
            <a:ln w="9525" cap="flat" cmpd="sng">
              <a:solidFill>
                <a:schemeClr val="tx1"/>
              </a:solidFill>
              <a:prstDash val="solid"/>
              <a:bevel/>
              <a:headEnd type="none" w="med" len="med"/>
              <a:tailEnd type="triangle" w="med" len="med"/>
            </a:ln>
          </p:spPr>
        </p:sp>
        <p:sp>
          <p:nvSpPr>
            <p:cNvPr id="203827" name="Text Box 99"/>
            <p:cNvSpPr txBox="1"/>
            <p:nvPr/>
          </p:nvSpPr>
          <p:spPr>
            <a:xfrm>
              <a:off x="2208" y="462"/>
              <a:ext cx="1104" cy="256"/>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≥1</a:t>
              </a:r>
              <a:endParaRPr lang="en-US" altLang="zh-CN" sz="2000" dirty="0">
                <a:solidFill>
                  <a:schemeClr val="tx1"/>
                </a:solidFill>
                <a:latin typeface="Times New Roman" panose="02020603050405020304" pitchFamily="18" charset="0"/>
                <a:ea typeface="楷体_GB2312"/>
              </a:endParaRPr>
            </a:p>
          </p:txBody>
        </p:sp>
        <p:sp>
          <p:nvSpPr>
            <p:cNvPr id="203828" name="Line 100"/>
            <p:cNvSpPr/>
            <p:nvPr/>
          </p:nvSpPr>
          <p:spPr>
            <a:xfrm>
              <a:off x="2511" y="720"/>
              <a:ext cx="0" cy="240"/>
            </a:xfrm>
            <a:prstGeom prst="line">
              <a:avLst/>
            </a:prstGeom>
            <a:ln w="9525" cap="flat" cmpd="sng">
              <a:solidFill>
                <a:schemeClr val="tx1"/>
              </a:solidFill>
              <a:prstDash val="solid"/>
              <a:bevel/>
              <a:headEnd type="none" w="med" len="med"/>
              <a:tailEnd type="none" w="med" len="med"/>
            </a:ln>
          </p:spPr>
        </p:sp>
        <p:sp>
          <p:nvSpPr>
            <p:cNvPr id="203829" name="Line 101"/>
            <p:cNvSpPr/>
            <p:nvPr/>
          </p:nvSpPr>
          <p:spPr>
            <a:xfrm>
              <a:off x="2592" y="720"/>
              <a:ext cx="0" cy="528"/>
            </a:xfrm>
            <a:prstGeom prst="line">
              <a:avLst/>
            </a:prstGeom>
            <a:ln w="9525" cap="flat" cmpd="sng">
              <a:solidFill>
                <a:schemeClr val="tx1"/>
              </a:solidFill>
              <a:prstDash val="solid"/>
              <a:bevel/>
              <a:headEnd type="none" w="med" len="med"/>
              <a:tailEnd type="none" w="med" len="med"/>
            </a:ln>
          </p:spPr>
        </p:sp>
        <p:sp>
          <p:nvSpPr>
            <p:cNvPr id="203830" name="Line 102"/>
            <p:cNvSpPr/>
            <p:nvPr/>
          </p:nvSpPr>
          <p:spPr>
            <a:xfrm>
              <a:off x="2688" y="720"/>
              <a:ext cx="0" cy="768"/>
            </a:xfrm>
            <a:prstGeom prst="line">
              <a:avLst/>
            </a:prstGeom>
            <a:ln w="9525" cap="flat" cmpd="sng">
              <a:solidFill>
                <a:schemeClr val="tx1"/>
              </a:solidFill>
              <a:prstDash val="solid"/>
              <a:bevel/>
              <a:headEnd type="none" w="med" len="med"/>
              <a:tailEnd type="none" w="med" len="med"/>
            </a:ln>
          </p:spPr>
        </p:sp>
        <p:sp>
          <p:nvSpPr>
            <p:cNvPr id="203831" name="Line 103"/>
            <p:cNvSpPr/>
            <p:nvPr/>
          </p:nvSpPr>
          <p:spPr>
            <a:xfrm>
              <a:off x="2784" y="720"/>
              <a:ext cx="0" cy="1056"/>
            </a:xfrm>
            <a:prstGeom prst="line">
              <a:avLst/>
            </a:prstGeom>
            <a:ln w="9525" cap="flat" cmpd="sng">
              <a:solidFill>
                <a:schemeClr val="tx1"/>
              </a:solidFill>
              <a:prstDash val="solid"/>
              <a:bevel/>
              <a:headEnd type="none" w="med" len="med"/>
              <a:tailEnd type="none" w="med" len="med"/>
            </a:ln>
          </p:spPr>
        </p:sp>
        <p:sp>
          <p:nvSpPr>
            <p:cNvPr id="203832" name="Line 104"/>
            <p:cNvSpPr/>
            <p:nvPr/>
          </p:nvSpPr>
          <p:spPr>
            <a:xfrm flipH="1">
              <a:off x="2880" y="720"/>
              <a:ext cx="0" cy="1344"/>
            </a:xfrm>
            <a:prstGeom prst="line">
              <a:avLst/>
            </a:prstGeom>
            <a:ln w="9525" cap="flat" cmpd="sng">
              <a:solidFill>
                <a:schemeClr val="tx1"/>
              </a:solidFill>
              <a:prstDash val="solid"/>
              <a:bevel/>
              <a:headEnd type="none" w="med" len="med"/>
              <a:tailEnd type="none" w="med" len="med"/>
            </a:ln>
          </p:spPr>
        </p:sp>
        <p:sp>
          <p:nvSpPr>
            <p:cNvPr id="203833" name="Line 105"/>
            <p:cNvSpPr/>
            <p:nvPr/>
          </p:nvSpPr>
          <p:spPr>
            <a:xfrm>
              <a:off x="2976" y="720"/>
              <a:ext cx="0" cy="1584"/>
            </a:xfrm>
            <a:prstGeom prst="line">
              <a:avLst/>
            </a:prstGeom>
            <a:ln w="9525" cap="flat" cmpd="sng">
              <a:solidFill>
                <a:schemeClr val="tx1"/>
              </a:solidFill>
              <a:prstDash val="solid"/>
              <a:bevel/>
              <a:headEnd type="none" w="med" len="med"/>
              <a:tailEnd type="none" w="med" len="med"/>
            </a:ln>
          </p:spPr>
        </p:sp>
        <p:sp>
          <p:nvSpPr>
            <p:cNvPr id="203834" name="Line 106"/>
            <p:cNvSpPr/>
            <p:nvPr/>
          </p:nvSpPr>
          <p:spPr>
            <a:xfrm>
              <a:off x="3072" y="720"/>
              <a:ext cx="0" cy="1872"/>
            </a:xfrm>
            <a:prstGeom prst="line">
              <a:avLst/>
            </a:prstGeom>
            <a:ln w="9525" cap="flat" cmpd="sng">
              <a:solidFill>
                <a:schemeClr val="tx1"/>
              </a:solidFill>
              <a:prstDash val="solid"/>
              <a:bevel/>
              <a:headEnd type="none" w="med" len="med"/>
              <a:tailEnd type="none" w="med" len="med"/>
            </a:ln>
          </p:spPr>
        </p:sp>
        <p:sp>
          <p:nvSpPr>
            <p:cNvPr id="203835" name="Line 107"/>
            <p:cNvSpPr/>
            <p:nvPr/>
          </p:nvSpPr>
          <p:spPr>
            <a:xfrm>
              <a:off x="3168" y="720"/>
              <a:ext cx="0" cy="2160"/>
            </a:xfrm>
            <a:prstGeom prst="line">
              <a:avLst/>
            </a:prstGeom>
            <a:ln w="9525" cap="flat" cmpd="sng">
              <a:solidFill>
                <a:schemeClr val="tx1"/>
              </a:solidFill>
              <a:prstDash val="solid"/>
              <a:bevel/>
              <a:headEnd type="none" w="med" len="med"/>
              <a:tailEnd type="none" w="med" len="med"/>
            </a:ln>
          </p:spPr>
        </p:sp>
        <p:sp>
          <p:nvSpPr>
            <p:cNvPr id="203836" name="Text Box 108"/>
            <p:cNvSpPr txBox="1"/>
            <p:nvPr/>
          </p:nvSpPr>
          <p:spPr>
            <a:xfrm>
              <a:off x="1200" y="816"/>
              <a:ext cx="336" cy="2157"/>
            </a:xfrm>
            <a:prstGeom prst="rect">
              <a:avLst/>
            </a:prstGeom>
            <a:noFill/>
            <a:ln w="9525" cap="flat" cmpd="sng">
              <a:solidFill>
                <a:schemeClr val="tx1"/>
              </a:solidFill>
              <a:prstDash val="solid"/>
              <a:miter/>
              <a:headEnd type="none" w="med" len="med"/>
              <a:tailEnd type="none" w="med" len="med"/>
            </a:ln>
          </p:spPr>
          <p:txBody>
            <a:bodyPr lIns="18000" rIns="180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zh-CN" altLang="en-US" sz="2000" dirty="0">
                  <a:solidFill>
                    <a:schemeClr val="tx1"/>
                  </a:solidFill>
                  <a:latin typeface="Times New Roman" panose="02020603050405020304" pitchFamily="18" charset="0"/>
                  <a:ea typeface="楷体_GB2312"/>
                </a:rPr>
                <a:t>比</a:t>
              </a:r>
              <a:endParaRPr lang="zh-CN" altLang="en-US" sz="2000" dirty="0">
                <a:solidFill>
                  <a:schemeClr val="tx1"/>
                </a:solidFill>
                <a:latin typeface="Times New Roman" panose="02020603050405020304" pitchFamily="18" charset="0"/>
                <a:ea typeface="楷体_GB2312"/>
              </a:endParaRPr>
            </a:p>
            <a:p>
              <a:pPr marL="0" lvl="0" indent="0">
                <a:lnSpc>
                  <a:spcPct val="100000"/>
                </a:lnSpc>
                <a:spcBef>
                  <a:spcPct val="0"/>
                </a:spcBef>
                <a:spcAft>
                  <a:spcPct val="0"/>
                </a:spcAft>
                <a:buClrTx/>
                <a:buSzTx/>
                <a:buFont typeface="Arial" panose="020B0604020202020204" pitchFamily="34" charset="0"/>
                <a:buNone/>
              </a:pPr>
              <a:r>
                <a:rPr lang="zh-CN" altLang="en-US" sz="2000" dirty="0">
                  <a:solidFill>
                    <a:schemeClr val="tx1"/>
                  </a:solidFill>
                  <a:latin typeface="Times New Roman" panose="02020603050405020304" pitchFamily="18" charset="0"/>
                  <a:ea typeface="楷体_GB2312"/>
                </a:rPr>
                <a:t>较</a:t>
              </a:r>
              <a:endParaRPr lang="zh-CN" altLang="en-US" sz="2000" dirty="0">
                <a:solidFill>
                  <a:schemeClr val="tx1"/>
                </a:solidFill>
                <a:latin typeface="Times New Roman" panose="02020603050405020304" pitchFamily="18" charset="0"/>
                <a:ea typeface="楷体_GB2312"/>
              </a:endParaRPr>
            </a:p>
            <a:p>
              <a:pPr marL="0" lvl="0" indent="0">
                <a:lnSpc>
                  <a:spcPct val="100000"/>
                </a:lnSpc>
                <a:spcBef>
                  <a:spcPct val="0"/>
                </a:spcBef>
                <a:spcAft>
                  <a:spcPct val="0"/>
                </a:spcAft>
                <a:buClrTx/>
                <a:buSzTx/>
                <a:buFont typeface="Arial" panose="020B0604020202020204" pitchFamily="34" charset="0"/>
                <a:buNone/>
              </a:pPr>
              <a:r>
                <a:rPr lang="zh-CN" altLang="en-US" sz="2000" dirty="0">
                  <a:solidFill>
                    <a:schemeClr val="tx1"/>
                  </a:solidFill>
                  <a:latin typeface="Times New Roman" panose="02020603050405020304" pitchFamily="18" charset="0"/>
                  <a:ea typeface="楷体_GB2312"/>
                </a:rPr>
                <a:t>器</a:t>
              </a:r>
              <a:endParaRPr lang="zh-CN" altLang="en-US" sz="2000" dirty="0">
                <a:solidFill>
                  <a:schemeClr val="tx1"/>
                </a:solidFill>
                <a:latin typeface="Times New Roman" panose="02020603050405020304" pitchFamily="18" charset="0"/>
                <a:ea typeface="楷体_GB2312"/>
              </a:endParaRPr>
            </a:p>
            <a:p>
              <a:pPr marL="0" lvl="0" indent="0" algn="r">
                <a:lnSpc>
                  <a:spcPct val="100000"/>
                </a:lnSpc>
                <a:spcBef>
                  <a:spcPct val="0"/>
                </a:spcBef>
                <a:spcAft>
                  <a:spcPct val="0"/>
                </a:spcAft>
                <a:buClrTx/>
                <a:buSzTx/>
                <a:buFont typeface="Arial" panose="020B0604020202020204" pitchFamily="34" charset="0"/>
                <a:buNone/>
              </a:pPr>
              <a:r>
                <a:rPr lang="zh-CN" altLang="en-US" sz="2000" dirty="0">
                  <a:solidFill>
                    <a:schemeClr val="tx1"/>
                  </a:solidFill>
                  <a:latin typeface="Times New Roman" panose="02020603050405020304" pitchFamily="18" charset="0"/>
                  <a:ea typeface="楷体_GB2312"/>
                </a:rPr>
                <a:t> </a:t>
              </a:r>
              <a:r>
                <a:rPr lang="en-US" altLang="zh-CN" sz="2000" dirty="0">
                  <a:solidFill>
                    <a:schemeClr val="tx1"/>
                  </a:solidFill>
                  <a:latin typeface="Times New Roman" panose="02020603050405020304" pitchFamily="18" charset="0"/>
                  <a:ea typeface="楷体_GB2312"/>
                </a:rPr>
                <a:t>B</a:t>
              </a:r>
              <a:r>
                <a:rPr lang="en-US" altLang="zh-CN" sz="2000" baseline="-18000" dirty="0">
                  <a:solidFill>
                    <a:schemeClr val="tx1"/>
                  </a:solidFill>
                  <a:latin typeface="Times New Roman" panose="02020603050405020304" pitchFamily="18" charset="0"/>
                  <a:ea typeface="楷体_GB2312"/>
                </a:rPr>
                <a:t>0</a:t>
              </a:r>
              <a:endParaRPr lang="en-US" altLang="zh-CN" sz="2000" baseline="-18000" dirty="0">
                <a:solidFill>
                  <a:schemeClr val="tx1"/>
                </a:solidFill>
                <a:latin typeface="Times New Roman" panose="02020603050405020304" pitchFamily="18" charset="0"/>
                <a:ea typeface="楷体_GB2312"/>
              </a:endParaRPr>
            </a:p>
            <a:p>
              <a:pPr marL="0" lvl="0" indent="0" algn="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B</a:t>
              </a:r>
              <a:r>
                <a:rPr lang="en-US" altLang="zh-CN" sz="2000" baseline="-18000" dirty="0">
                  <a:solidFill>
                    <a:schemeClr val="tx1"/>
                  </a:solidFill>
                  <a:latin typeface="Times New Roman" panose="02020603050405020304" pitchFamily="18" charset="0"/>
                  <a:ea typeface="楷体_GB2312"/>
                </a:rPr>
                <a:t>1</a:t>
              </a:r>
              <a:endParaRPr lang="en-US" altLang="zh-CN" sz="2000" dirty="0">
                <a:solidFill>
                  <a:schemeClr val="tx1"/>
                </a:solidFill>
                <a:latin typeface="Times New Roman" panose="02020603050405020304" pitchFamily="18" charset="0"/>
                <a:ea typeface="楷体_GB2312"/>
              </a:endParaRPr>
            </a:p>
            <a:p>
              <a:pPr marL="0" lvl="0" indent="0" algn="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B</a:t>
              </a:r>
              <a:r>
                <a:rPr lang="en-US" altLang="zh-CN" sz="2000" baseline="-18000" dirty="0">
                  <a:solidFill>
                    <a:schemeClr val="tx1"/>
                  </a:solidFill>
                  <a:latin typeface="Times New Roman" panose="02020603050405020304" pitchFamily="18" charset="0"/>
                  <a:ea typeface="楷体_GB2312"/>
                </a:rPr>
                <a:t>2</a:t>
              </a:r>
              <a:endParaRPr lang="en-US" altLang="zh-CN" sz="2000" dirty="0">
                <a:solidFill>
                  <a:schemeClr val="tx1"/>
                </a:solidFill>
                <a:latin typeface="Times New Roman" panose="02020603050405020304" pitchFamily="18" charset="0"/>
                <a:ea typeface="楷体_GB2312"/>
              </a:endParaRPr>
            </a:p>
            <a:p>
              <a:pPr marL="0" lvl="0" indent="0">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A&gt;B</a:t>
              </a:r>
              <a:endParaRPr lang="en-US" altLang="zh-CN" sz="1800" dirty="0">
                <a:solidFill>
                  <a:schemeClr val="tx1"/>
                </a:solidFill>
                <a:latin typeface="Times New Roman" panose="02020603050405020304" pitchFamily="18" charset="0"/>
                <a:ea typeface="楷体_GB2312"/>
              </a:endParaRPr>
            </a:p>
            <a:p>
              <a:pPr marL="0" lvl="0" indent="0" algn="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a:t>
              </a:r>
              <a:r>
                <a:rPr lang="en-US" altLang="zh-CN" sz="2000" baseline="-18000" dirty="0">
                  <a:solidFill>
                    <a:schemeClr val="tx1"/>
                  </a:solidFill>
                  <a:latin typeface="Times New Roman" panose="02020603050405020304" pitchFamily="18" charset="0"/>
                  <a:ea typeface="楷体_GB2312"/>
                </a:rPr>
                <a:t>0</a:t>
              </a:r>
              <a:endParaRPr lang="en-US" altLang="zh-CN" sz="2000" dirty="0">
                <a:solidFill>
                  <a:schemeClr val="tx1"/>
                </a:solidFill>
                <a:latin typeface="Times New Roman" panose="02020603050405020304" pitchFamily="18" charset="0"/>
                <a:ea typeface="楷体_GB2312"/>
              </a:endParaRPr>
            </a:p>
            <a:p>
              <a:pPr marL="0" lvl="0" indent="0" algn="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a:t>
              </a:r>
              <a:r>
                <a:rPr lang="en-US" altLang="zh-CN" sz="2000" baseline="-18000" dirty="0">
                  <a:solidFill>
                    <a:schemeClr val="tx1"/>
                  </a:solidFill>
                  <a:latin typeface="Times New Roman" panose="02020603050405020304" pitchFamily="18" charset="0"/>
                  <a:ea typeface="楷体_GB2312"/>
                </a:rPr>
                <a:t>1</a:t>
              </a:r>
              <a:endParaRPr lang="en-US" altLang="zh-CN" sz="2000" dirty="0">
                <a:solidFill>
                  <a:schemeClr val="tx1"/>
                </a:solidFill>
                <a:latin typeface="Times New Roman" panose="02020603050405020304" pitchFamily="18" charset="0"/>
                <a:ea typeface="楷体_GB2312"/>
              </a:endParaRPr>
            </a:p>
            <a:p>
              <a:pPr marL="0" lvl="0" indent="0" algn="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a:t>
              </a:r>
              <a:r>
                <a:rPr lang="en-US" altLang="zh-CN" sz="2000" baseline="-18000" dirty="0">
                  <a:solidFill>
                    <a:schemeClr val="tx1"/>
                  </a:solidFill>
                  <a:latin typeface="Times New Roman" panose="02020603050405020304" pitchFamily="18" charset="0"/>
                  <a:ea typeface="楷体_GB2312"/>
                </a:rPr>
                <a:t>2</a:t>
              </a:r>
              <a:endParaRPr lang="en-US" altLang="zh-CN" sz="2000" dirty="0">
                <a:solidFill>
                  <a:schemeClr val="tx1"/>
                </a:solidFill>
                <a:latin typeface="Times New Roman" panose="02020603050405020304" pitchFamily="18" charset="0"/>
                <a:ea typeface="楷体_GB2312"/>
              </a:endParaRPr>
            </a:p>
            <a:p>
              <a:pPr marL="0" lvl="0" indent="0">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p:txBody>
        </p:sp>
        <p:sp>
          <p:nvSpPr>
            <p:cNvPr id="203837" name="Line 109"/>
            <p:cNvSpPr/>
            <p:nvPr/>
          </p:nvSpPr>
          <p:spPr>
            <a:xfrm flipH="1">
              <a:off x="1536" y="2304"/>
              <a:ext cx="576" cy="0"/>
            </a:xfrm>
            <a:prstGeom prst="line">
              <a:avLst/>
            </a:prstGeom>
            <a:ln w="9525" cap="flat" cmpd="sng">
              <a:solidFill>
                <a:schemeClr val="tx1"/>
              </a:solidFill>
              <a:prstDash val="solid"/>
              <a:bevel/>
              <a:headEnd type="none" w="med" len="med"/>
              <a:tailEnd type="triangle" w="med" len="med"/>
            </a:ln>
          </p:spPr>
        </p:sp>
        <p:sp>
          <p:nvSpPr>
            <p:cNvPr id="203838" name="Line 110"/>
            <p:cNvSpPr/>
            <p:nvPr/>
          </p:nvSpPr>
          <p:spPr>
            <a:xfrm flipH="1">
              <a:off x="1536" y="2496"/>
              <a:ext cx="576" cy="0"/>
            </a:xfrm>
            <a:prstGeom prst="line">
              <a:avLst/>
            </a:prstGeom>
            <a:ln w="9525" cap="flat" cmpd="sng">
              <a:solidFill>
                <a:schemeClr val="tx1"/>
              </a:solidFill>
              <a:prstDash val="solid"/>
              <a:bevel/>
              <a:headEnd type="none" w="med" len="med"/>
              <a:tailEnd type="triangle" w="med" len="med"/>
            </a:ln>
          </p:spPr>
        </p:sp>
        <p:sp>
          <p:nvSpPr>
            <p:cNvPr id="203839" name="Line 111"/>
            <p:cNvSpPr/>
            <p:nvPr/>
          </p:nvSpPr>
          <p:spPr>
            <a:xfrm flipH="1">
              <a:off x="1536" y="2688"/>
              <a:ext cx="576" cy="0"/>
            </a:xfrm>
            <a:prstGeom prst="line">
              <a:avLst/>
            </a:prstGeom>
            <a:ln w="9525" cap="flat" cmpd="sng">
              <a:solidFill>
                <a:schemeClr val="tx1"/>
              </a:solidFill>
              <a:prstDash val="solid"/>
              <a:bevel/>
              <a:headEnd type="none" w="med" len="med"/>
              <a:tailEnd type="triangle" w="med" len="med"/>
            </a:ln>
          </p:spPr>
        </p:sp>
        <p:sp>
          <p:nvSpPr>
            <p:cNvPr id="203840" name="Freeform 112"/>
            <p:cNvSpPr/>
            <p:nvPr/>
          </p:nvSpPr>
          <p:spPr>
            <a:xfrm>
              <a:off x="1536" y="672"/>
              <a:ext cx="111" cy="871"/>
            </a:xfrm>
            <a:custGeom>
              <a:avLst/>
              <a:gdLst/>
              <a:ahLst/>
              <a:cxnLst>
                <a:cxn ang="0">
                  <a:pos x="111" y="0"/>
                </a:cxn>
                <a:cxn ang="0">
                  <a:pos x="111" y="871"/>
                </a:cxn>
                <a:cxn ang="0">
                  <a:pos x="0" y="864"/>
                </a:cxn>
              </a:cxnLst>
              <a:pathLst>
                <a:path w="111" h="871">
                  <a:moveTo>
                    <a:pt x="111" y="0"/>
                  </a:moveTo>
                  <a:lnTo>
                    <a:pt x="111" y="871"/>
                  </a:lnTo>
                  <a:lnTo>
                    <a:pt x="0" y="864"/>
                  </a:lnTo>
                </a:path>
              </a:pathLst>
            </a:custGeom>
            <a:noFill/>
            <a:ln w="9525" cap="flat" cmpd="sng">
              <a:solidFill>
                <a:schemeClr val="tx1">
                  <a:alpha val="100000"/>
                </a:schemeClr>
              </a:solidFill>
              <a:prstDash val="solid"/>
              <a:bevel/>
              <a:headEnd type="none" w="med" len="med"/>
              <a:tailEnd type="triangle" w="med" len="med"/>
            </a:ln>
          </p:spPr>
          <p:txBody>
            <a:bodyPr/>
            <a:p>
              <a:endParaRPr lang="zh-CN" altLang="en-US"/>
            </a:p>
          </p:txBody>
        </p:sp>
        <p:sp>
          <p:nvSpPr>
            <p:cNvPr id="203841" name="Freeform 113"/>
            <p:cNvSpPr/>
            <p:nvPr/>
          </p:nvSpPr>
          <p:spPr>
            <a:xfrm>
              <a:off x="1536" y="672"/>
              <a:ext cx="244" cy="1056"/>
            </a:xfrm>
            <a:custGeom>
              <a:avLst/>
              <a:gdLst/>
              <a:ahLst/>
              <a:cxnLst>
                <a:cxn ang="0">
                  <a:pos x="240" y="0"/>
                </a:cxn>
                <a:cxn ang="0">
                  <a:pos x="244" y="1049"/>
                </a:cxn>
                <a:cxn ang="0">
                  <a:pos x="0" y="1056"/>
                </a:cxn>
              </a:cxnLst>
              <a:pathLst>
                <a:path w="244" h="1056">
                  <a:moveTo>
                    <a:pt x="240" y="0"/>
                  </a:moveTo>
                  <a:lnTo>
                    <a:pt x="244" y="1049"/>
                  </a:lnTo>
                  <a:lnTo>
                    <a:pt x="0" y="1056"/>
                  </a:lnTo>
                </a:path>
              </a:pathLst>
            </a:custGeom>
            <a:noFill/>
            <a:ln w="9525" cap="flat" cmpd="sng">
              <a:solidFill>
                <a:schemeClr val="tx1">
                  <a:alpha val="100000"/>
                </a:schemeClr>
              </a:solidFill>
              <a:prstDash val="solid"/>
              <a:bevel/>
              <a:headEnd type="none" w="med" len="med"/>
              <a:tailEnd type="triangle" w="med" len="med"/>
            </a:ln>
          </p:spPr>
          <p:txBody>
            <a:bodyPr/>
            <a:p>
              <a:endParaRPr lang="zh-CN" altLang="en-US"/>
            </a:p>
          </p:txBody>
        </p:sp>
        <p:sp>
          <p:nvSpPr>
            <p:cNvPr id="203842" name="Freeform 114"/>
            <p:cNvSpPr/>
            <p:nvPr/>
          </p:nvSpPr>
          <p:spPr>
            <a:xfrm>
              <a:off x="1536" y="672"/>
              <a:ext cx="384" cy="1248"/>
            </a:xfrm>
            <a:custGeom>
              <a:avLst/>
              <a:gdLst/>
              <a:ahLst/>
              <a:cxnLst>
                <a:cxn ang="0">
                  <a:pos x="384" y="0"/>
                </a:cxn>
                <a:cxn ang="0">
                  <a:pos x="377" y="1241"/>
                </a:cxn>
                <a:cxn ang="0">
                  <a:pos x="0" y="1248"/>
                </a:cxn>
              </a:cxnLst>
              <a:pathLst>
                <a:path w="384" h="1248">
                  <a:moveTo>
                    <a:pt x="384" y="0"/>
                  </a:moveTo>
                  <a:lnTo>
                    <a:pt x="377" y="1241"/>
                  </a:lnTo>
                  <a:lnTo>
                    <a:pt x="0" y="1248"/>
                  </a:lnTo>
                </a:path>
              </a:pathLst>
            </a:custGeom>
            <a:noFill/>
            <a:ln w="9525" cap="flat" cmpd="sng">
              <a:solidFill>
                <a:schemeClr val="tx1">
                  <a:alpha val="100000"/>
                </a:schemeClr>
              </a:solidFill>
              <a:prstDash val="solid"/>
              <a:bevel/>
              <a:headEnd type="none" w="med" len="med"/>
              <a:tailEnd type="triangle" w="med" len="med"/>
            </a:ln>
          </p:spPr>
          <p:txBody>
            <a:bodyPr/>
            <a:p>
              <a:endParaRPr lang="zh-CN" altLang="en-US"/>
            </a:p>
          </p:txBody>
        </p:sp>
        <p:sp>
          <p:nvSpPr>
            <p:cNvPr id="203843" name="Line 115"/>
            <p:cNvSpPr/>
            <p:nvPr/>
          </p:nvSpPr>
          <p:spPr>
            <a:xfrm flipH="1">
              <a:off x="864" y="2112"/>
              <a:ext cx="336" cy="0"/>
            </a:xfrm>
            <a:prstGeom prst="line">
              <a:avLst/>
            </a:prstGeom>
            <a:ln w="9525" cap="flat" cmpd="sng">
              <a:solidFill>
                <a:schemeClr val="tx1"/>
              </a:solidFill>
              <a:prstDash val="solid"/>
              <a:bevel/>
              <a:headEnd type="none" w="med" len="med"/>
              <a:tailEnd type="triangle" w="med" len="med"/>
            </a:ln>
          </p:spPr>
        </p:sp>
        <p:sp>
          <p:nvSpPr>
            <p:cNvPr id="203844" name="Freeform 116"/>
            <p:cNvSpPr/>
            <p:nvPr/>
          </p:nvSpPr>
          <p:spPr>
            <a:xfrm>
              <a:off x="864" y="244"/>
              <a:ext cx="1920" cy="1728"/>
            </a:xfrm>
            <a:custGeom>
              <a:avLst/>
              <a:gdLst/>
              <a:ahLst/>
              <a:cxnLst>
                <a:cxn ang="0">
                  <a:pos x="1920" y="236"/>
                </a:cxn>
                <a:cxn ang="0">
                  <a:pos x="1920" y="0"/>
                </a:cxn>
                <a:cxn ang="0">
                  <a:pos x="192" y="0"/>
                </a:cxn>
                <a:cxn ang="0">
                  <a:pos x="192" y="1728"/>
                </a:cxn>
                <a:cxn ang="0">
                  <a:pos x="0" y="1724"/>
                </a:cxn>
              </a:cxnLst>
              <a:pathLst>
                <a:path w="1920" h="1728">
                  <a:moveTo>
                    <a:pt x="1920" y="236"/>
                  </a:moveTo>
                  <a:lnTo>
                    <a:pt x="1920" y="0"/>
                  </a:lnTo>
                  <a:lnTo>
                    <a:pt x="192" y="0"/>
                  </a:lnTo>
                  <a:lnTo>
                    <a:pt x="192" y="1728"/>
                  </a:lnTo>
                  <a:lnTo>
                    <a:pt x="0" y="1724"/>
                  </a:lnTo>
                </a:path>
              </a:pathLst>
            </a:custGeom>
            <a:noFill/>
            <a:ln w="9525" cap="flat" cmpd="sng">
              <a:solidFill>
                <a:schemeClr val="tx1">
                  <a:alpha val="100000"/>
                </a:schemeClr>
              </a:solidFill>
              <a:prstDash val="solid"/>
              <a:bevel/>
              <a:headEnd type="none" w="med" len="med"/>
              <a:tailEnd type="triangle" w="med" len="med"/>
            </a:ln>
          </p:spPr>
          <p:txBody>
            <a:bodyPr/>
            <a:p>
              <a:endParaRPr lang="zh-CN" altLang="en-US"/>
            </a:p>
          </p:txBody>
        </p:sp>
      </p:grpSp>
    </p:spTree>
  </p:cSld>
  <p:clrMapOvr>
    <a:masterClrMapping/>
  </p:clrMapOvr>
  <p:transition spd="slow">
    <p:zoom/>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Rectangle 2"/>
          <p:cNvSpPr>
            <a:spLocks noGrp="1" noChangeAspect="1"/>
          </p:cNvSpPr>
          <p:nvPr>
            <p:ph type="title" idx="4294967295"/>
          </p:nvPr>
        </p:nvSpPr>
        <p:spPr>
          <a:xfrm>
            <a:off x="1331913" y="1268413"/>
            <a:ext cx="4968875" cy="503237"/>
          </a:xfrm>
        </p:spPr>
        <p:txBody>
          <a:bodyPr vert="horz" wrap="square" lIns="91440" tIns="45720" rIns="91440" bIns="45720" anchor="b" anchorCtr="0"/>
          <a:p>
            <a:pPr algn="r"/>
            <a:r>
              <a:rPr lang="en-US" altLang="zh-CN" dirty="0"/>
              <a:t>8259</a:t>
            </a:r>
            <a:r>
              <a:rPr lang="zh-CN" altLang="en-US" dirty="0"/>
              <a:t>内部结构说明</a:t>
            </a:r>
            <a:endParaRPr lang="zh-CN" altLang="en-US" dirty="0"/>
          </a:p>
        </p:txBody>
      </p:sp>
      <p:sp>
        <p:nvSpPr>
          <p:cNvPr id="204803" name="Rectangle 3"/>
          <p:cNvSpPr>
            <a:spLocks noGrp="1" noChangeAspect="1"/>
          </p:cNvSpPr>
          <p:nvPr>
            <p:ph type="body" idx="4294967295"/>
          </p:nvPr>
        </p:nvSpPr>
        <p:spPr>
          <a:xfrm>
            <a:off x="0" y="2060575"/>
            <a:ext cx="9144000" cy="4797425"/>
          </a:xfrm>
          <a:solidFill>
            <a:schemeClr val="bg1">
              <a:alpha val="100000"/>
            </a:schemeClr>
          </a:solidFill>
        </p:spPr>
        <p:txBody>
          <a:bodyPr vert="horz" wrap="square" lIns="91440" tIns="45720" rIns="91440" bIns="45720" anchor="t" anchorCtr="0"/>
          <a:p>
            <a:pPr marL="609600" indent="-609600">
              <a:lnSpc>
                <a:spcPct val="120000"/>
              </a:lnSpc>
              <a:buClr>
                <a:srgbClr val="A50021"/>
              </a:buClr>
              <a:buFont typeface="Wingdings" panose="05000000000000000000" pitchFamily="2" charset="2"/>
              <a:buChar char="l"/>
            </a:pPr>
            <a:r>
              <a:rPr lang="en-US" altLang="zh-CN" sz="2000" dirty="0">
                <a:solidFill>
                  <a:schemeClr val="tx1"/>
                </a:solidFill>
              </a:rPr>
              <a:t>IRR — </a:t>
            </a:r>
            <a:r>
              <a:rPr lang="zh-CN" altLang="en-US" sz="2000" dirty="0">
                <a:solidFill>
                  <a:schemeClr val="tx1"/>
                </a:solidFill>
              </a:rPr>
              <a:t>中断请求寄存器，保存 </a:t>
            </a:r>
            <a:r>
              <a:rPr lang="en-US" altLang="zh-CN" sz="2000" dirty="0">
                <a:solidFill>
                  <a:schemeClr val="tx1"/>
                </a:solidFill>
              </a:rPr>
              <a:t>8</a:t>
            </a:r>
            <a:r>
              <a:rPr lang="zh-CN" altLang="en-US" sz="2000" dirty="0">
                <a:solidFill>
                  <a:schemeClr val="tx1"/>
                </a:solidFill>
              </a:rPr>
              <a:t>个输入端</a:t>
            </a:r>
            <a:r>
              <a:rPr lang="en-US" altLang="zh-CN" sz="2000" dirty="0">
                <a:solidFill>
                  <a:schemeClr val="tx1"/>
                </a:solidFill>
              </a:rPr>
              <a:t>IR0~IR7</a:t>
            </a:r>
            <a:r>
              <a:rPr lang="zh-CN" altLang="en-US" sz="2000" dirty="0">
                <a:solidFill>
                  <a:schemeClr val="tx1"/>
                </a:solidFill>
              </a:rPr>
              <a:t>的中断申请状态，输入可高电平有效，也可上升沿有效。</a:t>
            </a:r>
            <a:r>
              <a:rPr lang="zh-CN" altLang="en-US" sz="2000" dirty="0">
                <a:solidFill>
                  <a:srgbClr val="FF0000"/>
                </a:solidFill>
              </a:rPr>
              <a:t>当某IRi有效时，IRR相应位置1。</a:t>
            </a:r>
            <a:endParaRPr lang="zh-CN" altLang="en-US" sz="2000" dirty="0">
              <a:solidFill>
                <a:srgbClr val="FF0000"/>
              </a:solidFill>
            </a:endParaRPr>
          </a:p>
          <a:p>
            <a:pPr marL="609600" indent="-609600">
              <a:lnSpc>
                <a:spcPct val="120000"/>
              </a:lnSpc>
              <a:buClr>
                <a:srgbClr val="A50021"/>
              </a:buClr>
              <a:buFont typeface="Wingdings" panose="05000000000000000000" pitchFamily="2" charset="2"/>
              <a:buChar char="l"/>
            </a:pPr>
            <a:r>
              <a:rPr lang="en-US" altLang="zh-CN" sz="2000" dirty="0">
                <a:solidFill>
                  <a:schemeClr val="tx1"/>
                </a:solidFill>
              </a:rPr>
              <a:t>ISR — </a:t>
            </a:r>
            <a:r>
              <a:rPr lang="zh-CN" altLang="en-US" sz="2000" dirty="0">
                <a:solidFill>
                  <a:schemeClr val="tx1"/>
                </a:solidFill>
              </a:rPr>
              <a:t>中断服务寄存器，保存</a:t>
            </a:r>
            <a:r>
              <a:rPr lang="en-US" altLang="zh-CN" sz="2000" dirty="0">
                <a:solidFill>
                  <a:schemeClr val="tx1"/>
                </a:solidFill>
              </a:rPr>
              <a:t>CPU</a:t>
            </a:r>
            <a:r>
              <a:rPr lang="zh-CN" altLang="en-US" sz="2000" dirty="0">
                <a:solidFill>
                  <a:schemeClr val="tx1"/>
                </a:solidFill>
              </a:rPr>
              <a:t>正在处理的中断请求；</a:t>
            </a:r>
            <a:endParaRPr lang="zh-CN" altLang="en-US" sz="2000" dirty="0">
              <a:solidFill>
                <a:schemeClr val="tx1"/>
              </a:solidFill>
            </a:endParaRPr>
          </a:p>
          <a:p>
            <a:pPr marL="609600" indent="-609600">
              <a:lnSpc>
                <a:spcPct val="120000"/>
              </a:lnSpc>
              <a:buClr>
                <a:srgbClr val="A50021"/>
              </a:buClr>
              <a:buFont typeface="Wingdings" panose="05000000000000000000" pitchFamily="2" charset="2"/>
              <a:buChar char="l"/>
            </a:pPr>
            <a:r>
              <a:rPr lang="zh-CN" altLang="en-US" sz="2000" dirty="0">
                <a:solidFill>
                  <a:schemeClr val="tx1"/>
                </a:solidFill>
              </a:rPr>
              <a:t>IMR</a:t>
            </a:r>
            <a:r>
              <a:rPr lang="en-US" altLang="zh-CN" sz="2000" dirty="0">
                <a:solidFill>
                  <a:schemeClr val="tx1"/>
                </a:solidFill>
              </a:rPr>
              <a:t> — </a:t>
            </a:r>
            <a:r>
              <a:rPr lang="zh-CN" altLang="en-US" sz="2000" dirty="0">
                <a:solidFill>
                  <a:schemeClr val="tx1"/>
                </a:solidFill>
              </a:rPr>
              <a:t>中断屏蔽寄存器，对中断申请进行屏蔽控制；</a:t>
            </a:r>
            <a:endParaRPr lang="zh-CN" altLang="en-US" sz="2000" dirty="0">
              <a:solidFill>
                <a:schemeClr val="tx1"/>
              </a:solidFill>
            </a:endParaRPr>
          </a:p>
          <a:p>
            <a:pPr marL="609600" indent="-609600">
              <a:lnSpc>
                <a:spcPct val="120000"/>
              </a:lnSpc>
              <a:buClr>
                <a:srgbClr val="A50021"/>
              </a:buClr>
              <a:buFont typeface="Wingdings" panose="05000000000000000000" pitchFamily="2" charset="2"/>
              <a:buChar char="l"/>
            </a:pPr>
            <a:r>
              <a:rPr lang="zh-CN" altLang="en-US" sz="2000" dirty="0">
                <a:solidFill>
                  <a:schemeClr val="tx1"/>
                </a:solidFill>
              </a:rPr>
              <a:t>中断优先级分析器决定中断申请的优先级；</a:t>
            </a:r>
            <a:endParaRPr lang="zh-CN" altLang="en-US" sz="2000" dirty="0">
              <a:solidFill>
                <a:schemeClr val="tx1"/>
              </a:solidFill>
            </a:endParaRPr>
          </a:p>
          <a:p>
            <a:pPr marL="609600" indent="-609600">
              <a:lnSpc>
                <a:spcPct val="120000"/>
              </a:lnSpc>
              <a:buClr>
                <a:srgbClr val="A50021"/>
              </a:buClr>
              <a:buFont typeface="Wingdings" panose="05000000000000000000" pitchFamily="2" charset="2"/>
              <a:buChar char="l"/>
            </a:pPr>
            <a:r>
              <a:rPr lang="zh-CN" altLang="en-US" sz="2000" dirty="0">
                <a:solidFill>
                  <a:schemeClr val="tx1"/>
                </a:solidFill>
              </a:rPr>
              <a:t>控制逻辑</a:t>
            </a:r>
            <a:endParaRPr lang="zh-CN" altLang="en-US" sz="2000" dirty="0">
              <a:solidFill>
                <a:schemeClr val="tx1"/>
              </a:solidFill>
            </a:endParaRPr>
          </a:p>
          <a:p>
            <a:pPr marL="990600" lvl="1" indent="-533400">
              <a:lnSpc>
                <a:spcPct val="120000"/>
              </a:lnSpc>
              <a:buClr>
                <a:srgbClr val="FF0000"/>
              </a:buClr>
              <a:buFont typeface="Wingdings" panose="05000000000000000000" pitchFamily="2" charset="2"/>
              <a:buChar char="Ø"/>
            </a:pPr>
            <a:r>
              <a:rPr lang="zh-CN" altLang="en-US" sz="2000" dirty="0"/>
              <a:t>初始化命令寄存器组：</a:t>
            </a:r>
            <a:r>
              <a:rPr lang="en-US" altLang="zh-CN" sz="2000" dirty="0"/>
              <a:t>ICW1~ICW4</a:t>
            </a:r>
            <a:endParaRPr lang="en-US" altLang="zh-CN" sz="2000" dirty="0"/>
          </a:p>
          <a:p>
            <a:pPr marL="990600" lvl="1" indent="-533400">
              <a:lnSpc>
                <a:spcPct val="120000"/>
              </a:lnSpc>
              <a:buClr>
                <a:srgbClr val="FF0000"/>
              </a:buClr>
              <a:buFont typeface="Wingdings" panose="05000000000000000000" pitchFamily="2" charset="2"/>
              <a:buChar char="Ø"/>
            </a:pPr>
            <a:r>
              <a:rPr lang="zh-CN" altLang="en-US" sz="2000" dirty="0"/>
              <a:t>操作命令寄存器组：  </a:t>
            </a:r>
            <a:r>
              <a:rPr lang="en-US" altLang="zh-CN" sz="2000" dirty="0"/>
              <a:t>OCW1~OCW3</a:t>
            </a:r>
            <a:endParaRPr lang="en-US" altLang="zh-CN" sz="2000" dirty="0"/>
          </a:p>
          <a:p>
            <a:pPr marL="990600" lvl="1" indent="-533400">
              <a:lnSpc>
                <a:spcPct val="120000"/>
              </a:lnSpc>
              <a:buClr>
                <a:srgbClr val="FF0000"/>
              </a:buClr>
              <a:buFont typeface="Wingdings" panose="05000000000000000000" pitchFamily="2" charset="2"/>
              <a:buChar char="Ø"/>
            </a:pPr>
            <a:r>
              <a:rPr lang="en-US" altLang="zh-CN" sz="2000" dirty="0"/>
              <a:t>INT </a:t>
            </a:r>
            <a:r>
              <a:rPr lang="zh-CN" altLang="en-US" sz="2000" dirty="0"/>
              <a:t>中断申请输出，高电平有效，可连接</a:t>
            </a:r>
            <a:r>
              <a:rPr lang="en-US" altLang="zh-CN" sz="2000" dirty="0"/>
              <a:t>8086 INTR</a:t>
            </a:r>
            <a:r>
              <a:rPr lang="zh-CN" altLang="en-US" sz="2000" dirty="0"/>
              <a:t>引脚</a:t>
            </a:r>
            <a:endParaRPr lang="zh-CN" altLang="en-US" sz="2000" dirty="0"/>
          </a:p>
          <a:p>
            <a:pPr marL="990600" lvl="1" indent="-533400">
              <a:lnSpc>
                <a:spcPct val="120000"/>
              </a:lnSpc>
              <a:buClr>
                <a:srgbClr val="FF0000"/>
              </a:buClr>
              <a:buFont typeface="Wingdings" panose="05000000000000000000" pitchFamily="2" charset="2"/>
              <a:buChar char="Ø"/>
            </a:pPr>
            <a:r>
              <a:rPr lang="en-US" altLang="zh-CN" sz="2000" dirty="0"/>
              <a:t>INTA </a:t>
            </a:r>
            <a:r>
              <a:rPr lang="zh-CN" altLang="en-US" sz="2000" dirty="0"/>
              <a:t>中断响应输入，接收</a:t>
            </a:r>
            <a:r>
              <a:rPr lang="en-US" altLang="zh-CN" sz="2000" dirty="0"/>
              <a:t>8086</a:t>
            </a:r>
            <a:r>
              <a:rPr lang="zh-CN" altLang="en-US" sz="2000" dirty="0"/>
              <a:t>发出的中断响应信号，有效时</a:t>
            </a:r>
            <a:r>
              <a:rPr lang="en-US" altLang="zh-CN" sz="2000" dirty="0"/>
              <a:t>8259</a:t>
            </a:r>
            <a:r>
              <a:rPr lang="zh-CN" altLang="en-US" sz="2000" dirty="0"/>
              <a:t>应输出中断类型码</a:t>
            </a:r>
            <a:endParaRPr lang="zh-CN" altLang="en-US" sz="2000" dirty="0"/>
          </a:p>
          <a:p>
            <a:pPr marL="990600" lvl="1" indent="-533400">
              <a:buClr>
                <a:srgbClr val="FF0000"/>
              </a:buClr>
              <a:buFont typeface="Wingdings" panose="05000000000000000000" pitchFamily="2" charset="2"/>
              <a:buChar char="Ø"/>
            </a:pPr>
            <a:endParaRPr lang="en-US" altLang="zh-CN" sz="1800" dirty="0"/>
          </a:p>
        </p:txBody>
      </p:sp>
      <p:sp>
        <p:nvSpPr>
          <p:cNvPr id="204804" name="Line 4"/>
          <p:cNvSpPr/>
          <p:nvPr/>
        </p:nvSpPr>
        <p:spPr>
          <a:xfrm>
            <a:off x="1081088" y="6021388"/>
            <a:ext cx="501650" cy="0"/>
          </a:xfrm>
          <a:prstGeom prst="line">
            <a:avLst/>
          </a:prstGeom>
          <a:ln w="9525" cap="flat" cmpd="sng">
            <a:solidFill>
              <a:schemeClr val="tx1"/>
            </a:solidFill>
            <a:prstDash val="solid"/>
            <a:bevel/>
            <a:headEnd type="none" w="med" len="med"/>
            <a:tailEnd type="none" w="med" len="med"/>
          </a:ln>
        </p:spPr>
      </p:sp>
    </p:spTree>
  </p:cSld>
  <p:clrMapOvr>
    <a:masterClrMapping/>
  </p:clrMapOvr>
  <p:transition spd="slow">
    <p:zoom/>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灯片编号占位符 3"/>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Font typeface="Arial" panose="020B0604020202020204" pitchFamily="34" charset="0"/>
              <a:buNone/>
            </a:pPr>
            <a:fld id="{9A0DB2DC-4C9A-4742-B13C-FB6460FD3503}" type="slidenum">
              <a:rPr lang="zh-CN" altLang="en-US" sz="2000" b="0" dirty="0">
                <a:solidFill>
                  <a:srgbClr val="000000"/>
                </a:solidFill>
                <a:latin typeface="楷体_GB2312"/>
                <a:ea typeface="楷体_GB2312"/>
              </a:rPr>
            </a:fld>
            <a:endParaRPr lang="zh-CN" altLang="en-US" sz="2000" b="0" dirty="0">
              <a:solidFill>
                <a:srgbClr val="000000"/>
              </a:solidFill>
              <a:latin typeface="楷体_GB2312"/>
              <a:ea typeface="楷体_GB2312"/>
            </a:endParaRPr>
          </a:p>
        </p:txBody>
      </p:sp>
      <p:sp>
        <p:nvSpPr>
          <p:cNvPr id="205827" name="Rectangle 2"/>
          <p:cNvSpPr txBox="1"/>
          <p:nvPr/>
        </p:nvSpPr>
        <p:spPr>
          <a:xfrm>
            <a:off x="711200" y="1973263"/>
            <a:ext cx="7772400" cy="838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dirty="0">
                <a:solidFill>
                  <a:schemeClr val="tx1"/>
                </a:solidFill>
                <a:latin typeface="宋体" panose="02010600030101010101" pitchFamily="2" charset="-122"/>
                <a:ea typeface="楷体_GB2312"/>
              </a:rPr>
              <a:t>对</a:t>
            </a:r>
            <a:r>
              <a:rPr lang="en-US" altLang="zh-CN" dirty="0">
                <a:solidFill>
                  <a:schemeClr val="tx1"/>
                </a:solidFill>
                <a:latin typeface="宋体" panose="02010600030101010101" pitchFamily="2" charset="-122"/>
                <a:ea typeface="楷体_GB2312"/>
              </a:rPr>
              <a:t>8086CPU</a:t>
            </a:r>
            <a:r>
              <a:rPr lang="zh-CN" altLang="en-US" dirty="0">
                <a:solidFill>
                  <a:schemeClr val="tx1"/>
                </a:solidFill>
                <a:latin typeface="宋体" panose="02010600030101010101" pitchFamily="2" charset="-122"/>
                <a:ea typeface="楷体_GB2312"/>
              </a:rPr>
              <a:t>而言，响应中断申请后，向</a:t>
            </a:r>
            <a:r>
              <a:rPr lang="en-US" altLang="zh-CN" dirty="0">
                <a:solidFill>
                  <a:schemeClr val="tx1"/>
                </a:solidFill>
                <a:latin typeface="宋体" panose="02010600030101010101" pitchFamily="2" charset="-122"/>
                <a:ea typeface="楷体_GB2312"/>
              </a:rPr>
              <a:t>8259A</a:t>
            </a:r>
            <a:r>
              <a:rPr lang="zh-CN" altLang="en-US" dirty="0">
                <a:solidFill>
                  <a:schemeClr val="tx1"/>
                </a:solidFill>
                <a:latin typeface="宋体" panose="02010600030101010101" pitchFamily="2" charset="-122"/>
                <a:ea typeface="楷体_GB2312"/>
              </a:rPr>
              <a:t>回送</a:t>
            </a:r>
            <a:r>
              <a:rPr lang="zh-CN" altLang="en-US" dirty="0">
                <a:solidFill>
                  <a:srgbClr val="FF0000"/>
                </a:solidFill>
                <a:latin typeface="宋体" panose="02010600030101010101" pitchFamily="2" charset="-122"/>
                <a:ea typeface="楷体_GB2312"/>
              </a:rPr>
              <a:t>两个</a:t>
            </a:r>
            <a:r>
              <a:rPr lang="zh-CN" altLang="en-US" dirty="0">
                <a:solidFill>
                  <a:schemeClr val="tx1"/>
                </a:solidFill>
                <a:latin typeface="宋体" panose="02010600030101010101" pitchFamily="2" charset="-122"/>
                <a:ea typeface="楷体_GB2312"/>
              </a:rPr>
              <a:t>负脉冲</a:t>
            </a:r>
            <a:r>
              <a:rPr lang="en-US" altLang="zh-CN" dirty="0">
                <a:solidFill>
                  <a:schemeClr val="tx1"/>
                </a:solidFill>
                <a:latin typeface="宋体" panose="02010600030101010101" pitchFamily="2" charset="-122"/>
                <a:ea typeface="楷体_GB2312"/>
              </a:rPr>
              <a:t>INTA</a:t>
            </a:r>
            <a:endParaRPr lang="en-US" altLang="zh-CN" dirty="0">
              <a:solidFill>
                <a:schemeClr val="tx1"/>
              </a:solidFill>
              <a:latin typeface="宋体" panose="02010600030101010101" pitchFamily="2" charset="-122"/>
              <a:ea typeface="楷体_GB2312"/>
            </a:endParaRPr>
          </a:p>
        </p:txBody>
      </p:sp>
      <p:sp>
        <p:nvSpPr>
          <p:cNvPr id="205828" name="Rectangle 3"/>
          <p:cNvSpPr txBox="1"/>
          <p:nvPr/>
        </p:nvSpPr>
        <p:spPr>
          <a:xfrm>
            <a:off x="533400" y="2967038"/>
            <a:ext cx="7924800" cy="16764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spcBef>
                <a:spcPct val="0"/>
              </a:spcBef>
              <a:buNone/>
            </a:pPr>
            <a:r>
              <a:rPr lang="zh-CN" altLang="en-US" sz="2000" dirty="0">
                <a:solidFill>
                  <a:srgbClr val="FF0000"/>
                </a:solidFill>
                <a:latin typeface="楷体_GB2312"/>
                <a:ea typeface="楷体_GB2312"/>
              </a:rPr>
              <a:t>第一个</a:t>
            </a:r>
            <a:r>
              <a:rPr lang="en-US" altLang="zh-CN" sz="2000" dirty="0">
                <a:solidFill>
                  <a:schemeClr val="tx1"/>
                </a:solidFill>
                <a:latin typeface="楷体_GB2312"/>
                <a:ea typeface="楷体_GB2312"/>
              </a:rPr>
              <a:t>INTA</a:t>
            </a:r>
            <a:r>
              <a:rPr lang="zh-CN" altLang="en-US" sz="2000" dirty="0">
                <a:solidFill>
                  <a:schemeClr val="tx1"/>
                </a:solidFill>
                <a:latin typeface="楷体_GB2312"/>
                <a:ea typeface="楷体_GB2312"/>
              </a:rPr>
              <a:t>到达时，</a:t>
            </a:r>
            <a:r>
              <a:rPr lang="en-US" altLang="zh-CN" sz="2000" dirty="0">
                <a:solidFill>
                  <a:schemeClr val="tx1"/>
                </a:solidFill>
                <a:latin typeface="楷体_GB2312"/>
                <a:ea typeface="楷体_GB2312"/>
              </a:rPr>
              <a:t>8259A</a:t>
            </a:r>
            <a:r>
              <a:rPr lang="zh-CN" altLang="en-US" sz="2000" dirty="0">
                <a:solidFill>
                  <a:schemeClr val="tx1"/>
                </a:solidFill>
                <a:latin typeface="楷体_GB2312"/>
                <a:ea typeface="楷体_GB2312"/>
              </a:rPr>
              <a:t>做</a:t>
            </a:r>
            <a:r>
              <a:rPr lang="en-US" altLang="zh-CN" sz="2000" dirty="0">
                <a:solidFill>
                  <a:schemeClr val="tx1"/>
                </a:solidFill>
                <a:latin typeface="楷体_GB2312"/>
                <a:ea typeface="楷体_GB2312"/>
              </a:rPr>
              <a:t>3</a:t>
            </a:r>
            <a:r>
              <a:rPr lang="zh-CN" altLang="en-US" sz="2000" dirty="0">
                <a:solidFill>
                  <a:schemeClr val="tx1"/>
                </a:solidFill>
                <a:latin typeface="楷体_GB2312"/>
                <a:ea typeface="楷体_GB2312"/>
              </a:rPr>
              <a:t>件事：</a:t>
            </a:r>
            <a:endParaRPr lang="zh-CN" altLang="en-US" sz="2000" dirty="0">
              <a:solidFill>
                <a:schemeClr val="tx1"/>
              </a:solidFill>
              <a:latin typeface="楷体_GB2312"/>
              <a:ea typeface="楷体_GB2312"/>
            </a:endParaRPr>
          </a:p>
          <a:p>
            <a:pPr marL="342900" lvl="0" indent="-342900">
              <a:spcBef>
                <a:spcPct val="0"/>
              </a:spcBef>
              <a:buNone/>
            </a:pPr>
            <a:r>
              <a:rPr lang="zh-CN" altLang="en-US" sz="2000" b="0" dirty="0">
                <a:solidFill>
                  <a:schemeClr val="tx1"/>
                </a:solidFill>
                <a:latin typeface="楷体_GB2312"/>
                <a:ea typeface="楷体_GB2312"/>
              </a:rPr>
              <a:t>① </a:t>
            </a:r>
            <a:r>
              <a:rPr lang="en-US" altLang="zh-CN" sz="2000" b="0" dirty="0">
                <a:solidFill>
                  <a:schemeClr val="tx1"/>
                </a:solidFill>
                <a:latin typeface="楷体_GB2312"/>
                <a:ea typeface="楷体_GB2312"/>
              </a:rPr>
              <a:t>IRR</a:t>
            </a:r>
            <a:r>
              <a:rPr lang="zh-CN" altLang="en-US" sz="2000" b="0" dirty="0">
                <a:solidFill>
                  <a:schemeClr val="tx1"/>
                </a:solidFill>
                <a:latin typeface="楷体_GB2312"/>
                <a:ea typeface="楷体_GB2312"/>
              </a:rPr>
              <a:t>锁存功能失效，不接受任何申请</a:t>
            </a:r>
            <a:endParaRPr lang="zh-CN" altLang="en-US" sz="2000" b="0" dirty="0">
              <a:solidFill>
                <a:schemeClr val="tx1"/>
              </a:solidFill>
              <a:latin typeface="楷体_GB2312"/>
              <a:ea typeface="楷体_GB2312"/>
            </a:endParaRPr>
          </a:p>
          <a:p>
            <a:pPr marL="342900" lvl="0" indent="-342900">
              <a:spcBef>
                <a:spcPct val="0"/>
              </a:spcBef>
              <a:buNone/>
            </a:pPr>
            <a:r>
              <a:rPr lang="zh-CN" altLang="en-US" sz="2000" b="0" dirty="0">
                <a:solidFill>
                  <a:schemeClr val="tx1"/>
                </a:solidFill>
                <a:latin typeface="楷体_GB2312"/>
                <a:ea typeface="楷体_GB2312"/>
              </a:rPr>
              <a:t>② 使</a:t>
            </a:r>
            <a:r>
              <a:rPr lang="en-US" altLang="zh-CN" sz="2000" b="0" dirty="0">
                <a:solidFill>
                  <a:schemeClr val="tx1"/>
                </a:solidFill>
                <a:latin typeface="楷体_GB2312"/>
                <a:ea typeface="楷体_GB2312"/>
              </a:rPr>
              <a:t>ISR</a:t>
            </a:r>
            <a:r>
              <a:rPr lang="zh-CN" altLang="en-US" sz="2000" b="0" dirty="0">
                <a:solidFill>
                  <a:schemeClr val="tx1"/>
                </a:solidFill>
                <a:latin typeface="楷体_GB2312"/>
                <a:ea typeface="楷体_GB2312"/>
              </a:rPr>
              <a:t>相应位置位，提供判优依据（置ISRi=1）</a:t>
            </a:r>
            <a:endParaRPr lang="zh-CN" altLang="en-US" sz="2000" b="0" dirty="0">
              <a:solidFill>
                <a:schemeClr val="tx1"/>
              </a:solidFill>
              <a:latin typeface="楷体_GB2312"/>
              <a:ea typeface="楷体_GB2312"/>
            </a:endParaRPr>
          </a:p>
          <a:p>
            <a:pPr marL="342900" lvl="0" indent="-342900">
              <a:spcBef>
                <a:spcPct val="0"/>
              </a:spcBef>
              <a:buNone/>
            </a:pPr>
            <a:r>
              <a:rPr lang="zh-CN" altLang="en-US" sz="2000" b="0" dirty="0">
                <a:solidFill>
                  <a:schemeClr val="tx1"/>
                </a:solidFill>
                <a:latin typeface="楷体_GB2312"/>
                <a:ea typeface="楷体_GB2312"/>
              </a:rPr>
              <a:t>③ 使</a:t>
            </a:r>
            <a:r>
              <a:rPr lang="en-US" altLang="zh-CN" sz="2000" b="0" dirty="0">
                <a:solidFill>
                  <a:schemeClr val="tx1"/>
                </a:solidFill>
                <a:latin typeface="楷体_GB2312"/>
                <a:ea typeface="楷体_GB2312"/>
              </a:rPr>
              <a:t>IRR</a:t>
            </a:r>
            <a:r>
              <a:rPr lang="zh-CN" altLang="en-US" sz="2000" b="0" dirty="0">
                <a:solidFill>
                  <a:schemeClr val="tx1"/>
                </a:solidFill>
                <a:latin typeface="楷体_GB2312"/>
                <a:ea typeface="楷体_GB2312"/>
              </a:rPr>
              <a:t>清零（置IRRi=0）</a:t>
            </a:r>
            <a:endParaRPr lang="zh-CN" altLang="en-US" sz="2000" b="0" dirty="0">
              <a:solidFill>
                <a:schemeClr val="tx1"/>
              </a:solidFill>
              <a:latin typeface="楷体_GB2312"/>
              <a:ea typeface="楷体_GB2312"/>
            </a:endParaRPr>
          </a:p>
        </p:txBody>
      </p:sp>
      <p:sp>
        <p:nvSpPr>
          <p:cNvPr id="205829" name="Line 5"/>
          <p:cNvSpPr/>
          <p:nvPr/>
        </p:nvSpPr>
        <p:spPr>
          <a:xfrm>
            <a:off x="1331913" y="2997200"/>
            <a:ext cx="609600" cy="0"/>
          </a:xfrm>
          <a:prstGeom prst="line">
            <a:avLst/>
          </a:prstGeom>
          <a:ln w="15875" cap="flat" cmpd="sng">
            <a:solidFill>
              <a:schemeClr val="tx1"/>
            </a:solidFill>
            <a:prstDash val="solid"/>
            <a:bevel/>
            <a:headEnd type="none" w="med" len="med"/>
            <a:tailEnd type="none" w="med" len="med"/>
          </a:ln>
        </p:spPr>
      </p:sp>
      <p:grpSp>
        <p:nvGrpSpPr>
          <p:cNvPr id="138246" name="Group 8"/>
          <p:cNvGrpSpPr/>
          <p:nvPr/>
        </p:nvGrpSpPr>
        <p:grpSpPr>
          <a:xfrm>
            <a:off x="533400" y="4665663"/>
            <a:ext cx="7924800" cy="1631950"/>
            <a:chOff x="0" y="0"/>
            <a:chExt cx="4992" cy="1028"/>
          </a:xfrm>
        </p:grpSpPr>
        <p:sp>
          <p:nvSpPr>
            <p:cNvPr id="205833" name="Text Box 4"/>
            <p:cNvSpPr txBox="1"/>
            <p:nvPr/>
          </p:nvSpPr>
          <p:spPr>
            <a:xfrm>
              <a:off x="0" y="0"/>
              <a:ext cx="4992" cy="1028"/>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zh-CN" altLang="en-US" sz="2000" dirty="0">
                  <a:solidFill>
                    <a:srgbClr val="FF0000"/>
                  </a:solidFill>
                  <a:latin typeface="楷体_GB2312"/>
                  <a:ea typeface="楷体_GB2312"/>
                </a:rPr>
                <a:t>第二个</a:t>
              </a:r>
              <a:r>
                <a:rPr lang="en-US" altLang="zh-CN" sz="2000" dirty="0">
                  <a:solidFill>
                    <a:schemeClr val="tx1"/>
                  </a:solidFill>
                  <a:latin typeface="楷体_GB2312"/>
                  <a:ea typeface="楷体_GB2312"/>
                </a:rPr>
                <a:t>INTA</a:t>
              </a:r>
              <a:r>
                <a:rPr lang="zh-CN" altLang="en-US" sz="2000" dirty="0">
                  <a:solidFill>
                    <a:schemeClr val="tx1"/>
                  </a:solidFill>
                  <a:latin typeface="楷体_GB2312"/>
                  <a:ea typeface="楷体_GB2312"/>
                </a:rPr>
                <a:t>到达时，</a:t>
              </a:r>
              <a:r>
                <a:rPr lang="en-US" altLang="zh-CN" sz="2000" dirty="0">
                  <a:solidFill>
                    <a:schemeClr val="tx1"/>
                  </a:solidFill>
                  <a:latin typeface="楷体_GB2312"/>
                  <a:ea typeface="楷体_GB2312"/>
                </a:rPr>
                <a:t>8259A</a:t>
              </a:r>
              <a:r>
                <a:rPr lang="zh-CN" altLang="en-US" sz="2000" dirty="0">
                  <a:solidFill>
                    <a:schemeClr val="tx1"/>
                  </a:solidFill>
                  <a:latin typeface="楷体_GB2312"/>
                  <a:ea typeface="楷体_GB2312"/>
                </a:rPr>
                <a:t>做</a:t>
              </a:r>
              <a:r>
                <a:rPr lang="en-US" altLang="zh-CN" sz="2000" dirty="0">
                  <a:solidFill>
                    <a:schemeClr val="tx1"/>
                  </a:solidFill>
                  <a:latin typeface="楷体_GB2312"/>
                  <a:ea typeface="楷体_GB2312"/>
                </a:rPr>
                <a:t>3</a:t>
              </a:r>
              <a:r>
                <a:rPr lang="zh-CN" altLang="en-US" sz="2000" dirty="0">
                  <a:solidFill>
                    <a:schemeClr val="tx1"/>
                  </a:solidFill>
                  <a:latin typeface="楷体_GB2312"/>
                  <a:ea typeface="楷体_GB2312"/>
                </a:rPr>
                <a:t>件事：</a:t>
              </a:r>
              <a:endParaRPr lang="zh-CN" altLang="en-US" sz="2000" dirty="0">
                <a:solidFill>
                  <a:schemeClr val="tx1"/>
                </a:solidFill>
                <a:latin typeface="楷体_GB2312"/>
                <a:ea typeface="楷体_GB2312"/>
              </a:endParaRPr>
            </a:p>
            <a:p>
              <a:pPr marL="0" lvl="0" indent="0">
                <a:lnSpc>
                  <a:spcPct val="100000"/>
                </a:lnSpc>
                <a:spcBef>
                  <a:spcPct val="0"/>
                </a:spcBef>
                <a:spcAft>
                  <a:spcPct val="0"/>
                </a:spcAft>
                <a:buClrTx/>
                <a:buSzTx/>
                <a:buFont typeface="Arial" panose="020B0604020202020204" pitchFamily="34" charset="0"/>
                <a:buNone/>
              </a:pPr>
              <a:r>
                <a:rPr lang="zh-CN" altLang="en-US" sz="2000" b="0" dirty="0">
                  <a:solidFill>
                    <a:schemeClr val="tx1"/>
                  </a:solidFill>
                  <a:latin typeface="楷体_GB2312"/>
                  <a:ea typeface="楷体_GB2312"/>
                </a:rPr>
                <a:t>① 恢复</a:t>
              </a:r>
              <a:r>
                <a:rPr lang="en-US" altLang="zh-CN" sz="2000" b="0" dirty="0">
                  <a:solidFill>
                    <a:schemeClr val="tx1"/>
                  </a:solidFill>
                  <a:latin typeface="楷体_GB2312"/>
                  <a:ea typeface="楷体_GB2312"/>
                </a:rPr>
                <a:t>IRR</a:t>
              </a:r>
              <a:r>
                <a:rPr lang="zh-CN" altLang="en-US" sz="2000" b="0" dirty="0">
                  <a:solidFill>
                    <a:schemeClr val="tx1"/>
                  </a:solidFill>
                  <a:latin typeface="楷体_GB2312"/>
                  <a:ea typeface="楷体_GB2312"/>
                </a:rPr>
                <a:t>功能</a:t>
              </a:r>
              <a:endParaRPr lang="zh-CN" altLang="en-US" sz="2000" b="0" dirty="0">
                <a:solidFill>
                  <a:schemeClr val="tx1"/>
                </a:solidFill>
                <a:latin typeface="楷体_GB2312"/>
                <a:ea typeface="楷体_GB2312"/>
              </a:endParaRPr>
            </a:p>
            <a:p>
              <a:pPr marL="0" lvl="0" indent="0">
                <a:lnSpc>
                  <a:spcPct val="100000"/>
                </a:lnSpc>
                <a:spcBef>
                  <a:spcPct val="0"/>
                </a:spcBef>
                <a:spcAft>
                  <a:spcPct val="0"/>
                </a:spcAft>
                <a:buClrTx/>
                <a:buSzTx/>
                <a:buFont typeface="Arial" panose="020B0604020202020204" pitchFamily="34" charset="0"/>
                <a:buNone/>
              </a:pPr>
              <a:r>
                <a:rPr lang="zh-CN" altLang="en-US" sz="2000" b="0" dirty="0">
                  <a:solidFill>
                    <a:schemeClr val="tx1"/>
                  </a:solidFill>
                  <a:latin typeface="楷体_GB2312"/>
                  <a:ea typeface="楷体_GB2312"/>
                </a:rPr>
                <a:t>② 将</a:t>
              </a:r>
              <a:r>
                <a:rPr lang="zh-CN" altLang="en-US" sz="2000" b="0" dirty="0">
                  <a:solidFill>
                    <a:srgbClr val="FF0000"/>
                  </a:solidFill>
                  <a:latin typeface="楷体_GB2312"/>
                  <a:ea typeface="楷体_GB2312"/>
                </a:rPr>
                <a:t>中断类型号</a:t>
              </a:r>
              <a:r>
                <a:rPr lang="zh-CN" altLang="en-US" sz="2000" b="0" dirty="0">
                  <a:solidFill>
                    <a:schemeClr val="tx1"/>
                  </a:solidFill>
                  <a:latin typeface="楷体_GB2312"/>
                  <a:ea typeface="楷体_GB2312"/>
                </a:rPr>
                <a:t>送上数据总线的</a:t>
              </a:r>
              <a:r>
                <a:rPr lang="en-US" altLang="zh-CN" sz="2000" b="0" dirty="0">
                  <a:solidFill>
                    <a:schemeClr val="tx1"/>
                  </a:solidFill>
                  <a:latin typeface="楷体_GB2312"/>
                  <a:ea typeface="楷体_GB2312"/>
                </a:rPr>
                <a:t>D</a:t>
              </a:r>
              <a:r>
                <a:rPr lang="en-US" altLang="zh-CN" sz="2000" b="0" baseline="-25000" dirty="0">
                  <a:solidFill>
                    <a:schemeClr val="tx1"/>
                  </a:solidFill>
                  <a:latin typeface="楷体_GB2312"/>
                  <a:ea typeface="楷体_GB2312"/>
                </a:rPr>
                <a:t>7</a:t>
              </a:r>
              <a:r>
                <a:rPr lang="zh-CN" altLang="en-US" sz="2000" b="0" dirty="0">
                  <a:solidFill>
                    <a:schemeClr val="tx1"/>
                  </a:solidFill>
                  <a:latin typeface="楷体_GB2312"/>
                  <a:ea typeface="楷体_GB2312"/>
                </a:rPr>
                <a:t>～</a:t>
              </a:r>
              <a:r>
                <a:rPr lang="en-US" altLang="zh-CN" sz="2000" b="0" dirty="0">
                  <a:solidFill>
                    <a:schemeClr val="tx1"/>
                  </a:solidFill>
                  <a:latin typeface="楷体_GB2312"/>
                  <a:ea typeface="楷体_GB2312"/>
                </a:rPr>
                <a:t>D</a:t>
              </a:r>
              <a:r>
                <a:rPr lang="en-US" altLang="zh-CN" sz="2000" b="0" baseline="-25000" dirty="0">
                  <a:solidFill>
                    <a:schemeClr val="tx1"/>
                  </a:solidFill>
                  <a:latin typeface="楷体_GB2312"/>
                  <a:ea typeface="楷体_GB2312"/>
                </a:rPr>
                <a:t>0</a:t>
              </a:r>
              <a:r>
                <a:rPr lang="zh-CN" altLang="en-US" sz="2000" b="0" dirty="0">
                  <a:solidFill>
                    <a:schemeClr val="tx1"/>
                  </a:solidFill>
                  <a:latin typeface="楷体_GB2312"/>
                  <a:ea typeface="楷体_GB2312"/>
                </a:rPr>
                <a:t>，传给</a:t>
              </a:r>
              <a:r>
                <a:rPr lang="en-US" altLang="zh-CN" sz="2000" b="0" dirty="0">
                  <a:solidFill>
                    <a:schemeClr val="tx1"/>
                  </a:solidFill>
                  <a:latin typeface="楷体_GB2312"/>
                  <a:ea typeface="楷体_GB2312"/>
                </a:rPr>
                <a:t>CPU</a:t>
              </a:r>
              <a:endParaRPr lang="en-US" altLang="zh-CN" sz="2000" b="0" dirty="0">
                <a:solidFill>
                  <a:schemeClr val="tx1"/>
                </a:solidFill>
                <a:latin typeface="楷体_GB2312"/>
                <a:ea typeface="楷体_GB2312"/>
              </a:endParaRPr>
            </a:p>
            <a:p>
              <a:pPr marL="0" lvl="0" indent="0">
                <a:lnSpc>
                  <a:spcPct val="100000"/>
                </a:lnSpc>
                <a:spcBef>
                  <a:spcPct val="0"/>
                </a:spcBef>
                <a:spcAft>
                  <a:spcPct val="0"/>
                </a:spcAft>
                <a:buClrTx/>
                <a:buSzTx/>
                <a:buFont typeface="Arial" panose="020B0604020202020204" pitchFamily="34" charset="0"/>
                <a:buNone/>
              </a:pPr>
              <a:r>
                <a:rPr lang="en-US" altLang="zh-CN" sz="2000" b="0" dirty="0">
                  <a:solidFill>
                    <a:schemeClr val="tx1"/>
                  </a:solidFill>
                  <a:latin typeface="楷体_GB2312"/>
                  <a:ea typeface="楷体_GB2312"/>
                </a:rPr>
                <a:t>③ </a:t>
              </a:r>
              <a:r>
                <a:rPr lang="zh-CN" altLang="en-US" sz="2000" b="0" dirty="0">
                  <a:solidFill>
                    <a:schemeClr val="tx1"/>
                  </a:solidFill>
                  <a:latin typeface="楷体_GB2312"/>
                  <a:ea typeface="楷体_GB2312"/>
                </a:rPr>
                <a:t>如果方式控制字（</a:t>
              </a:r>
              <a:r>
                <a:rPr lang="en-US" altLang="zh-CN" sz="2000" b="0" dirty="0">
                  <a:solidFill>
                    <a:schemeClr val="tx1"/>
                  </a:solidFill>
                  <a:latin typeface="楷体_GB2312"/>
                  <a:ea typeface="楷体_GB2312"/>
                </a:rPr>
                <a:t>ICW</a:t>
              </a:r>
              <a:r>
                <a:rPr lang="en-US" altLang="zh-CN" sz="2000" b="0" baseline="-25000" dirty="0">
                  <a:solidFill>
                    <a:schemeClr val="tx1"/>
                  </a:solidFill>
                  <a:latin typeface="楷体_GB2312"/>
                  <a:ea typeface="楷体_GB2312"/>
                </a:rPr>
                <a:t>4</a:t>
              </a:r>
              <a:r>
                <a:rPr lang="en-US" altLang="zh-CN" sz="2000" b="0" dirty="0">
                  <a:solidFill>
                    <a:schemeClr val="tx1"/>
                  </a:solidFill>
                  <a:latin typeface="楷体_GB2312"/>
                  <a:ea typeface="楷体_GB2312"/>
                </a:rPr>
                <a:t>)</a:t>
              </a:r>
              <a:r>
                <a:rPr lang="zh-CN" altLang="en-US" sz="2000" b="0" dirty="0">
                  <a:solidFill>
                    <a:schemeClr val="tx1"/>
                  </a:solidFill>
                  <a:latin typeface="楷体_GB2312"/>
                  <a:ea typeface="楷体_GB2312"/>
                </a:rPr>
                <a:t>，自动中断结束位为</a:t>
              </a:r>
              <a:r>
                <a:rPr lang="en-US" altLang="zh-CN" sz="2000" b="0" dirty="0">
                  <a:solidFill>
                    <a:schemeClr val="tx1"/>
                  </a:solidFill>
                  <a:latin typeface="楷体_GB2312"/>
                  <a:ea typeface="楷体_GB2312"/>
                </a:rPr>
                <a:t>1</a:t>
              </a:r>
              <a:r>
                <a:rPr lang="zh-CN" altLang="en-US" sz="2000" b="0" dirty="0">
                  <a:solidFill>
                    <a:schemeClr val="tx1"/>
                  </a:solidFill>
                  <a:latin typeface="楷体_GB2312"/>
                  <a:ea typeface="楷体_GB2312"/>
                </a:rPr>
                <a:t>，那么在第二个脉冲结束时，</a:t>
              </a:r>
              <a:r>
                <a:rPr lang="en-US" altLang="zh-CN" sz="2000" b="0" dirty="0">
                  <a:solidFill>
                    <a:schemeClr val="tx1"/>
                  </a:solidFill>
                  <a:latin typeface="楷体_GB2312"/>
                  <a:ea typeface="楷体_GB2312"/>
                </a:rPr>
                <a:t>8259A</a:t>
              </a:r>
              <a:r>
                <a:rPr lang="zh-CN" altLang="en-US" sz="2000" b="0" dirty="0">
                  <a:solidFill>
                    <a:schemeClr val="tx1"/>
                  </a:solidFill>
                  <a:latin typeface="楷体_GB2312"/>
                  <a:ea typeface="楷体_GB2312"/>
                </a:rPr>
                <a:t>会将第一个</a:t>
              </a:r>
              <a:r>
                <a:rPr lang="en-US" altLang="zh-CN" sz="2000" b="0" dirty="0">
                  <a:solidFill>
                    <a:schemeClr val="tx1"/>
                  </a:solidFill>
                  <a:latin typeface="楷体_GB2312"/>
                  <a:ea typeface="楷体_GB2312"/>
                </a:rPr>
                <a:t>INTA</a:t>
              </a:r>
              <a:r>
                <a:rPr lang="zh-CN" altLang="en-US" sz="2000" b="0" dirty="0">
                  <a:solidFill>
                    <a:schemeClr val="tx1"/>
                  </a:solidFill>
                  <a:latin typeface="楷体_GB2312"/>
                  <a:ea typeface="楷体_GB2312"/>
                </a:rPr>
                <a:t>脉冲到来时设置的</a:t>
              </a:r>
              <a:r>
                <a:rPr lang="en-US" altLang="zh-CN" sz="2000" b="0" dirty="0">
                  <a:solidFill>
                    <a:schemeClr val="tx1"/>
                  </a:solidFill>
                  <a:latin typeface="楷体_GB2312"/>
                  <a:ea typeface="楷体_GB2312"/>
                </a:rPr>
                <a:t>ISR</a:t>
              </a:r>
              <a:r>
                <a:rPr lang="zh-CN" altLang="en-US" sz="2000" b="0" dirty="0">
                  <a:solidFill>
                    <a:schemeClr val="tx1"/>
                  </a:solidFill>
                  <a:latin typeface="楷体_GB2312"/>
                  <a:ea typeface="楷体_GB2312"/>
                </a:rPr>
                <a:t>清</a:t>
              </a:r>
              <a:r>
                <a:rPr lang="en-US" altLang="zh-CN" sz="2000" b="0" dirty="0">
                  <a:solidFill>
                    <a:schemeClr val="tx1"/>
                  </a:solidFill>
                  <a:latin typeface="楷体_GB2312"/>
                  <a:ea typeface="楷体_GB2312"/>
                </a:rPr>
                <a:t>0</a:t>
              </a:r>
              <a:endParaRPr lang="en-US" altLang="zh-CN" sz="2000" b="0" dirty="0">
                <a:solidFill>
                  <a:schemeClr val="tx1"/>
                </a:solidFill>
                <a:latin typeface="楷体_GB2312"/>
                <a:ea typeface="楷体_GB2312"/>
              </a:endParaRPr>
            </a:p>
          </p:txBody>
        </p:sp>
        <p:sp>
          <p:nvSpPr>
            <p:cNvPr id="205834" name="Line 6"/>
            <p:cNvSpPr/>
            <p:nvPr/>
          </p:nvSpPr>
          <p:spPr>
            <a:xfrm>
              <a:off x="561" y="0"/>
              <a:ext cx="384" cy="0"/>
            </a:xfrm>
            <a:prstGeom prst="line">
              <a:avLst/>
            </a:prstGeom>
            <a:ln w="15875" cap="flat" cmpd="sng">
              <a:solidFill>
                <a:schemeClr val="tx1"/>
              </a:solidFill>
              <a:prstDash val="solid"/>
              <a:bevel/>
              <a:headEnd type="none" w="med" len="med"/>
              <a:tailEnd type="none" w="med" len="med"/>
            </a:ln>
          </p:spPr>
        </p:sp>
      </p:grpSp>
      <p:sp>
        <p:nvSpPr>
          <p:cNvPr id="205831" name="Line 7"/>
          <p:cNvSpPr/>
          <p:nvPr/>
        </p:nvSpPr>
        <p:spPr>
          <a:xfrm>
            <a:off x="2628900" y="2349500"/>
            <a:ext cx="685800" cy="0"/>
          </a:xfrm>
          <a:prstGeom prst="line">
            <a:avLst/>
          </a:prstGeom>
          <a:ln w="15875" cap="flat" cmpd="sng">
            <a:solidFill>
              <a:schemeClr val="tx1"/>
            </a:solidFill>
            <a:prstDash val="solid"/>
            <a:bevel/>
            <a:headEnd type="none" w="med" len="med"/>
            <a:tailEnd type="none" w="med" len="med"/>
          </a:ln>
        </p:spPr>
      </p:sp>
      <p:sp>
        <p:nvSpPr>
          <p:cNvPr id="205832" name="Rectangle 2"/>
          <p:cNvSpPr>
            <a:spLocks noGrp="1" noRot="1"/>
          </p:cNvSpPr>
          <p:nvPr/>
        </p:nvSpPr>
        <p:spPr>
          <a:xfrm>
            <a:off x="1150938" y="214313"/>
            <a:ext cx="7793037" cy="1462087"/>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GB" altLang="en-US" sz="4400" b="0" dirty="0">
                <a:solidFill>
                  <a:srgbClr val="800000"/>
                </a:solidFill>
                <a:ea typeface="楷体_GB2312"/>
              </a:rPr>
              <a:t>8259A</a:t>
            </a:r>
            <a:r>
              <a:rPr lang="zh-CN" altLang="en-US" sz="4400" b="0" dirty="0">
                <a:solidFill>
                  <a:srgbClr val="800000"/>
                </a:solidFill>
                <a:ea typeface="楷体_GB2312"/>
              </a:rPr>
              <a:t>的工作过程</a:t>
            </a:r>
            <a:endParaRPr lang="zh-CN" altLang="en-US" sz="4400" b="0" dirty="0">
              <a:solidFill>
                <a:srgbClr val="800000"/>
              </a:solidFill>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8246"/>
                                        </p:tgtEl>
                                        <p:attrNameLst>
                                          <p:attrName>style.visibility</p:attrName>
                                        </p:attrNameLst>
                                      </p:cBhvr>
                                      <p:to>
                                        <p:strVal val="visible"/>
                                      </p:to>
                                    </p:set>
                                    <p:anim calcmode="lin" valueType="num">
                                      <p:cBhvr>
                                        <p:cTn id="7" dur="500" fill="hold"/>
                                        <p:tgtEl>
                                          <p:spTgt spid="138246"/>
                                        </p:tgtEl>
                                        <p:attrNameLst>
                                          <p:attrName>ppt_x</p:attrName>
                                        </p:attrNameLst>
                                      </p:cBhvr>
                                      <p:tavLst>
                                        <p:tav tm="0">
                                          <p:val>
                                            <p:strVal val="0-#ppt_w/2"/>
                                          </p:val>
                                        </p:tav>
                                        <p:tav tm="100000">
                                          <p:val>
                                            <p:strVal val="#ppt_x"/>
                                          </p:val>
                                        </p:tav>
                                      </p:tavLst>
                                    </p:anim>
                                    <p:anim calcmode="lin" valueType="num">
                                      <p:cBhvr>
                                        <p:cTn id="8" dur="500" fill="hold"/>
                                        <p:tgtEl>
                                          <p:spTgt spid="1382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685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06851" name="Rectangle 2"/>
          <p:cNvSpPr>
            <a:spLocks noGrp="1" noRot="1"/>
          </p:cNvSpPr>
          <p:nvPr>
            <p:ph type="title" idx="4294967295"/>
          </p:nvPr>
        </p:nvSpPr>
        <p:spPr/>
        <p:txBody>
          <a:bodyPr vert="horz" wrap="square" lIns="91440" tIns="45720" rIns="91440" bIns="45720" anchor="b" anchorCtr="0"/>
          <a:p>
            <a:pPr eaLnBrk="1" hangingPunct="1"/>
            <a:r>
              <a:rPr lang="en-GB" altLang="en-US" dirty="0"/>
              <a:t>8259A</a:t>
            </a:r>
            <a:r>
              <a:rPr lang="zh-CN" altLang="en-US" dirty="0"/>
              <a:t>的工作方式</a:t>
            </a:r>
            <a:endParaRPr lang="zh-CN" altLang="en-US" dirty="0"/>
          </a:p>
        </p:txBody>
      </p:sp>
      <p:sp>
        <p:nvSpPr>
          <p:cNvPr id="206852" name="Rectangle 3"/>
          <p:cNvSpPr>
            <a:spLocks noGrp="1" noRot="1"/>
          </p:cNvSpPr>
          <p:nvPr>
            <p:ph type="body" idx="4294967295"/>
          </p:nvPr>
        </p:nvSpPr>
        <p:spPr/>
        <p:txBody>
          <a:bodyPr vert="horz" wrap="square" lIns="91440" tIns="45720" rIns="91440" bIns="45720" anchor="t" anchorCtr="0"/>
          <a:p>
            <a:pPr eaLnBrk="1" hangingPunct="1"/>
            <a:r>
              <a:rPr lang="en-GB" altLang="en-US" dirty="0"/>
              <a:t>8259A</a:t>
            </a:r>
            <a:r>
              <a:rPr lang="zh-CN" altLang="en-US" dirty="0"/>
              <a:t>的工作方式有如下几类：</a:t>
            </a:r>
            <a:endParaRPr lang="zh-CN" altLang="en-US" dirty="0"/>
          </a:p>
          <a:p>
            <a:pPr lvl="1" eaLnBrk="1" hangingPunct="1"/>
            <a:r>
              <a:rPr lang="zh-CN" altLang="en-US" dirty="0"/>
              <a:t>中断优先方式与中断嵌套</a:t>
            </a:r>
            <a:endParaRPr lang="zh-CN" altLang="en-US" dirty="0"/>
          </a:p>
          <a:p>
            <a:pPr lvl="1" eaLnBrk="1" hangingPunct="1"/>
            <a:r>
              <a:rPr lang="zh-CN" altLang="en-US" dirty="0"/>
              <a:t>中断结束处理方式 </a:t>
            </a:r>
            <a:endParaRPr lang="zh-CN" altLang="en-US" dirty="0"/>
          </a:p>
          <a:p>
            <a:pPr lvl="1" eaLnBrk="1" hangingPunct="1"/>
            <a:r>
              <a:rPr lang="zh-CN" altLang="en-US" dirty="0"/>
              <a:t>屏蔽中断源的方式</a:t>
            </a:r>
            <a:endParaRPr lang="zh-CN" altLang="en-US" dirty="0"/>
          </a:p>
          <a:p>
            <a:pPr lvl="1" eaLnBrk="1" hangingPunct="1"/>
            <a:r>
              <a:rPr lang="zh-CN" altLang="en-US" dirty="0"/>
              <a:t>中断触发方式</a:t>
            </a:r>
            <a:endParaRPr lang="zh-CN" altLang="en-US" dirty="0"/>
          </a:p>
          <a:p>
            <a:pPr lvl="1" eaLnBrk="1" hangingPunct="1"/>
            <a:r>
              <a:rPr lang="zh-CN" altLang="en-US" dirty="0"/>
              <a:t>级联工作方式</a:t>
            </a:r>
            <a:endParaRPr lang="zh-CN" altLang="en-US" dirty="0"/>
          </a:p>
        </p:txBody>
      </p:sp>
    </p:spTree>
  </p:cSld>
  <p:clrMapOvr>
    <a:masterClrMapping/>
  </p:clrMapOvr>
  <p:transition spd="slow">
    <p:zoom/>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4" name="灯片编号占位符 5"/>
          <p:cNvSpPr txBox="1">
            <a:spLocks noGrp="1"/>
          </p:cNvSpPr>
          <p:nvPr/>
        </p:nvSpPr>
        <p:spPr>
          <a:xfrm>
            <a:off x="7143750" y="623728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07875" name="Rectangle 2"/>
          <p:cNvSpPr>
            <a:spLocks noGrp="1" noRot="1"/>
          </p:cNvSpPr>
          <p:nvPr>
            <p:ph type="title" idx="4294967295"/>
          </p:nvPr>
        </p:nvSpPr>
        <p:spPr/>
        <p:txBody>
          <a:bodyPr vert="horz" wrap="square" lIns="91440" tIns="45720" rIns="91440" bIns="45720" anchor="b" anchorCtr="0"/>
          <a:p>
            <a:pPr eaLnBrk="1" hangingPunct="1"/>
            <a:r>
              <a:rPr lang="zh-CN" altLang="en-US" dirty="0"/>
              <a:t>中断优先方式与中断嵌套</a:t>
            </a:r>
            <a:endParaRPr lang="zh-CN" altLang="en-US" dirty="0"/>
          </a:p>
        </p:txBody>
      </p:sp>
      <p:sp>
        <p:nvSpPr>
          <p:cNvPr id="207876" name="Rectangle 3"/>
          <p:cNvSpPr>
            <a:spLocks noGrp="1" noRot="1"/>
          </p:cNvSpPr>
          <p:nvPr>
            <p:ph type="body" idx="4294967295"/>
          </p:nvPr>
        </p:nvSpPr>
        <p:spPr>
          <a:xfrm>
            <a:off x="403225" y="1989138"/>
            <a:ext cx="8540750" cy="3041650"/>
          </a:xfrm>
        </p:spPr>
        <p:txBody>
          <a:bodyPr vert="horz" wrap="square" lIns="91440" tIns="45720" rIns="91440" bIns="45720" anchor="t" anchorCtr="0"/>
          <a:p>
            <a:pPr marL="0" indent="0" eaLnBrk="1" hangingPunct="1">
              <a:buNone/>
            </a:pPr>
            <a:r>
              <a:rPr lang="zh-CN" altLang="en-US" dirty="0"/>
              <a:t>（</a:t>
            </a:r>
            <a:r>
              <a:rPr lang="en-US" altLang="zh-CN" dirty="0"/>
              <a:t>1</a:t>
            </a:r>
            <a:r>
              <a:rPr lang="zh-CN" altLang="en-US" dirty="0"/>
              <a:t>）中断优先方式 </a:t>
            </a:r>
            <a:endParaRPr lang="zh-CN" altLang="en-US" dirty="0"/>
          </a:p>
          <a:p>
            <a:pPr marL="789305" lvl="1" indent="-332105" eaLnBrk="1" hangingPunct="1">
              <a:buNone/>
            </a:pPr>
            <a:r>
              <a:rPr lang="zh-CN" altLang="en-US" dirty="0"/>
              <a:t>两类优先级控制方式：</a:t>
            </a:r>
            <a:r>
              <a:rPr lang="zh-CN" altLang="en-US" dirty="0">
                <a:solidFill>
                  <a:srgbClr val="0000FF"/>
                </a:solidFill>
              </a:rPr>
              <a:t>固定优先级</a:t>
            </a:r>
            <a:r>
              <a:rPr lang="zh-CN" altLang="en-US" dirty="0"/>
              <a:t>和</a:t>
            </a:r>
            <a:r>
              <a:rPr lang="zh-CN" altLang="en-US" dirty="0">
                <a:solidFill>
                  <a:srgbClr val="0000FF"/>
                </a:solidFill>
              </a:rPr>
              <a:t>循环优先级</a:t>
            </a:r>
            <a:endParaRPr lang="zh-CN" altLang="en-US" dirty="0">
              <a:solidFill>
                <a:srgbClr val="0000FF"/>
              </a:solidFill>
            </a:endParaRPr>
          </a:p>
          <a:p>
            <a:pPr marL="789305" lvl="1" indent="-332105" eaLnBrk="1" hangingPunct="1"/>
            <a:r>
              <a:rPr lang="zh-CN" altLang="en-US" dirty="0"/>
              <a:t>固定优先级方式</a:t>
            </a:r>
            <a:endParaRPr lang="zh-CN" altLang="en-US" dirty="0"/>
          </a:p>
          <a:p>
            <a:pPr marL="1349375" lvl="2" indent="-269875" eaLnBrk="1" hangingPunct="1"/>
            <a:r>
              <a:rPr lang="zh-CN" altLang="en-US" dirty="0"/>
              <a:t>所有中断请求</a:t>
            </a:r>
            <a:r>
              <a:rPr lang="en-GB" altLang="en-US" dirty="0"/>
              <a:t>IR</a:t>
            </a:r>
            <a:r>
              <a:rPr lang="en-GB" altLang="en-US" baseline="-25000" dirty="0"/>
              <a:t>i</a:t>
            </a:r>
            <a:r>
              <a:rPr lang="zh-CN" altLang="en-US" dirty="0"/>
              <a:t>的中断优先级固定不变</a:t>
            </a:r>
            <a:endParaRPr lang="zh-CN" altLang="en-US" dirty="0"/>
          </a:p>
          <a:p>
            <a:pPr marL="1349375" lvl="2" indent="-269875" eaLnBrk="1" hangingPunct="1"/>
            <a:r>
              <a:rPr lang="zh-CN" altLang="en-US" dirty="0"/>
              <a:t>优先级排列顺序可编程改变</a:t>
            </a:r>
            <a:endParaRPr lang="zh-CN" altLang="en-US" dirty="0"/>
          </a:p>
          <a:p>
            <a:pPr marL="1349375" lvl="2" indent="-269875" eaLnBrk="1" hangingPunct="1"/>
            <a:r>
              <a:rPr lang="zh-CN" altLang="en-US" dirty="0"/>
              <a:t>加电后</a:t>
            </a:r>
            <a:r>
              <a:rPr lang="en-GB" altLang="en-US" dirty="0"/>
              <a:t>8259A</a:t>
            </a:r>
            <a:r>
              <a:rPr lang="zh-CN" altLang="en-US" dirty="0"/>
              <a:t>的默认方式，默认优先级顺序从高到低为</a:t>
            </a:r>
            <a:r>
              <a:rPr lang="en-GB" altLang="en-US" dirty="0"/>
              <a:t>IR</a:t>
            </a:r>
            <a:r>
              <a:rPr lang="en-GB" altLang="en-US" baseline="-25000" dirty="0"/>
              <a:t>0</a:t>
            </a:r>
            <a:r>
              <a:rPr lang="zh-CN" altLang="en-US" dirty="0"/>
              <a:t>～</a:t>
            </a:r>
            <a:r>
              <a:rPr lang="en-GB" altLang="en-US" dirty="0"/>
              <a:t>IR</a:t>
            </a:r>
            <a:r>
              <a:rPr lang="en-GB" altLang="en-US" baseline="-25000" dirty="0"/>
              <a:t>7</a:t>
            </a:r>
            <a:endParaRPr lang="en-US" altLang="zh-CN" dirty="0"/>
          </a:p>
        </p:txBody>
      </p:sp>
      <p:sp>
        <p:nvSpPr>
          <p:cNvPr id="207877" name="Rectangle 4"/>
          <p:cNvSpPr/>
          <p:nvPr/>
        </p:nvSpPr>
        <p:spPr>
          <a:xfrm>
            <a:off x="1069975" y="5394325"/>
            <a:ext cx="390525"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7</a:t>
            </a:r>
            <a:endParaRPr lang="en-US" altLang="zh-CN" sz="1600" dirty="0">
              <a:solidFill>
                <a:schemeClr val="tx1"/>
              </a:solidFill>
              <a:ea typeface="楷体_GB2312"/>
            </a:endParaRPr>
          </a:p>
        </p:txBody>
      </p:sp>
      <p:sp>
        <p:nvSpPr>
          <p:cNvPr id="207878" name="Rectangle 5"/>
          <p:cNvSpPr/>
          <p:nvPr/>
        </p:nvSpPr>
        <p:spPr>
          <a:xfrm>
            <a:off x="1460500" y="5394325"/>
            <a:ext cx="392113"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6</a:t>
            </a:r>
            <a:endParaRPr lang="en-US" altLang="zh-CN" sz="1600" baseline="-25000" dirty="0">
              <a:solidFill>
                <a:schemeClr val="tx1"/>
              </a:solidFill>
              <a:ea typeface="楷体_GB2312"/>
            </a:endParaRPr>
          </a:p>
        </p:txBody>
      </p:sp>
      <p:sp>
        <p:nvSpPr>
          <p:cNvPr id="207879" name="Rectangle 6"/>
          <p:cNvSpPr/>
          <p:nvPr/>
        </p:nvSpPr>
        <p:spPr>
          <a:xfrm>
            <a:off x="1852613" y="5394325"/>
            <a:ext cx="390525"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5</a:t>
            </a:r>
            <a:endParaRPr lang="en-US" altLang="zh-CN" sz="1600" baseline="-25000" dirty="0">
              <a:solidFill>
                <a:schemeClr val="tx1"/>
              </a:solidFill>
              <a:ea typeface="楷体_GB2312"/>
            </a:endParaRPr>
          </a:p>
        </p:txBody>
      </p:sp>
      <p:sp>
        <p:nvSpPr>
          <p:cNvPr id="207880" name="Rectangle 7"/>
          <p:cNvSpPr/>
          <p:nvPr/>
        </p:nvSpPr>
        <p:spPr>
          <a:xfrm>
            <a:off x="2243138" y="5394325"/>
            <a:ext cx="392112"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4</a:t>
            </a:r>
            <a:endParaRPr lang="en-US" altLang="zh-CN" sz="1600" baseline="-25000" dirty="0">
              <a:solidFill>
                <a:schemeClr val="tx1"/>
              </a:solidFill>
              <a:ea typeface="楷体_GB2312"/>
            </a:endParaRPr>
          </a:p>
        </p:txBody>
      </p:sp>
      <p:sp>
        <p:nvSpPr>
          <p:cNvPr id="207881" name="Rectangle 8"/>
          <p:cNvSpPr/>
          <p:nvPr/>
        </p:nvSpPr>
        <p:spPr>
          <a:xfrm>
            <a:off x="2635250" y="5394325"/>
            <a:ext cx="393700"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3</a:t>
            </a:r>
            <a:endParaRPr lang="en-US" altLang="zh-CN" sz="1600" baseline="-25000" dirty="0">
              <a:solidFill>
                <a:schemeClr val="tx1"/>
              </a:solidFill>
              <a:ea typeface="楷体_GB2312"/>
            </a:endParaRPr>
          </a:p>
        </p:txBody>
      </p:sp>
      <p:sp>
        <p:nvSpPr>
          <p:cNvPr id="207882" name="Rectangle 9"/>
          <p:cNvSpPr/>
          <p:nvPr/>
        </p:nvSpPr>
        <p:spPr>
          <a:xfrm>
            <a:off x="3028950" y="5394325"/>
            <a:ext cx="388938"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2</a:t>
            </a:r>
            <a:endParaRPr lang="en-US" altLang="zh-CN" sz="1600" baseline="-25000" dirty="0">
              <a:solidFill>
                <a:schemeClr val="tx1"/>
              </a:solidFill>
              <a:ea typeface="楷体_GB2312"/>
            </a:endParaRPr>
          </a:p>
        </p:txBody>
      </p:sp>
      <p:sp>
        <p:nvSpPr>
          <p:cNvPr id="207883" name="Rectangle 10"/>
          <p:cNvSpPr/>
          <p:nvPr/>
        </p:nvSpPr>
        <p:spPr>
          <a:xfrm>
            <a:off x="3417888" y="5394325"/>
            <a:ext cx="390525"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1</a:t>
            </a:r>
            <a:endParaRPr lang="en-US" altLang="zh-CN" sz="1600" baseline="-25000" dirty="0">
              <a:solidFill>
                <a:schemeClr val="tx1"/>
              </a:solidFill>
              <a:ea typeface="楷体_GB2312"/>
            </a:endParaRPr>
          </a:p>
        </p:txBody>
      </p:sp>
      <p:sp>
        <p:nvSpPr>
          <p:cNvPr id="207884" name="Rectangle 11"/>
          <p:cNvSpPr/>
          <p:nvPr/>
        </p:nvSpPr>
        <p:spPr>
          <a:xfrm>
            <a:off x="3808413" y="5394325"/>
            <a:ext cx="395287"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0</a:t>
            </a:r>
            <a:endParaRPr lang="en-US" altLang="zh-CN" sz="1600" baseline="-25000" dirty="0">
              <a:solidFill>
                <a:schemeClr val="tx1"/>
              </a:solidFill>
              <a:ea typeface="楷体_GB2312"/>
            </a:endParaRPr>
          </a:p>
        </p:txBody>
      </p:sp>
      <p:sp>
        <p:nvSpPr>
          <p:cNvPr id="207885" name="Rectangle 12"/>
          <p:cNvSpPr/>
          <p:nvPr/>
        </p:nvSpPr>
        <p:spPr>
          <a:xfrm>
            <a:off x="1069975" y="5795963"/>
            <a:ext cx="388938"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7</a:t>
            </a:r>
            <a:endParaRPr lang="en-US" altLang="zh-CN" sz="1600" dirty="0">
              <a:solidFill>
                <a:schemeClr val="tx1"/>
              </a:solidFill>
              <a:ea typeface="楷体_GB2312"/>
            </a:endParaRPr>
          </a:p>
        </p:txBody>
      </p:sp>
      <p:sp>
        <p:nvSpPr>
          <p:cNvPr id="207886" name="Rectangle 13"/>
          <p:cNvSpPr/>
          <p:nvPr/>
        </p:nvSpPr>
        <p:spPr>
          <a:xfrm>
            <a:off x="1458913" y="5795963"/>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6</a:t>
            </a:r>
            <a:endParaRPr lang="en-US" altLang="zh-CN" sz="1600" dirty="0">
              <a:solidFill>
                <a:schemeClr val="tx1"/>
              </a:solidFill>
              <a:ea typeface="楷体_GB2312"/>
            </a:endParaRPr>
          </a:p>
        </p:txBody>
      </p:sp>
      <p:sp>
        <p:nvSpPr>
          <p:cNvPr id="207887" name="Rectangle 14"/>
          <p:cNvSpPr/>
          <p:nvPr/>
        </p:nvSpPr>
        <p:spPr>
          <a:xfrm>
            <a:off x="1852613" y="5795963"/>
            <a:ext cx="388937"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5</a:t>
            </a:r>
            <a:endParaRPr lang="en-US" altLang="zh-CN" sz="1600" dirty="0">
              <a:solidFill>
                <a:schemeClr val="tx1"/>
              </a:solidFill>
              <a:ea typeface="楷体_GB2312"/>
            </a:endParaRPr>
          </a:p>
        </p:txBody>
      </p:sp>
      <p:sp>
        <p:nvSpPr>
          <p:cNvPr id="207888" name="Rectangle 15"/>
          <p:cNvSpPr/>
          <p:nvPr/>
        </p:nvSpPr>
        <p:spPr>
          <a:xfrm>
            <a:off x="2241550" y="5795963"/>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4</a:t>
            </a:r>
            <a:endParaRPr lang="en-US" altLang="zh-CN" sz="1600" dirty="0">
              <a:solidFill>
                <a:schemeClr val="tx1"/>
              </a:solidFill>
              <a:ea typeface="楷体_GB2312"/>
            </a:endParaRPr>
          </a:p>
        </p:txBody>
      </p:sp>
      <p:sp>
        <p:nvSpPr>
          <p:cNvPr id="207889" name="Rectangle 16"/>
          <p:cNvSpPr/>
          <p:nvPr/>
        </p:nvSpPr>
        <p:spPr>
          <a:xfrm>
            <a:off x="2635250" y="5795963"/>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3</a:t>
            </a:r>
            <a:endParaRPr lang="en-US" altLang="zh-CN" sz="1600" dirty="0">
              <a:solidFill>
                <a:schemeClr val="tx1"/>
              </a:solidFill>
              <a:ea typeface="楷体_GB2312"/>
            </a:endParaRPr>
          </a:p>
        </p:txBody>
      </p:sp>
      <p:sp>
        <p:nvSpPr>
          <p:cNvPr id="207890" name="Rectangle 17"/>
          <p:cNvSpPr/>
          <p:nvPr/>
        </p:nvSpPr>
        <p:spPr>
          <a:xfrm>
            <a:off x="3028950" y="5795963"/>
            <a:ext cx="385763"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2</a:t>
            </a:r>
            <a:endParaRPr lang="en-US" altLang="zh-CN" sz="1600" dirty="0">
              <a:solidFill>
                <a:schemeClr val="tx1"/>
              </a:solidFill>
              <a:ea typeface="楷体_GB2312"/>
            </a:endParaRPr>
          </a:p>
        </p:txBody>
      </p:sp>
      <p:sp>
        <p:nvSpPr>
          <p:cNvPr id="207891" name="Rectangle 18"/>
          <p:cNvSpPr/>
          <p:nvPr/>
        </p:nvSpPr>
        <p:spPr>
          <a:xfrm>
            <a:off x="3414713" y="5795963"/>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1</a:t>
            </a:r>
            <a:endParaRPr lang="en-US" altLang="zh-CN" sz="1600" dirty="0">
              <a:solidFill>
                <a:schemeClr val="tx1"/>
              </a:solidFill>
              <a:ea typeface="楷体_GB2312"/>
            </a:endParaRPr>
          </a:p>
        </p:txBody>
      </p:sp>
      <p:sp>
        <p:nvSpPr>
          <p:cNvPr id="207892" name="Rectangle 19"/>
          <p:cNvSpPr/>
          <p:nvPr/>
        </p:nvSpPr>
        <p:spPr>
          <a:xfrm>
            <a:off x="3808413" y="5795963"/>
            <a:ext cx="395287"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7893" name="Rectangle 20"/>
          <p:cNvSpPr/>
          <p:nvPr/>
        </p:nvSpPr>
        <p:spPr>
          <a:xfrm>
            <a:off x="5572125" y="5795963"/>
            <a:ext cx="388938"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3</a:t>
            </a:r>
            <a:endParaRPr lang="en-US" altLang="zh-CN" sz="1600" dirty="0">
              <a:solidFill>
                <a:schemeClr val="tx1"/>
              </a:solidFill>
              <a:ea typeface="楷体_GB2312"/>
            </a:endParaRPr>
          </a:p>
        </p:txBody>
      </p:sp>
      <p:sp>
        <p:nvSpPr>
          <p:cNvPr id="207894" name="Rectangle 21"/>
          <p:cNvSpPr/>
          <p:nvPr/>
        </p:nvSpPr>
        <p:spPr>
          <a:xfrm>
            <a:off x="5961063" y="5795963"/>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2</a:t>
            </a:r>
            <a:endParaRPr lang="en-US" altLang="zh-CN" sz="1600" dirty="0">
              <a:solidFill>
                <a:schemeClr val="tx1"/>
              </a:solidFill>
              <a:ea typeface="楷体_GB2312"/>
            </a:endParaRPr>
          </a:p>
        </p:txBody>
      </p:sp>
      <p:sp>
        <p:nvSpPr>
          <p:cNvPr id="207895" name="Rectangle 22"/>
          <p:cNvSpPr/>
          <p:nvPr/>
        </p:nvSpPr>
        <p:spPr>
          <a:xfrm>
            <a:off x="6354763" y="5795963"/>
            <a:ext cx="388937"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1</a:t>
            </a:r>
            <a:endParaRPr lang="en-US" altLang="zh-CN" sz="1600" dirty="0">
              <a:solidFill>
                <a:schemeClr val="tx1"/>
              </a:solidFill>
              <a:ea typeface="楷体_GB2312"/>
            </a:endParaRPr>
          </a:p>
        </p:txBody>
      </p:sp>
      <p:sp>
        <p:nvSpPr>
          <p:cNvPr id="207896" name="Rectangle 23"/>
          <p:cNvSpPr/>
          <p:nvPr/>
        </p:nvSpPr>
        <p:spPr>
          <a:xfrm>
            <a:off x="6743700" y="5795963"/>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7897" name="Rectangle 24"/>
          <p:cNvSpPr/>
          <p:nvPr/>
        </p:nvSpPr>
        <p:spPr>
          <a:xfrm>
            <a:off x="7137400" y="5795963"/>
            <a:ext cx="392113"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7</a:t>
            </a:r>
            <a:endParaRPr lang="en-US" altLang="zh-CN" sz="1600" dirty="0">
              <a:solidFill>
                <a:schemeClr val="tx1"/>
              </a:solidFill>
              <a:ea typeface="楷体_GB2312"/>
            </a:endParaRPr>
          </a:p>
        </p:txBody>
      </p:sp>
      <p:sp>
        <p:nvSpPr>
          <p:cNvPr id="207898" name="Rectangle 25"/>
          <p:cNvSpPr/>
          <p:nvPr/>
        </p:nvSpPr>
        <p:spPr>
          <a:xfrm>
            <a:off x="7529513" y="5795963"/>
            <a:ext cx="388937"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6</a:t>
            </a:r>
            <a:endParaRPr lang="en-US" altLang="zh-CN" sz="1600" dirty="0">
              <a:solidFill>
                <a:schemeClr val="tx1"/>
              </a:solidFill>
              <a:ea typeface="楷体_GB2312"/>
            </a:endParaRPr>
          </a:p>
        </p:txBody>
      </p:sp>
      <p:sp>
        <p:nvSpPr>
          <p:cNvPr id="207899" name="Rectangle 26"/>
          <p:cNvSpPr/>
          <p:nvPr/>
        </p:nvSpPr>
        <p:spPr>
          <a:xfrm>
            <a:off x="7918450" y="5795963"/>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5</a:t>
            </a:r>
            <a:endParaRPr lang="en-US" altLang="zh-CN" sz="1600" dirty="0">
              <a:solidFill>
                <a:schemeClr val="tx1"/>
              </a:solidFill>
              <a:ea typeface="楷体_GB2312"/>
            </a:endParaRPr>
          </a:p>
        </p:txBody>
      </p:sp>
      <p:sp>
        <p:nvSpPr>
          <p:cNvPr id="207900" name="Rectangle 27"/>
          <p:cNvSpPr/>
          <p:nvPr/>
        </p:nvSpPr>
        <p:spPr>
          <a:xfrm>
            <a:off x="8312150" y="5795963"/>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4</a:t>
            </a:r>
            <a:endParaRPr lang="en-US" altLang="zh-CN" sz="1600" dirty="0">
              <a:solidFill>
                <a:schemeClr val="tx1"/>
              </a:solidFill>
              <a:ea typeface="楷体_GB2312"/>
            </a:endParaRPr>
          </a:p>
        </p:txBody>
      </p:sp>
      <p:sp>
        <p:nvSpPr>
          <p:cNvPr id="207901" name="Line 28"/>
          <p:cNvSpPr/>
          <p:nvPr/>
        </p:nvSpPr>
        <p:spPr>
          <a:xfrm flipH="1" flipV="1">
            <a:off x="4002088" y="6202363"/>
            <a:ext cx="311150" cy="271462"/>
          </a:xfrm>
          <a:prstGeom prst="line">
            <a:avLst/>
          </a:prstGeom>
          <a:ln w="9525" cap="flat" cmpd="sng">
            <a:solidFill>
              <a:srgbClr val="000000"/>
            </a:solidFill>
            <a:prstDash val="solid"/>
            <a:bevel/>
            <a:headEnd type="none" w="med" len="med"/>
            <a:tailEnd type="triangle" w="sm" len="med"/>
          </a:ln>
        </p:spPr>
      </p:sp>
      <p:sp>
        <p:nvSpPr>
          <p:cNvPr id="207902" name="Line 29"/>
          <p:cNvSpPr/>
          <p:nvPr/>
        </p:nvSpPr>
        <p:spPr>
          <a:xfrm flipV="1">
            <a:off x="1001713" y="6202363"/>
            <a:ext cx="260350" cy="271462"/>
          </a:xfrm>
          <a:prstGeom prst="line">
            <a:avLst/>
          </a:prstGeom>
          <a:ln w="9525" cap="flat" cmpd="sng">
            <a:solidFill>
              <a:srgbClr val="000000"/>
            </a:solidFill>
            <a:prstDash val="solid"/>
            <a:bevel/>
            <a:headEnd type="none" w="med" len="med"/>
            <a:tailEnd type="triangle" w="sm" len="med"/>
          </a:ln>
        </p:spPr>
      </p:sp>
      <p:sp>
        <p:nvSpPr>
          <p:cNvPr id="207903" name="Line 30"/>
          <p:cNvSpPr/>
          <p:nvPr/>
        </p:nvSpPr>
        <p:spPr>
          <a:xfrm flipV="1">
            <a:off x="6689725" y="6202363"/>
            <a:ext cx="252413" cy="271462"/>
          </a:xfrm>
          <a:prstGeom prst="line">
            <a:avLst/>
          </a:prstGeom>
          <a:ln w="9525" cap="flat" cmpd="sng">
            <a:solidFill>
              <a:srgbClr val="000000"/>
            </a:solidFill>
            <a:prstDash val="solid"/>
            <a:bevel/>
            <a:headEnd type="none" w="med" len="med"/>
            <a:tailEnd type="triangle" w="sm" len="med"/>
          </a:ln>
        </p:spPr>
      </p:sp>
      <p:sp>
        <p:nvSpPr>
          <p:cNvPr id="207904" name="Line 31"/>
          <p:cNvSpPr/>
          <p:nvPr/>
        </p:nvSpPr>
        <p:spPr>
          <a:xfrm flipH="1" flipV="1">
            <a:off x="7334250" y="6202363"/>
            <a:ext cx="292100" cy="271462"/>
          </a:xfrm>
          <a:prstGeom prst="line">
            <a:avLst/>
          </a:prstGeom>
          <a:ln w="9525" cap="flat" cmpd="sng">
            <a:solidFill>
              <a:srgbClr val="000000"/>
            </a:solidFill>
            <a:prstDash val="solid"/>
            <a:bevel/>
            <a:headEnd type="none" w="med" len="med"/>
            <a:tailEnd type="triangle" w="sm" len="med"/>
          </a:ln>
        </p:spPr>
      </p:sp>
      <p:sp>
        <p:nvSpPr>
          <p:cNvPr id="207905" name="Text Box 32"/>
          <p:cNvSpPr txBox="1"/>
          <p:nvPr/>
        </p:nvSpPr>
        <p:spPr>
          <a:xfrm>
            <a:off x="569913" y="6507163"/>
            <a:ext cx="790575" cy="2746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50000"/>
              </a:spcBef>
              <a:spcAft>
                <a:spcPct val="0"/>
              </a:spcAft>
              <a:buClr>
                <a:srgbClr val="0000CC"/>
              </a:buClr>
              <a:buSzPct val="75000"/>
              <a:buNone/>
            </a:pPr>
            <a:r>
              <a:rPr lang="zh-CN" altLang="en-US" sz="1800" b="0" dirty="0">
                <a:solidFill>
                  <a:schemeClr val="tx1"/>
                </a:solidFill>
                <a:ea typeface="楷体_GB2312"/>
              </a:rPr>
              <a:t>最低级</a:t>
            </a:r>
            <a:endParaRPr lang="zh-CN" altLang="en-US" sz="1800" b="0" dirty="0">
              <a:solidFill>
                <a:schemeClr val="tx1"/>
              </a:solidFill>
              <a:ea typeface="楷体_GB2312"/>
            </a:endParaRPr>
          </a:p>
        </p:txBody>
      </p:sp>
      <p:sp>
        <p:nvSpPr>
          <p:cNvPr id="207906" name="Text Box 33"/>
          <p:cNvSpPr txBox="1"/>
          <p:nvPr/>
        </p:nvSpPr>
        <p:spPr>
          <a:xfrm>
            <a:off x="3881438" y="6473825"/>
            <a:ext cx="839787"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50000"/>
              </a:spcBef>
              <a:spcAft>
                <a:spcPct val="0"/>
              </a:spcAft>
              <a:buClr>
                <a:srgbClr val="0000CC"/>
              </a:buClr>
              <a:buSzPct val="75000"/>
              <a:buNone/>
            </a:pPr>
            <a:r>
              <a:rPr lang="zh-CN" altLang="en-US" sz="1800" b="0" dirty="0">
                <a:solidFill>
                  <a:schemeClr val="tx1"/>
                </a:solidFill>
                <a:ea typeface="楷体_GB2312"/>
              </a:rPr>
              <a:t>最高级</a:t>
            </a:r>
            <a:endParaRPr lang="zh-CN" altLang="en-US" sz="1800" b="0" dirty="0">
              <a:solidFill>
                <a:schemeClr val="tx1"/>
              </a:solidFill>
              <a:ea typeface="楷体_GB2312"/>
            </a:endParaRPr>
          </a:p>
        </p:txBody>
      </p:sp>
      <p:sp>
        <p:nvSpPr>
          <p:cNvPr id="207907" name="Text Box 34"/>
          <p:cNvSpPr txBox="1"/>
          <p:nvPr/>
        </p:nvSpPr>
        <p:spPr>
          <a:xfrm>
            <a:off x="6257925" y="6473825"/>
            <a:ext cx="719138"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50000"/>
              </a:spcBef>
              <a:spcAft>
                <a:spcPct val="0"/>
              </a:spcAft>
              <a:buClr>
                <a:srgbClr val="0000CC"/>
              </a:buClr>
              <a:buSzPct val="75000"/>
              <a:buNone/>
            </a:pPr>
            <a:r>
              <a:rPr lang="zh-CN" altLang="en-US" sz="1800" b="0" dirty="0">
                <a:solidFill>
                  <a:schemeClr val="tx1"/>
                </a:solidFill>
                <a:ea typeface="楷体_GB2312"/>
              </a:rPr>
              <a:t>最高级</a:t>
            </a:r>
            <a:endParaRPr lang="zh-CN" altLang="en-US" sz="1800" b="0" dirty="0">
              <a:solidFill>
                <a:schemeClr val="tx1"/>
              </a:solidFill>
              <a:ea typeface="楷体_GB2312"/>
            </a:endParaRPr>
          </a:p>
        </p:txBody>
      </p:sp>
      <p:sp>
        <p:nvSpPr>
          <p:cNvPr id="207908" name="Text Box 35"/>
          <p:cNvSpPr txBox="1"/>
          <p:nvPr/>
        </p:nvSpPr>
        <p:spPr>
          <a:xfrm>
            <a:off x="7337425" y="6473825"/>
            <a:ext cx="771525"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50000"/>
              </a:spcBef>
              <a:spcAft>
                <a:spcPct val="0"/>
              </a:spcAft>
              <a:buClr>
                <a:srgbClr val="0000CC"/>
              </a:buClr>
              <a:buSzPct val="75000"/>
              <a:buNone/>
            </a:pPr>
            <a:r>
              <a:rPr lang="zh-CN" altLang="en-US" sz="1800" b="0" dirty="0">
                <a:solidFill>
                  <a:schemeClr val="tx1"/>
                </a:solidFill>
                <a:ea typeface="楷体_GB2312"/>
              </a:rPr>
              <a:t>最低级</a:t>
            </a:r>
            <a:endParaRPr lang="zh-CN" altLang="en-US" sz="1800" b="0" dirty="0">
              <a:solidFill>
                <a:schemeClr val="tx1"/>
              </a:solidFill>
              <a:ea typeface="楷体_GB2312"/>
            </a:endParaRPr>
          </a:p>
        </p:txBody>
      </p:sp>
      <p:sp>
        <p:nvSpPr>
          <p:cNvPr id="207909" name="Text Box 36"/>
          <p:cNvSpPr txBox="1"/>
          <p:nvPr/>
        </p:nvSpPr>
        <p:spPr>
          <a:xfrm>
            <a:off x="4500563" y="5854700"/>
            <a:ext cx="839787" cy="24447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
                <a:srgbClr val="0000CC"/>
              </a:buClr>
              <a:buSzPct val="75000"/>
              <a:buNone/>
            </a:pPr>
            <a:r>
              <a:rPr lang="zh-CN" altLang="en-US" sz="1600" dirty="0">
                <a:ea typeface="楷体_GB2312"/>
              </a:rPr>
              <a:t>优先级</a:t>
            </a:r>
            <a:endParaRPr lang="zh-CN" altLang="en-US" sz="1600" dirty="0">
              <a:ea typeface="楷体_GB2312"/>
            </a:endParaRPr>
          </a:p>
        </p:txBody>
      </p:sp>
      <p:sp>
        <p:nvSpPr>
          <p:cNvPr id="207910" name="Line 37"/>
          <p:cNvSpPr/>
          <p:nvPr/>
        </p:nvSpPr>
        <p:spPr>
          <a:xfrm>
            <a:off x="5249863" y="5970588"/>
            <a:ext cx="287337" cy="0"/>
          </a:xfrm>
          <a:prstGeom prst="line">
            <a:avLst/>
          </a:prstGeom>
          <a:ln w="9525" cap="flat" cmpd="sng">
            <a:solidFill>
              <a:schemeClr val="tx1"/>
            </a:solidFill>
            <a:prstDash val="solid"/>
            <a:bevel/>
            <a:headEnd type="none" w="med" len="med"/>
            <a:tailEnd type="triangle" w="med" len="med"/>
          </a:ln>
        </p:spPr>
      </p:sp>
      <p:sp>
        <p:nvSpPr>
          <p:cNvPr id="207911" name="Line 38"/>
          <p:cNvSpPr/>
          <p:nvPr/>
        </p:nvSpPr>
        <p:spPr>
          <a:xfrm flipH="1">
            <a:off x="4227513" y="5970588"/>
            <a:ext cx="288925" cy="0"/>
          </a:xfrm>
          <a:prstGeom prst="line">
            <a:avLst/>
          </a:prstGeom>
          <a:ln w="9525" cap="flat" cmpd="sng">
            <a:solidFill>
              <a:schemeClr val="tx1"/>
            </a:solidFill>
            <a:prstDash val="solid"/>
            <a:bevel/>
            <a:headEnd type="none" w="med" len="med"/>
            <a:tailEnd type="triangle" w="med" len="med"/>
          </a:ln>
        </p:spPr>
      </p:sp>
      <p:sp>
        <p:nvSpPr>
          <p:cNvPr id="207912" name="Rectangle 39"/>
          <p:cNvSpPr/>
          <p:nvPr/>
        </p:nvSpPr>
        <p:spPr>
          <a:xfrm>
            <a:off x="5564188" y="5394325"/>
            <a:ext cx="390525"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7</a:t>
            </a:r>
            <a:endParaRPr lang="en-US" altLang="zh-CN" sz="1600" dirty="0">
              <a:solidFill>
                <a:schemeClr val="tx1"/>
              </a:solidFill>
              <a:ea typeface="楷体_GB2312"/>
            </a:endParaRPr>
          </a:p>
        </p:txBody>
      </p:sp>
      <p:sp>
        <p:nvSpPr>
          <p:cNvPr id="207913" name="Rectangle 40"/>
          <p:cNvSpPr/>
          <p:nvPr/>
        </p:nvSpPr>
        <p:spPr>
          <a:xfrm>
            <a:off x="5954713" y="5394325"/>
            <a:ext cx="392112"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6</a:t>
            </a:r>
            <a:endParaRPr lang="en-US" altLang="zh-CN" sz="1600" baseline="-25000" dirty="0">
              <a:solidFill>
                <a:schemeClr val="tx1"/>
              </a:solidFill>
              <a:ea typeface="楷体_GB2312"/>
            </a:endParaRPr>
          </a:p>
        </p:txBody>
      </p:sp>
      <p:sp>
        <p:nvSpPr>
          <p:cNvPr id="207914" name="Rectangle 41"/>
          <p:cNvSpPr/>
          <p:nvPr/>
        </p:nvSpPr>
        <p:spPr>
          <a:xfrm>
            <a:off x="6346825" y="5394325"/>
            <a:ext cx="390525"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5</a:t>
            </a:r>
            <a:endParaRPr lang="en-US" altLang="zh-CN" sz="1600" baseline="-25000" dirty="0">
              <a:solidFill>
                <a:schemeClr val="tx1"/>
              </a:solidFill>
              <a:ea typeface="楷体_GB2312"/>
            </a:endParaRPr>
          </a:p>
        </p:txBody>
      </p:sp>
      <p:sp>
        <p:nvSpPr>
          <p:cNvPr id="207915" name="Rectangle 42"/>
          <p:cNvSpPr/>
          <p:nvPr/>
        </p:nvSpPr>
        <p:spPr>
          <a:xfrm>
            <a:off x="6737350" y="5394325"/>
            <a:ext cx="392113"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4</a:t>
            </a:r>
            <a:endParaRPr lang="en-US" altLang="zh-CN" sz="1600" baseline="-25000" dirty="0">
              <a:solidFill>
                <a:schemeClr val="tx1"/>
              </a:solidFill>
              <a:ea typeface="楷体_GB2312"/>
            </a:endParaRPr>
          </a:p>
        </p:txBody>
      </p:sp>
      <p:sp>
        <p:nvSpPr>
          <p:cNvPr id="207916" name="Rectangle 43"/>
          <p:cNvSpPr/>
          <p:nvPr/>
        </p:nvSpPr>
        <p:spPr>
          <a:xfrm>
            <a:off x="7129463" y="5394325"/>
            <a:ext cx="393700"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3</a:t>
            </a:r>
            <a:endParaRPr lang="en-US" altLang="zh-CN" sz="1600" baseline="-25000" dirty="0">
              <a:solidFill>
                <a:schemeClr val="tx1"/>
              </a:solidFill>
              <a:ea typeface="楷体_GB2312"/>
            </a:endParaRPr>
          </a:p>
        </p:txBody>
      </p:sp>
      <p:sp>
        <p:nvSpPr>
          <p:cNvPr id="207917" name="Rectangle 44"/>
          <p:cNvSpPr/>
          <p:nvPr/>
        </p:nvSpPr>
        <p:spPr>
          <a:xfrm>
            <a:off x="7523163" y="5394325"/>
            <a:ext cx="388937"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2</a:t>
            </a:r>
            <a:endParaRPr lang="en-US" altLang="zh-CN" sz="1600" baseline="-25000" dirty="0">
              <a:solidFill>
                <a:schemeClr val="tx1"/>
              </a:solidFill>
              <a:ea typeface="楷体_GB2312"/>
            </a:endParaRPr>
          </a:p>
        </p:txBody>
      </p:sp>
      <p:sp>
        <p:nvSpPr>
          <p:cNvPr id="207918" name="Rectangle 45"/>
          <p:cNvSpPr/>
          <p:nvPr/>
        </p:nvSpPr>
        <p:spPr>
          <a:xfrm>
            <a:off x="7912100" y="5394325"/>
            <a:ext cx="390525"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1</a:t>
            </a:r>
            <a:endParaRPr lang="en-US" altLang="zh-CN" sz="1600" baseline="-25000" dirty="0">
              <a:solidFill>
                <a:schemeClr val="tx1"/>
              </a:solidFill>
              <a:ea typeface="楷体_GB2312"/>
            </a:endParaRPr>
          </a:p>
        </p:txBody>
      </p:sp>
      <p:sp>
        <p:nvSpPr>
          <p:cNvPr id="207919" name="Rectangle 46"/>
          <p:cNvSpPr/>
          <p:nvPr/>
        </p:nvSpPr>
        <p:spPr>
          <a:xfrm>
            <a:off x="8302625" y="5394325"/>
            <a:ext cx="395288" cy="401638"/>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0</a:t>
            </a:r>
            <a:endParaRPr lang="en-US" altLang="zh-CN" sz="1600" baseline="-25000" dirty="0">
              <a:solidFill>
                <a:schemeClr val="tx1"/>
              </a:solidFill>
              <a:ea typeface="楷体_GB2312"/>
            </a:endParaRPr>
          </a:p>
        </p:txBody>
      </p:sp>
      <p:sp>
        <p:nvSpPr>
          <p:cNvPr id="207920" name="Text Box 47"/>
          <p:cNvSpPr txBox="1"/>
          <p:nvPr/>
        </p:nvSpPr>
        <p:spPr>
          <a:xfrm>
            <a:off x="1073150" y="5105400"/>
            <a:ext cx="1079500" cy="24447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50000"/>
              </a:spcBef>
              <a:spcAft>
                <a:spcPct val="0"/>
              </a:spcAft>
              <a:buClr>
                <a:srgbClr val="0000CC"/>
              </a:buClr>
              <a:buSzPct val="75000"/>
              <a:buNone/>
            </a:pPr>
            <a:r>
              <a:rPr lang="zh-CN" altLang="en-US" sz="1600" dirty="0">
                <a:ea typeface="楷体_GB2312"/>
              </a:rPr>
              <a:t>默认优先级</a:t>
            </a:r>
            <a:endParaRPr lang="zh-CN" altLang="en-US" sz="1600" dirty="0">
              <a:ea typeface="楷体_GB2312"/>
            </a:endParaRPr>
          </a:p>
        </p:txBody>
      </p:sp>
      <p:sp>
        <p:nvSpPr>
          <p:cNvPr id="207921" name="Text Box 48"/>
          <p:cNvSpPr txBox="1"/>
          <p:nvPr/>
        </p:nvSpPr>
        <p:spPr>
          <a:xfrm>
            <a:off x="5580063" y="5105400"/>
            <a:ext cx="1757362" cy="24447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50000"/>
              </a:spcBef>
              <a:spcAft>
                <a:spcPct val="0"/>
              </a:spcAft>
              <a:buClr>
                <a:srgbClr val="0000CC"/>
              </a:buClr>
              <a:buSzPct val="75000"/>
              <a:buNone/>
            </a:pPr>
            <a:r>
              <a:rPr lang="zh-CN" altLang="en-US" sz="1600" dirty="0">
                <a:ea typeface="楷体_GB2312"/>
              </a:rPr>
              <a:t>优先级可编程改变</a:t>
            </a:r>
            <a:endParaRPr lang="zh-CN" altLang="en-US" sz="1600" dirty="0">
              <a:ea typeface="楷体_GB2312"/>
            </a:endParaRPr>
          </a:p>
        </p:txBody>
      </p:sp>
    </p:spTree>
  </p:cSld>
  <p:clrMapOvr>
    <a:masterClrMapping/>
  </p:clrMapOvr>
  <p:transition spd="slow">
    <p:zoom/>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8"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08899" name="Rectangle 3"/>
          <p:cNvSpPr>
            <a:spLocks noGrp="1" noRot="1"/>
          </p:cNvSpPr>
          <p:nvPr>
            <p:ph type="body" idx="4294967295"/>
          </p:nvPr>
        </p:nvSpPr>
        <p:spPr>
          <a:xfrm>
            <a:off x="0" y="2017713"/>
            <a:ext cx="8955088" cy="4114800"/>
          </a:xfrm>
        </p:spPr>
        <p:txBody>
          <a:bodyPr vert="horz" wrap="square" lIns="91440" tIns="45720" rIns="91440" bIns="45720" anchor="t" anchorCtr="0"/>
          <a:p>
            <a:pPr lvl="1" eaLnBrk="1" hangingPunct="1"/>
            <a:r>
              <a:rPr lang="zh-CN" altLang="en-US" dirty="0"/>
              <a:t>循环优先级方式 </a:t>
            </a:r>
            <a:endParaRPr lang="zh-CN" altLang="en-US" dirty="0"/>
          </a:p>
          <a:p>
            <a:pPr marL="914400" lvl="2" indent="0" eaLnBrk="1" hangingPunct="1">
              <a:buNone/>
            </a:pPr>
            <a:r>
              <a:rPr lang="zh-CN" altLang="en-US" dirty="0"/>
              <a:t>中断源轮流处于最高优先级，即</a:t>
            </a:r>
            <a:r>
              <a:rPr lang="zh-CN" altLang="en-US" dirty="0">
                <a:solidFill>
                  <a:schemeClr val="bg2"/>
                </a:solidFill>
              </a:rPr>
              <a:t>自动中断优先级循环</a:t>
            </a:r>
            <a:endParaRPr lang="zh-CN" altLang="en-US" dirty="0"/>
          </a:p>
          <a:p>
            <a:pPr marL="914400" lvl="2" indent="0" eaLnBrk="1" hangingPunct="1">
              <a:buNone/>
            </a:pPr>
            <a:r>
              <a:rPr lang="zh-CN" altLang="en-US" dirty="0"/>
              <a:t>初始优先级顺序可用编程改变，即</a:t>
            </a:r>
            <a:r>
              <a:rPr lang="zh-CN" altLang="en-US" dirty="0">
                <a:solidFill>
                  <a:schemeClr val="bg2"/>
                </a:solidFill>
              </a:rPr>
              <a:t>特殊优先级循环</a:t>
            </a:r>
            <a:endParaRPr lang="zh-CN" altLang="en-US" dirty="0"/>
          </a:p>
          <a:p>
            <a:pPr lvl="2" eaLnBrk="1" hangingPunct="1"/>
            <a:r>
              <a:rPr lang="zh-CN" altLang="en-US" dirty="0"/>
              <a:t>某中断请求</a:t>
            </a:r>
            <a:r>
              <a:rPr lang="en-GB" altLang="en-US" dirty="0"/>
              <a:t>IR</a:t>
            </a:r>
            <a:r>
              <a:rPr lang="en-GB" altLang="en-US" baseline="-25000" dirty="0"/>
              <a:t>i</a:t>
            </a:r>
            <a:r>
              <a:rPr lang="zh-CN" altLang="en-US" dirty="0"/>
              <a:t>被处理后，其优先级别自动降为最低，原来比它低一级的中断上升为最高级 </a:t>
            </a:r>
            <a:endParaRPr lang="zh-CN" altLang="en-US" dirty="0"/>
          </a:p>
        </p:txBody>
      </p:sp>
      <p:sp>
        <p:nvSpPr>
          <p:cNvPr id="208900" name="Rectangle 4"/>
          <p:cNvSpPr/>
          <p:nvPr/>
        </p:nvSpPr>
        <p:spPr>
          <a:xfrm>
            <a:off x="1022350" y="4105275"/>
            <a:ext cx="390525"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7</a:t>
            </a:r>
            <a:endParaRPr lang="en-US" altLang="zh-CN" sz="1600" dirty="0">
              <a:solidFill>
                <a:schemeClr val="tx1"/>
              </a:solidFill>
              <a:ea typeface="楷体_GB2312"/>
            </a:endParaRPr>
          </a:p>
        </p:txBody>
      </p:sp>
      <p:sp>
        <p:nvSpPr>
          <p:cNvPr id="208901" name="Rectangle 5"/>
          <p:cNvSpPr/>
          <p:nvPr/>
        </p:nvSpPr>
        <p:spPr>
          <a:xfrm>
            <a:off x="1412875" y="4105275"/>
            <a:ext cx="392113"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hlink"/>
                </a:solidFill>
                <a:ea typeface="楷体_GB2312"/>
              </a:rPr>
              <a:t>IR</a:t>
            </a:r>
            <a:r>
              <a:rPr lang="en-US" altLang="zh-CN" sz="1600" baseline="-25000" dirty="0">
                <a:solidFill>
                  <a:schemeClr val="hlink"/>
                </a:solidFill>
                <a:ea typeface="楷体_GB2312"/>
              </a:rPr>
              <a:t>6</a:t>
            </a:r>
            <a:endParaRPr lang="en-US" altLang="zh-CN" sz="1600" baseline="-25000" dirty="0">
              <a:solidFill>
                <a:schemeClr val="hlink"/>
              </a:solidFill>
              <a:ea typeface="楷体_GB2312"/>
            </a:endParaRPr>
          </a:p>
        </p:txBody>
      </p:sp>
      <p:sp>
        <p:nvSpPr>
          <p:cNvPr id="208902" name="Rectangle 6"/>
          <p:cNvSpPr/>
          <p:nvPr/>
        </p:nvSpPr>
        <p:spPr>
          <a:xfrm>
            <a:off x="1804988" y="4105275"/>
            <a:ext cx="390525"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5</a:t>
            </a:r>
            <a:endParaRPr lang="en-US" altLang="zh-CN" sz="1600" baseline="-25000" dirty="0">
              <a:solidFill>
                <a:schemeClr val="tx1"/>
              </a:solidFill>
              <a:ea typeface="楷体_GB2312"/>
            </a:endParaRPr>
          </a:p>
        </p:txBody>
      </p:sp>
      <p:sp>
        <p:nvSpPr>
          <p:cNvPr id="208903" name="Rectangle 7"/>
          <p:cNvSpPr/>
          <p:nvPr/>
        </p:nvSpPr>
        <p:spPr>
          <a:xfrm>
            <a:off x="2195513" y="4105275"/>
            <a:ext cx="392112"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hlink"/>
                </a:solidFill>
                <a:ea typeface="楷体_GB2312"/>
              </a:rPr>
              <a:t>IR</a:t>
            </a:r>
            <a:r>
              <a:rPr lang="en-US" altLang="zh-CN" sz="1600" baseline="-25000" dirty="0">
                <a:solidFill>
                  <a:schemeClr val="hlink"/>
                </a:solidFill>
                <a:ea typeface="楷体_GB2312"/>
              </a:rPr>
              <a:t>4</a:t>
            </a:r>
            <a:endParaRPr lang="en-US" altLang="zh-CN" sz="1600" baseline="-25000" dirty="0">
              <a:solidFill>
                <a:schemeClr val="hlink"/>
              </a:solidFill>
              <a:ea typeface="楷体_GB2312"/>
            </a:endParaRPr>
          </a:p>
        </p:txBody>
      </p:sp>
      <p:sp>
        <p:nvSpPr>
          <p:cNvPr id="208904" name="Rectangle 8"/>
          <p:cNvSpPr/>
          <p:nvPr/>
        </p:nvSpPr>
        <p:spPr>
          <a:xfrm>
            <a:off x="2587625" y="4105275"/>
            <a:ext cx="393700"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3</a:t>
            </a:r>
            <a:endParaRPr lang="en-US" altLang="zh-CN" sz="1600" baseline="-25000" dirty="0">
              <a:solidFill>
                <a:schemeClr val="tx1"/>
              </a:solidFill>
              <a:ea typeface="楷体_GB2312"/>
            </a:endParaRPr>
          </a:p>
        </p:txBody>
      </p:sp>
      <p:sp>
        <p:nvSpPr>
          <p:cNvPr id="208905" name="Rectangle 9"/>
          <p:cNvSpPr/>
          <p:nvPr/>
        </p:nvSpPr>
        <p:spPr>
          <a:xfrm>
            <a:off x="2981325" y="4105275"/>
            <a:ext cx="388938"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2</a:t>
            </a:r>
            <a:endParaRPr lang="en-US" altLang="zh-CN" sz="1600" baseline="-25000" dirty="0">
              <a:solidFill>
                <a:schemeClr val="tx1"/>
              </a:solidFill>
              <a:ea typeface="楷体_GB2312"/>
            </a:endParaRPr>
          </a:p>
        </p:txBody>
      </p:sp>
      <p:sp>
        <p:nvSpPr>
          <p:cNvPr id="208906" name="Rectangle 10"/>
          <p:cNvSpPr/>
          <p:nvPr/>
        </p:nvSpPr>
        <p:spPr>
          <a:xfrm>
            <a:off x="3370263" y="4105275"/>
            <a:ext cx="390525"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1</a:t>
            </a:r>
            <a:endParaRPr lang="en-US" altLang="zh-CN" sz="1600" baseline="-25000" dirty="0">
              <a:solidFill>
                <a:schemeClr val="tx1"/>
              </a:solidFill>
              <a:ea typeface="楷体_GB2312"/>
            </a:endParaRPr>
          </a:p>
        </p:txBody>
      </p:sp>
      <p:sp>
        <p:nvSpPr>
          <p:cNvPr id="208907" name="Rectangle 11"/>
          <p:cNvSpPr/>
          <p:nvPr/>
        </p:nvSpPr>
        <p:spPr>
          <a:xfrm>
            <a:off x="3760788" y="4105275"/>
            <a:ext cx="395287"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0</a:t>
            </a:r>
            <a:endParaRPr lang="en-US" altLang="zh-CN" sz="1600" baseline="-25000" dirty="0">
              <a:solidFill>
                <a:schemeClr val="tx1"/>
              </a:solidFill>
              <a:ea typeface="楷体_GB2312"/>
            </a:endParaRPr>
          </a:p>
        </p:txBody>
      </p:sp>
      <p:sp>
        <p:nvSpPr>
          <p:cNvPr id="208908" name="Rectangle 12"/>
          <p:cNvSpPr/>
          <p:nvPr/>
        </p:nvSpPr>
        <p:spPr>
          <a:xfrm>
            <a:off x="1041400" y="4838700"/>
            <a:ext cx="388938"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7</a:t>
            </a:r>
            <a:endParaRPr lang="en-US" altLang="zh-CN" sz="1600" dirty="0">
              <a:solidFill>
                <a:schemeClr val="tx1"/>
              </a:solidFill>
              <a:ea typeface="楷体_GB2312"/>
            </a:endParaRPr>
          </a:p>
        </p:txBody>
      </p:sp>
      <p:sp>
        <p:nvSpPr>
          <p:cNvPr id="208909" name="Rectangle 13"/>
          <p:cNvSpPr/>
          <p:nvPr/>
        </p:nvSpPr>
        <p:spPr>
          <a:xfrm>
            <a:off x="1430338" y="4838700"/>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6</a:t>
            </a:r>
            <a:endParaRPr lang="en-US" altLang="zh-CN" sz="1600" dirty="0">
              <a:solidFill>
                <a:schemeClr val="tx1"/>
              </a:solidFill>
              <a:ea typeface="楷体_GB2312"/>
            </a:endParaRPr>
          </a:p>
        </p:txBody>
      </p:sp>
      <p:sp>
        <p:nvSpPr>
          <p:cNvPr id="208910" name="Rectangle 14"/>
          <p:cNvSpPr/>
          <p:nvPr/>
        </p:nvSpPr>
        <p:spPr>
          <a:xfrm>
            <a:off x="1824038" y="4838700"/>
            <a:ext cx="388937"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5</a:t>
            </a:r>
            <a:endParaRPr lang="en-US" altLang="zh-CN" sz="1600" dirty="0">
              <a:solidFill>
                <a:schemeClr val="tx1"/>
              </a:solidFill>
              <a:ea typeface="楷体_GB2312"/>
            </a:endParaRPr>
          </a:p>
        </p:txBody>
      </p:sp>
      <p:sp>
        <p:nvSpPr>
          <p:cNvPr id="208911" name="Rectangle 15"/>
          <p:cNvSpPr/>
          <p:nvPr/>
        </p:nvSpPr>
        <p:spPr>
          <a:xfrm>
            <a:off x="2212975" y="4838700"/>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4</a:t>
            </a:r>
            <a:endParaRPr lang="en-US" altLang="zh-CN" sz="1600" dirty="0">
              <a:solidFill>
                <a:schemeClr val="tx1"/>
              </a:solidFill>
              <a:ea typeface="楷体_GB2312"/>
            </a:endParaRPr>
          </a:p>
        </p:txBody>
      </p:sp>
      <p:sp>
        <p:nvSpPr>
          <p:cNvPr id="208912" name="Rectangle 16"/>
          <p:cNvSpPr/>
          <p:nvPr/>
        </p:nvSpPr>
        <p:spPr>
          <a:xfrm>
            <a:off x="2606675" y="4838700"/>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3</a:t>
            </a:r>
            <a:endParaRPr lang="en-US" altLang="zh-CN" sz="1600" dirty="0">
              <a:solidFill>
                <a:schemeClr val="tx1"/>
              </a:solidFill>
              <a:ea typeface="楷体_GB2312"/>
            </a:endParaRPr>
          </a:p>
        </p:txBody>
      </p:sp>
      <p:sp>
        <p:nvSpPr>
          <p:cNvPr id="208913" name="Rectangle 17"/>
          <p:cNvSpPr/>
          <p:nvPr/>
        </p:nvSpPr>
        <p:spPr>
          <a:xfrm>
            <a:off x="3000375" y="4838700"/>
            <a:ext cx="385763"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2</a:t>
            </a:r>
            <a:endParaRPr lang="en-US" altLang="zh-CN" sz="1600" dirty="0">
              <a:solidFill>
                <a:schemeClr val="tx1"/>
              </a:solidFill>
              <a:ea typeface="楷体_GB2312"/>
            </a:endParaRPr>
          </a:p>
        </p:txBody>
      </p:sp>
      <p:sp>
        <p:nvSpPr>
          <p:cNvPr id="208914" name="Rectangle 18"/>
          <p:cNvSpPr/>
          <p:nvPr/>
        </p:nvSpPr>
        <p:spPr>
          <a:xfrm>
            <a:off x="3386138" y="4838700"/>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1</a:t>
            </a:r>
            <a:endParaRPr lang="en-US" altLang="zh-CN" sz="1600" dirty="0">
              <a:solidFill>
                <a:schemeClr val="tx1"/>
              </a:solidFill>
              <a:ea typeface="楷体_GB2312"/>
            </a:endParaRPr>
          </a:p>
        </p:txBody>
      </p:sp>
      <p:sp>
        <p:nvSpPr>
          <p:cNvPr id="208915" name="Rectangle 19"/>
          <p:cNvSpPr/>
          <p:nvPr/>
        </p:nvSpPr>
        <p:spPr>
          <a:xfrm>
            <a:off x="3779838" y="4838700"/>
            <a:ext cx="395287"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8916" name="Rectangle 20"/>
          <p:cNvSpPr/>
          <p:nvPr/>
        </p:nvSpPr>
        <p:spPr>
          <a:xfrm>
            <a:off x="5543550" y="4838700"/>
            <a:ext cx="388938"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2</a:t>
            </a:r>
            <a:endParaRPr lang="en-US" altLang="zh-CN" sz="1600" dirty="0">
              <a:solidFill>
                <a:schemeClr val="tx1"/>
              </a:solidFill>
              <a:ea typeface="楷体_GB2312"/>
            </a:endParaRPr>
          </a:p>
        </p:txBody>
      </p:sp>
      <p:sp>
        <p:nvSpPr>
          <p:cNvPr id="208917" name="Rectangle 21"/>
          <p:cNvSpPr/>
          <p:nvPr/>
        </p:nvSpPr>
        <p:spPr>
          <a:xfrm>
            <a:off x="5932488" y="4838700"/>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1</a:t>
            </a:r>
            <a:endParaRPr lang="en-US" altLang="zh-CN" sz="1600" dirty="0">
              <a:solidFill>
                <a:schemeClr val="tx1"/>
              </a:solidFill>
              <a:ea typeface="楷体_GB2312"/>
            </a:endParaRPr>
          </a:p>
        </p:txBody>
      </p:sp>
      <p:sp>
        <p:nvSpPr>
          <p:cNvPr id="208918" name="Rectangle 22"/>
          <p:cNvSpPr/>
          <p:nvPr/>
        </p:nvSpPr>
        <p:spPr>
          <a:xfrm>
            <a:off x="6326188" y="4838700"/>
            <a:ext cx="388937"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8919" name="Rectangle 23"/>
          <p:cNvSpPr/>
          <p:nvPr/>
        </p:nvSpPr>
        <p:spPr>
          <a:xfrm>
            <a:off x="6715125" y="4838700"/>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7</a:t>
            </a:r>
            <a:endParaRPr lang="en-US" altLang="zh-CN" sz="1600" dirty="0">
              <a:solidFill>
                <a:schemeClr val="tx1"/>
              </a:solidFill>
              <a:ea typeface="楷体_GB2312"/>
            </a:endParaRPr>
          </a:p>
        </p:txBody>
      </p:sp>
      <p:sp>
        <p:nvSpPr>
          <p:cNvPr id="208920" name="Rectangle 24"/>
          <p:cNvSpPr/>
          <p:nvPr/>
        </p:nvSpPr>
        <p:spPr>
          <a:xfrm>
            <a:off x="7108825" y="4838700"/>
            <a:ext cx="392113"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6</a:t>
            </a:r>
            <a:endParaRPr lang="en-US" altLang="zh-CN" sz="1600" dirty="0">
              <a:solidFill>
                <a:schemeClr val="tx1"/>
              </a:solidFill>
              <a:ea typeface="楷体_GB2312"/>
            </a:endParaRPr>
          </a:p>
        </p:txBody>
      </p:sp>
      <p:sp>
        <p:nvSpPr>
          <p:cNvPr id="208921" name="Rectangle 25"/>
          <p:cNvSpPr/>
          <p:nvPr/>
        </p:nvSpPr>
        <p:spPr>
          <a:xfrm>
            <a:off x="7500938" y="4838700"/>
            <a:ext cx="388937"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5</a:t>
            </a:r>
            <a:endParaRPr lang="en-US" altLang="zh-CN" sz="1600" dirty="0">
              <a:solidFill>
                <a:schemeClr val="tx1"/>
              </a:solidFill>
              <a:ea typeface="楷体_GB2312"/>
            </a:endParaRPr>
          </a:p>
        </p:txBody>
      </p:sp>
      <p:sp>
        <p:nvSpPr>
          <p:cNvPr id="208922" name="Rectangle 26"/>
          <p:cNvSpPr/>
          <p:nvPr/>
        </p:nvSpPr>
        <p:spPr>
          <a:xfrm>
            <a:off x="7889875" y="4838700"/>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4</a:t>
            </a:r>
            <a:endParaRPr lang="en-US" altLang="zh-CN" sz="1600" dirty="0">
              <a:solidFill>
                <a:schemeClr val="tx1"/>
              </a:solidFill>
              <a:ea typeface="楷体_GB2312"/>
            </a:endParaRPr>
          </a:p>
        </p:txBody>
      </p:sp>
      <p:sp>
        <p:nvSpPr>
          <p:cNvPr id="208923" name="Rectangle 27"/>
          <p:cNvSpPr/>
          <p:nvPr/>
        </p:nvSpPr>
        <p:spPr>
          <a:xfrm>
            <a:off x="8283575" y="4838700"/>
            <a:ext cx="393700" cy="406400"/>
          </a:xfrm>
          <a:prstGeom prst="rect">
            <a:avLst/>
          </a:prstGeom>
          <a:solidFill>
            <a:srgbClr val="99FFCC"/>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3</a:t>
            </a:r>
            <a:endParaRPr lang="en-US" altLang="zh-CN" sz="1600" dirty="0">
              <a:solidFill>
                <a:schemeClr val="tx1"/>
              </a:solidFill>
              <a:ea typeface="楷体_GB2312"/>
            </a:endParaRPr>
          </a:p>
        </p:txBody>
      </p:sp>
      <p:sp>
        <p:nvSpPr>
          <p:cNvPr id="208924" name="Line 28"/>
          <p:cNvSpPr/>
          <p:nvPr/>
        </p:nvSpPr>
        <p:spPr>
          <a:xfrm flipH="1" flipV="1">
            <a:off x="3973513" y="5245100"/>
            <a:ext cx="311150" cy="271463"/>
          </a:xfrm>
          <a:prstGeom prst="line">
            <a:avLst/>
          </a:prstGeom>
          <a:ln w="9525" cap="flat" cmpd="sng">
            <a:solidFill>
              <a:srgbClr val="000000"/>
            </a:solidFill>
            <a:prstDash val="solid"/>
            <a:bevel/>
            <a:headEnd type="none" w="med" len="med"/>
            <a:tailEnd type="triangle" w="sm" len="med"/>
          </a:ln>
        </p:spPr>
      </p:sp>
      <p:sp>
        <p:nvSpPr>
          <p:cNvPr id="208925" name="Line 29"/>
          <p:cNvSpPr/>
          <p:nvPr/>
        </p:nvSpPr>
        <p:spPr>
          <a:xfrm flipV="1">
            <a:off x="973138" y="5245100"/>
            <a:ext cx="260350" cy="271463"/>
          </a:xfrm>
          <a:prstGeom prst="line">
            <a:avLst/>
          </a:prstGeom>
          <a:ln w="9525" cap="flat" cmpd="sng">
            <a:solidFill>
              <a:srgbClr val="000000"/>
            </a:solidFill>
            <a:prstDash val="solid"/>
            <a:bevel/>
            <a:headEnd type="none" w="med" len="med"/>
            <a:tailEnd type="triangle" w="sm" len="med"/>
          </a:ln>
        </p:spPr>
      </p:sp>
      <p:sp>
        <p:nvSpPr>
          <p:cNvPr id="208926" name="Line 30"/>
          <p:cNvSpPr/>
          <p:nvPr/>
        </p:nvSpPr>
        <p:spPr>
          <a:xfrm flipV="1">
            <a:off x="6261100" y="5245100"/>
            <a:ext cx="252413" cy="271463"/>
          </a:xfrm>
          <a:prstGeom prst="line">
            <a:avLst/>
          </a:prstGeom>
          <a:ln w="9525" cap="flat" cmpd="sng">
            <a:solidFill>
              <a:srgbClr val="000000"/>
            </a:solidFill>
            <a:prstDash val="solid"/>
            <a:bevel/>
            <a:headEnd type="none" w="med" len="med"/>
            <a:tailEnd type="triangle" w="sm" len="med"/>
          </a:ln>
        </p:spPr>
      </p:sp>
      <p:sp>
        <p:nvSpPr>
          <p:cNvPr id="208927" name="Line 31"/>
          <p:cNvSpPr/>
          <p:nvPr/>
        </p:nvSpPr>
        <p:spPr>
          <a:xfrm flipH="1" flipV="1">
            <a:off x="6905625" y="5245100"/>
            <a:ext cx="292100" cy="271463"/>
          </a:xfrm>
          <a:prstGeom prst="line">
            <a:avLst/>
          </a:prstGeom>
          <a:ln w="9525" cap="flat" cmpd="sng">
            <a:solidFill>
              <a:srgbClr val="000000"/>
            </a:solidFill>
            <a:prstDash val="solid"/>
            <a:bevel/>
            <a:headEnd type="none" w="med" len="med"/>
            <a:tailEnd type="triangle" w="sm" len="med"/>
          </a:ln>
        </p:spPr>
      </p:sp>
      <p:sp>
        <p:nvSpPr>
          <p:cNvPr id="208928" name="Text Box 32"/>
          <p:cNvSpPr txBox="1"/>
          <p:nvPr/>
        </p:nvSpPr>
        <p:spPr>
          <a:xfrm>
            <a:off x="541338" y="5549900"/>
            <a:ext cx="790575"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50000"/>
              </a:spcBef>
              <a:spcAft>
                <a:spcPct val="0"/>
              </a:spcAft>
              <a:buClr>
                <a:srgbClr val="0000CC"/>
              </a:buClr>
              <a:buSzPct val="75000"/>
              <a:buNone/>
            </a:pPr>
            <a:r>
              <a:rPr lang="zh-CN" altLang="en-US" sz="1800" b="0" dirty="0">
                <a:solidFill>
                  <a:schemeClr val="tx1"/>
                </a:solidFill>
                <a:ea typeface="楷体_GB2312"/>
              </a:rPr>
              <a:t>最低级</a:t>
            </a:r>
            <a:endParaRPr lang="zh-CN" altLang="en-US" sz="1800" b="0" dirty="0">
              <a:solidFill>
                <a:schemeClr val="tx1"/>
              </a:solidFill>
              <a:ea typeface="楷体_GB2312"/>
            </a:endParaRPr>
          </a:p>
        </p:txBody>
      </p:sp>
      <p:sp>
        <p:nvSpPr>
          <p:cNvPr id="208929" name="Text Box 33"/>
          <p:cNvSpPr txBox="1"/>
          <p:nvPr/>
        </p:nvSpPr>
        <p:spPr>
          <a:xfrm>
            <a:off x="3852863" y="5516563"/>
            <a:ext cx="839787" cy="2746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50000"/>
              </a:spcBef>
              <a:spcAft>
                <a:spcPct val="0"/>
              </a:spcAft>
              <a:buClr>
                <a:srgbClr val="0000CC"/>
              </a:buClr>
              <a:buSzPct val="75000"/>
              <a:buNone/>
            </a:pPr>
            <a:r>
              <a:rPr lang="zh-CN" altLang="en-US" sz="1800" b="0" dirty="0">
                <a:solidFill>
                  <a:schemeClr val="tx1"/>
                </a:solidFill>
                <a:ea typeface="楷体_GB2312"/>
              </a:rPr>
              <a:t>最高级</a:t>
            </a:r>
            <a:endParaRPr lang="zh-CN" altLang="en-US" sz="1800" b="0" dirty="0">
              <a:solidFill>
                <a:schemeClr val="tx1"/>
              </a:solidFill>
              <a:ea typeface="楷体_GB2312"/>
            </a:endParaRPr>
          </a:p>
        </p:txBody>
      </p:sp>
      <p:sp>
        <p:nvSpPr>
          <p:cNvPr id="208930" name="Text Box 34"/>
          <p:cNvSpPr txBox="1"/>
          <p:nvPr/>
        </p:nvSpPr>
        <p:spPr>
          <a:xfrm>
            <a:off x="5829300" y="5516563"/>
            <a:ext cx="719138" cy="2746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50000"/>
              </a:spcBef>
              <a:spcAft>
                <a:spcPct val="0"/>
              </a:spcAft>
              <a:buClr>
                <a:srgbClr val="0000CC"/>
              </a:buClr>
              <a:buSzPct val="75000"/>
              <a:buNone/>
            </a:pPr>
            <a:r>
              <a:rPr lang="zh-CN" altLang="en-US" sz="1800" b="0" dirty="0">
                <a:solidFill>
                  <a:schemeClr val="tx1"/>
                </a:solidFill>
                <a:ea typeface="楷体_GB2312"/>
              </a:rPr>
              <a:t>最高级</a:t>
            </a:r>
            <a:endParaRPr lang="zh-CN" altLang="en-US" sz="1800" b="0" dirty="0">
              <a:solidFill>
                <a:schemeClr val="tx1"/>
              </a:solidFill>
              <a:ea typeface="楷体_GB2312"/>
            </a:endParaRPr>
          </a:p>
        </p:txBody>
      </p:sp>
      <p:sp>
        <p:nvSpPr>
          <p:cNvPr id="208931" name="Text Box 35"/>
          <p:cNvSpPr txBox="1"/>
          <p:nvPr/>
        </p:nvSpPr>
        <p:spPr>
          <a:xfrm>
            <a:off x="6908800" y="5516563"/>
            <a:ext cx="771525" cy="2746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50000"/>
              </a:spcBef>
              <a:spcAft>
                <a:spcPct val="0"/>
              </a:spcAft>
              <a:buClr>
                <a:srgbClr val="0000CC"/>
              </a:buClr>
              <a:buSzPct val="75000"/>
              <a:buNone/>
            </a:pPr>
            <a:r>
              <a:rPr lang="zh-CN" altLang="en-US" sz="1800" b="0" dirty="0">
                <a:solidFill>
                  <a:schemeClr val="tx1"/>
                </a:solidFill>
                <a:ea typeface="楷体_GB2312"/>
              </a:rPr>
              <a:t>最低级</a:t>
            </a:r>
            <a:endParaRPr lang="zh-CN" altLang="en-US" sz="1800" b="0" dirty="0">
              <a:solidFill>
                <a:schemeClr val="tx1"/>
              </a:solidFill>
              <a:ea typeface="楷体_GB2312"/>
            </a:endParaRPr>
          </a:p>
        </p:txBody>
      </p:sp>
      <p:sp>
        <p:nvSpPr>
          <p:cNvPr id="208932" name="Text Box 36"/>
          <p:cNvSpPr txBox="1"/>
          <p:nvPr/>
        </p:nvSpPr>
        <p:spPr>
          <a:xfrm>
            <a:off x="4457700" y="4518025"/>
            <a:ext cx="839788" cy="24447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
                <a:srgbClr val="0000CC"/>
              </a:buClr>
              <a:buSzPct val="75000"/>
              <a:buNone/>
            </a:pPr>
            <a:r>
              <a:rPr lang="en-US" altLang="zh-CN" sz="1600" dirty="0">
                <a:ea typeface="楷体_GB2312"/>
              </a:rPr>
              <a:t>ISR</a:t>
            </a:r>
            <a:r>
              <a:rPr lang="zh-CN" altLang="en-US" sz="1600" dirty="0">
                <a:ea typeface="楷体_GB2312"/>
              </a:rPr>
              <a:t>内容</a:t>
            </a:r>
            <a:endParaRPr lang="zh-CN" altLang="en-US" sz="1600" dirty="0">
              <a:ea typeface="楷体_GB2312"/>
            </a:endParaRPr>
          </a:p>
        </p:txBody>
      </p:sp>
      <p:sp>
        <p:nvSpPr>
          <p:cNvPr id="208933" name="Line 37"/>
          <p:cNvSpPr/>
          <p:nvPr/>
        </p:nvSpPr>
        <p:spPr>
          <a:xfrm>
            <a:off x="5219700" y="4652963"/>
            <a:ext cx="287338" cy="0"/>
          </a:xfrm>
          <a:prstGeom prst="line">
            <a:avLst/>
          </a:prstGeom>
          <a:ln w="9525" cap="flat" cmpd="sng">
            <a:solidFill>
              <a:schemeClr val="tx1"/>
            </a:solidFill>
            <a:prstDash val="solid"/>
            <a:bevel/>
            <a:headEnd type="none" w="med" len="med"/>
            <a:tailEnd type="triangle" w="med" len="med"/>
          </a:ln>
        </p:spPr>
      </p:sp>
      <p:sp>
        <p:nvSpPr>
          <p:cNvPr id="208934" name="Line 38"/>
          <p:cNvSpPr/>
          <p:nvPr/>
        </p:nvSpPr>
        <p:spPr>
          <a:xfrm flipH="1">
            <a:off x="4211638" y="4652963"/>
            <a:ext cx="288925" cy="0"/>
          </a:xfrm>
          <a:prstGeom prst="line">
            <a:avLst/>
          </a:prstGeom>
          <a:ln w="9525" cap="flat" cmpd="sng">
            <a:solidFill>
              <a:schemeClr val="tx1"/>
            </a:solidFill>
            <a:prstDash val="solid"/>
            <a:bevel/>
            <a:headEnd type="none" w="med" len="med"/>
            <a:tailEnd type="triangle" w="med" len="med"/>
          </a:ln>
        </p:spPr>
      </p:sp>
      <p:sp>
        <p:nvSpPr>
          <p:cNvPr id="208935" name="Rectangle 39"/>
          <p:cNvSpPr/>
          <p:nvPr/>
        </p:nvSpPr>
        <p:spPr>
          <a:xfrm>
            <a:off x="5516563" y="4105275"/>
            <a:ext cx="390525"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7</a:t>
            </a:r>
            <a:endParaRPr lang="en-US" altLang="zh-CN" sz="1600" dirty="0">
              <a:solidFill>
                <a:schemeClr val="tx1"/>
              </a:solidFill>
              <a:ea typeface="楷体_GB2312"/>
            </a:endParaRPr>
          </a:p>
        </p:txBody>
      </p:sp>
      <p:sp>
        <p:nvSpPr>
          <p:cNvPr id="208936" name="Rectangle 40"/>
          <p:cNvSpPr/>
          <p:nvPr/>
        </p:nvSpPr>
        <p:spPr>
          <a:xfrm>
            <a:off x="5907088" y="4105275"/>
            <a:ext cx="392112"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hlink"/>
                </a:solidFill>
                <a:ea typeface="楷体_GB2312"/>
              </a:rPr>
              <a:t>IR</a:t>
            </a:r>
            <a:r>
              <a:rPr lang="en-US" altLang="zh-CN" sz="1600" baseline="-25000" dirty="0">
                <a:solidFill>
                  <a:schemeClr val="hlink"/>
                </a:solidFill>
                <a:ea typeface="楷体_GB2312"/>
              </a:rPr>
              <a:t>6</a:t>
            </a:r>
            <a:endParaRPr lang="en-US" altLang="zh-CN" sz="1600" baseline="-25000" dirty="0">
              <a:solidFill>
                <a:schemeClr val="hlink"/>
              </a:solidFill>
              <a:ea typeface="楷体_GB2312"/>
            </a:endParaRPr>
          </a:p>
        </p:txBody>
      </p:sp>
      <p:sp>
        <p:nvSpPr>
          <p:cNvPr id="208937" name="Rectangle 41"/>
          <p:cNvSpPr/>
          <p:nvPr/>
        </p:nvSpPr>
        <p:spPr>
          <a:xfrm>
            <a:off x="6299200" y="4105275"/>
            <a:ext cx="390525"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5</a:t>
            </a:r>
            <a:endParaRPr lang="en-US" altLang="zh-CN" sz="1600" baseline="-25000" dirty="0">
              <a:solidFill>
                <a:schemeClr val="tx1"/>
              </a:solidFill>
              <a:ea typeface="楷体_GB2312"/>
            </a:endParaRPr>
          </a:p>
        </p:txBody>
      </p:sp>
      <p:sp>
        <p:nvSpPr>
          <p:cNvPr id="208938" name="Rectangle 42"/>
          <p:cNvSpPr/>
          <p:nvPr/>
        </p:nvSpPr>
        <p:spPr>
          <a:xfrm>
            <a:off x="6689725" y="4105275"/>
            <a:ext cx="392113"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4</a:t>
            </a:r>
            <a:endParaRPr lang="en-US" altLang="zh-CN" sz="1600" baseline="-25000" dirty="0">
              <a:solidFill>
                <a:schemeClr val="tx1"/>
              </a:solidFill>
              <a:ea typeface="楷体_GB2312"/>
            </a:endParaRPr>
          </a:p>
        </p:txBody>
      </p:sp>
      <p:sp>
        <p:nvSpPr>
          <p:cNvPr id="208939" name="Rectangle 43"/>
          <p:cNvSpPr/>
          <p:nvPr/>
        </p:nvSpPr>
        <p:spPr>
          <a:xfrm>
            <a:off x="7081838" y="4105275"/>
            <a:ext cx="393700"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3</a:t>
            </a:r>
            <a:endParaRPr lang="en-US" altLang="zh-CN" sz="1600" baseline="-25000" dirty="0">
              <a:solidFill>
                <a:schemeClr val="tx1"/>
              </a:solidFill>
              <a:ea typeface="楷体_GB2312"/>
            </a:endParaRPr>
          </a:p>
        </p:txBody>
      </p:sp>
      <p:sp>
        <p:nvSpPr>
          <p:cNvPr id="208940" name="Rectangle 44"/>
          <p:cNvSpPr/>
          <p:nvPr/>
        </p:nvSpPr>
        <p:spPr>
          <a:xfrm>
            <a:off x="7475538" y="4105275"/>
            <a:ext cx="388937"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2</a:t>
            </a:r>
            <a:endParaRPr lang="en-US" altLang="zh-CN" sz="1600" baseline="-25000" dirty="0">
              <a:solidFill>
                <a:schemeClr val="tx1"/>
              </a:solidFill>
              <a:ea typeface="楷体_GB2312"/>
            </a:endParaRPr>
          </a:p>
        </p:txBody>
      </p:sp>
      <p:sp>
        <p:nvSpPr>
          <p:cNvPr id="208941" name="Rectangle 45"/>
          <p:cNvSpPr/>
          <p:nvPr/>
        </p:nvSpPr>
        <p:spPr>
          <a:xfrm>
            <a:off x="7864475" y="4105275"/>
            <a:ext cx="390525"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1</a:t>
            </a:r>
            <a:endParaRPr lang="en-US" altLang="zh-CN" sz="1600" baseline="-25000" dirty="0">
              <a:solidFill>
                <a:schemeClr val="tx1"/>
              </a:solidFill>
              <a:ea typeface="楷体_GB2312"/>
            </a:endParaRPr>
          </a:p>
        </p:txBody>
      </p:sp>
      <p:sp>
        <p:nvSpPr>
          <p:cNvPr id="208942" name="Rectangle 46"/>
          <p:cNvSpPr/>
          <p:nvPr/>
        </p:nvSpPr>
        <p:spPr>
          <a:xfrm>
            <a:off x="8255000" y="4105275"/>
            <a:ext cx="395288" cy="40163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IR</a:t>
            </a:r>
            <a:r>
              <a:rPr lang="en-US" altLang="zh-CN" sz="1600" baseline="-25000" dirty="0">
                <a:solidFill>
                  <a:schemeClr val="tx1"/>
                </a:solidFill>
                <a:ea typeface="楷体_GB2312"/>
              </a:rPr>
              <a:t>0</a:t>
            </a:r>
            <a:endParaRPr lang="en-US" altLang="zh-CN" sz="1600" baseline="-25000" dirty="0">
              <a:solidFill>
                <a:schemeClr val="tx1"/>
              </a:solidFill>
              <a:ea typeface="楷体_GB2312"/>
            </a:endParaRPr>
          </a:p>
        </p:txBody>
      </p:sp>
      <p:sp>
        <p:nvSpPr>
          <p:cNvPr id="208943" name="Text Box 47"/>
          <p:cNvSpPr txBox="1"/>
          <p:nvPr/>
        </p:nvSpPr>
        <p:spPr>
          <a:xfrm>
            <a:off x="1187450" y="5949950"/>
            <a:ext cx="2967038" cy="24447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50000"/>
              </a:spcBef>
              <a:spcAft>
                <a:spcPct val="0"/>
              </a:spcAft>
              <a:buClr>
                <a:srgbClr val="0000CC"/>
              </a:buClr>
              <a:buSzPct val="75000"/>
              <a:buNone/>
            </a:pPr>
            <a:r>
              <a:rPr lang="en-US" altLang="zh-CN" sz="1600" dirty="0">
                <a:ea typeface="楷体_GB2312"/>
              </a:rPr>
              <a:t>IR4</a:t>
            </a:r>
            <a:r>
              <a:rPr lang="zh-CN" altLang="en-US" sz="1600" dirty="0">
                <a:ea typeface="楷体_GB2312"/>
              </a:rPr>
              <a:t>的服务结束以前</a:t>
            </a:r>
            <a:endParaRPr lang="zh-CN" altLang="en-US" sz="1600" dirty="0">
              <a:ea typeface="楷体_GB2312"/>
            </a:endParaRPr>
          </a:p>
        </p:txBody>
      </p:sp>
      <p:sp>
        <p:nvSpPr>
          <p:cNvPr id="208944" name="Rectangle 48"/>
          <p:cNvSpPr/>
          <p:nvPr/>
        </p:nvSpPr>
        <p:spPr>
          <a:xfrm>
            <a:off x="1041400" y="4437063"/>
            <a:ext cx="388938" cy="406400"/>
          </a:xfrm>
          <a:prstGeom prst="rect">
            <a:avLst/>
          </a:prstGeom>
          <a:solidFill>
            <a:srgbClr val="00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8945" name="Rectangle 49"/>
          <p:cNvSpPr/>
          <p:nvPr/>
        </p:nvSpPr>
        <p:spPr>
          <a:xfrm>
            <a:off x="1430338" y="4437063"/>
            <a:ext cx="393700" cy="406400"/>
          </a:xfrm>
          <a:prstGeom prst="rect">
            <a:avLst/>
          </a:prstGeom>
          <a:solidFill>
            <a:srgbClr val="FF8787"/>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1</a:t>
            </a:r>
            <a:endParaRPr lang="en-US" altLang="zh-CN" sz="1600" dirty="0">
              <a:solidFill>
                <a:schemeClr val="tx1"/>
              </a:solidFill>
              <a:ea typeface="楷体_GB2312"/>
            </a:endParaRPr>
          </a:p>
        </p:txBody>
      </p:sp>
      <p:sp>
        <p:nvSpPr>
          <p:cNvPr id="208946" name="Rectangle 50"/>
          <p:cNvSpPr/>
          <p:nvPr/>
        </p:nvSpPr>
        <p:spPr>
          <a:xfrm>
            <a:off x="1824038" y="4437063"/>
            <a:ext cx="388937" cy="406400"/>
          </a:xfrm>
          <a:prstGeom prst="rect">
            <a:avLst/>
          </a:prstGeom>
          <a:solidFill>
            <a:srgbClr val="00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8947" name="Rectangle 51"/>
          <p:cNvSpPr/>
          <p:nvPr/>
        </p:nvSpPr>
        <p:spPr>
          <a:xfrm>
            <a:off x="2212975" y="4437063"/>
            <a:ext cx="393700" cy="406400"/>
          </a:xfrm>
          <a:prstGeom prst="rect">
            <a:avLst/>
          </a:prstGeom>
          <a:solidFill>
            <a:srgbClr val="FF8787"/>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1</a:t>
            </a:r>
            <a:endParaRPr lang="en-US" altLang="zh-CN" sz="1600" dirty="0">
              <a:solidFill>
                <a:schemeClr val="tx1"/>
              </a:solidFill>
              <a:ea typeface="楷体_GB2312"/>
            </a:endParaRPr>
          </a:p>
        </p:txBody>
      </p:sp>
      <p:sp>
        <p:nvSpPr>
          <p:cNvPr id="208948" name="Rectangle 52"/>
          <p:cNvSpPr/>
          <p:nvPr/>
        </p:nvSpPr>
        <p:spPr>
          <a:xfrm>
            <a:off x="2606675" y="4437063"/>
            <a:ext cx="393700" cy="406400"/>
          </a:xfrm>
          <a:prstGeom prst="rect">
            <a:avLst/>
          </a:prstGeom>
          <a:solidFill>
            <a:srgbClr val="00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8949" name="Rectangle 53"/>
          <p:cNvSpPr/>
          <p:nvPr/>
        </p:nvSpPr>
        <p:spPr>
          <a:xfrm>
            <a:off x="3000375" y="4437063"/>
            <a:ext cx="385763" cy="406400"/>
          </a:xfrm>
          <a:prstGeom prst="rect">
            <a:avLst/>
          </a:prstGeom>
          <a:solidFill>
            <a:srgbClr val="00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8950" name="Rectangle 54"/>
          <p:cNvSpPr/>
          <p:nvPr/>
        </p:nvSpPr>
        <p:spPr>
          <a:xfrm>
            <a:off x="3386138" y="4437063"/>
            <a:ext cx="393700" cy="406400"/>
          </a:xfrm>
          <a:prstGeom prst="rect">
            <a:avLst/>
          </a:prstGeom>
          <a:solidFill>
            <a:srgbClr val="00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8951" name="Rectangle 55"/>
          <p:cNvSpPr/>
          <p:nvPr/>
        </p:nvSpPr>
        <p:spPr>
          <a:xfrm>
            <a:off x="3779838" y="4437063"/>
            <a:ext cx="395287" cy="406400"/>
          </a:xfrm>
          <a:prstGeom prst="rect">
            <a:avLst/>
          </a:prstGeom>
          <a:solidFill>
            <a:srgbClr val="00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8952" name="Rectangle 56"/>
          <p:cNvSpPr/>
          <p:nvPr/>
        </p:nvSpPr>
        <p:spPr>
          <a:xfrm>
            <a:off x="5543550" y="4437063"/>
            <a:ext cx="388938" cy="406400"/>
          </a:xfrm>
          <a:prstGeom prst="rect">
            <a:avLst/>
          </a:prstGeom>
          <a:solidFill>
            <a:srgbClr val="00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8953" name="Rectangle 57"/>
          <p:cNvSpPr/>
          <p:nvPr/>
        </p:nvSpPr>
        <p:spPr>
          <a:xfrm>
            <a:off x="5932488" y="4437063"/>
            <a:ext cx="393700" cy="406400"/>
          </a:xfrm>
          <a:prstGeom prst="rect">
            <a:avLst/>
          </a:prstGeom>
          <a:solidFill>
            <a:srgbClr val="FF8787"/>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1</a:t>
            </a:r>
            <a:endParaRPr lang="en-US" altLang="zh-CN" sz="1600" dirty="0">
              <a:solidFill>
                <a:schemeClr val="tx1"/>
              </a:solidFill>
              <a:ea typeface="楷体_GB2312"/>
            </a:endParaRPr>
          </a:p>
        </p:txBody>
      </p:sp>
      <p:sp>
        <p:nvSpPr>
          <p:cNvPr id="208954" name="Rectangle 58"/>
          <p:cNvSpPr/>
          <p:nvPr/>
        </p:nvSpPr>
        <p:spPr>
          <a:xfrm>
            <a:off x="6326188" y="4437063"/>
            <a:ext cx="388937" cy="406400"/>
          </a:xfrm>
          <a:prstGeom prst="rect">
            <a:avLst/>
          </a:prstGeom>
          <a:solidFill>
            <a:srgbClr val="00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8955" name="Rectangle 59"/>
          <p:cNvSpPr/>
          <p:nvPr/>
        </p:nvSpPr>
        <p:spPr>
          <a:xfrm>
            <a:off x="6715125" y="4437063"/>
            <a:ext cx="393700" cy="406400"/>
          </a:xfrm>
          <a:prstGeom prst="rect">
            <a:avLst/>
          </a:prstGeom>
          <a:solidFill>
            <a:srgbClr val="00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8956" name="Rectangle 60"/>
          <p:cNvSpPr/>
          <p:nvPr/>
        </p:nvSpPr>
        <p:spPr>
          <a:xfrm>
            <a:off x="7108825" y="4437063"/>
            <a:ext cx="392113" cy="406400"/>
          </a:xfrm>
          <a:prstGeom prst="rect">
            <a:avLst/>
          </a:prstGeom>
          <a:solidFill>
            <a:srgbClr val="00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8957" name="Rectangle 61"/>
          <p:cNvSpPr/>
          <p:nvPr/>
        </p:nvSpPr>
        <p:spPr>
          <a:xfrm>
            <a:off x="7500938" y="4437063"/>
            <a:ext cx="388937" cy="406400"/>
          </a:xfrm>
          <a:prstGeom prst="rect">
            <a:avLst/>
          </a:prstGeom>
          <a:solidFill>
            <a:srgbClr val="00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8958" name="Rectangle 62"/>
          <p:cNvSpPr/>
          <p:nvPr/>
        </p:nvSpPr>
        <p:spPr>
          <a:xfrm>
            <a:off x="7889875" y="4437063"/>
            <a:ext cx="393700" cy="406400"/>
          </a:xfrm>
          <a:prstGeom prst="rect">
            <a:avLst/>
          </a:prstGeom>
          <a:solidFill>
            <a:srgbClr val="00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8959" name="Rectangle 63"/>
          <p:cNvSpPr/>
          <p:nvPr/>
        </p:nvSpPr>
        <p:spPr>
          <a:xfrm>
            <a:off x="8283575" y="4437063"/>
            <a:ext cx="393700" cy="406400"/>
          </a:xfrm>
          <a:prstGeom prst="rect">
            <a:avLst/>
          </a:prstGeom>
          <a:solidFill>
            <a:srgbClr val="00FFFF"/>
          </a:solidFill>
          <a:ln w="9525"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600" dirty="0">
                <a:solidFill>
                  <a:schemeClr val="tx1"/>
                </a:solidFill>
                <a:ea typeface="楷体_GB2312"/>
              </a:rPr>
              <a:t>0</a:t>
            </a:r>
            <a:endParaRPr lang="en-US" altLang="zh-CN" sz="1600" dirty="0">
              <a:solidFill>
                <a:schemeClr val="tx1"/>
              </a:solidFill>
              <a:ea typeface="楷体_GB2312"/>
            </a:endParaRPr>
          </a:p>
        </p:txBody>
      </p:sp>
      <p:sp>
        <p:nvSpPr>
          <p:cNvPr id="208960" name="Text Box 64"/>
          <p:cNvSpPr txBox="1"/>
          <p:nvPr/>
        </p:nvSpPr>
        <p:spPr>
          <a:xfrm>
            <a:off x="5795963" y="6021388"/>
            <a:ext cx="2663825" cy="24447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50000"/>
              </a:spcBef>
              <a:spcAft>
                <a:spcPct val="0"/>
              </a:spcAft>
              <a:buClr>
                <a:srgbClr val="0000CC"/>
              </a:buClr>
              <a:buSzPct val="75000"/>
              <a:buNone/>
            </a:pPr>
            <a:r>
              <a:rPr lang="en-US" altLang="zh-CN" sz="1600" dirty="0">
                <a:ea typeface="楷体_GB2312"/>
              </a:rPr>
              <a:t>IR4</a:t>
            </a:r>
            <a:r>
              <a:rPr lang="zh-CN" altLang="en-US" sz="1600" dirty="0">
                <a:ea typeface="楷体_GB2312"/>
              </a:rPr>
              <a:t>的服务结束以后</a:t>
            </a:r>
            <a:endParaRPr lang="zh-CN" altLang="en-US" sz="1600" dirty="0">
              <a:ea typeface="楷体_GB2312"/>
            </a:endParaRPr>
          </a:p>
        </p:txBody>
      </p:sp>
      <p:sp>
        <p:nvSpPr>
          <p:cNvPr id="208961" name="Text Box 65"/>
          <p:cNvSpPr txBox="1"/>
          <p:nvPr/>
        </p:nvSpPr>
        <p:spPr>
          <a:xfrm>
            <a:off x="539750" y="4508500"/>
            <a:ext cx="479425" cy="24447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
                <a:srgbClr val="0000CC"/>
              </a:buClr>
              <a:buSzPct val="75000"/>
              <a:buNone/>
            </a:pPr>
            <a:r>
              <a:rPr lang="en-US" altLang="zh-CN" sz="1600" dirty="0">
                <a:ea typeface="楷体_GB2312"/>
              </a:rPr>
              <a:t>ISR</a:t>
            </a:r>
            <a:r>
              <a:rPr lang="en-US" altLang="zh-CN" sz="1400" dirty="0">
                <a:ea typeface="楷体_GB2312"/>
              </a:rPr>
              <a:t>i</a:t>
            </a:r>
            <a:endParaRPr lang="en-US" altLang="zh-CN" sz="1400" dirty="0">
              <a:ea typeface="楷体_GB2312"/>
            </a:endParaRPr>
          </a:p>
        </p:txBody>
      </p:sp>
    </p:spTree>
  </p:cSld>
  <p:clrMapOvr>
    <a:masterClrMapping/>
  </p:clrMapOvr>
  <p:transition spd="slow">
    <p:zoom/>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10948" name="Rectangle 3"/>
          <p:cNvSpPr>
            <a:spLocks noGrp="1" noRot="1" noChangeArrowheads="1"/>
          </p:cNvSpPr>
          <p:nvPr>
            <p:ph type="body" idx="4294967295"/>
          </p:nvPr>
        </p:nvSpPr>
        <p:spPr>
          <a:xfrm>
            <a:off x="-63500" y="1817688"/>
            <a:ext cx="9207500" cy="5040313"/>
          </a:xfrm>
        </p:spPr>
        <p:txBody>
          <a:bodyPr vert="horz" wrap="square" lIns="91440" tIns="45720" rIns="91440" bIns="45720" numCol="1" anchor="t" anchorCtr="0" compatLnSpc="1"/>
          <a:lstStyle/>
          <a:p>
            <a:pPr marL="0" marR="0" lvl="0" indent="0" algn="l" defTabSz="914400" rtl="0" eaLnBrk="1" fontAlgn="base" latinLnBrk="0" hangingPunct="1">
              <a:lnSpc>
                <a:spcPct val="110000"/>
              </a:lnSpc>
              <a:spcBef>
                <a:spcPct val="20000"/>
              </a:spcBef>
              <a:spcAft>
                <a:spcPct val="5000"/>
              </a:spcAft>
              <a:buClr>
                <a:schemeClr val="folHlink"/>
              </a:buClr>
              <a:buSzPct val="60000"/>
              <a:buFont typeface="Wingdings" panose="05000000000000000000" pitchFamily="2" charset="2"/>
              <a:buNone/>
              <a:defRPr/>
            </a:pPr>
            <a:r>
              <a:rPr kumimoji="0" lang="zh-CN" altLang="en-US" sz="2800" b="1" i="0" u="none" strike="noStrike" kern="1200" cap="none" spc="0" normalizeH="0" baseline="0" noProof="0" dirty="0" smtClean="0">
                <a:ln>
                  <a:noFill/>
                </a:ln>
                <a:solidFill>
                  <a:schemeClr val="tx2"/>
                </a:solidFill>
                <a:effectLst/>
                <a:uLnTx/>
                <a:uFillTx/>
                <a:latin typeface="+mn-lt"/>
                <a:ea typeface="+mn-ea"/>
                <a:cs typeface="+mn-cs"/>
              </a:rPr>
              <a:t>（</a:t>
            </a:r>
            <a:r>
              <a:rPr kumimoji="0" lang="en-US" altLang="zh-CN" sz="2800" b="1" i="0" u="none" strike="noStrike" kern="1200" cap="none" spc="0" normalizeH="0" baseline="0" noProof="0" dirty="0" smtClean="0">
                <a:ln>
                  <a:noFill/>
                </a:ln>
                <a:solidFill>
                  <a:schemeClr val="tx2"/>
                </a:solidFill>
                <a:effectLst/>
                <a:uLnTx/>
                <a:uFillTx/>
                <a:latin typeface="+mn-lt"/>
                <a:ea typeface="+mn-ea"/>
                <a:cs typeface="+mn-cs"/>
              </a:rPr>
              <a:t>2</a:t>
            </a:r>
            <a:r>
              <a:rPr kumimoji="0" lang="zh-CN" altLang="en-US" sz="2800" b="1" i="0" u="none" strike="noStrike" kern="1200" cap="none" spc="0" normalizeH="0" baseline="0" noProof="0" dirty="0" smtClean="0">
                <a:ln>
                  <a:noFill/>
                </a:ln>
                <a:solidFill>
                  <a:schemeClr val="tx2"/>
                </a:solidFill>
                <a:effectLst/>
                <a:uLnTx/>
                <a:uFillTx/>
                <a:latin typeface="+mn-lt"/>
                <a:ea typeface="+mn-ea"/>
                <a:cs typeface="+mn-cs"/>
              </a:rPr>
              <a:t>）中断</a:t>
            </a:r>
            <a:r>
              <a:rPr kumimoji="0" lang="zh-CN" altLang="en-US" sz="2800" b="1" i="0" u="none" strike="noStrike" kern="1200" cap="none" spc="0" normalizeH="0" baseline="0" noProof="0" dirty="0">
                <a:ln>
                  <a:noFill/>
                </a:ln>
                <a:solidFill>
                  <a:schemeClr val="tx2"/>
                </a:solidFill>
                <a:effectLst/>
                <a:uLnTx/>
                <a:uFillTx/>
                <a:latin typeface="+mn-lt"/>
                <a:ea typeface="+mn-ea"/>
                <a:cs typeface="+mn-cs"/>
              </a:rPr>
              <a:t>嵌套方式</a:t>
            </a:r>
            <a:endParaRPr kumimoji="0" lang="zh-CN" altLang="en-US" sz="2800" b="1" i="0" u="none" strike="noStrike" kern="1200" cap="none" spc="0" normalizeH="0" baseline="0" noProof="0" dirty="0">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5000"/>
              </a:spcAft>
              <a:buClr>
                <a:schemeClr val="hlink"/>
              </a:buClr>
              <a:buSzPct val="55000"/>
              <a:buFont typeface="Wingdings" panose="05000000000000000000" pitchFamily="2" charset="2"/>
              <a:buChar char="n"/>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在中断处理过程中允许被更高优先级的事件所中断称为中断嵌套。</a:t>
            </a:r>
            <a:r>
              <a:rPr kumimoji="0" lang="en-GB" altLang="en-US" sz="2000" b="1" i="0" u="none" strike="noStrike" kern="1200" cap="none" spc="0" normalizeH="0" baseline="0" noProof="0" dirty="0">
                <a:ln>
                  <a:noFill/>
                </a:ln>
                <a:solidFill>
                  <a:schemeClr val="tx1"/>
                </a:solidFill>
                <a:effectLst/>
                <a:uLnTx/>
                <a:uFillTx/>
                <a:latin typeface="+mn-lt"/>
                <a:ea typeface="+mn-ea"/>
                <a:cs typeface="+mn-cs"/>
              </a:rPr>
              <a:t>8259A</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有两种中断嵌套方式：</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base" latinLnBrk="0" hangingPunct="1">
              <a:lnSpc>
                <a:spcPct val="110000"/>
              </a:lnSpc>
              <a:spcBef>
                <a:spcPct val="20000"/>
              </a:spcBef>
              <a:spcAft>
                <a:spcPct val="5000"/>
              </a:spcAft>
              <a:buClr>
                <a:schemeClr val="hlink"/>
              </a:buClr>
              <a:buSzPct val="55000"/>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    </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）普通（一般）全嵌套方式（默认方式，简称为</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全嵌套方式</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base" latinLnBrk="0" hangingPunct="1">
              <a:lnSpc>
                <a:spcPct val="110000"/>
              </a:lnSpc>
              <a:spcBef>
                <a:spcPct val="20000"/>
              </a:spcBef>
              <a:spcAft>
                <a:spcPct val="5000"/>
              </a:spcAft>
              <a:buClr>
                <a:schemeClr val="hlink"/>
              </a:buClr>
              <a:buSzPct val="55000"/>
              <a:buFont typeface="Wingdings" panose="05000000000000000000" pitchFamily="2" charset="2"/>
              <a:buNone/>
              <a:defRPr/>
            </a:pPr>
            <a:r>
              <a:rPr kumimoji="0" lang="zh-CN" altLang="en-US" sz="2000" b="1" i="0" u="none" strike="noStrike" kern="1200" cap="none" spc="0" normalizeH="0" baseline="0" noProof="0" dirty="0">
                <a:ln>
                  <a:noFill/>
                </a:ln>
                <a:solidFill>
                  <a:srgbClr val="0000FF"/>
                </a:solidFill>
                <a:effectLst/>
                <a:uLnTx/>
                <a:uFillTx/>
                <a:latin typeface="+mn-lt"/>
                <a:ea typeface="+mn-ea"/>
                <a:cs typeface="+mn-cs"/>
              </a:rPr>
              <a:t>     中断正被处理时，只有更高优先级的事件可以打断当前的中断处理过程而被服务。优先级默认为：</a:t>
            </a:r>
            <a:r>
              <a:rPr kumimoji="0" lang="en-US" altLang="zh-CN" sz="2000" b="1" i="0" u="none" strike="noStrike" kern="1200" cap="none" spc="0" normalizeH="0" baseline="0" noProof="0" dirty="0">
                <a:ln>
                  <a:noFill/>
                </a:ln>
                <a:solidFill>
                  <a:srgbClr val="0000FF"/>
                </a:solidFill>
                <a:effectLst/>
                <a:uLnTx/>
                <a:uFillTx/>
                <a:latin typeface="+mn-lt"/>
                <a:ea typeface="+mn-ea"/>
                <a:cs typeface="+mn-cs"/>
              </a:rPr>
              <a:t>0~7</a:t>
            </a:r>
            <a:r>
              <a:rPr kumimoji="0" lang="zh-CN" altLang="en-US" sz="2000" b="1" i="0" u="none" strike="noStrike" kern="1200" cap="none" spc="0" normalizeH="0" baseline="0" noProof="0" dirty="0">
                <a:ln>
                  <a:noFill/>
                </a:ln>
                <a:solidFill>
                  <a:srgbClr val="0000FF"/>
                </a:solidFill>
                <a:effectLst/>
                <a:uLnTx/>
                <a:uFillTx/>
                <a:latin typeface="+mn-lt"/>
                <a:ea typeface="+mn-ea"/>
                <a:cs typeface="+mn-cs"/>
              </a:rPr>
              <a:t>（依次降低）。所以该模式也称为</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全嵌套优选权</a:t>
            </a: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模式</a:t>
            </a:r>
            <a:endParaRPr kumimoji="0" lang="en-US" altLang="zh-CN" sz="2000" b="1" i="0" u="none" strike="noStrike" kern="1200" cap="none" spc="0" normalizeH="0" baseline="0" noProof="0" dirty="0" smtClean="0">
              <a:ln>
                <a:noFill/>
              </a:ln>
              <a:solidFill>
                <a:schemeClr val="tx1"/>
              </a:solidFill>
              <a:effectLst/>
              <a:uLnTx/>
              <a:uFillTx/>
              <a:latin typeface="+mn-lt"/>
              <a:ea typeface="+mn-ea"/>
              <a:cs typeface="+mn-cs"/>
            </a:endParaRPr>
          </a:p>
          <a:p>
            <a:pPr marL="457200" marR="0" lvl="1" indent="0" algn="l" defTabSz="914400" rtl="0" eaLnBrk="1" fontAlgn="base" latinLnBrk="0" hangingPunct="1">
              <a:lnSpc>
                <a:spcPct val="110000"/>
              </a:lnSpc>
              <a:spcBef>
                <a:spcPct val="20000"/>
              </a:spcBef>
              <a:spcAft>
                <a:spcPct val="5000"/>
              </a:spcAft>
              <a:buClr>
                <a:schemeClr val="hlink"/>
              </a:buClr>
              <a:buSzPct val="55000"/>
              <a:buFont typeface="Wingdings" panose="05000000000000000000" pitchFamily="2" charset="2"/>
              <a:buNone/>
              <a:defRPr/>
            </a:pP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     此</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方式是</a:t>
            </a: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8259A</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在初始化时默认选择的方式</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。其特点是：</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IR0</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优先级最高，</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IR7</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优先级最低。在</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CPU</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中断服务期间，若有新的中断请求到来，只允许比当前服务的优先级更高的中断请求进入，对于“同级”或“低级”的中断请求则禁止响应</a:t>
            </a: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zoom/>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539750" y="2205038"/>
            <a:ext cx="7920038" cy="3876675"/>
          </a:xfrm>
          <a:prstGeom prst="rect">
            <a:avLst/>
          </a:prstGeom>
        </p:spPr>
        <p:txBody>
          <a:bodyPr wrap="square">
            <a:spAutoFit/>
          </a:bodyPr>
          <a:lstStyle/>
          <a:p>
            <a:pPr marL="457200" marR="0" lvl="1" indent="0" algn="l" defTabSz="914400" rtl="0" eaLnBrk="1" fontAlgn="base" latinLnBrk="0" hangingPunct="1">
              <a:lnSpc>
                <a:spcPct val="15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楷体_GB2312"/>
                <a:cs typeface="楷体_GB2312"/>
              </a:rPr>
              <a:t> 2</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楷体_GB2312"/>
                <a:cs typeface="楷体_GB2312"/>
              </a:rPr>
              <a:t>）特殊全嵌套方式 </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楷体_GB2312"/>
              <a:cs typeface="楷体_GB2312"/>
            </a:endParaRPr>
          </a:p>
          <a:p>
            <a:pPr marL="457200" marR="0" lvl="1" indent="0" algn="l" defTabSz="914400" rtl="0" eaLnBrk="1" fontAlgn="base" latinLnBrk="0" hangingPunct="1">
              <a:lnSpc>
                <a:spcPct val="150000"/>
              </a:lnSpc>
              <a:spcBef>
                <a:spcPct val="0"/>
              </a:spcBef>
              <a:spcAft>
                <a:spcPct val="0"/>
              </a:spcAft>
              <a:buClrTx/>
              <a:buSzTx/>
              <a:buFontTx/>
              <a:buNone/>
              <a:defRPr/>
            </a:pPr>
            <a:r>
              <a:rPr kumimoji="0" lang="zh-CN" altLang="en-US" sz="1800" b="0" i="0" u="none" strike="noStrike" kern="1200" cap="none" spc="0" normalizeH="0" baseline="0" noProof="0" dirty="0" smtClean="0">
                <a:ln>
                  <a:noFill/>
                </a:ln>
                <a:solidFill>
                  <a:srgbClr val="0000FF"/>
                </a:solidFill>
                <a:effectLst/>
                <a:uLnTx/>
                <a:uFillTx/>
                <a:latin typeface="+mn-ea"/>
                <a:ea typeface="+mn-ea"/>
                <a:cs typeface="楷体_GB2312"/>
              </a:rPr>
              <a:t>    其</a:t>
            </a:r>
            <a:r>
              <a:rPr kumimoji="0" lang="zh-CN" altLang="en-US" sz="1800" b="0" i="0" u="none" strike="noStrike" kern="1200" cap="none" spc="0" normalizeH="0" baseline="0" noProof="0" dirty="0">
                <a:ln>
                  <a:noFill/>
                </a:ln>
                <a:solidFill>
                  <a:srgbClr val="0000FF"/>
                </a:solidFill>
                <a:effectLst/>
                <a:uLnTx/>
                <a:uFillTx/>
                <a:latin typeface="+mn-ea"/>
                <a:ea typeface="+mn-ea"/>
                <a:cs typeface="楷体_GB2312"/>
              </a:rPr>
              <a:t>特点是：</a:t>
            </a:r>
            <a:r>
              <a:rPr kumimoji="0" lang="en-US" altLang="zh-CN" sz="1800" b="0" i="0" u="none" strike="noStrike" kern="1200" cap="none" spc="0" normalizeH="0" baseline="0" noProof="0" dirty="0">
                <a:ln>
                  <a:noFill/>
                </a:ln>
                <a:solidFill>
                  <a:srgbClr val="0000FF"/>
                </a:solidFill>
                <a:effectLst/>
                <a:uLnTx/>
                <a:uFillTx/>
                <a:latin typeface="+mn-ea"/>
                <a:ea typeface="+mn-ea"/>
                <a:cs typeface="楷体_GB2312"/>
              </a:rPr>
              <a:t>IR7</a:t>
            </a:r>
            <a:r>
              <a:rPr kumimoji="0" lang="zh-CN" altLang="en-US" sz="1800" b="0" i="0" u="none" strike="noStrike" kern="1200" cap="none" spc="0" normalizeH="0" baseline="0" noProof="0" dirty="0">
                <a:ln>
                  <a:noFill/>
                </a:ln>
                <a:solidFill>
                  <a:srgbClr val="0000FF"/>
                </a:solidFill>
                <a:effectLst/>
                <a:uLnTx/>
                <a:uFillTx/>
                <a:latin typeface="+mn-ea"/>
                <a:ea typeface="+mn-ea"/>
                <a:cs typeface="楷体_GB2312"/>
              </a:rPr>
              <a:t>～</a:t>
            </a:r>
            <a:r>
              <a:rPr kumimoji="0" lang="en-US" altLang="zh-CN" sz="1800" b="0" i="0" u="none" strike="noStrike" kern="1200" cap="none" spc="0" normalizeH="0" baseline="0" noProof="0" dirty="0">
                <a:ln>
                  <a:noFill/>
                </a:ln>
                <a:solidFill>
                  <a:srgbClr val="0000FF"/>
                </a:solidFill>
                <a:effectLst/>
                <a:uLnTx/>
                <a:uFillTx/>
                <a:latin typeface="+mn-ea"/>
                <a:ea typeface="+mn-ea"/>
                <a:cs typeface="楷体_GB2312"/>
              </a:rPr>
              <a:t>IR0 </a:t>
            </a:r>
            <a:r>
              <a:rPr kumimoji="0" lang="zh-CN" altLang="en-US" sz="1800" b="0" i="0" u="none" strike="noStrike" kern="1200" cap="none" spc="0" normalizeH="0" baseline="0" noProof="0" dirty="0">
                <a:ln>
                  <a:noFill/>
                </a:ln>
                <a:solidFill>
                  <a:srgbClr val="0000FF"/>
                </a:solidFill>
                <a:effectLst/>
                <a:uLnTx/>
                <a:uFillTx/>
                <a:latin typeface="+mn-ea"/>
                <a:ea typeface="+mn-ea"/>
                <a:cs typeface="楷体_GB2312"/>
              </a:rPr>
              <a:t>的优先级顺序与普通嵌套方式相同；不同之处是在</a:t>
            </a:r>
            <a:r>
              <a:rPr kumimoji="0" lang="en-US" altLang="zh-CN" sz="1800" b="0" i="0" u="none" strike="noStrike" kern="1200" cap="none" spc="0" normalizeH="0" baseline="0" noProof="0" dirty="0">
                <a:ln>
                  <a:noFill/>
                </a:ln>
                <a:solidFill>
                  <a:srgbClr val="0000FF"/>
                </a:solidFill>
                <a:effectLst/>
                <a:uLnTx/>
                <a:uFillTx/>
                <a:latin typeface="+mn-ea"/>
                <a:ea typeface="+mn-ea"/>
                <a:cs typeface="楷体_GB2312"/>
              </a:rPr>
              <a:t>CPU</a:t>
            </a:r>
            <a:r>
              <a:rPr kumimoji="0" lang="zh-CN" altLang="en-US" sz="1800" b="0" i="0" u="none" strike="noStrike" kern="1200" cap="none" spc="0" normalizeH="0" baseline="0" noProof="0" dirty="0">
                <a:ln>
                  <a:noFill/>
                </a:ln>
                <a:solidFill>
                  <a:srgbClr val="0000FF"/>
                </a:solidFill>
                <a:effectLst/>
                <a:uLnTx/>
                <a:uFillTx/>
                <a:latin typeface="+mn-ea"/>
                <a:ea typeface="+mn-ea"/>
                <a:cs typeface="楷体_GB2312"/>
              </a:rPr>
              <a:t>中断服务期间，除了允许高级别中断请求进入外，还允许同级中断请求进入，从而实现了对同级中断请求的特殊嵌套</a:t>
            </a:r>
            <a:r>
              <a:rPr kumimoji="0" lang="zh-CN" altLang="en-US" sz="1800" b="0" i="0" u="none" strike="noStrike" kern="1200" cap="none" spc="0" normalizeH="0" baseline="0" noProof="0" dirty="0" smtClean="0">
                <a:ln>
                  <a:noFill/>
                </a:ln>
                <a:solidFill>
                  <a:srgbClr val="0000FF"/>
                </a:solidFill>
                <a:effectLst/>
                <a:uLnTx/>
                <a:uFillTx/>
                <a:latin typeface="+mn-ea"/>
                <a:ea typeface="+mn-ea"/>
                <a:cs typeface="楷体_GB2312"/>
              </a:rPr>
              <a:t>。</a:t>
            </a:r>
            <a:endParaRPr kumimoji="0" lang="en-US" altLang="zh-CN" sz="1800" b="0" i="0" u="none" strike="noStrike" kern="1200" cap="none" spc="0" normalizeH="0" baseline="0" noProof="0" dirty="0" smtClean="0">
              <a:ln>
                <a:noFill/>
              </a:ln>
              <a:solidFill>
                <a:srgbClr val="0000FF"/>
              </a:solidFill>
              <a:effectLst/>
              <a:uLnTx/>
              <a:uFillTx/>
              <a:latin typeface="+mn-ea"/>
              <a:ea typeface="+mn-ea"/>
              <a:cs typeface="楷体_GB2312"/>
            </a:endParaRPr>
          </a:p>
          <a:p>
            <a:pPr marL="457200" marR="0" lvl="1" indent="0" algn="l" defTabSz="914400" rtl="0" eaLnBrk="1" fontAlgn="base" latinLnBrk="0" hangingPunct="1">
              <a:lnSpc>
                <a:spcPct val="15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FF"/>
                </a:solidFill>
                <a:effectLst/>
                <a:uLnTx/>
                <a:uFillTx/>
                <a:latin typeface="+mn-ea"/>
                <a:ea typeface="+mn-ea"/>
                <a:cs typeface="楷体_GB2312"/>
              </a:rPr>
              <a:t> </a:t>
            </a:r>
            <a:r>
              <a:rPr kumimoji="0" lang="en-US" altLang="zh-CN" sz="1800" b="0" i="0" u="none" strike="noStrike" kern="1200" cap="none" spc="0" normalizeH="0" baseline="0" noProof="0" dirty="0" smtClean="0">
                <a:ln>
                  <a:noFill/>
                </a:ln>
                <a:solidFill>
                  <a:srgbClr val="0000FF"/>
                </a:solidFill>
                <a:effectLst/>
                <a:uLnTx/>
                <a:uFillTx/>
                <a:latin typeface="+mn-ea"/>
                <a:ea typeface="+mn-ea"/>
                <a:cs typeface="楷体_GB2312"/>
              </a:rPr>
              <a:t>   </a:t>
            </a:r>
            <a:r>
              <a:rPr kumimoji="0" lang="zh-CN" altLang="en-US" sz="1800" b="0" i="0" u="none" strike="noStrike" kern="1200" cap="none" spc="0" normalizeH="0" baseline="0" noProof="0" dirty="0" smtClean="0">
                <a:ln>
                  <a:noFill/>
                </a:ln>
                <a:solidFill>
                  <a:srgbClr val="0000FF"/>
                </a:solidFill>
                <a:effectLst/>
                <a:uLnTx/>
                <a:uFillTx/>
                <a:latin typeface="+mn-ea"/>
                <a:ea typeface="+mn-ea"/>
                <a:cs typeface="楷体_GB2312"/>
              </a:rPr>
              <a:t>主要应用在</a:t>
            </a:r>
            <a:r>
              <a:rPr kumimoji="0" lang="zh-CN" altLang="en-US" sz="1800" b="0" i="0" u="none" strike="noStrike" kern="1200" cap="none" spc="0" normalizeH="0" baseline="0" noProof="0" dirty="0">
                <a:ln>
                  <a:noFill/>
                </a:ln>
                <a:solidFill>
                  <a:srgbClr val="0000FF"/>
                </a:solidFill>
                <a:effectLst/>
                <a:uLnTx/>
                <a:uFillTx/>
                <a:latin typeface="+mn-ea"/>
                <a:ea typeface="+mn-ea"/>
                <a:cs typeface="楷体_GB2312"/>
              </a:rPr>
              <a:t>多片</a:t>
            </a:r>
            <a:r>
              <a:rPr kumimoji="0" lang="en-US" altLang="zh-CN" sz="1800" b="0" i="0" u="none" strike="noStrike" kern="1200" cap="none" spc="0" normalizeH="0" baseline="0" noProof="0" dirty="0">
                <a:ln>
                  <a:noFill/>
                </a:ln>
                <a:solidFill>
                  <a:srgbClr val="0000FF"/>
                </a:solidFill>
                <a:effectLst/>
                <a:uLnTx/>
                <a:uFillTx/>
                <a:latin typeface="+mn-ea"/>
                <a:ea typeface="+mn-ea"/>
                <a:cs typeface="楷体_GB2312"/>
              </a:rPr>
              <a:t>8259A</a:t>
            </a:r>
            <a:r>
              <a:rPr kumimoji="0" lang="zh-CN" altLang="en-US" sz="1800" b="0" i="0" u="none" strike="noStrike" kern="1200" cap="none" spc="0" normalizeH="0" baseline="0" noProof="0" dirty="0">
                <a:ln>
                  <a:noFill/>
                </a:ln>
                <a:solidFill>
                  <a:srgbClr val="0000FF"/>
                </a:solidFill>
                <a:effectLst/>
                <a:uLnTx/>
                <a:uFillTx/>
                <a:latin typeface="+mn-ea"/>
                <a:ea typeface="+mn-ea"/>
                <a:cs typeface="楷体_GB2312"/>
              </a:rPr>
              <a:t>级联的情况，</a:t>
            </a:r>
            <a:r>
              <a:rPr kumimoji="0" lang="zh-CN" altLang="en-US" sz="1800" b="0" i="0" u="none" strike="noStrike" kern="1200" cap="none" spc="0" normalizeH="0" baseline="0" noProof="0" dirty="0" smtClean="0">
                <a:ln>
                  <a:noFill/>
                </a:ln>
                <a:solidFill>
                  <a:srgbClr val="FF0000"/>
                </a:solidFill>
                <a:effectLst/>
                <a:uLnTx/>
                <a:uFillTx/>
                <a:latin typeface="+mn-ea"/>
                <a:ea typeface="+mn-ea"/>
                <a:cs typeface="楷体_GB2312"/>
              </a:rPr>
              <a:t>主片设置</a:t>
            </a:r>
            <a:r>
              <a:rPr kumimoji="0" lang="zh-CN" altLang="en-US" sz="1800" b="0" i="0" u="none" strike="noStrike" kern="1200" cap="none" spc="0" normalizeH="0" baseline="0" noProof="0" dirty="0">
                <a:ln>
                  <a:noFill/>
                </a:ln>
                <a:solidFill>
                  <a:srgbClr val="FF0000"/>
                </a:solidFill>
                <a:effectLst/>
                <a:uLnTx/>
                <a:uFillTx/>
                <a:latin typeface="+mn-ea"/>
                <a:ea typeface="+mn-ea"/>
                <a:cs typeface="楷体_GB2312"/>
              </a:rPr>
              <a:t>为特殊完全嵌套方式，从片设置为普通嵌套方式。</a:t>
            </a:r>
            <a:r>
              <a:rPr kumimoji="0" lang="zh-CN" altLang="en-US" sz="1800" b="0" i="0" u="none" strike="noStrike" kern="1200" cap="none" spc="0" normalizeH="0" baseline="0" noProof="0" dirty="0">
                <a:ln>
                  <a:noFill/>
                </a:ln>
                <a:solidFill>
                  <a:srgbClr val="0000FF"/>
                </a:solidFill>
                <a:effectLst/>
                <a:uLnTx/>
                <a:uFillTx/>
                <a:latin typeface="+mn-ea"/>
                <a:ea typeface="+mn-ea"/>
                <a:cs typeface="楷体_GB2312"/>
              </a:rPr>
              <a:t>当主片响应某一个从片的中断请求时，从片中的 </a:t>
            </a:r>
            <a:r>
              <a:rPr kumimoji="0" lang="en-US" altLang="zh-CN" sz="1800" b="0" i="0" u="none" strike="noStrike" kern="1200" cap="none" spc="0" normalizeH="0" baseline="0" noProof="0" dirty="0">
                <a:ln>
                  <a:noFill/>
                </a:ln>
                <a:solidFill>
                  <a:srgbClr val="0000FF"/>
                </a:solidFill>
                <a:effectLst/>
                <a:uLnTx/>
                <a:uFillTx/>
                <a:latin typeface="+mn-ea"/>
                <a:ea typeface="+mn-ea"/>
                <a:cs typeface="楷体_GB2312"/>
              </a:rPr>
              <a:t>IR7</a:t>
            </a:r>
            <a:r>
              <a:rPr kumimoji="0" lang="zh-CN" altLang="en-US" sz="1800" b="0" i="0" u="none" strike="noStrike" kern="1200" cap="none" spc="0" normalizeH="0" baseline="0" noProof="0" dirty="0">
                <a:ln>
                  <a:noFill/>
                </a:ln>
                <a:solidFill>
                  <a:srgbClr val="0000FF"/>
                </a:solidFill>
                <a:effectLst/>
                <a:uLnTx/>
                <a:uFillTx/>
                <a:latin typeface="+mn-ea"/>
                <a:ea typeface="+mn-ea"/>
                <a:cs typeface="楷体_GB2312"/>
              </a:rPr>
              <a:t>～</a:t>
            </a:r>
            <a:r>
              <a:rPr kumimoji="0" lang="en-US" altLang="zh-CN" sz="1800" b="0" i="0" u="none" strike="noStrike" kern="1200" cap="none" spc="0" normalizeH="0" baseline="0" noProof="0" dirty="0">
                <a:ln>
                  <a:noFill/>
                </a:ln>
                <a:solidFill>
                  <a:srgbClr val="0000FF"/>
                </a:solidFill>
                <a:effectLst/>
                <a:uLnTx/>
                <a:uFillTx/>
                <a:latin typeface="+mn-ea"/>
                <a:ea typeface="+mn-ea"/>
                <a:cs typeface="楷体_GB2312"/>
              </a:rPr>
              <a:t>IR0 </a:t>
            </a:r>
            <a:r>
              <a:rPr kumimoji="0" lang="zh-CN" altLang="en-US" sz="1800" b="0" i="0" u="none" strike="noStrike" kern="1200" cap="none" spc="0" normalizeH="0" baseline="0" noProof="0" dirty="0">
                <a:ln>
                  <a:noFill/>
                </a:ln>
                <a:solidFill>
                  <a:srgbClr val="0000FF"/>
                </a:solidFill>
                <a:effectLst/>
                <a:uLnTx/>
                <a:uFillTx/>
                <a:latin typeface="+mn-ea"/>
                <a:ea typeface="+mn-ea"/>
                <a:cs typeface="楷体_GB2312"/>
              </a:rPr>
              <a:t>的请求都是通过主片中的某个</a:t>
            </a:r>
            <a:r>
              <a:rPr kumimoji="0" lang="en-US" altLang="zh-CN" sz="1800" b="0" i="0" u="none" strike="noStrike" kern="1200" cap="none" spc="0" normalizeH="0" baseline="0" noProof="0" dirty="0" err="1">
                <a:ln>
                  <a:noFill/>
                </a:ln>
                <a:solidFill>
                  <a:srgbClr val="0000FF"/>
                </a:solidFill>
                <a:effectLst/>
                <a:uLnTx/>
                <a:uFillTx/>
                <a:latin typeface="+mn-ea"/>
                <a:ea typeface="+mn-ea"/>
                <a:cs typeface="楷体_GB2312"/>
              </a:rPr>
              <a:t>IRi</a:t>
            </a:r>
            <a:r>
              <a:rPr kumimoji="0" lang="zh-CN" altLang="en-US" sz="1800" b="0" i="0" u="none" strike="noStrike" kern="1200" cap="none" spc="0" normalizeH="0" baseline="0" noProof="0" dirty="0">
                <a:ln>
                  <a:noFill/>
                </a:ln>
                <a:solidFill>
                  <a:srgbClr val="0000FF"/>
                </a:solidFill>
                <a:effectLst/>
                <a:uLnTx/>
                <a:uFillTx/>
                <a:latin typeface="+mn-ea"/>
                <a:ea typeface="+mn-ea"/>
                <a:cs typeface="楷体_GB2312"/>
              </a:rPr>
              <a:t>请求引入的。因此从片的 </a:t>
            </a:r>
            <a:r>
              <a:rPr kumimoji="0" lang="en-US" altLang="zh-CN" sz="1800" b="0" i="0" u="none" strike="noStrike" kern="1200" cap="none" spc="0" normalizeH="0" baseline="0" noProof="0" dirty="0">
                <a:ln>
                  <a:noFill/>
                </a:ln>
                <a:solidFill>
                  <a:srgbClr val="0000FF"/>
                </a:solidFill>
                <a:effectLst/>
                <a:uLnTx/>
                <a:uFillTx/>
                <a:latin typeface="+mn-ea"/>
                <a:ea typeface="+mn-ea"/>
                <a:cs typeface="楷体_GB2312"/>
              </a:rPr>
              <a:t>IR7</a:t>
            </a:r>
            <a:r>
              <a:rPr kumimoji="0" lang="zh-CN" altLang="en-US" sz="1800" b="0" i="0" u="none" strike="noStrike" kern="1200" cap="none" spc="0" normalizeH="0" baseline="0" noProof="0" dirty="0">
                <a:ln>
                  <a:noFill/>
                </a:ln>
                <a:solidFill>
                  <a:srgbClr val="0000FF"/>
                </a:solidFill>
                <a:effectLst/>
                <a:uLnTx/>
                <a:uFillTx/>
                <a:latin typeface="+mn-ea"/>
                <a:ea typeface="+mn-ea"/>
                <a:cs typeface="楷体_GB2312"/>
              </a:rPr>
              <a:t>～</a:t>
            </a:r>
            <a:r>
              <a:rPr kumimoji="0" lang="en-US" altLang="zh-CN" sz="1800" b="0" i="0" u="none" strike="noStrike" kern="1200" cap="none" spc="0" normalizeH="0" baseline="0" noProof="0" dirty="0">
                <a:ln>
                  <a:noFill/>
                </a:ln>
                <a:solidFill>
                  <a:srgbClr val="0000FF"/>
                </a:solidFill>
                <a:effectLst/>
                <a:uLnTx/>
                <a:uFillTx/>
                <a:latin typeface="+mn-ea"/>
                <a:ea typeface="+mn-ea"/>
                <a:cs typeface="楷体_GB2312"/>
              </a:rPr>
              <a:t>IR0 </a:t>
            </a:r>
            <a:r>
              <a:rPr kumimoji="0" lang="zh-CN" altLang="en-US" sz="1800" b="0" i="0" u="none" strike="noStrike" kern="1200" cap="none" spc="0" normalizeH="0" baseline="0" noProof="0" dirty="0">
                <a:ln>
                  <a:noFill/>
                </a:ln>
                <a:solidFill>
                  <a:srgbClr val="0000FF"/>
                </a:solidFill>
                <a:effectLst/>
                <a:uLnTx/>
                <a:uFillTx/>
                <a:latin typeface="+mn-ea"/>
                <a:ea typeface="+mn-ea"/>
                <a:cs typeface="楷体_GB2312"/>
              </a:rPr>
              <a:t>对于主片</a:t>
            </a:r>
            <a:r>
              <a:rPr kumimoji="0" lang="en-US" altLang="zh-CN" sz="1800" b="0" i="0" u="none" strike="noStrike" kern="1200" cap="none" spc="0" normalizeH="0" baseline="0" noProof="0" dirty="0" err="1">
                <a:ln>
                  <a:noFill/>
                </a:ln>
                <a:solidFill>
                  <a:srgbClr val="0000FF"/>
                </a:solidFill>
                <a:effectLst/>
                <a:uLnTx/>
                <a:uFillTx/>
                <a:latin typeface="+mn-ea"/>
                <a:ea typeface="+mn-ea"/>
                <a:cs typeface="楷体_GB2312"/>
              </a:rPr>
              <a:t>IRi</a:t>
            </a:r>
            <a:r>
              <a:rPr kumimoji="0" lang="zh-CN" altLang="en-US" sz="1800" b="0" i="0" u="none" strike="noStrike" kern="1200" cap="none" spc="0" normalizeH="0" baseline="0" noProof="0" dirty="0">
                <a:ln>
                  <a:noFill/>
                </a:ln>
                <a:solidFill>
                  <a:srgbClr val="0000FF"/>
                </a:solidFill>
                <a:effectLst/>
                <a:uLnTx/>
                <a:uFillTx/>
                <a:latin typeface="+mn-ea"/>
                <a:ea typeface="+mn-ea"/>
                <a:cs typeface="楷体_GB2312"/>
              </a:rPr>
              <a:t>来说，它们属于同级，只有主片工作于特殊完全嵌套方式时，从片才能实现完全嵌套</a:t>
            </a:r>
            <a:r>
              <a:rPr kumimoji="0" lang="zh-CN" altLang="en-US" sz="1800" b="0" i="0" u="none" strike="noStrike" kern="1200" cap="none" spc="0" normalizeH="0" baseline="0" noProof="0" dirty="0" smtClean="0">
                <a:ln>
                  <a:noFill/>
                </a:ln>
                <a:solidFill>
                  <a:srgbClr val="0000FF"/>
                </a:solidFill>
                <a:effectLst/>
                <a:uLnTx/>
                <a:uFillTx/>
                <a:latin typeface="+mn-ea"/>
                <a:ea typeface="+mn-ea"/>
                <a:cs typeface="楷体_GB2312"/>
              </a:rPr>
              <a:t>。</a:t>
            </a:r>
            <a:endParaRPr kumimoji="0" lang="zh-CN" altLang="en-US" sz="1800" b="0" i="0" u="none" strike="noStrike" kern="1200" cap="none" spc="0" normalizeH="0" baseline="0" noProof="0" dirty="0">
              <a:ln>
                <a:noFill/>
              </a:ln>
              <a:solidFill>
                <a:srgbClr val="0000FF"/>
              </a:solidFill>
              <a:effectLst/>
              <a:uLnTx/>
              <a:uFillTx/>
              <a:latin typeface="+mn-ea"/>
              <a:ea typeface="+mn-ea"/>
              <a:cs typeface="楷体_GB2312"/>
            </a:endParaRPr>
          </a:p>
        </p:txBody>
      </p:sp>
    </p:spTree>
  </p:cSld>
  <p:clrMapOvr>
    <a:masterClrMapping/>
  </p:clrMapOvr>
  <p:transition spd="slow">
    <p:zoom/>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143363" name="Text Box 2"/>
          <p:cNvSpPr txBox="1"/>
          <p:nvPr/>
        </p:nvSpPr>
        <p:spPr>
          <a:xfrm>
            <a:off x="2035175" y="5792788"/>
            <a:ext cx="304800" cy="37306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Bef>
                <a:spcPct val="0"/>
              </a:spcBef>
              <a:spcAft>
                <a:spcPct val="0"/>
              </a:spcAft>
              <a:buClr>
                <a:srgbClr val="0000CC"/>
              </a:buClr>
              <a:buSzPct val="75000"/>
              <a:buNone/>
            </a:pPr>
            <a:r>
              <a:rPr lang="en-US" altLang="zh-CN" sz="2400" dirty="0">
                <a:solidFill>
                  <a:srgbClr val="FF0000"/>
                </a:solidFill>
                <a:ea typeface="楷体_GB2312"/>
              </a:rPr>
              <a:t>D.</a:t>
            </a:r>
            <a:endParaRPr lang="en-US" altLang="zh-CN" sz="2400" dirty="0">
              <a:solidFill>
                <a:srgbClr val="FF0000"/>
              </a:solidFill>
              <a:ea typeface="楷体_GB2312"/>
            </a:endParaRPr>
          </a:p>
        </p:txBody>
      </p:sp>
      <p:sp>
        <p:nvSpPr>
          <p:cNvPr id="211972" name="Text Box 3"/>
          <p:cNvSpPr txBox="1"/>
          <p:nvPr/>
        </p:nvSpPr>
        <p:spPr>
          <a:xfrm>
            <a:off x="1028700" y="2001838"/>
            <a:ext cx="936625" cy="28892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800" dirty="0">
                <a:solidFill>
                  <a:schemeClr val="bg2"/>
                </a:solidFill>
                <a:latin typeface="Times New Roman" panose="02020603050405020304" pitchFamily="18" charset="0"/>
                <a:ea typeface="楷体_GB2312"/>
              </a:rPr>
              <a:t>主</a:t>
            </a:r>
            <a:r>
              <a:rPr lang="en-US" altLang="zh-CN" sz="1800" dirty="0">
                <a:solidFill>
                  <a:schemeClr val="bg2"/>
                </a:solidFill>
                <a:latin typeface="Times New Roman" panose="02020603050405020304" pitchFamily="18" charset="0"/>
                <a:ea typeface="楷体_GB2312"/>
              </a:rPr>
              <a:t>8259A</a:t>
            </a:r>
            <a:endParaRPr lang="en-US" altLang="zh-CN" sz="1800" dirty="0">
              <a:solidFill>
                <a:schemeClr val="bg2"/>
              </a:solidFill>
              <a:ea typeface="楷体_GB2312"/>
            </a:endParaRPr>
          </a:p>
        </p:txBody>
      </p:sp>
      <p:sp>
        <p:nvSpPr>
          <p:cNvPr id="143365" name="Oval 4"/>
          <p:cNvSpPr/>
          <p:nvPr/>
        </p:nvSpPr>
        <p:spPr>
          <a:xfrm>
            <a:off x="2109788" y="4149725"/>
            <a:ext cx="357187" cy="1454150"/>
          </a:xfrm>
          <a:prstGeom prst="ellipse">
            <a:avLst/>
          </a:prstGeom>
          <a:noFill/>
          <a:ln w="19050" cap="flat" cmpd="sng">
            <a:solidFill>
              <a:srgbClr val="0000FF"/>
            </a:solidFill>
            <a:prstDash val="dash"/>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11974" name="Rectangle 5"/>
          <p:cNvSpPr/>
          <p:nvPr/>
        </p:nvSpPr>
        <p:spPr>
          <a:xfrm>
            <a:off x="1038225" y="2287588"/>
            <a:ext cx="892175" cy="3959225"/>
          </a:xfrm>
          <a:prstGeom prst="rect">
            <a:avLst/>
          </a:prstGeom>
          <a:solidFill>
            <a:srgbClr val="00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11975" name="Rectangle 6"/>
          <p:cNvSpPr/>
          <p:nvPr/>
        </p:nvSpPr>
        <p:spPr>
          <a:xfrm>
            <a:off x="3894138" y="2287588"/>
            <a:ext cx="892175" cy="3959225"/>
          </a:xfrm>
          <a:prstGeom prst="rect">
            <a:avLst/>
          </a:prstGeom>
          <a:solidFill>
            <a:srgbClr val="00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143368" name="Line 7"/>
          <p:cNvSpPr/>
          <p:nvPr/>
        </p:nvSpPr>
        <p:spPr>
          <a:xfrm>
            <a:off x="1930400" y="4376738"/>
            <a:ext cx="1957388" cy="0"/>
          </a:xfrm>
          <a:prstGeom prst="line">
            <a:avLst/>
          </a:prstGeom>
          <a:ln w="28575" cap="flat" cmpd="sng">
            <a:solidFill>
              <a:srgbClr val="FF0000"/>
            </a:solidFill>
            <a:prstDash val="solid"/>
            <a:bevel/>
            <a:headEnd type="triangle" w="med" len="lg"/>
            <a:tailEnd type="none" w="med" len="med"/>
          </a:ln>
        </p:spPr>
      </p:sp>
      <p:sp>
        <p:nvSpPr>
          <p:cNvPr id="211977" name="Text Box 8"/>
          <p:cNvSpPr txBox="1"/>
          <p:nvPr/>
        </p:nvSpPr>
        <p:spPr>
          <a:xfrm>
            <a:off x="1504950" y="2794000"/>
            <a:ext cx="382588" cy="2881313"/>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IR0</a:t>
            </a: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IR1</a:t>
            </a: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IR2</a:t>
            </a: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IR3</a:t>
            </a: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IR4</a:t>
            </a: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IR5</a:t>
            </a: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IR6</a:t>
            </a: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IR7</a:t>
            </a:r>
            <a:endParaRPr lang="en-US" altLang="zh-CN" sz="1400" dirty="0">
              <a:solidFill>
                <a:schemeClr val="tx1"/>
              </a:solidFill>
              <a:ea typeface="楷体_GB2312"/>
            </a:endParaRPr>
          </a:p>
          <a:p>
            <a:pPr marL="342900" lvl="0" indent="-342900">
              <a:lnSpc>
                <a:spcPct val="88000"/>
              </a:lnSpc>
              <a:spcBef>
                <a:spcPct val="0"/>
              </a:spcBef>
              <a:spcAft>
                <a:spcPct val="0"/>
              </a:spcAft>
              <a:buClr>
                <a:srgbClr val="0000CC"/>
              </a:buClr>
              <a:buSzPct val="75000"/>
              <a:buFont typeface="Wingdings" panose="05000000000000000000" pitchFamily="2" charset="2"/>
              <a:buChar char="n"/>
            </a:pPr>
            <a:endParaRPr lang="en-US" altLang="zh-CN" sz="1400" dirty="0">
              <a:solidFill>
                <a:schemeClr val="tx1"/>
              </a:solidFill>
              <a:ea typeface="楷体_GB2312"/>
            </a:endParaRPr>
          </a:p>
        </p:txBody>
      </p:sp>
      <p:sp>
        <p:nvSpPr>
          <p:cNvPr id="211978" name="Line 9"/>
          <p:cNvSpPr/>
          <p:nvPr/>
        </p:nvSpPr>
        <p:spPr>
          <a:xfrm>
            <a:off x="1930400" y="2854325"/>
            <a:ext cx="357188" cy="0"/>
          </a:xfrm>
          <a:prstGeom prst="line">
            <a:avLst/>
          </a:prstGeom>
          <a:ln w="9525" cap="flat" cmpd="sng">
            <a:solidFill>
              <a:srgbClr val="000000"/>
            </a:solidFill>
            <a:prstDash val="solid"/>
            <a:bevel/>
            <a:headEnd type="none" w="med" len="med"/>
            <a:tailEnd type="none" w="med" len="med"/>
          </a:ln>
        </p:spPr>
      </p:sp>
      <p:sp>
        <p:nvSpPr>
          <p:cNvPr id="211979" name="Line 10"/>
          <p:cNvSpPr/>
          <p:nvPr/>
        </p:nvSpPr>
        <p:spPr>
          <a:xfrm>
            <a:off x="1930400" y="3230563"/>
            <a:ext cx="357188" cy="0"/>
          </a:xfrm>
          <a:prstGeom prst="line">
            <a:avLst/>
          </a:prstGeom>
          <a:ln w="9525" cap="flat" cmpd="sng">
            <a:solidFill>
              <a:srgbClr val="000000"/>
            </a:solidFill>
            <a:prstDash val="solid"/>
            <a:bevel/>
            <a:headEnd type="none" w="med" len="med"/>
            <a:tailEnd type="none" w="med" len="med"/>
          </a:ln>
        </p:spPr>
      </p:sp>
      <p:sp>
        <p:nvSpPr>
          <p:cNvPr id="211980" name="Line 11"/>
          <p:cNvSpPr/>
          <p:nvPr/>
        </p:nvSpPr>
        <p:spPr>
          <a:xfrm>
            <a:off x="1930400" y="3608388"/>
            <a:ext cx="357188" cy="0"/>
          </a:xfrm>
          <a:prstGeom prst="line">
            <a:avLst/>
          </a:prstGeom>
          <a:ln w="9525" cap="flat" cmpd="sng">
            <a:solidFill>
              <a:srgbClr val="000000"/>
            </a:solidFill>
            <a:prstDash val="solid"/>
            <a:bevel/>
            <a:headEnd type="none" w="med" len="med"/>
            <a:tailEnd type="none" w="med" len="med"/>
          </a:ln>
        </p:spPr>
      </p:sp>
      <p:sp>
        <p:nvSpPr>
          <p:cNvPr id="211981" name="Line 12"/>
          <p:cNvSpPr/>
          <p:nvPr/>
        </p:nvSpPr>
        <p:spPr>
          <a:xfrm>
            <a:off x="1930400" y="4003675"/>
            <a:ext cx="357188" cy="0"/>
          </a:xfrm>
          <a:prstGeom prst="line">
            <a:avLst/>
          </a:prstGeom>
          <a:ln w="9525" cap="flat" cmpd="sng">
            <a:solidFill>
              <a:srgbClr val="000000"/>
            </a:solidFill>
            <a:prstDash val="solid"/>
            <a:bevel/>
            <a:headEnd type="none" w="med" len="med"/>
            <a:tailEnd type="none" w="med" len="med"/>
          </a:ln>
        </p:spPr>
      </p:sp>
      <p:sp>
        <p:nvSpPr>
          <p:cNvPr id="211982" name="Line 13"/>
          <p:cNvSpPr/>
          <p:nvPr/>
        </p:nvSpPr>
        <p:spPr>
          <a:xfrm>
            <a:off x="1930400" y="5114925"/>
            <a:ext cx="357188" cy="0"/>
          </a:xfrm>
          <a:prstGeom prst="line">
            <a:avLst/>
          </a:prstGeom>
          <a:ln w="9525" cap="flat" cmpd="sng">
            <a:solidFill>
              <a:srgbClr val="000000"/>
            </a:solidFill>
            <a:prstDash val="solid"/>
            <a:bevel/>
            <a:headEnd type="none" w="med" len="med"/>
            <a:tailEnd type="none" w="med" len="med"/>
          </a:ln>
        </p:spPr>
      </p:sp>
      <p:sp>
        <p:nvSpPr>
          <p:cNvPr id="211983" name="Line 14"/>
          <p:cNvSpPr/>
          <p:nvPr/>
        </p:nvSpPr>
        <p:spPr>
          <a:xfrm>
            <a:off x="1930400" y="4738688"/>
            <a:ext cx="357188" cy="0"/>
          </a:xfrm>
          <a:prstGeom prst="line">
            <a:avLst/>
          </a:prstGeom>
          <a:ln w="9525" cap="flat" cmpd="sng">
            <a:solidFill>
              <a:srgbClr val="000000"/>
            </a:solidFill>
            <a:prstDash val="solid"/>
            <a:bevel/>
            <a:headEnd type="none" w="med" len="med"/>
            <a:tailEnd type="none" w="med" len="med"/>
          </a:ln>
        </p:spPr>
      </p:sp>
      <p:sp>
        <p:nvSpPr>
          <p:cNvPr id="211984" name="Line 15"/>
          <p:cNvSpPr/>
          <p:nvPr/>
        </p:nvSpPr>
        <p:spPr>
          <a:xfrm>
            <a:off x="1930400" y="5492750"/>
            <a:ext cx="357188" cy="0"/>
          </a:xfrm>
          <a:prstGeom prst="line">
            <a:avLst/>
          </a:prstGeom>
          <a:ln w="9525" cap="flat" cmpd="sng">
            <a:solidFill>
              <a:srgbClr val="000000"/>
            </a:solidFill>
            <a:prstDash val="solid"/>
            <a:bevel/>
            <a:headEnd type="none" w="med" len="med"/>
            <a:tailEnd type="none" w="med" len="med"/>
          </a:ln>
        </p:spPr>
      </p:sp>
      <p:sp>
        <p:nvSpPr>
          <p:cNvPr id="211985" name="Line 16"/>
          <p:cNvSpPr/>
          <p:nvPr/>
        </p:nvSpPr>
        <p:spPr>
          <a:xfrm>
            <a:off x="4786313" y="2854325"/>
            <a:ext cx="536575" cy="0"/>
          </a:xfrm>
          <a:prstGeom prst="line">
            <a:avLst/>
          </a:prstGeom>
          <a:ln w="9525" cap="flat" cmpd="sng">
            <a:solidFill>
              <a:srgbClr val="000000"/>
            </a:solidFill>
            <a:prstDash val="solid"/>
            <a:bevel/>
            <a:headEnd type="none" w="med" len="med"/>
            <a:tailEnd type="none" w="med" len="med"/>
          </a:ln>
        </p:spPr>
      </p:sp>
      <p:sp>
        <p:nvSpPr>
          <p:cNvPr id="211986" name="Line 17"/>
          <p:cNvSpPr/>
          <p:nvPr/>
        </p:nvSpPr>
        <p:spPr>
          <a:xfrm>
            <a:off x="4786313" y="3230563"/>
            <a:ext cx="536575" cy="0"/>
          </a:xfrm>
          <a:prstGeom prst="line">
            <a:avLst/>
          </a:prstGeom>
          <a:ln w="9525" cap="flat" cmpd="sng">
            <a:solidFill>
              <a:srgbClr val="000000"/>
            </a:solidFill>
            <a:prstDash val="solid"/>
            <a:bevel/>
            <a:headEnd type="none" w="med" len="med"/>
            <a:tailEnd type="none" w="med" len="med"/>
          </a:ln>
        </p:spPr>
      </p:sp>
      <p:sp>
        <p:nvSpPr>
          <p:cNvPr id="211987" name="Line 18"/>
          <p:cNvSpPr/>
          <p:nvPr/>
        </p:nvSpPr>
        <p:spPr>
          <a:xfrm>
            <a:off x="4786313" y="3608388"/>
            <a:ext cx="536575" cy="0"/>
          </a:xfrm>
          <a:prstGeom prst="line">
            <a:avLst/>
          </a:prstGeom>
          <a:ln w="9525" cap="flat" cmpd="sng">
            <a:solidFill>
              <a:srgbClr val="000000"/>
            </a:solidFill>
            <a:prstDash val="solid"/>
            <a:bevel/>
            <a:headEnd type="none" w="med" len="med"/>
            <a:tailEnd type="none" w="med" len="med"/>
          </a:ln>
        </p:spPr>
      </p:sp>
      <p:sp>
        <p:nvSpPr>
          <p:cNvPr id="143380" name="Line 19"/>
          <p:cNvSpPr/>
          <p:nvPr/>
        </p:nvSpPr>
        <p:spPr>
          <a:xfrm>
            <a:off x="4786313" y="3984625"/>
            <a:ext cx="1071562" cy="0"/>
          </a:xfrm>
          <a:prstGeom prst="line">
            <a:avLst/>
          </a:prstGeom>
          <a:ln w="28575" cap="flat" cmpd="sng">
            <a:solidFill>
              <a:srgbClr val="FF0000"/>
            </a:solidFill>
            <a:prstDash val="solid"/>
            <a:bevel/>
            <a:headEnd type="triangle" w="med" len="lg"/>
            <a:tailEnd type="none" w="med" len="med"/>
          </a:ln>
        </p:spPr>
      </p:sp>
      <p:sp>
        <p:nvSpPr>
          <p:cNvPr id="211989" name="Line 20"/>
          <p:cNvSpPr/>
          <p:nvPr/>
        </p:nvSpPr>
        <p:spPr>
          <a:xfrm>
            <a:off x="4786313" y="4362450"/>
            <a:ext cx="536575" cy="0"/>
          </a:xfrm>
          <a:prstGeom prst="line">
            <a:avLst/>
          </a:prstGeom>
          <a:ln w="9525" cap="flat" cmpd="sng">
            <a:solidFill>
              <a:srgbClr val="000000"/>
            </a:solidFill>
            <a:prstDash val="solid"/>
            <a:bevel/>
            <a:headEnd type="none" w="med" len="med"/>
            <a:tailEnd type="none" w="med" len="med"/>
          </a:ln>
        </p:spPr>
      </p:sp>
      <p:sp>
        <p:nvSpPr>
          <p:cNvPr id="211990" name="Line 21"/>
          <p:cNvSpPr/>
          <p:nvPr/>
        </p:nvSpPr>
        <p:spPr>
          <a:xfrm>
            <a:off x="4786313" y="4738688"/>
            <a:ext cx="536575" cy="0"/>
          </a:xfrm>
          <a:prstGeom prst="line">
            <a:avLst/>
          </a:prstGeom>
          <a:ln w="9525" cap="flat" cmpd="sng">
            <a:solidFill>
              <a:srgbClr val="000000"/>
            </a:solidFill>
            <a:prstDash val="solid"/>
            <a:bevel/>
            <a:headEnd type="none" w="med" len="med"/>
            <a:tailEnd type="none" w="med" len="med"/>
          </a:ln>
        </p:spPr>
      </p:sp>
      <p:sp>
        <p:nvSpPr>
          <p:cNvPr id="211991" name="Line 22"/>
          <p:cNvSpPr/>
          <p:nvPr/>
        </p:nvSpPr>
        <p:spPr>
          <a:xfrm>
            <a:off x="4786313" y="5114925"/>
            <a:ext cx="536575" cy="0"/>
          </a:xfrm>
          <a:prstGeom prst="line">
            <a:avLst/>
          </a:prstGeom>
          <a:ln w="9525" cap="flat" cmpd="sng">
            <a:solidFill>
              <a:srgbClr val="000000"/>
            </a:solidFill>
            <a:prstDash val="solid"/>
            <a:bevel/>
            <a:headEnd type="none" w="med" len="med"/>
            <a:tailEnd type="none" w="med" len="med"/>
          </a:ln>
        </p:spPr>
      </p:sp>
      <p:sp>
        <p:nvSpPr>
          <p:cNvPr id="211992" name="Line 23"/>
          <p:cNvSpPr/>
          <p:nvPr/>
        </p:nvSpPr>
        <p:spPr>
          <a:xfrm>
            <a:off x="4786313" y="5492750"/>
            <a:ext cx="536575" cy="0"/>
          </a:xfrm>
          <a:prstGeom prst="line">
            <a:avLst/>
          </a:prstGeom>
          <a:ln w="9525" cap="flat" cmpd="sng">
            <a:solidFill>
              <a:srgbClr val="000000"/>
            </a:solidFill>
            <a:prstDash val="solid"/>
            <a:bevel/>
            <a:headEnd type="none" w="med" len="med"/>
            <a:tailEnd type="none" w="med" len="med"/>
          </a:ln>
        </p:spPr>
      </p:sp>
      <p:sp>
        <p:nvSpPr>
          <p:cNvPr id="143385" name="Text Box 24"/>
          <p:cNvSpPr txBox="1"/>
          <p:nvPr/>
        </p:nvSpPr>
        <p:spPr>
          <a:xfrm>
            <a:off x="6215063" y="1125538"/>
            <a:ext cx="1812925" cy="1130300"/>
          </a:xfrm>
          <a:prstGeom prst="rect">
            <a:avLst/>
          </a:prstGeom>
          <a:solidFill>
            <a:srgbClr val="73FF73"/>
          </a:solidFill>
          <a:ln w="9525" cap="flat" cmpd="sng">
            <a:solidFill>
              <a:srgbClr val="000000"/>
            </a:solidFill>
            <a:prstDash val="solid"/>
            <a:miter/>
            <a:headEnd type="none" w="med" len="med"/>
            <a:tailEnd type="none" w="med" len="med"/>
          </a:ln>
        </p:spPr>
        <p:txBody>
          <a:bodyPr lIns="18000" tIns="0" rIns="1800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90000"/>
              </a:lnSpc>
              <a:spcBef>
                <a:spcPct val="0"/>
              </a:spcBef>
              <a:spcAft>
                <a:spcPct val="0"/>
              </a:spcAft>
              <a:buClr>
                <a:srgbClr val="0000CC"/>
              </a:buClr>
              <a:buSzPct val="75000"/>
              <a:buNone/>
            </a:pPr>
            <a:r>
              <a:rPr lang="zh-CN" altLang="en-US" sz="1600" dirty="0">
                <a:solidFill>
                  <a:srgbClr val="0000FF"/>
                </a:solidFill>
                <a:latin typeface="宋体" panose="02010600030101010101" pitchFamily="2" charset="-122"/>
                <a:ea typeface="楷体_GB2312"/>
              </a:rPr>
              <a:t>一般嵌套方式：</a:t>
            </a:r>
            <a:endParaRPr lang="zh-CN" altLang="en-US" sz="1600" dirty="0">
              <a:solidFill>
                <a:srgbClr val="0000FF"/>
              </a:solidFill>
              <a:latin typeface="宋体" panose="02010600030101010101" pitchFamily="2" charset="-122"/>
              <a:ea typeface="楷体_GB2312"/>
            </a:endParaRPr>
          </a:p>
          <a:p>
            <a:pPr marL="0" lvl="0" indent="0" algn="just">
              <a:lnSpc>
                <a:spcPct val="90000"/>
              </a:lnSpc>
              <a:spcBef>
                <a:spcPct val="0"/>
              </a:spcBef>
              <a:spcAft>
                <a:spcPct val="0"/>
              </a:spcAft>
              <a:buClr>
                <a:srgbClr val="0000CC"/>
              </a:buClr>
              <a:buSzPct val="75000"/>
              <a:buNone/>
            </a:pPr>
            <a:r>
              <a:rPr lang="zh-CN" altLang="en-US" sz="1600" dirty="0">
                <a:solidFill>
                  <a:srgbClr val="0000FF"/>
                </a:solidFill>
                <a:latin typeface="宋体" panose="02010600030101010101" pitchFamily="2" charset="-122"/>
                <a:ea typeface="楷体_GB2312"/>
              </a:rPr>
              <a:t>从片的</a:t>
            </a:r>
            <a:r>
              <a:rPr lang="en-US" altLang="zh-CN" sz="1600" dirty="0">
                <a:solidFill>
                  <a:srgbClr val="0000FF"/>
                </a:solidFill>
                <a:ea typeface="楷体_GB2312"/>
              </a:rPr>
              <a:t>INT</a:t>
            </a:r>
            <a:r>
              <a:rPr lang="zh-CN" altLang="en-US" sz="1600" dirty="0">
                <a:solidFill>
                  <a:srgbClr val="0000FF"/>
                </a:solidFill>
                <a:latin typeface="宋体" panose="02010600030101010101" pitchFamily="2" charset="-122"/>
                <a:ea typeface="楷体_GB2312"/>
              </a:rPr>
              <a:t>被主片封锁，故更</a:t>
            </a:r>
            <a:r>
              <a:rPr lang="zh-CN" altLang="en-US" sz="1600" dirty="0">
                <a:solidFill>
                  <a:srgbClr val="0000FF"/>
                </a:solidFill>
                <a:ea typeface="楷体_GB2312"/>
              </a:rPr>
              <a:t>高</a:t>
            </a:r>
            <a:r>
              <a:rPr lang="zh-CN" altLang="en-US" sz="1600" dirty="0">
                <a:solidFill>
                  <a:srgbClr val="0000FF"/>
                </a:solidFill>
                <a:latin typeface="宋体" panose="02010600030101010101" pitchFamily="2" charset="-122"/>
                <a:ea typeface="楷体_GB2312"/>
              </a:rPr>
              <a:t>级别的</a:t>
            </a:r>
            <a:r>
              <a:rPr lang="en-US" altLang="zh-CN" sz="1600" dirty="0">
                <a:solidFill>
                  <a:srgbClr val="0000FF"/>
                </a:solidFill>
                <a:ea typeface="楷体_GB2312"/>
              </a:rPr>
              <a:t>IR0-IR2</a:t>
            </a:r>
            <a:r>
              <a:rPr lang="zh-CN" altLang="en-US" sz="1600" dirty="0">
                <a:solidFill>
                  <a:srgbClr val="0000FF"/>
                </a:solidFill>
                <a:latin typeface="宋体" panose="02010600030101010101" pitchFamily="2" charset="-122"/>
                <a:ea typeface="楷体_GB2312"/>
              </a:rPr>
              <a:t>中断也无法得到响应</a:t>
            </a:r>
            <a:endParaRPr lang="zh-CN" altLang="en-US" sz="1600" dirty="0">
              <a:solidFill>
                <a:srgbClr val="0000FF"/>
              </a:solidFill>
              <a:latin typeface="宋体" panose="02010600030101010101" pitchFamily="2" charset="-122"/>
              <a:ea typeface="楷体_GB2312"/>
            </a:endParaRPr>
          </a:p>
        </p:txBody>
      </p:sp>
      <p:sp>
        <p:nvSpPr>
          <p:cNvPr id="143386" name="Line 25"/>
          <p:cNvSpPr/>
          <p:nvPr/>
        </p:nvSpPr>
        <p:spPr>
          <a:xfrm flipH="1">
            <a:off x="3276600" y="1628775"/>
            <a:ext cx="2879725" cy="2736850"/>
          </a:xfrm>
          <a:prstGeom prst="line">
            <a:avLst/>
          </a:prstGeom>
          <a:ln w="19050" cap="flat" cmpd="sng">
            <a:solidFill>
              <a:srgbClr val="0000FF"/>
            </a:solidFill>
            <a:prstDash val="dash"/>
            <a:bevel/>
            <a:headEnd type="none" w="med" len="med"/>
            <a:tailEnd type="triangle" w="sm" len="med"/>
          </a:ln>
        </p:spPr>
      </p:sp>
      <p:sp>
        <p:nvSpPr>
          <p:cNvPr id="143387" name="Line 26"/>
          <p:cNvSpPr/>
          <p:nvPr/>
        </p:nvSpPr>
        <p:spPr>
          <a:xfrm flipH="1">
            <a:off x="5500688" y="1700213"/>
            <a:ext cx="655637" cy="1452562"/>
          </a:xfrm>
          <a:prstGeom prst="line">
            <a:avLst/>
          </a:prstGeom>
          <a:ln w="19050" cap="flat" cmpd="sng">
            <a:solidFill>
              <a:srgbClr val="0000FF"/>
            </a:solidFill>
            <a:prstDash val="dash"/>
            <a:bevel/>
            <a:headEnd type="none" w="med" len="med"/>
            <a:tailEnd type="triangle" w="sm" len="med"/>
          </a:ln>
        </p:spPr>
      </p:sp>
      <p:sp>
        <p:nvSpPr>
          <p:cNvPr id="143388" name="AutoShape 27"/>
          <p:cNvSpPr/>
          <p:nvPr/>
        </p:nvSpPr>
        <p:spPr>
          <a:xfrm>
            <a:off x="5368925" y="2854325"/>
            <a:ext cx="177800" cy="754063"/>
          </a:xfrm>
          <a:prstGeom prst="rightBrace">
            <a:avLst>
              <a:gd name="adj1" fmla="val 35106"/>
              <a:gd name="adj2" fmla="val 50000"/>
            </a:avLst>
          </a:prstGeom>
          <a:noFill/>
          <a:ln w="28575" cap="flat" cmpd="sng">
            <a:solidFill>
              <a:srgbClr val="FF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143389" name="Text Box 28"/>
          <p:cNvSpPr txBox="1"/>
          <p:nvPr/>
        </p:nvSpPr>
        <p:spPr>
          <a:xfrm>
            <a:off x="6394450" y="5038725"/>
            <a:ext cx="2065338" cy="1343025"/>
          </a:xfrm>
          <a:prstGeom prst="rect">
            <a:avLst/>
          </a:prstGeom>
          <a:solidFill>
            <a:srgbClr val="73FF73"/>
          </a:solidFill>
          <a:ln w="9525" cap="flat" cmpd="sng">
            <a:solidFill>
              <a:srgbClr val="000000"/>
            </a:solidFill>
            <a:prstDash val="solid"/>
            <a:miter/>
            <a:headEnd type="none" w="med" len="med"/>
            <a:tailEnd type="none" w="med" len="med"/>
          </a:ln>
        </p:spPr>
        <p:txBody>
          <a:bodyPr lIns="18000" tIns="0" rIns="1800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90000"/>
              </a:lnSpc>
              <a:spcBef>
                <a:spcPct val="0"/>
              </a:spcBef>
              <a:spcAft>
                <a:spcPct val="0"/>
              </a:spcAft>
              <a:buClr>
                <a:srgbClr val="0000CC"/>
              </a:buClr>
              <a:buSzPct val="75000"/>
              <a:buNone/>
            </a:pPr>
            <a:r>
              <a:rPr lang="zh-CN" altLang="en-US" sz="1600" dirty="0">
                <a:solidFill>
                  <a:srgbClr val="0000FF"/>
                </a:solidFill>
                <a:latin typeface="宋体" panose="02010600030101010101" pitchFamily="2" charset="-122"/>
                <a:ea typeface="楷体_GB2312"/>
              </a:rPr>
              <a:t>特殊嵌套方式：</a:t>
            </a:r>
            <a:endParaRPr lang="zh-CN" altLang="en-US" sz="1600" dirty="0">
              <a:solidFill>
                <a:srgbClr val="0000FF"/>
              </a:solidFill>
              <a:latin typeface="宋体" panose="02010600030101010101" pitchFamily="2" charset="-122"/>
              <a:ea typeface="楷体_GB2312"/>
            </a:endParaRPr>
          </a:p>
          <a:p>
            <a:pPr marL="0" lvl="0" indent="0" algn="just">
              <a:lnSpc>
                <a:spcPct val="90000"/>
              </a:lnSpc>
              <a:spcBef>
                <a:spcPct val="0"/>
              </a:spcBef>
              <a:spcAft>
                <a:spcPct val="0"/>
              </a:spcAft>
              <a:buClr>
                <a:srgbClr val="0000CC"/>
              </a:buClr>
              <a:buSzPct val="75000"/>
              <a:buNone/>
            </a:pPr>
            <a:r>
              <a:rPr lang="zh-CN" altLang="en-US" sz="1600" dirty="0">
                <a:solidFill>
                  <a:srgbClr val="0000FF"/>
                </a:solidFill>
                <a:latin typeface="宋体" panose="02010600030101010101" pitchFamily="2" charset="-122"/>
                <a:ea typeface="楷体_GB2312"/>
              </a:rPr>
              <a:t>因主片不封锁从片的</a:t>
            </a:r>
            <a:r>
              <a:rPr lang="en-US" altLang="zh-CN" sz="1600" dirty="0">
                <a:solidFill>
                  <a:srgbClr val="0000FF"/>
                </a:solidFill>
                <a:ea typeface="楷体_GB2312"/>
              </a:rPr>
              <a:t>INT</a:t>
            </a:r>
            <a:r>
              <a:rPr lang="zh-CN" altLang="en-US" sz="1600" dirty="0">
                <a:solidFill>
                  <a:srgbClr val="0000FF"/>
                </a:solidFill>
                <a:latin typeface="宋体" panose="02010600030101010101" pitchFamily="2" charset="-122"/>
                <a:ea typeface="楷体_GB2312"/>
              </a:rPr>
              <a:t>，故级别高的</a:t>
            </a:r>
            <a:r>
              <a:rPr lang="en-US" altLang="zh-CN" sz="1600" dirty="0">
                <a:solidFill>
                  <a:srgbClr val="0000FF"/>
                </a:solidFill>
                <a:ea typeface="楷体_GB2312"/>
              </a:rPr>
              <a:t>IR0-IR2</a:t>
            </a:r>
            <a:r>
              <a:rPr lang="zh-CN" altLang="en-US" sz="1600" dirty="0">
                <a:solidFill>
                  <a:srgbClr val="0000FF"/>
                </a:solidFill>
                <a:latin typeface="宋体" panose="02010600030101010101" pitchFamily="2" charset="-122"/>
                <a:ea typeface="楷体_GB2312"/>
              </a:rPr>
              <a:t>中断可以得到响应。</a:t>
            </a:r>
            <a:r>
              <a:rPr lang="en-US" altLang="zh-CN" sz="1600" dirty="0">
                <a:solidFill>
                  <a:srgbClr val="0000FF"/>
                </a:solidFill>
                <a:latin typeface="宋体" panose="02010600030101010101" pitchFamily="2" charset="-122"/>
                <a:ea typeface="楷体_GB2312"/>
              </a:rPr>
              <a:t>(</a:t>
            </a:r>
            <a:r>
              <a:rPr lang="zh-CN" altLang="en-US" sz="1600" dirty="0">
                <a:solidFill>
                  <a:srgbClr val="0000FF"/>
                </a:solidFill>
                <a:latin typeface="宋体" panose="02010600030101010101" pitchFamily="2" charset="-122"/>
                <a:ea typeface="楷体_GB2312"/>
              </a:rPr>
              <a:t>但</a:t>
            </a:r>
            <a:r>
              <a:rPr lang="en-US" altLang="zh-CN" sz="1600" dirty="0">
                <a:solidFill>
                  <a:srgbClr val="0000FF"/>
                </a:solidFill>
                <a:ea typeface="楷体_GB2312"/>
              </a:rPr>
              <a:t>IR3-IR7</a:t>
            </a:r>
            <a:r>
              <a:rPr lang="zh-CN" altLang="en-US" sz="1600" dirty="0">
                <a:solidFill>
                  <a:srgbClr val="0000FF"/>
                </a:solidFill>
                <a:latin typeface="宋体" panose="02010600030101010101" pitchFamily="2" charset="-122"/>
                <a:ea typeface="楷体_GB2312"/>
              </a:rPr>
              <a:t>仍被本从片封锁</a:t>
            </a:r>
            <a:r>
              <a:rPr lang="en-US" altLang="zh-CN" sz="1600" dirty="0">
                <a:solidFill>
                  <a:srgbClr val="0000FF"/>
                </a:solidFill>
                <a:latin typeface="宋体" panose="02010600030101010101" pitchFamily="2" charset="-122"/>
                <a:ea typeface="楷体_GB2312"/>
              </a:rPr>
              <a:t>)</a:t>
            </a:r>
            <a:endParaRPr lang="en-US" altLang="zh-CN" sz="1600" dirty="0">
              <a:solidFill>
                <a:srgbClr val="0000FF"/>
              </a:solidFill>
              <a:latin typeface="宋体" panose="02010600030101010101" pitchFamily="2" charset="-122"/>
              <a:ea typeface="楷体_GB2312"/>
            </a:endParaRPr>
          </a:p>
        </p:txBody>
      </p:sp>
      <p:sp>
        <p:nvSpPr>
          <p:cNvPr id="143390" name="Line 29"/>
          <p:cNvSpPr/>
          <p:nvPr/>
        </p:nvSpPr>
        <p:spPr>
          <a:xfrm flipH="1" flipV="1">
            <a:off x="3348038" y="4437063"/>
            <a:ext cx="2952750" cy="1152525"/>
          </a:xfrm>
          <a:prstGeom prst="line">
            <a:avLst/>
          </a:prstGeom>
          <a:ln w="19050" cap="flat" cmpd="sng">
            <a:solidFill>
              <a:srgbClr val="0000FF"/>
            </a:solidFill>
            <a:prstDash val="dash"/>
            <a:bevel/>
            <a:headEnd type="none" w="med" len="med"/>
            <a:tailEnd type="triangle" w="sm" len="med"/>
          </a:ln>
        </p:spPr>
      </p:sp>
      <p:sp>
        <p:nvSpPr>
          <p:cNvPr id="143391" name="Text Box 30"/>
          <p:cNvSpPr txBox="1"/>
          <p:nvPr/>
        </p:nvSpPr>
        <p:spPr>
          <a:xfrm>
            <a:off x="5881688" y="1039813"/>
            <a:ext cx="360362" cy="36036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Bef>
                <a:spcPct val="0"/>
              </a:spcBef>
              <a:spcAft>
                <a:spcPct val="0"/>
              </a:spcAft>
              <a:buClr>
                <a:srgbClr val="0000CC"/>
              </a:buClr>
              <a:buSzPct val="75000"/>
              <a:buNone/>
            </a:pPr>
            <a:r>
              <a:rPr lang="en-US" altLang="zh-CN" sz="2400" dirty="0">
                <a:solidFill>
                  <a:srgbClr val="FF0000"/>
                </a:solidFill>
                <a:ea typeface="楷体_GB2312"/>
              </a:rPr>
              <a:t>C.</a:t>
            </a:r>
            <a:endParaRPr lang="en-US" altLang="zh-CN" sz="2400" dirty="0">
              <a:solidFill>
                <a:srgbClr val="FF0000"/>
              </a:solidFill>
              <a:ea typeface="楷体_GB2312"/>
            </a:endParaRPr>
          </a:p>
        </p:txBody>
      </p:sp>
      <p:sp>
        <p:nvSpPr>
          <p:cNvPr id="143392" name="AutoShape 31"/>
          <p:cNvSpPr/>
          <p:nvPr/>
        </p:nvSpPr>
        <p:spPr>
          <a:xfrm>
            <a:off x="6804025" y="2997200"/>
            <a:ext cx="2141538" cy="1508125"/>
          </a:xfrm>
          <a:prstGeom prst="cloudCallout">
            <a:avLst>
              <a:gd name="adj1" fmla="val -86398"/>
              <a:gd name="adj2" fmla="val 16949"/>
            </a:avLst>
          </a:prstGeom>
          <a:solidFill>
            <a:srgbClr val="73FF73"/>
          </a:solidFill>
          <a:ln w="952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Aft>
                <a:spcPct val="0"/>
              </a:spcAft>
              <a:buClr>
                <a:srgbClr val="0000CC"/>
              </a:buClr>
              <a:buSzPct val="75000"/>
            </a:pPr>
            <a:endParaRPr lang="zh-CN" altLang="zh-CN" sz="3200" b="0" dirty="0">
              <a:solidFill>
                <a:schemeClr val="tx1"/>
              </a:solidFill>
              <a:ea typeface="楷体_GB2312"/>
            </a:endParaRPr>
          </a:p>
        </p:txBody>
      </p:sp>
      <p:sp>
        <p:nvSpPr>
          <p:cNvPr id="143393" name="Text Box 32"/>
          <p:cNvSpPr txBox="1"/>
          <p:nvPr/>
        </p:nvSpPr>
        <p:spPr>
          <a:xfrm>
            <a:off x="7092950" y="3429000"/>
            <a:ext cx="1606550" cy="576263"/>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96000"/>
              </a:lnSpc>
              <a:spcAft>
                <a:spcPct val="0"/>
              </a:spcAft>
              <a:buClr>
                <a:srgbClr val="0000CC"/>
              </a:buClr>
              <a:buSzPct val="75000"/>
              <a:buNone/>
            </a:pPr>
            <a:r>
              <a:rPr lang="zh-CN" altLang="en-US" sz="1800" dirty="0">
                <a:solidFill>
                  <a:srgbClr val="0000FF"/>
                </a:solidFill>
                <a:latin typeface="Times New Roman" panose="02020603050405020304" pitchFamily="18" charset="0"/>
                <a:ea typeface="楷体_GB2312"/>
              </a:rPr>
              <a:t>假定</a:t>
            </a:r>
            <a:r>
              <a:rPr lang="en-GB" altLang="en-US" sz="1800" dirty="0">
                <a:solidFill>
                  <a:srgbClr val="0000FF"/>
                </a:solidFill>
                <a:ea typeface="楷体_GB2312"/>
              </a:rPr>
              <a:t>IR3</a:t>
            </a:r>
            <a:r>
              <a:rPr lang="zh-CN" altLang="en-US" sz="1800" dirty="0">
                <a:solidFill>
                  <a:srgbClr val="0000FF"/>
                </a:solidFill>
                <a:latin typeface="Times New Roman" panose="02020603050405020304" pitchFamily="18" charset="0"/>
                <a:ea typeface="楷体_GB2312"/>
              </a:rPr>
              <a:t>发生中断</a:t>
            </a:r>
            <a:r>
              <a:rPr lang="en-GB" altLang="en-US" sz="1800" dirty="0">
                <a:solidFill>
                  <a:srgbClr val="0000FF"/>
                </a:solidFill>
                <a:latin typeface="Times New Roman" panose="02020603050405020304" pitchFamily="18" charset="0"/>
                <a:ea typeface="楷体_GB2312"/>
              </a:rPr>
              <a:t>,</a:t>
            </a:r>
            <a:r>
              <a:rPr lang="zh-CN" altLang="en-US" sz="1800" dirty="0">
                <a:solidFill>
                  <a:srgbClr val="0000FF"/>
                </a:solidFill>
                <a:latin typeface="Times New Roman" panose="02020603050405020304" pitchFamily="18" charset="0"/>
                <a:ea typeface="楷体_GB2312"/>
              </a:rPr>
              <a:t>并获得服务</a:t>
            </a:r>
            <a:endParaRPr lang="zh-CN" altLang="en-US" sz="1800" b="0" dirty="0">
              <a:solidFill>
                <a:srgbClr val="0000FF"/>
              </a:solidFill>
              <a:ea typeface="楷体_GB2312"/>
            </a:endParaRPr>
          </a:p>
        </p:txBody>
      </p:sp>
      <p:sp>
        <p:nvSpPr>
          <p:cNvPr id="143394" name="Text Box 33"/>
          <p:cNvSpPr txBox="1"/>
          <p:nvPr/>
        </p:nvSpPr>
        <p:spPr>
          <a:xfrm>
            <a:off x="2268538" y="1125538"/>
            <a:ext cx="1619250" cy="936625"/>
          </a:xfrm>
          <a:prstGeom prst="rect">
            <a:avLst/>
          </a:prstGeom>
          <a:solidFill>
            <a:srgbClr val="73FF73"/>
          </a:solidFill>
          <a:ln w="9525" cap="flat" cmpd="sng">
            <a:solidFill>
              <a:srgbClr val="000000"/>
            </a:solidFill>
            <a:prstDash val="solid"/>
            <a:miter/>
            <a:headEnd type="none" w="med" len="med"/>
            <a:tailEnd type="none" w="med" len="med"/>
          </a:ln>
        </p:spPr>
        <p:txBody>
          <a:bodyPr lIns="18000" tIns="0" rIns="1800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90000"/>
              </a:lnSpc>
              <a:spcBef>
                <a:spcPct val="0"/>
              </a:spcBef>
              <a:spcAft>
                <a:spcPct val="0"/>
              </a:spcAft>
              <a:buClr>
                <a:srgbClr val="0000CC"/>
              </a:buClr>
              <a:buSzPct val="75000"/>
              <a:buNone/>
            </a:pPr>
            <a:r>
              <a:rPr lang="zh-CN" altLang="en-US" sz="1600" dirty="0">
                <a:solidFill>
                  <a:srgbClr val="0000FF"/>
                </a:solidFill>
                <a:latin typeface="宋体" panose="02010600030101010101" pitchFamily="2" charset="-122"/>
                <a:ea typeface="楷体_GB2312"/>
              </a:rPr>
              <a:t>一般嵌套方式：</a:t>
            </a:r>
            <a:r>
              <a:rPr lang="en-US" altLang="zh-CN" sz="1600" dirty="0">
                <a:solidFill>
                  <a:srgbClr val="0000FF"/>
                </a:solidFill>
                <a:ea typeface="楷体_GB2312"/>
              </a:rPr>
              <a:t>IR4</a:t>
            </a:r>
            <a:r>
              <a:rPr lang="zh-CN" altLang="en-US" sz="1600" dirty="0">
                <a:solidFill>
                  <a:srgbClr val="0000FF"/>
                </a:solidFill>
                <a:latin typeface="宋体" panose="02010600030101010101" pitchFamily="2" charset="-122"/>
                <a:ea typeface="楷体_GB2312"/>
              </a:rPr>
              <a:t>的中断被服务时，这些中断将被封锁。</a:t>
            </a:r>
            <a:endParaRPr lang="zh-CN" altLang="en-US" sz="1600" dirty="0">
              <a:solidFill>
                <a:srgbClr val="0000FF"/>
              </a:solidFill>
              <a:ea typeface="楷体_GB2312"/>
            </a:endParaRPr>
          </a:p>
        </p:txBody>
      </p:sp>
      <p:sp>
        <p:nvSpPr>
          <p:cNvPr id="143395" name="Line 34"/>
          <p:cNvSpPr/>
          <p:nvPr/>
        </p:nvSpPr>
        <p:spPr>
          <a:xfrm flipH="1">
            <a:off x="2411413" y="2133600"/>
            <a:ext cx="647700" cy="2016125"/>
          </a:xfrm>
          <a:prstGeom prst="line">
            <a:avLst/>
          </a:prstGeom>
          <a:ln w="19050" cap="flat" cmpd="sng">
            <a:solidFill>
              <a:srgbClr val="0000FF"/>
            </a:solidFill>
            <a:prstDash val="dash"/>
            <a:bevel/>
            <a:headEnd type="none" w="med" len="med"/>
            <a:tailEnd type="triangle" w="sm" len="med"/>
          </a:ln>
        </p:spPr>
      </p:sp>
      <p:sp>
        <p:nvSpPr>
          <p:cNvPr id="143396" name="Text Box 35"/>
          <p:cNvSpPr txBox="1"/>
          <p:nvPr/>
        </p:nvSpPr>
        <p:spPr>
          <a:xfrm>
            <a:off x="1908175" y="1025525"/>
            <a:ext cx="338138" cy="33337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Bef>
                <a:spcPct val="0"/>
              </a:spcBef>
              <a:spcAft>
                <a:spcPct val="0"/>
              </a:spcAft>
              <a:buClr>
                <a:srgbClr val="0000CC"/>
              </a:buClr>
              <a:buSzPct val="75000"/>
              <a:buNone/>
            </a:pPr>
            <a:r>
              <a:rPr lang="en-US" altLang="zh-CN" sz="2400" dirty="0">
                <a:solidFill>
                  <a:srgbClr val="FF0000"/>
                </a:solidFill>
                <a:ea typeface="楷体_GB2312"/>
              </a:rPr>
              <a:t>B.</a:t>
            </a:r>
            <a:endParaRPr lang="en-US" altLang="zh-CN" sz="2400" dirty="0">
              <a:solidFill>
                <a:srgbClr val="FF0000"/>
              </a:solidFill>
              <a:ea typeface="楷体_GB2312"/>
            </a:endParaRPr>
          </a:p>
        </p:txBody>
      </p:sp>
      <p:sp>
        <p:nvSpPr>
          <p:cNvPr id="143397" name="Freeform 36"/>
          <p:cNvSpPr/>
          <p:nvPr/>
        </p:nvSpPr>
        <p:spPr>
          <a:xfrm>
            <a:off x="3924300" y="4005263"/>
            <a:ext cx="792163" cy="360362"/>
          </a:xfrm>
          <a:custGeom>
            <a:avLst/>
            <a:gdLst/>
            <a:ahLst/>
            <a:cxnLst>
              <a:cxn ang="0">
                <a:pos x="2147483646" y="0"/>
              </a:cxn>
              <a:cxn ang="0">
                <a:pos x="0" y="2147483646"/>
              </a:cxn>
            </a:cxnLst>
            <a:pathLst>
              <a:path w="360" h="156">
                <a:moveTo>
                  <a:pt x="360" y="0"/>
                </a:moveTo>
                <a:cubicBezTo>
                  <a:pt x="210" y="65"/>
                  <a:pt x="60" y="130"/>
                  <a:pt x="0" y="156"/>
                </a:cubicBezTo>
              </a:path>
            </a:pathLst>
          </a:custGeom>
          <a:noFill/>
          <a:ln w="28575" cap="flat" cmpd="sng">
            <a:solidFill>
              <a:srgbClr val="FF0000">
                <a:alpha val="100000"/>
              </a:srgbClr>
            </a:solidFill>
            <a:prstDash val="dash"/>
            <a:bevel/>
            <a:headEnd type="none" w="med" len="med"/>
            <a:tailEnd type="none" w="med" len="med"/>
          </a:ln>
        </p:spPr>
        <p:txBody>
          <a:bodyPr/>
          <a:p>
            <a:endParaRPr lang="zh-CN" altLang="en-US"/>
          </a:p>
        </p:txBody>
      </p:sp>
      <p:sp>
        <p:nvSpPr>
          <p:cNvPr id="143398" name="Text Box 37"/>
          <p:cNvSpPr txBox="1"/>
          <p:nvPr/>
        </p:nvSpPr>
        <p:spPr>
          <a:xfrm>
            <a:off x="2339975" y="5821363"/>
            <a:ext cx="1500188" cy="936625"/>
          </a:xfrm>
          <a:prstGeom prst="rect">
            <a:avLst/>
          </a:prstGeom>
          <a:solidFill>
            <a:srgbClr val="73FF73"/>
          </a:solidFill>
          <a:ln w="9525" cap="flat" cmpd="sng">
            <a:solidFill>
              <a:srgbClr val="000000"/>
            </a:solidFill>
            <a:prstDash val="solid"/>
            <a:miter/>
            <a:headEnd type="none" w="med" len="med"/>
            <a:tailEnd type="none" w="med" len="med"/>
          </a:ln>
        </p:spPr>
        <p:txBody>
          <a:bodyPr lIns="18000" tIns="0" rIns="1800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90000"/>
              </a:lnSpc>
              <a:spcBef>
                <a:spcPct val="0"/>
              </a:spcBef>
              <a:spcAft>
                <a:spcPct val="0"/>
              </a:spcAft>
              <a:buClr>
                <a:srgbClr val="0000CC"/>
              </a:buClr>
              <a:buSzPct val="75000"/>
              <a:buNone/>
            </a:pPr>
            <a:r>
              <a:rPr lang="zh-CN" altLang="en-US" sz="1600" dirty="0">
                <a:solidFill>
                  <a:srgbClr val="0000FF"/>
                </a:solidFill>
                <a:latin typeface="宋体" panose="02010600030101010101" pitchFamily="2" charset="-122"/>
                <a:ea typeface="楷体_GB2312"/>
              </a:rPr>
              <a:t>特殊嵌套方式：</a:t>
            </a:r>
            <a:r>
              <a:rPr lang="en-US" altLang="zh-CN" sz="1600" dirty="0">
                <a:solidFill>
                  <a:srgbClr val="0000FF"/>
                </a:solidFill>
                <a:ea typeface="楷体_GB2312"/>
              </a:rPr>
              <a:t>IR4</a:t>
            </a:r>
            <a:r>
              <a:rPr lang="zh-CN" altLang="en-US" sz="1600" dirty="0">
                <a:solidFill>
                  <a:srgbClr val="0000FF"/>
                </a:solidFill>
                <a:latin typeface="宋体" panose="02010600030101010101" pitchFamily="2" charset="-122"/>
                <a:ea typeface="楷体_GB2312"/>
              </a:rPr>
              <a:t>的中断被服务时，只封锁</a:t>
            </a:r>
            <a:r>
              <a:rPr lang="en-US" altLang="zh-CN" sz="1600" dirty="0">
                <a:solidFill>
                  <a:srgbClr val="0000FF"/>
                </a:solidFill>
                <a:ea typeface="楷体_GB2312"/>
              </a:rPr>
              <a:t>IR5-IR7</a:t>
            </a:r>
            <a:r>
              <a:rPr lang="zh-CN" altLang="en-US" sz="1600" dirty="0">
                <a:solidFill>
                  <a:srgbClr val="0000FF"/>
                </a:solidFill>
                <a:latin typeface="宋体" panose="02010600030101010101" pitchFamily="2" charset="-122"/>
                <a:ea typeface="楷体_GB2312"/>
              </a:rPr>
              <a:t>。</a:t>
            </a:r>
            <a:endParaRPr lang="zh-CN" altLang="en-US" sz="1600" dirty="0">
              <a:solidFill>
                <a:srgbClr val="0000FF"/>
              </a:solidFill>
              <a:latin typeface="宋体" panose="02010600030101010101" pitchFamily="2" charset="-122"/>
              <a:ea typeface="楷体_GB2312"/>
            </a:endParaRPr>
          </a:p>
        </p:txBody>
      </p:sp>
      <p:sp>
        <p:nvSpPr>
          <p:cNvPr id="143399" name="Line 38"/>
          <p:cNvSpPr/>
          <p:nvPr/>
        </p:nvSpPr>
        <p:spPr>
          <a:xfrm flipH="1" flipV="1">
            <a:off x="5500688" y="3341688"/>
            <a:ext cx="1071562" cy="1697037"/>
          </a:xfrm>
          <a:prstGeom prst="line">
            <a:avLst/>
          </a:prstGeom>
          <a:ln w="19050" cap="flat" cmpd="sng">
            <a:solidFill>
              <a:srgbClr val="0000FF"/>
            </a:solidFill>
            <a:prstDash val="dash"/>
            <a:bevel/>
            <a:headEnd type="none" w="med" len="med"/>
            <a:tailEnd type="triangle" w="sm" len="med"/>
          </a:ln>
        </p:spPr>
      </p:sp>
      <p:sp>
        <p:nvSpPr>
          <p:cNvPr id="143400" name="Text Box 39"/>
          <p:cNvSpPr txBox="1"/>
          <p:nvPr/>
        </p:nvSpPr>
        <p:spPr>
          <a:xfrm>
            <a:off x="6572250" y="3152775"/>
            <a:ext cx="304800" cy="347663"/>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Bef>
                <a:spcPct val="0"/>
              </a:spcBef>
              <a:spcAft>
                <a:spcPct val="0"/>
              </a:spcAft>
              <a:buClr>
                <a:srgbClr val="0000CC"/>
              </a:buClr>
              <a:buSzPct val="75000"/>
              <a:buNone/>
            </a:pPr>
            <a:r>
              <a:rPr lang="en-US" altLang="zh-CN" sz="2400" dirty="0">
                <a:solidFill>
                  <a:srgbClr val="FF0000"/>
                </a:solidFill>
                <a:ea typeface="楷体_GB2312"/>
              </a:rPr>
              <a:t>A.</a:t>
            </a:r>
            <a:endParaRPr lang="en-US" altLang="zh-CN" sz="2400" dirty="0">
              <a:solidFill>
                <a:srgbClr val="FF0000"/>
              </a:solidFill>
              <a:ea typeface="楷体_GB2312"/>
            </a:endParaRPr>
          </a:p>
        </p:txBody>
      </p:sp>
      <p:sp>
        <p:nvSpPr>
          <p:cNvPr id="212009" name="Text Box 40"/>
          <p:cNvSpPr txBox="1"/>
          <p:nvPr/>
        </p:nvSpPr>
        <p:spPr>
          <a:xfrm>
            <a:off x="1101725" y="4265613"/>
            <a:ext cx="360363" cy="287337"/>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Aft>
                <a:spcPct val="0"/>
              </a:spcAft>
              <a:buClr>
                <a:srgbClr val="0000CC"/>
              </a:buClr>
              <a:buSzPct val="75000"/>
              <a:buNone/>
            </a:pPr>
            <a:r>
              <a:rPr lang="en-US" altLang="zh-CN" sz="1600" dirty="0">
                <a:solidFill>
                  <a:schemeClr val="tx1"/>
                </a:solidFill>
                <a:ea typeface="楷体_GB2312"/>
              </a:rPr>
              <a:t>INT</a:t>
            </a:r>
            <a:endParaRPr lang="en-US" altLang="zh-CN" sz="1600" dirty="0">
              <a:solidFill>
                <a:schemeClr val="tx1"/>
              </a:solidFill>
              <a:ea typeface="楷体_GB2312"/>
            </a:endParaRPr>
          </a:p>
        </p:txBody>
      </p:sp>
      <p:sp>
        <p:nvSpPr>
          <p:cNvPr id="143402" name="Line 41"/>
          <p:cNvSpPr/>
          <p:nvPr/>
        </p:nvSpPr>
        <p:spPr>
          <a:xfrm flipH="1">
            <a:off x="323850" y="4386263"/>
            <a:ext cx="714375" cy="0"/>
          </a:xfrm>
          <a:prstGeom prst="line">
            <a:avLst/>
          </a:prstGeom>
          <a:ln w="28575" cap="flat" cmpd="sng">
            <a:solidFill>
              <a:srgbClr val="FF0000"/>
            </a:solidFill>
            <a:prstDash val="solid"/>
            <a:bevel/>
            <a:headEnd type="none" w="med" len="med"/>
            <a:tailEnd type="triangle" w="med" len="lg"/>
          </a:ln>
        </p:spPr>
      </p:sp>
      <p:sp>
        <p:nvSpPr>
          <p:cNvPr id="143403" name="Text Box 42"/>
          <p:cNvSpPr txBox="1"/>
          <p:nvPr/>
        </p:nvSpPr>
        <p:spPr>
          <a:xfrm>
            <a:off x="6011863" y="5038725"/>
            <a:ext cx="288925" cy="334963"/>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Bef>
                <a:spcPct val="0"/>
              </a:spcBef>
              <a:spcAft>
                <a:spcPct val="0"/>
              </a:spcAft>
              <a:buClr>
                <a:srgbClr val="0000CC"/>
              </a:buClr>
              <a:buSzPct val="75000"/>
              <a:buNone/>
            </a:pPr>
            <a:r>
              <a:rPr lang="en-US" altLang="zh-CN" sz="2400" dirty="0">
                <a:solidFill>
                  <a:srgbClr val="FF0000"/>
                </a:solidFill>
                <a:ea typeface="楷体_GB2312"/>
              </a:rPr>
              <a:t>E.</a:t>
            </a:r>
            <a:endParaRPr lang="en-US" altLang="zh-CN" sz="2400" dirty="0">
              <a:solidFill>
                <a:srgbClr val="FF0000"/>
              </a:solidFill>
              <a:ea typeface="楷体_GB2312"/>
            </a:endParaRPr>
          </a:p>
        </p:txBody>
      </p:sp>
      <p:sp>
        <p:nvSpPr>
          <p:cNvPr id="212012" name="Text Box 43"/>
          <p:cNvSpPr txBox="1"/>
          <p:nvPr/>
        </p:nvSpPr>
        <p:spPr>
          <a:xfrm>
            <a:off x="3851275" y="1989138"/>
            <a:ext cx="936625" cy="28892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800" dirty="0">
                <a:solidFill>
                  <a:schemeClr val="bg2"/>
                </a:solidFill>
                <a:latin typeface="Times New Roman" panose="02020603050405020304" pitchFamily="18" charset="0"/>
                <a:ea typeface="楷体_GB2312"/>
              </a:rPr>
              <a:t>从</a:t>
            </a:r>
            <a:r>
              <a:rPr lang="en-US" altLang="zh-CN" sz="1800" dirty="0">
                <a:solidFill>
                  <a:schemeClr val="bg2"/>
                </a:solidFill>
                <a:latin typeface="Times New Roman" panose="02020603050405020304" pitchFamily="18" charset="0"/>
                <a:ea typeface="楷体_GB2312"/>
              </a:rPr>
              <a:t>8259A</a:t>
            </a:r>
            <a:endParaRPr lang="en-US" altLang="zh-CN" sz="1800" dirty="0">
              <a:solidFill>
                <a:schemeClr val="bg2"/>
              </a:solidFill>
              <a:ea typeface="楷体_GB2312"/>
            </a:endParaRPr>
          </a:p>
        </p:txBody>
      </p:sp>
      <p:sp>
        <p:nvSpPr>
          <p:cNvPr id="212013" name="Text Box 44"/>
          <p:cNvSpPr txBox="1"/>
          <p:nvPr/>
        </p:nvSpPr>
        <p:spPr>
          <a:xfrm>
            <a:off x="4038600" y="4264025"/>
            <a:ext cx="360363" cy="26035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Aft>
                <a:spcPct val="0"/>
              </a:spcAft>
              <a:buClr>
                <a:srgbClr val="0000CC"/>
              </a:buClr>
              <a:buSzPct val="75000"/>
              <a:buNone/>
            </a:pPr>
            <a:r>
              <a:rPr lang="en-US" altLang="zh-CN" sz="1600" dirty="0">
                <a:solidFill>
                  <a:schemeClr val="tx1"/>
                </a:solidFill>
                <a:ea typeface="楷体_GB2312"/>
              </a:rPr>
              <a:t>INT</a:t>
            </a:r>
            <a:endParaRPr lang="en-US" altLang="zh-CN" sz="1600" dirty="0">
              <a:solidFill>
                <a:schemeClr val="tx1"/>
              </a:solidFill>
              <a:ea typeface="楷体_GB2312"/>
            </a:endParaRPr>
          </a:p>
        </p:txBody>
      </p:sp>
      <p:sp>
        <p:nvSpPr>
          <p:cNvPr id="212014" name="Text Box 45"/>
          <p:cNvSpPr txBox="1"/>
          <p:nvPr/>
        </p:nvSpPr>
        <p:spPr>
          <a:xfrm>
            <a:off x="4356100" y="2781300"/>
            <a:ext cx="382588" cy="2881313"/>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IR0</a:t>
            </a: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IR1</a:t>
            </a: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IR2</a:t>
            </a: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IR3</a:t>
            </a: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IR4</a:t>
            </a: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IR5</a:t>
            </a: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IR6</a:t>
            </a: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endParaRPr lang="en-US" altLang="zh-CN" sz="1400" dirty="0">
              <a:solidFill>
                <a:schemeClr val="tx1"/>
              </a:solidFill>
              <a:ea typeface="楷体_GB2312"/>
            </a:endParaRPr>
          </a:p>
          <a:p>
            <a:pPr marL="342900" lvl="0" indent="-342900" algn="r">
              <a:lnSpc>
                <a:spcPct val="88000"/>
              </a:lnSpc>
              <a:spcBef>
                <a:spcPct val="0"/>
              </a:spcBef>
              <a:spcAft>
                <a:spcPct val="0"/>
              </a:spcAft>
              <a:buClr>
                <a:srgbClr val="0000CC"/>
              </a:buClr>
              <a:buSzPct val="75000"/>
              <a:buNone/>
            </a:pPr>
            <a:r>
              <a:rPr lang="en-US" altLang="zh-CN" sz="1400" dirty="0">
                <a:solidFill>
                  <a:schemeClr val="tx1"/>
                </a:solidFill>
                <a:ea typeface="楷体_GB2312"/>
              </a:rPr>
              <a:t>IR7</a:t>
            </a:r>
            <a:endParaRPr lang="en-US" altLang="zh-CN" sz="1400" dirty="0">
              <a:solidFill>
                <a:schemeClr val="tx1"/>
              </a:solidFill>
              <a:ea typeface="楷体_GB2312"/>
            </a:endParaRPr>
          </a:p>
          <a:p>
            <a:pPr marL="342900" lvl="0" indent="-342900">
              <a:lnSpc>
                <a:spcPct val="88000"/>
              </a:lnSpc>
              <a:spcBef>
                <a:spcPct val="0"/>
              </a:spcBef>
              <a:spcAft>
                <a:spcPct val="0"/>
              </a:spcAft>
              <a:buClr>
                <a:srgbClr val="0000CC"/>
              </a:buClr>
              <a:buSzPct val="75000"/>
              <a:buFont typeface="Wingdings" panose="05000000000000000000" pitchFamily="2" charset="2"/>
              <a:buChar char="n"/>
            </a:pPr>
            <a:endParaRPr lang="en-US" altLang="zh-CN" sz="1400" dirty="0">
              <a:solidFill>
                <a:schemeClr val="tx1"/>
              </a:solidFill>
              <a:ea typeface="楷体_GB2312"/>
            </a:endParaRPr>
          </a:p>
        </p:txBody>
      </p:sp>
      <p:sp>
        <p:nvSpPr>
          <p:cNvPr id="143407" name="Oval 46"/>
          <p:cNvSpPr/>
          <p:nvPr/>
        </p:nvSpPr>
        <p:spPr>
          <a:xfrm>
            <a:off x="2124075" y="4581525"/>
            <a:ext cx="357188" cy="1008063"/>
          </a:xfrm>
          <a:prstGeom prst="ellipse">
            <a:avLst/>
          </a:prstGeom>
          <a:noFill/>
          <a:ln w="19050" cap="flat" cmpd="sng">
            <a:solidFill>
              <a:srgbClr val="0000FF"/>
            </a:solidFill>
            <a:prstDash val="dash"/>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143408" name="Line 47"/>
          <p:cNvSpPr/>
          <p:nvPr/>
        </p:nvSpPr>
        <p:spPr>
          <a:xfrm flipH="1" flipV="1">
            <a:off x="2484438" y="5300663"/>
            <a:ext cx="504825" cy="433387"/>
          </a:xfrm>
          <a:prstGeom prst="line">
            <a:avLst/>
          </a:prstGeom>
          <a:ln w="19050" cap="flat" cmpd="sng">
            <a:solidFill>
              <a:srgbClr val="0000FF"/>
            </a:solidFill>
            <a:prstDash val="dash"/>
            <a:bevel/>
            <a:headEnd type="none" w="med" len="med"/>
            <a:tailEnd type="triangle" w="sm" len="med"/>
          </a:ln>
        </p:spPr>
      </p:sp>
      <p:sp>
        <p:nvSpPr>
          <p:cNvPr id="212017" name="Text Box 48"/>
          <p:cNvSpPr txBox="1"/>
          <p:nvPr/>
        </p:nvSpPr>
        <p:spPr>
          <a:xfrm>
            <a:off x="468313" y="476250"/>
            <a:ext cx="6911975" cy="4270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Bef>
                <a:spcPct val="50000"/>
              </a:spcBef>
              <a:spcAft>
                <a:spcPct val="0"/>
              </a:spcAft>
              <a:buClr>
                <a:srgbClr val="0000CC"/>
              </a:buClr>
              <a:buSzPct val="75000"/>
            </a:pPr>
            <a:r>
              <a:rPr lang="zh-CN" altLang="en-US" dirty="0">
                <a:solidFill>
                  <a:schemeClr val="bg2"/>
                </a:solidFill>
                <a:ea typeface="楷体_GB2312"/>
              </a:rPr>
              <a:t>一般全嵌套方式与特殊全嵌套方式的区别</a:t>
            </a:r>
            <a:r>
              <a:rPr lang="zh-CN" altLang="en-US" b="0" dirty="0">
                <a:solidFill>
                  <a:schemeClr val="bg2"/>
                </a:solidFill>
                <a:ea typeface="楷体_GB2312"/>
              </a:rPr>
              <a:t> </a:t>
            </a:r>
            <a:endParaRPr lang="zh-CN" altLang="en-US" b="0" dirty="0">
              <a:solidFill>
                <a:schemeClr val="bg2"/>
              </a:solidFill>
              <a:ea typeface="楷体_GB2312"/>
            </a:endParaRPr>
          </a:p>
        </p:txBody>
      </p:sp>
      <p:sp>
        <p:nvSpPr>
          <p:cNvPr id="212018" name="Text Box 49"/>
          <p:cNvSpPr txBox="1"/>
          <p:nvPr/>
        </p:nvSpPr>
        <p:spPr>
          <a:xfrm>
            <a:off x="222250" y="4076700"/>
            <a:ext cx="647700" cy="287338"/>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00000"/>
              </a:lnSpc>
              <a:spcAft>
                <a:spcPct val="0"/>
              </a:spcAft>
              <a:buClr>
                <a:srgbClr val="0000CC"/>
              </a:buClr>
              <a:buSzPct val="75000"/>
              <a:buNone/>
            </a:pPr>
            <a:r>
              <a:rPr lang="zh-CN" altLang="en-US" sz="1600" dirty="0">
                <a:solidFill>
                  <a:schemeClr val="bg2"/>
                </a:solidFill>
                <a:ea typeface="楷体_GB2312"/>
              </a:rPr>
              <a:t>去</a:t>
            </a:r>
            <a:r>
              <a:rPr lang="en-US" altLang="zh-CN" sz="1600" dirty="0">
                <a:solidFill>
                  <a:schemeClr val="bg2"/>
                </a:solidFill>
                <a:ea typeface="楷体_GB2312"/>
              </a:rPr>
              <a:t>CPU</a:t>
            </a:r>
            <a:endParaRPr lang="en-US" altLang="zh-CN" sz="1600" dirty="0">
              <a:solidFill>
                <a:schemeClr val="bg2"/>
              </a:solidFill>
              <a:ea typeface="楷体_GB2312"/>
            </a:endParaRPr>
          </a:p>
        </p:txBody>
      </p:sp>
      <p:grpSp>
        <p:nvGrpSpPr>
          <p:cNvPr id="143411" name="Group 50"/>
          <p:cNvGrpSpPr/>
          <p:nvPr/>
        </p:nvGrpSpPr>
        <p:grpSpPr>
          <a:xfrm>
            <a:off x="2987675" y="4221163"/>
            <a:ext cx="215900" cy="360362"/>
            <a:chOff x="0" y="0"/>
            <a:chExt cx="136" cy="227"/>
          </a:xfrm>
        </p:grpSpPr>
        <p:sp>
          <p:nvSpPr>
            <p:cNvPr id="212020" name="Line 51"/>
            <p:cNvSpPr/>
            <p:nvPr/>
          </p:nvSpPr>
          <p:spPr>
            <a:xfrm flipH="1">
              <a:off x="0" y="0"/>
              <a:ext cx="136" cy="227"/>
            </a:xfrm>
            <a:prstGeom prst="line">
              <a:avLst/>
            </a:prstGeom>
            <a:ln w="28575" cap="flat" cmpd="sng">
              <a:solidFill>
                <a:srgbClr val="FF0000"/>
              </a:solidFill>
              <a:prstDash val="solid"/>
              <a:bevel/>
              <a:headEnd type="none" w="med" len="med"/>
              <a:tailEnd type="none" w="med" len="med"/>
            </a:ln>
          </p:spPr>
        </p:sp>
        <p:sp>
          <p:nvSpPr>
            <p:cNvPr id="212021" name="Line 52"/>
            <p:cNvSpPr/>
            <p:nvPr/>
          </p:nvSpPr>
          <p:spPr>
            <a:xfrm>
              <a:off x="0" y="0"/>
              <a:ext cx="136" cy="227"/>
            </a:xfrm>
            <a:prstGeom prst="line">
              <a:avLst/>
            </a:prstGeom>
            <a:ln w="28575" cap="flat" cmpd="sng">
              <a:solidFill>
                <a:srgbClr val="FF0000"/>
              </a:solidFill>
              <a:prstDash val="solid"/>
              <a:bevel/>
              <a:headEnd type="none" w="med" len="med"/>
              <a:tailEnd type="none" w="med" len="med"/>
            </a:ln>
          </p:spPr>
        </p:sp>
      </p:gr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500" fill="hold"/>
                                        <p:tgtEl>
                                          <p:spTgt spid="143400"/>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500" fill="hold"/>
                                        <p:tgtEl>
                                          <p:spTgt spid="143392"/>
                                        </p:tgtEl>
                                        <p:attrNameLst>
                                          <p:attrName>style.visibility</p:attrName>
                                        </p:attrNameLst>
                                      </p:cBhvr>
                                      <p:tavLst>
                                        <p:tav tm="0">
                                          <p:val>
                                            <p:strVal val="hidden"/>
                                          </p:val>
                                        </p:tav>
                                        <p:tav tm="50000">
                                          <p:val>
                                            <p:strVal val="visible"/>
                                          </p:val>
                                        </p:tav>
                                      </p:tavLst>
                                    </p:anim>
                                  </p:childTnLst>
                                </p:cTn>
                              </p:par>
                              <p:par>
                                <p:cTn id="9" presetID="35" presetClass="emph" presetSubtype="0" repeatCount="3000" fill="hold" grpId="0" nodeType="withEffect">
                                  <p:stCondLst>
                                    <p:cond delay="0"/>
                                  </p:stCondLst>
                                  <p:childTnLst>
                                    <p:anim calcmode="discrete" valueType="str">
                                      <p:cBhvr>
                                        <p:cTn id="10" dur="500" fill="hold"/>
                                        <p:tgtEl>
                                          <p:spTgt spid="143393"/>
                                        </p:tgtEl>
                                        <p:attrNameLst>
                                          <p:attrName>style.visibility</p:attrName>
                                        </p:attrNameLst>
                                      </p:cBhvr>
                                      <p:tavLst>
                                        <p:tav tm="0">
                                          <p:val>
                                            <p:strVal val="hidden"/>
                                          </p:val>
                                        </p:tav>
                                        <p:tav tm="50000">
                                          <p:val>
                                            <p:strVal val="visible"/>
                                          </p:val>
                                        </p:tav>
                                      </p:tavLst>
                                    </p:anim>
                                  </p:childTnLst>
                                </p:cTn>
                              </p:par>
                            </p:childTnLst>
                          </p:cTn>
                        </p:par>
                        <p:par>
                          <p:cTn id="11" fill="hold">
                            <p:stCondLst>
                              <p:cond delay="500"/>
                            </p:stCondLst>
                            <p:childTnLst>
                              <p:par>
                                <p:cTn id="12" presetID="35" presetClass="emph" presetSubtype="0" fill="hold" nodeType="afterEffect">
                                  <p:stCondLst>
                                    <p:cond delay="500"/>
                                  </p:stCondLst>
                                  <p:childTnLst>
                                    <p:anim calcmode="discrete" valueType="str">
                                      <p:cBhvr>
                                        <p:cTn id="13" dur="500" fill="hold"/>
                                        <p:tgtEl>
                                          <p:spTgt spid="143380"/>
                                        </p:tgtEl>
                                        <p:attrNameLst>
                                          <p:attrName>style.visibility</p:attrName>
                                        </p:attrNameLst>
                                      </p:cBhvr>
                                      <p:tavLst>
                                        <p:tav tm="0">
                                          <p:val>
                                            <p:strVal val="hidden"/>
                                          </p:val>
                                        </p:tav>
                                        <p:tav tm="50000">
                                          <p:val>
                                            <p:strVal val="visible"/>
                                          </p:val>
                                        </p:tav>
                                      </p:tavLst>
                                    </p:anim>
                                  </p:childTnLst>
                                </p:cTn>
                              </p:par>
                            </p:childTnLst>
                          </p:cTn>
                        </p:par>
                        <p:par>
                          <p:cTn id="14" fill="hold">
                            <p:stCondLst>
                              <p:cond delay="1500"/>
                            </p:stCondLst>
                            <p:childTnLst>
                              <p:par>
                                <p:cTn id="15" presetID="35" presetClass="emph" presetSubtype="0" fill="hold" nodeType="afterEffect">
                                  <p:stCondLst>
                                    <p:cond delay="500"/>
                                  </p:stCondLst>
                                  <p:childTnLst>
                                    <p:anim calcmode="discrete" valueType="str">
                                      <p:cBhvr>
                                        <p:cTn id="16" dur="500" fill="hold"/>
                                        <p:tgtEl>
                                          <p:spTgt spid="143397"/>
                                        </p:tgtEl>
                                        <p:attrNameLst>
                                          <p:attrName>style.visibility</p:attrName>
                                        </p:attrNameLst>
                                      </p:cBhvr>
                                      <p:tavLst>
                                        <p:tav tm="0">
                                          <p:val>
                                            <p:strVal val="hidden"/>
                                          </p:val>
                                        </p:tav>
                                        <p:tav tm="50000">
                                          <p:val>
                                            <p:strVal val="visible"/>
                                          </p:val>
                                        </p:tav>
                                      </p:tavLst>
                                    </p:anim>
                                  </p:childTnLst>
                                </p:cTn>
                              </p:par>
                            </p:childTnLst>
                          </p:cTn>
                        </p:par>
                        <p:par>
                          <p:cTn id="17" fill="hold">
                            <p:stCondLst>
                              <p:cond delay="2500"/>
                            </p:stCondLst>
                            <p:childTnLst>
                              <p:par>
                                <p:cTn id="18" presetID="35" presetClass="emph" presetSubtype="0" fill="hold" nodeType="afterEffect">
                                  <p:stCondLst>
                                    <p:cond delay="500"/>
                                  </p:stCondLst>
                                  <p:childTnLst>
                                    <p:anim calcmode="discrete" valueType="str">
                                      <p:cBhvr>
                                        <p:cTn id="19" dur="500" fill="hold"/>
                                        <p:tgtEl>
                                          <p:spTgt spid="143368"/>
                                        </p:tgtEl>
                                        <p:attrNameLst>
                                          <p:attrName>style.visibility</p:attrName>
                                        </p:attrNameLst>
                                      </p:cBhvr>
                                      <p:tavLst>
                                        <p:tav tm="0">
                                          <p:val>
                                            <p:strVal val="hidden"/>
                                          </p:val>
                                        </p:tav>
                                        <p:tav tm="50000">
                                          <p:val>
                                            <p:strVal val="visible"/>
                                          </p:val>
                                        </p:tav>
                                      </p:tavLst>
                                    </p:anim>
                                  </p:childTnLst>
                                </p:cTn>
                              </p:par>
                            </p:childTnLst>
                          </p:cTn>
                        </p:par>
                        <p:par>
                          <p:cTn id="20" fill="hold">
                            <p:stCondLst>
                              <p:cond delay="3500"/>
                            </p:stCondLst>
                            <p:childTnLst>
                              <p:par>
                                <p:cTn id="21" presetID="35" presetClass="emph" presetSubtype="0" fill="hold" nodeType="afterEffect">
                                  <p:stCondLst>
                                    <p:cond delay="500"/>
                                  </p:stCondLst>
                                  <p:childTnLst>
                                    <p:anim calcmode="discrete" valueType="str">
                                      <p:cBhvr>
                                        <p:cTn id="22" dur="500" fill="hold"/>
                                        <p:tgtEl>
                                          <p:spTgt spid="143402"/>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339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339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339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3365"/>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nodeType="afterEffect">
                                  <p:stCondLst>
                                    <p:cond delay="1000"/>
                                  </p:stCondLst>
                                  <p:childTnLst>
                                    <p:set>
                                      <p:cBhvr>
                                        <p:cTn id="35" dur="1" fill="hold">
                                          <p:stCondLst>
                                            <p:cond delay="0"/>
                                          </p:stCondLst>
                                        </p:cTn>
                                        <p:tgtEl>
                                          <p:spTgt spid="14341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4339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43385"/>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43386"/>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143387"/>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4338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xit" presetSubtype="4" fill="hold" grpId="1" nodeType="clickEffect">
                                  <p:stCondLst>
                                    <p:cond delay="0"/>
                                  </p:stCondLst>
                                  <p:childTnLst>
                                    <p:animEffect transition="out" filter="wipe(down)">
                                      <p:cBhvr>
                                        <p:cTn id="51" dur="500"/>
                                        <p:tgtEl>
                                          <p:spTgt spid="143396"/>
                                        </p:tgtEl>
                                      </p:cBhvr>
                                    </p:animEffect>
                                    <p:set>
                                      <p:cBhvr>
                                        <p:cTn id="52" dur="1" fill="hold">
                                          <p:stCondLst>
                                            <p:cond delay="499"/>
                                          </p:stCondLst>
                                        </p:cTn>
                                        <p:tgtEl>
                                          <p:spTgt spid="143396"/>
                                        </p:tgtEl>
                                        <p:attrNameLst>
                                          <p:attrName>style.visibility</p:attrName>
                                        </p:attrNameLst>
                                      </p:cBhvr>
                                      <p:to>
                                        <p:strVal val="hidden"/>
                                      </p:to>
                                    </p:set>
                                  </p:childTnLst>
                                </p:cTn>
                              </p:par>
                              <p:par>
                                <p:cTn id="53" presetID="22" presetClass="exit" presetSubtype="4" fill="hold" grpId="1" nodeType="withEffect">
                                  <p:stCondLst>
                                    <p:cond delay="0"/>
                                  </p:stCondLst>
                                  <p:childTnLst>
                                    <p:animEffect transition="out" filter="wipe(down)">
                                      <p:cBhvr>
                                        <p:cTn id="54" dur="500"/>
                                        <p:tgtEl>
                                          <p:spTgt spid="143394"/>
                                        </p:tgtEl>
                                      </p:cBhvr>
                                    </p:animEffect>
                                    <p:set>
                                      <p:cBhvr>
                                        <p:cTn id="55" dur="1" fill="hold">
                                          <p:stCondLst>
                                            <p:cond delay="499"/>
                                          </p:stCondLst>
                                        </p:cTn>
                                        <p:tgtEl>
                                          <p:spTgt spid="143394"/>
                                        </p:tgtEl>
                                        <p:attrNameLst>
                                          <p:attrName>style.visibility</p:attrName>
                                        </p:attrNameLst>
                                      </p:cBhvr>
                                      <p:to>
                                        <p:strVal val="hidden"/>
                                      </p:to>
                                    </p:set>
                                  </p:childTnLst>
                                </p:cTn>
                              </p:par>
                              <p:par>
                                <p:cTn id="56" presetID="22" presetClass="exit" presetSubtype="4" fill="hold" nodeType="withEffect">
                                  <p:stCondLst>
                                    <p:cond delay="0"/>
                                  </p:stCondLst>
                                  <p:childTnLst>
                                    <p:animEffect transition="out" filter="wipe(down)">
                                      <p:cBhvr>
                                        <p:cTn id="57" dur="500"/>
                                        <p:tgtEl>
                                          <p:spTgt spid="143395"/>
                                        </p:tgtEl>
                                      </p:cBhvr>
                                    </p:animEffect>
                                    <p:set>
                                      <p:cBhvr>
                                        <p:cTn id="58" dur="1" fill="hold">
                                          <p:stCondLst>
                                            <p:cond delay="499"/>
                                          </p:stCondLst>
                                        </p:cTn>
                                        <p:tgtEl>
                                          <p:spTgt spid="143395"/>
                                        </p:tgtEl>
                                        <p:attrNameLst>
                                          <p:attrName>style.visibility</p:attrName>
                                        </p:attrNameLst>
                                      </p:cBhvr>
                                      <p:to>
                                        <p:strVal val="hidden"/>
                                      </p:to>
                                    </p:set>
                                  </p:childTnLst>
                                </p:cTn>
                              </p:par>
                              <p:par>
                                <p:cTn id="59" presetID="22" presetClass="exit" presetSubtype="4" fill="hold" grpId="1" nodeType="withEffect">
                                  <p:stCondLst>
                                    <p:cond delay="0"/>
                                  </p:stCondLst>
                                  <p:childTnLst>
                                    <p:animEffect transition="out" filter="wipe(down)">
                                      <p:cBhvr>
                                        <p:cTn id="60" dur="500"/>
                                        <p:tgtEl>
                                          <p:spTgt spid="143365"/>
                                        </p:tgtEl>
                                      </p:cBhvr>
                                    </p:animEffect>
                                    <p:set>
                                      <p:cBhvr>
                                        <p:cTn id="61" dur="1" fill="hold">
                                          <p:stCondLst>
                                            <p:cond delay="499"/>
                                          </p:stCondLst>
                                        </p:cTn>
                                        <p:tgtEl>
                                          <p:spTgt spid="143365"/>
                                        </p:tgtEl>
                                        <p:attrNameLst>
                                          <p:attrName>style.visibility</p:attrName>
                                        </p:attrNameLst>
                                      </p:cBhvr>
                                      <p:to>
                                        <p:strVal val="hidden"/>
                                      </p:to>
                                    </p:set>
                                  </p:childTnLst>
                                </p:cTn>
                              </p:par>
                              <p:par>
                                <p:cTn id="62" presetID="22" presetClass="exit" presetSubtype="4" fill="hold" nodeType="withEffect">
                                  <p:stCondLst>
                                    <p:cond delay="0"/>
                                  </p:stCondLst>
                                  <p:childTnLst>
                                    <p:animEffect transition="out" filter="wipe(down)">
                                      <p:cBhvr>
                                        <p:cTn id="63" dur="500"/>
                                        <p:tgtEl>
                                          <p:spTgt spid="143411"/>
                                        </p:tgtEl>
                                      </p:cBhvr>
                                    </p:animEffect>
                                    <p:set>
                                      <p:cBhvr>
                                        <p:cTn id="64" dur="1" fill="hold">
                                          <p:stCondLst>
                                            <p:cond delay="499"/>
                                          </p:stCondLst>
                                        </p:cTn>
                                        <p:tgtEl>
                                          <p:spTgt spid="143411"/>
                                        </p:tgtEl>
                                        <p:attrNameLst>
                                          <p:attrName>style.visibility</p:attrName>
                                        </p:attrNameLst>
                                      </p:cBhvr>
                                      <p:to>
                                        <p:strVal val="hidden"/>
                                      </p:to>
                                    </p:set>
                                  </p:childTnLst>
                                </p:cTn>
                              </p:par>
                              <p:par>
                                <p:cTn id="65" presetID="22" presetClass="exit" presetSubtype="4" fill="hold" grpId="1" nodeType="withEffect">
                                  <p:stCondLst>
                                    <p:cond delay="0"/>
                                  </p:stCondLst>
                                  <p:childTnLst>
                                    <p:animEffect transition="out" filter="wipe(down)">
                                      <p:cBhvr>
                                        <p:cTn id="66" dur="500"/>
                                        <p:tgtEl>
                                          <p:spTgt spid="143391"/>
                                        </p:tgtEl>
                                      </p:cBhvr>
                                    </p:animEffect>
                                    <p:set>
                                      <p:cBhvr>
                                        <p:cTn id="67" dur="1" fill="hold">
                                          <p:stCondLst>
                                            <p:cond delay="499"/>
                                          </p:stCondLst>
                                        </p:cTn>
                                        <p:tgtEl>
                                          <p:spTgt spid="143391"/>
                                        </p:tgtEl>
                                        <p:attrNameLst>
                                          <p:attrName>style.visibility</p:attrName>
                                        </p:attrNameLst>
                                      </p:cBhvr>
                                      <p:to>
                                        <p:strVal val="hidden"/>
                                      </p:to>
                                    </p:set>
                                  </p:childTnLst>
                                </p:cTn>
                              </p:par>
                              <p:par>
                                <p:cTn id="68" presetID="22" presetClass="exit" presetSubtype="4" fill="hold" grpId="1" nodeType="withEffect">
                                  <p:stCondLst>
                                    <p:cond delay="0"/>
                                  </p:stCondLst>
                                  <p:childTnLst>
                                    <p:animEffect transition="out" filter="wipe(down)">
                                      <p:cBhvr>
                                        <p:cTn id="69" dur="500"/>
                                        <p:tgtEl>
                                          <p:spTgt spid="143385"/>
                                        </p:tgtEl>
                                      </p:cBhvr>
                                    </p:animEffect>
                                    <p:set>
                                      <p:cBhvr>
                                        <p:cTn id="70" dur="1" fill="hold">
                                          <p:stCondLst>
                                            <p:cond delay="499"/>
                                          </p:stCondLst>
                                        </p:cTn>
                                        <p:tgtEl>
                                          <p:spTgt spid="143385"/>
                                        </p:tgtEl>
                                        <p:attrNameLst>
                                          <p:attrName>style.visibility</p:attrName>
                                        </p:attrNameLst>
                                      </p:cBhvr>
                                      <p:to>
                                        <p:strVal val="hidden"/>
                                      </p:to>
                                    </p:set>
                                  </p:childTnLst>
                                </p:cTn>
                              </p:par>
                              <p:par>
                                <p:cTn id="71" presetID="22" presetClass="exit" presetSubtype="4" fill="hold" nodeType="withEffect">
                                  <p:stCondLst>
                                    <p:cond delay="0"/>
                                  </p:stCondLst>
                                  <p:childTnLst>
                                    <p:animEffect transition="out" filter="wipe(down)">
                                      <p:cBhvr>
                                        <p:cTn id="72" dur="500"/>
                                        <p:tgtEl>
                                          <p:spTgt spid="143386"/>
                                        </p:tgtEl>
                                      </p:cBhvr>
                                    </p:animEffect>
                                    <p:set>
                                      <p:cBhvr>
                                        <p:cTn id="73" dur="1" fill="hold">
                                          <p:stCondLst>
                                            <p:cond delay="499"/>
                                          </p:stCondLst>
                                        </p:cTn>
                                        <p:tgtEl>
                                          <p:spTgt spid="143386"/>
                                        </p:tgtEl>
                                        <p:attrNameLst>
                                          <p:attrName>style.visibility</p:attrName>
                                        </p:attrNameLst>
                                      </p:cBhvr>
                                      <p:to>
                                        <p:strVal val="hidden"/>
                                      </p:to>
                                    </p:set>
                                  </p:childTnLst>
                                </p:cTn>
                              </p:par>
                              <p:par>
                                <p:cTn id="74" presetID="22" presetClass="exit" presetSubtype="4" fill="hold" nodeType="withEffect">
                                  <p:stCondLst>
                                    <p:cond delay="0"/>
                                  </p:stCondLst>
                                  <p:childTnLst>
                                    <p:animEffect transition="out" filter="wipe(down)">
                                      <p:cBhvr>
                                        <p:cTn id="75" dur="500"/>
                                        <p:tgtEl>
                                          <p:spTgt spid="143387"/>
                                        </p:tgtEl>
                                      </p:cBhvr>
                                    </p:animEffect>
                                    <p:set>
                                      <p:cBhvr>
                                        <p:cTn id="76" dur="1" fill="hold">
                                          <p:stCondLst>
                                            <p:cond delay="499"/>
                                          </p:stCondLst>
                                        </p:cTn>
                                        <p:tgtEl>
                                          <p:spTgt spid="143387"/>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43407"/>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4340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4339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4336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43390"/>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4339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4340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43389"/>
                                        </p:tgtEl>
                                        <p:attrNameLst>
                                          <p:attrName>style.visibility</p:attrName>
                                        </p:attrNameLst>
                                      </p:cBhvr>
                                      <p:to>
                                        <p:strVal val="visible"/>
                                      </p:to>
                                    </p:set>
                                  </p:childTnLst>
                                </p:cTn>
                              </p:par>
                            </p:childTnLst>
                          </p:cTn>
                        </p:par>
                        <p:par>
                          <p:cTn id="97" fill="hold">
                            <p:stCondLst>
                              <p:cond delay="0"/>
                            </p:stCondLst>
                            <p:childTnLst>
                              <p:par>
                                <p:cTn id="98" presetID="35" presetClass="emph" presetSubtype="0" repeatCount="3000" fill="hold" grpId="1" nodeType="afterEffect">
                                  <p:stCondLst>
                                    <p:cond delay="0"/>
                                  </p:stCondLst>
                                  <p:childTnLst>
                                    <p:anim calcmode="discrete" valueType="str">
                                      <p:cBhvr>
                                        <p:cTn id="99" dur="500" fill="hold"/>
                                        <p:tgtEl>
                                          <p:spTgt spid="143388"/>
                                        </p:tgtEl>
                                        <p:attrNameLst>
                                          <p:attrName>style.visibility</p:attrName>
                                        </p:attrNameLst>
                                      </p:cBhvr>
                                      <p:tavLst>
                                        <p:tav tm="0">
                                          <p:val>
                                            <p:strVal val="hidden"/>
                                          </p:val>
                                        </p:tav>
                                        <p:tav tm="50000">
                                          <p:val>
                                            <p:strVal val="visible"/>
                                          </p:val>
                                        </p:tav>
                                      </p:tavLst>
                                    </p:anim>
                                  </p:childTnLst>
                                </p:cTn>
                              </p:par>
                            </p:childTnLst>
                          </p:cTn>
                        </p:par>
                        <p:par>
                          <p:cTn id="100" fill="hold">
                            <p:stCondLst>
                              <p:cond delay="500"/>
                            </p:stCondLst>
                            <p:childTnLst>
                              <p:par>
                                <p:cTn id="101" presetID="35" presetClass="emph" presetSubtype="0" repeatCount="3000" fill="hold" nodeType="afterEffect">
                                  <p:stCondLst>
                                    <p:cond delay="500"/>
                                  </p:stCondLst>
                                  <p:childTnLst>
                                    <p:anim calcmode="discrete" valueType="str">
                                      <p:cBhvr>
                                        <p:cTn id="102" dur="500" fill="hold"/>
                                        <p:tgtEl>
                                          <p:spTgt spid="143397"/>
                                        </p:tgtEl>
                                        <p:attrNameLst>
                                          <p:attrName>style.visibility</p:attrName>
                                        </p:attrNameLst>
                                      </p:cBhvr>
                                      <p:tavLst>
                                        <p:tav tm="0">
                                          <p:val>
                                            <p:strVal val="hidden"/>
                                          </p:val>
                                        </p:tav>
                                        <p:tav tm="50000">
                                          <p:val>
                                            <p:strVal val="visible"/>
                                          </p:val>
                                        </p:tav>
                                      </p:tavLst>
                                    </p:anim>
                                  </p:childTnLst>
                                </p:cTn>
                              </p:par>
                            </p:childTnLst>
                          </p:cTn>
                        </p:par>
                        <p:par>
                          <p:cTn id="103" fill="hold">
                            <p:stCondLst>
                              <p:cond delay="1500"/>
                            </p:stCondLst>
                            <p:childTnLst>
                              <p:par>
                                <p:cTn id="104" presetID="35" presetClass="emph" presetSubtype="0" repeatCount="3000" fill="hold" nodeType="afterEffect">
                                  <p:stCondLst>
                                    <p:cond delay="500"/>
                                  </p:stCondLst>
                                  <p:childTnLst>
                                    <p:anim calcmode="discrete" valueType="str">
                                      <p:cBhvr>
                                        <p:cTn id="105" dur="500" fill="hold"/>
                                        <p:tgtEl>
                                          <p:spTgt spid="143368"/>
                                        </p:tgtEl>
                                        <p:attrNameLst>
                                          <p:attrName>style.visibility</p:attrName>
                                        </p:attrNameLst>
                                      </p:cBhvr>
                                      <p:tavLst>
                                        <p:tav tm="0">
                                          <p:val>
                                            <p:strVal val="hidden"/>
                                          </p:val>
                                        </p:tav>
                                        <p:tav tm="50000">
                                          <p:val>
                                            <p:strVal val="visible"/>
                                          </p:val>
                                        </p:tav>
                                      </p:tavLst>
                                    </p:anim>
                                  </p:childTnLst>
                                </p:cTn>
                              </p:par>
                            </p:childTnLst>
                          </p:cTn>
                        </p:par>
                        <p:par>
                          <p:cTn id="106" fill="hold">
                            <p:stCondLst>
                              <p:cond delay="2500"/>
                            </p:stCondLst>
                            <p:childTnLst>
                              <p:par>
                                <p:cTn id="107" presetID="35" presetClass="emph" presetSubtype="0" repeatCount="3000" fill="hold" nodeType="afterEffect">
                                  <p:stCondLst>
                                    <p:cond delay="500"/>
                                  </p:stCondLst>
                                  <p:childTnLst>
                                    <p:anim calcmode="discrete" valueType="str">
                                      <p:cBhvr>
                                        <p:cTn id="108" dur="500" fill="hold"/>
                                        <p:tgtEl>
                                          <p:spTgt spid="14340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p:bldP spid="143365" grpId="0" animBg="1"/>
      <p:bldP spid="143365" grpId="1" animBg="1"/>
      <p:bldP spid="143385" grpId="0" animBg="1"/>
      <p:bldP spid="143385" grpId="1" animBg="1"/>
      <p:bldP spid="143388" grpId="0" animBg="1"/>
      <p:bldP spid="143388" grpId="1" animBg="1"/>
      <p:bldP spid="143389" grpId="0" animBg="1"/>
      <p:bldP spid="143391" grpId="0"/>
      <p:bldP spid="143391" grpId="1"/>
      <p:bldP spid="143392" grpId="0" animBg="1"/>
      <p:bldP spid="143393" grpId="0"/>
      <p:bldP spid="143394" grpId="0" animBg="1"/>
      <p:bldP spid="143394" grpId="1" animBg="1"/>
      <p:bldP spid="143396" grpId="0"/>
      <p:bldP spid="143396" grpId="1"/>
      <p:bldP spid="143398" grpId="0" animBg="1"/>
      <p:bldP spid="143400" grpId="0"/>
      <p:bldP spid="143403" grpId="0"/>
      <p:bldP spid="143407"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4"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12995" name="Rectangle 2"/>
          <p:cNvSpPr>
            <a:spLocks noGrp="1" noRot="1"/>
          </p:cNvSpPr>
          <p:nvPr>
            <p:ph type="title" idx="4294967295"/>
          </p:nvPr>
        </p:nvSpPr>
        <p:spPr/>
        <p:txBody>
          <a:bodyPr vert="horz" wrap="square" lIns="91440" tIns="45720" rIns="91440" bIns="45720" anchor="b" anchorCtr="0"/>
          <a:p>
            <a:pPr eaLnBrk="1" hangingPunct="1"/>
            <a:r>
              <a:rPr lang="zh-CN" altLang="en-US" dirty="0"/>
              <a:t>中断结束处理方式</a:t>
            </a:r>
            <a:endParaRPr lang="zh-CN" altLang="en-US" dirty="0"/>
          </a:p>
        </p:txBody>
      </p:sp>
      <p:sp>
        <p:nvSpPr>
          <p:cNvPr id="212996" name="Rectangle 3"/>
          <p:cNvSpPr>
            <a:spLocks noGrp="1" noRot="1"/>
          </p:cNvSpPr>
          <p:nvPr>
            <p:ph type="body" idx="4294967295"/>
          </p:nvPr>
        </p:nvSpPr>
        <p:spPr>
          <a:xfrm>
            <a:off x="468313" y="2132013"/>
            <a:ext cx="8188325" cy="4270375"/>
          </a:xfrm>
        </p:spPr>
        <p:txBody>
          <a:bodyPr vert="horz" wrap="square" lIns="91440" tIns="45720" rIns="91440" bIns="45720" anchor="t" anchorCtr="0"/>
          <a:p>
            <a:pPr eaLnBrk="1" hangingPunct="1"/>
            <a:r>
              <a:rPr lang="zh-CN" altLang="en-US" dirty="0"/>
              <a:t>当某一</a:t>
            </a:r>
            <a:r>
              <a:rPr lang="en-GB" altLang="en-US" dirty="0"/>
              <a:t>IR</a:t>
            </a:r>
            <a:r>
              <a:rPr lang="en-GB" altLang="en-US" baseline="-25000" dirty="0"/>
              <a:t>i</a:t>
            </a:r>
            <a:r>
              <a:rPr lang="zh-CN" altLang="en-US" dirty="0"/>
              <a:t>中断被服务时，</a:t>
            </a:r>
            <a:r>
              <a:rPr lang="en-GB" altLang="en-US" dirty="0"/>
              <a:t>ISR</a:t>
            </a:r>
            <a:r>
              <a:rPr lang="zh-CN" altLang="en-US" dirty="0"/>
              <a:t>中的相应位</a:t>
            </a:r>
            <a:r>
              <a:rPr lang="en-GB" altLang="en-US" dirty="0"/>
              <a:t>ISR</a:t>
            </a:r>
            <a:r>
              <a:rPr lang="en-GB" altLang="en-US" baseline="-25000" dirty="0"/>
              <a:t>i</a:t>
            </a:r>
            <a:r>
              <a:rPr lang="en-GB" altLang="en-US" dirty="0"/>
              <a:t>=1</a:t>
            </a:r>
            <a:r>
              <a:rPr lang="zh-CN" altLang="en-US" dirty="0"/>
              <a:t>。当服务结束后，则必须清零该</a:t>
            </a:r>
            <a:r>
              <a:rPr lang="en-GB" altLang="en-US" dirty="0"/>
              <a:t>ISR</a:t>
            </a:r>
            <a:r>
              <a:rPr lang="en-GB" altLang="en-US" baseline="-25000" dirty="0"/>
              <a:t>i</a:t>
            </a:r>
            <a:r>
              <a:rPr lang="zh-CN" altLang="en-US" dirty="0"/>
              <a:t>位。使</a:t>
            </a:r>
            <a:r>
              <a:rPr lang="en-GB" altLang="en-US" dirty="0"/>
              <a:t>ISR</a:t>
            </a:r>
            <a:r>
              <a:rPr lang="en-GB" altLang="en-US" baseline="-25000" dirty="0"/>
              <a:t>i</a:t>
            </a:r>
            <a:r>
              <a:rPr lang="en-GB" altLang="en-US" dirty="0"/>
              <a:t>=0</a:t>
            </a:r>
            <a:r>
              <a:rPr lang="zh-CN" altLang="en-US" dirty="0"/>
              <a:t>是通过向</a:t>
            </a:r>
            <a:r>
              <a:rPr lang="en-GB" altLang="en-US" dirty="0"/>
              <a:t>8259A</a:t>
            </a:r>
            <a:r>
              <a:rPr lang="zh-CN" altLang="en-US" dirty="0"/>
              <a:t>发出中断结束命令（</a:t>
            </a:r>
            <a:r>
              <a:rPr lang="en-GB" altLang="en-US" dirty="0"/>
              <a:t>EOI</a:t>
            </a:r>
            <a:r>
              <a:rPr lang="zh-CN" altLang="en-US" dirty="0"/>
              <a:t>命令）实现的。</a:t>
            </a:r>
            <a:endParaRPr lang="zh-CN" altLang="en-US" dirty="0"/>
          </a:p>
          <a:p>
            <a:pPr eaLnBrk="1" hangingPunct="1"/>
            <a:r>
              <a:rPr lang="zh-CN" altLang="en-US" dirty="0"/>
              <a:t>三种</a:t>
            </a:r>
            <a:r>
              <a:rPr lang="en-GB" altLang="en-US" dirty="0"/>
              <a:t>EOI</a:t>
            </a:r>
            <a:r>
              <a:rPr lang="zh-CN" altLang="en-US" dirty="0"/>
              <a:t>命令</a:t>
            </a:r>
            <a:endParaRPr lang="en-GB" altLang="en-US" dirty="0"/>
          </a:p>
          <a:p>
            <a:pPr lvl="1" eaLnBrk="1" hangingPunct="1"/>
            <a:r>
              <a:rPr lang="zh-CN" altLang="en-US" dirty="0"/>
              <a:t>自动</a:t>
            </a:r>
            <a:r>
              <a:rPr lang="en-GB" altLang="en-US" dirty="0"/>
              <a:t>EOI</a:t>
            </a:r>
            <a:r>
              <a:rPr lang="zh-CN" altLang="en-US" dirty="0"/>
              <a:t>（</a:t>
            </a:r>
            <a:r>
              <a:rPr lang="en-GB" altLang="en-US" dirty="0"/>
              <a:t>AEOI</a:t>
            </a:r>
            <a:r>
              <a:rPr lang="zh-CN" altLang="en-US" dirty="0"/>
              <a:t>）</a:t>
            </a:r>
            <a:r>
              <a:rPr lang="en-GB" altLang="en-US" dirty="0"/>
              <a:t>——</a:t>
            </a:r>
            <a:r>
              <a:rPr lang="zh-CN" altLang="en-US" dirty="0"/>
              <a:t>（自动</a:t>
            </a:r>
            <a:r>
              <a:rPr lang="en-GB" altLang="en-US" dirty="0"/>
              <a:t>EOI</a:t>
            </a:r>
            <a:r>
              <a:rPr lang="zh-CN" altLang="en-US" dirty="0"/>
              <a:t>方式）</a:t>
            </a:r>
            <a:endParaRPr lang="zh-CN" altLang="en-US" dirty="0"/>
          </a:p>
          <a:p>
            <a:pPr lvl="1" eaLnBrk="1" hangingPunct="1"/>
            <a:r>
              <a:rPr lang="zh-CN" altLang="en-US" dirty="0"/>
              <a:t>非指定</a:t>
            </a:r>
            <a:r>
              <a:rPr lang="en-GB" altLang="en-US" dirty="0"/>
              <a:t>EOI</a:t>
            </a:r>
            <a:r>
              <a:rPr lang="zh-CN" altLang="en-US" dirty="0"/>
              <a:t>（</a:t>
            </a:r>
            <a:r>
              <a:rPr lang="en-US" altLang="zh-CN" dirty="0"/>
              <a:t>NSEOI</a:t>
            </a:r>
            <a:r>
              <a:rPr lang="zh-CN" altLang="en-US" dirty="0"/>
              <a:t>）</a:t>
            </a:r>
            <a:r>
              <a:rPr lang="en-GB" altLang="en-US" dirty="0"/>
              <a:t>——</a:t>
            </a:r>
            <a:r>
              <a:rPr lang="zh-CN" altLang="en-US" dirty="0"/>
              <a:t>（正常</a:t>
            </a:r>
            <a:r>
              <a:rPr lang="en-GB" altLang="en-US" dirty="0"/>
              <a:t>EOI</a:t>
            </a:r>
            <a:r>
              <a:rPr lang="zh-CN" altLang="en-US" dirty="0"/>
              <a:t>方式）</a:t>
            </a:r>
            <a:endParaRPr lang="zh-CN" altLang="en-US" dirty="0"/>
          </a:p>
          <a:p>
            <a:pPr lvl="1" eaLnBrk="1" hangingPunct="1"/>
            <a:r>
              <a:rPr lang="zh-CN" altLang="en-US" dirty="0"/>
              <a:t>指定</a:t>
            </a:r>
            <a:r>
              <a:rPr lang="en-GB" altLang="en-US" dirty="0"/>
              <a:t>EOI</a:t>
            </a:r>
            <a:r>
              <a:rPr lang="zh-CN" altLang="en-US" dirty="0"/>
              <a:t>（</a:t>
            </a:r>
            <a:r>
              <a:rPr lang="en-US" altLang="zh-CN" dirty="0"/>
              <a:t>SEOI</a:t>
            </a:r>
            <a:r>
              <a:rPr lang="zh-CN" altLang="en-US" dirty="0"/>
              <a:t>）</a:t>
            </a:r>
            <a:r>
              <a:rPr lang="en-US" altLang="zh-CN" dirty="0"/>
              <a:t>——</a:t>
            </a:r>
            <a:r>
              <a:rPr lang="zh-CN" altLang="en-US" dirty="0"/>
              <a:t>（特殊</a:t>
            </a:r>
            <a:r>
              <a:rPr lang="en-GB" altLang="en-US" dirty="0"/>
              <a:t>EOI</a:t>
            </a:r>
            <a:r>
              <a:rPr lang="zh-CN" altLang="en-US" dirty="0"/>
              <a:t>方式）</a:t>
            </a:r>
            <a:endParaRPr lang="zh-CN" altLang="en-US" dirty="0"/>
          </a:p>
        </p:txBody>
      </p:sp>
    </p:spTree>
  </p:cSld>
  <p:clrMapOvr>
    <a:masterClrMapping/>
  </p:clrMapOvr>
  <p:transition spd="slow">
    <p:zoom/>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8"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14019" name="Rectangle 2"/>
          <p:cNvSpPr>
            <a:spLocks noGrp="1" noRot="1"/>
          </p:cNvSpPr>
          <p:nvPr>
            <p:ph type="title" idx="4294967295"/>
          </p:nvPr>
        </p:nvSpPr>
        <p:spPr/>
        <p:txBody>
          <a:bodyPr vert="horz" wrap="square" lIns="91440" tIns="45720" rIns="91440" bIns="45720" anchor="b" anchorCtr="0"/>
          <a:p>
            <a:pPr eaLnBrk="1" hangingPunct="1"/>
            <a:r>
              <a:rPr lang="en-US" altLang="zh-CN" dirty="0"/>
              <a:t> </a:t>
            </a:r>
            <a:endParaRPr lang="en-US" altLang="zh-CN" dirty="0"/>
          </a:p>
        </p:txBody>
      </p:sp>
      <p:sp>
        <p:nvSpPr>
          <p:cNvPr id="214020" name="Rectangle 3"/>
          <p:cNvSpPr>
            <a:spLocks noGrp="1" noRot="1"/>
          </p:cNvSpPr>
          <p:nvPr>
            <p:ph type="body" idx="4294967295"/>
          </p:nvPr>
        </p:nvSpPr>
        <p:spPr>
          <a:xfrm>
            <a:off x="-180975" y="1989138"/>
            <a:ext cx="9124950" cy="4114800"/>
          </a:xfrm>
        </p:spPr>
        <p:txBody>
          <a:bodyPr vert="horz" wrap="square" lIns="91440" tIns="45720" rIns="91440" bIns="45720" anchor="t" anchorCtr="0"/>
          <a:p>
            <a:pPr lvl="1" eaLnBrk="1" hangingPunct="1"/>
            <a:r>
              <a:rPr lang="en-US" altLang="zh-CN" sz="2000" dirty="0"/>
              <a:t>AEOI</a:t>
            </a:r>
            <a:r>
              <a:rPr lang="zh-CN" altLang="en-US" sz="2000" dirty="0"/>
              <a:t>：自动</a:t>
            </a:r>
            <a:r>
              <a:rPr lang="en-US" altLang="zh-CN" sz="2000" dirty="0"/>
              <a:t>EOI</a:t>
            </a:r>
            <a:r>
              <a:rPr lang="zh-CN" altLang="en-US" sz="2000" dirty="0"/>
              <a:t>，在第</a:t>
            </a:r>
            <a:r>
              <a:rPr lang="en-GB" altLang="en-US" sz="2000" dirty="0"/>
              <a:t>2</a:t>
            </a:r>
            <a:r>
              <a:rPr lang="zh-CN" altLang="en-US" sz="2000" dirty="0"/>
              <a:t>个</a:t>
            </a:r>
            <a:r>
              <a:rPr lang="en-GB" altLang="en-US" sz="2000" dirty="0"/>
              <a:t>INTA#</a:t>
            </a:r>
            <a:r>
              <a:rPr lang="zh-CN" altLang="en-US" sz="2000" dirty="0"/>
              <a:t>结束时，由</a:t>
            </a:r>
            <a:r>
              <a:rPr lang="en-GB" altLang="en-US" sz="2000" dirty="0"/>
              <a:t>8259A</a:t>
            </a:r>
            <a:r>
              <a:rPr lang="zh-CN" altLang="en-US" sz="2000" dirty="0"/>
              <a:t>使</a:t>
            </a:r>
            <a:r>
              <a:rPr lang="en-US" altLang="zh-CN" sz="2000" dirty="0"/>
              <a:t>ISR</a:t>
            </a:r>
            <a:r>
              <a:rPr lang="en-US" altLang="zh-CN" sz="2000" dirty="0">
                <a:latin typeface="Times New Roman" panose="02020603050405020304" pitchFamily="18" charset="0"/>
              </a:rPr>
              <a:t>i</a:t>
            </a:r>
            <a:r>
              <a:rPr lang="zh-CN" altLang="en-US" sz="2000" dirty="0">
                <a:latin typeface="Times New Roman" panose="02020603050405020304" pitchFamily="18" charset="0"/>
              </a:rPr>
              <a:t>自动复位（硬件自动进行）；</a:t>
            </a:r>
            <a:endParaRPr lang="zh-CN" altLang="en-US" sz="2000" dirty="0">
              <a:latin typeface="Times New Roman" panose="02020603050405020304" pitchFamily="18" charset="0"/>
            </a:endParaRPr>
          </a:p>
          <a:p>
            <a:pPr lvl="2" eaLnBrk="1" hangingPunct="1"/>
            <a:r>
              <a:rPr lang="zh-CN" altLang="en-US" sz="2000" dirty="0">
                <a:latin typeface="Times New Roman" panose="02020603050405020304" pitchFamily="18" charset="0"/>
              </a:rPr>
              <a:t>因不保留当前正在服务的中断的状态，故</a:t>
            </a:r>
            <a:r>
              <a:rPr lang="en-US" altLang="zh-CN" sz="2000" dirty="0">
                <a:latin typeface="Times New Roman" panose="02020603050405020304" pitchFamily="18" charset="0"/>
              </a:rPr>
              <a:t>AEOI</a:t>
            </a:r>
            <a:r>
              <a:rPr lang="zh-CN" altLang="en-US" sz="2000" dirty="0">
                <a:latin typeface="Times New Roman" panose="02020603050405020304" pitchFamily="18" charset="0"/>
              </a:rPr>
              <a:t>不能用于中断嵌套方式</a:t>
            </a:r>
            <a:endParaRPr lang="zh-CN" altLang="en-US" sz="2000" dirty="0">
              <a:latin typeface="Times New Roman" panose="02020603050405020304" pitchFamily="18" charset="0"/>
            </a:endParaRPr>
          </a:p>
          <a:p>
            <a:pPr lvl="1" eaLnBrk="1" hangingPunct="1"/>
            <a:r>
              <a:rPr lang="en-US" altLang="zh-CN" sz="2000" dirty="0"/>
              <a:t>SEOI</a:t>
            </a:r>
            <a:r>
              <a:rPr lang="zh-CN" altLang="en-US" sz="2000" dirty="0"/>
              <a:t>：特殊</a:t>
            </a:r>
            <a:r>
              <a:rPr lang="en-US" altLang="zh-CN" sz="2000" dirty="0"/>
              <a:t>EOI</a:t>
            </a:r>
            <a:r>
              <a:rPr lang="zh-CN" altLang="en-US" sz="2000" dirty="0"/>
              <a:t>，由</a:t>
            </a:r>
            <a:r>
              <a:rPr lang="en-US" altLang="zh-CN" sz="2000" dirty="0"/>
              <a:t>CPU</a:t>
            </a:r>
            <a:r>
              <a:rPr lang="zh-CN" altLang="en-US" sz="2000" dirty="0"/>
              <a:t>发出一条</a:t>
            </a:r>
            <a:r>
              <a:rPr lang="en-GB" altLang="en-US" sz="2000" dirty="0"/>
              <a:t>SEOI</a:t>
            </a:r>
            <a:r>
              <a:rPr lang="zh-CN" altLang="en-US" sz="2000" dirty="0"/>
              <a:t>命令，该</a:t>
            </a:r>
            <a:r>
              <a:rPr lang="en-GB" altLang="en-US" sz="2000" dirty="0"/>
              <a:t>EOI</a:t>
            </a:r>
            <a:r>
              <a:rPr lang="zh-CN" altLang="en-US" sz="2000" dirty="0"/>
              <a:t>命令中指出了所要复位的</a:t>
            </a:r>
            <a:r>
              <a:rPr lang="en-GB" altLang="en-US" sz="2000" dirty="0"/>
              <a:t>ISR</a:t>
            </a:r>
            <a:r>
              <a:rPr lang="zh-CN" altLang="en-US" sz="2000" dirty="0"/>
              <a:t>的位号。 </a:t>
            </a:r>
            <a:endParaRPr lang="zh-CN" altLang="en-US" sz="2000" dirty="0"/>
          </a:p>
          <a:p>
            <a:pPr lvl="2" eaLnBrk="1" hangingPunct="1"/>
            <a:r>
              <a:rPr lang="zh-CN" altLang="en-US" sz="2000" dirty="0"/>
              <a:t>用于全嵌套方式（普通全嵌套和特殊全嵌套）和非全嵌套方式（中断优先）  </a:t>
            </a:r>
            <a:endParaRPr lang="zh-CN" altLang="en-US" sz="2000" dirty="0"/>
          </a:p>
          <a:p>
            <a:pPr lvl="1" eaLnBrk="1" hangingPunct="1"/>
            <a:r>
              <a:rPr lang="en-GB" altLang="en-US" sz="2000" dirty="0"/>
              <a:t>NSEOI</a:t>
            </a:r>
            <a:r>
              <a:rPr lang="zh-CN" altLang="en-GB" sz="2000" dirty="0"/>
              <a:t>：普通</a:t>
            </a:r>
            <a:r>
              <a:rPr lang="en-US" altLang="zh-CN" sz="2000" dirty="0"/>
              <a:t>EOI</a:t>
            </a:r>
            <a:r>
              <a:rPr lang="zh-CN" altLang="en-US" sz="2000" dirty="0"/>
              <a:t>，由</a:t>
            </a:r>
            <a:r>
              <a:rPr lang="en-US" altLang="zh-CN" sz="2000" dirty="0"/>
              <a:t>CPU</a:t>
            </a:r>
            <a:r>
              <a:rPr lang="zh-CN" altLang="en-US" sz="2000" dirty="0"/>
              <a:t>发出正常</a:t>
            </a:r>
            <a:r>
              <a:rPr lang="en-GB" altLang="en-US" sz="2000" dirty="0"/>
              <a:t>EOI</a:t>
            </a:r>
            <a:r>
              <a:rPr lang="zh-CN" altLang="en-US" sz="2000" dirty="0"/>
              <a:t>命令，该</a:t>
            </a:r>
            <a:r>
              <a:rPr lang="en-GB" altLang="en-US" sz="2000" dirty="0"/>
              <a:t>EOI</a:t>
            </a:r>
            <a:r>
              <a:rPr lang="zh-CN" altLang="en-US" sz="2000" dirty="0"/>
              <a:t>命令使</a:t>
            </a:r>
            <a:r>
              <a:rPr lang="en-GB" altLang="en-US" sz="2000" dirty="0"/>
              <a:t>ISRi=1</a:t>
            </a:r>
            <a:r>
              <a:rPr lang="zh-CN" altLang="en-US" sz="2000" dirty="0"/>
              <a:t>的位中</a:t>
            </a:r>
            <a:r>
              <a:rPr lang="zh-CN" altLang="en-US" sz="2000" dirty="0">
                <a:solidFill>
                  <a:srgbClr val="FF0000"/>
                </a:solidFill>
              </a:rPr>
              <a:t>优先级最高</a:t>
            </a:r>
            <a:r>
              <a:rPr lang="zh-CN" altLang="en-US" sz="2000" dirty="0"/>
              <a:t>的那一位复位。</a:t>
            </a:r>
            <a:endParaRPr lang="zh-CN" altLang="en-US" sz="2000" dirty="0"/>
          </a:p>
          <a:p>
            <a:pPr lvl="2" eaLnBrk="1" hangingPunct="1"/>
            <a:r>
              <a:rPr lang="zh-CN" altLang="en-US" sz="2000" dirty="0"/>
              <a:t>用于普通全嵌套方式（配合中断优先权方式）</a:t>
            </a:r>
            <a:endParaRPr lang="zh-CN" altLang="en-US" sz="2000" dirty="0"/>
          </a:p>
        </p:txBody>
      </p:sp>
    </p:spTree>
  </p:cSld>
  <p:clrMapOvr>
    <a:masterClrMapping/>
  </p:clrMapOvr>
  <p:transition spd="slow">
    <p:zoom/>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16067" name="AutoShape 2"/>
          <p:cNvSpPr/>
          <p:nvPr/>
        </p:nvSpPr>
        <p:spPr>
          <a:xfrm>
            <a:off x="5651500" y="1341438"/>
            <a:ext cx="1728788" cy="288925"/>
          </a:xfrm>
          <a:prstGeom prst="flowChartAlternateProcess">
            <a:avLst/>
          </a:prstGeom>
          <a:solidFill>
            <a:srgbClr val="00FFCC"/>
          </a:solidFill>
          <a:ln w="9525" cap="flat" cmpd="sng">
            <a:solidFill>
              <a:schemeClr val="tx1"/>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2000" b="0" dirty="0">
                <a:solidFill>
                  <a:schemeClr val="tx1"/>
                </a:solidFill>
                <a:ea typeface="楷体_GB2312"/>
              </a:rPr>
              <a:t>中断服务程序</a:t>
            </a:r>
            <a:endParaRPr lang="zh-CN" altLang="en-US" sz="2000" b="0" dirty="0">
              <a:solidFill>
                <a:schemeClr val="tx1"/>
              </a:solidFill>
              <a:ea typeface="楷体_GB2312"/>
            </a:endParaRPr>
          </a:p>
        </p:txBody>
      </p:sp>
      <p:sp>
        <p:nvSpPr>
          <p:cNvPr id="216068" name="Line 3"/>
          <p:cNvSpPr/>
          <p:nvPr/>
        </p:nvSpPr>
        <p:spPr>
          <a:xfrm>
            <a:off x="6516688" y="1630363"/>
            <a:ext cx="0" cy="342900"/>
          </a:xfrm>
          <a:prstGeom prst="line">
            <a:avLst/>
          </a:prstGeom>
          <a:ln w="9525" cap="flat" cmpd="sng">
            <a:solidFill>
              <a:schemeClr val="tx1"/>
            </a:solidFill>
            <a:prstDash val="solid"/>
            <a:bevel/>
            <a:headEnd type="none" w="med" len="med"/>
            <a:tailEnd type="triangle" w="med" len="med"/>
          </a:ln>
        </p:spPr>
      </p:sp>
      <p:sp>
        <p:nvSpPr>
          <p:cNvPr id="216069" name="Text Box 4"/>
          <p:cNvSpPr txBox="1"/>
          <p:nvPr/>
        </p:nvSpPr>
        <p:spPr>
          <a:xfrm>
            <a:off x="6386513" y="2044700"/>
            <a:ext cx="288925" cy="304800"/>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Bef>
                <a:spcPct val="50000"/>
              </a:spcBef>
              <a:spcAft>
                <a:spcPct val="0"/>
              </a:spcAft>
              <a:buClr>
                <a:srgbClr val="0000CC"/>
              </a:buClr>
              <a:buSzPct val="75000"/>
              <a:buNone/>
            </a:pPr>
            <a:r>
              <a:rPr lang="en-US" altLang="zh-CN" sz="2000" dirty="0">
                <a:solidFill>
                  <a:schemeClr val="tx1"/>
                </a:solidFill>
                <a:latin typeface="宋体" panose="02010600030101010101" pitchFamily="2" charset="-122"/>
                <a:ea typeface="楷体_GB2312"/>
              </a:rPr>
              <a:t>┇</a:t>
            </a:r>
            <a:endParaRPr lang="en-US" altLang="zh-CN" sz="2000" dirty="0">
              <a:solidFill>
                <a:schemeClr val="tx1"/>
              </a:solidFill>
              <a:latin typeface="宋体" panose="02010600030101010101" pitchFamily="2" charset="-122"/>
              <a:ea typeface="楷体_GB2312"/>
            </a:endParaRPr>
          </a:p>
        </p:txBody>
      </p:sp>
      <p:sp>
        <p:nvSpPr>
          <p:cNvPr id="216070" name="AutoShape 5"/>
          <p:cNvSpPr/>
          <p:nvPr/>
        </p:nvSpPr>
        <p:spPr>
          <a:xfrm>
            <a:off x="5319713" y="2709863"/>
            <a:ext cx="2374900" cy="360362"/>
          </a:xfrm>
          <a:prstGeom prst="flowChartProcess">
            <a:avLst/>
          </a:prstGeom>
          <a:solidFill>
            <a:srgbClr val="00FFCC"/>
          </a:solidFill>
          <a:ln w="9525" cap="flat" cmpd="sng">
            <a:solidFill>
              <a:schemeClr val="tx1"/>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2000" b="0" dirty="0">
                <a:solidFill>
                  <a:schemeClr val="tx1"/>
                </a:solidFill>
                <a:ea typeface="楷体_GB2312"/>
              </a:rPr>
              <a:t>向从</a:t>
            </a:r>
            <a:r>
              <a:rPr lang="en-US" altLang="zh-CN" sz="2000" b="0" dirty="0">
                <a:solidFill>
                  <a:schemeClr val="tx1"/>
                </a:solidFill>
                <a:ea typeface="楷体_GB2312"/>
              </a:rPr>
              <a:t>PIC</a:t>
            </a:r>
            <a:r>
              <a:rPr lang="zh-CN" altLang="en-US" sz="2000" b="0" dirty="0">
                <a:solidFill>
                  <a:schemeClr val="tx1"/>
                </a:solidFill>
                <a:ea typeface="楷体_GB2312"/>
              </a:rPr>
              <a:t>发</a:t>
            </a:r>
            <a:r>
              <a:rPr lang="en-US" altLang="zh-CN" sz="2000" b="0" dirty="0">
                <a:solidFill>
                  <a:schemeClr val="tx1"/>
                </a:solidFill>
                <a:ea typeface="楷体_GB2312"/>
              </a:rPr>
              <a:t>EOI</a:t>
            </a:r>
            <a:r>
              <a:rPr lang="zh-CN" altLang="en-US" sz="2000" b="0" dirty="0">
                <a:solidFill>
                  <a:schemeClr val="tx1"/>
                </a:solidFill>
                <a:ea typeface="楷体_GB2312"/>
              </a:rPr>
              <a:t>命令</a:t>
            </a:r>
            <a:endParaRPr lang="zh-CN" altLang="en-US" sz="2000" b="0" dirty="0">
              <a:solidFill>
                <a:schemeClr val="tx1"/>
              </a:solidFill>
              <a:ea typeface="楷体_GB2312"/>
            </a:endParaRPr>
          </a:p>
        </p:txBody>
      </p:sp>
      <p:sp>
        <p:nvSpPr>
          <p:cNvPr id="216071" name="Line 6"/>
          <p:cNvSpPr/>
          <p:nvPr/>
        </p:nvSpPr>
        <p:spPr>
          <a:xfrm>
            <a:off x="6516688" y="2422525"/>
            <a:ext cx="0" cy="287338"/>
          </a:xfrm>
          <a:prstGeom prst="line">
            <a:avLst/>
          </a:prstGeom>
          <a:ln w="9525" cap="flat" cmpd="sng">
            <a:solidFill>
              <a:schemeClr val="tx1"/>
            </a:solidFill>
            <a:prstDash val="solid"/>
            <a:bevel/>
            <a:headEnd type="none" w="med" len="med"/>
            <a:tailEnd type="triangle" w="med" len="med"/>
          </a:ln>
        </p:spPr>
      </p:sp>
      <p:sp>
        <p:nvSpPr>
          <p:cNvPr id="216072" name="AutoShape 7"/>
          <p:cNvSpPr/>
          <p:nvPr/>
        </p:nvSpPr>
        <p:spPr>
          <a:xfrm>
            <a:off x="5319713" y="3287713"/>
            <a:ext cx="2374900" cy="360362"/>
          </a:xfrm>
          <a:prstGeom prst="flowChartProcess">
            <a:avLst/>
          </a:prstGeom>
          <a:solidFill>
            <a:srgbClr val="00FFCC"/>
          </a:solidFill>
          <a:ln w="9525" cap="flat" cmpd="sng">
            <a:solidFill>
              <a:schemeClr val="tx1"/>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2000" b="0" dirty="0">
                <a:solidFill>
                  <a:schemeClr val="tx1"/>
                </a:solidFill>
                <a:ea typeface="楷体_GB2312"/>
              </a:rPr>
              <a:t>读从</a:t>
            </a:r>
            <a:r>
              <a:rPr lang="en-US" altLang="zh-CN" sz="2000" b="0" dirty="0">
                <a:solidFill>
                  <a:schemeClr val="tx1"/>
                </a:solidFill>
                <a:ea typeface="楷体_GB2312"/>
              </a:rPr>
              <a:t>PIC</a:t>
            </a:r>
            <a:r>
              <a:rPr lang="zh-CN" altLang="en-US" sz="2000" b="0" dirty="0">
                <a:solidFill>
                  <a:schemeClr val="tx1"/>
                </a:solidFill>
                <a:ea typeface="楷体_GB2312"/>
              </a:rPr>
              <a:t>的</a:t>
            </a:r>
            <a:r>
              <a:rPr lang="en-US" altLang="zh-CN" sz="2000" b="0" dirty="0">
                <a:solidFill>
                  <a:schemeClr val="tx1"/>
                </a:solidFill>
                <a:ea typeface="楷体_GB2312"/>
              </a:rPr>
              <a:t>ISR</a:t>
            </a:r>
            <a:endParaRPr lang="en-US" altLang="zh-CN" sz="2000" b="0" dirty="0">
              <a:solidFill>
                <a:schemeClr val="tx1"/>
              </a:solidFill>
              <a:ea typeface="楷体_GB2312"/>
            </a:endParaRPr>
          </a:p>
        </p:txBody>
      </p:sp>
      <p:sp>
        <p:nvSpPr>
          <p:cNvPr id="216073" name="Line 8"/>
          <p:cNvSpPr/>
          <p:nvPr/>
        </p:nvSpPr>
        <p:spPr>
          <a:xfrm>
            <a:off x="6516688" y="3070225"/>
            <a:ext cx="0" cy="215900"/>
          </a:xfrm>
          <a:prstGeom prst="line">
            <a:avLst/>
          </a:prstGeom>
          <a:ln w="9525" cap="flat" cmpd="sng">
            <a:solidFill>
              <a:schemeClr val="tx1"/>
            </a:solidFill>
            <a:prstDash val="solid"/>
            <a:bevel/>
            <a:headEnd type="none" w="med" len="med"/>
            <a:tailEnd type="triangle" w="med" len="med"/>
          </a:ln>
        </p:spPr>
      </p:sp>
      <p:sp>
        <p:nvSpPr>
          <p:cNvPr id="216074" name="AutoShape 9"/>
          <p:cNvSpPr/>
          <p:nvPr/>
        </p:nvSpPr>
        <p:spPr>
          <a:xfrm>
            <a:off x="5492750" y="3863975"/>
            <a:ext cx="2016125" cy="576263"/>
          </a:xfrm>
          <a:prstGeom prst="flowChartDecision">
            <a:avLst/>
          </a:prstGeom>
          <a:solidFill>
            <a:srgbClr val="00FFCC"/>
          </a:solidFill>
          <a:ln w="9525" cap="flat" cmpd="sng">
            <a:solidFill>
              <a:schemeClr val="tx1"/>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2000" b="0" dirty="0">
                <a:solidFill>
                  <a:schemeClr val="tx1"/>
                </a:solidFill>
                <a:ea typeface="楷体_GB2312"/>
              </a:rPr>
              <a:t>全</a:t>
            </a:r>
            <a:r>
              <a:rPr lang="en-US" altLang="zh-CN" sz="2000" b="0" dirty="0">
                <a:solidFill>
                  <a:schemeClr val="tx1"/>
                </a:solidFill>
                <a:ea typeface="楷体_GB2312"/>
              </a:rPr>
              <a:t>0</a:t>
            </a:r>
            <a:r>
              <a:rPr lang="zh-CN" altLang="en-US" sz="2000" b="0" dirty="0">
                <a:solidFill>
                  <a:schemeClr val="tx1"/>
                </a:solidFill>
                <a:ea typeface="楷体_GB2312"/>
              </a:rPr>
              <a:t>？</a:t>
            </a:r>
            <a:endParaRPr lang="zh-CN" altLang="en-US" sz="2000" b="0" dirty="0">
              <a:solidFill>
                <a:schemeClr val="tx1"/>
              </a:solidFill>
              <a:ea typeface="楷体_GB2312"/>
            </a:endParaRPr>
          </a:p>
        </p:txBody>
      </p:sp>
      <p:sp>
        <p:nvSpPr>
          <p:cNvPr id="216075" name="Line 10"/>
          <p:cNvSpPr/>
          <p:nvPr/>
        </p:nvSpPr>
        <p:spPr>
          <a:xfrm>
            <a:off x="6516688" y="3648075"/>
            <a:ext cx="0" cy="215900"/>
          </a:xfrm>
          <a:prstGeom prst="line">
            <a:avLst/>
          </a:prstGeom>
          <a:ln w="9525" cap="flat" cmpd="sng">
            <a:solidFill>
              <a:schemeClr val="tx1"/>
            </a:solidFill>
            <a:prstDash val="solid"/>
            <a:bevel/>
            <a:headEnd type="none" w="med" len="med"/>
            <a:tailEnd type="triangle" w="med" len="med"/>
          </a:ln>
        </p:spPr>
      </p:sp>
      <p:sp>
        <p:nvSpPr>
          <p:cNvPr id="216076" name="AutoShape 11"/>
          <p:cNvSpPr/>
          <p:nvPr/>
        </p:nvSpPr>
        <p:spPr>
          <a:xfrm>
            <a:off x="5349875" y="4800600"/>
            <a:ext cx="2374900" cy="360363"/>
          </a:xfrm>
          <a:prstGeom prst="flowChartProcess">
            <a:avLst/>
          </a:prstGeom>
          <a:solidFill>
            <a:srgbClr val="00FFCC"/>
          </a:solidFill>
          <a:ln w="9525" cap="flat" cmpd="sng">
            <a:solidFill>
              <a:schemeClr val="tx1"/>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2000" b="0" dirty="0">
                <a:solidFill>
                  <a:schemeClr val="tx1"/>
                </a:solidFill>
                <a:ea typeface="楷体_GB2312"/>
              </a:rPr>
              <a:t>向主</a:t>
            </a:r>
            <a:r>
              <a:rPr lang="en-US" altLang="zh-CN" sz="2000" b="0" dirty="0">
                <a:solidFill>
                  <a:schemeClr val="tx1"/>
                </a:solidFill>
                <a:ea typeface="楷体_GB2312"/>
              </a:rPr>
              <a:t>PIC</a:t>
            </a:r>
            <a:r>
              <a:rPr lang="zh-CN" altLang="en-US" sz="2000" b="0" dirty="0">
                <a:solidFill>
                  <a:schemeClr val="tx1"/>
                </a:solidFill>
                <a:ea typeface="楷体_GB2312"/>
              </a:rPr>
              <a:t>发</a:t>
            </a:r>
            <a:r>
              <a:rPr lang="en-US" altLang="zh-CN" sz="2000" b="0" dirty="0">
                <a:solidFill>
                  <a:schemeClr val="tx1"/>
                </a:solidFill>
                <a:ea typeface="楷体_GB2312"/>
              </a:rPr>
              <a:t>EOI</a:t>
            </a:r>
            <a:r>
              <a:rPr lang="zh-CN" altLang="en-US" sz="2000" b="0" dirty="0">
                <a:solidFill>
                  <a:schemeClr val="tx1"/>
                </a:solidFill>
                <a:ea typeface="楷体_GB2312"/>
              </a:rPr>
              <a:t>命令</a:t>
            </a:r>
            <a:endParaRPr lang="zh-CN" altLang="en-US" sz="2000" b="0" dirty="0">
              <a:solidFill>
                <a:schemeClr val="tx1"/>
              </a:solidFill>
              <a:ea typeface="楷体_GB2312"/>
            </a:endParaRPr>
          </a:p>
        </p:txBody>
      </p:sp>
      <p:sp>
        <p:nvSpPr>
          <p:cNvPr id="216077" name="Line 12"/>
          <p:cNvSpPr/>
          <p:nvPr/>
        </p:nvSpPr>
        <p:spPr>
          <a:xfrm>
            <a:off x="6516688" y="4440238"/>
            <a:ext cx="0" cy="360362"/>
          </a:xfrm>
          <a:prstGeom prst="line">
            <a:avLst/>
          </a:prstGeom>
          <a:ln w="9525" cap="flat" cmpd="sng">
            <a:solidFill>
              <a:schemeClr val="tx1"/>
            </a:solidFill>
            <a:prstDash val="solid"/>
            <a:bevel/>
            <a:headEnd type="none" w="med" len="med"/>
            <a:tailEnd type="triangle" w="med" len="med"/>
          </a:ln>
        </p:spPr>
      </p:sp>
      <p:sp>
        <p:nvSpPr>
          <p:cNvPr id="216078" name="Text Box 13"/>
          <p:cNvSpPr txBox="1"/>
          <p:nvPr/>
        </p:nvSpPr>
        <p:spPr>
          <a:xfrm>
            <a:off x="6573838" y="4440238"/>
            <a:ext cx="215900" cy="304800"/>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50000"/>
              </a:spcBef>
              <a:spcAft>
                <a:spcPct val="0"/>
              </a:spcAft>
              <a:buClr>
                <a:srgbClr val="0000CC"/>
              </a:buClr>
              <a:buSzPct val="75000"/>
              <a:buNone/>
            </a:pPr>
            <a:r>
              <a:rPr lang="en-US" altLang="zh-CN" sz="2000" dirty="0">
                <a:solidFill>
                  <a:schemeClr val="bg2"/>
                </a:solidFill>
                <a:ea typeface="楷体_GB2312"/>
              </a:rPr>
              <a:t>Y</a:t>
            </a:r>
            <a:endParaRPr lang="en-US" altLang="zh-CN" sz="2000" dirty="0">
              <a:solidFill>
                <a:schemeClr val="bg2"/>
              </a:solidFill>
              <a:ea typeface="楷体_GB2312"/>
            </a:endParaRPr>
          </a:p>
        </p:txBody>
      </p:sp>
      <p:sp>
        <p:nvSpPr>
          <p:cNvPr id="216079" name="AutoShape 14"/>
          <p:cNvSpPr/>
          <p:nvPr/>
        </p:nvSpPr>
        <p:spPr>
          <a:xfrm>
            <a:off x="5997575" y="6238875"/>
            <a:ext cx="1008063" cy="288925"/>
          </a:xfrm>
          <a:prstGeom prst="flowChartAlternateProcess">
            <a:avLst/>
          </a:prstGeom>
          <a:solidFill>
            <a:srgbClr val="00FFCC"/>
          </a:solidFill>
          <a:ln w="9525" cap="flat" cmpd="sng">
            <a:solidFill>
              <a:schemeClr val="tx1"/>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2000" b="0" dirty="0">
                <a:solidFill>
                  <a:schemeClr val="tx1"/>
                </a:solidFill>
                <a:ea typeface="楷体_GB2312"/>
              </a:rPr>
              <a:t>IRET</a:t>
            </a:r>
            <a:endParaRPr lang="en-US" altLang="zh-CN" sz="2000" b="0" dirty="0">
              <a:solidFill>
                <a:schemeClr val="tx1"/>
              </a:solidFill>
              <a:ea typeface="楷体_GB2312"/>
            </a:endParaRPr>
          </a:p>
        </p:txBody>
      </p:sp>
      <p:sp>
        <p:nvSpPr>
          <p:cNvPr id="216080" name="AutoShape 15"/>
          <p:cNvSpPr/>
          <p:nvPr/>
        </p:nvSpPr>
        <p:spPr>
          <a:xfrm>
            <a:off x="5364163" y="5518150"/>
            <a:ext cx="2374900" cy="360363"/>
          </a:xfrm>
          <a:prstGeom prst="flowChartProcess">
            <a:avLst/>
          </a:prstGeom>
          <a:solidFill>
            <a:srgbClr val="00FFCC"/>
          </a:solidFill>
          <a:ln w="9525" cap="flat" cmpd="sng">
            <a:solidFill>
              <a:schemeClr val="tx1"/>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2000" b="0" dirty="0">
                <a:solidFill>
                  <a:schemeClr val="tx1"/>
                </a:solidFill>
                <a:ea typeface="楷体_GB2312"/>
              </a:rPr>
              <a:t>恢复现场</a:t>
            </a:r>
            <a:endParaRPr lang="zh-CN" altLang="en-US" sz="2000" b="0" dirty="0">
              <a:solidFill>
                <a:schemeClr val="tx1"/>
              </a:solidFill>
              <a:ea typeface="楷体_GB2312"/>
            </a:endParaRPr>
          </a:p>
        </p:txBody>
      </p:sp>
      <p:sp>
        <p:nvSpPr>
          <p:cNvPr id="216081" name="Line 16"/>
          <p:cNvSpPr/>
          <p:nvPr/>
        </p:nvSpPr>
        <p:spPr>
          <a:xfrm>
            <a:off x="6516688" y="5878513"/>
            <a:ext cx="0" cy="360362"/>
          </a:xfrm>
          <a:prstGeom prst="line">
            <a:avLst/>
          </a:prstGeom>
          <a:ln w="9525" cap="flat" cmpd="sng">
            <a:solidFill>
              <a:schemeClr val="tx1"/>
            </a:solidFill>
            <a:prstDash val="solid"/>
            <a:bevel/>
            <a:headEnd type="none" w="med" len="med"/>
            <a:tailEnd type="triangle" w="med" len="med"/>
          </a:ln>
        </p:spPr>
      </p:sp>
      <p:sp>
        <p:nvSpPr>
          <p:cNvPr id="216082" name="Line 17"/>
          <p:cNvSpPr/>
          <p:nvPr/>
        </p:nvSpPr>
        <p:spPr>
          <a:xfrm>
            <a:off x="6516688" y="5157788"/>
            <a:ext cx="0" cy="360362"/>
          </a:xfrm>
          <a:prstGeom prst="line">
            <a:avLst/>
          </a:prstGeom>
          <a:ln w="9525" cap="flat" cmpd="sng">
            <a:solidFill>
              <a:schemeClr val="tx1"/>
            </a:solidFill>
            <a:prstDash val="solid"/>
            <a:bevel/>
            <a:headEnd type="none" w="med" len="med"/>
            <a:tailEnd type="triangle" w="med" len="med"/>
          </a:ln>
        </p:spPr>
      </p:sp>
      <p:sp>
        <p:nvSpPr>
          <p:cNvPr id="216083" name="Line 18"/>
          <p:cNvSpPr/>
          <p:nvPr/>
        </p:nvSpPr>
        <p:spPr>
          <a:xfrm flipH="1" flipV="1">
            <a:off x="6516688" y="5302250"/>
            <a:ext cx="1582737" cy="0"/>
          </a:xfrm>
          <a:prstGeom prst="line">
            <a:avLst/>
          </a:prstGeom>
          <a:ln w="9525" cap="flat" cmpd="sng">
            <a:solidFill>
              <a:schemeClr val="tx1"/>
            </a:solidFill>
            <a:prstDash val="solid"/>
            <a:bevel/>
            <a:headEnd type="none" w="med" len="med"/>
            <a:tailEnd type="triangle" w="med" len="med"/>
          </a:ln>
        </p:spPr>
      </p:sp>
      <p:sp>
        <p:nvSpPr>
          <p:cNvPr id="216084" name="Line 19"/>
          <p:cNvSpPr/>
          <p:nvPr/>
        </p:nvSpPr>
        <p:spPr>
          <a:xfrm flipH="1" flipV="1">
            <a:off x="7524750" y="4149725"/>
            <a:ext cx="574675" cy="0"/>
          </a:xfrm>
          <a:prstGeom prst="line">
            <a:avLst/>
          </a:prstGeom>
          <a:ln w="9525" cap="flat" cmpd="sng">
            <a:solidFill>
              <a:schemeClr val="tx1"/>
            </a:solidFill>
            <a:prstDash val="solid"/>
            <a:bevel/>
            <a:headEnd type="none" w="med" len="med"/>
            <a:tailEnd type="none" w="med" len="med"/>
          </a:ln>
        </p:spPr>
      </p:sp>
      <p:sp>
        <p:nvSpPr>
          <p:cNvPr id="216085" name="Line 20"/>
          <p:cNvSpPr/>
          <p:nvPr/>
        </p:nvSpPr>
        <p:spPr>
          <a:xfrm flipH="1" flipV="1">
            <a:off x="8099425" y="4149725"/>
            <a:ext cx="0" cy="1152525"/>
          </a:xfrm>
          <a:prstGeom prst="line">
            <a:avLst/>
          </a:prstGeom>
          <a:ln w="9525" cap="flat" cmpd="sng">
            <a:solidFill>
              <a:schemeClr val="tx1"/>
            </a:solidFill>
            <a:prstDash val="solid"/>
            <a:bevel/>
            <a:headEnd type="none" w="med" len="med"/>
            <a:tailEnd type="none" w="med" len="med"/>
          </a:ln>
        </p:spPr>
      </p:sp>
      <p:sp>
        <p:nvSpPr>
          <p:cNvPr id="216086" name="Text Box 21"/>
          <p:cNvSpPr txBox="1"/>
          <p:nvPr/>
        </p:nvSpPr>
        <p:spPr>
          <a:xfrm>
            <a:off x="7596188" y="3848100"/>
            <a:ext cx="215900" cy="304800"/>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Bef>
                <a:spcPct val="50000"/>
              </a:spcBef>
              <a:spcAft>
                <a:spcPct val="0"/>
              </a:spcAft>
              <a:buClr>
                <a:srgbClr val="0000CC"/>
              </a:buClr>
              <a:buSzPct val="75000"/>
              <a:buNone/>
            </a:pPr>
            <a:r>
              <a:rPr lang="en-US" altLang="zh-CN" sz="2000" dirty="0">
                <a:solidFill>
                  <a:schemeClr val="bg2"/>
                </a:solidFill>
                <a:ea typeface="楷体_GB2312"/>
              </a:rPr>
              <a:t>N</a:t>
            </a:r>
            <a:endParaRPr lang="en-US" altLang="zh-CN" sz="2000" dirty="0">
              <a:solidFill>
                <a:schemeClr val="bg2"/>
              </a:solidFill>
              <a:ea typeface="楷体_GB2312"/>
            </a:endParaRPr>
          </a:p>
        </p:txBody>
      </p:sp>
      <p:sp>
        <p:nvSpPr>
          <p:cNvPr id="216087" name="Text Box 22"/>
          <p:cNvSpPr txBox="1"/>
          <p:nvPr/>
        </p:nvSpPr>
        <p:spPr>
          <a:xfrm>
            <a:off x="895350" y="2306638"/>
            <a:ext cx="4117975" cy="3840162"/>
          </a:xfrm>
          <a:prstGeom prst="rect">
            <a:avLst/>
          </a:prstGeom>
          <a:noFill/>
          <a:ln w="9525" cap="flat" cmpd="sng">
            <a:solidFill>
              <a:schemeClr val="bg2"/>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50000"/>
              </a:lnSpc>
              <a:spcBef>
                <a:spcPct val="50000"/>
              </a:spcBef>
              <a:spcAft>
                <a:spcPct val="0"/>
              </a:spcAft>
              <a:buClr>
                <a:srgbClr val="0000CC"/>
              </a:buClr>
              <a:buSzPct val="75000"/>
              <a:buNone/>
            </a:pPr>
            <a:r>
              <a:rPr lang="zh-CN" altLang="en-US" sz="2400" dirty="0">
                <a:solidFill>
                  <a:schemeClr val="bg2"/>
                </a:solidFill>
                <a:ea typeface="楷体_GB2312"/>
              </a:rPr>
              <a:t>不管是正常中断结束方式（</a:t>
            </a:r>
            <a:r>
              <a:rPr lang="en-US" altLang="zh-CN" sz="2400" dirty="0">
                <a:solidFill>
                  <a:schemeClr val="bg2"/>
                </a:solidFill>
                <a:ea typeface="楷体_GB2312"/>
              </a:rPr>
              <a:t>NSEOI</a:t>
            </a:r>
            <a:r>
              <a:rPr lang="zh-CN" altLang="en-US" sz="2400" dirty="0">
                <a:solidFill>
                  <a:schemeClr val="bg2"/>
                </a:solidFill>
                <a:ea typeface="楷体_GB2312"/>
              </a:rPr>
              <a:t>），还是特殊中断结束方式（</a:t>
            </a:r>
            <a:r>
              <a:rPr lang="en-US" altLang="zh-CN" sz="2400" dirty="0">
                <a:solidFill>
                  <a:schemeClr val="bg2"/>
                </a:solidFill>
                <a:ea typeface="楷体_GB2312"/>
              </a:rPr>
              <a:t>SEOI</a:t>
            </a:r>
            <a:r>
              <a:rPr lang="zh-CN" altLang="en-US" sz="2400" dirty="0">
                <a:solidFill>
                  <a:schemeClr val="bg2"/>
                </a:solidFill>
                <a:ea typeface="楷体_GB2312"/>
              </a:rPr>
              <a:t>），在一个中断服务程序结束时，对于级联使用的</a:t>
            </a:r>
            <a:r>
              <a:rPr lang="en-US" altLang="zh-CN" sz="2400" dirty="0">
                <a:solidFill>
                  <a:schemeClr val="bg2"/>
                </a:solidFill>
                <a:ea typeface="楷体_GB2312"/>
              </a:rPr>
              <a:t>8259a</a:t>
            </a:r>
            <a:r>
              <a:rPr lang="zh-CN" altLang="en-US" sz="2400" dirty="0">
                <a:solidFill>
                  <a:schemeClr val="bg2"/>
                </a:solidFill>
                <a:ea typeface="楷体_GB2312"/>
              </a:rPr>
              <a:t>都必须发</a:t>
            </a:r>
            <a:r>
              <a:rPr lang="zh-CN" altLang="en-US" sz="2400" dirty="0">
                <a:solidFill>
                  <a:srgbClr val="FF0000"/>
                </a:solidFill>
                <a:ea typeface="楷体_GB2312"/>
              </a:rPr>
              <a:t>两次中断结束命令</a:t>
            </a:r>
            <a:r>
              <a:rPr lang="zh-CN" altLang="en-US" sz="2400" dirty="0">
                <a:solidFill>
                  <a:schemeClr val="bg2"/>
                </a:solidFill>
                <a:ea typeface="楷体_GB2312"/>
              </a:rPr>
              <a:t>，一次是发给主片的，另一次是发给从片的。</a:t>
            </a:r>
            <a:endParaRPr lang="zh-CN" altLang="en-US" sz="2400" dirty="0">
              <a:solidFill>
                <a:schemeClr val="bg2"/>
              </a:solidFill>
              <a:ea typeface="楷体_GB2312"/>
            </a:endParaRPr>
          </a:p>
        </p:txBody>
      </p:sp>
    </p:spTree>
  </p:cSld>
  <p:clrMapOvr>
    <a:masterClrMapping/>
  </p:clrMapOvr>
  <p:transition spd="slow">
    <p:zoom/>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9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17091" name="Rectangle 2"/>
          <p:cNvSpPr>
            <a:spLocks noGrp="1" noRot="1"/>
          </p:cNvSpPr>
          <p:nvPr>
            <p:ph type="title" idx="4294967295"/>
          </p:nvPr>
        </p:nvSpPr>
        <p:spPr/>
        <p:txBody>
          <a:bodyPr vert="horz" wrap="square" lIns="91440" tIns="45720" rIns="91440" bIns="45720" anchor="b" anchorCtr="0"/>
          <a:p>
            <a:pPr eaLnBrk="1" hangingPunct="1"/>
            <a:r>
              <a:rPr lang="zh-CN" altLang="en-US" dirty="0"/>
              <a:t>屏蔽中断源的方式</a:t>
            </a:r>
            <a:endParaRPr lang="zh-CN" altLang="en-US" dirty="0"/>
          </a:p>
        </p:txBody>
      </p:sp>
      <p:sp>
        <p:nvSpPr>
          <p:cNvPr id="217092" name="Rectangle 3"/>
          <p:cNvSpPr>
            <a:spLocks noGrp="1" noRot="1"/>
          </p:cNvSpPr>
          <p:nvPr>
            <p:ph type="body" idx="4294967295"/>
          </p:nvPr>
        </p:nvSpPr>
        <p:spPr>
          <a:xfrm>
            <a:off x="252413" y="2017713"/>
            <a:ext cx="8702675" cy="4556125"/>
          </a:xfrm>
        </p:spPr>
        <p:txBody>
          <a:bodyPr vert="horz" wrap="square" lIns="91440" tIns="45720" rIns="91440" bIns="45720" anchor="t" anchorCtr="0"/>
          <a:p>
            <a:pPr eaLnBrk="1" hangingPunct="1"/>
            <a:r>
              <a:rPr lang="en-US" altLang="zh-CN" sz="2400" dirty="0"/>
              <a:t>IMR</a:t>
            </a:r>
            <a:r>
              <a:rPr lang="zh-CN" altLang="en-US" sz="2400" dirty="0"/>
              <a:t>屏蔽字决定了允许或禁止某位</a:t>
            </a:r>
            <a:r>
              <a:rPr lang="en-US" altLang="zh-CN" sz="2400" dirty="0"/>
              <a:t>IR</a:t>
            </a:r>
            <a:r>
              <a:rPr lang="en-US" altLang="zh-CN" sz="2400" baseline="-25000" dirty="0"/>
              <a:t>i</a:t>
            </a:r>
            <a:r>
              <a:rPr lang="zh-CN" altLang="en-US" sz="2400" dirty="0"/>
              <a:t>所对应的中断：</a:t>
            </a:r>
            <a:r>
              <a:rPr lang="en-US" altLang="zh-CN" sz="2400" dirty="0"/>
              <a:t>IM</a:t>
            </a:r>
            <a:r>
              <a:rPr lang="en-US" altLang="zh-CN" sz="2400" baseline="-25000" dirty="0"/>
              <a:t>i</a:t>
            </a:r>
            <a:r>
              <a:rPr lang="en-US" altLang="zh-CN" sz="2400" dirty="0"/>
              <a:t>=1 </a:t>
            </a:r>
            <a:r>
              <a:rPr lang="zh-CN" altLang="en-US" sz="2400" dirty="0"/>
              <a:t>禁止， </a:t>
            </a:r>
            <a:r>
              <a:rPr lang="en-US" altLang="zh-CN" sz="2400" dirty="0"/>
              <a:t>IM</a:t>
            </a:r>
            <a:r>
              <a:rPr lang="en-US" altLang="zh-CN" sz="2400" baseline="-25000" dirty="0"/>
              <a:t>i</a:t>
            </a:r>
            <a:r>
              <a:rPr lang="en-US" altLang="zh-CN" sz="2400" dirty="0"/>
              <a:t>=0 </a:t>
            </a:r>
            <a:r>
              <a:rPr lang="zh-CN" altLang="en-US" sz="2400" dirty="0"/>
              <a:t>允许。</a:t>
            </a:r>
            <a:endParaRPr lang="zh-CN" altLang="en-US" sz="2400" dirty="0"/>
          </a:p>
          <a:p>
            <a:pPr eaLnBrk="1" hangingPunct="1"/>
            <a:r>
              <a:rPr lang="zh-CN" altLang="en-US" sz="2000" dirty="0">
                <a:solidFill>
                  <a:srgbClr val="FF0000"/>
                </a:solidFill>
              </a:rPr>
              <a:t>普通屏蔽方式</a:t>
            </a:r>
            <a:r>
              <a:rPr lang="zh-CN" altLang="en-US" sz="2000" dirty="0"/>
              <a:t>：</a:t>
            </a:r>
            <a:r>
              <a:rPr lang="zh-CN" altLang="en-US" sz="2000" dirty="0">
                <a:solidFill>
                  <a:schemeClr val="bg2"/>
                </a:solidFill>
              </a:rPr>
              <a:t>在普通屏蔽方式中，如果将</a:t>
            </a:r>
            <a:r>
              <a:rPr lang="en-US" altLang="zh-CN" sz="2000" dirty="0">
                <a:solidFill>
                  <a:schemeClr val="bg2"/>
                </a:solidFill>
              </a:rPr>
              <a:t>IMR</a:t>
            </a:r>
            <a:r>
              <a:rPr lang="zh-CN" altLang="en-US" sz="2000" dirty="0">
                <a:solidFill>
                  <a:schemeClr val="bg2"/>
                </a:solidFill>
              </a:rPr>
              <a:t>某位置</a:t>
            </a:r>
            <a:r>
              <a:rPr lang="en-US" altLang="zh-CN" sz="2000" dirty="0">
                <a:solidFill>
                  <a:schemeClr val="bg2"/>
                </a:solidFill>
              </a:rPr>
              <a:t>1</a:t>
            </a:r>
            <a:r>
              <a:rPr lang="zh-CN" altLang="en-US" sz="2000" dirty="0">
                <a:solidFill>
                  <a:schemeClr val="bg2"/>
                </a:solidFill>
              </a:rPr>
              <a:t>，则它对应的</a:t>
            </a:r>
            <a:r>
              <a:rPr lang="en-US" altLang="zh-CN" sz="2000" dirty="0">
                <a:solidFill>
                  <a:schemeClr val="tx1"/>
                </a:solidFill>
                <a:sym typeface="Arial" panose="020B0604020202020204" pitchFamily="34" charset="0"/>
              </a:rPr>
              <a:t>IR</a:t>
            </a:r>
            <a:r>
              <a:rPr lang="en-US" altLang="zh-CN" sz="2000" baseline="-25000" dirty="0">
                <a:solidFill>
                  <a:schemeClr val="tx1"/>
                </a:solidFill>
                <a:sym typeface="Arial" panose="020B0604020202020204" pitchFamily="34" charset="0"/>
              </a:rPr>
              <a:t>i</a:t>
            </a:r>
            <a:r>
              <a:rPr lang="zh-CN" altLang="en-US" sz="2000" dirty="0">
                <a:solidFill>
                  <a:schemeClr val="bg2"/>
                </a:solidFill>
              </a:rPr>
              <a:t>将被屏蔽，从而使整个中断请求不能从</a:t>
            </a:r>
            <a:r>
              <a:rPr lang="en-US" altLang="zh-CN" sz="2000" dirty="0">
                <a:solidFill>
                  <a:schemeClr val="bg2"/>
                </a:solidFill>
              </a:rPr>
              <a:t>8259a</a:t>
            </a:r>
            <a:r>
              <a:rPr lang="zh-CN" altLang="en-US" sz="2000" dirty="0">
                <a:solidFill>
                  <a:schemeClr val="bg2"/>
                </a:solidFill>
              </a:rPr>
              <a:t>送到</a:t>
            </a:r>
            <a:r>
              <a:rPr lang="en-US" altLang="zh-CN" sz="2000" dirty="0">
                <a:solidFill>
                  <a:schemeClr val="bg2"/>
                </a:solidFill>
              </a:rPr>
              <a:t>CPU</a:t>
            </a:r>
            <a:r>
              <a:rPr lang="zh-CN" altLang="en-US" sz="2000" dirty="0">
                <a:solidFill>
                  <a:schemeClr val="bg2"/>
                </a:solidFill>
              </a:rPr>
              <a:t>，反之则可以。</a:t>
            </a:r>
            <a:endParaRPr lang="zh-CN" altLang="en-US" sz="2000" dirty="0">
              <a:solidFill>
                <a:schemeClr val="bg2"/>
              </a:solidFill>
            </a:endParaRPr>
          </a:p>
          <a:p>
            <a:pPr eaLnBrk="1" hangingPunct="1"/>
            <a:r>
              <a:rPr lang="zh-CN" altLang="en-US" sz="2000" dirty="0">
                <a:solidFill>
                  <a:srgbClr val="FF0000"/>
                </a:solidFill>
              </a:rPr>
              <a:t>特殊屏蔽方式</a:t>
            </a:r>
            <a:r>
              <a:rPr lang="zh-CN" altLang="en-US" sz="2000" dirty="0"/>
              <a:t>：除了普通屏蔽的功能外，同时允许较低优先级中断被响应</a:t>
            </a:r>
            <a:endParaRPr lang="zh-CN" altLang="en-US" sz="2000" dirty="0"/>
          </a:p>
          <a:p>
            <a:pPr lvl="1" eaLnBrk="1" hangingPunct="1"/>
            <a:r>
              <a:rPr lang="zh-CN" altLang="en-US" sz="2000" dirty="0">
                <a:solidFill>
                  <a:schemeClr val="bg2"/>
                </a:solidFill>
              </a:rPr>
              <a:t>原理</a:t>
            </a:r>
            <a:r>
              <a:rPr lang="zh-CN" altLang="en-US" sz="2000" dirty="0">
                <a:solidFill>
                  <a:schemeClr val="bg2"/>
                </a:solidFill>
                <a:sym typeface="Wingdings" panose="05000000000000000000" pitchFamily="2" charset="2"/>
              </a:rPr>
              <a:t>：使</a:t>
            </a:r>
            <a:r>
              <a:rPr lang="en-US" altLang="zh-CN" sz="2000" dirty="0">
                <a:solidFill>
                  <a:schemeClr val="bg2"/>
                </a:solidFill>
                <a:sym typeface="Wingdings" panose="05000000000000000000" pitchFamily="2" charset="2"/>
              </a:rPr>
              <a:t>IMR</a:t>
            </a:r>
            <a:r>
              <a:rPr lang="zh-CN" altLang="en-US" sz="2000" dirty="0">
                <a:solidFill>
                  <a:schemeClr val="bg2"/>
                </a:solidFill>
                <a:sym typeface="Wingdings" panose="05000000000000000000" pitchFamily="2" charset="2"/>
              </a:rPr>
              <a:t>的某位置</a:t>
            </a:r>
            <a:r>
              <a:rPr lang="en-US" altLang="zh-CN" sz="2000" dirty="0">
                <a:solidFill>
                  <a:schemeClr val="bg2"/>
                </a:solidFill>
                <a:sym typeface="Wingdings" panose="05000000000000000000" pitchFamily="2" charset="2"/>
              </a:rPr>
              <a:t>1</a:t>
            </a:r>
            <a:r>
              <a:rPr lang="zh-CN" altLang="en-US" sz="2000" dirty="0">
                <a:solidFill>
                  <a:schemeClr val="bg2"/>
                </a:solidFill>
                <a:sym typeface="Wingdings" panose="05000000000000000000" pitchFamily="2" charset="2"/>
              </a:rPr>
              <a:t>，就会同时使</a:t>
            </a:r>
            <a:r>
              <a:rPr lang="en-US" altLang="zh-CN" sz="2000" dirty="0">
                <a:solidFill>
                  <a:schemeClr val="bg2"/>
                </a:solidFill>
                <a:sym typeface="Wingdings" panose="05000000000000000000" pitchFamily="2" charset="2"/>
              </a:rPr>
              <a:t>ISR</a:t>
            </a:r>
            <a:r>
              <a:rPr lang="zh-CN" altLang="en-US" sz="2000" dirty="0">
                <a:solidFill>
                  <a:schemeClr val="bg2"/>
                </a:solidFill>
                <a:sym typeface="Wingdings" panose="05000000000000000000" pitchFamily="2" charset="2"/>
              </a:rPr>
              <a:t>的对应位自动复位。这样就可以使更低优先级的中断请求进入，当然未被屏蔽的更高优先级的中断请求也可以进入。特殊屏蔽方式。可以通过编程写入操作命令字</a:t>
            </a:r>
            <a:r>
              <a:rPr lang="en-US" altLang="zh-CN" sz="2000" dirty="0">
                <a:solidFill>
                  <a:schemeClr val="bg2"/>
                </a:solidFill>
                <a:sym typeface="Wingdings" panose="05000000000000000000" pitchFamily="2" charset="2"/>
              </a:rPr>
              <a:t>OCW3</a:t>
            </a:r>
            <a:r>
              <a:rPr lang="zh-CN" altLang="en-US" sz="2000" dirty="0">
                <a:solidFill>
                  <a:schemeClr val="bg2"/>
                </a:solidFill>
                <a:sym typeface="Wingdings" panose="05000000000000000000" pitchFamily="2" charset="2"/>
              </a:rPr>
              <a:t>来设置或取消。</a:t>
            </a:r>
            <a:endParaRPr lang="en-US" altLang="zh-CN" sz="2000" dirty="0">
              <a:solidFill>
                <a:schemeClr val="bg2"/>
              </a:solidFill>
              <a:sym typeface="Wingdings" panose="05000000000000000000" pitchFamily="2" charset="2"/>
            </a:endParaRPr>
          </a:p>
          <a:p>
            <a:pPr lvl="1" eaLnBrk="1" hangingPunct="1"/>
            <a:r>
              <a:rPr lang="zh-CN" altLang="en-US" sz="2000" dirty="0"/>
              <a:t>特殊屏蔽方式中只能用</a:t>
            </a:r>
            <a:r>
              <a:rPr lang="en-US" altLang="zh-CN" sz="2000" dirty="0"/>
              <a:t>SEOI</a:t>
            </a:r>
            <a:r>
              <a:rPr lang="zh-CN" altLang="en-US" sz="2000" dirty="0"/>
              <a:t>命令结束中断。</a:t>
            </a:r>
            <a:endParaRPr lang="zh-CN" altLang="en-US" sz="2000" dirty="0"/>
          </a:p>
        </p:txBody>
      </p:sp>
    </p:spTree>
  </p:cSld>
  <p:clrMapOvr>
    <a:masterClrMapping/>
  </p:clrMapOvr>
  <p:transition spd="slow">
    <p:zoom/>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9138"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19139" name="Rectangle 2"/>
          <p:cNvSpPr>
            <a:spLocks noGrp="1" noRot="1"/>
          </p:cNvSpPr>
          <p:nvPr>
            <p:ph type="title" idx="4294967295"/>
          </p:nvPr>
        </p:nvSpPr>
        <p:spPr/>
        <p:txBody>
          <a:bodyPr vert="horz" wrap="square" lIns="91440" tIns="45720" rIns="91440" bIns="45720" anchor="b" anchorCtr="0"/>
          <a:p>
            <a:pPr eaLnBrk="1" hangingPunct="1"/>
            <a:r>
              <a:rPr lang="zh-CN" altLang="en-US" dirty="0"/>
              <a:t>中断触发方式</a:t>
            </a:r>
            <a:endParaRPr lang="zh-CN" altLang="en-US" dirty="0"/>
          </a:p>
        </p:txBody>
      </p:sp>
      <p:sp>
        <p:nvSpPr>
          <p:cNvPr id="219140" name="Rectangle 3"/>
          <p:cNvSpPr>
            <a:spLocks noGrp="1" noRot="1"/>
          </p:cNvSpPr>
          <p:nvPr>
            <p:ph type="body" idx="4294967295"/>
          </p:nvPr>
        </p:nvSpPr>
        <p:spPr/>
        <p:txBody>
          <a:bodyPr vert="horz" wrap="square" lIns="91440" tIns="45720" rIns="91440" bIns="45720" anchor="t" anchorCtr="0"/>
          <a:p>
            <a:pPr eaLnBrk="1" hangingPunct="1"/>
            <a:r>
              <a:rPr lang="zh-CN" altLang="en-US" dirty="0"/>
              <a:t>边沿触发</a:t>
            </a:r>
            <a:endParaRPr lang="zh-CN" altLang="en-US" dirty="0"/>
          </a:p>
          <a:p>
            <a:pPr lvl="1" eaLnBrk="1" hangingPunct="1"/>
            <a:r>
              <a:rPr lang="en-GB" altLang="en-US" dirty="0"/>
              <a:t>IR</a:t>
            </a:r>
            <a:r>
              <a:rPr lang="en-GB" altLang="en-US" baseline="-25000" dirty="0"/>
              <a:t>i</a:t>
            </a:r>
            <a:r>
              <a:rPr lang="zh-CN" altLang="en-US" dirty="0"/>
              <a:t>出现上升沿表示有中断请求 </a:t>
            </a:r>
            <a:endParaRPr lang="zh-CN" altLang="en-US" dirty="0"/>
          </a:p>
          <a:p>
            <a:pPr eaLnBrk="1" hangingPunct="1"/>
            <a:r>
              <a:rPr lang="zh-CN" altLang="en-US" dirty="0"/>
              <a:t>电平触发</a:t>
            </a:r>
            <a:endParaRPr lang="zh-CN" altLang="en-US" dirty="0"/>
          </a:p>
          <a:p>
            <a:pPr lvl="1" eaLnBrk="1" hangingPunct="1"/>
            <a:r>
              <a:rPr lang="en-GB" altLang="en-US" dirty="0"/>
              <a:t>IR</a:t>
            </a:r>
            <a:r>
              <a:rPr lang="en-GB" altLang="en-US" baseline="-25000" dirty="0"/>
              <a:t>i</a:t>
            </a:r>
            <a:r>
              <a:rPr lang="zh-CN" altLang="en-US" dirty="0"/>
              <a:t>出现高电平表示有中断请求</a:t>
            </a:r>
            <a:endParaRPr lang="zh-CN" altLang="en-US" dirty="0"/>
          </a:p>
          <a:p>
            <a:pPr eaLnBrk="1" hangingPunct="1"/>
            <a:r>
              <a:rPr lang="zh-CN" altLang="en-US" dirty="0"/>
              <a:t>在第</a:t>
            </a:r>
            <a:r>
              <a:rPr lang="en-GB" altLang="en-US" dirty="0"/>
              <a:t>1</a:t>
            </a:r>
            <a:r>
              <a:rPr lang="zh-CN" altLang="en-US" dirty="0"/>
              <a:t>个</a:t>
            </a:r>
            <a:r>
              <a:rPr lang="en-GB" altLang="en-US" dirty="0"/>
              <a:t>INTA</a:t>
            </a:r>
            <a:r>
              <a:rPr lang="zh-CN" altLang="en-US" dirty="0"/>
              <a:t>结束前，</a:t>
            </a:r>
            <a:r>
              <a:rPr lang="en-GB" altLang="en-US" dirty="0"/>
              <a:t>IR</a:t>
            </a:r>
            <a:r>
              <a:rPr lang="en-GB" altLang="en-US" baseline="-25000" dirty="0"/>
              <a:t>i</a:t>
            </a:r>
            <a:r>
              <a:rPr lang="zh-CN" altLang="en-US" dirty="0"/>
              <a:t>必须保持高电平 </a:t>
            </a:r>
            <a:endParaRPr lang="zh-CN" altLang="en-US" dirty="0"/>
          </a:p>
        </p:txBody>
      </p:sp>
      <p:sp>
        <p:nvSpPr>
          <p:cNvPr id="219141" name="Line 4"/>
          <p:cNvSpPr/>
          <p:nvPr/>
        </p:nvSpPr>
        <p:spPr>
          <a:xfrm>
            <a:off x="2771775" y="4221163"/>
            <a:ext cx="935038" cy="0"/>
          </a:xfrm>
          <a:prstGeom prst="line">
            <a:avLst/>
          </a:prstGeom>
          <a:ln w="9525" cap="flat" cmpd="sng">
            <a:solidFill>
              <a:schemeClr val="tx1"/>
            </a:solidFill>
            <a:prstDash val="solid"/>
            <a:bevel/>
            <a:headEnd type="none" w="med" len="med"/>
            <a:tailEnd type="none" w="med" len="med"/>
          </a:ln>
        </p:spPr>
      </p:sp>
    </p:spTree>
  </p:cSld>
  <p:clrMapOvr>
    <a:masterClrMapping/>
  </p:clrMapOvr>
  <p:transition spd="slow">
    <p:zoom/>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2"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20163" name="Rectangle 2"/>
          <p:cNvSpPr>
            <a:spLocks noGrp="1" noRot="1"/>
          </p:cNvSpPr>
          <p:nvPr>
            <p:ph type="title" idx="4294967295"/>
          </p:nvPr>
        </p:nvSpPr>
        <p:spPr/>
        <p:txBody>
          <a:bodyPr vert="horz" wrap="square" lIns="91440" tIns="45720" rIns="91440" bIns="45720" anchor="b" anchorCtr="0"/>
          <a:p>
            <a:pPr eaLnBrk="1" hangingPunct="1"/>
            <a:r>
              <a:rPr lang="zh-CN" altLang="en-US" dirty="0"/>
              <a:t>级联工作方式</a:t>
            </a:r>
            <a:endParaRPr lang="zh-CN" altLang="en-US" dirty="0"/>
          </a:p>
        </p:txBody>
      </p:sp>
      <p:sp>
        <p:nvSpPr>
          <p:cNvPr id="220164" name="Rectangle 3"/>
          <p:cNvSpPr>
            <a:spLocks noGrp="1" noRot="1"/>
          </p:cNvSpPr>
          <p:nvPr>
            <p:ph type="body" idx="4294967295"/>
          </p:nvPr>
        </p:nvSpPr>
        <p:spPr>
          <a:xfrm>
            <a:off x="658813" y="1984375"/>
            <a:ext cx="8486775" cy="4897438"/>
          </a:xfrm>
        </p:spPr>
        <p:txBody>
          <a:bodyPr vert="horz" wrap="square" lIns="91440" tIns="45720" rIns="91440" bIns="45720" anchor="t" anchorCtr="0"/>
          <a:p>
            <a:pPr eaLnBrk="1" hangingPunct="1"/>
            <a:r>
              <a:rPr lang="zh-CN" altLang="en-US" sz="2400" dirty="0"/>
              <a:t>单片</a:t>
            </a:r>
            <a:r>
              <a:rPr lang="en-US" altLang="zh-CN" sz="2400" dirty="0"/>
              <a:t>8259A</a:t>
            </a:r>
            <a:r>
              <a:rPr lang="zh-CN" altLang="en-US" sz="2400" dirty="0"/>
              <a:t>可支持</a:t>
            </a:r>
            <a:r>
              <a:rPr lang="en-US" altLang="zh-CN" sz="2400" dirty="0"/>
              <a:t>8</a:t>
            </a:r>
            <a:r>
              <a:rPr lang="zh-CN" altLang="en-US" sz="2400" dirty="0"/>
              <a:t>个中断源；</a:t>
            </a:r>
            <a:endParaRPr lang="zh-CN" altLang="en-US" sz="2400" dirty="0"/>
          </a:p>
          <a:p>
            <a:pPr eaLnBrk="1" hangingPunct="1"/>
            <a:r>
              <a:rPr lang="zh-CN" altLang="en-US" sz="2400" dirty="0"/>
              <a:t>采用多片</a:t>
            </a:r>
            <a:r>
              <a:rPr lang="en-US" altLang="zh-CN" sz="2400" dirty="0"/>
              <a:t>8259A</a:t>
            </a:r>
            <a:r>
              <a:rPr lang="zh-CN" altLang="en-US" sz="2400" dirty="0"/>
              <a:t>级连，可最多支持</a:t>
            </a:r>
            <a:r>
              <a:rPr lang="en-US" altLang="zh-CN" sz="2400" dirty="0"/>
              <a:t>64</a:t>
            </a:r>
            <a:r>
              <a:rPr lang="zh-CN" altLang="en-US" sz="2400" dirty="0"/>
              <a:t>个中断源。</a:t>
            </a:r>
            <a:r>
              <a:rPr lang="en-US" altLang="zh-CN" sz="2400" dirty="0"/>
              <a:t>n</a:t>
            </a:r>
            <a:r>
              <a:rPr lang="zh-CN" altLang="en-US" sz="2400" dirty="0"/>
              <a:t>片</a:t>
            </a:r>
            <a:r>
              <a:rPr lang="en-US" altLang="zh-CN" sz="2400" dirty="0"/>
              <a:t>8259A</a:t>
            </a:r>
            <a:r>
              <a:rPr lang="zh-CN" altLang="en-US" sz="2400" dirty="0"/>
              <a:t>可支持</a:t>
            </a:r>
            <a:r>
              <a:rPr lang="en-US" altLang="zh-CN" sz="2400" dirty="0"/>
              <a:t>7n+1</a:t>
            </a:r>
            <a:r>
              <a:rPr lang="zh-CN" altLang="en-US" sz="2400" dirty="0"/>
              <a:t>个中断源；</a:t>
            </a:r>
            <a:endParaRPr lang="zh-CN" altLang="en-US" sz="2400" dirty="0"/>
          </a:p>
          <a:p>
            <a:pPr eaLnBrk="1" hangingPunct="1">
              <a:buClr>
                <a:schemeClr val="tx1"/>
              </a:buClr>
              <a:buFont typeface="Arial" panose="020B0604020202020204" pitchFamily="34" charset="0"/>
              <a:buNone/>
            </a:pPr>
            <a:r>
              <a:rPr lang="zh-CN" altLang="en-US" sz="2000" dirty="0"/>
              <a:t>    </a:t>
            </a:r>
            <a:r>
              <a:rPr lang="zh-CN" altLang="en-US" sz="2000" dirty="0">
                <a:solidFill>
                  <a:schemeClr val="hlink"/>
                </a:solidFill>
              </a:rPr>
              <a:t>8*(n-1)+8-(n-1)=7*n+1</a:t>
            </a:r>
            <a:endParaRPr lang="zh-CN" altLang="en-US" sz="2000" dirty="0">
              <a:solidFill>
                <a:schemeClr val="hlink"/>
              </a:solidFill>
            </a:endParaRPr>
          </a:p>
          <a:p>
            <a:pPr eaLnBrk="1" hangingPunct="1"/>
            <a:r>
              <a:rPr lang="zh-CN" altLang="en-US" sz="2400" dirty="0"/>
              <a:t>级连时只能有一片</a:t>
            </a:r>
            <a:r>
              <a:rPr lang="en-US" altLang="zh-CN" sz="2400" dirty="0"/>
              <a:t>8259A</a:t>
            </a:r>
            <a:r>
              <a:rPr lang="zh-CN" altLang="en-US" sz="2400" dirty="0"/>
              <a:t>为主片，其余的均为从属片；</a:t>
            </a:r>
            <a:endParaRPr lang="zh-CN" altLang="en-US" sz="2400" dirty="0"/>
          </a:p>
          <a:p>
            <a:pPr eaLnBrk="1" hangingPunct="1"/>
            <a:r>
              <a:rPr lang="zh-CN" altLang="en-US" sz="2400" dirty="0"/>
              <a:t>涉及到的</a:t>
            </a:r>
            <a:r>
              <a:rPr lang="en-US" altLang="zh-CN" sz="2400" dirty="0"/>
              <a:t>8259A</a:t>
            </a:r>
            <a:r>
              <a:rPr lang="zh-CN" altLang="en-US" sz="2400" dirty="0"/>
              <a:t>引脚包括：</a:t>
            </a:r>
            <a:endParaRPr lang="zh-CN" altLang="en-US" sz="2400" dirty="0"/>
          </a:p>
          <a:p>
            <a:pPr lvl="1" eaLnBrk="1" hangingPunct="1"/>
            <a:r>
              <a:rPr lang="en-US" altLang="zh-CN" sz="2000" dirty="0"/>
              <a:t>CAS</a:t>
            </a:r>
            <a:r>
              <a:rPr lang="en-US" altLang="zh-CN" sz="2000" baseline="-20000" dirty="0"/>
              <a:t>0</a:t>
            </a:r>
            <a:r>
              <a:rPr lang="en-US" altLang="zh-CN" sz="2000" dirty="0"/>
              <a:t>-CAS</a:t>
            </a:r>
            <a:r>
              <a:rPr lang="en-US" altLang="zh-CN" sz="2000" baseline="-20000" dirty="0"/>
              <a:t>2</a:t>
            </a:r>
            <a:endParaRPr lang="en-US" altLang="zh-CN" sz="2000" dirty="0"/>
          </a:p>
          <a:p>
            <a:pPr lvl="1" eaLnBrk="1" hangingPunct="1"/>
            <a:r>
              <a:rPr lang="en-US" altLang="zh-CN" sz="2000" dirty="0"/>
              <a:t>SP/EN</a:t>
            </a:r>
            <a:endParaRPr lang="en-US" altLang="zh-CN" sz="2000" dirty="0"/>
          </a:p>
          <a:p>
            <a:pPr lvl="1" eaLnBrk="1" hangingPunct="1"/>
            <a:r>
              <a:rPr lang="en-US" altLang="zh-CN" sz="2000" dirty="0"/>
              <a:t>IRi</a:t>
            </a:r>
            <a:endParaRPr lang="en-US" altLang="zh-CN" sz="2000" dirty="0"/>
          </a:p>
          <a:p>
            <a:pPr lvl="1" eaLnBrk="1" hangingPunct="1"/>
            <a:r>
              <a:rPr lang="en-US" altLang="zh-CN" sz="2000" dirty="0"/>
              <a:t>INT</a:t>
            </a:r>
            <a:endParaRPr lang="en-US" altLang="zh-CN" sz="2000" dirty="0"/>
          </a:p>
        </p:txBody>
      </p:sp>
      <p:cxnSp>
        <p:nvCxnSpPr>
          <p:cNvPr id="3" name="直接连接符 2"/>
          <p:cNvCxnSpPr/>
          <p:nvPr/>
        </p:nvCxnSpPr>
        <p:spPr>
          <a:xfrm>
            <a:off x="1547813" y="5229225"/>
            <a:ext cx="287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20166" name="图片 5"/>
          <p:cNvPicPr>
            <a:picLocks noChangeAspect="1"/>
          </p:cNvPicPr>
          <p:nvPr/>
        </p:nvPicPr>
        <p:blipFill>
          <a:blip r:embed="rId1"/>
          <a:stretch>
            <a:fillRect/>
          </a:stretch>
        </p:blipFill>
        <p:spPr>
          <a:xfrm>
            <a:off x="1979613" y="5216525"/>
            <a:ext cx="298450" cy="12700"/>
          </a:xfrm>
          <a:prstGeom prst="rect">
            <a:avLst/>
          </a:prstGeom>
          <a:noFill/>
          <a:ln w="9525">
            <a:noFill/>
          </a:ln>
        </p:spPr>
      </p:pic>
    </p:spTree>
  </p:cSld>
  <p:clrMapOvr>
    <a:masterClrMapping/>
  </p:clrMapOvr>
  <p:transition spd="slow">
    <p:zoom/>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21187" name="Rectangle 2"/>
          <p:cNvSpPr>
            <a:spLocks noGrp="1" noRot="1"/>
          </p:cNvSpPr>
          <p:nvPr>
            <p:ph type="title" idx="4294967295"/>
          </p:nvPr>
        </p:nvSpPr>
        <p:spPr/>
        <p:txBody>
          <a:bodyPr vert="horz" wrap="square" lIns="91440" tIns="45720" rIns="91440" bIns="45720" anchor="b" anchorCtr="0"/>
          <a:p>
            <a:pPr eaLnBrk="1" hangingPunct="1"/>
            <a:r>
              <a:rPr lang="zh-CN" altLang="en-US" dirty="0"/>
              <a:t>级连电路连接方法</a:t>
            </a:r>
            <a:endParaRPr lang="zh-CN" altLang="en-US" dirty="0"/>
          </a:p>
        </p:txBody>
      </p:sp>
      <p:graphicFrame>
        <p:nvGraphicFramePr>
          <p:cNvPr id="221188" name="Object 3"/>
          <p:cNvGraphicFramePr>
            <a:graphicFrameLocks noGrp="1" noChangeAspect="1"/>
          </p:cNvGraphicFramePr>
          <p:nvPr>
            <p:ph idx="4294967295"/>
          </p:nvPr>
        </p:nvGraphicFramePr>
        <p:xfrm>
          <a:off x="323850" y="2276475"/>
          <a:ext cx="8497888" cy="3279775"/>
        </p:xfrm>
        <a:graphic>
          <a:graphicData uri="http://schemas.openxmlformats.org/presentationml/2006/ole">
            <mc:AlternateContent xmlns:mc="http://schemas.openxmlformats.org/markup-compatibility/2006">
              <mc:Choice xmlns:v="urn:schemas-microsoft-com:vml" Requires="v">
                <p:oleObj spid="_x0000_s3084" name="" r:id="rId1" imgW="7529830" imgH="2912745" progId="">
                  <p:embed/>
                </p:oleObj>
              </mc:Choice>
              <mc:Fallback>
                <p:oleObj name="" r:id="rId1" imgW="7529830" imgH="2912745" progId="">
                  <p:embed/>
                  <p:pic>
                    <p:nvPicPr>
                      <p:cNvPr id="0" name="图片 3083"/>
                      <p:cNvPicPr/>
                      <p:nvPr/>
                    </p:nvPicPr>
                    <p:blipFill>
                      <a:blip r:embed="rId2"/>
                      <a:srcRect/>
                      <a:stretch>
                        <a:fillRect/>
                      </a:stretch>
                    </p:blipFill>
                    <p:spPr>
                      <a:xfrm>
                        <a:off x="323850" y="2276475"/>
                        <a:ext cx="8497888" cy="3279775"/>
                      </a:xfrm>
                      <a:prstGeom prst="rect">
                        <a:avLst/>
                      </a:prstGeom>
                      <a:noFill/>
                      <a:ln w="38100">
                        <a:miter/>
                      </a:ln>
                    </p:spPr>
                  </p:pic>
                </p:oleObj>
              </mc:Fallback>
            </mc:AlternateContent>
          </a:graphicData>
        </a:graphic>
      </p:graphicFrame>
    </p:spTree>
  </p:cSld>
  <p:clrMapOvr>
    <a:masterClrMapping/>
  </p:clrMapOvr>
  <p:transition spd="slow">
    <p:zoom/>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0" name="Rectangle 2"/>
          <p:cNvSpPr/>
          <p:nvPr/>
        </p:nvSpPr>
        <p:spPr>
          <a:xfrm>
            <a:off x="4716463" y="1989138"/>
            <a:ext cx="4114800" cy="4692650"/>
          </a:xfrm>
          <a:prstGeom prst="rect">
            <a:avLst/>
          </a:prstGeom>
          <a:solidFill>
            <a:srgbClr val="9999FF">
              <a:alpha val="20000"/>
            </a:srgbClr>
          </a:solidFill>
          <a:ln w="9525" cap="flat" cmpd="sng">
            <a:solidFill>
              <a:srgbClr val="FF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r>
              <a:rPr lang="zh-CN" altLang="en-US" sz="2400" dirty="0">
                <a:latin typeface="Tahoma" panose="020B0604030504040204" pitchFamily="34" charset="0"/>
                <a:ea typeface="楷体_GB2312"/>
              </a:rPr>
              <a:t>主片： </a:t>
            </a:r>
            <a:r>
              <a:rPr lang="en-US" altLang="zh-CN" sz="2400" dirty="0">
                <a:latin typeface="Tahoma" panose="020B0604030504040204" pitchFamily="34" charset="0"/>
                <a:ea typeface="楷体_GB2312"/>
              </a:rPr>
              <a:t>IR3</a:t>
            </a:r>
            <a:r>
              <a:rPr lang="zh-CN" altLang="en-US" sz="2400" dirty="0">
                <a:latin typeface="Tahoma" panose="020B0604030504040204" pitchFamily="34" charset="0"/>
                <a:ea typeface="楷体_GB2312"/>
              </a:rPr>
              <a:t>有申请</a:t>
            </a:r>
            <a:endParaRPr lang="zh-CN" altLang="en-US" sz="2400" dirty="0">
              <a:latin typeface="Tahoma" panose="020B0604030504040204" pitchFamily="34" charset="0"/>
              <a:ea typeface="楷体_GB2312"/>
            </a:endParaRPr>
          </a:p>
          <a:p>
            <a:pPr marL="342900" lvl="0" indent="-342900">
              <a:buNone/>
            </a:pPr>
            <a:r>
              <a:rPr lang="zh-CN" altLang="en-US" sz="2400" dirty="0">
                <a:latin typeface="Tahoma" panose="020B0604030504040204" pitchFamily="34" charset="0"/>
                <a:ea typeface="楷体_GB2312"/>
              </a:rPr>
              <a:t>   </a:t>
            </a:r>
            <a:r>
              <a:rPr lang="en-US" altLang="zh-CN" sz="2400" dirty="0">
                <a:latin typeface="Tahoma" panose="020B0604030504040204" pitchFamily="34" charset="0"/>
                <a:ea typeface="楷体_GB2312"/>
              </a:rPr>
              <a:t>IRR:0000 </a:t>
            </a:r>
            <a:r>
              <a:rPr lang="en-US" altLang="zh-CN" sz="2400" dirty="0">
                <a:solidFill>
                  <a:srgbClr val="FF0000"/>
                </a:solidFill>
                <a:latin typeface="Tahoma" panose="020B0604030504040204" pitchFamily="34" charset="0"/>
                <a:ea typeface="楷体_GB2312"/>
              </a:rPr>
              <a:t>1</a:t>
            </a:r>
            <a:r>
              <a:rPr lang="en-US" altLang="zh-CN" sz="2400" dirty="0">
                <a:latin typeface="Tahoma" panose="020B0604030504040204" pitchFamily="34" charset="0"/>
                <a:ea typeface="楷体_GB2312"/>
              </a:rPr>
              <a:t>000</a:t>
            </a:r>
            <a:endParaRPr lang="en-US" altLang="zh-CN" sz="2400" dirty="0">
              <a:latin typeface="Tahoma" panose="020B0604030504040204" pitchFamily="34" charset="0"/>
              <a:ea typeface="楷体_GB2312"/>
            </a:endParaRPr>
          </a:p>
          <a:p>
            <a:pPr marL="342900" lvl="0" indent="-342900">
              <a:buNone/>
            </a:pPr>
            <a:r>
              <a:rPr lang="en-US" altLang="zh-CN" sz="2400" dirty="0">
                <a:latin typeface="Tahoma" panose="020B0604030504040204" pitchFamily="34" charset="0"/>
                <a:ea typeface="楷体_GB2312"/>
              </a:rPr>
              <a:t>   ISR:0000 </a:t>
            </a:r>
            <a:r>
              <a:rPr lang="en-US" altLang="zh-CN" sz="2400" dirty="0">
                <a:solidFill>
                  <a:srgbClr val="FF0000"/>
                </a:solidFill>
                <a:latin typeface="Tahoma" panose="020B0604030504040204" pitchFamily="34" charset="0"/>
                <a:ea typeface="楷体_GB2312"/>
              </a:rPr>
              <a:t>1</a:t>
            </a:r>
            <a:r>
              <a:rPr lang="en-US" altLang="zh-CN" sz="2400" dirty="0">
                <a:latin typeface="Tahoma" panose="020B0604030504040204" pitchFamily="34" charset="0"/>
                <a:ea typeface="楷体_GB2312"/>
              </a:rPr>
              <a:t>000</a:t>
            </a:r>
            <a:endParaRPr lang="en-US" altLang="zh-CN" sz="2400" dirty="0">
              <a:latin typeface="Tahoma" panose="020B0604030504040204" pitchFamily="34" charset="0"/>
              <a:ea typeface="楷体_GB2312"/>
            </a:endParaRPr>
          </a:p>
          <a:p>
            <a:pPr marL="342900" lvl="0" indent="-342900"/>
            <a:r>
              <a:rPr lang="zh-CN" altLang="en-US" sz="2400" dirty="0">
                <a:latin typeface="Tahoma" panose="020B0604030504040204" pitchFamily="34" charset="0"/>
                <a:ea typeface="楷体_GB2312"/>
              </a:rPr>
              <a:t>主片向</a:t>
            </a:r>
            <a:r>
              <a:rPr lang="en-US" altLang="zh-CN" sz="2400" dirty="0">
                <a:latin typeface="Tahoma" panose="020B0604030504040204" pitchFamily="34" charset="0"/>
                <a:ea typeface="楷体_GB2312"/>
              </a:rPr>
              <a:t>CPU</a:t>
            </a:r>
            <a:r>
              <a:rPr lang="zh-CN" altLang="en-US" sz="2400" dirty="0">
                <a:latin typeface="Tahoma" panose="020B0604030504040204" pitchFamily="34" charset="0"/>
                <a:ea typeface="楷体_GB2312"/>
              </a:rPr>
              <a:t>发</a:t>
            </a:r>
            <a:r>
              <a:rPr lang="en-US" altLang="zh-CN" sz="2400" dirty="0">
                <a:latin typeface="Tahoma" panose="020B0604030504040204" pitchFamily="34" charset="0"/>
                <a:ea typeface="楷体_GB2312"/>
              </a:rPr>
              <a:t>INTR</a:t>
            </a:r>
            <a:r>
              <a:rPr lang="zh-CN" altLang="en-US" sz="2400" dirty="0">
                <a:latin typeface="Tahoma" panose="020B0604030504040204" pitchFamily="34" charset="0"/>
                <a:ea typeface="楷体_GB2312"/>
              </a:rPr>
              <a:t>信号</a:t>
            </a:r>
            <a:endParaRPr lang="zh-CN" altLang="en-US" sz="2400" dirty="0">
              <a:latin typeface="Tahoma" panose="020B0604030504040204" pitchFamily="34" charset="0"/>
              <a:ea typeface="楷体_GB2312"/>
            </a:endParaRPr>
          </a:p>
          <a:p>
            <a:pPr marL="342900" lvl="0" indent="-342900"/>
            <a:r>
              <a:rPr lang="en-US" altLang="zh-CN" sz="2400" dirty="0">
                <a:latin typeface="Tahoma" panose="020B0604030504040204" pitchFamily="34" charset="0"/>
                <a:ea typeface="楷体_GB2312"/>
              </a:rPr>
              <a:t>CPU</a:t>
            </a:r>
            <a:r>
              <a:rPr lang="zh-CN" altLang="en-US" sz="2400" dirty="0">
                <a:latin typeface="Tahoma" panose="020B0604030504040204" pitchFamily="34" charset="0"/>
                <a:ea typeface="楷体_GB2312"/>
              </a:rPr>
              <a:t>发回答信号</a:t>
            </a:r>
            <a:r>
              <a:rPr lang="en-US" altLang="zh-CN" sz="2400" dirty="0">
                <a:latin typeface="Tahoma" panose="020B0604030504040204" pitchFamily="34" charset="0"/>
                <a:ea typeface="楷体_GB2312"/>
              </a:rPr>
              <a:t>INTA</a:t>
            </a:r>
            <a:endParaRPr lang="en-US" altLang="zh-CN" sz="2400" dirty="0">
              <a:latin typeface="Tahoma" panose="020B0604030504040204" pitchFamily="34" charset="0"/>
              <a:ea typeface="楷体_GB2312"/>
            </a:endParaRPr>
          </a:p>
          <a:p>
            <a:pPr marL="342900" lvl="0" indent="-342900"/>
            <a:r>
              <a:rPr lang="en-US" altLang="zh-CN" sz="2400" dirty="0">
                <a:latin typeface="Tahoma" panose="020B0604030504040204" pitchFamily="34" charset="0"/>
                <a:ea typeface="楷体_GB2312"/>
              </a:rPr>
              <a:t>2</a:t>
            </a:r>
            <a:r>
              <a:rPr lang="zh-CN" altLang="en-US" sz="2400" dirty="0">
                <a:latin typeface="Tahoma" panose="020B0604030504040204" pitchFamily="34" charset="0"/>
                <a:ea typeface="楷体_GB2312"/>
              </a:rPr>
              <a:t>个从片都收到</a:t>
            </a:r>
            <a:r>
              <a:rPr lang="en-US" altLang="zh-CN" sz="2400" dirty="0">
                <a:latin typeface="Tahoma" panose="020B0604030504040204" pitchFamily="34" charset="0"/>
                <a:ea typeface="楷体_GB2312"/>
              </a:rPr>
              <a:t>INTA</a:t>
            </a:r>
            <a:endParaRPr lang="en-US" altLang="zh-CN" sz="2400" dirty="0">
              <a:latin typeface="Tahoma" panose="020B0604030504040204" pitchFamily="34" charset="0"/>
              <a:ea typeface="楷体_GB2312"/>
            </a:endParaRPr>
          </a:p>
          <a:p>
            <a:pPr marL="342900" lvl="0" indent="-342900"/>
            <a:r>
              <a:rPr lang="zh-CN" altLang="en-US" sz="2400" dirty="0">
                <a:latin typeface="Tahoma" panose="020B0604030504040204" pitchFamily="34" charset="0"/>
                <a:ea typeface="楷体_GB2312"/>
              </a:rPr>
              <a:t>主片向从片送识别码</a:t>
            </a:r>
            <a:r>
              <a:rPr lang="en-US" altLang="zh-CN" sz="2400" dirty="0">
                <a:latin typeface="Tahoma" panose="020B0604030504040204" pitchFamily="34" charset="0"/>
                <a:ea typeface="楷体_GB2312"/>
              </a:rPr>
              <a:t>:</a:t>
            </a:r>
            <a:endParaRPr lang="en-US" altLang="zh-CN" sz="2400" dirty="0">
              <a:latin typeface="Tahoma" panose="020B0604030504040204" pitchFamily="34" charset="0"/>
              <a:ea typeface="楷体_GB2312"/>
            </a:endParaRPr>
          </a:p>
          <a:p>
            <a:pPr marL="342900" lvl="0" indent="-342900">
              <a:buNone/>
            </a:pPr>
            <a:r>
              <a:rPr lang="en-US" altLang="zh-CN" sz="2400" dirty="0">
                <a:latin typeface="Tahoma" panose="020B0604030504040204" pitchFamily="34" charset="0"/>
                <a:ea typeface="楷体_GB2312"/>
              </a:rPr>
              <a:t>    </a:t>
            </a:r>
            <a:r>
              <a:rPr lang="en-US" altLang="zh-CN" sz="2400" dirty="0">
                <a:solidFill>
                  <a:srgbClr val="CC0000"/>
                </a:solidFill>
                <a:latin typeface="Tahoma" panose="020B0604030504040204" pitchFamily="34" charset="0"/>
                <a:ea typeface="楷体_GB2312"/>
              </a:rPr>
              <a:t>CAS</a:t>
            </a:r>
            <a:r>
              <a:rPr lang="en-US" altLang="zh-CN" sz="2400" baseline="-25000" dirty="0">
                <a:solidFill>
                  <a:srgbClr val="CC0000"/>
                </a:solidFill>
                <a:latin typeface="Tahoma" panose="020B0604030504040204" pitchFamily="34" charset="0"/>
                <a:ea typeface="楷体_GB2312"/>
              </a:rPr>
              <a:t>0</a:t>
            </a:r>
            <a:r>
              <a:rPr lang="en-US" altLang="zh-CN" sz="2400" dirty="0">
                <a:solidFill>
                  <a:srgbClr val="CC0000"/>
                </a:solidFill>
                <a:latin typeface="Tahoma" panose="020B0604030504040204" pitchFamily="34" charset="0"/>
                <a:ea typeface="楷体_GB2312"/>
              </a:rPr>
              <a:t>~CAS</a:t>
            </a:r>
            <a:r>
              <a:rPr lang="en-US" altLang="zh-CN" sz="2400" baseline="-25000" dirty="0">
                <a:solidFill>
                  <a:srgbClr val="CC0000"/>
                </a:solidFill>
                <a:latin typeface="Tahoma" panose="020B0604030504040204" pitchFamily="34" charset="0"/>
                <a:ea typeface="楷体_GB2312"/>
              </a:rPr>
              <a:t>2</a:t>
            </a:r>
            <a:r>
              <a:rPr lang="en-US" altLang="zh-CN" sz="2400" dirty="0">
                <a:solidFill>
                  <a:srgbClr val="CC0000"/>
                </a:solidFill>
                <a:latin typeface="Tahoma" panose="020B0604030504040204" pitchFamily="34" charset="0"/>
                <a:ea typeface="楷体_GB2312"/>
              </a:rPr>
              <a:t>=011</a:t>
            </a:r>
            <a:endParaRPr lang="en-US" altLang="zh-CN" sz="2400" dirty="0">
              <a:solidFill>
                <a:srgbClr val="CC0000"/>
              </a:solidFill>
              <a:latin typeface="Tahoma" panose="020B0604030504040204" pitchFamily="34" charset="0"/>
              <a:ea typeface="楷体_GB2312"/>
            </a:endParaRPr>
          </a:p>
          <a:p>
            <a:pPr marL="342900" lvl="0" indent="-342900"/>
            <a:endParaRPr lang="en-US" altLang="zh-CN" sz="2400" dirty="0">
              <a:solidFill>
                <a:srgbClr val="CC0000"/>
              </a:solidFill>
              <a:latin typeface="Tahoma" panose="020B0604030504040204" pitchFamily="34" charset="0"/>
              <a:ea typeface="楷体_GB2312"/>
            </a:endParaRPr>
          </a:p>
        </p:txBody>
      </p:sp>
      <p:sp>
        <p:nvSpPr>
          <p:cNvPr id="222211" name="Rectangle 3"/>
          <p:cNvSpPr/>
          <p:nvPr/>
        </p:nvSpPr>
        <p:spPr>
          <a:xfrm>
            <a:off x="322263" y="1989138"/>
            <a:ext cx="4013200" cy="4692650"/>
          </a:xfrm>
          <a:prstGeom prst="rect">
            <a:avLst/>
          </a:prstGeom>
          <a:solidFill>
            <a:srgbClr val="FFFFCC">
              <a:alpha val="50195"/>
            </a:srgbClr>
          </a:solidFill>
          <a:ln w="9525" cap="flat" cmpd="sng">
            <a:solidFill>
              <a:srgbClr val="FF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r>
              <a:rPr lang="en-US" altLang="zh-CN" sz="2400" dirty="0">
                <a:latin typeface="Tahoma" panose="020B0604030504040204" pitchFamily="34" charset="0"/>
                <a:ea typeface="楷体_GB2312"/>
              </a:rPr>
              <a:t>1#</a:t>
            </a:r>
            <a:r>
              <a:rPr lang="zh-CN" altLang="en-US" sz="2400" dirty="0">
                <a:latin typeface="Tahoma" panose="020B0604030504040204" pitchFamily="34" charset="0"/>
                <a:ea typeface="楷体_GB2312"/>
              </a:rPr>
              <a:t>从片</a:t>
            </a:r>
            <a:endParaRPr lang="zh-CN" altLang="en-US" sz="2400" dirty="0">
              <a:latin typeface="Tahoma" panose="020B0604030504040204" pitchFamily="34" charset="0"/>
              <a:ea typeface="楷体_GB2312"/>
            </a:endParaRPr>
          </a:p>
          <a:p>
            <a:pPr marL="342900" lvl="0" indent="-342900"/>
            <a:r>
              <a:rPr lang="en-US" altLang="zh-CN" sz="2400" dirty="0">
                <a:latin typeface="Tahoma" panose="020B0604030504040204" pitchFamily="34" charset="0"/>
                <a:ea typeface="楷体_GB2312"/>
              </a:rPr>
              <a:t>IR5</a:t>
            </a:r>
            <a:r>
              <a:rPr lang="zh-CN" altLang="en-US" sz="2400" dirty="0">
                <a:latin typeface="Tahoma" panose="020B0604030504040204" pitchFamily="34" charset="0"/>
                <a:ea typeface="楷体_GB2312"/>
              </a:rPr>
              <a:t>有申请</a:t>
            </a:r>
            <a:endParaRPr lang="zh-CN" altLang="en-US" sz="2400" dirty="0">
              <a:latin typeface="Tahoma" panose="020B0604030504040204" pitchFamily="34" charset="0"/>
              <a:ea typeface="楷体_GB2312"/>
            </a:endParaRPr>
          </a:p>
          <a:p>
            <a:pPr marL="342900" lvl="0" indent="-342900">
              <a:buNone/>
            </a:pPr>
            <a:r>
              <a:rPr lang="zh-CN" altLang="en-US" sz="2400" dirty="0">
                <a:latin typeface="Tahoma" panose="020B0604030504040204" pitchFamily="34" charset="0"/>
                <a:ea typeface="楷体_GB2312"/>
              </a:rPr>
              <a:t>   </a:t>
            </a:r>
            <a:r>
              <a:rPr lang="en-US" altLang="zh-CN" sz="2400" dirty="0">
                <a:latin typeface="Tahoma" panose="020B0604030504040204" pitchFamily="34" charset="0"/>
                <a:ea typeface="楷体_GB2312"/>
              </a:rPr>
              <a:t>IRR: 00</a:t>
            </a:r>
            <a:r>
              <a:rPr lang="en-US" altLang="zh-CN" sz="2400" dirty="0">
                <a:solidFill>
                  <a:srgbClr val="FF0000"/>
                </a:solidFill>
                <a:latin typeface="Tahoma" panose="020B0604030504040204" pitchFamily="34" charset="0"/>
                <a:ea typeface="楷体_GB2312"/>
              </a:rPr>
              <a:t>1</a:t>
            </a:r>
            <a:r>
              <a:rPr lang="en-US" altLang="zh-CN" sz="2400" dirty="0">
                <a:latin typeface="Tahoma" panose="020B0604030504040204" pitchFamily="34" charset="0"/>
                <a:ea typeface="楷体_GB2312"/>
              </a:rPr>
              <a:t>0 0000</a:t>
            </a:r>
            <a:endParaRPr lang="en-US" altLang="zh-CN" sz="2400" dirty="0">
              <a:latin typeface="Tahoma" panose="020B0604030504040204" pitchFamily="34" charset="0"/>
              <a:ea typeface="楷体_GB2312"/>
            </a:endParaRPr>
          </a:p>
          <a:p>
            <a:pPr marL="342900" lvl="0" indent="-342900">
              <a:buNone/>
            </a:pPr>
            <a:r>
              <a:rPr lang="en-US" altLang="zh-CN" sz="2400" dirty="0">
                <a:latin typeface="Tahoma" panose="020B0604030504040204" pitchFamily="34" charset="0"/>
                <a:ea typeface="楷体_GB2312"/>
              </a:rPr>
              <a:t>   ISR: 00</a:t>
            </a:r>
            <a:r>
              <a:rPr lang="en-US" altLang="zh-CN" sz="2400" dirty="0">
                <a:solidFill>
                  <a:srgbClr val="FF0000"/>
                </a:solidFill>
                <a:latin typeface="Tahoma" panose="020B0604030504040204" pitchFamily="34" charset="0"/>
                <a:ea typeface="楷体_GB2312"/>
              </a:rPr>
              <a:t>1</a:t>
            </a:r>
            <a:r>
              <a:rPr lang="en-US" altLang="zh-CN" sz="2400" dirty="0">
                <a:latin typeface="Tahoma" panose="020B0604030504040204" pitchFamily="34" charset="0"/>
                <a:ea typeface="楷体_GB2312"/>
              </a:rPr>
              <a:t>0 0000</a:t>
            </a:r>
            <a:endParaRPr lang="en-US" altLang="zh-CN" sz="2400" dirty="0">
              <a:latin typeface="Tahoma" panose="020B0604030504040204" pitchFamily="34" charset="0"/>
              <a:ea typeface="楷体_GB2312"/>
            </a:endParaRPr>
          </a:p>
          <a:p>
            <a:pPr marL="342900" lvl="0" indent="-342900"/>
            <a:r>
              <a:rPr lang="zh-CN" altLang="en-US" sz="2400" dirty="0">
                <a:latin typeface="Tahoma" panose="020B0604030504040204" pitchFamily="34" charset="0"/>
                <a:ea typeface="楷体_GB2312"/>
              </a:rPr>
              <a:t>向主片发</a:t>
            </a:r>
            <a:r>
              <a:rPr lang="en-US" altLang="zh-CN" sz="2400" dirty="0">
                <a:latin typeface="Tahoma" panose="020B0604030504040204" pitchFamily="34" charset="0"/>
                <a:ea typeface="楷体_GB2312"/>
              </a:rPr>
              <a:t>INT</a:t>
            </a:r>
            <a:r>
              <a:rPr lang="zh-CN" altLang="en-US" sz="2400" dirty="0">
                <a:latin typeface="Tahoma" panose="020B0604030504040204" pitchFamily="34" charset="0"/>
                <a:ea typeface="楷体_GB2312"/>
              </a:rPr>
              <a:t>信号</a:t>
            </a:r>
            <a:endParaRPr lang="zh-CN" altLang="en-US" sz="2400" dirty="0">
              <a:latin typeface="Tahoma" panose="020B0604030504040204" pitchFamily="34" charset="0"/>
              <a:ea typeface="楷体_GB2312"/>
            </a:endParaRPr>
          </a:p>
          <a:p>
            <a:pPr marL="342900" lvl="0" indent="-342900"/>
            <a:r>
              <a:rPr lang="zh-CN" altLang="en-US" sz="2400" dirty="0">
                <a:latin typeface="Tahoma" panose="020B0604030504040204" pitchFamily="34" charset="0"/>
                <a:ea typeface="楷体_GB2312"/>
              </a:rPr>
              <a:t>从片地址与主片地址同</a:t>
            </a:r>
            <a:endParaRPr lang="zh-CN" altLang="en-US" sz="2400" dirty="0">
              <a:latin typeface="Tahoma" panose="020B0604030504040204" pitchFamily="34" charset="0"/>
              <a:ea typeface="楷体_GB2312"/>
            </a:endParaRPr>
          </a:p>
          <a:p>
            <a:pPr marL="342900" lvl="0" indent="-342900"/>
            <a:r>
              <a:rPr lang="en-US" altLang="zh-CN" sz="2400" dirty="0">
                <a:latin typeface="Tahoma" panose="020B0604030504040204" pitchFamily="34" charset="0"/>
                <a:ea typeface="楷体_GB2312"/>
              </a:rPr>
              <a:t>1#</a:t>
            </a:r>
            <a:r>
              <a:rPr lang="zh-CN" altLang="en-US" sz="2400" dirty="0">
                <a:latin typeface="Tahoma" panose="020B0604030504040204" pitchFamily="34" charset="0"/>
                <a:ea typeface="楷体_GB2312"/>
              </a:rPr>
              <a:t>从片与识别码一致</a:t>
            </a:r>
            <a:r>
              <a:rPr lang="en-US" altLang="zh-CN" sz="2400" dirty="0">
                <a:latin typeface="Tahoma" panose="020B0604030504040204" pitchFamily="34" charset="0"/>
                <a:ea typeface="楷体_GB2312"/>
              </a:rPr>
              <a:t>,1#</a:t>
            </a:r>
            <a:r>
              <a:rPr lang="zh-CN" altLang="en-US" sz="2400" dirty="0">
                <a:latin typeface="Tahoma" panose="020B0604030504040204" pitchFamily="34" charset="0"/>
                <a:ea typeface="楷体_GB2312"/>
              </a:rPr>
              <a:t>从片送出中断类型码</a:t>
            </a:r>
            <a:endParaRPr lang="zh-CN" altLang="en-US" sz="2400" dirty="0">
              <a:latin typeface="Tahoma" panose="020B0604030504040204" pitchFamily="34" charset="0"/>
              <a:ea typeface="楷体_GB2312"/>
            </a:endParaRPr>
          </a:p>
          <a:p>
            <a:pPr marL="342900" lvl="0" indent="-342900"/>
            <a:endParaRPr lang="en-US" altLang="zh-CN" sz="2400" dirty="0">
              <a:latin typeface="Tahoma" panose="020B0604030504040204" pitchFamily="34" charset="0"/>
              <a:ea typeface="楷体_GB2312"/>
            </a:endParaRPr>
          </a:p>
        </p:txBody>
      </p:sp>
      <p:sp>
        <p:nvSpPr>
          <p:cNvPr id="222212" name="Text Box 4"/>
          <p:cNvSpPr txBox="1"/>
          <p:nvPr/>
        </p:nvSpPr>
        <p:spPr>
          <a:xfrm>
            <a:off x="1331913" y="765175"/>
            <a:ext cx="6248400" cy="10096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15000"/>
              </a:spcBef>
              <a:spcAft>
                <a:spcPct val="0"/>
              </a:spcAft>
              <a:buClrTx/>
              <a:buSzTx/>
              <a:buFont typeface="Arial" panose="020B0604020202020204" pitchFamily="34" charset="0"/>
              <a:buNone/>
            </a:pPr>
            <a:r>
              <a:rPr lang="en-US" altLang="zh-CN" i="1" dirty="0">
                <a:solidFill>
                  <a:srgbClr val="0000FF"/>
                </a:solidFill>
                <a:latin typeface="Times New Roman" panose="02020603050405020304" pitchFamily="18" charset="0"/>
                <a:ea typeface="楷体_GB2312"/>
              </a:rPr>
              <a:t>1#</a:t>
            </a:r>
            <a:r>
              <a:rPr lang="zh-CN" altLang="en-US" i="1" dirty="0">
                <a:solidFill>
                  <a:srgbClr val="0000FF"/>
                </a:solidFill>
                <a:latin typeface="Times New Roman" panose="02020603050405020304" pitchFamily="18" charset="0"/>
                <a:ea typeface="楷体_GB2312"/>
              </a:rPr>
              <a:t>从片</a:t>
            </a:r>
            <a:r>
              <a:rPr lang="zh-CN" altLang="en-US" i="1" dirty="0">
                <a:solidFill>
                  <a:schemeClr val="tx1"/>
                </a:solidFill>
                <a:latin typeface="Times New Roman" panose="02020603050405020304" pitchFamily="18" charset="0"/>
                <a:ea typeface="楷体_GB2312"/>
              </a:rPr>
              <a:t>挂在</a:t>
            </a:r>
            <a:r>
              <a:rPr lang="zh-CN" altLang="en-US" i="1" dirty="0">
                <a:solidFill>
                  <a:srgbClr val="0000FF"/>
                </a:solidFill>
                <a:latin typeface="Times New Roman" panose="02020603050405020304" pitchFamily="18" charset="0"/>
                <a:ea typeface="楷体_GB2312"/>
              </a:rPr>
              <a:t>主片</a:t>
            </a:r>
            <a:r>
              <a:rPr lang="zh-CN" altLang="en-US" i="1" dirty="0">
                <a:solidFill>
                  <a:schemeClr val="tx1"/>
                </a:solidFill>
                <a:latin typeface="Times New Roman" panose="02020603050405020304" pitchFamily="18" charset="0"/>
                <a:ea typeface="楷体_GB2312"/>
              </a:rPr>
              <a:t>的</a:t>
            </a:r>
            <a:r>
              <a:rPr lang="en-US" altLang="zh-CN" i="1" dirty="0">
                <a:solidFill>
                  <a:srgbClr val="3333FF"/>
                </a:solidFill>
                <a:latin typeface="Times New Roman" panose="02020603050405020304" pitchFamily="18" charset="0"/>
                <a:ea typeface="楷体_GB2312"/>
              </a:rPr>
              <a:t>IR3</a:t>
            </a:r>
            <a:endParaRPr lang="en-US" altLang="zh-CN" i="1" dirty="0">
              <a:solidFill>
                <a:srgbClr val="3333FF"/>
              </a:solidFill>
              <a:latin typeface="Times New Roman" panose="02020603050405020304" pitchFamily="18" charset="0"/>
              <a:ea typeface="楷体_GB2312"/>
            </a:endParaRPr>
          </a:p>
          <a:p>
            <a:pPr marL="0" lvl="0" indent="0">
              <a:lnSpc>
                <a:spcPct val="100000"/>
              </a:lnSpc>
              <a:spcBef>
                <a:spcPct val="15000"/>
              </a:spcBef>
              <a:spcAft>
                <a:spcPct val="0"/>
              </a:spcAft>
              <a:buClrTx/>
              <a:buSzTx/>
              <a:buFont typeface="Arial" panose="020B0604020202020204" pitchFamily="34" charset="0"/>
              <a:buNone/>
            </a:pPr>
            <a:r>
              <a:rPr lang="en-US" altLang="zh-CN" i="1" dirty="0">
                <a:solidFill>
                  <a:srgbClr val="0000FF"/>
                </a:solidFill>
                <a:latin typeface="Times New Roman" panose="02020603050405020304" pitchFamily="18" charset="0"/>
                <a:ea typeface="楷体_GB2312"/>
              </a:rPr>
              <a:t>2#</a:t>
            </a:r>
            <a:r>
              <a:rPr lang="zh-CN" altLang="en-US" i="1" dirty="0">
                <a:solidFill>
                  <a:srgbClr val="0000FF"/>
                </a:solidFill>
                <a:latin typeface="Times New Roman" panose="02020603050405020304" pitchFamily="18" charset="0"/>
                <a:ea typeface="楷体_GB2312"/>
              </a:rPr>
              <a:t>从片</a:t>
            </a:r>
            <a:r>
              <a:rPr lang="zh-CN" altLang="en-US" i="1" dirty="0">
                <a:solidFill>
                  <a:schemeClr val="tx1"/>
                </a:solidFill>
                <a:latin typeface="Times New Roman" panose="02020603050405020304" pitchFamily="18" charset="0"/>
                <a:ea typeface="楷体_GB2312"/>
              </a:rPr>
              <a:t>挂在</a:t>
            </a:r>
            <a:r>
              <a:rPr lang="zh-CN" altLang="en-US" i="1" dirty="0">
                <a:solidFill>
                  <a:srgbClr val="0000FF"/>
                </a:solidFill>
                <a:latin typeface="Times New Roman" panose="02020603050405020304" pitchFamily="18" charset="0"/>
                <a:ea typeface="楷体_GB2312"/>
              </a:rPr>
              <a:t>主片</a:t>
            </a:r>
            <a:r>
              <a:rPr lang="zh-CN" altLang="en-US" i="1" dirty="0">
                <a:solidFill>
                  <a:schemeClr val="tx1"/>
                </a:solidFill>
                <a:latin typeface="Times New Roman" panose="02020603050405020304" pitchFamily="18" charset="0"/>
                <a:ea typeface="楷体_GB2312"/>
              </a:rPr>
              <a:t>的</a:t>
            </a:r>
            <a:r>
              <a:rPr lang="en-US" altLang="zh-CN" i="1" dirty="0">
                <a:solidFill>
                  <a:srgbClr val="3333FF"/>
                </a:solidFill>
                <a:latin typeface="Times New Roman" panose="02020603050405020304" pitchFamily="18" charset="0"/>
                <a:ea typeface="楷体_GB2312"/>
              </a:rPr>
              <a:t>IR6</a:t>
            </a:r>
            <a:endParaRPr lang="en-US" altLang="zh-CN" i="1" dirty="0">
              <a:solidFill>
                <a:srgbClr val="3333FF"/>
              </a:solidFill>
              <a:latin typeface="Times New Roman" panose="02020603050405020304" pitchFamily="18" charset="0"/>
              <a:ea typeface="楷体_GB2312"/>
            </a:endParaRPr>
          </a:p>
        </p:txBody>
      </p:sp>
      <p:sp>
        <p:nvSpPr>
          <p:cNvPr id="222213" name="Line 5"/>
          <p:cNvSpPr/>
          <p:nvPr/>
        </p:nvSpPr>
        <p:spPr>
          <a:xfrm flipV="1">
            <a:off x="3573463" y="2408238"/>
            <a:ext cx="1524000" cy="1905000"/>
          </a:xfrm>
          <a:prstGeom prst="line">
            <a:avLst/>
          </a:prstGeom>
          <a:ln w="12700" cap="sq" cmpd="sng">
            <a:solidFill>
              <a:schemeClr val="tx1"/>
            </a:solidFill>
            <a:prstDash val="solid"/>
            <a:bevel/>
            <a:headEnd type="none" w="med" len="med"/>
            <a:tailEnd type="triangle" w="med" len="med"/>
          </a:ln>
        </p:spPr>
      </p:sp>
      <p:sp>
        <p:nvSpPr>
          <p:cNvPr id="222214" name="Line 6"/>
          <p:cNvSpPr/>
          <p:nvPr/>
        </p:nvSpPr>
        <p:spPr>
          <a:xfrm flipH="1" flipV="1">
            <a:off x="4030663" y="4999038"/>
            <a:ext cx="1066800" cy="304800"/>
          </a:xfrm>
          <a:prstGeom prst="line">
            <a:avLst/>
          </a:prstGeom>
          <a:ln w="12700" cap="sq" cmpd="sng">
            <a:solidFill>
              <a:schemeClr val="tx1"/>
            </a:solidFill>
            <a:prstDash val="solid"/>
            <a:bevel/>
            <a:headEnd type="none" w="med" len="med"/>
            <a:tailEnd type="triangle" w="med" len="med"/>
          </a:ln>
        </p:spPr>
      </p:sp>
    </p:spTree>
  </p:cSld>
  <p:clrMapOvr>
    <a:masterClrMapping/>
  </p:clrMapOvr>
  <p:transition spd="slow">
    <p:zoom/>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34" name="Text Box 2"/>
          <p:cNvSpPr txBox="1"/>
          <p:nvPr/>
        </p:nvSpPr>
        <p:spPr>
          <a:xfrm>
            <a:off x="468313" y="188913"/>
            <a:ext cx="8245475" cy="7016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Font typeface="Arial" panose="020B0604020202020204" pitchFamily="34" charset="0"/>
              <a:buNone/>
            </a:pPr>
            <a:r>
              <a:rPr lang="en-US" altLang="zh-CN" sz="4000" dirty="0">
                <a:solidFill>
                  <a:schemeClr val="hlink"/>
                </a:solidFill>
                <a:ea typeface="楷体_GB2312"/>
              </a:rPr>
              <a:t>8259A</a:t>
            </a:r>
            <a:r>
              <a:rPr lang="zh-CN" altLang="en-US" sz="4000" dirty="0">
                <a:solidFill>
                  <a:schemeClr val="hlink"/>
                </a:solidFill>
                <a:ea typeface="楷体_GB2312"/>
              </a:rPr>
              <a:t>的编程结构</a:t>
            </a:r>
            <a:endParaRPr lang="zh-CN" altLang="en-US" sz="4000" dirty="0">
              <a:solidFill>
                <a:schemeClr val="hlink"/>
              </a:solidFill>
              <a:ea typeface="楷体_GB2312"/>
            </a:endParaRPr>
          </a:p>
        </p:txBody>
      </p:sp>
      <p:grpSp>
        <p:nvGrpSpPr>
          <p:cNvPr id="223235" name="Group 3"/>
          <p:cNvGrpSpPr/>
          <p:nvPr/>
        </p:nvGrpSpPr>
        <p:grpSpPr>
          <a:xfrm>
            <a:off x="152400" y="838200"/>
            <a:ext cx="8991600" cy="5791200"/>
            <a:chOff x="0" y="0"/>
            <a:chExt cx="5664" cy="3648"/>
          </a:xfrm>
        </p:grpSpPr>
        <p:grpSp>
          <p:nvGrpSpPr>
            <p:cNvPr id="223238" name="Group 4"/>
            <p:cNvGrpSpPr/>
            <p:nvPr/>
          </p:nvGrpSpPr>
          <p:grpSpPr>
            <a:xfrm>
              <a:off x="5078" y="2334"/>
              <a:ext cx="154" cy="477"/>
              <a:chOff x="0" y="0"/>
              <a:chExt cx="718" cy="2236"/>
            </a:xfrm>
          </p:grpSpPr>
          <p:sp>
            <p:nvSpPr>
              <p:cNvPr id="223398" name="Line 5"/>
              <p:cNvSpPr/>
              <p:nvPr/>
            </p:nvSpPr>
            <p:spPr>
              <a:xfrm>
                <a:off x="15" y="0"/>
                <a:ext cx="703" cy="0"/>
              </a:xfrm>
              <a:prstGeom prst="line">
                <a:avLst/>
              </a:prstGeom>
              <a:ln w="25400" cap="flat" cmpd="sng">
                <a:solidFill>
                  <a:srgbClr val="000000"/>
                </a:solidFill>
                <a:prstDash val="solid"/>
                <a:bevel/>
                <a:headEnd type="none" w="med" len="med"/>
                <a:tailEnd type="none" w="med" len="med"/>
              </a:ln>
            </p:spPr>
          </p:sp>
          <p:sp>
            <p:nvSpPr>
              <p:cNvPr id="223399" name="Line 6"/>
              <p:cNvSpPr/>
              <p:nvPr/>
            </p:nvSpPr>
            <p:spPr>
              <a:xfrm>
                <a:off x="15" y="794"/>
                <a:ext cx="703" cy="0"/>
              </a:xfrm>
              <a:prstGeom prst="line">
                <a:avLst/>
              </a:prstGeom>
              <a:ln w="25400" cap="flat" cmpd="sng">
                <a:solidFill>
                  <a:srgbClr val="000000"/>
                </a:solidFill>
                <a:prstDash val="solid"/>
                <a:bevel/>
                <a:headEnd type="none" w="med" len="med"/>
                <a:tailEnd type="none" w="med" len="med"/>
              </a:ln>
            </p:spPr>
          </p:sp>
          <p:sp>
            <p:nvSpPr>
              <p:cNvPr id="223400" name="Line 7"/>
              <p:cNvSpPr/>
              <p:nvPr/>
            </p:nvSpPr>
            <p:spPr>
              <a:xfrm>
                <a:off x="15" y="1501"/>
                <a:ext cx="703" cy="0"/>
              </a:xfrm>
              <a:prstGeom prst="line">
                <a:avLst/>
              </a:prstGeom>
              <a:ln w="25400" cap="flat" cmpd="sng">
                <a:solidFill>
                  <a:srgbClr val="000000"/>
                </a:solidFill>
                <a:prstDash val="solid"/>
                <a:bevel/>
                <a:headEnd type="none" w="med" len="med"/>
                <a:tailEnd type="none" w="med" len="med"/>
              </a:ln>
            </p:spPr>
          </p:sp>
          <p:sp>
            <p:nvSpPr>
              <p:cNvPr id="223401" name="Line 8"/>
              <p:cNvSpPr/>
              <p:nvPr/>
            </p:nvSpPr>
            <p:spPr>
              <a:xfrm>
                <a:off x="0" y="2236"/>
                <a:ext cx="702" cy="0"/>
              </a:xfrm>
              <a:prstGeom prst="line">
                <a:avLst/>
              </a:prstGeom>
              <a:ln w="25400" cap="flat" cmpd="sng">
                <a:solidFill>
                  <a:srgbClr val="000000"/>
                </a:solidFill>
                <a:prstDash val="solid"/>
                <a:bevel/>
                <a:headEnd type="none" w="med" len="med"/>
                <a:tailEnd type="none" w="med" len="med"/>
              </a:ln>
            </p:spPr>
          </p:sp>
        </p:grpSp>
        <p:sp>
          <p:nvSpPr>
            <p:cNvPr id="223239" name="Line 9"/>
            <p:cNvSpPr/>
            <p:nvPr/>
          </p:nvSpPr>
          <p:spPr>
            <a:xfrm>
              <a:off x="5100" y="3045"/>
              <a:ext cx="151" cy="0"/>
            </a:xfrm>
            <a:prstGeom prst="line">
              <a:avLst/>
            </a:prstGeom>
            <a:ln w="25400" cap="flat" cmpd="sng">
              <a:solidFill>
                <a:srgbClr val="000000"/>
              </a:solidFill>
              <a:prstDash val="solid"/>
              <a:bevel/>
              <a:headEnd type="none" w="med" len="med"/>
              <a:tailEnd type="none" w="med" len="med"/>
            </a:ln>
          </p:spPr>
        </p:sp>
        <p:sp>
          <p:nvSpPr>
            <p:cNvPr id="223240" name="Line 10"/>
            <p:cNvSpPr/>
            <p:nvPr/>
          </p:nvSpPr>
          <p:spPr>
            <a:xfrm>
              <a:off x="5097" y="3360"/>
              <a:ext cx="151" cy="0"/>
            </a:xfrm>
            <a:prstGeom prst="line">
              <a:avLst/>
            </a:prstGeom>
            <a:ln w="25400" cap="flat" cmpd="sng">
              <a:solidFill>
                <a:srgbClr val="000000"/>
              </a:solidFill>
              <a:prstDash val="solid"/>
              <a:bevel/>
              <a:headEnd type="none" w="med" len="med"/>
              <a:tailEnd type="none" w="med" len="med"/>
            </a:ln>
          </p:spPr>
        </p:sp>
        <p:sp>
          <p:nvSpPr>
            <p:cNvPr id="223241" name="Text Box 11"/>
            <p:cNvSpPr txBox="1"/>
            <p:nvPr/>
          </p:nvSpPr>
          <p:spPr>
            <a:xfrm>
              <a:off x="5235" y="2208"/>
              <a:ext cx="403" cy="670"/>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600" dirty="0">
                  <a:solidFill>
                    <a:schemeClr val="tx1"/>
                  </a:solidFill>
                  <a:latin typeface="Times New Roman" panose="02020603050405020304" pitchFamily="18" charset="0"/>
                  <a:ea typeface="楷体_GB2312"/>
                </a:rPr>
                <a:t>SP/EN</a:t>
              </a:r>
              <a:endParaRPr lang="en-US" altLang="zh-CN" sz="18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CA0</a:t>
              </a:r>
              <a:endParaRPr lang="en-US" altLang="zh-CN" sz="18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CA1</a:t>
              </a:r>
              <a:endParaRPr lang="en-US" altLang="zh-CN" sz="18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CA2</a:t>
              </a:r>
              <a:endParaRPr lang="en-US" altLang="zh-CN" sz="18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1800" dirty="0">
                <a:solidFill>
                  <a:schemeClr val="tx1"/>
                </a:solidFill>
                <a:latin typeface="Times New Roman" panose="02020603050405020304" pitchFamily="18" charset="0"/>
                <a:ea typeface="楷体_GB2312"/>
              </a:endParaRPr>
            </a:p>
          </p:txBody>
        </p:sp>
        <p:sp>
          <p:nvSpPr>
            <p:cNvPr id="223242" name="Line 12"/>
            <p:cNvSpPr/>
            <p:nvPr/>
          </p:nvSpPr>
          <p:spPr>
            <a:xfrm flipV="1">
              <a:off x="487" y="2400"/>
              <a:ext cx="857" cy="2"/>
            </a:xfrm>
            <a:prstGeom prst="line">
              <a:avLst/>
            </a:prstGeom>
            <a:ln w="25400" cap="flat" cmpd="sng">
              <a:solidFill>
                <a:srgbClr val="000000"/>
              </a:solidFill>
              <a:prstDash val="solid"/>
              <a:bevel/>
              <a:headEnd type="none" w="med" len="med"/>
              <a:tailEnd type="triangle" w="med" len="med"/>
            </a:ln>
          </p:spPr>
        </p:sp>
        <p:sp>
          <p:nvSpPr>
            <p:cNvPr id="223243" name="Rectangle 13"/>
            <p:cNvSpPr/>
            <p:nvPr/>
          </p:nvSpPr>
          <p:spPr>
            <a:xfrm>
              <a:off x="0" y="423"/>
              <a:ext cx="481" cy="2996"/>
            </a:xfrm>
            <a:prstGeom prst="rect">
              <a:avLst/>
            </a:prstGeom>
            <a:solidFill>
              <a:srgbClr val="C0C0C0">
                <a:alpha val="50195"/>
              </a:srgbClr>
            </a:solidFill>
            <a:ln w="127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23244" name="Text Box 14"/>
            <p:cNvSpPr txBox="1"/>
            <p:nvPr/>
          </p:nvSpPr>
          <p:spPr>
            <a:xfrm>
              <a:off x="106" y="2289"/>
              <a:ext cx="329" cy="254"/>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IOR</a:t>
              </a:r>
              <a:endParaRPr lang="en-US" altLang="zh-CN" sz="1800" dirty="0">
                <a:solidFill>
                  <a:schemeClr val="tx1"/>
                </a:solidFill>
                <a:latin typeface="宋体" panose="02010600030101010101" pitchFamily="2" charset="-122"/>
                <a:ea typeface="楷体_GB2312"/>
              </a:endParaRPr>
            </a:p>
          </p:txBody>
        </p:sp>
        <p:sp>
          <p:nvSpPr>
            <p:cNvPr id="223245" name="Text Box 15"/>
            <p:cNvSpPr txBox="1"/>
            <p:nvPr/>
          </p:nvSpPr>
          <p:spPr>
            <a:xfrm>
              <a:off x="78" y="2520"/>
              <a:ext cx="372" cy="286"/>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IOW</a:t>
              </a:r>
              <a:endParaRPr lang="en-US" altLang="zh-CN" sz="1800" dirty="0">
                <a:solidFill>
                  <a:schemeClr val="tx1"/>
                </a:solidFill>
                <a:latin typeface="宋体" panose="02010600030101010101" pitchFamily="2" charset="-122"/>
                <a:ea typeface="楷体_GB2312"/>
              </a:endParaRPr>
            </a:p>
          </p:txBody>
        </p:sp>
        <p:sp>
          <p:nvSpPr>
            <p:cNvPr id="223246" name="Rectangle 16"/>
            <p:cNvSpPr/>
            <p:nvPr/>
          </p:nvSpPr>
          <p:spPr>
            <a:xfrm>
              <a:off x="1344" y="0"/>
              <a:ext cx="3792" cy="3648"/>
            </a:xfrm>
            <a:prstGeom prst="rect">
              <a:avLst/>
            </a:prstGeom>
            <a:solidFill>
              <a:srgbClr val="CCFFFF"/>
            </a:solidFill>
            <a:ln w="127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23247" name="Text Box 17"/>
            <p:cNvSpPr txBox="1"/>
            <p:nvPr/>
          </p:nvSpPr>
          <p:spPr>
            <a:xfrm>
              <a:off x="48" y="144"/>
              <a:ext cx="397" cy="288"/>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2000" dirty="0">
                  <a:solidFill>
                    <a:schemeClr val="tx1"/>
                  </a:solidFill>
                  <a:latin typeface="Times New Roman" panose="02020603050405020304" pitchFamily="18" charset="0"/>
                  <a:ea typeface="楷体_GB2312"/>
                </a:rPr>
                <a:t>总线</a:t>
              </a:r>
              <a:endParaRPr lang="zh-CN" altLang="en-US" sz="20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p:txBody>
        </p:sp>
        <p:sp>
          <p:nvSpPr>
            <p:cNvPr id="223248" name="Text Box 18"/>
            <p:cNvSpPr txBox="1"/>
            <p:nvPr/>
          </p:nvSpPr>
          <p:spPr>
            <a:xfrm>
              <a:off x="1392" y="528"/>
              <a:ext cx="240" cy="446"/>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7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D0</a:t>
              </a:r>
              <a:endParaRPr lang="en-US" altLang="zh-CN" sz="2000" dirty="0">
                <a:solidFill>
                  <a:schemeClr val="tx1"/>
                </a:solidFill>
                <a:latin typeface="Times New Roman" panose="02020603050405020304" pitchFamily="18" charset="0"/>
                <a:ea typeface="楷体_GB2312"/>
              </a:endParaRPr>
            </a:p>
            <a:p>
              <a:pPr marL="0" lvl="0" indent="0" algn="ctr">
                <a:lnSpc>
                  <a:spcPct val="7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t>
              </a:r>
              <a:endParaRPr lang="en-US" altLang="zh-CN" sz="2000" dirty="0">
                <a:solidFill>
                  <a:schemeClr val="tx1"/>
                </a:solidFill>
                <a:latin typeface="Times New Roman" panose="02020603050405020304" pitchFamily="18" charset="0"/>
                <a:ea typeface="楷体_GB2312"/>
              </a:endParaRPr>
            </a:p>
            <a:p>
              <a:pPr marL="0" lvl="0" indent="0" algn="ctr">
                <a:lnSpc>
                  <a:spcPct val="7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D7</a:t>
              </a:r>
              <a:endParaRPr lang="en-US" altLang="zh-CN" sz="1800" dirty="0">
                <a:solidFill>
                  <a:schemeClr val="tx1"/>
                </a:solidFill>
                <a:latin typeface="宋体" panose="02010600030101010101" pitchFamily="2" charset="-122"/>
                <a:ea typeface="楷体_GB2312"/>
              </a:endParaRPr>
            </a:p>
          </p:txBody>
        </p:sp>
        <p:sp>
          <p:nvSpPr>
            <p:cNvPr id="223249" name="AutoShape 19"/>
            <p:cNvSpPr/>
            <p:nvPr/>
          </p:nvSpPr>
          <p:spPr>
            <a:xfrm>
              <a:off x="481" y="599"/>
              <a:ext cx="863" cy="278"/>
            </a:xfrm>
            <a:prstGeom prst="leftRightArrow">
              <a:avLst>
                <a:gd name="adj1" fmla="val 63416"/>
                <a:gd name="adj2" fmla="val 24892"/>
              </a:avLst>
            </a:prstGeom>
            <a:solidFill>
              <a:srgbClr val="C0C0C0"/>
            </a:solid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23250" name="Text Box 20"/>
            <p:cNvSpPr txBox="1"/>
            <p:nvPr/>
          </p:nvSpPr>
          <p:spPr>
            <a:xfrm>
              <a:off x="624" y="447"/>
              <a:ext cx="722" cy="22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zh-CN" altLang="en-US" sz="2000" dirty="0">
                  <a:solidFill>
                    <a:schemeClr val="tx1"/>
                  </a:solidFill>
                  <a:latin typeface="Times New Roman" panose="02020603050405020304" pitchFamily="18" charset="0"/>
                  <a:ea typeface="楷体_GB2312"/>
                </a:rPr>
                <a:t>数 据 线</a:t>
              </a:r>
              <a:endParaRPr lang="zh-CN" altLang="en-US" sz="1800" dirty="0">
                <a:solidFill>
                  <a:schemeClr val="tx1"/>
                </a:solidFill>
                <a:latin typeface="Times New Roman" panose="02020603050405020304" pitchFamily="18" charset="0"/>
                <a:ea typeface="楷体_GB2312"/>
              </a:endParaRPr>
            </a:p>
          </p:txBody>
        </p:sp>
        <p:sp>
          <p:nvSpPr>
            <p:cNvPr id="223251" name="Line 21"/>
            <p:cNvSpPr/>
            <p:nvPr/>
          </p:nvSpPr>
          <p:spPr>
            <a:xfrm>
              <a:off x="144" y="2304"/>
              <a:ext cx="307" cy="0"/>
            </a:xfrm>
            <a:prstGeom prst="line">
              <a:avLst/>
            </a:prstGeom>
            <a:ln w="25400" cap="flat" cmpd="sng">
              <a:solidFill>
                <a:srgbClr val="000000"/>
              </a:solidFill>
              <a:prstDash val="solid"/>
              <a:bevel/>
              <a:headEnd type="none" w="med" len="med"/>
              <a:tailEnd type="none" w="med" len="med"/>
            </a:ln>
          </p:spPr>
        </p:sp>
        <p:sp>
          <p:nvSpPr>
            <p:cNvPr id="223252" name="Line 22"/>
            <p:cNvSpPr/>
            <p:nvPr/>
          </p:nvSpPr>
          <p:spPr>
            <a:xfrm flipV="1">
              <a:off x="479" y="2640"/>
              <a:ext cx="865" cy="0"/>
            </a:xfrm>
            <a:prstGeom prst="line">
              <a:avLst/>
            </a:prstGeom>
            <a:ln w="25400" cap="flat" cmpd="sng">
              <a:solidFill>
                <a:srgbClr val="000000"/>
              </a:solidFill>
              <a:prstDash val="solid"/>
              <a:bevel/>
              <a:headEnd type="none" w="med" len="med"/>
              <a:tailEnd type="triangle" w="med" len="med"/>
            </a:ln>
          </p:spPr>
        </p:sp>
        <p:sp>
          <p:nvSpPr>
            <p:cNvPr id="223253" name="Line 23"/>
            <p:cNvSpPr/>
            <p:nvPr/>
          </p:nvSpPr>
          <p:spPr>
            <a:xfrm flipV="1">
              <a:off x="144" y="2540"/>
              <a:ext cx="308" cy="0"/>
            </a:xfrm>
            <a:prstGeom prst="line">
              <a:avLst/>
            </a:prstGeom>
            <a:ln w="25400" cap="flat" cmpd="sng">
              <a:solidFill>
                <a:srgbClr val="000000"/>
              </a:solidFill>
              <a:prstDash val="solid"/>
              <a:bevel/>
              <a:headEnd type="none" w="med" len="med"/>
              <a:tailEnd type="none" w="med" len="med"/>
            </a:ln>
          </p:spPr>
        </p:sp>
        <p:sp>
          <p:nvSpPr>
            <p:cNvPr id="223254" name="Text Box 24"/>
            <p:cNvSpPr txBox="1"/>
            <p:nvPr/>
          </p:nvSpPr>
          <p:spPr>
            <a:xfrm>
              <a:off x="195" y="528"/>
              <a:ext cx="285" cy="477"/>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7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D0</a:t>
              </a:r>
              <a:endParaRPr lang="en-US" altLang="zh-CN" sz="2000" dirty="0">
                <a:solidFill>
                  <a:schemeClr val="tx1"/>
                </a:solidFill>
                <a:latin typeface="Times New Roman" panose="02020603050405020304" pitchFamily="18" charset="0"/>
                <a:ea typeface="楷体_GB2312"/>
              </a:endParaRPr>
            </a:p>
            <a:p>
              <a:pPr marL="0" lvl="0" indent="0" algn="ctr">
                <a:lnSpc>
                  <a:spcPct val="7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t>
              </a:r>
              <a:endParaRPr lang="en-US" altLang="zh-CN" sz="2000" dirty="0">
                <a:solidFill>
                  <a:schemeClr val="tx1"/>
                </a:solidFill>
                <a:latin typeface="Times New Roman" panose="02020603050405020304" pitchFamily="18" charset="0"/>
                <a:ea typeface="楷体_GB2312"/>
              </a:endParaRPr>
            </a:p>
            <a:p>
              <a:pPr marL="0" lvl="0" indent="0" algn="ctr">
                <a:lnSpc>
                  <a:spcPct val="7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D7</a:t>
              </a:r>
              <a:endParaRPr lang="en-US" altLang="zh-CN" sz="2000" dirty="0">
                <a:solidFill>
                  <a:schemeClr val="tx1"/>
                </a:solidFill>
                <a:latin typeface="Times New Roman" panose="02020603050405020304" pitchFamily="18" charset="0"/>
                <a:ea typeface="楷体_GB2312"/>
              </a:endParaRPr>
            </a:p>
          </p:txBody>
        </p:sp>
        <p:sp>
          <p:nvSpPr>
            <p:cNvPr id="223255" name="Text Box 25"/>
            <p:cNvSpPr txBox="1"/>
            <p:nvPr/>
          </p:nvSpPr>
          <p:spPr>
            <a:xfrm>
              <a:off x="70" y="2914"/>
              <a:ext cx="506" cy="26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INTA</a:t>
              </a:r>
              <a:endParaRPr lang="en-US" altLang="zh-CN" sz="2000" dirty="0">
                <a:solidFill>
                  <a:schemeClr val="tx1"/>
                </a:solidFill>
                <a:latin typeface="Times New Roman" panose="02020603050405020304" pitchFamily="18" charset="0"/>
                <a:ea typeface="楷体_GB2312"/>
              </a:endParaRPr>
            </a:p>
          </p:txBody>
        </p:sp>
        <p:sp>
          <p:nvSpPr>
            <p:cNvPr id="223256" name="Line 26"/>
            <p:cNvSpPr/>
            <p:nvPr/>
          </p:nvSpPr>
          <p:spPr>
            <a:xfrm flipV="1">
              <a:off x="123" y="2914"/>
              <a:ext cx="287" cy="4"/>
            </a:xfrm>
            <a:prstGeom prst="line">
              <a:avLst/>
            </a:prstGeom>
            <a:ln w="25400" cap="flat" cmpd="sng">
              <a:solidFill>
                <a:srgbClr val="000000"/>
              </a:solidFill>
              <a:prstDash val="solid"/>
              <a:bevel/>
              <a:headEnd type="none" w="med" len="med"/>
              <a:tailEnd type="none" w="med" len="med"/>
            </a:ln>
          </p:spPr>
        </p:sp>
        <p:sp>
          <p:nvSpPr>
            <p:cNvPr id="223257" name="Text Box 27"/>
            <p:cNvSpPr txBox="1"/>
            <p:nvPr/>
          </p:nvSpPr>
          <p:spPr>
            <a:xfrm>
              <a:off x="48" y="3168"/>
              <a:ext cx="480" cy="29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INTR</a:t>
              </a:r>
              <a:endParaRPr lang="en-US" altLang="zh-CN" sz="2000" dirty="0">
                <a:solidFill>
                  <a:schemeClr val="tx1"/>
                </a:solidFill>
                <a:latin typeface="Times New Roman" panose="02020603050405020304" pitchFamily="18" charset="0"/>
                <a:ea typeface="楷体_GB2312"/>
              </a:endParaRPr>
            </a:p>
          </p:txBody>
        </p:sp>
        <p:sp>
          <p:nvSpPr>
            <p:cNvPr id="223258" name="Text Box 28"/>
            <p:cNvSpPr txBox="1"/>
            <p:nvPr/>
          </p:nvSpPr>
          <p:spPr>
            <a:xfrm>
              <a:off x="240" y="1104"/>
              <a:ext cx="286" cy="204"/>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A0</a:t>
              </a:r>
              <a:endParaRPr lang="en-US" altLang="zh-CN" sz="1800" dirty="0">
                <a:solidFill>
                  <a:schemeClr val="tx1"/>
                </a:solidFill>
                <a:latin typeface="Times New Roman" panose="02020603050405020304" pitchFamily="18" charset="0"/>
                <a:ea typeface="楷体_GB2312"/>
              </a:endParaRPr>
            </a:p>
          </p:txBody>
        </p:sp>
        <p:sp>
          <p:nvSpPr>
            <p:cNvPr id="223259" name="Line 29"/>
            <p:cNvSpPr>
              <a:spLocks noChangeAspect="1"/>
            </p:cNvSpPr>
            <p:nvPr/>
          </p:nvSpPr>
          <p:spPr>
            <a:xfrm>
              <a:off x="480" y="1216"/>
              <a:ext cx="864" cy="0"/>
            </a:xfrm>
            <a:prstGeom prst="line">
              <a:avLst/>
            </a:prstGeom>
            <a:ln w="25400" cap="flat" cmpd="sng">
              <a:solidFill>
                <a:srgbClr val="000000"/>
              </a:solidFill>
              <a:prstDash val="solid"/>
              <a:bevel/>
              <a:headEnd type="none" w="med" len="med"/>
              <a:tailEnd type="triangle" w="med" len="med"/>
            </a:ln>
          </p:spPr>
        </p:sp>
        <p:sp>
          <p:nvSpPr>
            <p:cNvPr id="223260" name="Text Box 30"/>
            <p:cNvSpPr txBox="1"/>
            <p:nvPr/>
          </p:nvSpPr>
          <p:spPr>
            <a:xfrm>
              <a:off x="761" y="1296"/>
              <a:ext cx="273" cy="944"/>
            </a:xfrm>
            <a:prstGeom prst="rect">
              <a:avLst/>
            </a:prstGeom>
            <a:solidFill>
              <a:srgbClr val="C0C0C0">
                <a:alpha val="50195"/>
              </a:srgbClr>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2400" dirty="0">
                  <a:solidFill>
                    <a:schemeClr val="tx1"/>
                  </a:solidFill>
                  <a:latin typeface="Times New Roman" panose="02020603050405020304" pitchFamily="18" charset="0"/>
                  <a:ea typeface="楷体_GB2312"/>
                </a:rPr>
                <a:t>片</a:t>
              </a:r>
              <a:endParaRPr lang="zh-CN" altLang="en-US" sz="24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r>
                <a:rPr lang="zh-CN" altLang="en-US" sz="2400" dirty="0">
                  <a:solidFill>
                    <a:schemeClr val="tx1"/>
                  </a:solidFill>
                  <a:latin typeface="Times New Roman" panose="02020603050405020304" pitchFamily="18" charset="0"/>
                  <a:ea typeface="楷体_GB2312"/>
                </a:rPr>
                <a:t>选</a:t>
              </a:r>
              <a:endParaRPr lang="zh-CN" altLang="en-US" sz="24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r>
                <a:rPr lang="zh-CN" altLang="en-US" sz="2400" dirty="0">
                  <a:solidFill>
                    <a:schemeClr val="tx1"/>
                  </a:solidFill>
                  <a:latin typeface="Times New Roman" panose="02020603050405020304" pitchFamily="18" charset="0"/>
                  <a:ea typeface="楷体_GB2312"/>
                </a:rPr>
                <a:t>译</a:t>
              </a:r>
              <a:endParaRPr lang="zh-CN" altLang="en-US" sz="24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r>
                <a:rPr lang="zh-CN" altLang="en-US" sz="2400" dirty="0">
                  <a:solidFill>
                    <a:schemeClr val="tx1"/>
                  </a:solidFill>
                  <a:latin typeface="Times New Roman" panose="02020603050405020304" pitchFamily="18" charset="0"/>
                  <a:ea typeface="楷体_GB2312"/>
                </a:rPr>
                <a:t>码</a:t>
              </a:r>
              <a:endParaRPr lang="zh-CN" altLang="en-US" sz="1800" dirty="0">
                <a:solidFill>
                  <a:schemeClr val="tx1"/>
                </a:solidFill>
                <a:latin typeface="Times New Roman" panose="02020603050405020304" pitchFamily="18" charset="0"/>
                <a:ea typeface="楷体_GB2312"/>
              </a:endParaRPr>
            </a:p>
          </p:txBody>
        </p:sp>
        <p:sp>
          <p:nvSpPr>
            <p:cNvPr id="223261" name="AutoShape 31"/>
            <p:cNvSpPr/>
            <p:nvPr/>
          </p:nvSpPr>
          <p:spPr>
            <a:xfrm>
              <a:off x="482" y="1578"/>
              <a:ext cx="274" cy="286"/>
            </a:xfrm>
            <a:prstGeom prst="rightArrow">
              <a:avLst>
                <a:gd name="adj1" fmla="val 50000"/>
                <a:gd name="adj2" fmla="val 27500"/>
              </a:avLst>
            </a:prstGeom>
            <a:solidFill>
              <a:srgbClr val="C0C0C0"/>
            </a:solid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23262" name="Text Box 32"/>
            <p:cNvSpPr txBox="1"/>
            <p:nvPr/>
          </p:nvSpPr>
          <p:spPr>
            <a:xfrm>
              <a:off x="214" y="1488"/>
              <a:ext cx="266" cy="43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7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A5</a:t>
              </a:r>
              <a:endParaRPr lang="en-US" altLang="zh-CN" sz="2000" dirty="0">
                <a:solidFill>
                  <a:schemeClr val="tx1"/>
                </a:solidFill>
                <a:latin typeface="Times New Roman" panose="02020603050405020304" pitchFamily="18" charset="0"/>
                <a:ea typeface="楷体_GB2312"/>
              </a:endParaRPr>
            </a:p>
            <a:p>
              <a:pPr marL="0" lvl="0" indent="0" algn="ctr">
                <a:lnSpc>
                  <a:spcPct val="7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t>
              </a:r>
              <a:endParaRPr lang="en-US" altLang="zh-CN" sz="2000" dirty="0">
                <a:solidFill>
                  <a:schemeClr val="tx1"/>
                </a:solidFill>
                <a:latin typeface="Times New Roman" panose="02020603050405020304" pitchFamily="18" charset="0"/>
                <a:ea typeface="楷体_GB2312"/>
              </a:endParaRPr>
            </a:p>
            <a:p>
              <a:pPr marL="0" lvl="0" indent="0" algn="ctr">
                <a:lnSpc>
                  <a:spcPct val="7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A9</a:t>
              </a:r>
              <a:endParaRPr lang="en-US" altLang="zh-CN" sz="1800" dirty="0">
                <a:solidFill>
                  <a:schemeClr val="tx1"/>
                </a:solidFill>
                <a:latin typeface="Times New Roman" panose="02020603050405020304" pitchFamily="18" charset="0"/>
                <a:ea typeface="楷体_GB2312"/>
              </a:endParaRPr>
            </a:p>
          </p:txBody>
        </p:sp>
        <p:sp>
          <p:nvSpPr>
            <p:cNvPr id="223263" name="Line 33"/>
            <p:cNvSpPr/>
            <p:nvPr/>
          </p:nvSpPr>
          <p:spPr>
            <a:xfrm flipV="1">
              <a:off x="481" y="3024"/>
              <a:ext cx="863" cy="7"/>
            </a:xfrm>
            <a:prstGeom prst="line">
              <a:avLst/>
            </a:prstGeom>
            <a:ln w="25400" cap="flat" cmpd="sng">
              <a:solidFill>
                <a:srgbClr val="000000"/>
              </a:solidFill>
              <a:prstDash val="solid"/>
              <a:bevel/>
              <a:headEnd type="none" w="med" len="med"/>
              <a:tailEnd type="triangle" w="med" len="med"/>
            </a:ln>
          </p:spPr>
        </p:sp>
        <p:sp>
          <p:nvSpPr>
            <p:cNvPr id="223264" name="Line 34"/>
            <p:cNvSpPr/>
            <p:nvPr/>
          </p:nvSpPr>
          <p:spPr>
            <a:xfrm rot="10800000">
              <a:off x="470" y="3263"/>
              <a:ext cx="873" cy="0"/>
            </a:xfrm>
            <a:prstGeom prst="line">
              <a:avLst/>
            </a:prstGeom>
            <a:ln w="25400" cap="flat" cmpd="sng">
              <a:solidFill>
                <a:srgbClr val="000000"/>
              </a:solidFill>
              <a:prstDash val="solid"/>
              <a:bevel/>
              <a:headEnd type="none" w="med" len="med"/>
              <a:tailEnd type="triangle" w="med" len="med"/>
            </a:ln>
          </p:spPr>
        </p:sp>
        <p:sp>
          <p:nvSpPr>
            <p:cNvPr id="223265" name="Line 35"/>
            <p:cNvSpPr/>
            <p:nvPr/>
          </p:nvSpPr>
          <p:spPr>
            <a:xfrm flipV="1">
              <a:off x="1042" y="1824"/>
              <a:ext cx="302" cy="0"/>
            </a:xfrm>
            <a:prstGeom prst="line">
              <a:avLst/>
            </a:prstGeom>
            <a:ln w="25400" cap="flat" cmpd="sng">
              <a:solidFill>
                <a:srgbClr val="000000"/>
              </a:solidFill>
              <a:prstDash val="solid"/>
              <a:bevel/>
              <a:headEnd type="none" w="med" len="med"/>
              <a:tailEnd type="triangle" w="med" len="med"/>
            </a:ln>
          </p:spPr>
        </p:sp>
        <p:sp>
          <p:nvSpPr>
            <p:cNvPr id="223266" name="Text Box 36"/>
            <p:cNvSpPr txBox="1"/>
            <p:nvPr/>
          </p:nvSpPr>
          <p:spPr>
            <a:xfrm>
              <a:off x="1104" y="1560"/>
              <a:ext cx="254" cy="25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CS</a:t>
              </a:r>
              <a:endParaRPr lang="en-US" altLang="zh-CN" sz="1800" dirty="0">
                <a:solidFill>
                  <a:schemeClr val="tx1"/>
                </a:solidFill>
                <a:latin typeface="宋体" panose="02010600030101010101" pitchFamily="2" charset="-122"/>
                <a:ea typeface="楷体_GB2312"/>
              </a:endParaRPr>
            </a:p>
          </p:txBody>
        </p:sp>
        <p:sp>
          <p:nvSpPr>
            <p:cNvPr id="223267" name="Line 37"/>
            <p:cNvSpPr/>
            <p:nvPr/>
          </p:nvSpPr>
          <p:spPr>
            <a:xfrm>
              <a:off x="1136" y="1583"/>
              <a:ext cx="172" cy="10"/>
            </a:xfrm>
            <a:prstGeom prst="line">
              <a:avLst/>
            </a:prstGeom>
            <a:ln w="25400" cap="flat" cmpd="sng">
              <a:solidFill>
                <a:srgbClr val="000000"/>
              </a:solidFill>
              <a:prstDash val="solid"/>
              <a:bevel/>
              <a:headEnd type="none" w="med" len="med"/>
              <a:tailEnd type="none" w="med" len="med"/>
            </a:ln>
          </p:spPr>
        </p:sp>
        <p:sp>
          <p:nvSpPr>
            <p:cNvPr id="223268" name="Text Box 38"/>
            <p:cNvSpPr txBox="1"/>
            <p:nvPr/>
          </p:nvSpPr>
          <p:spPr>
            <a:xfrm>
              <a:off x="1056" y="999"/>
              <a:ext cx="216" cy="249"/>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A0</a:t>
              </a:r>
              <a:endParaRPr lang="en-US" altLang="zh-CN" sz="1800" dirty="0">
                <a:solidFill>
                  <a:schemeClr val="tx1"/>
                </a:solidFill>
                <a:latin typeface="宋体" panose="02010600030101010101" pitchFamily="2" charset="-122"/>
                <a:ea typeface="楷体_GB2312"/>
              </a:endParaRPr>
            </a:p>
          </p:txBody>
        </p:sp>
        <p:sp>
          <p:nvSpPr>
            <p:cNvPr id="223269" name="Text Box 39"/>
            <p:cNvSpPr txBox="1"/>
            <p:nvPr/>
          </p:nvSpPr>
          <p:spPr>
            <a:xfrm>
              <a:off x="1084" y="2186"/>
              <a:ext cx="260" cy="26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RD</a:t>
              </a:r>
              <a:endParaRPr lang="en-US" altLang="zh-CN" sz="1800" dirty="0">
                <a:solidFill>
                  <a:schemeClr val="tx1"/>
                </a:solidFill>
                <a:latin typeface="宋体" panose="02010600030101010101" pitchFamily="2" charset="-122"/>
                <a:ea typeface="楷体_GB2312"/>
              </a:endParaRPr>
            </a:p>
          </p:txBody>
        </p:sp>
        <p:sp>
          <p:nvSpPr>
            <p:cNvPr id="223270" name="Line 40"/>
            <p:cNvSpPr/>
            <p:nvPr/>
          </p:nvSpPr>
          <p:spPr>
            <a:xfrm>
              <a:off x="1104" y="2208"/>
              <a:ext cx="160" cy="0"/>
            </a:xfrm>
            <a:prstGeom prst="line">
              <a:avLst/>
            </a:prstGeom>
            <a:ln w="25400" cap="flat" cmpd="sng">
              <a:solidFill>
                <a:srgbClr val="000000"/>
              </a:solidFill>
              <a:prstDash val="solid"/>
              <a:bevel/>
              <a:headEnd type="none" w="med" len="med"/>
              <a:tailEnd type="none" w="med" len="med"/>
            </a:ln>
          </p:spPr>
        </p:sp>
        <p:sp>
          <p:nvSpPr>
            <p:cNvPr id="223271" name="Text Box 41"/>
            <p:cNvSpPr txBox="1"/>
            <p:nvPr/>
          </p:nvSpPr>
          <p:spPr>
            <a:xfrm>
              <a:off x="864" y="2812"/>
              <a:ext cx="519" cy="26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r>
                <a:rPr lang="en-US" altLang="zh-CN" sz="2000" dirty="0">
                  <a:solidFill>
                    <a:schemeClr val="tx1"/>
                  </a:solidFill>
                  <a:latin typeface="Times New Roman" panose="02020603050405020304" pitchFamily="18" charset="0"/>
                  <a:ea typeface="楷体_GB2312"/>
                </a:rPr>
                <a:t>INTA</a:t>
              </a:r>
              <a:endParaRPr lang="en-US" altLang="zh-CN" sz="1800" dirty="0">
                <a:solidFill>
                  <a:schemeClr val="tx1"/>
                </a:solidFill>
                <a:latin typeface="宋体" panose="02010600030101010101" pitchFamily="2" charset="-122"/>
                <a:ea typeface="楷体_GB2312"/>
              </a:endParaRPr>
            </a:p>
          </p:txBody>
        </p:sp>
        <p:sp>
          <p:nvSpPr>
            <p:cNvPr id="223272" name="Text Box 42"/>
            <p:cNvSpPr txBox="1"/>
            <p:nvPr/>
          </p:nvSpPr>
          <p:spPr>
            <a:xfrm>
              <a:off x="1031" y="2448"/>
              <a:ext cx="313" cy="261"/>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WR</a:t>
              </a:r>
              <a:endParaRPr lang="en-US" altLang="zh-CN" sz="1800" dirty="0">
                <a:solidFill>
                  <a:schemeClr val="tx1"/>
                </a:solidFill>
                <a:latin typeface="宋体" panose="02010600030101010101" pitchFamily="2" charset="-122"/>
                <a:ea typeface="楷体_GB2312"/>
              </a:endParaRPr>
            </a:p>
          </p:txBody>
        </p:sp>
        <p:sp>
          <p:nvSpPr>
            <p:cNvPr id="223273" name="Line 43"/>
            <p:cNvSpPr/>
            <p:nvPr/>
          </p:nvSpPr>
          <p:spPr>
            <a:xfrm>
              <a:off x="1079" y="2468"/>
              <a:ext cx="192" cy="1"/>
            </a:xfrm>
            <a:prstGeom prst="line">
              <a:avLst/>
            </a:prstGeom>
            <a:ln w="25400" cap="flat" cmpd="sng">
              <a:solidFill>
                <a:srgbClr val="000000"/>
              </a:solidFill>
              <a:prstDash val="solid"/>
              <a:bevel/>
              <a:headEnd type="none" w="med" len="med"/>
              <a:tailEnd type="none" w="med" len="med"/>
            </a:ln>
          </p:spPr>
        </p:sp>
        <p:sp>
          <p:nvSpPr>
            <p:cNvPr id="223274" name="Line 44"/>
            <p:cNvSpPr/>
            <p:nvPr/>
          </p:nvSpPr>
          <p:spPr>
            <a:xfrm flipV="1">
              <a:off x="929" y="2812"/>
              <a:ext cx="319" cy="0"/>
            </a:xfrm>
            <a:prstGeom prst="line">
              <a:avLst/>
            </a:prstGeom>
            <a:ln w="25400" cap="flat" cmpd="sng">
              <a:solidFill>
                <a:srgbClr val="000000"/>
              </a:solidFill>
              <a:prstDash val="solid"/>
              <a:bevel/>
              <a:headEnd type="none" w="med" len="med"/>
              <a:tailEnd type="none" w="med" len="med"/>
            </a:ln>
          </p:spPr>
        </p:sp>
        <p:sp>
          <p:nvSpPr>
            <p:cNvPr id="223275" name="Text Box 45"/>
            <p:cNvSpPr txBox="1"/>
            <p:nvPr/>
          </p:nvSpPr>
          <p:spPr>
            <a:xfrm>
              <a:off x="991" y="3065"/>
              <a:ext cx="349" cy="29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INT</a:t>
              </a:r>
              <a:endParaRPr lang="en-US" altLang="zh-CN" sz="1800" dirty="0">
                <a:solidFill>
                  <a:schemeClr val="tx1"/>
                </a:solidFill>
                <a:latin typeface="宋体" panose="02010600030101010101" pitchFamily="2" charset="-122"/>
                <a:ea typeface="楷体_GB2312"/>
              </a:endParaRPr>
            </a:p>
          </p:txBody>
        </p:sp>
        <p:grpSp>
          <p:nvGrpSpPr>
            <p:cNvPr id="223276" name="Group 46"/>
            <p:cNvGrpSpPr/>
            <p:nvPr/>
          </p:nvGrpSpPr>
          <p:grpSpPr>
            <a:xfrm>
              <a:off x="1503" y="1852"/>
              <a:ext cx="1387" cy="229"/>
              <a:chOff x="0" y="0"/>
              <a:chExt cx="4810" cy="640"/>
            </a:xfrm>
          </p:grpSpPr>
          <p:sp>
            <p:nvSpPr>
              <p:cNvPr id="223390" name="Text Box 47"/>
              <p:cNvSpPr txBox="1"/>
              <p:nvPr/>
            </p:nvSpPr>
            <p:spPr>
              <a:xfrm>
                <a:off x="0"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91" name="Text Box 48"/>
              <p:cNvSpPr txBox="1"/>
              <p:nvPr/>
            </p:nvSpPr>
            <p:spPr>
              <a:xfrm>
                <a:off x="612"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92" name="Text Box 49"/>
              <p:cNvSpPr txBox="1"/>
              <p:nvPr/>
            </p:nvSpPr>
            <p:spPr>
              <a:xfrm>
                <a:off x="1206" y="0"/>
                <a:ext cx="601"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93" name="Text Box 50"/>
              <p:cNvSpPr txBox="1"/>
              <p:nvPr/>
            </p:nvSpPr>
            <p:spPr>
              <a:xfrm>
                <a:off x="1801"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1</a:t>
                </a:r>
                <a:endParaRPr lang="en-US" altLang="zh-CN" sz="1800" dirty="0">
                  <a:solidFill>
                    <a:schemeClr val="tx1"/>
                  </a:solidFill>
                  <a:latin typeface="Times New Roman" panose="02020603050405020304" pitchFamily="18" charset="0"/>
                  <a:ea typeface="楷体_GB2312"/>
                </a:endParaRPr>
              </a:p>
            </p:txBody>
          </p:sp>
          <p:sp>
            <p:nvSpPr>
              <p:cNvPr id="223394" name="Text Box 51"/>
              <p:cNvSpPr txBox="1"/>
              <p:nvPr/>
            </p:nvSpPr>
            <p:spPr>
              <a:xfrm>
                <a:off x="2396"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宋体" panose="02010600030101010101" pitchFamily="2" charset="-122"/>
                    <a:ea typeface="楷体_GB2312"/>
                  </a:rPr>
                  <a:t>×</a:t>
                </a:r>
                <a:endParaRPr lang="en-US" altLang="zh-CN" sz="1800" dirty="0">
                  <a:solidFill>
                    <a:schemeClr val="tx1"/>
                  </a:solidFill>
                  <a:latin typeface="Times New Roman" panose="02020603050405020304" pitchFamily="18" charset="0"/>
                  <a:ea typeface="楷体_GB2312"/>
                </a:endParaRPr>
              </a:p>
            </p:txBody>
          </p:sp>
          <p:sp>
            <p:nvSpPr>
              <p:cNvPr id="223395" name="Text Box 52"/>
              <p:cNvSpPr txBox="1"/>
              <p:nvPr/>
            </p:nvSpPr>
            <p:spPr>
              <a:xfrm>
                <a:off x="2990" y="0"/>
                <a:ext cx="601"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96" name="Text Box 53"/>
              <p:cNvSpPr txBox="1"/>
              <p:nvPr/>
            </p:nvSpPr>
            <p:spPr>
              <a:xfrm>
                <a:off x="3610"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I3</a:t>
                </a:r>
                <a:endParaRPr lang="en-US" altLang="zh-CN" sz="1800" dirty="0">
                  <a:solidFill>
                    <a:schemeClr val="tx1"/>
                  </a:solidFill>
                  <a:latin typeface="Times New Roman" panose="02020603050405020304" pitchFamily="18" charset="0"/>
                  <a:ea typeface="楷体_GB2312"/>
                </a:endParaRPr>
              </a:p>
            </p:txBody>
          </p:sp>
          <p:sp>
            <p:nvSpPr>
              <p:cNvPr id="223397" name="Text Box 54"/>
              <p:cNvSpPr txBox="1"/>
              <p:nvPr/>
            </p:nvSpPr>
            <p:spPr>
              <a:xfrm>
                <a:off x="4210"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I4</a:t>
                </a:r>
                <a:endParaRPr lang="en-US" altLang="zh-CN" sz="1800" dirty="0">
                  <a:solidFill>
                    <a:schemeClr val="tx1"/>
                  </a:solidFill>
                  <a:latin typeface="Times New Roman" panose="02020603050405020304" pitchFamily="18" charset="0"/>
                  <a:ea typeface="楷体_GB2312"/>
                </a:endParaRPr>
              </a:p>
            </p:txBody>
          </p:sp>
        </p:grpSp>
        <p:sp>
          <p:nvSpPr>
            <p:cNvPr id="223277" name="Text Box 55"/>
            <p:cNvSpPr txBox="1"/>
            <p:nvPr/>
          </p:nvSpPr>
          <p:spPr>
            <a:xfrm>
              <a:off x="1527" y="1628"/>
              <a:ext cx="1305" cy="249"/>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rgbClr val="0000FF"/>
                  </a:solidFill>
                  <a:latin typeface="Times New Roman" panose="02020603050405020304" pitchFamily="18" charset="0"/>
                  <a:ea typeface="楷体_GB2312"/>
                </a:rPr>
                <a:t>ICW1</a:t>
              </a:r>
              <a:r>
                <a:rPr lang="en-US" altLang="zh-CN" sz="2000" dirty="0">
                  <a:solidFill>
                    <a:schemeClr val="tx1"/>
                  </a:solidFill>
                  <a:latin typeface="Times New Roman" panose="02020603050405020304" pitchFamily="18" charset="0"/>
                  <a:ea typeface="楷体_GB2312"/>
                </a:rPr>
                <a:t>  </a:t>
              </a:r>
              <a:r>
                <a:rPr lang="zh-CN" altLang="en-US" sz="2000" dirty="0">
                  <a:solidFill>
                    <a:schemeClr val="tx1"/>
                  </a:solidFill>
                  <a:latin typeface="Times New Roman" panose="02020603050405020304" pitchFamily="18" charset="0"/>
                  <a:ea typeface="楷体_GB2312"/>
                </a:rPr>
                <a:t>芯片控制</a:t>
              </a:r>
              <a:endParaRPr lang="zh-CN" altLang="en-US" sz="1800" dirty="0">
                <a:solidFill>
                  <a:schemeClr val="tx1"/>
                </a:solidFill>
                <a:latin typeface="Times New Roman" panose="02020603050405020304" pitchFamily="18" charset="0"/>
                <a:ea typeface="楷体_GB2312"/>
              </a:endParaRPr>
            </a:p>
          </p:txBody>
        </p:sp>
        <p:grpSp>
          <p:nvGrpSpPr>
            <p:cNvPr id="223278" name="Group 56"/>
            <p:cNvGrpSpPr/>
            <p:nvPr/>
          </p:nvGrpSpPr>
          <p:grpSpPr>
            <a:xfrm>
              <a:off x="1494" y="2339"/>
              <a:ext cx="1387" cy="229"/>
              <a:chOff x="0" y="0"/>
              <a:chExt cx="4810" cy="640"/>
            </a:xfrm>
          </p:grpSpPr>
          <p:sp>
            <p:nvSpPr>
              <p:cNvPr id="223382" name="Text Box 57"/>
              <p:cNvSpPr txBox="1"/>
              <p:nvPr/>
            </p:nvSpPr>
            <p:spPr>
              <a:xfrm>
                <a:off x="0"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83" name="Text Box 58"/>
              <p:cNvSpPr txBox="1"/>
              <p:nvPr/>
            </p:nvSpPr>
            <p:spPr>
              <a:xfrm>
                <a:off x="612"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84" name="Text Box 59"/>
              <p:cNvSpPr txBox="1"/>
              <p:nvPr/>
            </p:nvSpPr>
            <p:spPr>
              <a:xfrm>
                <a:off x="1206" y="0"/>
                <a:ext cx="601"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85" name="Text Box 60"/>
              <p:cNvSpPr txBox="1"/>
              <p:nvPr/>
            </p:nvSpPr>
            <p:spPr>
              <a:xfrm>
                <a:off x="1801"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endParaRPr lang="zh-CN" altLang="zh-CN" sz="1800" dirty="0">
                  <a:solidFill>
                    <a:schemeClr val="tx1"/>
                  </a:solidFill>
                  <a:latin typeface="Times New Roman" panose="02020603050405020304" pitchFamily="18" charset="0"/>
                  <a:ea typeface="楷体_GB2312"/>
                </a:endParaRPr>
              </a:p>
            </p:txBody>
          </p:sp>
          <p:sp>
            <p:nvSpPr>
              <p:cNvPr id="223386" name="Text Box 61"/>
              <p:cNvSpPr txBox="1"/>
              <p:nvPr/>
            </p:nvSpPr>
            <p:spPr>
              <a:xfrm>
                <a:off x="2396"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endParaRPr lang="zh-CN" altLang="zh-CN" sz="1800" dirty="0">
                  <a:solidFill>
                    <a:schemeClr val="tx1"/>
                  </a:solidFill>
                  <a:latin typeface="Times New Roman" panose="02020603050405020304" pitchFamily="18" charset="0"/>
                  <a:ea typeface="楷体_GB2312"/>
                </a:endParaRPr>
              </a:p>
            </p:txBody>
          </p:sp>
          <p:sp>
            <p:nvSpPr>
              <p:cNvPr id="223387" name="Text Box 62"/>
              <p:cNvSpPr txBox="1"/>
              <p:nvPr/>
            </p:nvSpPr>
            <p:spPr>
              <a:xfrm>
                <a:off x="2990" y="0"/>
                <a:ext cx="601"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88" name="Text Box 63"/>
              <p:cNvSpPr txBox="1"/>
              <p:nvPr/>
            </p:nvSpPr>
            <p:spPr>
              <a:xfrm>
                <a:off x="3610"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89" name="Text Box 64"/>
              <p:cNvSpPr txBox="1"/>
              <p:nvPr/>
            </p:nvSpPr>
            <p:spPr>
              <a:xfrm>
                <a:off x="4210"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endParaRPr lang="zh-CN" altLang="zh-CN" sz="1800" dirty="0">
                  <a:solidFill>
                    <a:schemeClr val="tx1"/>
                  </a:solidFill>
                  <a:latin typeface="Times New Roman" panose="02020603050405020304" pitchFamily="18" charset="0"/>
                  <a:ea typeface="楷体_GB2312"/>
                </a:endParaRPr>
              </a:p>
            </p:txBody>
          </p:sp>
        </p:grpSp>
        <p:sp>
          <p:nvSpPr>
            <p:cNvPr id="223279" name="Text Box 65"/>
            <p:cNvSpPr txBox="1"/>
            <p:nvPr/>
          </p:nvSpPr>
          <p:spPr>
            <a:xfrm>
              <a:off x="1518" y="2112"/>
              <a:ext cx="1314" cy="24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rgbClr val="0000FF"/>
                  </a:solidFill>
                  <a:latin typeface="Times New Roman" panose="02020603050405020304" pitchFamily="18" charset="0"/>
                  <a:ea typeface="楷体_GB2312"/>
                </a:rPr>
                <a:t>ICW2</a:t>
              </a:r>
              <a:r>
                <a:rPr lang="en-US" altLang="zh-CN" sz="2000" dirty="0">
                  <a:solidFill>
                    <a:schemeClr val="tx1"/>
                  </a:solidFill>
                  <a:latin typeface="Times New Roman" panose="02020603050405020304" pitchFamily="18" charset="0"/>
                  <a:ea typeface="楷体_GB2312"/>
                </a:rPr>
                <a:t> </a:t>
              </a:r>
              <a:r>
                <a:rPr lang="zh-CN" altLang="en-US" sz="2000" dirty="0">
                  <a:solidFill>
                    <a:schemeClr val="tx1"/>
                  </a:solidFill>
                  <a:latin typeface="Times New Roman" panose="02020603050405020304" pitchFamily="18" charset="0"/>
                  <a:ea typeface="楷体_GB2312"/>
                </a:rPr>
                <a:t>中断类型号</a:t>
              </a:r>
              <a:endParaRPr lang="zh-CN" altLang="en-US" sz="1800" dirty="0">
                <a:solidFill>
                  <a:schemeClr val="tx1"/>
                </a:solidFill>
                <a:latin typeface="Times New Roman" panose="02020603050405020304" pitchFamily="18" charset="0"/>
                <a:ea typeface="楷体_GB2312"/>
              </a:endParaRPr>
            </a:p>
          </p:txBody>
        </p:sp>
        <p:grpSp>
          <p:nvGrpSpPr>
            <p:cNvPr id="223280" name="Group 66"/>
            <p:cNvGrpSpPr/>
            <p:nvPr/>
          </p:nvGrpSpPr>
          <p:grpSpPr>
            <a:xfrm>
              <a:off x="1474" y="2871"/>
              <a:ext cx="1388" cy="229"/>
              <a:chOff x="0" y="0"/>
              <a:chExt cx="1447" cy="247"/>
            </a:xfrm>
          </p:grpSpPr>
          <p:sp>
            <p:nvSpPr>
              <p:cNvPr id="223373" name="Text Box 67"/>
              <p:cNvSpPr txBox="1"/>
              <p:nvPr/>
            </p:nvSpPr>
            <p:spPr>
              <a:xfrm>
                <a:off x="721" y="0"/>
                <a:ext cx="181" cy="247"/>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endParaRPr lang="zh-CN" altLang="zh-CN" sz="1800" dirty="0">
                  <a:solidFill>
                    <a:schemeClr val="tx1"/>
                  </a:solidFill>
                  <a:latin typeface="Times New Roman" panose="02020603050405020304" pitchFamily="18" charset="0"/>
                  <a:ea typeface="楷体_GB2312"/>
                </a:endParaRPr>
              </a:p>
            </p:txBody>
          </p:sp>
          <p:grpSp>
            <p:nvGrpSpPr>
              <p:cNvPr id="223374" name="Group 68"/>
              <p:cNvGrpSpPr/>
              <p:nvPr/>
            </p:nvGrpSpPr>
            <p:grpSpPr>
              <a:xfrm>
                <a:off x="0" y="0"/>
                <a:ext cx="1447" cy="247"/>
                <a:chOff x="0" y="0"/>
                <a:chExt cx="1447" cy="247"/>
              </a:xfrm>
            </p:grpSpPr>
            <p:sp>
              <p:nvSpPr>
                <p:cNvPr id="223375" name="Text Box 69"/>
                <p:cNvSpPr txBox="1"/>
                <p:nvPr/>
              </p:nvSpPr>
              <p:spPr>
                <a:xfrm>
                  <a:off x="0" y="0"/>
                  <a:ext cx="180" cy="247"/>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76" name="Text Box 70"/>
                <p:cNvSpPr txBox="1"/>
                <p:nvPr/>
              </p:nvSpPr>
              <p:spPr>
                <a:xfrm>
                  <a:off x="184" y="0"/>
                  <a:ext cx="181" cy="247"/>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77" name="Text Box 71"/>
                <p:cNvSpPr txBox="1"/>
                <p:nvPr/>
              </p:nvSpPr>
              <p:spPr>
                <a:xfrm>
                  <a:off x="363" y="0"/>
                  <a:ext cx="181" cy="247"/>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78" name="Text Box 72"/>
                <p:cNvSpPr txBox="1"/>
                <p:nvPr/>
              </p:nvSpPr>
              <p:spPr>
                <a:xfrm>
                  <a:off x="542" y="0"/>
                  <a:ext cx="180" cy="247"/>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endParaRPr lang="zh-CN" altLang="zh-CN" sz="1800" dirty="0">
                    <a:solidFill>
                      <a:schemeClr val="tx1"/>
                    </a:solidFill>
                    <a:latin typeface="Times New Roman" panose="02020603050405020304" pitchFamily="18" charset="0"/>
                    <a:ea typeface="楷体_GB2312"/>
                  </a:endParaRPr>
                </a:p>
              </p:txBody>
            </p:sp>
            <p:sp>
              <p:nvSpPr>
                <p:cNvPr id="223379" name="Text Box 73"/>
                <p:cNvSpPr txBox="1"/>
                <p:nvPr/>
              </p:nvSpPr>
              <p:spPr>
                <a:xfrm>
                  <a:off x="900" y="0"/>
                  <a:ext cx="181" cy="247"/>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80" name="Text Box 74"/>
                <p:cNvSpPr txBox="1"/>
                <p:nvPr/>
              </p:nvSpPr>
              <p:spPr>
                <a:xfrm>
                  <a:off x="1086" y="0"/>
                  <a:ext cx="181" cy="247"/>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81" name="Text Box 75"/>
                <p:cNvSpPr txBox="1"/>
                <p:nvPr/>
              </p:nvSpPr>
              <p:spPr>
                <a:xfrm>
                  <a:off x="1267" y="0"/>
                  <a:ext cx="180" cy="247"/>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endParaRPr lang="zh-CN" altLang="zh-CN" sz="1800" dirty="0">
                    <a:solidFill>
                      <a:schemeClr val="tx1"/>
                    </a:solidFill>
                    <a:latin typeface="Times New Roman" panose="02020603050405020304" pitchFamily="18" charset="0"/>
                    <a:ea typeface="楷体_GB2312"/>
                  </a:endParaRPr>
                </a:p>
              </p:txBody>
            </p:sp>
          </p:grpSp>
        </p:grpSp>
        <p:sp>
          <p:nvSpPr>
            <p:cNvPr id="223281" name="Text Box 76"/>
            <p:cNvSpPr txBox="1"/>
            <p:nvPr/>
          </p:nvSpPr>
          <p:spPr>
            <a:xfrm>
              <a:off x="1498" y="2648"/>
              <a:ext cx="1430" cy="24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rgbClr val="0000FF"/>
                  </a:solidFill>
                  <a:latin typeface="Times New Roman" panose="02020603050405020304" pitchFamily="18" charset="0"/>
                  <a:ea typeface="楷体_GB2312"/>
                </a:rPr>
                <a:t>ICW3</a:t>
              </a:r>
              <a:r>
                <a:rPr lang="en-US" altLang="zh-CN" sz="1800" dirty="0">
                  <a:solidFill>
                    <a:schemeClr val="tx1"/>
                  </a:solidFill>
                  <a:latin typeface="Times New Roman" panose="02020603050405020304" pitchFamily="18" charset="0"/>
                  <a:ea typeface="楷体_GB2312"/>
                </a:rPr>
                <a:t> </a:t>
              </a:r>
              <a:r>
                <a:rPr lang="zh-CN" altLang="en-US" sz="1800" dirty="0">
                  <a:solidFill>
                    <a:schemeClr val="tx1"/>
                  </a:solidFill>
                  <a:latin typeface="Times New Roman" panose="02020603050405020304" pitchFamily="18" charset="0"/>
                  <a:ea typeface="楷体_GB2312"/>
                </a:rPr>
                <a:t>主从片连接关系</a:t>
              </a:r>
              <a:endParaRPr lang="zh-CN" altLang="en-US" sz="1800" dirty="0">
                <a:solidFill>
                  <a:schemeClr val="tx1"/>
                </a:solidFill>
                <a:latin typeface="Times New Roman" panose="02020603050405020304" pitchFamily="18" charset="0"/>
                <a:ea typeface="楷体_GB2312"/>
              </a:endParaRPr>
            </a:p>
          </p:txBody>
        </p:sp>
        <p:grpSp>
          <p:nvGrpSpPr>
            <p:cNvPr id="223282" name="Group 77"/>
            <p:cNvGrpSpPr/>
            <p:nvPr/>
          </p:nvGrpSpPr>
          <p:grpSpPr>
            <a:xfrm>
              <a:off x="1465" y="3358"/>
              <a:ext cx="1388" cy="229"/>
              <a:chOff x="0" y="0"/>
              <a:chExt cx="4810" cy="640"/>
            </a:xfrm>
          </p:grpSpPr>
          <p:sp>
            <p:nvSpPr>
              <p:cNvPr id="223365" name="Text Box 78"/>
              <p:cNvSpPr txBox="1"/>
              <p:nvPr/>
            </p:nvSpPr>
            <p:spPr>
              <a:xfrm>
                <a:off x="0"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66" name="Text Box 79"/>
              <p:cNvSpPr txBox="1"/>
              <p:nvPr/>
            </p:nvSpPr>
            <p:spPr>
              <a:xfrm>
                <a:off x="612"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67" name="Text Box 80"/>
              <p:cNvSpPr txBox="1"/>
              <p:nvPr/>
            </p:nvSpPr>
            <p:spPr>
              <a:xfrm>
                <a:off x="1206" y="0"/>
                <a:ext cx="601"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68" name="Text Box 81"/>
              <p:cNvSpPr txBox="1"/>
              <p:nvPr/>
            </p:nvSpPr>
            <p:spPr>
              <a:xfrm>
                <a:off x="1801"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endParaRPr lang="zh-CN" altLang="zh-CN" sz="1800" dirty="0">
                  <a:solidFill>
                    <a:schemeClr val="tx1"/>
                  </a:solidFill>
                  <a:latin typeface="Times New Roman" panose="02020603050405020304" pitchFamily="18" charset="0"/>
                  <a:ea typeface="楷体_GB2312"/>
                </a:endParaRPr>
              </a:p>
            </p:txBody>
          </p:sp>
          <p:sp>
            <p:nvSpPr>
              <p:cNvPr id="223369" name="Text Box 82"/>
              <p:cNvSpPr txBox="1"/>
              <p:nvPr/>
            </p:nvSpPr>
            <p:spPr>
              <a:xfrm>
                <a:off x="2396"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endParaRPr lang="zh-CN" altLang="zh-CN" sz="1800" dirty="0">
                  <a:solidFill>
                    <a:schemeClr val="tx1"/>
                  </a:solidFill>
                  <a:latin typeface="Times New Roman" panose="02020603050405020304" pitchFamily="18" charset="0"/>
                  <a:ea typeface="楷体_GB2312"/>
                </a:endParaRPr>
              </a:p>
            </p:txBody>
          </p:sp>
          <p:sp>
            <p:nvSpPr>
              <p:cNvPr id="223370" name="Text Box 83"/>
              <p:cNvSpPr txBox="1"/>
              <p:nvPr/>
            </p:nvSpPr>
            <p:spPr>
              <a:xfrm>
                <a:off x="2990" y="0"/>
                <a:ext cx="601"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71" name="Text Box 84"/>
              <p:cNvSpPr txBox="1"/>
              <p:nvPr/>
            </p:nvSpPr>
            <p:spPr>
              <a:xfrm>
                <a:off x="3610"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72" name="Text Box 85"/>
              <p:cNvSpPr txBox="1"/>
              <p:nvPr/>
            </p:nvSpPr>
            <p:spPr>
              <a:xfrm>
                <a:off x="4210"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endParaRPr lang="zh-CN" altLang="zh-CN" sz="1800" dirty="0">
                  <a:solidFill>
                    <a:schemeClr val="tx1"/>
                  </a:solidFill>
                  <a:latin typeface="Times New Roman" panose="02020603050405020304" pitchFamily="18" charset="0"/>
                  <a:ea typeface="楷体_GB2312"/>
                </a:endParaRPr>
              </a:p>
            </p:txBody>
          </p:sp>
        </p:grpSp>
        <p:sp>
          <p:nvSpPr>
            <p:cNvPr id="223283" name="Text Box 86"/>
            <p:cNvSpPr txBox="1"/>
            <p:nvPr/>
          </p:nvSpPr>
          <p:spPr>
            <a:xfrm>
              <a:off x="1489" y="3120"/>
              <a:ext cx="1391" cy="249"/>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rgbClr val="0000FF"/>
                  </a:solidFill>
                  <a:latin typeface="Times New Roman" panose="02020603050405020304" pitchFamily="18" charset="0"/>
                  <a:ea typeface="楷体_GB2312"/>
                </a:rPr>
                <a:t> ICW4</a:t>
              </a:r>
              <a:r>
                <a:rPr lang="en-US" altLang="zh-CN" sz="2000" dirty="0">
                  <a:solidFill>
                    <a:schemeClr val="tx1"/>
                  </a:solidFill>
                  <a:latin typeface="Times New Roman" panose="02020603050405020304" pitchFamily="18" charset="0"/>
                  <a:ea typeface="楷体_GB2312"/>
                </a:rPr>
                <a:t>  </a:t>
              </a:r>
              <a:r>
                <a:rPr lang="zh-CN" altLang="en-US" sz="2000" dirty="0">
                  <a:solidFill>
                    <a:schemeClr val="tx1"/>
                  </a:solidFill>
                  <a:latin typeface="Times New Roman" panose="02020603050405020304" pitchFamily="18" charset="0"/>
                  <a:ea typeface="楷体_GB2312"/>
                </a:rPr>
                <a:t>方式控制</a:t>
              </a:r>
              <a:endParaRPr lang="zh-CN" altLang="en-US" sz="1800" dirty="0">
                <a:solidFill>
                  <a:schemeClr val="tx1"/>
                </a:solidFill>
                <a:latin typeface="Times New Roman" panose="02020603050405020304" pitchFamily="18" charset="0"/>
                <a:ea typeface="楷体_GB2312"/>
              </a:endParaRPr>
            </a:p>
          </p:txBody>
        </p:sp>
        <p:grpSp>
          <p:nvGrpSpPr>
            <p:cNvPr id="223284" name="Group 87"/>
            <p:cNvGrpSpPr/>
            <p:nvPr/>
          </p:nvGrpSpPr>
          <p:grpSpPr>
            <a:xfrm>
              <a:off x="2866" y="1649"/>
              <a:ext cx="268" cy="1945"/>
              <a:chOff x="0" y="0"/>
              <a:chExt cx="268" cy="1945"/>
            </a:xfrm>
          </p:grpSpPr>
          <p:sp>
            <p:nvSpPr>
              <p:cNvPr id="223360" name="Text Box 88"/>
              <p:cNvSpPr txBox="1"/>
              <p:nvPr/>
            </p:nvSpPr>
            <p:spPr>
              <a:xfrm>
                <a:off x="39" y="168"/>
                <a:ext cx="187" cy="271"/>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a:t>
                </a:r>
                <a:endParaRPr lang="en-US" altLang="zh-CN" sz="1800" dirty="0">
                  <a:solidFill>
                    <a:schemeClr val="tx1"/>
                  </a:solidFill>
                  <a:latin typeface="宋体" panose="02010600030101010101" pitchFamily="2" charset="-122"/>
                  <a:ea typeface="楷体_GB2312"/>
                </a:endParaRPr>
              </a:p>
            </p:txBody>
          </p:sp>
          <p:sp>
            <p:nvSpPr>
              <p:cNvPr id="223361" name="Text Box 89"/>
              <p:cNvSpPr txBox="1"/>
              <p:nvPr/>
            </p:nvSpPr>
            <p:spPr>
              <a:xfrm>
                <a:off x="29" y="656"/>
                <a:ext cx="187" cy="270"/>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1</a:t>
                </a:r>
                <a:endParaRPr lang="en-US" altLang="zh-CN" sz="1800" dirty="0">
                  <a:solidFill>
                    <a:schemeClr val="tx1"/>
                  </a:solidFill>
                  <a:latin typeface="宋体" panose="02010600030101010101" pitchFamily="2" charset="-122"/>
                  <a:ea typeface="楷体_GB2312"/>
                </a:endParaRPr>
              </a:p>
            </p:txBody>
          </p:sp>
          <p:sp>
            <p:nvSpPr>
              <p:cNvPr id="223362" name="Text Box 90"/>
              <p:cNvSpPr txBox="1"/>
              <p:nvPr/>
            </p:nvSpPr>
            <p:spPr>
              <a:xfrm>
                <a:off x="10" y="1187"/>
                <a:ext cx="187" cy="271"/>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1</a:t>
                </a:r>
                <a:endParaRPr lang="en-US" altLang="zh-CN" sz="1800" dirty="0">
                  <a:solidFill>
                    <a:schemeClr val="tx1"/>
                  </a:solidFill>
                  <a:latin typeface="宋体" panose="02010600030101010101" pitchFamily="2" charset="-122"/>
                  <a:ea typeface="楷体_GB2312"/>
                </a:endParaRPr>
              </a:p>
            </p:txBody>
          </p:sp>
          <p:sp>
            <p:nvSpPr>
              <p:cNvPr id="223363" name="Text Box 91"/>
              <p:cNvSpPr txBox="1"/>
              <p:nvPr/>
            </p:nvSpPr>
            <p:spPr>
              <a:xfrm>
                <a:off x="0" y="1674"/>
                <a:ext cx="187" cy="271"/>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1</a:t>
                </a:r>
                <a:endParaRPr lang="en-US" altLang="zh-CN" sz="2000" dirty="0">
                  <a:solidFill>
                    <a:schemeClr val="tx1"/>
                  </a:solidFill>
                  <a:latin typeface="Times New Roman" panose="02020603050405020304" pitchFamily="18" charset="0"/>
                  <a:ea typeface="楷体_GB2312"/>
                </a:endParaRPr>
              </a:p>
            </p:txBody>
          </p:sp>
          <p:sp>
            <p:nvSpPr>
              <p:cNvPr id="223364" name="Text Box 92"/>
              <p:cNvSpPr txBox="1"/>
              <p:nvPr/>
            </p:nvSpPr>
            <p:spPr>
              <a:xfrm>
                <a:off x="14" y="0"/>
                <a:ext cx="254" cy="271"/>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A0</a:t>
                </a:r>
                <a:endParaRPr lang="en-US" altLang="zh-CN" sz="2000" dirty="0">
                  <a:solidFill>
                    <a:schemeClr val="tx1"/>
                  </a:solidFill>
                  <a:latin typeface="Times New Roman" panose="02020603050405020304" pitchFamily="18" charset="0"/>
                  <a:ea typeface="楷体_GB2312"/>
                </a:endParaRPr>
              </a:p>
            </p:txBody>
          </p:sp>
        </p:grpSp>
        <p:sp>
          <p:nvSpPr>
            <p:cNvPr id="223285" name="Text Box 93"/>
            <p:cNvSpPr txBox="1"/>
            <p:nvPr/>
          </p:nvSpPr>
          <p:spPr>
            <a:xfrm>
              <a:off x="3288" y="1842"/>
              <a:ext cx="172" cy="228"/>
            </a:xfrm>
            <a:prstGeom prst="rect">
              <a:avLst/>
            </a:prstGeom>
            <a:solidFill>
              <a:srgbClr val="CCFF99"/>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1</a:t>
              </a:r>
              <a:endParaRPr lang="en-US" altLang="zh-CN" sz="1800" dirty="0">
                <a:solidFill>
                  <a:schemeClr val="tx1"/>
                </a:solidFill>
                <a:latin typeface="Times New Roman" panose="02020603050405020304" pitchFamily="18" charset="0"/>
                <a:ea typeface="楷体_GB2312"/>
              </a:endParaRPr>
            </a:p>
          </p:txBody>
        </p:sp>
        <p:sp>
          <p:nvSpPr>
            <p:cNvPr id="223286" name="Text Box 94"/>
            <p:cNvSpPr txBox="1"/>
            <p:nvPr/>
          </p:nvSpPr>
          <p:spPr>
            <a:xfrm>
              <a:off x="3463" y="1842"/>
              <a:ext cx="172" cy="228"/>
            </a:xfrm>
            <a:prstGeom prst="rect">
              <a:avLst/>
            </a:prstGeom>
            <a:solidFill>
              <a:srgbClr val="CCFF99"/>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0</a:t>
              </a:r>
              <a:endParaRPr lang="en-US" altLang="zh-CN" sz="1800" dirty="0">
                <a:solidFill>
                  <a:schemeClr val="tx1"/>
                </a:solidFill>
                <a:latin typeface="Times New Roman" panose="02020603050405020304" pitchFamily="18" charset="0"/>
                <a:ea typeface="楷体_GB2312"/>
              </a:endParaRPr>
            </a:p>
          </p:txBody>
        </p:sp>
        <p:sp>
          <p:nvSpPr>
            <p:cNvPr id="223287" name="Text Box 95"/>
            <p:cNvSpPr txBox="1"/>
            <p:nvPr/>
          </p:nvSpPr>
          <p:spPr>
            <a:xfrm>
              <a:off x="3634" y="1842"/>
              <a:ext cx="172" cy="228"/>
            </a:xfrm>
            <a:prstGeom prst="rect">
              <a:avLst/>
            </a:prstGeom>
            <a:solidFill>
              <a:srgbClr val="CCFF99"/>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0</a:t>
              </a:r>
              <a:endParaRPr lang="en-US" altLang="zh-CN" sz="1800" dirty="0">
                <a:solidFill>
                  <a:schemeClr val="tx1"/>
                </a:solidFill>
                <a:latin typeface="Times New Roman" panose="02020603050405020304" pitchFamily="18" charset="0"/>
                <a:ea typeface="楷体_GB2312"/>
              </a:endParaRPr>
            </a:p>
          </p:txBody>
        </p:sp>
        <p:sp>
          <p:nvSpPr>
            <p:cNvPr id="223288" name="Text Box 96"/>
            <p:cNvSpPr txBox="1"/>
            <p:nvPr/>
          </p:nvSpPr>
          <p:spPr>
            <a:xfrm>
              <a:off x="3804" y="1842"/>
              <a:ext cx="172" cy="228"/>
            </a:xfrm>
            <a:prstGeom prst="rect">
              <a:avLst/>
            </a:prstGeom>
            <a:solidFill>
              <a:srgbClr val="CCFF99"/>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1</a:t>
              </a:r>
              <a:endParaRPr lang="en-US" altLang="zh-CN" sz="1800" dirty="0">
                <a:solidFill>
                  <a:schemeClr val="tx1"/>
                </a:solidFill>
                <a:latin typeface="Times New Roman" panose="02020603050405020304" pitchFamily="18" charset="0"/>
                <a:ea typeface="楷体_GB2312"/>
              </a:endParaRPr>
            </a:p>
          </p:txBody>
        </p:sp>
        <p:sp>
          <p:nvSpPr>
            <p:cNvPr id="223289" name="Text Box 97"/>
            <p:cNvSpPr txBox="1"/>
            <p:nvPr/>
          </p:nvSpPr>
          <p:spPr>
            <a:xfrm>
              <a:off x="3974" y="1842"/>
              <a:ext cx="172" cy="228"/>
            </a:xfrm>
            <a:prstGeom prst="rect">
              <a:avLst/>
            </a:prstGeom>
            <a:solidFill>
              <a:srgbClr val="CCFF99"/>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0</a:t>
              </a:r>
              <a:endParaRPr lang="en-US" altLang="zh-CN" sz="1800" dirty="0">
                <a:solidFill>
                  <a:schemeClr val="tx1"/>
                </a:solidFill>
                <a:latin typeface="Times New Roman" panose="02020603050405020304" pitchFamily="18" charset="0"/>
                <a:ea typeface="楷体_GB2312"/>
              </a:endParaRPr>
            </a:p>
          </p:txBody>
        </p:sp>
        <p:sp>
          <p:nvSpPr>
            <p:cNvPr id="223290" name="Text Box 98"/>
            <p:cNvSpPr txBox="1"/>
            <p:nvPr/>
          </p:nvSpPr>
          <p:spPr>
            <a:xfrm>
              <a:off x="4145" y="1842"/>
              <a:ext cx="172" cy="228"/>
            </a:xfrm>
            <a:prstGeom prst="rect">
              <a:avLst/>
            </a:prstGeom>
            <a:solidFill>
              <a:srgbClr val="CCFF99"/>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1</a:t>
              </a:r>
              <a:endParaRPr lang="en-US" altLang="zh-CN" sz="1800" dirty="0">
                <a:solidFill>
                  <a:schemeClr val="tx1"/>
                </a:solidFill>
                <a:latin typeface="Times New Roman" panose="02020603050405020304" pitchFamily="18" charset="0"/>
                <a:ea typeface="楷体_GB2312"/>
              </a:endParaRPr>
            </a:p>
          </p:txBody>
        </p:sp>
        <p:sp>
          <p:nvSpPr>
            <p:cNvPr id="223291" name="Text Box 99"/>
            <p:cNvSpPr txBox="1"/>
            <p:nvPr/>
          </p:nvSpPr>
          <p:spPr>
            <a:xfrm>
              <a:off x="4322" y="1842"/>
              <a:ext cx="172" cy="228"/>
            </a:xfrm>
            <a:prstGeom prst="rect">
              <a:avLst/>
            </a:prstGeom>
            <a:solidFill>
              <a:srgbClr val="CCFF99"/>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0</a:t>
              </a:r>
              <a:endParaRPr lang="en-US" altLang="zh-CN" sz="1800" dirty="0">
                <a:solidFill>
                  <a:schemeClr val="tx1"/>
                </a:solidFill>
                <a:latin typeface="Times New Roman" panose="02020603050405020304" pitchFamily="18" charset="0"/>
                <a:ea typeface="楷体_GB2312"/>
              </a:endParaRPr>
            </a:p>
          </p:txBody>
        </p:sp>
        <p:sp>
          <p:nvSpPr>
            <p:cNvPr id="223292" name="Text Box 100"/>
            <p:cNvSpPr txBox="1"/>
            <p:nvPr/>
          </p:nvSpPr>
          <p:spPr>
            <a:xfrm>
              <a:off x="4494" y="1842"/>
              <a:ext cx="172" cy="228"/>
            </a:xfrm>
            <a:prstGeom prst="rect">
              <a:avLst/>
            </a:prstGeom>
            <a:solidFill>
              <a:srgbClr val="CCFF99"/>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0</a:t>
              </a:r>
              <a:endParaRPr lang="en-US" altLang="zh-CN" sz="1800" dirty="0">
                <a:solidFill>
                  <a:schemeClr val="tx1"/>
                </a:solidFill>
                <a:latin typeface="Times New Roman" panose="02020603050405020304" pitchFamily="18" charset="0"/>
                <a:ea typeface="楷体_GB2312"/>
              </a:endParaRPr>
            </a:p>
          </p:txBody>
        </p:sp>
        <p:sp>
          <p:nvSpPr>
            <p:cNvPr id="223293" name="Text Box 101"/>
            <p:cNvSpPr txBox="1"/>
            <p:nvPr/>
          </p:nvSpPr>
          <p:spPr>
            <a:xfrm>
              <a:off x="3216" y="2091"/>
              <a:ext cx="1824" cy="213"/>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600" dirty="0">
                  <a:solidFill>
                    <a:srgbClr val="0000FF"/>
                  </a:solidFill>
                  <a:latin typeface="Times New Roman" panose="02020603050405020304" pitchFamily="18" charset="0"/>
                  <a:ea typeface="楷体_GB2312"/>
                </a:rPr>
                <a:t>OCW1</a:t>
              </a:r>
              <a:r>
                <a:rPr lang="en-US" altLang="zh-CN" sz="1600" dirty="0">
                  <a:solidFill>
                    <a:schemeClr val="tx1"/>
                  </a:solidFill>
                  <a:latin typeface="Times New Roman" panose="02020603050405020304" pitchFamily="18" charset="0"/>
                  <a:ea typeface="楷体_GB2312"/>
                </a:rPr>
                <a:t> </a:t>
              </a:r>
              <a:r>
                <a:rPr lang="zh-CN" altLang="en-US" sz="1800" dirty="0">
                  <a:solidFill>
                    <a:schemeClr val="tx1"/>
                  </a:solidFill>
                  <a:latin typeface="Times New Roman" panose="02020603050405020304" pitchFamily="18" charset="0"/>
                  <a:ea typeface="楷体_GB2312"/>
                </a:rPr>
                <a:t>中断屏蔽寄存器  </a:t>
              </a:r>
              <a:r>
                <a:rPr lang="en-US" altLang="zh-CN" sz="1800" dirty="0">
                  <a:solidFill>
                    <a:schemeClr val="tx1"/>
                  </a:solidFill>
                  <a:latin typeface="Times New Roman" panose="02020603050405020304" pitchFamily="18" charset="0"/>
                  <a:ea typeface="楷体_GB2312"/>
                </a:rPr>
                <a:t>IMR</a:t>
              </a:r>
              <a:endParaRPr lang="en-US" altLang="zh-CN" sz="1600" dirty="0">
                <a:solidFill>
                  <a:schemeClr val="tx1"/>
                </a:solidFill>
                <a:latin typeface="Times New Roman" panose="02020603050405020304" pitchFamily="18" charset="0"/>
                <a:ea typeface="楷体_GB2312"/>
              </a:endParaRPr>
            </a:p>
          </p:txBody>
        </p:sp>
        <p:grpSp>
          <p:nvGrpSpPr>
            <p:cNvPr id="223294" name="Group 102"/>
            <p:cNvGrpSpPr/>
            <p:nvPr/>
          </p:nvGrpSpPr>
          <p:grpSpPr>
            <a:xfrm>
              <a:off x="3293" y="2354"/>
              <a:ext cx="1378" cy="229"/>
              <a:chOff x="0" y="0"/>
              <a:chExt cx="4810" cy="640"/>
            </a:xfrm>
          </p:grpSpPr>
          <p:sp>
            <p:nvSpPr>
              <p:cNvPr id="223352" name="Text Box 103"/>
              <p:cNvSpPr txBox="1"/>
              <p:nvPr/>
            </p:nvSpPr>
            <p:spPr>
              <a:xfrm>
                <a:off x="0" y="0"/>
                <a:ext cx="600" cy="640"/>
              </a:xfrm>
              <a:prstGeom prst="rect">
                <a:avLst/>
              </a:prstGeom>
              <a:solidFill>
                <a:srgbClr val="FFFF00"/>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53" name="Text Box 104"/>
              <p:cNvSpPr txBox="1"/>
              <p:nvPr/>
            </p:nvSpPr>
            <p:spPr>
              <a:xfrm>
                <a:off x="612" y="0"/>
                <a:ext cx="600" cy="640"/>
              </a:xfrm>
              <a:prstGeom prst="rect">
                <a:avLst/>
              </a:prstGeom>
              <a:solidFill>
                <a:srgbClr val="FFFF00"/>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54" name="Text Box 105"/>
              <p:cNvSpPr txBox="1"/>
              <p:nvPr/>
            </p:nvSpPr>
            <p:spPr>
              <a:xfrm>
                <a:off x="1206" y="0"/>
                <a:ext cx="601" cy="640"/>
              </a:xfrm>
              <a:prstGeom prst="rect">
                <a:avLst/>
              </a:prstGeom>
              <a:solidFill>
                <a:srgbClr val="FFFF00"/>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55" name="Text Box 106"/>
              <p:cNvSpPr txBox="1"/>
              <p:nvPr/>
            </p:nvSpPr>
            <p:spPr>
              <a:xfrm>
                <a:off x="1801" y="0"/>
                <a:ext cx="600" cy="640"/>
              </a:xfrm>
              <a:prstGeom prst="rect">
                <a:avLst/>
              </a:prstGeom>
              <a:solidFill>
                <a:srgbClr val="FFFF00"/>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0</a:t>
                </a:r>
                <a:endParaRPr lang="en-US" altLang="zh-CN" sz="1800" dirty="0">
                  <a:solidFill>
                    <a:schemeClr val="tx1"/>
                  </a:solidFill>
                  <a:latin typeface="Times New Roman" panose="02020603050405020304" pitchFamily="18" charset="0"/>
                  <a:ea typeface="楷体_GB2312"/>
                </a:endParaRPr>
              </a:p>
            </p:txBody>
          </p:sp>
          <p:sp>
            <p:nvSpPr>
              <p:cNvPr id="223356" name="Text Box 107"/>
              <p:cNvSpPr txBox="1"/>
              <p:nvPr/>
            </p:nvSpPr>
            <p:spPr>
              <a:xfrm>
                <a:off x="2396" y="0"/>
                <a:ext cx="600" cy="640"/>
              </a:xfrm>
              <a:prstGeom prst="rect">
                <a:avLst/>
              </a:prstGeom>
              <a:solidFill>
                <a:srgbClr val="FFFF00"/>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0</a:t>
                </a:r>
                <a:endParaRPr lang="en-US" altLang="zh-CN" sz="1800" dirty="0">
                  <a:solidFill>
                    <a:schemeClr val="tx1"/>
                  </a:solidFill>
                  <a:latin typeface="Times New Roman" panose="02020603050405020304" pitchFamily="18" charset="0"/>
                  <a:ea typeface="楷体_GB2312"/>
                </a:endParaRPr>
              </a:p>
            </p:txBody>
          </p:sp>
          <p:sp>
            <p:nvSpPr>
              <p:cNvPr id="223357" name="Text Box 108"/>
              <p:cNvSpPr txBox="1"/>
              <p:nvPr/>
            </p:nvSpPr>
            <p:spPr>
              <a:xfrm>
                <a:off x="2990" y="0"/>
                <a:ext cx="601" cy="640"/>
              </a:xfrm>
              <a:prstGeom prst="rect">
                <a:avLst/>
              </a:prstGeom>
              <a:solidFill>
                <a:srgbClr val="FFFF00"/>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58" name="Text Box 109"/>
              <p:cNvSpPr txBox="1"/>
              <p:nvPr/>
            </p:nvSpPr>
            <p:spPr>
              <a:xfrm>
                <a:off x="3610" y="0"/>
                <a:ext cx="600" cy="640"/>
              </a:xfrm>
              <a:prstGeom prst="rect">
                <a:avLst/>
              </a:prstGeom>
              <a:solidFill>
                <a:srgbClr val="FFFF00"/>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59" name="Text Box 110"/>
              <p:cNvSpPr txBox="1"/>
              <p:nvPr/>
            </p:nvSpPr>
            <p:spPr>
              <a:xfrm>
                <a:off x="4210" y="0"/>
                <a:ext cx="600" cy="640"/>
              </a:xfrm>
              <a:prstGeom prst="rect">
                <a:avLst/>
              </a:prstGeom>
              <a:solidFill>
                <a:srgbClr val="FFFF00"/>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grpSp>
        <p:sp>
          <p:nvSpPr>
            <p:cNvPr id="223295" name="Text Box 111"/>
            <p:cNvSpPr txBox="1"/>
            <p:nvPr/>
          </p:nvSpPr>
          <p:spPr>
            <a:xfrm>
              <a:off x="3216" y="2592"/>
              <a:ext cx="1968" cy="219"/>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rgbClr val="0000FF"/>
                  </a:solidFill>
                  <a:latin typeface="Times New Roman" panose="02020603050405020304" pitchFamily="18" charset="0"/>
                  <a:ea typeface="楷体_GB2312"/>
                </a:rPr>
                <a:t>OCW2</a:t>
              </a:r>
              <a:r>
                <a:rPr lang="en-US" altLang="zh-CN" sz="1800" dirty="0">
                  <a:solidFill>
                    <a:schemeClr val="tx1"/>
                  </a:solidFill>
                  <a:latin typeface="Times New Roman" panose="02020603050405020304" pitchFamily="18" charset="0"/>
                  <a:ea typeface="楷体_GB2312"/>
                </a:rPr>
                <a:t> </a:t>
              </a:r>
              <a:r>
                <a:rPr lang="zh-CN" altLang="en-US" sz="1800" dirty="0">
                  <a:solidFill>
                    <a:schemeClr val="tx1"/>
                  </a:solidFill>
                  <a:latin typeface="Times New Roman" panose="02020603050405020304" pitchFamily="18" charset="0"/>
                  <a:ea typeface="楷体_GB2312"/>
                </a:rPr>
                <a:t>优先级设置、发</a:t>
              </a:r>
              <a:r>
                <a:rPr lang="en-US" altLang="zh-CN" sz="1800" dirty="0">
                  <a:solidFill>
                    <a:schemeClr val="tx1"/>
                  </a:solidFill>
                  <a:latin typeface="Times New Roman" panose="02020603050405020304" pitchFamily="18" charset="0"/>
                  <a:ea typeface="楷体_GB2312"/>
                </a:rPr>
                <a:t>EOI</a:t>
              </a:r>
              <a:endParaRPr lang="en-US" altLang="zh-CN" sz="1800" dirty="0">
                <a:solidFill>
                  <a:schemeClr val="tx1"/>
                </a:solidFill>
                <a:latin typeface="Times New Roman" panose="02020603050405020304" pitchFamily="18" charset="0"/>
                <a:ea typeface="楷体_GB2312"/>
              </a:endParaRPr>
            </a:p>
          </p:txBody>
        </p:sp>
        <p:grpSp>
          <p:nvGrpSpPr>
            <p:cNvPr id="223296" name="Group 112"/>
            <p:cNvGrpSpPr/>
            <p:nvPr/>
          </p:nvGrpSpPr>
          <p:grpSpPr>
            <a:xfrm>
              <a:off x="3288" y="2871"/>
              <a:ext cx="1378" cy="229"/>
              <a:chOff x="0" y="0"/>
              <a:chExt cx="4810" cy="640"/>
            </a:xfrm>
          </p:grpSpPr>
          <p:sp>
            <p:nvSpPr>
              <p:cNvPr id="223344" name="Text Box 113"/>
              <p:cNvSpPr txBox="1"/>
              <p:nvPr/>
            </p:nvSpPr>
            <p:spPr>
              <a:xfrm>
                <a:off x="0"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45" name="Text Box 114"/>
              <p:cNvSpPr txBox="1"/>
              <p:nvPr/>
            </p:nvSpPr>
            <p:spPr>
              <a:xfrm>
                <a:off x="612"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46" name="Text Box 115"/>
              <p:cNvSpPr txBox="1"/>
              <p:nvPr/>
            </p:nvSpPr>
            <p:spPr>
              <a:xfrm>
                <a:off x="1206" y="0"/>
                <a:ext cx="601" cy="640"/>
              </a:xfrm>
              <a:prstGeom prst="rect">
                <a:avLst/>
              </a:prstGeom>
              <a:solidFill>
                <a:schemeClr val="bg1"/>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47" name="Text Box 116"/>
              <p:cNvSpPr txBox="1"/>
              <p:nvPr/>
            </p:nvSpPr>
            <p:spPr>
              <a:xfrm>
                <a:off x="1801"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0</a:t>
                </a:r>
                <a:endParaRPr lang="en-US" altLang="zh-CN" sz="1800" dirty="0">
                  <a:solidFill>
                    <a:schemeClr val="tx1"/>
                  </a:solidFill>
                  <a:latin typeface="Times New Roman" panose="02020603050405020304" pitchFamily="18" charset="0"/>
                  <a:ea typeface="楷体_GB2312"/>
                </a:endParaRPr>
              </a:p>
            </p:txBody>
          </p:sp>
          <p:sp>
            <p:nvSpPr>
              <p:cNvPr id="223348" name="Text Box 117"/>
              <p:cNvSpPr txBox="1"/>
              <p:nvPr/>
            </p:nvSpPr>
            <p:spPr>
              <a:xfrm>
                <a:off x="2396"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1</a:t>
                </a:r>
                <a:endParaRPr lang="en-US" altLang="zh-CN" sz="1800" dirty="0">
                  <a:solidFill>
                    <a:schemeClr val="tx1"/>
                  </a:solidFill>
                  <a:latin typeface="Times New Roman" panose="02020603050405020304" pitchFamily="18" charset="0"/>
                  <a:ea typeface="楷体_GB2312"/>
                </a:endParaRPr>
              </a:p>
            </p:txBody>
          </p:sp>
          <p:sp>
            <p:nvSpPr>
              <p:cNvPr id="223349" name="Text Box 118"/>
              <p:cNvSpPr txBox="1"/>
              <p:nvPr/>
            </p:nvSpPr>
            <p:spPr>
              <a:xfrm>
                <a:off x="2990" y="0"/>
                <a:ext cx="601" cy="640"/>
              </a:xfrm>
              <a:prstGeom prst="rect">
                <a:avLst/>
              </a:prstGeom>
              <a:solidFill>
                <a:schemeClr val="bg1"/>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50" name="Text Box 119"/>
              <p:cNvSpPr txBox="1"/>
              <p:nvPr/>
            </p:nvSpPr>
            <p:spPr>
              <a:xfrm>
                <a:off x="3610"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sp>
            <p:nvSpPr>
              <p:cNvPr id="223351" name="Text Box 120"/>
              <p:cNvSpPr txBox="1"/>
              <p:nvPr/>
            </p:nvSpPr>
            <p:spPr>
              <a:xfrm>
                <a:off x="4210" y="0"/>
                <a:ext cx="600" cy="640"/>
              </a:xfrm>
              <a:prstGeom prst="rect">
                <a:avLst/>
              </a:prstGeom>
              <a:solidFill>
                <a:schemeClr val="bg1"/>
              </a:solidFill>
              <a:ln w="25400" cap="flat" cmpd="sng">
                <a:solidFill>
                  <a:srgbClr val="000000"/>
                </a:solidFill>
                <a:prstDash val="solid"/>
                <a:miter/>
                <a:headEnd type="none" w="med" len="med"/>
                <a:tailEnd type="none" w="med" len="med"/>
              </a:ln>
            </p:spPr>
            <p:txBody>
              <a:bodyPr lIns="10800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p:txBody>
          </p:sp>
        </p:grpSp>
        <p:sp>
          <p:nvSpPr>
            <p:cNvPr id="223297" name="Text Box 121"/>
            <p:cNvSpPr txBox="1"/>
            <p:nvPr/>
          </p:nvSpPr>
          <p:spPr>
            <a:xfrm>
              <a:off x="3211" y="3115"/>
              <a:ext cx="2021" cy="245"/>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rgbClr val="0000FF"/>
                  </a:solidFill>
                  <a:latin typeface="Times New Roman" panose="02020603050405020304" pitchFamily="18" charset="0"/>
                  <a:ea typeface="楷体_GB2312"/>
                </a:rPr>
                <a:t>OCW3</a:t>
              </a:r>
              <a:r>
                <a:rPr lang="zh-CN" altLang="en-US" sz="1800" dirty="0">
                  <a:solidFill>
                    <a:schemeClr val="tx1"/>
                  </a:solidFill>
                  <a:latin typeface="Times New Roman" panose="02020603050405020304" pitchFamily="18" charset="0"/>
                  <a:ea typeface="楷体_GB2312"/>
                </a:rPr>
                <a:t>特殊屏蔽</a:t>
              </a:r>
              <a:r>
                <a:rPr lang="en-US" altLang="zh-CN" sz="1800" dirty="0">
                  <a:solidFill>
                    <a:schemeClr val="tx1"/>
                  </a:solidFill>
                  <a:latin typeface="Times New Roman" panose="02020603050405020304" pitchFamily="18" charset="0"/>
                  <a:ea typeface="楷体_GB2312"/>
                </a:rPr>
                <a:t>,</a:t>
              </a:r>
              <a:r>
                <a:rPr lang="zh-CN" altLang="en-US" sz="1800" dirty="0">
                  <a:solidFill>
                    <a:schemeClr val="tx1"/>
                  </a:solidFill>
                  <a:latin typeface="Times New Roman" panose="02020603050405020304" pitchFamily="18" charset="0"/>
                  <a:ea typeface="楷体_GB2312"/>
                </a:rPr>
                <a:t>查询方式设置</a:t>
              </a:r>
              <a:endParaRPr lang="zh-CN" altLang="en-US" sz="1800" dirty="0">
                <a:solidFill>
                  <a:schemeClr val="tx1"/>
                </a:solidFill>
                <a:latin typeface="Times New Roman" panose="02020603050405020304" pitchFamily="18" charset="0"/>
                <a:ea typeface="楷体_GB2312"/>
              </a:endParaRPr>
            </a:p>
          </p:txBody>
        </p:sp>
        <p:sp>
          <p:nvSpPr>
            <p:cNvPr id="223298" name="Text Box 122"/>
            <p:cNvSpPr txBox="1"/>
            <p:nvPr/>
          </p:nvSpPr>
          <p:spPr>
            <a:xfrm>
              <a:off x="1398" y="0"/>
              <a:ext cx="858" cy="270"/>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2400" dirty="0">
                  <a:solidFill>
                    <a:srgbClr val="FF0000"/>
                  </a:solidFill>
                  <a:latin typeface="宋体" panose="02010600030101010101" pitchFamily="2" charset="-122"/>
                  <a:ea typeface="楷体_GB2312"/>
                </a:rPr>
                <a:t>处理部分</a:t>
              </a:r>
              <a:endParaRPr lang="zh-CN" altLang="en-US" sz="1800" dirty="0">
                <a:solidFill>
                  <a:schemeClr val="tx1"/>
                </a:solidFill>
                <a:latin typeface="宋体" panose="02010600030101010101" pitchFamily="2" charset="-122"/>
                <a:ea typeface="楷体_GB2312"/>
              </a:endParaRPr>
            </a:p>
          </p:txBody>
        </p:sp>
        <p:sp>
          <p:nvSpPr>
            <p:cNvPr id="223299" name="Text Box 123"/>
            <p:cNvSpPr txBox="1"/>
            <p:nvPr/>
          </p:nvSpPr>
          <p:spPr>
            <a:xfrm>
              <a:off x="4176" y="3329"/>
              <a:ext cx="857" cy="271"/>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2400" dirty="0">
                  <a:solidFill>
                    <a:srgbClr val="FF0000"/>
                  </a:solidFill>
                  <a:latin typeface="宋体" panose="02010600030101010101" pitchFamily="2" charset="-122"/>
                  <a:ea typeface="楷体_GB2312"/>
                </a:rPr>
                <a:t>控制部分</a:t>
              </a:r>
              <a:endParaRPr lang="zh-CN" altLang="en-US" sz="1800" dirty="0">
                <a:solidFill>
                  <a:schemeClr val="tx1"/>
                </a:solidFill>
                <a:latin typeface="宋体" panose="02010600030101010101" pitchFamily="2" charset="-122"/>
                <a:ea typeface="楷体_GB2312"/>
              </a:endParaRPr>
            </a:p>
          </p:txBody>
        </p:sp>
        <p:sp>
          <p:nvSpPr>
            <p:cNvPr id="223300" name="Text Box 124"/>
            <p:cNvSpPr txBox="1"/>
            <p:nvPr/>
          </p:nvSpPr>
          <p:spPr>
            <a:xfrm>
              <a:off x="2480" y="210"/>
              <a:ext cx="306" cy="1278"/>
            </a:xfrm>
            <a:prstGeom prst="rect">
              <a:avLst/>
            </a:prstGeom>
            <a:solidFill>
              <a:srgbClr val="FFCC99"/>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a:t>
              </a:r>
              <a:endParaRPr lang="en-US" altLang="zh-CN" sz="20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a:t>
              </a:r>
              <a:endParaRPr lang="en-US" altLang="zh-CN" sz="20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 </a:t>
              </a:r>
              <a:endParaRPr lang="en-US" altLang="zh-CN" sz="20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 </a:t>
              </a:r>
              <a:endParaRPr lang="en-US" altLang="zh-CN" sz="20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 </a:t>
              </a:r>
              <a:endParaRPr lang="en-US" altLang="zh-CN" sz="20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 </a:t>
              </a:r>
              <a:endParaRPr lang="en-US" altLang="zh-CN" sz="20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 </a:t>
              </a:r>
              <a:endParaRPr lang="en-US" altLang="zh-CN" sz="20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a:t>
              </a: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1800" dirty="0">
                <a:solidFill>
                  <a:schemeClr val="tx1"/>
                </a:solidFill>
                <a:latin typeface="Times New Roman" panose="02020603050405020304" pitchFamily="18" charset="0"/>
                <a:ea typeface="楷体_GB2312"/>
              </a:endParaRPr>
            </a:p>
          </p:txBody>
        </p:sp>
        <p:grpSp>
          <p:nvGrpSpPr>
            <p:cNvPr id="223301" name="Group 125"/>
            <p:cNvGrpSpPr/>
            <p:nvPr/>
          </p:nvGrpSpPr>
          <p:grpSpPr>
            <a:xfrm>
              <a:off x="2490" y="366"/>
              <a:ext cx="287" cy="934"/>
              <a:chOff x="0" y="0"/>
              <a:chExt cx="1340" cy="3760"/>
            </a:xfrm>
          </p:grpSpPr>
          <p:grpSp>
            <p:nvGrpSpPr>
              <p:cNvPr id="223333" name="Group 126"/>
              <p:cNvGrpSpPr/>
              <p:nvPr/>
            </p:nvGrpSpPr>
            <p:grpSpPr>
              <a:xfrm>
                <a:off x="0" y="0"/>
                <a:ext cx="1300" cy="1840"/>
                <a:chOff x="0" y="0"/>
                <a:chExt cx="1300" cy="1840"/>
              </a:xfrm>
            </p:grpSpPr>
            <p:grpSp>
              <p:nvGrpSpPr>
                <p:cNvPr id="223338" name="Group 127"/>
                <p:cNvGrpSpPr/>
                <p:nvPr/>
              </p:nvGrpSpPr>
              <p:grpSpPr>
                <a:xfrm>
                  <a:off x="0" y="0"/>
                  <a:ext cx="1280" cy="600"/>
                  <a:chOff x="0" y="0"/>
                  <a:chExt cx="1280" cy="600"/>
                </a:xfrm>
              </p:grpSpPr>
              <p:sp>
                <p:nvSpPr>
                  <p:cNvPr id="223342" name="Line 128"/>
                  <p:cNvSpPr/>
                  <p:nvPr/>
                </p:nvSpPr>
                <p:spPr>
                  <a:xfrm>
                    <a:off x="20" y="0"/>
                    <a:ext cx="1260" cy="0"/>
                  </a:xfrm>
                  <a:prstGeom prst="line">
                    <a:avLst/>
                  </a:prstGeom>
                  <a:ln w="25400" cap="flat" cmpd="sng">
                    <a:solidFill>
                      <a:srgbClr val="000000"/>
                    </a:solidFill>
                    <a:prstDash val="solid"/>
                    <a:bevel/>
                    <a:headEnd type="none" w="med" len="med"/>
                    <a:tailEnd type="none" w="med" len="med"/>
                  </a:ln>
                </p:spPr>
              </p:sp>
              <p:sp>
                <p:nvSpPr>
                  <p:cNvPr id="223343" name="Line 129"/>
                  <p:cNvSpPr/>
                  <p:nvPr/>
                </p:nvSpPr>
                <p:spPr>
                  <a:xfrm>
                    <a:off x="0" y="600"/>
                    <a:ext cx="1260" cy="0"/>
                  </a:xfrm>
                  <a:prstGeom prst="line">
                    <a:avLst/>
                  </a:prstGeom>
                  <a:ln w="25400" cap="flat" cmpd="sng">
                    <a:solidFill>
                      <a:srgbClr val="000000"/>
                    </a:solidFill>
                    <a:prstDash val="solid"/>
                    <a:bevel/>
                    <a:headEnd type="none" w="med" len="med"/>
                    <a:tailEnd type="none" w="med" len="med"/>
                  </a:ln>
                </p:spPr>
              </p:sp>
            </p:grpSp>
            <p:grpSp>
              <p:nvGrpSpPr>
                <p:cNvPr id="223339" name="Group 130"/>
                <p:cNvGrpSpPr/>
                <p:nvPr/>
              </p:nvGrpSpPr>
              <p:grpSpPr>
                <a:xfrm>
                  <a:off x="20" y="1240"/>
                  <a:ext cx="1280" cy="600"/>
                  <a:chOff x="0" y="0"/>
                  <a:chExt cx="1280" cy="600"/>
                </a:xfrm>
              </p:grpSpPr>
              <p:sp>
                <p:nvSpPr>
                  <p:cNvPr id="223340" name="Line 131"/>
                  <p:cNvSpPr/>
                  <p:nvPr/>
                </p:nvSpPr>
                <p:spPr>
                  <a:xfrm>
                    <a:off x="20" y="0"/>
                    <a:ext cx="1260" cy="0"/>
                  </a:xfrm>
                  <a:prstGeom prst="line">
                    <a:avLst/>
                  </a:prstGeom>
                  <a:ln w="25400" cap="flat" cmpd="sng">
                    <a:solidFill>
                      <a:srgbClr val="000000"/>
                    </a:solidFill>
                    <a:prstDash val="solid"/>
                    <a:bevel/>
                    <a:headEnd type="none" w="med" len="med"/>
                    <a:tailEnd type="none" w="med" len="med"/>
                  </a:ln>
                </p:spPr>
              </p:sp>
              <p:sp>
                <p:nvSpPr>
                  <p:cNvPr id="223341" name="Line 132"/>
                  <p:cNvSpPr/>
                  <p:nvPr/>
                </p:nvSpPr>
                <p:spPr>
                  <a:xfrm>
                    <a:off x="0" y="600"/>
                    <a:ext cx="1260" cy="0"/>
                  </a:xfrm>
                  <a:prstGeom prst="line">
                    <a:avLst/>
                  </a:prstGeom>
                  <a:ln w="25400" cap="flat" cmpd="sng">
                    <a:solidFill>
                      <a:srgbClr val="000000"/>
                    </a:solidFill>
                    <a:prstDash val="solid"/>
                    <a:bevel/>
                    <a:headEnd type="none" w="med" len="med"/>
                    <a:tailEnd type="none" w="med" len="med"/>
                  </a:ln>
                </p:spPr>
              </p:sp>
            </p:grpSp>
          </p:grpSp>
          <p:grpSp>
            <p:nvGrpSpPr>
              <p:cNvPr id="223334" name="Group 133"/>
              <p:cNvGrpSpPr/>
              <p:nvPr/>
            </p:nvGrpSpPr>
            <p:grpSpPr>
              <a:xfrm>
                <a:off x="40" y="2520"/>
                <a:ext cx="1280" cy="600"/>
                <a:chOff x="0" y="0"/>
                <a:chExt cx="1280" cy="600"/>
              </a:xfrm>
            </p:grpSpPr>
            <p:sp>
              <p:nvSpPr>
                <p:cNvPr id="223336" name="Line 134"/>
                <p:cNvSpPr/>
                <p:nvPr/>
              </p:nvSpPr>
              <p:spPr>
                <a:xfrm>
                  <a:off x="20" y="0"/>
                  <a:ext cx="1260" cy="0"/>
                </a:xfrm>
                <a:prstGeom prst="line">
                  <a:avLst/>
                </a:prstGeom>
                <a:ln w="25400" cap="flat" cmpd="sng">
                  <a:solidFill>
                    <a:srgbClr val="000000"/>
                  </a:solidFill>
                  <a:prstDash val="solid"/>
                  <a:bevel/>
                  <a:headEnd type="none" w="med" len="med"/>
                  <a:tailEnd type="none" w="med" len="med"/>
                </a:ln>
              </p:spPr>
            </p:sp>
            <p:sp>
              <p:nvSpPr>
                <p:cNvPr id="223337" name="Line 135"/>
                <p:cNvSpPr/>
                <p:nvPr/>
              </p:nvSpPr>
              <p:spPr>
                <a:xfrm>
                  <a:off x="0" y="600"/>
                  <a:ext cx="1260" cy="0"/>
                </a:xfrm>
                <a:prstGeom prst="line">
                  <a:avLst/>
                </a:prstGeom>
                <a:ln w="25400" cap="flat" cmpd="sng">
                  <a:solidFill>
                    <a:srgbClr val="000000"/>
                  </a:solidFill>
                  <a:prstDash val="solid"/>
                  <a:bevel/>
                  <a:headEnd type="none" w="med" len="med"/>
                  <a:tailEnd type="none" w="med" len="med"/>
                </a:ln>
              </p:spPr>
            </p:sp>
          </p:grpSp>
          <p:sp>
            <p:nvSpPr>
              <p:cNvPr id="223335" name="Line 136"/>
              <p:cNvSpPr/>
              <p:nvPr/>
            </p:nvSpPr>
            <p:spPr>
              <a:xfrm>
                <a:off x="80" y="3760"/>
                <a:ext cx="1260" cy="0"/>
              </a:xfrm>
              <a:prstGeom prst="line">
                <a:avLst/>
              </a:prstGeom>
              <a:ln w="25400" cap="flat" cmpd="sng">
                <a:solidFill>
                  <a:srgbClr val="000000"/>
                </a:solidFill>
                <a:prstDash val="solid"/>
                <a:bevel/>
                <a:headEnd type="none" w="med" len="med"/>
                <a:tailEnd type="none" w="med" len="med"/>
              </a:ln>
            </p:spPr>
          </p:sp>
        </p:grpSp>
        <p:sp>
          <p:nvSpPr>
            <p:cNvPr id="223302" name="Text Box 137"/>
            <p:cNvSpPr txBox="1"/>
            <p:nvPr/>
          </p:nvSpPr>
          <p:spPr>
            <a:xfrm>
              <a:off x="1872" y="235"/>
              <a:ext cx="579" cy="1157"/>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200" dirty="0">
                  <a:solidFill>
                    <a:srgbClr val="0000FF"/>
                  </a:solidFill>
                  <a:latin typeface="Times New Roman" panose="02020603050405020304" pitchFamily="18" charset="0"/>
                  <a:ea typeface="楷体_GB2312"/>
                </a:rPr>
                <a:t>ISR</a:t>
              </a:r>
              <a:endParaRPr lang="en-US" altLang="zh-CN" sz="22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zh-CN" altLang="en-US" sz="2200" dirty="0">
                  <a:solidFill>
                    <a:schemeClr val="tx1"/>
                  </a:solidFill>
                  <a:latin typeface="楷体_GB2312"/>
                  <a:ea typeface="楷体_GB2312"/>
                </a:rPr>
                <a:t>当前</a:t>
              </a:r>
              <a:endParaRPr lang="zh-CN" altLang="en-US" sz="2200" dirty="0">
                <a:solidFill>
                  <a:schemeClr val="tx1"/>
                </a:solidFill>
                <a:latin typeface="楷体_GB2312"/>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zh-CN" altLang="en-US" sz="2200" dirty="0">
                  <a:solidFill>
                    <a:schemeClr val="tx1"/>
                  </a:solidFill>
                  <a:latin typeface="楷体_GB2312"/>
                  <a:ea typeface="楷体_GB2312"/>
                </a:rPr>
                <a:t>中断</a:t>
              </a:r>
              <a:endParaRPr lang="zh-CN" altLang="en-US" sz="2200" dirty="0">
                <a:solidFill>
                  <a:schemeClr val="tx1"/>
                </a:solidFill>
                <a:latin typeface="楷体_GB2312"/>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zh-CN" altLang="en-US" sz="2200" dirty="0">
                  <a:solidFill>
                    <a:schemeClr val="tx1"/>
                  </a:solidFill>
                  <a:latin typeface="楷体_GB2312"/>
                  <a:ea typeface="楷体_GB2312"/>
                </a:rPr>
                <a:t>服务</a:t>
              </a:r>
              <a:endParaRPr lang="zh-CN" altLang="en-US" sz="2200" dirty="0">
                <a:solidFill>
                  <a:schemeClr val="tx1"/>
                </a:solidFill>
                <a:latin typeface="楷体_GB2312"/>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zh-CN" altLang="en-US" sz="2200" dirty="0">
                  <a:solidFill>
                    <a:schemeClr val="tx1"/>
                  </a:solidFill>
                  <a:latin typeface="楷体_GB2312"/>
                  <a:ea typeface="楷体_GB2312"/>
                </a:rPr>
                <a:t>寄存</a:t>
              </a:r>
              <a:endParaRPr lang="en-US" altLang="zh-CN" sz="2200" dirty="0">
                <a:solidFill>
                  <a:schemeClr val="tx1"/>
                </a:solidFill>
                <a:latin typeface="楷体_GB2312"/>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zh-CN" altLang="en-US" sz="2200" dirty="0">
                  <a:solidFill>
                    <a:schemeClr val="tx1"/>
                  </a:solidFill>
                  <a:latin typeface="楷体_GB2312"/>
                  <a:ea typeface="楷体_GB2312"/>
                </a:rPr>
                <a:t>器</a:t>
              </a:r>
              <a:endParaRPr lang="zh-CN" altLang="en-US" sz="1800" dirty="0">
                <a:solidFill>
                  <a:schemeClr val="tx1"/>
                </a:solidFill>
                <a:latin typeface="宋体" panose="02010600030101010101" pitchFamily="2" charset="-122"/>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1800" dirty="0">
                <a:solidFill>
                  <a:schemeClr val="tx1"/>
                </a:solidFill>
                <a:latin typeface="宋体" panose="02010600030101010101" pitchFamily="2" charset="-122"/>
                <a:ea typeface="楷体_GB2312"/>
              </a:endParaRPr>
            </a:p>
          </p:txBody>
        </p:sp>
        <p:sp>
          <p:nvSpPr>
            <p:cNvPr id="223303" name="Text Box 138"/>
            <p:cNvSpPr txBox="1"/>
            <p:nvPr/>
          </p:nvSpPr>
          <p:spPr>
            <a:xfrm>
              <a:off x="3395" y="732"/>
              <a:ext cx="685" cy="728"/>
            </a:xfrm>
            <a:prstGeom prst="rect">
              <a:avLst/>
            </a:prstGeom>
            <a:solidFill>
              <a:srgbClr val="FF99CC"/>
            </a:solidFill>
            <a:ln w="12700"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200" dirty="0">
                  <a:solidFill>
                    <a:srgbClr val="0000FF"/>
                  </a:solidFill>
                  <a:latin typeface="Times New Roman" panose="02020603050405020304" pitchFamily="18" charset="0"/>
                  <a:ea typeface="楷体_GB2312"/>
                </a:rPr>
                <a:t>PR</a:t>
              </a:r>
              <a:endParaRPr lang="en-US" altLang="zh-CN" sz="2200" dirty="0">
                <a:solidFill>
                  <a:srgbClr val="0000FF"/>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r>
                <a:rPr lang="zh-CN" altLang="en-US" sz="2400" dirty="0">
                  <a:solidFill>
                    <a:schemeClr val="tx1"/>
                  </a:solidFill>
                  <a:latin typeface="楷体_GB2312"/>
                  <a:ea typeface="楷体_GB2312"/>
                </a:rPr>
                <a:t>优先级</a:t>
              </a:r>
              <a:endParaRPr lang="zh-CN" altLang="en-US" sz="2400" dirty="0">
                <a:solidFill>
                  <a:schemeClr val="tx1"/>
                </a:solidFill>
                <a:latin typeface="楷体_GB2312"/>
                <a:ea typeface="楷体_GB2312"/>
              </a:endParaRPr>
            </a:p>
            <a:p>
              <a:pPr marL="0" lvl="0" indent="0" algn="ctr">
                <a:lnSpc>
                  <a:spcPct val="100000"/>
                </a:lnSpc>
                <a:spcBef>
                  <a:spcPct val="0"/>
                </a:spcBef>
                <a:spcAft>
                  <a:spcPct val="0"/>
                </a:spcAft>
                <a:buClrTx/>
                <a:buSzTx/>
                <a:buFont typeface="Arial" panose="020B0604020202020204" pitchFamily="34" charset="0"/>
                <a:buNone/>
              </a:pPr>
              <a:r>
                <a:rPr lang="zh-CN" altLang="en-US" sz="2400" dirty="0">
                  <a:solidFill>
                    <a:schemeClr val="tx1"/>
                  </a:solidFill>
                  <a:latin typeface="楷体_GB2312"/>
                  <a:ea typeface="楷体_GB2312"/>
                </a:rPr>
                <a:t>裁决器</a:t>
              </a:r>
              <a:endParaRPr lang="zh-CN" altLang="en-US" sz="1800" dirty="0">
                <a:solidFill>
                  <a:schemeClr val="tx1"/>
                </a:solidFill>
                <a:latin typeface="楷体_GB2312"/>
                <a:ea typeface="楷体_GB2312"/>
              </a:endParaRPr>
            </a:p>
          </p:txBody>
        </p:sp>
        <p:sp>
          <p:nvSpPr>
            <p:cNvPr id="223304" name="AutoShape 139"/>
            <p:cNvSpPr/>
            <p:nvPr/>
          </p:nvSpPr>
          <p:spPr>
            <a:xfrm rot="10800000">
              <a:off x="2794" y="966"/>
              <a:ext cx="589" cy="282"/>
            </a:xfrm>
            <a:prstGeom prst="leftArrow">
              <a:avLst>
                <a:gd name="adj1" fmla="val 50000"/>
                <a:gd name="adj2" fmla="val 52100"/>
              </a:avLst>
            </a:prstGeom>
            <a:solidFill>
              <a:srgbClr val="FF9933"/>
            </a:solid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23305" name="Line 140"/>
            <p:cNvSpPr/>
            <p:nvPr/>
          </p:nvSpPr>
          <p:spPr>
            <a:xfrm>
              <a:off x="1344" y="1559"/>
              <a:ext cx="3792" cy="25"/>
            </a:xfrm>
            <a:prstGeom prst="line">
              <a:avLst/>
            </a:prstGeom>
            <a:ln w="25400" cap="flat" cmpd="sng">
              <a:solidFill>
                <a:srgbClr val="000000"/>
              </a:solidFill>
              <a:prstDash val="lgDash"/>
              <a:bevel/>
              <a:headEnd type="none" w="med" len="med"/>
              <a:tailEnd type="none" w="med" len="med"/>
            </a:ln>
          </p:spPr>
        </p:sp>
        <p:sp>
          <p:nvSpPr>
            <p:cNvPr id="223306" name="Rectangle 141"/>
            <p:cNvSpPr/>
            <p:nvPr/>
          </p:nvSpPr>
          <p:spPr>
            <a:xfrm>
              <a:off x="4403" y="1390"/>
              <a:ext cx="110" cy="447"/>
            </a:xfrm>
            <a:prstGeom prst="rect">
              <a:avLst/>
            </a:prstGeom>
            <a:solidFill>
              <a:schemeClr val="accent1"/>
            </a:solid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23307" name="Text Box 142"/>
            <p:cNvSpPr txBox="1"/>
            <p:nvPr/>
          </p:nvSpPr>
          <p:spPr>
            <a:xfrm>
              <a:off x="5259" y="2928"/>
              <a:ext cx="405" cy="671"/>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VCC</a:t>
              </a:r>
              <a:endParaRPr lang="en-US" altLang="zh-CN" sz="18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18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GND</a:t>
              </a:r>
              <a:endParaRPr lang="en-US" altLang="zh-CN" sz="18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1800" dirty="0">
                <a:solidFill>
                  <a:schemeClr val="tx1"/>
                </a:solidFill>
                <a:latin typeface="Times New Roman" panose="02020603050405020304" pitchFamily="18" charset="0"/>
                <a:ea typeface="楷体_GB2312"/>
              </a:endParaRPr>
            </a:p>
          </p:txBody>
        </p:sp>
        <p:grpSp>
          <p:nvGrpSpPr>
            <p:cNvPr id="223308" name="Group 143"/>
            <p:cNvGrpSpPr/>
            <p:nvPr/>
          </p:nvGrpSpPr>
          <p:grpSpPr>
            <a:xfrm>
              <a:off x="4656" y="1632"/>
              <a:ext cx="303" cy="1414"/>
              <a:chOff x="0" y="0"/>
              <a:chExt cx="303" cy="1414"/>
            </a:xfrm>
          </p:grpSpPr>
          <p:sp>
            <p:nvSpPr>
              <p:cNvPr id="223329" name="Text Box 144"/>
              <p:cNvSpPr txBox="1"/>
              <p:nvPr/>
            </p:nvSpPr>
            <p:spPr>
              <a:xfrm>
                <a:off x="48" y="192"/>
                <a:ext cx="255" cy="214"/>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宋体" panose="02010600030101010101" pitchFamily="2" charset="-122"/>
                    <a:ea typeface="楷体_GB2312"/>
                  </a:rPr>
                  <a:t>1</a:t>
                </a:r>
                <a:endParaRPr lang="en-US" altLang="zh-CN" sz="1800" dirty="0">
                  <a:solidFill>
                    <a:schemeClr val="tx1"/>
                  </a:solidFill>
                  <a:latin typeface="宋体" panose="02010600030101010101" pitchFamily="2" charset="-122"/>
                  <a:ea typeface="楷体_GB2312"/>
                </a:endParaRPr>
              </a:p>
            </p:txBody>
          </p:sp>
          <p:sp>
            <p:nvSpPr>
              <p:cNvPr id="223330" name="Text Box 145"/>
              <p:cNvSpPr txBox="1"/>
              <p:nvPr/>
            </p:nvSpPr>
            <p:spPr>
              <a:xfrm>
                <a:off x="0" y="672"/>
                <a:ext cx="254" cy="214"/>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宋体" panose="02010600030101010101" pitchFamily="2" charset="-122"/>
                    <a:ea typeface="楷体_GB2312"/>
                  </a:rPr>
                  <a:t>0</a:t>
                </a:r>
                <a:endParaRPr lang="en-US" altLang="zh-CN" sz="1800" dirty="0">
                  <a:solidFill>
                    <a:schemeClr val="tx1"/>
                  </a:solidFill>
                  <a:latin typeface="宋体" panose="02010600030101010101" pitchFamily="2" charset="-122"/>
                  <a:ea typeface="楷体_GB2312"/>
                </a:endParaRPr>
              </a:p>
            </p:txBody>
          </p:sp>
          <p:sp>
            <p:nvSpPr>
              <p:cNvPr id="223331" name="Text Box 146"/>
              <p:cNvSpPr txBox="1"/>
              <p:nvPr/>
            </p:nvSpPr>
            <p:spPr>
              <a:xfrm>
                <a:off x="48" y="1200"/>
                <a:ext cx="255" cy="214"/>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宋体" panose="02010600030101010101" pitchFamily="2" charset="-122"/>
                    <a:ea typeface="楷体_GB2312"/>
                  </a:rPr>
                  <a:t>0</a:t>
                </a:r>
                <a:endParaRPr lang="en-US" altLang="zh-CN" sz="1800" dirty="0">
                  <a:solidFill>
                    <a:schemeClr val="tx1"/>
                  </a:solidFill>
                  <a:latin typeface="宋体" panose="02010600030101010101" pitchFamily="2" charset="-122"/>
                  <a:ea typeface="楷体_GB2312"/>
                </a:endParaRPr>
              </a:p>
            </p:txBody>
          </p:sp>
          <p:sp>
            <p:nvSpPr>
              <p:cNvPr id="223332" name="Text Box 147"/>
              <p:cNvSpPr txBox="1"/>
              <p:nvPr/>
            </p:nvSpPr>
            <p:spPr>
              <a:xfrm>
                <a:off x="48" y="0"/>
                <a:ext cx="254" cy="271"/>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A0</a:t>
                </a:r>
                <a:endParaRPr lang="en-US" altLang="zh-CN" sz="2000" dirty="0">
                  <a:solidFill>
                    <a:schemeClr val="tx1"/>
                  </a:solidFill>
                  <a:latin typeface="Times New Roman" panose="02020603050405020304" pitchFamily="18" charset="0"/>
                  <a:ea typeface="楷体_GB2312"/>
                </a:endParaRPr>
              </a:p>
            </p:txBody>
          </p:sp>
        </p:grpSp>
        <p:sp>
          <p:nvSpPr>
            <p:cNvPr id="223309" name="Text Box 148"/>
            <p:cNvSpPr txBox="1"/>
            <p:nvPr/>
          </p:nvSpPr>
          <p:spPr>
            <a:xfrm>
              <a:off x="5313" y="187"/>
              <a:ext cx="258" cy="1252"/>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9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IR0</a:t>
              </a:r>
              <a:endParaRPr lang="en-US" altLang="zh-CN" sz="1800" dirty="0">
                <a:solidFill>
                  <a:schemeClr val="tx1"/>
                </a:solidFill>
                <a:latin typeface="Times New Roman" panose="02020603050405020304" pitchFamily="18" charset="0"/>
                <a:ea typeface="楷体_GB2312"/>
              </a:endParaRPr>
            </a:p>
            <a:p>
              <a:pPr marL="0" lvl="0" indent="0" algn="just">
                <a:lnSpc>
                  <a:spcPct val="9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IR1</a:t>
              </a:r>
              <a:endParaRPr lang="en-US" altLang="zh-CN" sz="1800" dirty="0">
                <a:solidFill>
                  <a:schemeClr val="tx1"/>
                </a:solidFill>
                <a:latin typeface="Times New Roman" panose="02020603050405020304" pitchFamily="18" charset="0"/>
                <a:ea typeface="楷体_GB2312"/>
              </a:endParaRPr>
            </a:p>
            <a:p>
              <a:pPr marL="0" lvl="0" indent="0" algn="just">
                <a:lnSpc>
                  <a:spcPct val="9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IR2</a:t>
              </a:r>
              <a:endParaRPr lang="en-US" altLang="zh-CN" sz="1800" dirty="0">
                <a:solidFill>
                  <a:schemeClr val="tx1"/>
                </a:solidFill>
                <a:latin typeface="Times New Roman" panose="02020603050405020304" pitchFamily="18" charset="0"/>
                <a:ea typeface="楷体_GB2312"/>
              </a:endParaRPr>
            </a:p>
            <a:p>
              <a:pPr marL="0" lvl="0" indent="0" algn="just">
                <a:lnSpc>
                  <a:spcPct val="9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IR3</a:t>
              </a:r>
              <a:endParaRPr lang="en-US" altLang="zh-CN" sz="1800" dirty="0">
                <a:solidFill>
                  <a:schemeClr val="tx1"/>
                </a:solidFill>
                <a:latin typeface="Times New Roman" panose="02020603050405020304" pitchFamily="18" charset="0"/>
                <a:ea typeface="楷体_GB2312"/>
              </a:endParaRPr>
            </a:p>
            <a:p>
              <a:pPr marL="0" lvl="0" indent="0" algn="just">
                <a:lnSpc>
                  <a:spcPct val="9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IR4</a:t>
              </a:r>
              <a:endParaRPr lang="en-US" altLang="zh-CN" sz="1800" dirty="0">
                <a:solidFill>
                  <a:schemeClr val="tx1"/>
                </a:solidFill>
                <a:latin typeface="Times New Roman" panose="02020603050405020304" pitchFamily="18" charset="0"/>
                <a:ea typeface="楷体_GB2312"/>
              </a:endParaRPr>
            </a:p>
            <a:p>
              <a:pPr marL="0" lvl="0" indent="0" algn="just">
                <a:lnSpc>
                  <a:spcPct val="9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IR5</a:t>
              </a:r>
              <a:endParaRPr lang="en-US" altLang="zh-CN" sz="1800" dirty="0">
                <a:solidFill>
                  <a:schemeClr val="tx1"/>
                </a:solidFill>
                <a:latin typeface="Times New Roman" panose="02020603050405020304" pitchFamily="18" charset="0"/>
                <a:ea typeface="楷体_GB2312"/>
              </a:endParaRPr>
            </a:p>
            <a:p>
              <a:pPr marL="0" lvl="0" indent="0" algn="just">
                <a:lnSpc>
                  <a:spcPct val="9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IR6</a:t>
              </a:r>
              <a:endParaRPr lang="en-US" altLang="zh-CN" sz="1800" dirty="0">
                <a:solidFill>
                  <a:schemeClr val="tx1"/>
                </a:solidFill>
                <a:latin typeface="Times New Roman" panose="02020603050405020304" pitchFamily="18" charset="0"/>
                <a:ea typeface="楷体_GB2312"/>
              </a:endParaRPr>
            </a:p>
            <a:p>
              <a:pPr marL="0" lvl="0" indent="0" algn="just">
                <a:lnSpc>
                  <a:spcPct val="9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IR7</a:t>
              </a:r>
              <a:endParaRPr lang="en-US" altLang="zh-CN" sz="18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1800" dirty="0">
                <a:solidFill>
                  <a:schemeClr val="tx1"/>
                </a:solidFill>
                <a:latin typeface="Times New Roman" panose="02020603050405020304" pitchFamily="18" charset="0"/>
                <a:ea typeface="楷体_GB2312"/>
              </a:endParaRPr>
            </a:p>
          </p:txBody>
        </p:sp>
        <p:sp>
          <p:nvSpPr>
            <p:cNvPr id="223310" name="Text Box 149"/>
            <p:cNvSpPr txBox="1"/>
            <p:nvPr/>
          </p:nvSpPr>
          <p:spPr>
            <a:xfrm>
              <a:off x="4149" y="240"/>
              <a:ext cx="579" cy="76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200" dirty="0">
                  <a:solidFill>
                    <a:srgbClr val="0000FF"/>
                  </a:solidFill>
                  <a:latin typeface="Times New Roman" panose="02020603050405020304" pitchFamily="18" charset="0"/>
                  <a:ea typeface="楷体_GB2312"/>
                </a:rPr>
                <a:t>IRR</a:t>
              </a:r>
              <a:endParaRPr lang="en-US" altLang="zh-CN" sz="22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zh-CN" altLang="en-US" sz="2200" dirty="0">
                  <a:solidFill>
                    <a:schemeClr val="tx1"/>
                  </a:solidFill>
                  <a:latin typeface="楷体_GB2312"/>
                  <a:ea typeface="楷体_GB2312"/>
                </a:rPr>
                <a:t>中断</a:t>
              </a:r>
              <a:endParaRPr lang="zh-CN" altLang="en-US" sz="2200" dirty="0">
                <a:solidFill>
                  <a:schemeClr val="tx1"/>
                </a:solidFill>
                <a:latin typeface="楷体_GB2312"/>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zh-CN" altLang="en-US" sz="2200" dirty="0">
                  <a:solidFill>
                    <a:schemeClr val="tx1"/>
                  </a:solidFill>
                  <a:latin typeface="Verdana" panose="020B0604030504040204" pitchFamily="34" charset="0"/>
                  <a:ea typeface="楷体_GB2312"/>
                </a:rPr>
                <a:t>请求</a:t>
              </a:r>
              <a:endParaRPr lang="zh-CN" altLang="en-US" sz="2200" dirty="0">
                <a:solidFill>
                  <a:schemeClr val="tx1"/>
                </a:solidFill>
                <a:latin typeface="楷体_GB2312"/>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zh-CN" altLang="en-US" sz="2200" dirty="0">
                  <a:solidFill>
                    <a:schemeClr val="tx1"/>
                  </a:solidFill>
                  <a:latin typeface="楷体_GB2312"/>
                  <a:ea typeface="楷体_GB2312"/>
                </a:rPr>
                <a:t>寄存器</a:t>
              </a:r>
              <a:endParaRPr lang="zh-CN" altLang="en-US" sz="2200" dirty="0">
                <a:solidFill>
                  <a:schemeClr val="tx1"/>
                </a:solidFill>
                <a:latin typeface="楷体_GB2312"/>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1800" dirty="0">
                <a:solidFill>
                  <a:schemeClr val="tx1"/>
                </a:solidFill>
                <a:latin typeface="宋体" panose="02010600030101010101" pitchFamily="2" charset="-122"/>
                <a:ea typeface="楷体_GB2312"/>
              </a:endParaRPr>
            </a:p>
          </p:txBody>
        </p:sp>
        <p:sp>
          <p:nvSpPr>
            <p:cNvPr id="223311" name="AutoShape 150"/>
            <p:cNvSpPr/>
            <p:nvPr/>
          </p:nvSpPr>
          <p:spPr>
            <a:xfrm rot="10800000">
              <a:off x="4403" y="1266"/>
              <a:ext cx="296" cy="222"/>
            </a:xfrm>
            <a:prstGeom prst="leftArrow">
              <a:avLst>
                <a:gd name="adj1" fmla="val 50000"/>
                <a:gd name="adj2" fmla="val 33259"/>
              </a:avLst>
            </a:prstGeom>
            <a:solidFill>
              <a:schemeClr val="accent1"/>
            </a:solidFill>
            <a:ln w="9525">
              <a:noFill/>
            </a:ln>
          </p:spPr>
          <p:txBody>
            <a:bodyPr rot="1080000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2400" dirty="0">
                <a:solidFill>
                  <a:schemeClr val="tx1"/>
                </a:solidFill>
                <a:latin typeface="Times New Roman" panose="02020603050405020304" pitchFamily="18" charset="0"/>
                <a:ea typeface="楷体_GB2312"/>
              </a:endParaRPr>
            </a:p>
          </p:txBody>
        </p:sp>
        <p:sp>
          <p:nvSpPr>
            <p:cNvPr id="223312" name="Text Box 151"/>
            <p:cNvSpPr txBox="1"/>
            <p:nvPr/>
          </p:nvSpPr>
          <p:spPr>
            <a:xfrm>
              <a:off x="4704" y="192"/>
              <a:ext cx="306" cy="1278"/>
            </a:xfrm>
            <a:prstGeom prst="rect">
              <a:avLst/>
            </a:prstGeom>
            <a:solidFill>
              <a:srgbClr val="FFFF99"/>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a:t>
              </a:r>
              <a:endParaRPr lang="en-US" altLang="zh-CN" sz="20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a:t>
              </a:r>
              <a:endParaRPr lang="en-US" altLang="zh-CN" sz="20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 </a:t>
              </a:r>
              <a:endParaRPr lang="en-US" altLang="zh-CN" sz="20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 </a:t>
              </a:r>
              <a:endParaRPr lang="en-US" altLang="zh-CN" sz="20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 </a:t>
              </a:r>
              <a:endParaRPr lang="en-US" altLang="zh-CN" sz="20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 </a:t>
              </a:r>
              <a:endParaRPr lang="en-US" altLang="zh-CN" sz="20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 </a:t>
              </a:r>
              <a:endParaRPr lang="en-US" altLang="zh-CN" sz="2000" dirty="0">
                <a:solidFill>
                  <a:schemeClr val="tx1"/>
                </a:solidFill>
                <a:latin typeface="Times New Roman" panose="02020603050405020304" pitchFamily="18" charset="0"/>
                <a:ea typeface="楷体_GB2312"/>
              </a:endParaRPr>
            </a:p>
            <a:p>
              <a:pPr marL="0" lvl="0" indent="0" algn="ctr">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0</a:t>
              </a:r>
              <a:r>
                <a:rPr lang="en-US" altLang="zh-CN" sz="1800" dirty="0">
                  <a:solidFill>
                    <a:schemeClr val="tx1"/>
                  </a:solidFill>
                  <a:latin typeface="Times New Roman" panose="02020603050405020304" pitchFamily="18" charset="0"/>
                  <a:ea typeface="楷体_GB2312"/>
                </a:rPr>
                <a:t> </a:t>
              </a:r>
              <a:endParaRPr lang="en-US" altLang="zh-CN" sz="18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1800" dirty="0">
                <a:solidFill>
                  <a:schemeClr val="tx1"/>
                </a:solidFill>
                <a:latin typeface="Times New Roman" panose="02020603050405020304" pitchFamily="18" charset="0"/>
                <a:ea typeface="楷体_GB2312"/>
              </a:endParaRPr>
            </a:p>
          </p:txBody>
        </p:sp>
        <p:sp>
          <p:nvSpPr>
            <p:cNvPr id="223313" name="Line 152"/>
            <p:cNvSpPr/>
            <p:nvPr/>
          </p:nvSpPr>
          <p:spPr>
            <a:xfrm>
              <a:off x="4709" y="348"/>
              <a:ext cx="306" cy="0"/>
            </a:xfrm>
            <a:prstGeom prst="line">
              <a:avLst/>
            </a:prstGeom>
            <a:ln w="25400" cap="flat" cmpd="sng">
              <a:solidFill>
                <a:srgbClr val="000000"/>
              </a:solidFill>
              <a:prstDash val="solid"/>
              <a:bevel/>
              <a:headEnd type="none" w="med" len="med"/>
              <a:tailEnd type="none" w="med" len="med"/>
            </a:ln>
          </p:spPr>
        </p:sp>
        <p:sp>
          <p:nvSpPr>
            <p:cNvPr id="223314" name="Line 153"/>
            <p:cNvSpPr/>
            <p:nvPr/>
          </p:nvSpPr>
          <p:spPr>
            <a:xfrm>
              <a:off x="4704" y="497"/>
              <a:ext cx="306" cy="0"/>
            </a:xfrm>
            <a:prstGeom prst="line">
              <a:avLst/>
            </a:prstGeom>
            <a:ln w="25400" cap="flat" cmpd="sng">
              <a:solidFill>
                <a:srgbClr val="000000"/>
              </a:solidFill>
              <a:prstDash val="solid"/>
              <a:bevel/>
              <a:headEnd type="none" w="med" len="med"/>
              <a:tailEnd type="none" w="med" len="med"/>
            </a:ln>
          </p:spPr>
        </p:sp>
        <p:sp>
          <p:nvSpPr>
            <p:cNvPr id="223315" name="Line 154"/>
            <p:cNvSpPr/>
            <p:nvPr/>
          </p:nvSpPr>
          <p:spPr>
            <a:xfrm>
              <a:off x="4714" y="656"/>
              <a:ext cx="306" cy="0"/>
            </a:xfrm>
            <a:prstGeom prst="line">
              <a:avLst/>
            </a:prstGeom>
            <a:ln w="25400" cap="flat" cmpd="sng">
              <a:solidFill>
                <a:srgbClr val="000000"/>
              </a:solidFill>
              <a:prstDash val="solid"/>
              <a:bevel/>
              <a:headEnd type="none" w="med" len="med"/>
              <a:tailEnd type="none" w="med" len="med"/>
            </a:ln>
          </p:spPr>
        </p:sp>
        <p:sp>
          <p:nvSpPr>
            <p:cNvPr id="223316" name="Line 155"/>
            <p:cNvSpPr/>
            <p:nvPr/>
          </p:nvSpPr>
          <p:spPr>
            <a:xfrm>
              <a:off x="4709" y="805"/>
              <a:ext cx="306" cy="0"/>
            </a:xfrm>
            <a:prstGeom prst="line">
              <a:avLst/>
            </a:prstGeom>
            <a:ln w="25400" cap="flat" cmpd="sng">
              <a:solidFill>
                <a:srgbClr val="000000"/>
              </a:solidFill>
              <a:prstDash val="solid"/>
              <a:bevel/>
              <a:headEnd type="none" w="med" len="med"/>
              <a:tailEnd type="none" w="med" len="med"/>
            </a:ln>
          </p:spPr>
        </p:sp>
        <p:sp>
          <p:nvSpPr>
            <p:cNvPr id="223317" name="Line 156"/>
            <p:cNvSpPr/>
            <p:nvPr/>
          </p:nvSpPr>
          <p:spPr>
            <a:xfrm>
              <a:off x="4719" y="974"/>
              <a:ext cx="306" cy="0"/>
            </a:xfrm>
            <a:prstGeom prst="line">
              <a:avLst/>
            </a:prstGeom>
            <a:ln w="25400" cap="flat" cmpd="sng">
              <a:solidFill>
                <a:srgbClr val="000000"/>
              </a:solidFill>
              <a:prstDash val="solid"/>
              <a:bevel/>
              <a:headEnd type="none" w="med" len="med"/>
              <a:tailEnd type="none" w="med" len="med"/>
            </a:ln>
          </p:spPr>
        </p:sp>
        <p:sp>
          <p:nvSpPr>
            <p:cNvPr id="223318" name="Line 157"/>
            <p:cNvSpPr/>
            <p:nvPr/>
          </p:nvSpPr>
          <p:spPr>
            <a:xfrm>
              <a:off x="4714" y="1123"/>
              <a:ext cx="306" cy="0"/>
            </a:xfrm>
            <a:prstGeom prst="line">
              <a:avLst/>
            </a:prstGeom>
            <a:ln w="25400" cap="flat" cmpd="sng">
              <a:solidFill>
                <a:srgbClr val="000000"/>
              </a:solidFill>
              <a:prstDash val="solid"/>
              <a:bevel/>
              <a:headEnd type="none" w="med" len="med"/>
              <a:tailEnd type="none" w="med" len="med"/>
            </a:ln>
          </p:spPr>
        </p:sp>
        <p:sp>
          <p:nvSpPr>
            <p:cNvPr id="223319" name="Line 158"/>
            <p:cNvSpPr/>
            <p:nvPr/>
          </p:nvSpPr>
          <p:spPr>
            <a:xfrm>
              <a:off x="4723" y="1282"/>
              <a:ext cx="307" cy="0"/>
            </a:xfrm>
            <a:prstGeom prst="line">
              <a:avLst/>
            </a:prstGeom>
            <a:ln w="25400" cap="flat" cmpd="sng">
              <a:solidFill>
                <a:srgbClr val="000000"/>
              </a:solidFill>
              <a:prstDash val="solid"/>
              <a:bevel/>
              <a:headEnd type="none" w="med" len="med"/>
              <a:tailEnd type="none" w="med" len="med"/>
            </a:ln>
          </p:spPr>
        </p:sp>
        <p:sp>
          <p:nvSpPr>
            <p:cNvPr id="223320" name="Line 159"/>
            <p:cNvSpPr/>
            <p:nvPr/>
          </p:nvSpPr>
          <p:spPr>
            <a:xfrm>
              <a:off x="4996" y="292"/>
              <a:ext cx="274" cy="0"/>
            </a:xfrm>
            <a:prstGeom prst="line">
              <a:avLst/>
            </a:prstGeom>
            <a:ln w="25400" cap="flat" cmpd="sng">
              <a:solidFill>
                <a:srgbClr val="000000"/>
              </a:solidFill>
              <a:prstDash val="solid"/>
              <a:bevel/>
              <a:headEnd type="none" w="med" len="med"/>
              <a:tailEnd type="none" w="med" len="med"/>
            </a:ln>
          </p:spPr>
        </p:sp>
        <p:sp>
          <p:nvSpPr>
            <p:cNvPr id="223321" name="Line 160"/>
            <p:cNvSpPr/>
            <p:nvPr/>
          </p:nvSpPr>
          <p:spPr>
            <a:xfrm>
              <a:off x="4992" y="441"/>
              <a:ext cx="274" cy="0"/>
            </a:xfrm>
            <a:prstGeom prst="line">
              <a:avLst/>
            </a:prstGeom>
            <a:ln w="25400" cap="flat" cmpd="sng">
              <a:solidFill>
                <a:srgbClr val="000000"/>
              </a:solidFill>
              <a:prstDash val="solid"/>
              <a:bevel/>
              <a:headEnd type="none" w="med" len="med"/>
              <a:tailEnd type="none" w="med" len="med"/>
            </a:ln>
          </p:spPr>
        </p:sp>
        <p:sp>
          <p:nvSpPr>
            <p:cNvPr id="223322" name="Line 161"/>
            <p:cNvSpPr/>
            <p:nvPr/>
          </p:nvSpPr>
          <p:spPr>
            <a:xfrm>
              <a:off x="5000" y="599"/>
              <a:ext cx="275" cy="0"/>
            </a:xfrm>
            <a:prstGeom prst="line">
              <a:avLst/>
            </a:prstGeom>
            <a:ln w="25400" cap="flat" cmpd="sng">
              <a:solidFill>
                <a:srgbClr val="000000"/>
              </a:solidFill>
              <a:prstDash val="solid"/>
              <a:bevel/>
              <a:headEnd type="none" w="med" len="med"/>
              <a:tailEnd type="none" w="med" len="med"/>
            </a:ln>
          </p:spPr>
        </p:sp>
        <p:sp>
          <p:nvSpPr>
            <p:cNvPr id="223323" name="Line 162"/>
            <p:cNvSpPr/>
            <p:nvPr/>
          </p:nvSpPr>
          <p:spPr>
            <a:xfrm>
              <a:off x="4996" y="749"/>
              <a:ext cx="275" cy="0"/>
            </a:xfrm>
            <a:prstGeom prst="line">
              <a:avLst/>
            </a:prstGeom>
            <a:ln w="25400" cap="flat" cmpd="sng">
              <a:solidFill>
                <a:srgbClr val="000000"/>
              </a:solidFill>
              <a:prstDash val="solid"/>
              <a:bevel/>
              <a:headEnd type="none" w="med" len="med"/>
              <a:tailEnd type="none" w="med" len="med"/>
            </a:ln>
          </p:spPr>
        </p:sp>
        <p:sp>
          <p:nvSpPr>
            <p:cNvPr id="223324" name="Line 163"/>
            <p:cNvSpPr/>
            <p:nvPr/>
          </p:nvSpPr>
          <p:spPr>
            <a:xfrm>
              <a:off x="5006" y="917"/>
              <a:ext cx="273" cy="0"/>
            </a:xfrm>
            <a:prstGeom prst="line">
              <a:avLst/>
            </a:prstGeom>
            <a:ln w="25400" cap="flat" cmpd="sng">
              <a:solidFill>
                <a:srgbClr val="000000"/>
              </a:solidFill>
              <a:prstDash val="solid"/>
              <a:bevel/>
              <a:headEnd type="none" w="med" len="med"/>
              <a:tailEnd type="none" w="med" len="med"/>
            </a:ln>
          </p:spPr>
        </p:sp>
        <p:sp>
          <p:nvSpPr>
            <p:cNvPr id="223325" name="Line 164"/>
            <p:cNvSpPr/>
            <p:nvPr/>
          </p:nvSpPr>
          <p:spPr>
            <a:xfrm>
              <a:off x="5000" y="1067"/>
              <a:ext cx="275" cy="0"/>
            </a:xfrm>
            <a:prstGeom prst="line">
              <a:avLst/>
            </a:prstGeom>
            <a:ln w="25400" cap="flat" cmpd="sng">
              <a:solidFill>
                <a:srgbClr val="000000"/>
              </a:solidFill>
              <a:prstDash val="solid"/>
              <a:bevel/>
              <a:headEnd type="none" w="med" len="med"/>
              <a:tailEnd type="none" w="med" len="med"/>
            </a:ln>
          </p:spPr>
        </p:sp>
        <p:sp>
          <p:nvSpPr>
            <p:cNvPr id="223326" name="Line 165"/>
            <p:cNvSpPr/>
            <p:nvPr/>
          </p:nvSpPr>
          <p:spPr>
            <a:xfrm>
              <a:off x="5010" y="1226"/>
              <a:ext cx="272" cy="0"/>
            </a:xfrm>
            <a:prstGeom prst="line">
              <a:avLst/>
            </a:prstGeom>
            <a:ln w="25400" cap="flat" cmpd="sng">
              <a:solidFill>
                <a:srgbClr val="000000"/>
              </a:solidFill>
              <a:prstDash val="solid"/>
              <a:bevel/>
              <a:headEnd type="none" w="med" len="med"/>
              <a:tailEnd type="none" w="med" len="med"/>
            </a:ln>
          </p:spPr>
        </p:sp>
        <p:sp>
          <p:nvSpPr>
            <p:cNvPr id="223327" name="Line 166"/>
            <p:cNvSpPr/>
            <p:nvPr/>
          </p:nvSpPr>
          <p:spPr>
            <a:xfrm>
              <a:off x="5013" y="1360"/>
              <a:ext cx="273" cy="0"/>
            </a:xfrm>
            <a:prstGeom prst="line">
              <a:avLst/>
            </a:prstGeom>
            <a:ln w="25400" cap="flat" cmpd="sng">
              <a:solidFill>
                <a:srgbClr val="000000"/>
              </a:solidFill>
              <a:prstDash val="solid"/>
              <a:bevel/>
              <a:headEnd type="none" w="med" len="med"/>
              <a:tailEnd type="none" w="med" len="med"/>
            </a:ln>
          </p:spPr>
        </p:sp>
        <p:sp>
          <p:nvSpPr>
            <p:cNvPr id="223328" name="AutoShape 167"/>
            <p:cNvSpPr/>
            <p:nvPr/>
          </p:nvSpPr>
          <p:spPr>
            <a:xfrm>
              <a:off x="4109" y="966"/>
              <a:ext cx="589" cy="282"/>
            </a:xfrm>
            <a:prstGeom prst="leftArrow">
              <a:avLst>
                <a:gd name="adj1" fmla="val 50000"/>
                <a:gd name="adj2" fmla="val 52100"/>
              </a:avLst>
            </a:prstGeom>
            <a:solidFill>
              <a:srgbClr val="FFCC00"/>
            </a:solid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grpSp>
      <p:sp>
        <p:nvSpPr>
          <p:cNvPr id="223236" name="Line 168"/>
          <p:cNvSpPr/>
          <p:nvPr/>
        </p:nvSpPr>
        <p:spPr>
          <a:xfrm>
            <a:off x="8453438" y="4343400"/>
            <a:ext cx="228600" cy="0"/>
          </a:xfrm>
          <a:prstGeom prst="line">
            <a:avLst/>
          </a:prstGeom>
          <a:ln w="9525" cap="flat" cmpd="sng">
            <a:solidFill>
              <a:schemeClr val="tx1"/>
            </a:solidFill>
            <a:prstDash val="solid"/>
            <a:bevel/>
            <a:headEnd type="none" w="med" len="med"/>
            <a:tailEnd type="none" w="med" len="med"/>
          </a:ln>
        </p:spPr>
      </p:sp>
      <p:sp>
        <p:nvSpPr>
          <p:cNvPr id="223237" name="Line 169"/>
          <p:cNvSpPr/>
          <p:nvPr/>
        </p:nvSpPr>
        <p:spPr>
          <a:xfrm>
            <a:off x="8763000" y="4335463"/>
            <a:ext cx="304800" cy="7937"/>
          </a:xfrm>
          <a:prstGeom prst="line">
            <a:avLst/>
          </a:prstGeom>
          <a:ln w="9525" cap="flat" cmpd="sng">
            <a:solidFill>
              <a:schemeClr val="tx1"/>
            </a:solidFill>
            <a:prstDash val="solid"/>
            <a:bevel/>
            <a:headEnd type="none" w="med" len="med"/>
            <a:tailEnd type="none" w="med" len="med"/>
          </a:ln>
        </p:spPr>
      </p:sp>
    </p:spTree>
  </p:cSld>
  <p:clrMapOvr>
    <a:masterClrMapping/>
  </p:clrMapOvr>
  <p:transition spd="slow">
    <p:zoom/>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24259" name="Rectangle 2"/>
          <p:cNvSpPr>
            <a:spLocks noGrp="1" noRot="1"/>
          </p:cNvSpPr>
          <p:nvPr>
            <p:ph type="title" idx="4294967295"/>
          </p:nvPr>
        </p:nvSpPr>
        <p:spPr/>
        <p:txBody>
          <a:bodyPr vert="horz" wrap="square" lIns="91440" tIns="45720" rIns="91440" bIns="45720" anchor="b" anchorCtr="0"/>
          <a:p>
            <a:pPr eaLnBrk="1" hangingPunct="1"/>
            <a:r>
              <a:rPr lang="en-GB" altLang="en-US" dirty="0"/>
              <a:t>8259A</a:t>
            </a:r>
            <a:r>
              <a:rPr lang="zh-CN" altLang="en-US" dirty="0"/>
              <a:t>的编程使用</a:t>
            </a:r>
            <a:endParaRPr lang="zh-CN" altLang="en-US" dirty="0"/>
          </a:p>
        </p:txBody>
      </p:sp>
      <p:sp>
        <p:nvSpPr>
          <p:cNvPr id="224260" name="Rectangle 3"/>
          <p:cNvSpPr>
            <a:spLocks noGrp="1" noRot="1"/>
          </p:cNvSpPr>
          <p:nvPr>
            <p:ph type="body" idx="4294967295"/>
          </p:nvPr>
        </p:nvSpPr>
        <p:spPr/>
        <p:txBody>
          <a:bodyPr vert="horz" wrap="square" lIns="91440" tIns="45720" rIns="91440" bIns="45720" anchor="t" anchorCtr="0"/>
          <a:p>
            <a:pPr eaLnBrk="1" hangingPunct="1"/>
            <a:r>
              <a:rPr lang="en-GB" altLang="en-US" dirty="0"/>
              <a:t>8259A</a:t>
            </a:r>
            <a:r>
              <a:rPr lang="zh-CN" altLang="en-US" dirty="0"/>
              <a:t>的控制命令分为</a:t>
            </a:r>
            <a:endParaRPr lang="zh-CN" altLang="en-US" dirty="0"/>
          </a:p>
          <a:p>
            <a:pPr lvl="1" eaLnBrk="1" hangingPunct="1"/>
            <a:r>
              <a:rPr lang="zh-CN" altLang="en-US" dirty="0"/>
              <a:t>初始化命令字</a:t>
            </a:r>
            <a:r>
              <a:rPr lang="en-GB" altLang="en-US" dirty="0"/>
              <a:t>ICW</a:t>
            </a:r>
            <a:endParaRPr lang="en-GB" altLang="en-US" dirty="0"/>
          </a:p>
          <a:p>
            <a:pPr lvl="2" eaLnBrk="1" hangingPunct="1"/>
            <a:r>
              <a:rPr lang="en-GB" altLang="en-US" dirty="0"/>
              <a:t>ICW1</a:t>
            </a:r>
            <a:r>
              <a:rPr lang="zh-CN" altLang="en-US" dirty="0"/>
              <a:t>～</a:t>
            </a:r>
            <a:r>
              <a:rPr lang="en-GB" altLang="en-US" dirty="0"/>
              <a:t>ICW4</a:t>
            </a:r>
            <a:endParaRPr lang="en-GB" altLang="en-US" dirty="0"/>
          </a:p>
          <a:p>
            <a:pPr lvl="2" eaLnBrk="1" hangingPunct="1"/>
            <a:r>
              <a:rPr lang="zh-CN" altLang="en-US" dirty="0"/>
              <a:t>向</a:t>
            </a:r>
            <a:r>
              <a:rPr lang="en-GB" altLang="en-US" dirty="0"/>
              <a:t>8259A</a:t>
            </a:r>
            <a:r>
              <a:rPr lang="zh-CN" altLang="en-US" dirty="0"/>
              <a:t>写入</a:t>
            </a:r>
            <a:r>
              <a:rPr lang="en-GB" altLang="en-US" dirty="0"/>
              <a:t>ICW</a:t>
            </a:r>
            <a:r>
              <a:rPr lang="zh-CN" altLang="en-US" dirty="0"/>
              <a:t>的过程称为</a:t>
            </a:r>
            <a:r>
              <a:rPr lang="zh-CN" altLang="en-US" dirty="0">
                <a:solidFill>
                  <a:srgbClr val="0000F8"/>
                </a:solidFill>
              </a:rPr>
              <a:t>初始化编程</a:t>
            </a:r>
            <a:endParaRPr lang="zh-CN" altLang="en-US" dirty="0">
              <a:solidFill>
                <a:srgbClr val="0000F8"/>
              </a:solidFill>
            </a:endParaRPr>
          </a:p>
          <a:p>
            <a:pPr lvl="1" eaLnBrk="1" hangingPunct="1"/>
            <a:r>
              <a:rPr lang="zh-CN" altLang="en-US" dirty="0"/>
              <a:t>操作命令字</a:t>
            </a:r>
            <a:r>
              <a:rPr lang="en-GB" altLang="en-US" dirty="0"/>
              <a:t>OCW</a:t>
            </a:r>
            <a:r>
              <a:rPr lang="en-US" altLang="zh-CN" dirty="0"/>
              <a:t> </a:t>
            </a:r>
            <a:endParaRPr lang="en-US" altLang="zh-CN" dirty="0"/>
          </a:p>
          <a:p>
            <a:pPr lvl="2" eaLnBrk="1" hangingPunct="1"/>
            <a:r>
              <a:rPr lang="en-GB" altLang="en-US" dirty="0"/>
              <a:t>OCW1</a:t>
            </a:r>
            <a:r>
              <a:rPr lang="zh-CN" altLang="en-US" dirty="0"/>
              <a:t>～</a:t>
            </a:r>
            <a:r>
              <a:rPr lang="en-GB" altLang="en-US" dirty="0"/>
              <a:t>OCW3</a:t>
            </a:r>
            <a:endParaRPr lang="en-GB" altLang="en-US" dirty="0"/>
          </a:p>
          <a:p>
            <a:pPr lvl="2" eaLnBrk="1" hangingPunct="1"/>
            <a:r>
              <a:rPr lang="zh-CN" altLang="en-US" dirty="0"/>
              <a:t>向</a:t>
            </a:r>
            <a:r>
              <a:rPr lang="en-GB" altLang="en-US" dirty="0"/>
              <a:t>8259A</a:t>
            </a:r>
            <a:r>
              <a:rPr lang="zh-CN" altLang="en-US" dirty="0"/>
              <a:t>写入</a:t>
            </a:r>
            <a:r>
              <a:rPr lang="en-GB" altLang="en-US" dirty="0"/>
              <a:t>OCW</a:t>
            </a:r>
            <a:r>
              <a:rPr lang="zh-CN" altLang="en-US" dirty="0"/>
              <a:t>的过程称为</a:t>
            </a:r>
            <a:r>
              <a:rPr lang="zh-CN" altLang="en-US" dirty="0">
                <a:solidFill>
                  <a:srgbClr val="0000F8"/>
                </a:solidFill>
              </a:rPr>
              <a:t>操作方式编程</a:t>
            </a:r>
            <a:endParaRPr lang="zh-CN" altLang="en-US" dirty="0">
              <a:solidFill>
                <a:srgbClr val="0000F8"/>
              </a:solidFill>
            </a:endParaRPr>
          </a:p>
        </p:txBody>
      </p:sp>
    </p:spTree>
  </p:cSld>
  <p:clrMapOvr>
    <a:masterClrMapping/>
  </p:clrMapOvr>
  <p:transition spd="slow">
    <p:zoom/>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82"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25283" name="Rectangle 2"/>
          <p:cNvSpPr>
            <a:spLocks noGrp="1" noRot="1"/>
          </p:cNvSpPr>
          <p:nvPr>
            <p:ph type="title" idx="4294967295"/>
          </p:nvPr>
        </p:nvSpPr>
        <p:spPr>
          <a:xfrm>
            <a:off x="1116013" y="620713"/>
            <a:ext cx="8540750" cy="1143000"/>
          </a:xfrm>
        </p:spPr>
        <p:txBody>
          <a:bodyPr vert="horz" wrap="square" lIns="91440" tIns="45720" rIns="91440" bIns="45720" anchor="b" anchorCtr="0"/>
          <a:p>
            <a:pPr eaLnBrk="1" hangingPunct="1"/>
            <a:r>
              <a:rPr lang="en-GB" altLang="en-US" dirty="0"/>
              <a:t>8259A</a:t>
            </a:r>
            <a:r>
              <a:rPr lang="zh-CN" altLang="en-US" dirty="0"/>
              <a:t>内部寄存器的寻址方法</a:t>
            </a:r>
            <a:endParaRPr lang="zh-CN" altLang="en-US" dirty="0"/>
          </a:p>
        </p:txBody>
      </p:sp>
      <p:graphicFrame>
        <p:nvGraphicFramePr>
          <p:cNvPr id="154628" name="内容占位符 154627"/>
          <p:cNvGraphicFramePr>
            <a:graphicFrameLocks noGrp="1"/>
          </p:cNvGraphicFramePr>
          <p:nvPr>
            <p:ph idx="4294967295"/>
          </p:nvPr>
        </p:nvGraphicFramePr>
        <p:xfrm>
          <a:off x="395288" y="3716338"/>
          <a:ext cx="8486775" cy="2508251"/>
        </p:xfrm>
        <a:graphic>
          <a:graphicData uri="http://schemas.openxmlformats.org/drawingml/2006/table">
            <a:tbl>
              <a:tblPr/>
              <a:tblGrid>
                <a:gridCol w="719138"/>
                <a:gridCol w="690562"/>
                <a:gridCol w="771525"/>
                <a:gridCol w="547688"/>
                <a:gridCol w="546100"/>
                <a:gridCol w="544512"/>
                <a:gridCol w="4667250"/>
              </a:tblGrid>
              <a:tr h="358651">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chemeClr val="tx1"/>
                          </a:solidFill>
                          <a:latin typeface="Arial" panose="020B0604020202020204" pitchFamily="34" charset="0"/>
                          <a:ea typeface="宋体" panose="02010600030101010101" pitchFamily="2" charset="-122"/>
                        </a:rPr>
                        <a:t>CS#</a:t>
                      </a:r>
                      <a:endParaRPr lang="en-US" altLang="x-none" sz="2000" b="0" dirty="0">
                        <a:solidFill>
                          <a:schemeClr val="tx2"/>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chemeClr val="tx1"/>
                          </a:solidFill>
                          <a:latin typeface="Arial" panose="020B0604020202020204" pitchFamily="34" charset="0"/>
                          <a:ea typeface="宋体" panose="02010600030101010101" pitchFamily="2" charset="-122"/>
                        </a:rPr>
                        <a:t>RD#</a:t>
                      </a:r>
                      <a:endParaRPr lang="en-US" altLang="x-none" sz="2000" b="0" dirty="0">
                        <a:solidFill>
                          <a:schemeClr val="tx2"/>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chemeClr val="tx1"/>
                          </a:solidFill>
                          <a:latin typeface="Arial" panose="020B0604020202020204" pitchFamily="34" charset="0"/>
                          <a:ea typeface="宋体" panose="02010600030101010101" pitchFamily="2" charset="-122"/>
                        </a:rPr>
                        <a:t>WR#</a:t>
                      </a:r>
                      <a:endParaRPr lang="en-US" altLang="x-none" sz="2000" b="0" dirty="0">
                        <a:solidFill>
                          <a:schemeClr val="tx2"/>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chemeClr val="tx1"/>
                          </a:solidFill>
                          <a:latin typeface="Arial" panose="020B0604020202020204" pitchFamily="34" charset="0"/>
                          <a:ea typeface="宋体" panose="02010600030101010101" pitchFamily="2" charset="-122"/>
                        </a:rPr>
                        <a:t>A</a:t>
                      </a:r>
                      <a:r>
                        <a:rPr lang="en-US" altLang="x-none" sz="1600" b="0" dirty="0">
                          <a:solidFill>
                            <a:schemeClr val="tx1"/>
                          </a:solidFill>
                          <a:latin typeface="Arial" panose="020B0604020202020204" pitchFamily="34" charset="0"/>
                          <a:ea typeface="宋体" panose="02010600030101010101" pitchFamily="2" charset="-122"/>
                        </a:rPr>
                        <a:t>0</a:t>
                      </a:r>
                      <a:endParaRPr lang="en-US" altLang="x-none" sz="1600" b="0" dirty="0">
                        <a:solidFill>
                          <a:schemeClr val="tx2"/>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chemeClr val="tx1"/>
                          </a:solidFill>
                          <a:latin typeface="Arial" panose="020B0604020202020204" pitchFamily="34" charset="0"/>
                          <a:ea typeface="宋体" panose="02010600030101010101" pitchFamily="2" charset="-122"/>
                        </a:rPr>
                        <a:t>D</a:t>
                      </a:r>
                      <a:r>
                        <a:rPr lang="en-US" altLang="x-none" sz="1600" b="0" dirty="0">
                          <a:solidFill>
                            <a:schemeClr val="tx1"/>
                          </a:solidFill>
                          <a:latin typeface="Arial" panose="020B0604020202020204" pitchFamily="34" charset="0"/>
                          <a:ea typeface="宋体" panose="02010600030101010101" pitchFamily="2" charset="-122"/>
                        </a:rPr>
                        <a:t>4</a:t>
                      </a:r>
                      <a:endParaRPr lang="en-US" altLang="x-none" sz="1600" b="0" dirty="0">
                        <a:solidFill>
                          <a:schemeClr val="tx2"/>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chemeClr val="tx1"/>
                          </a:solidFill>
                          <a:latin typeface="Arial" panose="020B0604020202020204" pitchFamily="34" charset="0"/>
                          <a:ea typeface="宋体" panose="02010600030101010101" pitchFamily="2" charset="-122"/>
                        </a:rPr>
                        <a:t>D</a:t>
                      </a:r>
                      <a:r>
                        <a:rPr lang="en-US" altLang="x-none" sz="1600" b="0" dirty="0">
                          <a:solidFill>
                            <a:schemeClr val="tx1"/>
                          </a:solidFill>
                          <a:latin typeface="Arial" panose="020B0604020202020204" pitchFamily="34" charset="0"/>
                          <a:ea typeface="宋体" panose="02010600030101010101" pitchFamily="2" charset="-122"/>
                        </a:rPr>
                        <a:t>3</a:t>
                      </a:r>
                      <a:endParaRPr lang="en-US" altLang="x-none" sz="1600" b="0" dirty="0">
                        <a:solidFill>
                          <a:schemeClr val="tx2"/>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zh-CN" altLang="en-US" sz="2000" b="0">
                          <a:solidFill>
                            <a:schemeClr val="tx1"/>
                          </a:solidFill>
                          <a:latin typeface="Arial" panose="020B0604020202020204" pitchFamily="34" charset="0"/>
                          <a:ea typeface="宋体" panose="02010600030101010101" pitchFamily="2" charset="-122"/>
                        </a:rPr>
                        <a:t>读写操作</a:t>
                      </a:r>
                      <a:endParaRPr lang="zh-CN" altLang="en-US" sz="2000" b="0">
                        <a:solidFill>
                          <a:schemeClr val="tx2"/>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1825">
                <a:tc rowSpan="4">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0</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4">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1</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4">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0</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0</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0</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0</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4">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255270" eaLnBrk="1" hangingPunct="1">
                        <a:lnSpc>
                          <a:spcPct val="115000"/>
                        </a:lnSpc>
                        <a:spcBef>
                          <a:spcPct val="0"/>
                        </a:spcBef>
                        <a:spcAft>
                          <a:spcPct val="0"/>
                        </a:spcAft>
                        <a:buClr>
                          <a:srgbClr val="000000"/>
                        </a:buClr>
                        <a:buSzPct val="100000"/>
                        <a:buFont typeface="Arial" panose="020B0604020202020204" pitchFamily="34" charset="0"/>
                        <a:buNone/>
                      </a:pPr>
                      <a:r>
                        <a:rPr lang="zh-CN" altLang="en-US" sz="2000" b="0" dirty="0">
                          <a:solidFill>
                            <a:srgbClr val="0000F8"/>
                          </a:solidFill>
                          <a:latin typeface="Arial" panose="020B0604020202020204" pitchFamily="34" charset="0"/>
                          <a:ea typeface="宋体" panose="02010600030101010101" pitchFamily="2" charset="-122"/>
                        </a:rPr>
                        <a:t>写</a:t>
                      </a:r>
                      <a:r>
                        <a:rPr lang="en-US" altLang="x-none" sz="2000" b="0" dirty="0">
                          <a:solidFill>
                            <a:srgbClr val="0000F8"/>
                          </a:solidFill>
                          <a:latin typeface="Arial" panose="020B0604020202020204" pitchFamily="34" charset="0"/>
                          <a:ea typeface="宋体" panose="02010600030101010101" pitchFamily="2" charset="-122"/>
                        </a:rPr>
                        <a:t>OCW2</a:t>
                      </a:r>
                      <a:endParaRPr lang="en-US" altLang="x-none" sz="2000" b="0" dirty="0">
                        <a:solidFill>
                          <a:srgbClr val="0000F8"/>
                        </a:solidFill>
                        <a:latin typeface="Arial" panose="020B0604020202020204" pitchFamily="34" charset="0"/>
                        <a:ea typeface="宋体" panose="02010600030101010101" pitchFamily="2" charset="-122"/>
                      </a:endParaRPr>
                    </a:p>
                    <a:p>
                      <a:pPr marL="342900" lvl="0" indent="-255270">
                        <a:lnSpc>
                          <a:spcPct val="115000"/>
                        </a:lnSpc>
                        <a:spcBef>
                          <a:spcPct val="0"/>
                        </a:spcBef>
                        <a:spcAft>
                          <a:spcPct val="0"/>
                        </a:spcAft>
                        <a:buClr>
                          <a:srgbClr val="000000"/>
                        </a:buClr>
                        <a:buSzPct val="100000"/>
                        <a:buFont typeface="Arial" panose="020B0604020202020204" pitchFamily="34" charset="0"/>
                        <a:buNone/>
                      </a:pPr>
                      <a:r>
                        <a:rPr lang="zh-CN" altLang="en-US" sz="2000" b="0" dirty="0">
                          <a:solidFill>
                            <a:srgbClr val="0000F8"/>
                          </a:solidFill>
                          <a:latin typeface="Arial" panose="020B0604020202020204" pitchFamily="34" charset="0"/>
                          <a:ea typeface="宋体" panose="02010600030101010101" pitchFamily="2" charset="-122"/>
                        </a:rPr>
                        <a:t>写</a:t>
                      </a:r>
                      <a:r>
                        <a:rPr lang="en-US" altLang="x-none" sz="2000" b="0" dirty="0">
                          <a:solidFill>
                            <a:srgbClr val="0000F8"/>
                          </a:solidFill>
                          <a:latin typeface="Arial" panose="020B0604020202020204" pitchFamily="34" charset="0"/>
                          <a:ea typeface="宋体" panose="02010600030101010101" pitchFamily="2" charset="-122"/>
                        </a:rPr>
                        <a:t>OCW3</a:t>
                      </a:r>
                      <a:endParaRPr lang="en-US" altLang="x-none" sz="2000" b="0" dirty="0">
                        <a:solidFill>
                          <a:srgbClr val="0000F8"/>
                        </a:solidFill>
                        <a:latin typeface="Arial" panose="020B0604020202020204" pitchFamily="34" charset="0"/>
                        <a:ea typeface="宋体" panose="02010600030101010101" pitchFamily="2" charset="-122"/>
                      </a:endParaRPr>
                    </a:p>
                    <a:p>
                      <a:pPr marL="342900" lvl="0" indent="-255270">
                        <a:lnSpc>
                          <a:spcPct val="115000"/>
                        </a:lnSpc>
                        <a:spcBef>
                          <a:spcPct val="0"/>
                        </a:spcBef>
                        <a:spcAft>
                          <a:spcPct val="0"/>
                        </a:spcAft>
                        <a:buClr>
                          <a:srgbClr val="000000"/>
                        </a:buClr>
                        <a:buSzPct val="100000"/>
                        <a:buFont typeface="Arial" panose="020B0604020202020204" pitchFamily="34" charset="0"/>
                        <a:buNone/>
                      </a:pPr>
                      <a:r>
                        <a:rPr lang="zh-CN" altLang="en-US" sz="2000" b="0" dirty="0">
                          <a:solidFill>
                            <a:srgbClr val="0000F8"/>
                          </a:solidFill>
                          <a:latin typeface="Arial" panose="020B0604020202020204" pitchFamily="34" charset="0"/>
                          <a:ea typeface="宋体" panose="02010600030101010101" pitchFamily="2" charset="-122"/>
                        </a:rPr>
                        <a:t>写</a:t>
                      </a:r>
                      <a:r>
                        <a:rPr lang="en-US" altLang="x-none" sz="2000" b="0" dirty="0">
                          <a:solidFill>
                            <a:srgbClr val="0000F8"/>
                          </a:solidFill>
                          <a:latin typeface="Arial" panose="020B0604020202020204" pitchFamily="34" charset="0"/>
                          <a:ea typeface="宋体" panose="02010600030101010101" pitchFamily="2" charset="-122"/>
                        </a:rPr>
                        <a:t>ICW1</a:t>
                      </a:r>
                      <a:endParaRPr lang="en-US" altLang="x-none" sz="2000" b="0" dirty="0">
                        <a:solidFill>
                          <a:srgbClr val="0000F8"/>
                        </a:solidFill>
                        <a:latin typeface="Arial" panose="020B0604020202020204" pitchFamily="34" charset="0"/>
                        <a:ea typeface="宋体" panose="02010600030101010101" pitchFamily="2" charset="-122"/>
                      </a:endParaRPr>
                    </a:p>
                    <a:p>
                      <a:pPr marL="342900" lvl="0" indent="-255270">
                        <a:lnSpc>
                          <a:spcPct val="115000"/>
                        </a:lnSpc>
                        <a:spcBef>
                          <a:spcPct val="0"/>
                        </a:spcBef>
                        <a:spcAft>
                          <a:spcPct val="0"/>
                        </a:spcAft>
                        <a:buClr>
                          <a:srgbClr val="000000"/>
                        </a:buClr>
                        <a:buSzPct val="100000"/>
                        <a:buFont typeface="Arial" panose="020B0604020202020204" pitchFamily="34" charset="0"/>
                        <a:buNone/>
                      </a:pPr>
                      <a:r>
                        <a:rPr lang="zh-CN" altLang="en-US" sz="2000" b="0" dirty="0">
                          <a:solidFill>
                            <a:srgbClr val="0000F8"/>
                          </a:solidFill>
                          <a:latin typeface="Arial" panose="020B0604020202020204" pitchFamily="34" charset="0"/>
                          <a:ea typeface="宋体" panose="02010600030101010101" pitchFamily="2" charset="-122"/>
                        </a:rPr>
                        <a:t>写</a:t>
                      </a:r>
                      <a:r>
                        <a:rPr lang="en-US" altLang="x-none" sz="2000" b="0" dirty="0">
                          <a:solidFill>
                            <a:srgbClr val="0000F8"/>
                          </a:solidFill>
                          <a:latin typeface="Arial" panose="020B0604020202020204" pitchFamily="34" charset="0"/>
                          <a:ea typeface="宋体" panose="02010600030101010101" pitchFamily="2" charset="-122"/>
                        </a:rPr>
                        <a:t>ICW2,ICW3,ICW4,OCW1(</a:t>
                      </a:r>
                      <a:r>
                        <a:rPr lang="zh-CN" altLang="en-US" sz="2000" b="0" dirty="0">
                          <a:solidFill>
                            <a:srgbClr val="0000F8"/>
                          </a:solidFill>
                          <a:latin typeface="Arial" panose="020B0604020202020204" pitchFamily="34" charset="0"/>
                          <a:ea typeface="宋体" panose="02010600030101010101" pitchFamily="2" charset="-122"/>
                        </a:rPr>
                        <a:t>顺序写入</a:t>
                      </a:r>
                      <a:r>
                        <a:rPr lang="en-US" altLang="x-none" sz="2000" b="0" dirty="0">
                          <a:solidFill>
                            <a:srgbClr val="0000F8"/>
                          </a:solidFill>
                          <a:latin typeface="Arial" panose="020B0604020202020204" pitchFamily="34" charset="0"/>
                          <a:ea typeface="宋体" panose="02010600030101010101" pitchFamily="2" charset="-122"/>
                        </a:rPr>
                        <a:t>)</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58651">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0</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0</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1</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r>
              <a:tr h="360239">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0</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1</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x</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r>
              <a:tr h="39832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1</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x</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x</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r>
              <a:tr h="670560">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0</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0</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1</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342900" algn="ctr" eaLnBrk="1" hangingPunct="1">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0</a:t>
                      </a:r>
                      <a:endParaRPr lang="en-US" altLang="x-none" sz="2000" b="0" dirty="0">
                        <a:solidFill>
                          <a:srgbClr val="0000F8"/>
                        </a:solidFill>
                        <a:latin typeface="Arial" panose="020B0604020202020204" pitchFamily="34" charset="0"/>
                        <a:ea typeface="宋体" panose="02010600030101010101" pitchFamily="2" charset="-122"/>
                      </a:endParaRPr>
                    </a:p>
                    <a:p>
                      <a:pPr marL="342900" lvl="0" indent="-342900" algn="ctr">
                        <a:spcBef>
                          <a:spcPct val="0"/>
                        </a:spcBef>
                        <a:spcAft>
                          <a:spcPct val="0"/>
                        </a:spcAft>
                        <a:buClr>
                          <a:srgbClr val="000000"/>
                        </a:buClr>
                        <a:buSzPct val="100000"/>
                        <a:buFont typeface="Arial" panose="020B0604020202020204" pitchFamily="34" charset="0"/>
                        <a:buNone/>
                      </a:pPr>
                      <a:r>
                        <a:rPr lang="en-US" altLang="x-none" sz="2000" b="0" dirty="0">
                          <a:solidFill>
                            <a:srgbClr val="0000F8"/>
                          </a:solidFill>
                          <a:latin typeface="Arial" panose="020B0604020202020204" pitchFamily="34" charset="0"/>
                          <a:ea typeface="宋体" panose="02010600030101010101" pitchFamily="2" charset="-122"/>
                        </a:rPr>
                        <a:t>1</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100000"/>
                        <a:buFont typeface="Wingdings" panose="05000000000000000000" pitchFamily="2" charset="2"/>
                        <a:buNone/>
                      </a:pPr>
                      <a:r>
                        <a:rPr lang="en-US" altLang="x-none" sz="2000" b="0" dirty="0">
                          <a:solidFill>
                            <a:srgbClr val="0000F8"/>
                          </a:solidFill>
                          <a:latin typeface="Arial" panose="020B0604020202020204" pitchFamily="34" charset="0"/>
                          <a:ea typeface="宋体" panose="02010600030101010101" pitchFamily="2" charset="-122"/>
                        </a:rPr>
                        <a:t>x</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0" lvl="0" indent="0" algn="ctr" eaLnBrk="1" hangingPunct="1">
                        <a:spcBef>
                          <a:spcPct val="20000"/>
                        </a:spcBef>
                        <a:spcAft>
                          <a:spcPct val="0"/>
                        </a:spcAft>
                        <a:buClr>
                          <a:schemeClr val="folHlink"/>
                        </a:buClr>
                        <a:buSzPct val="100000"/>
                        <a:buFont typeface="Wingdings" panose="05000000000000000000" pitchFamily="2" charset="2"/>
                        <a:buNone/>
                      </a:pPr>
                      <a:r>
                        <a:rPr lang="en-US" altLang="x-none" sz="2000" b="0" dirty="0">
                          <a:solidFill>
                            <a:srgbClr val="0000F8"/>
                          </a:solidFill>
                          <a:latin typeface="Arial" panose="020B0604020202020204" pitchFamily="34" charset="0"/>
                          <a:ea typeface="宋体" panose="02010600030101010101" pitchFamily="2" charset="-122"/>
                        </a:rPr>
                        <a:t>x</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i="0" u="none" kern="1200" baseline="0">
                          <a:solidFill>
                            <a:schemeClr val="tx2"/>
                          </a:solidFill>
                          <a:latin typeface="Arial" panose="020B0604020202020204" pitchFamily="34" charset="0"/>
                          <a:ea typeface="宋体" panose="02010600030101010101" pitchFamily="2" charset="-122"/>
                        </a:defRPr>
                      </a:lvl1pPr>
                      <a:lvl2pPr marL="742950" lvl="1" indent="-285750">
                        <a:buClr>
                          <a:schemeClr val="hlink"/>
                        </a:buClr>
                        <a:defRPr sz="2400" kern="1200">
                          <a:solidFill>
                            <a:schemeClr val="tx1"/>
                          </a:solidFill>
                          <a:latin typeface="Arial" panose="020B0604020202020204" pitchFamily="34" charset="0"/>
                          <a:ea typeface="宋体" panose="02010600030101010101" pitchFamily="2" charset="-122"/>
                        </a:defRPr>
                      </a:lvl2pPr>
                      <a:lvl3pPr marL="1143000" lvl="2" indent="-228600">
                        <a:buClr>
                          <a:schemeClr val="folHlink"/>
                        </a:buClr>
                        <a:defRPr sz="2000" kern="1200">
                          <a:solidFill>
                            <a:srgbClr val="FF0000"/>
                          </a:solidFill>
                          <a:latin typeface="Arial" panose="020B0604020202020204" pitchFamily="34" charset="0"/>
                          <a:ea typeface="宋体" panose="02010600030101010101" pitchFamily="2" charset="-122"/>
                        </a:defRPr>
                      </a:lvl3pPr>
                      <a:lvl4pPr marL="1600200" lvl="3" indent="-228600">
                        <a:spcAft>
                          <a:spcPct val="0"/>
                        </a:spcAft>
                        <a:buClr>
                          <a:schemeClr val="accent2"/>
                        </a:buClr>
                        <a:defRPr sz="1800" b="0" kern="1200">
                          <a:solidFill>
                            <a:schemeClr val="tx1"/>
                          </a:solidFill>
                          <a:latin typeface="Arial" panose="020B0604020202020204" pitchFamily="34" charset="0"/>
                          <a:ea typeface="宋体" panose="02010600030101010101" pitchFamily="2" charset="-122"/>
                        </a:defRPr>
                      </a:lvl4pPr>
                      <a:lvl5pPr marL="2057400" lvl="4" indent="-228600">
                        <a:buClr>
                          <a:schemeClr val="accent1"/>
                        </a:buClr>
                        <a:defRPr sz="1800" kern="1200">
                          <a:latin typeface="Arial" panose="020B0604020202020204" pitchFamily="34" charset="0"/>
                          <a:ea typeface="宋体" panose="02010600030101010101" pitchFamily="2" charset="-122"/>
                        </a:defRPr>
                      </a:lvl5pPr>
                    </a:lstStyle>
                    <a:p>
                      <a:pPr marL="342900" lvl="0" indent="-255270" eaLnBrk="1" hangingPunct="1">
                        <a:spcBef>
                          <a:spcPct val="0"/>
                        </a:spcBef>
                        <a:spcAft>
                          <a:spcPct val="0"/>
                        </a:spcAft>
                        <a:buClr>
                          <a:srgbClr val="000000"/>
                        </a:buClr>
                        <a:buSzPct val="100000"/>
                        <a:buFont typeface="Arial" panose="020B0604020202020204" pitchFamily="34" charset="0"/>
                        <a:buNone/>
                      </a:pPr>
                      <a:r>
                        <a:rPr lang="zh-CN" altLang="en-US" sz="2000" b="0" dirty="0">
                          <a:solidFill>
                            <a:srgbClr val="0000F8"/>
                          </a:solidFill>
                          <a:latin typeface="Arial" panose="020B0604020202020204" pitchFamily="34" charset="0"/>
                          <a:ea typeface="宋体" panose="02010600030101010101" pitchFamily="2" charset="-122"/>
                        </a:rPr>
                        <a:t>读出</a:t>
                      </a:r>
                      <a:r>
                        <a:rPr lang="en-US" altLang="x-none" sz="2000" b="0" dirty="0">
                          <a:solidFill>
                            <a:srgbClr val="0000F8"/>
                          </a:solidFill>
                          <a:latin typeface="Arial" panose="020B0604020202020204" pitchFamily="34" charset="0"/>
                          <a:ea typeface="宋体" panose="02010600030101010101" pitchFamily="2" charset="-122"/>
                        </a:rPr>
                        <a:t>IRR</a:t>
                      </a:r>
                      <a:r>
                        <a:rPr lang="zh-CN" altLang="en-US" sz="2000" b="0" dirty="0">
                          <a:solidFill>
                            <a:srgbClr val="0000F8"/>
                          </a:solidFill>
                          <a:latin typeface="Arial" panose="020B0604020202020204" pitchFamily="34" charset="0"/>
                          <a:ea typeface="宋体" panose="02010600030101010101" pitchFamily="2" charset="-122"/>
                        </a:rPr>
                        <a:t>、</a:t>
                      </a:r>
                      <a:r>
                        <a:rPr lang="en-US" altLang="x-none" sz="2000" b="0" dirty="0">
                          <a:solidFill>
                            <a:srgbClr val="0000F8"/>
                          </a:solidFill>
                          <a:latin typeface="Arial" panose="020B0604020202020204" pitchFamily="34" charset="0"/>
                          <a:ea typeface="宋体" panose="02010600030101010101" pitchFamily="2" charset="-122"/>
                        </a:rPr>
                        <a:t>ISR</a:t>
                      </a:r>
                      <a:endParaRPr lang="en-US" altLang="x-none" sz="2000" b="0" dirty="0">
                        <a:solidFill>
                          <a:srgbClr val="0000F8"/>
                        </a:solidFill>
                        <a:latin typeface="Arial" panose="020B0604020202020204" pitchFamily="34" charset="0"/>
                        <a:ea typeface="宋体" panose="02010600030101010101" pitchFamily="2" charset="-122"/>
                      </a:endParaRPr>
                    </a:p>
                    <a:p>
                      <a:pPr marL="342900" lvl="0" indent="-255270">
                        <a:spcBef>
                          <a:spcPct val="0"/>
                        </a:spcBef>
                        <a:spcAft>
                          <a:spcPct val="0"/>
                        </a:spcAft>
                        <a:buClr>
                          <a:srgbClr val="000000"/>
                        </a:buClr>
                        <a:buSzPct val="100000"/>
                        <a:buFont typeface="Arial" panose="020B0604020202020204" pitchFamily="34" charset="0"/>
                        <a:buNone/>
                      </a:pPr>
                      <a:r>
                        <a:rPr lang="zh-CN" altLang="en-US" sz="2000" b="0" dirty="0">
                          <a:solidFill>
                            <a:srgbClr val="0000F8"/>
                          </a:solidFill>
                          <a:latin typeface="Arial" panose="020B0604020202020204" pitchFamily="34" charset="0"/>
                          <a:ea typeface="宋体" panose="02010600030101010101" pitchFamily="2" charset="-122"/>
                        </a:rPr>
                        <a:t>读出</a:t>
                      </a:r>
                      <a:r>
                        <a:rPr lang="en-US" altLang="x-none" sz="2000" b="0" dirty="0">
                          <a:solidFill>
                            <a:srgbClr val="0000F8"/>
                          </a:solidFill>
                          <a:latin typeface="Arial" panose="020B0604020202020204" pitchFamily="34" charset="0"/>
                          <a:ea typeface="宋体" panose="02010600030101010101" pitchFamily="2" charset="-122"/>
                        </a:rPr>
                        <a:t>IMR</a:t>
                      </a:r>
                      <a:endParaRPr lang="en-US" altLang="x-none" sz="2000" b="0" dirty="0">
                        <a:solidFill>
                          <a:srgbClr val="0000F8"/>
                        </a:solidFill>
                        <a:latin typeface="Tahoma" panose="020B0604030504040204" pitchFamily="34" charset="0"/>
                        <a:ea typeface="宋体" panose="02010600030101010101" pitchFamily="2" charset="-122"/>
                      </a:endParaRPr>
                    </a:p>
                  </a:txBody>
                  <a:tcPr marL="0" marR="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225330" name="Text Box 49"/>
          <p:cNvSpPr txBox="1"/>
          <p:nvPr/>
        </p:nvSpPr>
        <p:spPr>
          <a:xfrm>
            <a:off x="252413" y="1916113"/>
            <a:ext cx="8629650" cy="2216150"/>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Bef>
                <a:spcPct val="50000"/>
              </a:spcBef>
              <a:spcAft>
                <a:spcPct val="0"/>
              </a:spcAft>
              <a:buClr>
                <a:srgbClr val="0000CC"/>
              </a:buClr>
              <a:buSzPct val="75000"/>
            </a:pPr>
            <a:r>
              <a:rPr lang="zh-CN" altLang="en-US" sz="2400" dirty="0">
                <a:latin typeface="楷体_GB2312"/>
                <a:ea typeface="楷体_GB2312"/>
              </a:rPr>
              <a:t>需要</a:t>
            </a:r>
            <a:r>
              <a:rPr lang="en-GB" altLang="en-US" sz="2400" dirty="0">
                <a:latin typeface="楷体_GB2312"/>
                <a:ea typeface="楷体_GB2312"/>
              </a:rPr>
              <a:t>CS</a:t>
            </a:r>
            <a:r>
              <a:rPr lang="zh-CN" altLang="en-US" sz="2400" dirty="0">
                <a:latin typeface="楷体_GB2312"/>
                <a:ea typeface="楷体_GB2312"/>
              </a:rPr>
              <a:t>、</a:t>
            </a:r>
            <a:r>
              <a:rPr lang="en-GB" altLang="en-US" sz="2400" dirty="0">
                <a:latin typeface="楷体_GB2312"/>
                <a:ea typeface="楷体_GB2312"/>
              </a:rPr>
              <a:t>A</a:t>
            </a:r>
            <a:r>
              <a:rPr lang="en-GB" altLang="en-US" sz="2400" baseline="-20000" dirty="0">
                <a:latin typeface="楷体_GB2312"/>
                <a:ea typeface="楷体_GB2312"/>
              </a:rPr>
              <a:t>0</a:t>
            </a:r>
            <a:r>
              <a:rPr lang="zh-CN" altLang="en-US" sz="2400" dirty="0">
                <a:latin typeface="楷体_GB2312"/>
                <a:ea typeface="楷体_GB2312"/>
              </a:rPr>
              <a:t>、</a:t>
            </a:r>
            <a:r>
              <a:rPr lang="en-GB" altLang="en-US" sz="2400" dirty="0">
                <a:latin typeface="楷体_GB2312"/>
                <a:ea typeface="楷体_GB2312"/>
              </a:rPr>
              <a:t>RD</a:t>
            </a:r>
            <a:r>
              <a:rPr lang="zh-CN" altLang="en-US" sz="2400" dirty="0">
                <a:latin typeface="楷体_GB2312"/>
                <a:ea typeface="楷体_GB2312"/>
              </a:rPr>
              <a:t>、</a:t>
            </a:r>
            <a:r>
              <a:rPr lang="en-GB" altLang="en-US" sz="2400" dirty="0">
                <a:latin typeface="楷体_GB2312"/>
                <a:ea typeface="楷体_GB2312"/>
              </a:rPr>
              <a:t>WR</a:t>
            </a:r>
            <a:r>
              <a:rPr lang="zh-CN" altLang="en-US" sz="2400" dirty="0">
                <a:latin typeface="楷体_GB2312"/>
                <a:ea typeface="楷体_GB2312"/>
              </a:rPr>
              <a:t>和</a:t>
            </a:r>
            <a:r>
              <a:rPr lang="en-GB" altLang="en-US" sz="2400" dirty="0">
                <a:latin typeface="楷体_GB2312"/>
                <a:ea typeface="楷体_GB2312"/>
              </a:rPr>
              <a:t>D</a:t>
            </a:r>
            <a:r>
              <a:rPr lang="en-GB" altLang="en-US" sz="2400" baseline="-20000" dirty="0">
                <a:latin typeface="楷体_GB2312"/>
                <a:ea typeface="楷体_GB2312"/>
              </a:rPr>
              <a:t>4</a:t>
            </a:r>
            <a:r>
              <a:rPr lang="zh-CN" altLang="en-US" sz="2400" dirty="0">
                <a:latin typeface="楷体_GB2312"/>
                <a:ea typeface="楷体_GB2312"/>
              </a:rPr>
              <a:t>、</a:t>
            </a:r>
            <a:r>
              <a:rPr lang="en-GB" altLang="en-US" sz="2400" dirty="0">
                <a:latin typeface="楷体_GB2312"/>
                <a:ea typeface="楷体_GB2312"/>
              </a:rPr>
              <a:t>D</a:t>
            </a:r>
            <a:r>
              <a:rPr lang="en-GB" altLang="en-US" sz="2400" baseline="-20000" dirty="0">
                <a:latin typeface="楷体_GB2312"/>
                <a:ea typeface="楷体_GB2312"/>
              </a:rPr>
              <a:t>3</a:t>
            </a:r>
            <a:r>
              <a:rPr lang="zh-CN" altLang="en-US" sz="2400" dirty="0">
                <a:latin typeface="楷体_GB2312"/>
                <a:ea typeface="楷体_GB2312"/>
              </a:rPr>
              <a:t>的配合</a:t>
            </a:r>
            <a:endParaRPr lang="en-US" altLang="zh-CN" sz="2400" dirty="0">
              <a:latin typeface="楷体_GB2312"/>
              <a:ea typeface="楷体_GB2312"/>
            </a:endParaRPr>
          </a:p>
          <a:p>
            <a:pPr marL="342900" lvl="0" indent="-342900">
              <a:lnSpc>
                <a:spcPct val="100000"/>
              </a:lnSpc>
              <a:spcBef>
                <a:spcPct val="50000"/>
              </a:spcBef>
              <a:spcAft>
                <a:spcPct val="0"/>
              </a:spcAft>
              <a:buClr>
                <a:srgbClr val="0000CC"/>
              </a:buClr>
              <a:buSzPct val="75000"/>
            </a:pPr>
            <a:r>
              <a:rPr lang="en-US" altLang="zh-CN" sz="2400" dirty="0">
                <a:latin typeface="楷体_GB2312"/>
                <a:ea typeface="楷体_GB2312"/>
              </a:rPr>
              <a:t>8259A</a:t>
            </a:r>
            <a:r>
              <a:rPr lang="zh-CN" altLang="en-US" sz="2400" dirty="0">
                <a:latin typeface="楷体_GB2312"/>
                <a:ea typeface="楷体_GB2312"/>
              </a:rPr>
              <a:t>有两个</a:t>
            </a:r>
            <a:r>
              <a:rPr lang="en-US" altLang="zh-CN" sz="2400" dirty="0">
                <a:latin typeface="楷体_GB2312"/>
                <a:ea typeface="楷体_GB2312"/>
              </a:rPr>
              <a:t>I/O</a:t>
            </a:r>
            <a:r>
              <a:rPr lang="zh-CN" altLang="en-US" sz="2400" dirty="0">
                <a:latin typeface="楷体_GB2312"/>
                <a:ea typeface="楷体_GB2312"/>
              </a:rPr>
              <a:t>端口地址，寄存器的读写均通过这两个端口实现</a:t>
            </a:r>
            <a:r>
              <a:rPr lang="en-US" altLang="zh-CN" sz="2400" dirty="0">
                <a:latin typeface="楷体_GB2312"/>
                <a:ea typeface="楷体_GB2312"/>
              </a:rPr>
              <a:t>,</a:t>
            </a:r>
            <a:r>
              <a:rPr lang="zh-CN" altLang="en-US" sz="2400" dirty="0">
                <a:latin typeface="楷体_GB2312"/>
                <a:ea typeface="楷体_GB2312"/>
              </a:rPr>
              <a:t>根据写入数据的特征位和写入的先后顺序区分是对哪个寄存器进行操作</a:t>
            </a:r>
            <a:endParaRPr lang="zh-CN" altLang="en-US" sz="2400" dirty="0">
              <a:latin typeface="楷体_GB2312"/>
              <a:ea typeface="楷体_GB2312"/>
            </a:endParaRPr>
          </a:p>
          <a:p>
            <a:pPr marL="342900" lvl="0" indent="-342900">
              <a:lnSpc>
                <a:spcPct val="100000"/>
              </a:lnSpc>
              <a:spcBef>
                <a:spcPct val="50000"/>
              </a:spcBef>
              <a:spcAft>
                <a:spcPct val="0"/>
              </a:spcAft>
              <a:buClr>
                <a:srgbClr val="0000CC"/>
              </a:buClr>
              <a:buSzPct val="75000"/>
            </a:pPr>
            <a:endParaRPr lang="zh-CN" altLang="en-US" sz="2400" dirty="0">
              <a:ea typeface="楷体_GB2312"/>
            </a:endParaRPr>
          </a:p>
        </p:txBody>
      </p:sp>
      <p:sp>
        <p:nvSpPr>
          <p:cNvPr id="225331" name="Line 51"/>
          <p:cNvSpPr/>
          <p:nvPr/>
        </p:nvSpPr>
        <p:spPr>
          <a:xfrm flipV="1">
            <a:off x="1260475" y="1951038"/>
            <a:ext cx="358775" cy="0"/>
          </a:xfrm>
          <a:prstGeom prst="line">
            <a:avLst/>
          </a:prstGeom>
          <a:ln w="9525" cap="flat" cmpd="sng">
            <a:solidFill>
              <a:schemeClr val="tx1"/>
            </a:solidFill>
            <a:prstDash val="solid"/>
            <a:bevel/>
            <a:headEnd type="none" w="med" len="med"/>
            <a:tailEnd type="none" w="med" len="med"/>
          </a:ln>
        </p:spPr>
      </p:sp>
      <p:sp>
        <p:nvSpPr>
          <p:cNvPr id="225332" name="Line 52"/>
          <p:cNvSpPr/>
          <p:nvPr/>
        </p:nvSpPr>
        <p:spPr>
          <a:xfrm>
            <a:off x="2339975" y="1960563"/>
            <a:ext cx="433388" cy="0"/>
          </a:xfrm>
          <a:prstGeom prst="line">
            <a:avLst/>
          </a:prstGeom>
          <a:ln w="9525" cap="flat" cmpd="sng">
            <a:solidFill>
              <a:schemeClr val="tx1"/>
            </a:solidFill>
            <a:prstDash val="solid"/>
            <a:bevel/>
            <a:headEnd type="none" w="med" len="med"/>
            <a:tailEnd type="none" w="med" len="med"/>
          </a:ln>
        </p:spPr>
      </p:sp>
      <p:sp>
        <p:nvSpPr>
          <p:cNvPr id="225333" name="Line 52"/>
          <p:cNvSpPr/>
          <p:nvPr/>
        </p:nvSpPr>
        <p:spPr>
          <a:xfrm>
            <a:off x="2987675" y="1954213"/>
            <a:ext cx="431800" cy="0"/>
          </a:xfrm>
          <a:prstGeom prst="line">
            <a:avLst/>
          </a:prstGeom>
          <a:ln w="9525" cap="flat" cmpd="sng">
            <a:solidFill>
              <a:schemeClr val="tx1"/>
            </a:solidFill>
            <a:prstDash val="solid"/>
            <a:bevel/>
            <a:headEnd type="none" w="med" len="med"/>
            <a:tailEnd type="none" w="med" len="med"/>
          </a:ln>
        </p:spPr>
      </p:sp>
    </p:spTree>
  </p:cSld>
  <p:clrMapOvr>
    <a:masterClrMapping/>
  </p:clrMapOvr>
  <p:transition spd="slow">
    <p:pull dir="ru"/>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26307" name="Rectangle 2"/>
          <p:cNvSpPr>
            <a:spLocks noGrp="1" noRot="1"/>
          </p:cNvSpPr>
          <p:nvPr>
            <p:ph type="title" idx="4294967295"/>
          </p:nvPr>
        </p:nvSpPr>
        <p:spPr/>
        <p:txBody>
          <a:bodyPr vert="horz" wrap="square" lIns="91440" tIns="45720" rIns="91440" bIns="45720" anchor="b" anchorCtr="0"/>
          <a:p>
            <a:pPr eaLnBrk="1" hangingPunct="1"/>
            <a:r>
              <a:rPr lang="en-GB" altLang="en-US" dirty="0"/>
              <a:t>8259A</a:t>
            </a:r>
            <a:r>
              <a:rPr lang="zh-CN" altLang="en-US" dirty="0"/>
              <a:t>的初始化顺序 </a:t>
            </a:r>
            <a:endParaRPr lang="zh-CN" altLang="en-US" dirty="0"/>
          </a:p>
        </p:txBody>
      </p:sp>
      <p:sp>
        <p:nvSpPr>
          <p:cNvPr id="226308" name="Rectangle 3"/>
          <p:cNvSpPr>
            <a:spLocks noGrp="1" noRot="1"/>
          </p:cNvSpPr>
          <p:nvPr>
            <p:ph type="body" idx="4294967295"/>
          </p:nvPr>
        </p:nvSpPr>
        <p:spPr>
          <a:xfrm>
            <a:off x="420688" y="1954213"/>
            <a:ext cx="4367212" cy="1152525"/>
          </a:xfrm>
        </p:spPr>
        <p:txBody>
          <a:bodyPr vert="horz" wrap="square" lIns="91440" tIns="45720" rIns="91440" bIns="45720" anchor="t" anchorCtr="0"/>
          <a:p>
            <a:pPr eaLnBrk="1" hangingPunct="1"/>
            <a:r>
              <a:rPr lang="en-US" altLang="zh-CN" dirty="0"/>
              <a:t>8259</a:t>
            </a:r>
            <a:r>
              <a:rPr lang="zh-CN" altLang="en-US" dirty="0"/>
              <a:t>的初始化流程如图</a:t>
            </a:r>
            <a:endParaRPr lang="zh-CN" altLang="en-US" dirty="0"/>
          </a:p>
          <a:p>
            <a:pPr lvl="1" eaLnBrk="1" hangingPunct="1"/>
            <a:r>
              <a:rPr lang="zh-CN" altLang="en-US" dirty="0"/>
              <a:t>注意次序不可颠倒 </a:t>
            </a:r>
            <a:endParaRPr lang="zh-CN" altLang="en-US" dirty="0"/>
          </a:p>
        </p:txBody>
      </p:sp>
      <p:sp>
        <p:nvSpPr>
          <p:cNvPr id="226309" name="AutoShape 4"/>
          <p:cNvSpPr/>
          <p:nvPr/>
        </p:nvSpPr>
        <p:spPr>
          <a:xfrm>
            <a:off x="5183188" y="1995488"/>
            <a:ext cx="2557462" cy="406400"/>
          </a:xfrm>
          <a:prstGeom prst="flowChartProcess">
            <a:avLst/>
          </a:prstGeom>
          <a:solidFill>
            <a:srgbClr val="00FFCC"/>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800" dirty="0">
                <a:solidFill>
                  <a:schemeClr val="tx1"/>
                </a:solidFill>
                <a:ea typeface="楷体_GB2312"/>
              </a:rPr>
              <a:t>写</a:t>
            </a:r>
            <a:r>
              <a:rPr lang="en-US" altLang="zh-CN" sz="1800" dirty="0">
                <a:solidFill>
                  <a:schemeClr val="tx1"/>
                </a:solidFill>
                <a:ea typeface="楷体_GB2312"/>
              </a:rPr>
              <a:t>ICW1</a:t>
            </a:r>
            <a:endParaRPr lang="en-US" altLang="zh-CN" sz="1800" dirty="0">
              <a:solidFill>
                <a:schemeClr val="tx1"/>
              </a:solidFill>
              <a:ea typeface="楷体_GB2312"/>
            </a:endParaRPr>
          </a:p>
        </p:txBody>
      </p:sp>
      <p:sp>
        <p:nvSpPr>
          <p:cNvPr id="226310" name="AutoShape 5"/>
          <p:cNvSpPr/>
          <p:nvPr/>
        </p:nvSpPr>
        <p:spPr>
          <a:xfrm>
            <a:off x="5183188" y="2674938"/>
            <a:ext cx="2557462" cy="406400"/>
          </a:xfrm>
          <a:prstGeom prst="flowChartProcess">
            <a:avLst/>
          </a:prstGeom>
          <a:solidFill>
            <a:srgbClr val="00FFCC"/>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800" dirty="0">
                <a:solidFill>
                  <a:schemeClr val="tx1"/>
                </a:solidFill>
                <a:ea typeface="楷体_GB2312"/>
              </a:rPr>
              <a:t>写</a:t>
            </a:r>
            <a:r>
              <a:rPr lang="en-US" altLang="zh-CN" sz="1800" dirty="0">
                <a:solidFill>
                  <a:schemeClr val="tx1"/>
                </a:solidFill>
                <a:ea typeface="楷体_GB2312"/>
              </a:rPr>
              <a:t>ICW2</a:t>
            </a:r>
            <a:endParaRPr lang="en-US" altLang="zh-CN" sz="1800" dirty="0">
              <a:solidFill>
                <a:schemeClr val="tx1"/>
              </a:solidFill>
              <a:ea typeface="楷体_GB2312"/>
            </a:endParaRPr>
          </a:p>
        </p:txBody>
      </p:sp>
      <p:sp>
        <p:nvSpPr>
          <p:cNvPr id="226311" name="AutoShape 6"/>
          <p:cNvSpPr/>
          <p:nvPr/>
        </p:nvSpPr>
        <p:spPr>
          <a:xfrm>
            <a:off x="5183188" y="3352800"/>
            <a:ext cx="2557462" cy="406400"/>
          </a:xfrm>
          <a:prstGeom prst="flowChartDecision">
            <a:avLst/>
          </a:prstGeom>
          <a:solidFill>
            <a:srgbClr val="00FFCC"/>
          </a:solidFill>
          <a:ln w="9525" cap="flat" cmpd="sng">
            <a:solidFill>
              <a:srgbClr val="000000"/>
            </a:solidFill>
            <a:prstDash val="solid"/>
            <a:miter/>
            <a:headEnd type="none" w="med" len="med"/>
            <a:tailEnd type="none" w="med" len="med"/>
          </a:ln>
        </p:spPr>
        <p:txBody>
          <a:bodyPr t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90000"/>
              </a:lnSpc>
              <a:spcBef>
                <a:spcPct val="0"/>
              </a:spcBef>
              <a:spcAft>
                <a:spcPct val="0"/>
              </a:spcAft>
              <a:buClr>
                <a:srgbClr val="0000CC"/>
              </a:buClr>
              <a:buSzPct val="75000"/>
              <a:buNone/>
            </a:pPr>
            <a:r>
              <a:rPr lang="zh-CN" altLang="en-US" sz="1600" dirty="0">
                <a:solidFill>
                  <a:schemeClr val="tx1"/>
                </a:solidFill>
                <a:ea typeface="楷体_GB2312"/>
              </a:rPr>
              <a:t>级连？</a:t>
            </a:r>
            <a:endParaRPr lang="zh-CN" altLang="en-US" sz="1600" dirty="0">
              <a:solidFill>
                <a:schemeClr val="tx1"/>
              </a:solidFill>
              <a:ea typeface="楷体_GB2312"/>
            </a:endParaRPr>
          </a:p>
        </p:txBody>
      </p:sp>
      <p:sp>
        <p:nvSpPr>
          <p:cNvPr id="226312" name="AutoShape 7"/>
          <p:cNvSpPr/>
          <p:nvPr/>
        </p:nvSpPr>
        <p:spPr>
          <a:xfrm>
            <a:off x="5183188" y="4030663"/>
            <a:ext cx="2557462" cy="406400"/>
          </a:xfrm>
          <a:prstGeom prst="flowChartProcess">
            <a:avLst/>
          </a:prstGeom>
          <a:solidFill>
            <a:srgbClr val="00FFCC"/>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800" dirty="0">
                <a:solidFill>
                  <a:schemeClr val="tx1"/>
                </a:solidFill>
                <a:ea typeface="楷体_GB2312"/>
              </a:rPr>
              <a:t>写</a:t>
            </a:r>
            <a:r>
              <a:rPr lang="en-US" altLang="zh-CN" sz="1800" dirty="0">
                <a:solidFill>
                  <a:schemeClr val="tx1"/>
                </a:solidFill>
                <a:ea typeface="楷体_GB2312"/>
              </a:rPr>
              <a:t>ICW3</a:t>
            </a:r>
            <a:endParaRPr lang="en-US" altLang="zh-CN" sz="1800" dirty="0">
              <a:solidFill>
                <a:schemeClr val="tx1"/>
              </a:solidFill>
              <a:ea typeface="楷体_GB2312"/>
            </a:endParaRPr>
          </a:p>
        </p:txBody>
      </p:sp>
      <p:sp>
        <p:nvSpPr>
          <p:cNvPr id="226313" name="AutoShape 8"/>
          <p:cNvSpPr/>
          <p:nvPr/>
        </p:nvSpPr>
        <p:spPr>
          <a:xfrm>
            <a:off x="5183188" y="4708525"/>
            <a:ext cx="2557462" cy="406400"/>
          </a:xfrm>
          <a:prstGeom prst="flowChartDecision">
            <a:avLst/>
          </a:prstGeom>
          <a:solidFill>
            <a:srgbClr val="00FFCC"/>
          </a:solidFill>
          <a:ln w="9525" cap="flat" cmpd="sng">
            <a:solidFill>
              <a:srgbClr val="000000"/>
            </a:solidFill>
            <a:prstDash val="solid"/>
            <a:miter/>
            <a:headEnd type="none" w="med" len="med"/>
            <a:tailEnd type="none" w="med" len="med"/>
          </a:ln>
        </p:spPr>
        <p:txBody>
          <a:bodyPr t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90000"/>
              </a:lnSpc>
              <a:spcBef>
                <a:spcPct val="0"/>
              </a:spcBef>
              <a:spcAft>
                <a:spcPct val="0"/>
              </a:spcAft>
              <a:buClr>
                <a:srgbClr val="0000CC"/>
              </a:buClr>
              <a:buSzPct val="75000"/>
              <a:buNone/>
            </a:pPr>
            <a:r>
              <a:rPr lang="zh-CN" altLang="en-US" sz="1600" dirty="0">
                <a:solidFill>
                  <a:schemeClr val="tx1"/>
                </a:solidFill>
                <a:ea typeface="楷体_GB2312"/>
              </a:rPr>
              <a:t>需</a:t>
            </a:r>
            <a:r>
              <a:rPr lang="en-US" altLang="zh-CN" sz="1600" dirty="0">
                <a:solidFill>
                  <a:schemeClr val="tx1"/>
                </a:solidFill>
                <a:ea typeface="楷体_GB2312"/>
              </a:rPr>
              <a:t>ICW4?</a:t>
            </a:r>
            <a:endParaRPr lang="en-US" altLang="zh-CN" sz="1600" dirty="0">
              <a:solidFill>
                <a:schemeClr val="tx1"/>
              </a:solidFill>
              <a:ea typeface="楷体_GB2312"/>
            </a:endParaRPr>
          </a:p>
        </p:txBody>
      </p:sp>
      <p:sp>
        <p:nvSpPr>
          <p:cNvPr id="226314" name="AutoShape 9"/>
          <p:cNvSpPr/>
          <p:nvPr/>
        </p:nvSpPr>
        <p:spPr>
          <a:xfrm>
            <a:off x="5183188" y="5387975"/>
            <a:ext cx="2557462" cy="406400"/>
          </a:xfrm>
          <a:prstGeom prst="flowChartProcess">
            <a:avLst/>
          </a:prstGeom>
          <a:solidFill>
            <a:srgbClr val="00FFCC"/>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zh-CN" altLang="en-US" sz="1800" dirty="0">
                <a:solidFill>
                  <a:schemeClr val="tx1"/>
                </a:solidFill>
                <a:ea typeface="楷体_GB2312"/>
              </a:rPr>
              <a:t>写</a:t>
            </a:r>
            <a:r>
              <a:rPr lang="en-US" altLang="zh-CN" sz="1800" dirty="0">
                <a:solidFill>
                  <a:schemeClr val="tx1"/>
                </a:solidFill>
                <a:ea typeface="楷体_GB2312"/>
              </a:rPr>
              <a:t>ICW4</a:t>
            </a:r>
            <a:endParaRPr lang="en-US" altLang="zh-CN" sz="1800" dirty="0">
              <a:solidFill>
                <a:schemeClr val="tx1"/>
              </a:solidFill>
              <a:ea typeface="楷体_GB2312"/>
            </a:endParaRPr>
          </a:p>
        </p:txBody>
      </p:sp>
      <p:sp>
        <p:nvSpPr>
          <p:cNvPr id="226315" name="Line 10"/>
          <p:cNvSpPr/>
          <p:nvPr/>
        </p:nvSpPr>
        <p:spPr>
          <a:xfrm>
            <a:off x="6462713" y="2401888"/>
            <a:ext cx="0" cy="273050"/>
          </a:xfrm>
          <a:prstGeom prst="line">
            <a:avLst/>
          </a:prstGeom>
          <a:ln w="9525" cap="flat" cmpd="sng">
            <a:solidFill>
              <a:srgbClr val="000000"/>
            </a:solidFill>
            <a:prstDash val="solid"/>
            <a:bevel/>
            <a:headEnd type="none" w="med" len="med"/>
            <a:tailEnd type="triangle" w="sm" len="med"/>
          </a:ln>
        </p:spPr>
      </p:sp>
      <p:sp>
        <p:nvSpPr>
          <p:cNvPr id="226316" name="Line 11"/>
          <p:cNvSpPr/>
          <p:nvPr/>
        </p:nvSpPr>
        <p:spPr>
          <a:xfrm>
            <a:off x="6462713" y="3759200"/>
            <a:ext cx="0" cy="271463"/>
          </a:xfrm>
          <a:prstGeom prst="line">
            <a:avLst/>
          </a:prstGeom>
          <a:ln w="9525" cap="flat" cmpd="sng">
            <a:solidFill>
              <a:srgbClr val="000000"/>
            </a:solidFill>
            <a:prstDash val="solid"/>
            <a:bevel/>
            <a:headEnd type="none" w="med" len="med"/>
            <a:tailEnd type="triangle" w="sm" len="med"/>
          </a:ln>
        </p:spPr>
      </p:sp>
      <p:sp>
        <p:nvSpPr>
          <p:cNvPr id="226317" name="Line 12"/>
          <p:cNvSpPr/>
          <p:nvPr/>
        </p:nvSpPr>
        <p:spPr>
          <a:xfrm>
            <a:off x="6462713" y="3081338"/>
            <a:ext cx="0" cy="271462"/>
          </a:xfrm>
          <a:prstGeom prst="line">
            <a:avLst/>
          </a:prstGeom>
          <a:ln w="9525" cap="flat" cmpd="sng">
            <a:solidFill>
              <a:srgbClr val="000000"/>
            </a:solidFill>
            <a:prstDash val="solid"/>
            <a:bevel/>
            <a:headEnd type="none" w="med" len="med"/>
            <a:tailEnd type="triangle" w="sm" len="med"/>
          </a:ln>
        </p:spPr>
      </p:sp>
      <p:sp>
        <p:nvSpPr>
          <p:cNvPr id="226318" name="Line 13"/>
          <p:cNvSpPr/>
          <p:nvPr/>
        </p:nvSpPr>
        <p:spPr>
          <a:xfrm>
            <a:off x="6462713" y="4437063"/>
            <a:ext cx="0" cy="271462"/>
          </a:xfrm>
          <a:prstGeom prst="line">
            <a:avLst/>
          </a:prstGeom>
          <a:ln w="9525" cap="flat" cmpd="sng">
            <a:solidFill>
              <a:srgbClr val="000000"/>
            </a:solidFill>
            <a:prstDash val="solid"/>
            <a:bevel/>
            <a:headEnd type="none" w="med" len="med"/>
            <a:tailEnd type="triangle" w="sm" len="med"/>
          </a:ln>
        </p:spPr>
      </p:sp>
      <p:sp>
        <p:nvSpPr>
          <p:cNvPr id="226319" name="Line 14"/>
          <p:cNvSpPr/>
          <p:nvPr/>
        </p:nvSpPr>
        <p:spPr>
          <a:xfrm>
            <a:off x="6462713" y="5114925"/>
            <a:ext cx="0" cy="273050"/>
          </a:xfrm>
          <a:prstGeom prst="line">
            <a:avLst/>
          </a:prstGeom>
          <a:ln w="9525" cap="flat" cmpd="sng">
            <a:solidFill>
              <a:srgbClr val="000000"/>
            </a:solidFill>
            <a:prstDash val="solid"/>
            <a:bevel/>
            <a:headEnd type="none" w="med" len="med"/>
            <a:tailEnd type="triangle" w="sm" len="med"/>
          </a:ln>
        </p:spPr>
      </p:sp>
      <p:sp>
        <p:nvSpPr>
          <p:cNvPr id="226320" name="Line 15"/>
          <p:cNvSpPr/>
          <p:nvPr/>
        </p:nvSpPr>
        <p:spPr>
          <a:xfrm flipH="1">
            <a:off x="4529138" y="4913313"/>
            <a:ext cx="647700" cy="0"/>
          </a:xfrm>
          <a:prstGeom prst="line">
            <a:avLst/>
          </a:prstGeom>
          <a:ln w="9525" cap="flat" cmpd="sng">
            <a:solidFill>
              <a:srgbClr val="000000"/>
            </a:solidFill>
            <a:prstDash val="solid"/>
            <a:bevel/>
            <a:headEnd type="none" w="med" len="med"/>
            <a:tailEnd type="none" w="med" len="med"/>
          </a:ln>
        </p:spPr>
      </p:sp>
      <p:sp>
        <p:nvSpPr>
          <p:cNvPr id="226321" name="Line 16"/>
          <p:cNvSpPr/>
          <p:nvPr/>
        </p:nvSpPr>
        <p:spPr>
          <a:xfrm>
            <a:off x="4529138" y="4913313"/>
            <a:ext cx="0" cy="1028700"/>
          </a:xfrm>
          <a:prstGeom prst="line">
            <a:avLst/>
          </a:prstGeom>
          <a:ln w="9525" cap="flat" cmpd="sng">
            <a:solidFill>
              <a:srgbClr val="000000"/>
            </a:solidFill>
            <a:prstDash val="solid"/>
            <a:bevel/>
            <a:headEnd type="none" w="med" len="med"/>
            <a:tailEnd type="none" w="med" len="med"/>
          </a:ln>
        </p:spPr>
      </p:sp>
      <p:sp>
        <p:nvSpPr>
          <p:cNvPr id="226322" name="Line 17"/>
          <p:cNvSpPr/>
          <p:nvPr/>
        </p:nvSpPr>
        <p:spPr>
          <a:xfrm>
            <a:off x="4529138" y="4581525"/>
            <a:ext cx="1908175" cy="0"/>
          </a:xfrm>
          <a:prstGeom prst="line">
            <a:avLst/>
          </a:prstGeom>
          <a:ln w="9525" cap="flat" cmpd="sng">
            <a:solidFill>
              <a:srgbClr val="000000"/>
            </a:solidFill>
            <a:prstDash val="solid"/>
            <a:bevel/>
            <a:headEnd type="none" w="med" len="med"/>
            <a:tailEnd type="triangle" w="sm" len="med"/>
          </a:ln>
        </p:spPr>
      </p:sp>
      <p:sp>
        <p:nvSpPr>
          <p:cNvPr id="226323" name="Line 18"/>
          <p:cNvSpPr/>
          <p:nvPr/>
        </p:nvSpPr>
        <p:spPr>
          <a:xfrm>
            <a:off x="6462713" y="5794375"/>
            <a:ext cx="12700" cy="442913"/>
          </a:xfrm>
          <a:prstGeom prst="line">
            <a:avLst/>
          </a:prstGeom>
          <a:ln w="9525" cap="flat" cmpd="sng">
            <a:solidFill>
              <a:srgbClr val="000000"/>
            </a:solidFill>
            <a:prstDash val="solid"/>
            <a:bevel/>
            <a:headEnd type="none" w="med" len="med"/>
            <a:tailEnd type="triangle" w="sm" len="med"/>
          </a:ln>
        </p:spPr>
      </p:sp>
      <p:sp>
        <p:nvSpPr>
          <p:cNvPr id="226324" name="Text Box 19"/>
          <p:cNvSpPr txBox="1"/>
          <p:nvPr/>
        </p:nvSpPr>
        <p:spPr>
          <a:xfrm>
            <a:off x="4778375" y="3306763"/>
            <a:ext cx="344488" cy="29527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800" dirty="0">
                <a:solidFill>
                  <a:schemeClr val="tx1"/>
                </a:solidFill>
                <a:ea typeface="楷体_GB2312"/>
              </a:rPr>
              <a:t>N</a:t>
            </a:r>
            <a:endParaRPr lang="en-US" altLang="zh-CN" sz="1800" dirty="0">
              <a:solidFill>
                <a:schemeClr val="tx1"/>
              </a:solidFill>
              <a:ea typeface="楷体_GB2312"/>
            </a:endParaRPr>
          </a:p>
        </p:txBody>
      </p:sp>
      <p:sp>
        <p:nvSpPr>
          <p:cNvPr id="226325" name="Text Box 20"/>
          <p:cNvSpPr txBox="1"/>
          <p:nvPr/>
        </p:nvSpPr>
        <p:spPr>
          <a:xfrm>
            <a:off x="4787900" y="4670425"/>
            <a:ext cx="344488" cy="29527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800" dirty="0">
                <a:solidFill>
                  <a:schemeClr val="tx1"/>
                </a:solidFill>
                <a:ea typeface="楷体_GB2312"/>
              </a:rPr>
              <a:t>N</a:t>
            </a:r>
            <a:endParaRPr lang="en-US" altLang="zh-CN" sz="1800" dirty="0">
              <a:solidFill>
                <a:schemeClr val="tx1"/>
              </a:solidFill>
              <a:ea typeface="楷体_GB2312"/>
            </a:endParaRPr>
          </a:p>
        </p:txBody>
      </p:sp>
      <p:sp>
        <p:nvSpPr>
          <p:cNvPr id="226326" name="Line 21"/>
          <p:cNvSpPr/>
          <p:nvPr/>
        </p:nvSpPr>
        <p:spPr>
          <a:xfrm>
            <a:off x="6475413" y="1700213"/>
            <a:ext cx="0" cy="295275"/>
          </a:xfrm>
          <a:prstGeom prst="line">
            <a:avLst/>
          </a:prstGeom>
          <a:ln w="9525" cap="flat" cmpd="sng">
            <a:solidFill>
              <a:srgbClr val="000000"/>
            </a:solidFill>
            <a:prstDash val="solid"/>
            <a:bevel/>
            <a:headEnd type="none" w="med" len="med"/>
            <a:tailEnd type="triangle" w="sm" len="med"/>
          </a:ln>
        </p:spPr>
      </p:sp>
      <p:sp>
        <p:nvSpPr>
          <p:cNvPr id="226327" name="Line 22"/>
          <p:cNvSpPr/>
          <p:nvPr/>
        </p:nvSpPr>
        <p:spPr>
          <a:xfrm flipH="1">
            <a:off x="4529138" y="3559175"/>
            <a:ext cx="647700" cy="0"/>
          </a:xfrm>
          <a:prstGeom prst="line">
            <a:avLst/>
          </a:prstGeom>
          <a:ln w="9525" cap="flat" cmpd="sng">
            <a:solidFill>
              <a:srgbClr val="000000"/>
            </a:solidFill>
            <a:prstDash val="solid"/>
            <a:bevel/>
            <a:headEnd type="none" w="med" len="med"/>
            <a:tailEnd type="none" w="med" len="med"/>
          </a:ln>
        </p:spPr>
      </p:sp>
      <p:sp>
        <p:nvSpPr>
          <p:cNvPr id="226328" name="Line 23"/>
          <p:cNvSpPr/>
          <p:nvPr/>
        </p:nvSpPr>
        <p:spPr>
          <a:xfrm>
            <a:off x="4529138" y="3559175"/>
            <a:ext cx="0" cy="1025525"/>
          </a:xfrm>
          <a:prstGeom prst="line">
            <a:avLst/>
          </a:prstGeom>
          <a:ln w="9525" cap="flat" cmpd="sng">
            <a:solidFill>
              <a:srgbClr val="000000"/>
            </a:solidFill>
            <a:prstDash val="solid"/>
            <a:bevel/>
            <a:headEnd type="none" w="med" len="med"/>
            <a:tailEnd type="none" w="med" len="med"/>
          </a:ln>
        </p:spPr>
      </p:sp>
      <p:sp>
        <p:nvSpPr>
          <p:cNvPr id="226329" name="Line 24"/>
          <p:cNvSpPr/>
          <p:nvPr/>
        </p:nvSpPr>
        <p:spPr>
          <a:xfrm>
            <a:off x="4543425" y="5949950"/>
            <a:ext cx="1908175" cy="0"/>
          </a:xfrm>
          <a:prstGeom prst="line">
            <a:avLst/>
          </a:prstGeom>
          <a:ln w="9525" cap="flat" cmpd="sng">
            <a:solidFill>
              <a:srgbClr val="000000"/>
            </a:solidFill>
            <a:prstDash val="solid"/>
            <a:bevel/>
            <a:headEnd type="none" w="med" len="med"/>
            <a:tailEnd type="triangle" w="sm" len="med"/>
          </a:ln>
        </p:spPr>
      </p:sp>
      <p:sp>
        <p:nvSpPr>
          <p:cNvPr id="226330" name="Text Box 25"/>
          <p:cNvSpPr txBox="1"/>
          <p:nvPr/>
        </p:nvSpPr>
        <p:spPr>
          <a:xfrm>
            <a:off x="6516688" y="3744913"/>
            <a:ext cx="344487" cy="29527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800" dirty="0">
                <a:solidFill>
                  <a:schemeClr val="tx1"/>
                </a:solidFill>
                <a:ea typeface="楷体_GB2312"/>
              </a:rPr>
              <a:t>Y</a:t>
            </a:r>
            <a:endParaRPr lang="en-US" altLang="zh-CN" sz="1800" dirty="0">
              <a:solidFill>
                <a:schemeClr val="tx1"/>
              </a:solidFill>
              <a:ea typeface="楷体_GB2312"/>
            </a:endParaRPr>
          </a:p>
        </p:txBody>
      </p:sp>
      <p:sp>
        <p:nvSpPr>
          <p:cNvPr id="226331" name="Text Box 26"/>
          <p:cNvSpPr txBox="1"/>
          <p:nvPr/>
        </p:nvSpPr>
        <p:spPr>
          <a:xfrm>
            <a:off x="6516688" y="5113338"/>
            <a:ext cx="344487" cy="29527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
                <a:srgbClr val="0000CC"/>
              </a:buClr>
              <a:buSzPct val="75000"/>
              <a:buNone/>
            </a:pPr>
            <a:r>
              <a:rPr lang="en-US" altLang="zh-CN" sz="1800" dirty="0">
                <a:solidFill>
                  <a:schemeClr val="tx1"/>
                </a:solidFill>
                <a:ea typeface="楷体_GB2312"/>
              </a:rPr>
              <a:t>Y</a:t>
            </a:r>
            <a:endParaRPr lang="en-US" altLang="zh-CN" sz="1800" dirty="0">
              <a:solidFill>
                <a:schemeClr val="tx1"/>
              </a:solidFill>
              <a:ea typeface="楷体_GB2312"/>
            </a:endParaRPr>
          </a:p>
        </p:txBody>
      </p:sp>
      <p:sp>
        <p:nvSpPr>
          <p:cNvPr id="226332" name="矩形 1"/>
          <p:cNvSpPr/>
          <p:nvPr/>
        </p:nvSpPr>
        <p:spPr>
          <a:xfrm>
            <a:off x="409575" y="3000375"/>
            <a:ext cx="4183063" cy="34163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20000"/>
              </a:lnSpc>
              <a:spcBef>
                <a:spcPct val="0"/>
              </a:spcBef>
              <a:spcAft>
                <a:spcPct val="0"/>
              </a:spcAft>
              <a:buClrTx/>
              <a:buSzTx/>
              <a:buFont typeface="Arial" panose="020B0604020202020204" pitchFamily="34" charset="0"/>
              <a:buNone/>
            </a:pPr>
            <a:r>
              <a:rPr lang="zh-CN" altLang="en-US" sz="2000" b="0" dirty="0">
                <a:solidFill>
                  <a:schemeClr val="tx1"/>
                </a:solidFill>
                <a:ea typeface="楷体_GB2312"/>
              </a:rPr>
              <a:t>初始化</a:t>
            </a:r>
            <a:r>
              <a:rPr lang="en-GB" altLang="en-US" sz="2000" b="0" dirty="0">
                <a:solidFill>
                  <a:schemeClr val="tx1"/>
                </a:solidFill>
                <a:ea typeface="楷体_GB2312"/>
              </a:rPr>
              <a:t>8259A</a:t>
            </a:r>
            <a:r>
              <a:rPr lang="zh-CN" altLang="en-US" sz="2000" b="0" dirty="0">
                <a:solidFill>
                  <a:schemeClr val="tx1"/>
                </a:solidFill>
                <a:ea typeface="楷体_GB2312"/>
              </a:rPr>
              <a:t>必须从</a:t>
            </a:r>
            <a:r>
              <a:rPr lang="en-GB" altLang="en-US" sz="2000" b="0" dirty="0">
                <a:solidFill>
                  <a:schemeClr val="tx1"/>
                </a:solidFill>
                <a:ea typeface="楷体_GB2312"/>
              </a:rPr>
              <a:t>ICW1</a:t>
            </a:r>
            <a:r>
              <a:rPr lang="zh-CN" altLang="en-US" sz="2000" b="0" dirty="0">
                <a:solidFill>
                  <a:schemeClr val="tx1"/>
                </a:solidFill>
                <a:ea typeface="楷体_GB2312"/>
              </a:rPr>
              <a:t>开始，</a:t>
            </a:r>
            <a:endParaRPr lang="en-US" altLang="zh-CN" sz="2000" b="0" dirty="0">
              <a:solidFill>
                <a:schemeClr val="tx1"/>
              </a:solidFill>
              <a:ea typeface="楷体_GB2312"/>
            </a:endParaRPr>
          </a:p>
          <a:p>
            <a:pPr marL="0" lvl="0" indent="0">
              <a:lnSpc>
                <a:spcPct val="120000"/>
              </a:lnSpc>
              <a:spcBef>
                <a:spcPct val="0"/>
              </a:spcBef>
              <a:spcAft>
                <a:spcPct val="0"/>
              </a:spcAft>
              <a:buClrTx/>
              <a:buSzTx/>
              <a:buFont typeface="Arial" panose="020B0604020202020204" pitchFamily="34" charset="0"/>
              <a:buNone/>
            </a:pPr>
            <a:r>
              <a:rPr lang="zh-CN" altLang="en-US" sz="2000" b="0" dirty="0">
                <a:solidFill>
                  <a:schemeClr val="tx1"/>
                </a:solidFill>
                <a:ea typeface="楷体_GB2312"/>
              </a:rPr>
              <a:t>写</a:t>
            </a:r>
            <a:r>
              <a:rPr lang="en-GB" altLang="en-US" sz="2000" b="0" dirty="0">
                <a:solidFill>
                  <a:schemeClr val="tx1"/>
                </a:solidFill>
                <a:ea typeface="楷体_GB2312"/>
              </a:rPr>
              <a:t>ICW1</a:t>
            </a:r>
            <a:r>
              <a:rPr lang="zh-CN" altLang="en-US" sz="2000" b="0" dirty="0">
                <a:solidFill>
                  <a:schemeClr val="tx1"/>
                </a:solidFill>
                <a:ea typeface="楷体_GB2312"/>
              </a:rPr>
              <a:t>意味着重新初始化</a:t>
            </a:r>
            <a:r>
              <a:rPr lang="en-GB" altLang="en-US" sz="2000" b="0" dirty="0">
                <a:solidFill>
                  <a:schemeClr val="tx1"/>
                </a:solidFill>
                <a:ea typeface="楷体_GB2312"/>
              </a:rPr>
              <a:t>8259A</a:t>
            </a:r>
            <a:r>
              <a:rPr lang="zh-CN" altLang="en-US" sz="2000" b="0" dirty="0">
                <a:solidFill>
                  <a:schemeClr val="tx1"/>
                </a:solidFill>
                <a:ea typeface="楷体_GB2312"/>
              </a:rPr>
              <a:t>，</a:t>
            </a:r>
            <a:endParaRPr lang="en-GB" altLang="en-US" sz="2000" b="0" dirty="0">
              <a:solidFill>
                <a:schemeClr val="tx1"/>
              </a:solidFill>
              <a:ea typeface="楷体_GB2312"/>
            </a:endParaRPr>
          </a:p>
          <a:p>
            <a:pPr marL="0" lvl="0" indent="0">
              <a:lnSpc>
                <a:spcPct val="120000"/>
              </a:lnSpc>
              <a:spcBef>
                <a:spcPct val="0"/>
              </a:spcBef>
              <a:spcAft>
                <a:spcPct val="0"/>
              </a:spcAft>
              <a:buClrTx/>
              <a:buSzTx/>
              <a:buFont typeface="Arial" panose="020B0604020202020204" pitchFamily="34" charset="0"/>
              <a:buNone/>
            </a:pPr>
            <a:r>
              <a:rPr lang="zh-CN" altLang="en-US" sz="2000" b="0" dirty="0">
                <a:solidFill>
                  <a:schemeClr val="tx1"/>
                </a:solidFill>
                <a:ea typeface="楷体_GB2312"/>
              </a:rPr>
              <a:t>写入</a:t>
            </a:r>
            <a:r>
              <a:rPr lang="en-GB" altLang="en-US" sz="2000" b="0" dirty="0">
                <a:solidFill>
                  <a:schemeClr val="tx1"/>
                </a:solidFill>
                <a:ea typeface="楷体_GB2312"/>
              </a:rPr>
              <a:t>ICW1</a:t>
            </a:r>
            <a:r>
              <a:rPr lang="zh-CN" altLang="en-US" sz="2000" b="0" dirty="0">
                <a:solidFill>
                  <a:schemeClr val="tx1"/>
                </a:solidFill>
                <a:ea typeface="楷体_GB2312"/>
              </a:rPr>
              <a:t>后，</a:t>
            </a:r>
            <a:r>
              <a:rPr lang="en-GB" altLang="en-US" sz="2000" b="0" dirty="0">
                <a:solidFill>
                  <a:schemeClr val="tx1"/>
                </a:solidFill>
                <a:ea typeface="楷体_GB2312"/>
              </a:rPr>
              <a:t>8259A</a:t>
            </a:r>
            <a:r>
              <a:rPr lang="zh-CN" altLang="en-US" sz="2000" b="0" dirty="0">
                <a:solidFill>
                  <a:schemeClr val="tx1"/>
                </a:solidFill>
                <a:ea typeface="楷体_GB2312"/>
              </a:rPr>
              <a:t>的状态如下：     </a:t>
            </a:r>
            <a:endParaRPr lang="en-US" altLang="zh-CN" sz="2000" b="0" dirty="0">
              <a:solidFill>
                <a:schemeClr val="tx1"/>
              </a:solidFill>
              <a:ea typeface="楷体_GB2312"/>
            </a:endParaRPr>
          </a:p>
          <a:p>
            <a:pPr marL="0" lvl="0" indent="0">
              <a:lnSpc>
                <a:spcPct val="120000"/>
              </a:lnSpc>
              <a:spcBef>
                <a:spcPct val="0"/>
              </a:spcBef>
              <a:spcAft>
                <a:spcPct val="0"/>
              </a:spcAft>
              <a:buClrTx/>
              <a:buSzTx/>
              <a:buFont typeface="Arial" panose="020B0604020202020204" pitchFamily="34" charset="0"/>
              <a:buNone/>
            </a:pPr>
            <a:r>
              <a:rPr lang="en-US" altLang="zh-CN" sz="2000" b="0" dirty="0">
                <a:solidFill>
                  <a:srgbClr val="0000F8"/>
                </a:solidFill>
                <a:ea typeface="楷体_GB2312"/>
              </a:rPr>
              <a:t>       </a:t>
            </a:r>
            <a:r>
              <a:rPr lang="zh-CN" altLang="en-US" sz="2000" b="0" dirty="0">
                <a:solidFill>
                  <a:srgbClr val="0000F8"/>
                </a:solidFill>
                <a:ea typeface="楷体_GB2312"/>
              </a:rPr>
              <a:t>清除</a:t>
            </a:r>
            <a:r>
              <a:rPr lang="en-GB" altLang="en-US" sz="2000" b="0" dirty="0">
                <a:solidFill>
                  <a:srgbClr val="0000F8"/>
                </a:solidFill>
                <a:ea typeface="楷体_GB2312"/>
              </a:rPr>
              <a:t>ISR</a:t>
            </a:r>
            <a:r>
              <a:rPr lang="zh-CN" altLang="en-US" sz="2000" b="0" dirty="0">
                <a:solidFill>
                  <a:srgbClr val="0000F8"/>
                </a:solidFill>
                <a:ea typeface="楷体_GB2312"/>
              </a:rPr>
              <a:t>和</a:t>
            </a:r>
            <a:r>
              <a:rPr lang="en-GB" altLang="en-US" sz="2000" b="0" dirty="0">
                <a:solidFill>
                  <a:srgbClr val="0000F8"/>
                </a:solidFill>
                <a:ea typeface="楷体_GB2312"/>
              </a:rPr>
              <a:t>IMR(</a:t>
            </a:r>
            <a:r>
              <a:rPr lang="zh-CN" altLang="en-US" sz="2000" b="0" dirty="0">
                <a:solidFill>
                  <a:srgbClr val="0000F8"/>
                </a:solidFill>
                <a:ea typeface="楷体_GB2312"/>
              </a:rPr>
              <a:t>全</a:t>
            </a:r>
            <a:r>
              <a:rPr lang="en-GB" altLang="en-US" sz="2000" b="0" dirty="0">
                <a:solidFill>
                  <a:srgbClr val="0000F8"/>
                </a:solidFill>
                <a:ea typeface="楷体_GB2312"/>
              </a:rPr>
              <a:t>0)</a:t>
            </a:r>
            <a:r>
              <a:rPr lang="zh-CN" altLang="en-US" sz="2000" b="0" dirty="0">
                <a:solidFill>
                  <a:srgbClr val="0000F8"/>
                </a:solidFill>
                <a:ea typeface="楷体_GB2312"/>
              </a:rPr>
              <a:t>；</a:t>
            </a:r>
            <a:endParaRPr lang="en-US" altLang="zh-CN" sz="2000" b="0" dirty="0">
              <a:solidFill>
                <a:srgbClr val="0000F8"/>
              </a:solidFill>
              <a:ea typeface="楷体_GB2312"/>
            </a:endParaRPr>
          </a:p>
          <a:p>
            <a:pPr marL="0" lvl="0" indent="0">
              <a:lnSpc>
                <a:spcPct val="120000"/>
              </a:lnSpc>
              <a:spcBef>
                <a:spcPct val="0"/>
              </a:spcBef>
              <a:spcAft>
                <a:spcPct val="0"/>
              </a:spcAft>
              <a:buClrTx/>
              <a:buSzTx/>
              <a:buFont typeface="Arial" panose="020B0604020202020204" pitchFamily="34" charset="0"/>
              <a:buNone/>
            </a:pPr>
            <a:r>
              <a:rPr lang="zh-CN" altLang="en-US" sz="2000" b="0" dirty="0">
                <a:solidFill>
                  <a:srgbClr val="0000F8"/>
                </a:solidFill>
                <a:ea typeface="楷体_GB2312"/>
              </a:rPr>
              <a:t>       将中断优先级设成初始状态：</a:t>
            </a:r>
            <a:endParaRPr lang="en-US" altLang="zh-CN" sz="2000" b="0" dirty="0">
              <a:solidFill>
                <a:srgbClr val="0000F8"/>
              </a:solidFill>
              <a:ea typeface="楷体_GB2312"/>
            </a:endParaRPr>
          </a:p>
          <a:p>
            <a:pPr marL="0" lvl="0" indent="0">
              <a:lnSpc>
                <a:spcPct val="120000"/>
              </a:lnSpc>
              <a:spcBef>
                <a:spcPct val="0"/>
              </a:spcBef>
              <a:spcAft>
                <a:spcPct val="0"/>
              </a:spcAft>
              <a:buClrTx/>
              <a:buSzTx/>
              <a:buFont typeface="Arial" panose="020B0604020202020204" pitchFamily="34" charset="0"/>
              <a:buNone/>
            </a:pPr>
            <a:r>
              <a:rPr lang="en-US" altLang="zh-CN" sz="2000" b="0" dirty="0">
                <a:solidFill>
                  <a:srgbClr val="0000F8"/>
                </a:solidFill>
                <a:ea typeface="楷体_GB2312"/>
              </a:rPr>
              <a:t>              </a:t>
            </a:r>
            <a:r>
              <a:rPr lang="en-GB" altLang="en-US" sz="2000" b="0" dirty="0">
                <a:solidFill>
                  <a:srgbClr val="0000F8"/>
                </a:solidFill>
                <a:ea typeface="楷体_GB2312"/>
              </a:rPr>
              <a:t>IR</a:t>
            </a:r>
            <a:r>
              <a:rPr lang="en-GB" altLang="en-US" sz="2000" b="0" baseline="-20000" dirty="0">
                <a:solidFill>
                  <a:srgbClr val="0000F8"/>
                </a:solidFill>
                <a:ea typeface="楷体_GB2312"/>
              </a:rPr>
              <a:t>0</a:t>
            </a:r>
            <a:r>
              <a:rPr lang="zh-CN" altLang="en-US" sz="2000" b="0" dirty="0">
                <a:solidFill>
                  <a:srgbClr val="0000F8"/>
                </a:solidFill>
                <a:ea typeface="楷体_GB2312"/>
              </a:rPr>
              <a:t>最高，</a:t>
            </a:r>
            <a:r>
              <a:rPr lang="en-GB" altLang="en-US" sz="2000" b="0" dirty="0">
                <a:solidFill>
                  <a:srgbClr val="0000F8"/>
                </a:solidFill>
                <a:ea typeface="楷体_GB2312"/>
              </a:rPr>
              <a:t>IR</a:t>
            </a:r>
            <a:r>
              <a:rPr lang="en-GB" altLang="en-US" sz="2000" b="0" baseline="-20000" dirty="0">
                <a:solidFill>
                  <a:srgbClr val="0000F8"/>
                </a:solidFill>
                <a:ea typeface="楷体_GB2312"/>
              </a:rPr>
              <a:t>7</a:t>
            </a:r>
            <a:r>
              <a:rPr lang="zh-CN" altLang="en-US" sz="2000" b="0" dirty="0">
                <a:solidFill>
                  <a:srgbClr val="0000F8"/>
                </a:solidFill>
                <a:ea typeface="楷体_GB2312"/>
              </a:rPr>
              <a:t>最低；</a:t>
            </a:r>
            <a:endParaRPr lang="zh-CN" altLang="en-US" sz="2000" b="0" dirty="0">
              <a:solidFill>
                <a:srgbClr val="0000F8"/>
              </a:solidFill>
              <a:ea typeface="楷体_GB2312"/>
            </a:endParaRPr>
          </a:p>
          <a:p>
            <a:pPr marL="914400" lvl="2" indent="0" eaLnBrk="1" hangingPunct="1">
              <a:lnSpc>
                <a:spcPct val="120000"/>
              </a:lnSpc>
              <a:spcBef>
                <a:spcPct val="0"/>
              </a:spcBef>
              <a:spcAft>
                <a:spcPct val="0"/>
              </a:spcAft>
              <a:buClrTx/>
              <a:buSzTx/>
              <a:buFont typeface="Arial" panose="020B0604020202020204" pitchFamily="34" charset="0"/>
              <a:buNone/>
            </a:pPr>
            <a:r>
              <a:rPr lang="zh-CN" altLang="en-US" i="1" dirty="0">
                <a:solidFill>
                  <a:srgbClr val="0000F8"/>
                </a:solidFill>
                <a:ea typeface="楷体_GB2312"/>
              </a:rPr>
              <a:t>设定为一般屏蔽方式；</a:t>
            </a:r>
            <a:endParaRPr lang="zh-CN" altLang="en-US" i="1" dirty="0">
              <a:solidFill>
                <a:srgbClr val="0000F8"/>
              </a:solidFill>
              <a:ea typeface="楷体_GB2312"/>
            </a:endParaRPr>
          </a:p>
          <a:p>
            <a:pPr marL="914400" lvl="2" indent="0" eaLnBrk="1" hangingPunct="1">
              <a:lnSpc>
                <a:spcPct val="120000"/>
              </a:lnSpc>
              <a:spcBef>
                <a:spcPct val="0"/>
              </a:spcBef>
              <a:spcAft>
                <a:spcPct val="0"/>
              </a:spcAft>
              <a:buClrTx/>
              <a:buSzTx/>
              <a:buFont typeface="Arial" panose="020B0604020202020204" pitchFamily="34" charset="0"/>
              <a:buNone/>
            </a:pPr>
            <a:r>
              <a:rPr lang="zh-CN" altLang="en-US" i="1" dirty="0">
                <a:solidFill>
                  <a:srgbClr val="0000F8"/>
                </a:solidFill>
                <a:ea typeface="楷体_GB2312"/>
              </a:rPr>
              <a:t>采用非自动中断结束方式；</a:t>
            </a:r>
            <a:endParaRPr lang="zh-CN" altLang="en-US" i="1" dirty="0">
              <a:solidFill>
                <a:srgbClr val="0000F8"/>
              </a:solidFill>
              <a:ea typeface="楷体_GB2312"/>
            </a:endParaRPr>
          </a:p>
          <a:p>
            <a:pPr marL="914400" lvl="2" indent="0" eaLnBrk="1" hangingPunct="1">
              <a:lnSpc>
                <a:spcPct val="120000"/>
              </a:lnSpc>
              <a:spcBef>
                <a:spcPct val="0"/>
              </a:spcBef>
              <a:spcAft>
                <a:spcPct val="0"/>
              </a:spcAft>
              <a:buClrTx/>
              <a:buSzTx/>
              <a:buFont typeface="Arial" panose="020B0604020202020204" pitchFamily="34" charset="0"/>
              <a:buNone/>
            </a:pPr>
            <a:r>
              <a:rPr lang="zh-CN" altLang="en-US" i="1" dirty="0">
                <a:solidFill>
                  <a:srgbClr val="0000F8"/>
                </a:solidFill>
                <a:ea typeface="楷体_GB2312"/>
              </a:rPr>
              <a:t>状态读出逻辑预置为读</a:t>
            </a:r>
            <a:r>
              <a:rPr lang="en-GB" altLang="en-US" i="1" dirty="0">
                <a:solidFill>
                  <a:srgbClr val="0000F8"/>
                </a:solidFill>
                <a:ea typeface="楷体_GB2312"/>
              </a:rPr>
              <a:t>IRR</a:t>
            </a:r>
            <a:r>
              <a:rPr lang="zh-CN" altLang="en-US" i="1" dirty="0">
                <a:solidFill>
                  <a:srgbClr val="0000F8"/>
                </a:solidFill>
                <a:ea typeface="楷体_GB2312"/>
              </a:rPr>
              <a:t>。</a:t>
            </a:r>
            <a:endParaRPr lang="zh-CN" altLang="en-US" i="1" dirty="0">
              <a:solidFill>
                <a:srgbClr val="0000F8"/>
              </a:solidFill>
              <a:ea typeface="楷体_GB2312"/>
            </a:endParaRPr>
          </a:p>
        </p:txBody>
      </p:sp>
    </p:spTree>
  </p:cSld>
  <p:clrMapOvr>
    <a:masterClrMapping/>
  </p:clrMapOvr>
  <p:transition spd="slow">
    <p:zoom/>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7330" name="矩形 1"/>
          <p:cNvSpPr/>
          <p:nvPr/>
        </p:nvSpPr>
        <p:spPr>
          <a:xfrm>
            <a:off x="1116013" y="2565400"/>
            <a:ext cx="6173787" cy="267652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50000"/>
              </a:lnSpc>
              <a:spcBef>
                <a:spcPct val="0"/>
              </a:spcBef>
              <a:spcAft>
                <a:spcPct val="0"/>
              </a:spcAft>
              <a:buClrTx/>
              <a:buSzTx/>
              <a:buFont typeface="Arial" panose="020B0604020202020204" pitchFamily="34" charset="0"/>
              <a:buNone/>
            </a:pPr>
            <a:r>
              <a:rPr lang="en-US" altLang="zh-CN" b="0" dirty="0">
                <a:solidFill>
                  <a:schemeClr val="tx1"/>
                </a:solidFill>
                <a:ea typeface="楷体_GB2312"/>
              </a:rPr>
              <a:t>      ICW1</a:t>
            </a:r>
            <a:r>
              <a:rPr lang="zh-CN" altLang="en-US" b="0" dirty="0">
                <a:solidFill>
                  <a:schemeClr val="tx1"/>
                </a:solidFill>
                <a:ea typeface="楷体_GB2312"/>
              </a:rPr>
              <a:t>：芯片控制初始化命令字</a:t>
            </a:r>
            <a:endParaRPr lang="zh-CN" altLang="en-US" b="0" dirty="0">
              <a:solidFill>
                <a:schemeClr val="tx1"/>
              </a:solidFill>
              <a:ea typeface="楷体_GB2312"/>
            </a:endParaRPr>
          </a:p>
          <a:p>
            <a:pPr marL="0" lvl="0" indent="0">
              <a:lnSpc>
                <a:spcPct val="150000"/>
              </a:lnSpc>
              <a:spcBef>
                <a:spcPct val="0"/>
              </a:spcBef>
              <a:spcAft>
                <a:spcPct val="0"/>
              </a:spcAft>
              <a:buClrTx/>
              <a:buSzTx/>
              <a:buFont typeface="Arial" panose="020B0604020202020204" pitchFamily="34" charset="0"/>
              <a:buNone/>
            </a:pPr>
            <a:r>
              <a:rPr lang="zh-CN" altLang="en-US" b="0" dirty="0">
                <a:solidFill>
                  <a:schemeClr val="tx1"/>
                </a:solidFill>
                <a:ea typeface="楷体_GB2312"/>
              </a:rPr>
              <a:t>      </a:t>
            </a:r>
            <a:r>
              <a:rPr lang="en-US" altLang="zh-CN" b="0" dirty="0">
                <a:solidFill>
                  <a:schemeClr val="tx1"/>
                </a:solidFill>
                <a:ea typeface="楷体_GB2312"/>
              </a:rPr>
              <a:t>ICW2</a:t>
            </a:r>
            <a:r>
              <a:rPr lang="zh-CN" altLang="en-US" b="0" dirty="0">
                <a:solidFill>
                  <a:schemeClr val="tx1"/>
                </a:solidFill>
                <a:ea typeface="楷体_GB2312"/>
              </a:rPr>
              <a:t>：设置中断类型码的</a:t>
            </a:r>
            <a:endParaRPr lang="zh-CN" altLang="en-US" b="0" dirty="0">
              <a:solidFill>
                <a:schemeClr val="tx1"/>
              </a:solidFill>
              <a:ea typeface="楷体_GB2312"/>
            </a:endParaRPr>
          </a:p>
          <a:p>
            <a:pPr marL="0" lvl="0" indent="0">
              <a:lnSpc>
                <a:spcPct val="150000"/>
              </a:lnSpc>
              <a:spcBef>
                <a:spcPct val="0"/>
              </a:spcBef>
              <a:spcAft>
                <a:spcPct val="0"/>
              </a:spcAft>
              <a:buClrTx/>
              <a:buSzTx/>
              <a:buFont typeface="Arial" panose="020B0604020202020204" pitchFamily="34" charset="0"/>
              <a:buNone/>
            </a:pPr>
            <a:r>
              <a:rPr lang="zh-CN" altLang="en-US" b="0" dirty="0">
                <a:solidFill>
                  <a:schemeClr val="tx1"/>
                </a:solidFill>
                <a:ea typeface="楷体_GB2312"/>
              </a:rPr>
              <a:t>      </a:t>
            </a:r>
            <a:r>
              <a:rPr lang="en-US" altLang="zh-CN" b="0" dirty="0">
                <a:solidFill>
                  <a:schemeClr val="tx1"/>
                </a:solidFill>
                <a:ea typeface="楷体_GB2312"/>
              </a:rPr>
              <a:t>ICW3</a:t>
            </a:r>
            <a:r>
              <a:rPr lang="zh-CN" altLang="en-US" b="0" dirty="0">
                <a:solidFill>
                  <a:schemeClr val="tx1"/>
                </a:solidFill>
                <a:ea typeface="楷体_GB2312"/>
              </a:rPr>
              <a:t>：主片</a:t>
            </a:r>
            <a:r>
              <a:rPr lang="en-US" altLang="zh-CN" b="0" dirty="0">
                <a:solidFill>
                  <a:schemeClr val="tx1"/>
                </a:solidFill>
                <a:ea typeface="楷体_GB2312"/>
              </a:rPr>
              <a:t>/</a:t>
            </a:r>
            <a:r>
              <a:rPr lang="zh-CN" altLang="en-US" b="0" dirty="0">
                <a:solidFill>
                  <a:schemeClr val="tx1"/>
                </a:solidFill>
                <a:ea typeface="楷体_GB2312"/>
              </a:rPr>
              <a:t>从片的初始化命令字</a:t>
            </a:r>
            <a:endParaRPr lang="zh-CN" altLang="en-US" b="0" dirty="0">
              <a:solidFill>
                <a:schemeClr val="tx1"/>
              </a:solidFill>
              <a:ea typeface="楷体_GB2312"/>
            </a:endParaRPr>
          </a:p>
          <a:p>
            <a:pPr marL="0" lvl="0" indent="0">
              <a:lnSpc>
                <a:spcPct val="150000"/>
              </a:lnSpc>
              <a:spcBef>
                <a:spcPct val="0"/>
              </a:spcBef>
              <a:spcAft>
                <a:spcPct val="0"/>
              </a:spcAft>
              <a:buClrTx/>
              <a:buSzTx/>
              <a:buFont typeface="Arial" panose="020B0604020202020204" pitchFamily="34" charset="0"/>
              <a:buNone/>
            </a:pPr>
            <a:r>
              <a:rPr lang="zh-CN" altLang="en-US" b="0" dirty="0">
                <a:solidFill>
                  <a:schemeClr val="tx1"/>
                </a:solidFill>
                <a:ea typeface="楷体_GB2312"/>
              </a:rPr>
              <a:t>      </a:t>
            </a:r>
            <a:r>
              <a:rPr lang="en-US" altLang="zh-CN" b="0" dirty="0">
                <a:solidFill>
                  <a:schemeClr val="tx1"/>
                </a:solidFill>
                <a:ea typeface="楷体_GB2312"/>
              </a:rPr>
              <a:t>ICW4</a:t>
            </a:r>
            <a:r>
              <a:rPr lang="zh-CN" altLang="en-US" b="0" dirty="0">
                <a:solidFill>
                  <a:schemeClr val="tx1"/>
                </a:solidFill>
                <a:ea typeface="楷体_GB2312"/>
              </a:rPr>
              <a:t>：方式控制初始化命令字</a:t>
            </a:r>
            <a:endParaRPr lang="zh-CN" altLang="en-US" b="0" dirty="0">
              <a:solidFill>
                <a:schemeClr val="tx1"/>
              </a:solidFill>
              <a:ea typeface="楷体_GB2312"/>
            </a:endParaRPr>
          </a:p>
        </p:txBody>
      </p:sp>
      <p:sp>
        <p:nvSpPr>
          <p:cNvPr id="227331" name="矩形 2"/>
          <p:cNvSpPr/>
          <p:nvPr/>
        </p:nvSpPr>
        <p:spPr>
          <a:xfrm>
            <a:off x="1116013" y="908050"/>
            <a:ext cx="6511925" cy="896938"/>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50000"/>
              </a:lnSpc>
              <a:spcBef>
                <a:spcPct val="0"/>
              </a:spcBef>
              <a:spcAft>
                <a:spcPct val="0"/>
              </a:spcAft>
              <a:buClrTx/>
              <a:buSzTx/>
              <a:buFont typeface="Arial" panose="020B0604020202020204" pitchFamily="34" charset="0"/>
              <a:buNone/>
            </a:pPr>
            <a:r>
              <a:rPr lang="en-US" altLang="zh-CN" sz="4000" b="0" dirty="0">
                <a:solidFill>
                  <a:srgbClr val="C00000"/>
                </a:solidFill>
                <a:latin typeface="隶书" panose="02010509060101010101" pitchFamily="49" charset="-122"/>
                <a:ea typeface="隶书" panose="02010509060101010101" pitchFamily="49" charset="-122"/>
              </a:rPr>
              <a:t>8259A</a:t>
            </a:r>
            <a:r>
              <a:rPr lang="zh-CN" altLang="en-US" sz="4000" b="0" dirty="0">
                <a:solidFill>
                  <a:srgbClr val="C00000"/>
                </a:solidFill>
                <a:latin typeface="隶书" panose="02010509060101010101" pitchFamily="49" charset="-122"/>
                <a:ea typeface="隶书" panose="02010509060101010101" pitchFamily="49" charset="-122"/>
              </a:rPr>
              <a:t>的初始化命令字</a:t>
            </a:r>
            <a:r>
              <a:rPr lang="en-US" altLang="zh-CN" sz="4000" b="0" dirty="0">
                <a:solidFill>
                  <a:srgbClr val="C00000"/>
                </a:solidFill>
                <a:latin typeface="隶书" panose="02010509060101010101" pitchFamily="49" charset="-122"/>
                <a:ea typeface="隶书" panose="02010509060101010101" pitchFamily="49" charset="-122"/>
              </a:rPr>
              <a:t>:ICWi</a:t>
            </a:r>
            <a:endParaRPr lang="en-US" altLang="zh-CN" sz="4000" b="0" dirty="0">
              <a:solidFill>
                <a:srgbClr val="C00000"/>
              </a:solidFill>
              <a:latin typeface="隶书" panose="02010509060101010101" pitchFamily="49" charset="-122"/>
              <a:ea typeface="隶书" panose="02010509060101010101" pitchFamily="49" charset="-122"/>
            </a:endParaRPr>
          </a:p>
        </p:txBody>
      </p:sp>
    </p:spTree>
  </p:cSld>
  <p:clrMapOvr>
    <a:masterClrMapping/>
  </p:clrMapOvr>
  <p:transition spd="slow">
    <p:zoom/>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4" name="Rectangle 2"/>
          <p:cNvSpPr>
            <a:spLocks noGrp="1" noRot="1"/>
          </p:cNvSpPr>
          <p:nvPr>
            <p:ph type="title" idx="4294967295"/>
          </p:nvPr>
        </p:nvSpPr>
        <p:spPr>
          <a:xfrm>
            <a:off x="1160463" y="908050"/>
            <a:ext cx="5067300" cy="814388"/>
          </a:xfrm>
        </p:spPr>
        <p:txBody>
          <a:bodyPr vert="horz" wrap="square" lIns="91440" tIns="45720" rIns="91440" bIns="45720" anchor="b" anchorCtr="0"/>
          <a:p>
            <a:pPr eaLnBrk="1" hangingPunct="1"/>
            <a:r>
              <a:rPr lang="en-US" altLang="zh-CN" dirty="0"/>
              <a:t>ICW1——</a:t>
            </a:r>
            <a:r>
              <a:rPr lang="zh-CN" altLang="en-US" dirty="0"/>
              <a:t>初始化字</a:t>
            </a:r>
            <a:endParaRPr lang="zh-CN" altLang="en-US" dirty="0"/>
          </a:p>
        </p:txBody>
      </p:sp>
      <p:sp>
        <p:nvSpPr>
          <p:cNvPr id="228355" name="Rectangle 3"/>
          <p:cNvSpPr>
            <a:spLocks noGrp="1" noRot="1"/>
          </p:cNvSpPr>
          <p:nvPr>
            <p:ph type="body" idx="4294967295"/>
          </p:nvPr>
        </p:nvSpPr>
        <p:spPr>
          <a:xfrm>
            <a:off x="466725" y="2813050"/>
            <a:ext cx="8486775" cy="3887788"/>
          </a:xfrm>
        </p:spPr>
        <p:txBody>
          <a:bodyPr vert="horz" wrap="square" lIns="91440" tIns="45720" rIns="91440" bIns="45720" anchor="t" anchorCtr="0"/>
          <a:p>
            <a:pPr eaLnBrk="1" hangingPunct="1">
              <a:lnSpc>
                <a:spcPct val="90000"/>
              </a:lnSpc>
            </a:pPr>
            <a:r>
              <a:rPr lang="en-US" altLang="zh-CN" dirty="0"/>
              <a:t>LTIM: </a:t>
            </a:r>
            <a:r>
              <a:rPr lang="zh-CN" altLang="en-US" dirty="0"/>
              <a:t>触发方式</a:t>
            </a:r>
            <a:endParaRPr lang="zh-CN" altLang="en-US" dirty="0"/>
          </a:p>
          <a:p>
            <a:pPr lvl="1" eaLnBrk="1" hangingPunct="1">
              <a:lnSpc>
                <a:spcPct val="90000"/>
              </a:lnSpc>
            </a:pPr>
            <a:r>
              <a:rPr lang="en-US" altLang="zh-CN" dirty="0"/>
              <a:t>=1 </a:t>
            </a:r>
            <a:r>
              <a:rPr lang="zh-CN" altLang="en-US" dirty="0"/>
              <a:t>高电平触发</a:t>
            </a:r>
            <a:endParaRPr lang="zh-CN" altLang="en-US" dirty="0"/>
          </a:p>
          <a:p>
            <a:pPr lvl="1" eaLnBrk="1" hangingPunct="1">
              <a:lnSpc>
                <a:spcPct val="90000"/>
              </a:lnSpc>
            </a:pPr>
            <a:r>
              <a:rPr lang="en-US" altLang="zh-CN" dirty="0"/>
              <a:t>=0 </a:t>
            </a:r>
            <a:r>
              <a:rPr lang="zh-CN" altLang="en-US" dirty="0"/>
              <a:t>上升沿触发</a:t>
            </a:r>
            <a:endParaRPr lang="zh-CN" altLang="en-US" dirty="0"/>
          </a:p>
          <a:p>
            <a:pPr eaLnBrk="1" hangingPunct="1">
              <a:lnSpc>
                <a:spcPct val="90000"/>
              </a:lnSpc>
            </a:pPr>
            <a:r>
              <a:rPr lang="en-US" altLang="zh-CN" dirty="0"/>
              <a:t>SNGL: </a:t>
            </a:r>
            <a:r>
              <a:rPr lang="zh-CN" altLang="en-US" dirty="0"/>
              <a:t>级连控制</a:t>
            </a:r>
            <a:endParaRPr lang="zh-CN" altLang="en-US" dirty="0"/>
          </a:p>
          <a:p>
            <a:pPr lvl="1" eaLnBrk="1" hangingPunct="1">
              <a:lnSpc>
                <a:spcPct val="90000"/>
              </a:lnSpc>
            </a:pPr>
            <a:r>
              <a:rPr lang="en-US" altLang="zh-CN" dirty="0"/>
              <a:t>=1 </a:t>
            </a:r>
            <a:r>
              <a:rPr lang="zh-CN" altLang="en-US" dirty="0"/>
              <a:t>单片</a:t>
            </a:r>
            <a:endParaRPr lang="zh-CN" altLang="en-US" dirty="0"/>
          </a:p>
          <a:p>
            <a:pPr lvl="1" eaLnBrk="1" hangingPunct="1">
              <a:lnSpc>
                <a:spcPct val="90000"/>
              </a:lnSpc>
            </a:pPr>
            <a:r>
              <a:rPr lang="en-US" altLang="zh-CN" dirty="0"/>
              <a:t>=0 </a:t>
            </a:r>
            <a:r>
              <a:rPr lang="zh-CN" altLang="en-US" dirty="0"/>
              <a:t>级连</a:t>
            </a:r>
            <a:endParaRPr lang="zh-CN" altLang="en-US" dirty="0"/>
          </a:p>
          <a:p>
            <a:pPr eaLnBrk="1" hangingPunct="1">
              <a:lnSpc>
                <a:spcPct val="90000"/>
              </a:lnSpc>
            </a:pPr>
            <a:r>
              <a:rPr lang="en-US" altLang="zh-CN" dirty="0"/>
              <a:t>IC4: ICW4</a:t>
            </a:r>
            <a:r>
              <a:rPr lang="zh-CN" altLang="en-US" dirty="0"/>
              <a:t>控制</a:t>
            </a:r>
            <a:endParaRPr lang="zh-CN" altLang="en-US" dirty="0"/>
          </a:p>
          <a:p>
            <a:pPr lvl="1" eaLnBrk="1" hangingPunct="1">
              <a:lnSpc>
                <a:spcPct val="90000"/>
              </a:lnSpc>
            </a:pPr>
            <a:r>
              <a:rPr lang="en-US" altLang="zh-CN" dirty="0"/>
              <a:t>=1 </a:t>
            </a:r>
            <a:r>
              <a:rPr lang="zh-CN" altLang="en-US" dirty="0"/>
              <a:t>要写</a:t>
            </a:r>
            <a:r>
              <a:rPr lang="en-US" altLang="zh-CN" dirty="0"/>
              <a:t>ICW4(</a:t>
            </a:r>
            <a:r>
              <a:rPr lang="zh-CN" altLang="en-US" dirty="0"/>
              <a:t>对于</a:t>
            </a:r>
            <a:r>
              <a:rPr lang="en-US" altLang="zh-CN" dirty="0"/>
              <a:t>8086</a:t>
            </a:r>
            <a:r>
              <a:rPr lang="zh-CN" altLang="en-US" dirty="0"/>
              <a:t>系统都置</a:t>
            </a:r>
            <a:r>
              <a:rPr lang="en-US" altLang="zh-CN" dirty="0"/>
              <a:t>1)</a:t>
            </a:r>
            <a:endParaRPr lang="en-US" altLang="zh-CN" dirty="0"/>
          </a:p>
          <a:p>
            <a:pPr lvl="1" eaLnBrk="1" hangingPunct="1">
              <a:lnSpc>
                <a:spcPct val="90000"/>
              </a:lnSpc>
            </a:pPr>
            <a:r>
              <a:rPr lang="en-US" altLang="zh-CN" dirty="0"/>
              <a:t>=0 </a:t>
            </a:r>
            <a:r>
              <a:rPr lang="zh-CN" altLang="en-US" dirty="0"/>
              <a:t>不写</a:t>
            </a:r>
            <a:r>
              <a:rPr lang="en-US" altLang="zh-CN" dirty="0"/>
              <a:t>ICW4</a:t>
            </a:r>
            <a:r>
              <a:rPr lang="zh-CN" altLang="en-US" dirty="0"/>
              <a:t>（默认</a:t>
            </a:r>
            <a:r>
              <a:rPr lang="en-US" altLang="zh-CN" dirty="0"/>
              <a:t>ICW4</a:t>
            </a:r>
            <a:r>
              <a:rPr lang="zh-CN" altLang="en-US" dirty="0"/>
              <a:t>为全</a:t>
            </a:r>
            <a:r>
              <a:rPr lang="en-US" altLang="zh-CN" dirty="0"/>
              <a:t>0</a:t>
            </a:r>
            <a:r>
              <a:rPr lang="zh-CN" altLang="en-US" dirty="0"/>
              <a:t>）</a:t>
            </a:r>
            <a:endParaRPr lang="zh-CN" altLang="en-US" dirty="0"/>
          </a:p>
        </p:txBody>
      </p:sp>
      <p:sp>
        <p:nvSpPr>
          <p:cNvPr id="228356" name="Rectangle 4"/>
          <p:cNvSpPr/>
          <p:nvPr/>
        </p:nvSpPr>
        <p:spPr>
          <a:xfrm>
            <a:off x="466725" y="1946275"/>
            <a:ext cx="8713788" cy="8636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400" dirty="0">
                <a:ea typeface="楷体_GB2312"/>
              </a:rPr>
              <a:t>A0</a:t>
            </a:r>
            <a:r>
              <a:rPr lang="en-US" altLang="zh-CN" sz="2400" b="0" dirty="0">
                <a:ea typeface="楷体_GB2312"/>
              </a:rPr>
              <a:t>   	D7	D6     	D5     	D4   	D3  	D2   	D1   	D0</a:t>
            </a:r>
            <a:br>
              <a:rPr lang="en-US" altLang="zh-CN" sz="2400" b="0" dirty="0">
                <a:ea typeface="楷体_GB2312"/>
              </a:rPr>
            </a:br>
            <a:r>
              <a:rPr lang="en-US" altLang="zh-CN" sz="2400" b="0" dirty="0">
                <a:ea typeface="楷体_GB2312"/>
              </a:rPr>
              <a:t> </a:t>
            </a:r>
            <a:r>
              <a:rPr lang="en-US" altLang="zh-CN" sz="2400" dirty="0">
                <a:solidFill>
                  <a:srgbClr val="007254"/>
                </a:solidFill>
                <a:ea typeface="楷体_GB2312"/>
              </a:rPr>
              <a:t>0</a:t>
            </a:r>
            <a:r>
              <a:rPr lang="en-US" altLang="zh-CN" sz="2400" dirty="0">
                <a:solidFill>
                  <a:srgbClr val="FF0000"/>
                </a:solidFill>
                <a:ea typeface="楷体_GB2312"/>
              </a:rPr>
              <a:t>	 x         x 	  x 	  </a:t>
            </a:r>
            <a:r>
              <a:rPr lang="en-US" altLang="zh-CN" sz="2400" dirty="0">
                <a:solidFill>
                  <a:srgbClr val="007254"/>
                </a:solidFill>
                <a:ea typeface="楷体_GB2312"/>
              </a:rPr>
              <a:t>1 </a:t>
            </a:r>
            <a:r>
              <a:rPr lang="en-US" altLang="zh-CN" sz="2400" dirty="0">
                <a:solidFill>
                  <a:srgbClr val="FF0000"/>
                </a:solidFill>
                <a:ea typeface="楷体_GB2312"/>
              </a:rPr>
              <a:t>    LTIM       x   SNGL    IC4                          </a:t>
            </a:r>
            <a:endParaRPr lang="en-US" altLang="zh-CN" sz="2400" dirty="0">
              <a:solidFill>
                <a:srgbClr val="FF0000"/>
              </a:solidFill>
              <a:ea typeface="楷体_GB2312"/>
            </a:endParaRPr>
          </a:p>
        </p:txBody>
      </p:sp>
    </p:spTree>
  </p:cSld>
  <p:clrMapOvr>
    <a:masterClrMapping/>
  </p:clrMapOvr>
  <p:transition spd="slow">
    <p:zoom/>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8" name="Rectangle 2"/>
          <p:cNvSpPr>
            <a:spLocks noGrp="1" noRot="1"/>
          </p:cNvSpPr>
          <p:nvPr>
            <p:ph type="title" idx="4294967295"/>
          </p:nvPr>
        </p:nvSpPr>
        <p:spPr/>
        <p:txBody>
          <a:bodyPr vert="horz" wrap="square" lIns="91440" tIns="45720" rIns="91440" bIns="45720" anchor="b" anchorCtr="0"/>
          <a:p>
            <a:pPr eaLnBrk="1" hangingPunct="1"/>
            <a:r>
              <a:rPr lang="en-GB" altLang="en-US" dirty="0"/>
              <a:t>ICW2——</a:t>
            </a:r>
            <a:r>
              <a:rPr lang="zh-CN" altLang="en-US" dirty="0"/>
              <a:t>中断向量码</a:t>
            </a:r>
            <a:endParaRPr lang="zh-CN" altLang="en-US" dirty="0"/>
          </a:p>
        </p:txBody>
      </p:sp>
      <p:sp>
        <p:nvSpPr>
          <p:cNvPr id="229379" name="Rectangle 3"/>
          <p:cNvSpPr>
            <a:spLocks noGrp="1" noRot="1"/>
          </p:cNvSpPr>
          <p:nvPr>
            <p:ph type="body" idx="4294967295"/>
          </p:nvPr>
        </p:nvSpPr>
        <p:spPr>
          <a:xfrm>
            <a:off x="403225" y="3322638"/>
            <a:ext cx="8540750" cy="3363912"/>
          </a:xfrm>
        </p:spPr>
        <p:txBody>
          <a:bodyPr vert="horz" wrap="square" lIns="91440" tIns="45720" rIns="91440" bIns="45720" anchor="t" anchorCtr="0"/>
          <a:p>
            <a:pPr eaLnBrk="1" hangingPunct="1"/>
            <a:r>
              <a:rPr lang="en-US" altLang="zh-CN" dirty="0"/>
              <a:t>T</a:t>
            </a:r>
            <a:r>
              <a:rPr lang="en-US" altLang="zh-CN" baseline="-20000" dirty="0"/>
              <a:t>7</a:t>
            </a:r>
            <a:r>
              <a:rPr lang="zh-CN" altLang="en-US" dirty="0"/>
              <a:t>～</a:t>
            </a:r>
            <a:r>
              <a:rPr lang="en-US" altLang="zh-CN" dirty="0"/>
              <a:t>T</a:t>
            </a:r>
            <a:r>
              <a:rPr lang="en-US" altLang="zh-CN" baseline="-20000" dirty="0"/>
              <a:t>3</a:t>
            </a:r>
            <a:r>
              <a:rPr lang="en-US" altLang="zh-CN" dirty="0"/>
              <a:t>: </a:t>
            </a:r>
            <a:r>
              <a:rPr lang="zh-CN" altLang="en-US" dirty="0"/>
              <a:t>中断向量码的高</a:t>
            </a:r>
            <a:r>
              <a:rPr lang="en-US" altLang="zh-CN" dirty="0"/>
              <a:t>5</a:t>
            </a:r>
            <a:r>
              <a:rPr lang="zh-CN" altLang="en-US" dirty="0"/>
              <a:t>位</a:t>
            </a:r>
            <a:endParaRPr lang="zh-CN" altLang="en-US" dirty="0"/>
          </a:p>
          <a:p>
            <a:pPr eaLnBrk="1" hangingPunct="1"/>
            <a:r>
              <a:rPr lang="en-US" altLang="zh-CN" dirty="0"/>
              <a:t>T</a:t>
            </a:r>
            <a:r>
              <a:rPr lang="en-US" altLang="zh-CN" baseline="-20000" dirty="0"/>
              <a:t>2</a:t>
            </a:r>
            <a:r>
              <a:rPr lang="zh-CN" altLang="en-US" dirty="0"/>
              <a:t>～</a:t>
            </a:r>
            <a:r>
              <a:rPr lang="en-US" altLang="zh-CN" dirty="0"/>
              <a:t>T</a:t>
            </a:r>
            <a:r>
              <a:rPr lang="en-US" altLang="zh-CN" baseline="-20000" dirty="0"/>
              <a:t>0</a:t>
            </a:r>
            <a:r>
              <a:rPr lang="en-US" altLang="zh-CN" dirty="0"/>
              <a:t>: </a:t>
            </a:r>
            <a:r>
              <a:rPr lang="zh-CN" altLang="en-US" dirty="0"/>
              <a:t>最低</a:t>
            </a:r>
            <a:r>
              <a:rPr lang="en-US" altLang="zh-CN" dirty="0"/>
              <a:t>3</a:t>
            </a:r>
            <a:r>
              <a:rPr lang="zh-CN" altLang="en-US" dirty="0"/>
              <a:t>位为中断源的序号</a:t>
            </a:r>
            <a:r>
              <a:rPr lang="en-US" altLang="zh-CN" dirty="0"/>
              <a:t>IR</a:t>
            </a:r>
            <a:r>
              <a:rPr lang="en-US" altLang="zh-CN" baseline="-20000" dirty="0"/>
              <a:t>n</a:t>
            </a:r>
            <a:endParaRPr lang="en-US" altLang="zh-CN" baseline="-20000" dirty="0"/>
          </a:p>
          <a:p>
            <a:pPr lvl="1" eaLnBrk="1" hangingPunct="1"/>
            <a:r>
              <a:rPr lang="en-US" altLang="zh-CN" dirty="0"/>
              <a:t>000</a:t>
            </a:r>
            <a:r>
              <a:rPr lang="zh-CN" altLang="en-US" dirty="0"/>
              <a:t>～</a:t>
            </a:r>
            <a:r>
              <a:rPr lang="en-US" altLang="zh-CN" dirty="0"/>
              <a:t>111</a:t>
            </a:r>
            <a:r>
              <a:rPr lang="zh-CN" altLang="en-US" dirty="0"/>
              <a:t>分别对应</a:t>
            </a:r>
            <a:r>
              <a:rPr lang="en-US" altLang="zh-CN" dirty="0"/>
              <a:t>IR</a:t>
            </a:r>
            <a:r>
              <a:rPr lang="en-US" altLang="zh-CN" baseline="-20000" dirty="0"/>
              <a:t>0</a:t>
            </a:r>
            <a:r>
              <a:rPr lang="zh-CN" altLang="en-US" dirty="0"/>
              <a:t>～</a:t>
            </a:r>
            <a:r>
              <a:rPr lang="en-US" altLang="zh-CN" dirty="0"/>
              <a:t>IR</a:t>
            </a:r>
            <a:r>
              <a:rPr lang="en-US" altLang="zh-CN" baseline="-20000" dirty="0"/>
              <a:t>7</a:t>
            </a:r>
            <a:endParaRPr lang="en-US" altLang="zh-CN" baseline="-20000" dirty="0"/>
          </a:p>
          <a:p>
            <a:pPr lvl="1" eaLnBrk="1" hangingPunct="1"/>
            <a:r>
              <a:rPr lang="zh-CN" altLang="en-US" dirty="0"/>
              <a:t>由</a:t>
            </a:r>
            <a:r>
              <a:rPr lang="en-US" altLang="zh-CN" dirty="0"/>
              <a:t>8259A</a:t>
            </a:r>
            <a:r>
              <a:rPr lang="zh-CN" altLang="en-US" dirty="0"/>
              <a:t>根据中断源的序号自动填入 </a:t>
            </a:r>
            <a:endParaRPr lang="zh-CN" altLang="en-US" dirty="0"/>
          </a:p>
          <a:p>
            <a:pPr lvl="1" eaLnBrk="1" hangingPunct="1">
              <a:buNone/>
            </a:pPr>
            <a:r>
              <a:rPr lang="zh-CN" altLang="en-US" dirty="0">
                <a:solidFill>
                  <a:srgbClr val="006600"/>
                </a:solidFill>
              </a:rPr>
              <a:t>例如：若</a:t>
            </a:r>
            <a:r>
              <a:rPr lang="en-US" altLang="zh-CN" dirty="0">
                <a:solidFill>
                  <a:srgbClr val="006600"/>
                </a:solidFill>
              </a:rPr>
              <a:t>ICW2</a:t>
            </a:r>
            <a:r>
              <a:rPr lang="zh-CN" altLang="en-US" dirty="0">
                <a:solidFill>
                  <a:srgbClr val="006600"/>
                </a:solidFill>
              </a:rPr>
              <a:t>命令字为</a:t>
            </a:r>
            <a:r>
              <a:rPr lang="en-US" altLang="zh-CN" dirty="0">
                <a:solidFill>
                  <a:srgbClr val="006600"/>
                </a:solidFill>
              </a:rPr>
              <a:t>48H</a:t>
            </a:r>
            <a:r>
              <a:rPr lang="zh-CN" altLang="en-US" dirty="0">
                <a:solidFill>
                  <a:srgbClr val="006600"/>
                </a:solidFill>
              </a:rPr>
              <a:t>，则</a:t>
            </a:r>
            <a:r>
              <a:rPr lang="en-US" altLang="zh-CN" dirty="0">
                <a:solidFill>
                  <a:srgbClr val="006600"/>
                </a:solidFill>
              </a:rPr>
              <a:t>IR</a:t>
            </a:r>
            <a:r>
              <a:rPr lang="en-US" altLang="zh-CN" baseline="-20000" dirty="0">
                <a:solidFill>
                  <a:srgbClr val="006600"/>
                </a:solidFill>
              </a:rPr>
              <a:t>0</a:t>
            </a:r>
            <a:r>
              <a:rPr lang="zh-CN" altLang="en-US" dirty="0">
                <a:solidFill>
                  <a:srgbClr val="006600"/>
                </a:solidFill>
              </a:rPr>
              <a:t>的中断向量码为</a:t>
            </a:r>
            <a:r>
              <a:rPr lang="en-US" altLang="zh-CN" dirty="0">
                <a:solidFill>
                  <a:srgbClr val="006600"/>
                </a:solidFill>
              </a:rPr>
              <a:t>48H</a:t>
            </a:r>
            <a:r>
              <a:rPr lang="zh-CN" altLang="en-US" dirty="0">
                <a:solidFill>
                  <a:srgbClr val="006600"/>
                </a:solidFill>
              </a:rPr>
              <a:t>，</a:t>
            </a:r>
            <a:endParaRPr lang="en-US" altLang="zh-CN" dirty="0">
              <a:solidFill>
                <a:srgbClr val="006600"/>
              </a:solidFill>
            </a:endParaRPr>
          </a:p>
          <a:p>
            <a:pPr lvl="1" eaLnBrk="1" hangingPunct="1">
              <a:buNone/>
            </a:pPr>
            <a:r>
              <a:rPr lang="en-US" altLang="zh-CN" dirty="0">
                <a:solidFill>
                  <a:srgbClr val="006600"/>
                </a:solidFill>
              </a:rPr>
              <a:t>IR</a:t>
            </a:r>
            <a:r>
              <a:rPr lang="en-US" altLang="zh-CN" baseline="-20000" dirty="0">
                <a:solidFill>
                  <a:srgbClr val="006600"/>
                </a:solidFill>
              </a:rPr>
              <a:t>7</a:t>
            </a:r>
            <a:r>
              <a:rPr lang="zh-CN" altLang="en-US" dirty="0">
                <a:solidFill>
                  <a:srgbClr val="006600"/>
                </a:solidFill>
              </a:rPr>
              <a:t>的中断向量码为</a:t>
            </a:r>
            <a:r>
              <a:rPr lang="en-US" altLang="zh-CN" dirty="0">
                <a:solidFill>
                  <a:srgbClr val="006600"/>
                </a:solidFill>
              </a:rPr>
              <a:t>4FH</a:t>
            </a:r>
            <a:r>
              <a:rPr lang="zh-CN" altLang="en-US" dirty="0">
                <a:solidFill>
                  <a:srgbClr val="006600"/>
                </a:solidFill>
              </a:rPr>
              <a:t>，等等。 </a:t>
            </a:r>
            <a:endParaRPr lang="zh-CN" altLang="en-US" dirty="0">
              <a:solidFill>
                <a:srgbClr val="006600"/>
              </a:solidFill>
            </a:endParaRPr>
          </a:p>
        </p:txBody>
      </p:sp>
      <p:sp>
        <p:nvSpPr>
          <p:cNvPr id="229380" name="Rectangle 4"/>
          <p:cNvSpPr/>
          <p:nvPr/>
        </p:nvSpPr>
        <p:spPr>
          <a:xfrm>
            <a:off x="503238" y="2349500"/>
            <a:ext cx="8001000" cy="8636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2400" dirty="0">
                <a:ea typeface="楷体_GB2312"/>
              </a:rPr>
              <a:t>A0</a:t>
            </a:r>
            <a:r>
              <a:rPr lang="en-US" altLang="zh-CN" sz="2400" b="0" dirty="0">
                <a:ea typeface="楷体_GB2312"/>
              </a:rPr>
              <a:t>   	D7	D6     	D5     	D4   	D3  	D2   	D1   	D0</a:t>
            </a:r>
            <a:br>
              <a:rPr lang="en-US" altLang="zh-CN" sz="2400" b="0" dirty="0">
                <a:ea typeface="楷体_GB2312"/>
              </a:rPr>
            </a:br>
            <a:r>
              <a:rPr lang="en-US" altLang="zh-CN" sz="2400" b="0" dirty="0">
                <a:ea typeface="楷体_GB2312"/>
              </a:rPr>
              <a:t> </a:t>
            </a:r>
            <a:r>
              <a:rPr lang="en-US" altLang="zh-CN" sz="2400" dirty="0">
                <a:solidFill>
                  <a:srgbClr val="007254"/>
                </a:solidFill>
                <a:ea typeface="楷体_GB2312"/>
              </a:rPr>
              <a:t>1</a:t>
            </a:r>
            <a:r>
              <a:rPr lang="en-US" altLang="zh-CN" sz="2400" dirty="0">
                <a:solidFill>
                  <a:srgbClr val="FF0000"/>
                </a:solidFill>
                <a:ea typeface="楷体_GB2312"/>
              </a:rPr>
              <a:t>	 T</a:t>
            </a:r>
            <a:r>
              <a:rPr lang="en-US" altLang="zh-CN" sz="2400" baseline="-20000" dirty="0">
                <a:solidFill>
                  <a:srgbClr val="FF0000"/>
                </a:solidFill>
                <a:ea typeface="楷体_GB2312"/>
              </a:rPr>
              <a:t>7</a:t>
            </a:r>
            <a:r>
              <a:rPr lang="en-US" altLang="zh-CN" sz="2400" dirty="0">
                <a:solidFill>
                  <a:srgbClr val="FF0000"/>
                </a:solidFill>
                <a:ea typeface="楷体_GB2312"/>
              </a:rPr>
              <a:t>       T</a:t>
            </a:r>
            <a:r>
              <a:rPr lang="en-US" altLang="zh-CN" sz="2400" baseline="-20000" dirty="0">
                <a:solidFill>
                  <a:srgbClr val="FF0000"/>
                </a:solidFill>
                <a:ea typeface="楷体_GB2312"/>
              </a:rPr>
              <a:t>6</a:t>
            </a:r>
            <a:r>
              <a:rPr lang="en-US" altLang="zh-CN" sz="2400" dirty="0">
                <a:solidFill>
                  <a:srgbClr val="FF0000"/>
                </a:solidFill>
                <a:ea typeface="楷体_GB2312"/>
              </a:rPr>
              <a:t> 	 T</a:t>
            </a:r>
            <a:r>
              <a:rPr lang="en-US" altLang="zh-CN" sz="2400" baseline="-20000" dirty="0">
                <a:solidFill>
                  <a:srgbClr val="FF0000"/>
                </a:solidFill>
                <a:ea typeface="楷体_GB2312"/>
              </a:rPr>
              <a:t>5</a:t>
            </a:r>
            <a:r>
              <a:rPr lang="en-US" altLang="zh-CN" sz="2400" dirty="0">
                <a:solidFill>
                  <a:srgbClr val="FF0000"/>
                </a:solidFill>
                <a:ea typeface="楷体_GB2312"/>
              </a:rPr>
              <a:t> 	 T</a:t>
            </a:r>
            <a:r>
              <a:rPr lang="en-US" altLang="zh-CN" sz="2400" baseline="-20000" dirty="0">
                <a:solidFill>
                  <a:srgbClr val="FF0000"/>
                </a:solidFill>
                <a:ea typeface="楷体_GB2312"/>
              </a:rPr>
              <a:t>4</a:t>
            </a:r>
            <a:r>
              <a:rPr lang="en-US" altLang="zh-CN" sz="2400" dirty="0">
                <a:solidFill>
                  <a:srgbClr val="FF0000"/>
                </a:solidFill>
                <a:ea typeface="楷体_GB2312"/>
              </a:rPr>
              <a:t> 	 T</a:t>
            </a:r>
            <a:r>
              <a:rPr lang="en-US" altLang="zh-CN" sz="2400" baseline="-20000" dirty="0">
                <a:solidFill>
                  <a:srgbClr val="FF0000"/>
                </a:solidFill>
                <a:ea typeface="楷体_GB2312"/>
              </a:rPr>
              <a:t>3</a:t>
            </a:r>
            <a:r>
              <a:rPr lang="en-US" altLang="zh-CN" sz="2400" dirty="0">
                <a:solidFill>
                  <a:srgbClr val="FF0000"/>
                </a:solidFill>
                <a:ea typeface="楷体_GB2312"/>
              </a:rPr>
              <a:t> 	 x 	 x 	 x</a:t>
            </a:r>
            <a:endParaRPr lang="en-US" altLang="zh-CN" sz="2400" dirty="0">
              <a:solidFill>
                <a:srgbClr val="FF0000"/>
              </a:solidFill>
              <a:ea typeface="楷体_GB2312"/>
            </a:endParaRPr>
          </a:p>
        </p:txBody>
      </p:sp>
    </p:spTree>
  </p:cSld>
  <p:clrMapOvr>
    <a:masterClrMapping/>
  </p:clrMapOvr>
  <p:transition spd="slow">
    <p:zoom/>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0402"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30403" name="Rectangle 2"/>
          <p:cNvSpPr>
            <a:spLocks noGrp="1" noRot="1"/>
          </p:cNvSpPr>
          <p:nvPr>
            <p:ph type="title" idx="4294967295"/>
          </p:nvPr>
        </p:nvSpPr>
        <p:spPr/>
        <p:txBody>
          <a:bodyPr vert="horz" wrap="square" lIns="91440" tIns="45720" rIns="91440" bIns="45720" anchor="b" anchorCtr="0"/>
          <a:p>
            <a:pPr eaLnBrk="1" hangingPunct="1"/>
            <a:r>
              <a:rPr lang="en-GB" altLang="en-US" dirty="0"/>
              <a:t>ICW3——</a:t>
            </a:r>
            <a:r>
              <a:rPr lang="zh-CN" altLang="en-US" dirty="0"/>
              <a:t>级连控制字 </a:t>
            </a:r>
            <a:endParaRPr lang="zh-CN" altLang="en-US" dirty="0"/>
          </a:p>
        </p:txBody>
      </p:sp>
      <p:sp>
        <p:nvSpPr>
          <p:cNvPr id="230404" name="Rectangle 3"/>
          <p:cNvSpPr>
            <a:spLocks noGrp="1" noRot="1"/>
          </p:cNvSpPr>
          <p:nvPr>
            <p:ph type="body" idx="4294967295"/>
          </p:nvPr>
        </p:nvSpPr>
        <p:spPr>
          <a:xfrm>
            <a:off x="503238" y="3124200"/>
            <a:ext cx="8486775" cy="1079500"/>
          </a:xfrm>
        </p:spPr>
        <p:txBody>
          <a:bodyPr vert="horz" wrap="square" lIns="91440" tIns="45720" rIns="91440" bIns="45720" anchor="t" anchorCtr="0"/>
          <a:p>
            <a:pPr eaLnBrk="1" hangingPunct="1">
              <a:lnSpc>
                <a:spcPct val="90000"/>
              </a:lnSpc>
            </a:pPr>
            <a:r>
              <a:rPr lang="zh-CN" altLang="en-US" dirty="0"/>
              <a:t>主片的级联控制字 </a:t>
            </a:r>
            <a:endParaRPr lang="zh-CN" altLang="en-US" dirty="0"/>
          </a:p>
          <a:p>
            <a:pPr lvl="1" eaLnBrk="1" hangingPunct="1">
              <a:lnSpc>
                <a:spcPct val="90000"/>
              </a:lnSpc>
            </a:pPr>
            <a:r>
              <a:rPr lang="en-US" altLang="zh-CN" dirty="0"/>
              <a:t>S</a:t>
            </a:r>
            <a:r>
              <a:rPr lang="en-US" altLang="zh-CN" baseline="-20000" dirty="0"/>
              <a:t>i</a:t>
            </a:r>
            <a:r>
              <a:rPr lang="en-US" altLang="zh-CN" dirty="0"/>
              <a:t>=1  </a:t>
            </a:r>
            <a:r>
              <a:rPr lang="zh-CN" altLang="en-US" dirty="0"/>
              <a:t>对应</a:t>
            </a:r>
            <a:r>
              <a:rPr lang="en-GB" altLang="en-US" dirty="0"/>
              <a:t>IR</a:t>
            </a:r>
            <a:r>
              <a:rPr lang="en-US" altLang="zh-CN" baseline="-20000" dirty="0"/>
              <a:t>i</a:t>
            </a:r>
            <a:r>
              <a:rPr lang="zh-CN" altLang="en-US" dirty="0"/>
              <a:t>线上连接了从片 </a:t>
            </a:r>
            <a:endParaRPr lang="zh-CN" altLang="en-US" dirty="0"/>
          </a:p>
        </p:txBody>
      </p:sp>
      <p:sp>
        <p:nvSpPr>
          <p:cNvPr id="230405" name="Rectangle 4"/>
          <p:cNvSpPr/>
          <p:nvPr/>
        </p:nvSpPr>
        <p:spPr>
          <a:xfrm>
            <a:off x="503238" y="2114550"/>
            <a:ext cx="8001000" cy="8636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2400" dirty="0">
                <a:ea typeface="楷体_GB2312"/>
              </a:rPr>
              <a:t>A0</a:t>
            </a:r>
            <a:r>
              <a:rPr lang="en-US" altLang="zh-CN" sz="2400" b="0" dirty="0">
                <a:ea typeface="楷体_GB2312"/>
              </a:rPr>
              <a:t>   	D7	D6     	D5     	D4   	D3  	D2   	D1   	D0</a:t>
            </a:r>
            <a:br>
              <a:rPr lang="en-US" altLang="zh-CN" sz="2400" b="0" dirty="0">
                <a:ea typeface="楷体_GB2312"/>
              </a:rPr>
            </a:br>
            <a:r>
              <a:rPr lang="en-US" altLang="zh-CN" sz="2400" b="0" dirty="0">
                <a:ea typeface="楷体_GB2312"/>
              </a:rPr>
              <a:t> </a:t>
            </a:r>
            <a:r>
              <a:rPr lang="en-US" altLang="zh-CN" sz="2400" dirty="0">
                <a:solidFill>
                  <a:srgbClr val="007254"/>
                </a:solidFill>
                <a:ea typeface="楷体_GB2312"/>
              </a:rPr>
              <a:t>1</a:t>
            </a:r>
            <a:r>
              <a:rPr lang="en-US" altLang="zh-CN" sz="2400" dirty="0">
                <a:solidFill>
                  <a:srgbClr val="FF0000"/>
                </a:solidFill>
                <a:ea typeface="楷体_GB2312"/>
              </a:rPr>
              <a:t>	 S</a:t>
            </a:r>
            <a:r>
              <a:rPr lang="en-US" altLang="zh-CN" sz="2400" baseline="-20000" dirty="0">
                <a:solidFill>
                  <a:srgbClr val="FF0000"/>
                </a:solidFill>
                <a:ea typeface="楷体_GB2312"/>
              </a:rPr>
              <a:t>7</a:t>
            </a:r>
            <a:r>
              <a:rPr lang="en-US" altLang="zh-CN" sz="2400" dirty="0">
                <a:solidFill>
                  <a:srgbClr val="FF0000"/>
                </a:solidFill>
                <a:ea typeface="楷体_GB2312"/>
              </a:rPr>
              <a:t>       S</a:t>
            </a:r>
            <a:r>
              <a:rPr lang="en-US" altLang="zh-CN" sz="2400" baseline="-20000" dirty="0">
                <a:solidFill>
                  <a:srgbClr val="FF0000"/>
                </a:solidFill>
                <a:ea typeface="楷体_GB2312"/>
              </a:rPr>
              <a:t>6</a:t>
            </a:r>
            <a:r>
              <a:rPr lang="en-US" altLang="zh-CN" sz="2400" dirty="0">
                <a:solidFill>
                  <a:srgbClr val="FF0000"/>
                </a:solidFill>
                <a:ea typeface="楷体_GB2312"/>
              </a:rPr>
              <a:t> 	 S</a:t>
            </a:r>
            <a:r>
              <a:rPr lang="en-US" altLang="zh-CN" sz="2400" baseline="-20000" dirty="0">
                <a:solidFill>
                  <a:srgbClr val="FF0000"/>
                </a:solidFill>
                <a:ea typeface="楷体_GB2312"/>
              </a:rPr>
              <a:t>5</a:t>
            </a:r>
            <a:r>
              <a:rPr lang="en-US" altLang="zh-CN" sz="2400" dirty="0">
                <a:solidFill>
                  <a:srgbClr val="FF0000"/>
                </a:solidFill>
                <a:ea typeface="楷体_GB2312"/>
              </a:rPr>
              <a:t> 	 S</a:t>
            </a:r>
            <a:r>
              <a:rPr lang="en-US" altLang="zh-CN" sz="2400" baseline="-20000" dirty="0">
                <a:solidFill>
                  <a:srgbClr val="FF0000"/>
                </a:solidFill>
                <a:ea typeface="楷体_GB2312"/>
              </a:rPr>
              <a:t>4</a:t>
            </a:r>
            <a:r>
              <a:rPr lang="en-US" altLang="zh-CN" sz="2400" dirty="0">
                <a:solidFill>
                  <a:srgbClr val="FF0000"/>
                </a:solidFill>
                <a:ea typeface="楷体_GB2312"/>
              </a:rPr>
              <a:t> 	 S</a:t>
            </a:r>
            <a:r>
              <a:rPr lang="en-US" altLang="zh-CN" sz="2400" baseline="-20000" dirty="0">
                <a:solidFill>
                  <a:srgbClr val="FF0000"/>
                </a:solidFill>
                <a:ea typeface="楷体_GB2312"/>
              </a:rPr>
              <a:t>3</a:t>
            </a:r>
            <a:r>
              <a:rPr lang="en-US" altLang="zh-CN" sz="2400" dirty="0">
                <a:solidFill>
                  <a:srgbClr val="FF0000"/>
                </a:solidFill>
                <a:ea typeface="楷体_GB2312"/>
              </a:rPr>
              <a:t> 	 S</a:t>
            </a:r>
            <a:r>
              <a:rPr lang="en-US" altLang="zh-CN" sz="2400" baseline="-20000" dirty="0">
                <a:solidFill>
                  <a:srgbClr val="FF0000"/>
                </a:solidFill>
                <a:ea typeface="楷体_GB2312"/>
              </a:rPr>
              <a:t>2</a:t>
            </a:r>
            <a:r>
              <a:rPr lang="en-US" altLang="zh-CN" sz="2400" dirty="0">
                <a:solidFill>
                  <a:srgbClr val="FF0000"/>
                </a:solidFill>
                <a:ea typeface="楷体_GB2312"/>
              </a:rPr>
              <a:t> 	 S</a:t>
            </a:r>
            <a:r>
              <a:rPr lang="en-US" altLang="zh-CN" sz="2400" baseline="-20000" dirty="0">
                <a:solidFill>
                  <a:srgbClr val="FF0000"/>
                </a:solidFill>
                <a:ea typeface="楷体_GB2312"/>
              </a:rPr>
              <a:t>1</a:t>
            </a:r>
            <a:r>
              <a:rPr lang="en-US" altLang="zh-CN" sz="2400" dirty="0">
                <a:solidFill>
                  <a:srgbClr val="FF0000"/>
                </a:solidFill>
                <a:ea typeface="楷体_GB2312"/>
              </a:rPr>
              <a:t> 	 S</a:t>
            </a:r>
            <a:r>
              <a:rPr lang="en-US" altLang="zh-CN" sz="2400" baseline="-20000" dirty="0">
                <a:solidFill>
                  <a:srgbClr val="FF0000"/>
                </a:solidFill>
                <a:ea typeface="楷体_GB2312"/>
              </a:rPr>
              <a:t>0</a:t>
            </a:r>
            <a:endParaRPr lang="en-US" altLang="zh-CN" sz="2400" baseline="-20000" dirty="0">
              <a:solidFill>
                <a:srgbClr val="FF0000"/>
              </a:solidFill>
              <a:ea typeface="楷体_GB2312"/>
            </a:endParaRPr>
          </a:p>
        </p:txBody>
      </p:sp>
      <p:sp>
        <p:nvSpPr>
          <p:cNvPr id="230406" name="Rectangle 5"/>
          <p:cNvSpPr/>
          <p:nvPr/>
        </p:nvSpPr>
        <p:spPr>
          <a:xfrm>
            <a:off x="515938" y="5451475"/>
            <a:ext cx="8486775" cy="1584325"/>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90000"/>
              </a:lnSpc>
            </a:pPr>
            <a:r>
              <a:rPr lang="zh-CN" altLang="en-US" dirty="0">
                <a:latin typeface="Tahoma" panose="020B0604030504040204" pitchFamily="34" charset="0"/>
                <a:ea typeface="楷体_GB2312"/>
              </a:rPr>
              <a:t>从片的级联控制字 </a:t>
            </a:r>
            <a:endParaRPr lang="zh-CN" altLang="en-US" dirty="0">
              <a:latin typeface="Tahoma" panose="020B0604030504040204" pitchFamily="34" charset="0"/>
              <a:ea typeface="楷体_GB2312"/>
            </a:endParaRPr>
          </a:p>
          <a:p>
            <a:pPr marL="742950" lvl="1" indent="-285750" eaLnBrk="1" hangingPunct="1">
              <a:lnSpc>
                <a:spcPct val="100000"/>
              </a:lnSpc>
              <a:spcBef>
                <a:spcPct val="0"/>
              </a:spcBef>
              <a:spcAft>
                <a:spcPct val="0"/>
              </a:spcAft>
              <a:buSzTx/>
              <a:buFont typeface="Wingdings" panose="05000000000000000000" pitchFamily="2" charset="2"/>
              <a:buChar char="•"/>
            </a:pPr>
            <a:r>
              <a:rPr lang="en-US" altLang="zh-CN" i="1" dirty="0">
                <a:ea typeface="楷体_GB2312"/>
              </a:rPr>
              <a:t>ID2</a:t>
            </a:r>
            <a:r>
              <a:rPr lang="zh-CN" altLang="en-US" i="1" dirty="0">
                <a:ea typeface="楷体_GB2312"/>
              </a:rPr>
              <a:t>～</a:t>
            </a:r>
            <a:r>
              <a:rPr lang="en-US" altLang="zh-CN" i="1" dirty="0">
                <a:ea typeface="楷体_GB2312"/>
              </a:rPr>
              <a:t>ID0  </a:t>
            </a:r>
            <a:r>
              <a:rPr lang="zh-CN" altLang="en-US" i="1" dirty="0">
                <a:ea typeface="楷体_GB2312"/>
              </a:rPr>
              <a:t>标识码，说明本从片连接到主片的哪个</a:t>
            </a:r>
            <a:r>
              <a:rPr lang="en-US" altLang="zh-CN" i="1" dirty="0">
                <a:ea typeface="楷体_GB2312"/>
              </a:rPr>
              <a:t>IR</a:t>
            </a:r>
            <a:r>
              <a:rPr lang="zh-CN" altLang="en-US" i="1" dirty="0">
                <a:ea typeface="楷体_GB2312"/>
              </a:rPr>
              <a:t>引脚上。 </a:t>
            </a:r>
            <a:r>
              <a:rPr lang="en-US" altLang="zh-CN" i="1" dirty="0">
                <a:ea typeface="楷体_GB2312"/>
              </a:rPr>
              <a:t>000</a:t>
            </a:r>
            <a:r>
              <a:rPr lang="zh-CN" altLang="en-US" i="1" dirty="0">
                <a:ea typeface="楷体_GB2312"/>
              </a:rPr>
              <a:t>～</a:t>
            </a:r>
            <a:r>
              <a:rPr lang="en-US" altLang="zh-CN" i="1" dirty="0">
                <a:ea typeface="楷体_GB2312"/>
              </a:rPr>
              <a:t>111</a:t>
            </a:r>
            <a:r>
              <a:rPr lang="zh-CN" altLang="en-US" i="1" dirty="0">
                <a:ea typeface="楷体_GB2312"/>
              </a:rPr>
              <a:t>分别对应</a:t>
            </a:r>
            <a:r>
              <a:rPr lang="en-US" altLang="zh-CN" i="1" dirty="0">
                <a:ea typeface="楷体_GB2312"/>
              </a:rPr>
              <a:t>IR</a:t>
            </a:r>
            <a:r>
              <a:rPr lang="en-US" altLang="zh-CN" i="1" baseline="-20000" dirty="0">
                <a:ea typeface="楷体_GB2312"/>
              </a:rPr>
              <a:t>0</a:t>
            </a:r>
            <a:r>
              <a:rPr lang="zh-CN" altLang="en-US" i="1" dirty="0">
                <a:ea typeface="楷体_GB2312"/>
              </a:rPr>
              <a:t>～</a:t>
            </a:r>
            <a:r>
              <a:rPr lang="en-US" altLang="zh-CN" i="1" dirty="0">
                <a:ea typeface="楷体_GB2312"/>
              </a:rPr>
              <a:t>IR</a:t>
            </a:r>
            <a:r>
              <a:rPr lang="en-US" altLang="zh-CN" i="1" baseline="-20000" dirty="0">
                <a:ea typeface="楷体_GB2312"/>
              </a:rPr>
              <a:t>7</a:t>
            </a:r>
            <a:r>
              <a:rPr lang="zh-CN" altLang="en-US" i="1" dirty="0">
                <a:ea typeface="楷体_GB2312"/>
              </a:rPr>
              <a:t>。 </a:t>
            </a:r>
            <a:endParaRPr lang="zh-CN" altLang="en-US" i="1" dirty="0">
              <a:ea typeface="楷体_GB2312"/>
            </a:endParaRPr>
          </a:p>
        </p:txBody>
      </p:sp>
      <p:sp>
        <p:nvSpPr>
          <p:cNvPr id="230407" name="Rectangle 6"/>
          <p:cNvSpPr/>
          <p:nvPr/>
        </p:nvSpPr>
        <p:spPr>
          <a:xfrm>
            <a:off x="515938" y="4410075"/>
            <a:ext cx="8001000" cy="8636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2400" dirty="0">
                <a:ea typeface="楷体_GB2312"/>
              </a:rPr>
              <a:t>A0</a:t>
            </a:r>
            <a:r>
              <a:rPr lang="en-US" altLang="zh-CN" sz="2400" b="0" dirty="0">
                <a:ea typeface="楷体_GB2312"/>
              </a:rPr>
              <a:t>   	D7	D6     	D5     	D4   	D3  	D2   	D1   	D0</a:t>
            </a:r>
            <a:br>
              <a:rPr lang="en-US" altLang="zh-CN" sz="2400" b="0" dirty="0">
                <a:ea typeface="楷体_GB2312"/>
              </a:rPr>
            </a:br>
            <a:r>
              <a:rPr lang="en-US" altLang="zh-CN" sz="2400" b="0" dirty="0">
                <a:ea typeface="楷体_GB2312"/>
              </a:rPr>
              <a:t> </a:t>
            </a:r>
            <a:r>
              <a:rPr lang="en-US" altLang="zh-CN" sz="2400" dirty="0">
                <a:solidFill>
                  <a:srgbClr val="007254"/>
                </a:solidFill>
                <a:ea typeface="楷体_GB2312"/>
              </a:rPr>
              <a:t>1</a:t>
            </a:r>
            <a:r>
              <a:rPr lang="en-US" altLang="zh-CN" sz="2400" dirty="0">
                <a:solidFill>
                  <a:srgbClr val="FF0000"/>
                </a:solidFill>
                <a:ea typeface="楷体_GB2312"/>
              </a:rPr>
              <a:t>	 0         0	 0 	 0	 0 	ID</a:t>
            </a:r>
            <a:r>
              <a:rPr lang="en-US" altLang="zh-CN" sz="2400" baseline="-20000" dirty="0">
                <a:solidFill>
                  <a:srgbClr val="FF0000"/>
                </a:solidFill>
                <a:ea typeface="楷体_GB2312"/>
              </a:rPr>
              <a:t>2</a:t>
            </a:r>
            <a:r>
              <a:rPr lang="en-US" altLang="zh-CN" sz="2400" dirty="0">
                <a:solidFill>
                  <a:srgbClr val="FF0000"/>
                </a:solidFill>
                <a:ea typeface="楷体_GB2312"/>
              </a:rPr>
              <a:t> 	ID</a:t>
            </a:r>
            <a:r>
              <a:rPr lang="en-US" altLang="zh-CN" sz="2400" baseline="-20000" dirty="0">
                <a:solidFill>
                  <a:srgbClr val="FF0000"/>
                </a:solidFill>
                <a:ea typeface="楷体_GB2312"/>
              </a:rPr>
              <a:t>1</a:t>
            </a:r>
            <a:r>
              <a:rPr lang="en-US" altLang="zh-CN" sz="2400" dirty="0">
                <a:solidFill>
                  <a:srgbClr val="FF0000"/>
                </a:solidFill>
                <a:ea typeface="楷体_GB2312"/>
              </a:rPr>
              <a:t> 	ID</a:t>
            </a:r>
            <a:r>
              <a:rPr lang="en-US" altLang="zh-CN" sz="2400" baseline="-20000" dirty="0">
                <a:solidFill>
                  <a:srgbClr val="FF0000"/>
                </a:solidFill>
                <a:ea typeface="楷体_GB2312"/>
              </a:rPr>
              <a:t>0</a:t>
            </a:r>
            <a:endParaRPr lang="en-US" altLang="zh-CN" sz="2400" baseline="-20000" dirty="0">
              <a:solidFill>
                <a:srgbClr val="FF0000"/>
              </a:solidFill>
              <a:ea typeface="楷体_GB2312"/>
            </a:endParaRPr>
          </a:p>
        </p:txBody>
      </p:sp>
      <p:sp>
        <p:nvSpPr>
          <p:cNvPr id="230408" name="Line 7"/>
          <p:cNvSpPr/>
          <p:nvPr/>
        </p:nvSpPr>
        <p:spPr>
          <a:xfrm>
            <a:off x="611188" y="4249738"/>
            <a:ext cx="8135937" cy="0"/>
          </a:xfrm>
          <a:prstGeom prst="line">
            <a:avLst/>
          </a:prstGeom>
          <a:ln w="76200" cap="flat" cmpd="sng">
            <a:solidFill>
              <a:srgbClr val="0000FF"/>
            </a:solidFill>
            <a:prstDash val="solid"/>
            <a:bevel/>
            <a:headEnd type="none" w="med" len="med"/>
            <a:tailEnd type="none" w="med" len="med"/>
          </a:ln>
        </p:spPr>
      </p:sp>
    </p:spTree>
  </p:cSld>
  <p:clrMapOvr>
    <a:masterClrMapping/>
  </p:clrMapOvr>
  <p:transition spd="slow">
    <p:zoom/>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142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31427" name="Text Box 3"/>
          <p:cNvSpPr>
            <a:spLocks noGrp="1"/>
          </p:cNvSpPr>
          <p:nvPr>
            <p:ph type="body" idx="4294967295"/>
          </p:nvPr>
        </p:nvSpPr>
        <p:spPr>
          <a:xfrm>
            <a:off x="179388" y="1916113"/>
            <a:ext cx="8767762" cy="4784725"/>
          </a:xfrm>
        </p:spPr>
        <p:txBody>
          <a:bodyPr vert="horz" wrap="square" lIns="91440" tIns="45720" rIns="91440" bIns="45720" anchor="t" anchorCtr="0"/>
          <a:p>
            <a:pPr eaLnBrk="1" hangingPunct="1">
              <a:lnSpc>
                <a:spcPct val="150000"/>
              </a:lnSpc>
            </a:pPr>
            <a:r>
              <a:rPr lang="en-US" altLang="zh-CN" dirty="0"/>
              <a:t>ICW3</a:t>
            </a:r>
            <a:r>
              <a:rPr lang="zh-CN" altLang="en-US" dirty="0"/>
              <a:t>必须与主从片的连接关系一致：</a:t>
            </a:r>
            <a:endParaRPr lang="zh-CN" altLang="en-US" dirty="0"/>
          </a:p>
          <a:p>
            <a:pPr eaLnBrk="1" hangingPunct="1">
              <a:lnSpc>
                <a:spcPct val="150000"/>
              </a:lnSpc>
              <a:buNone/>
            </a:pPr>
            <a:r>
              <a:rPr lang="zh-CN" altLang="en-US" dirty="0"/>
              <a:t>	</a:t>
            </a:r>
            <a:r>
              <a:rPr lang="zh-CN" altLang="en-US" dirty="0">
                <a:solidFill>
                  <a:srgbClr val="006600"/>
                </a:solidFill>
              </a:rPr>
              <a:t>例如，主片的</a:t>
            </a:r>
            <a:r>
              <a:rPr lang="en-US" altLang="zh-CN" dirty="0">
                <a:solidFill>
                  <a:srgbClr val="006600"/>
                </a:solidFill>
              </a:rPr>
              <a:t>IR</a:t>
            </a:r>
            <a:r>
              <a:rPr lang="en-US" altLang="zh-CN" baseline="-20000" dirty="0">
                <a:solidFill>
                  <a:srgbClr val="006600"/>
                </a:solidFill>
              </a:rPr>
              <a:t>4</a:t>
            </a:r>
            <a:r>
              <a:rPr lang="zh-CN" altLang="en-US" dirty="0">
                <a:solidFill>
                  <a:srgbClr val="006600"/>
                </a:solidFill>
              </a:rPr>
              <a:t>与从片的</a:t>
            </a:r>
            <a:r>
              <a:rPr lang="en-US" altLang="zh-CN" dirty="0">
                <a:solidFill>
                  <a:srgbClr val="006600"/>
                </a:solidFill>
              </a:rPr>
              <a:t>INT</a:t>
            </a:r>
            <a:r>
              <a:rPr lang="zh-CN" altLang="en-US" dirty="0">
                <a:solidFill>
                  <a:srgbClr val="006600"/>
                </a:solidFill>
              </a:rPr>
              <a:t>线连接，则主片的</a:t>
            </a:r>
            <a:r>
              <a:rPr lang="en-US" altLang="zh-CN" dirty="0">
                <a:solidFill>
                  <a:srgbClr val="006600"/>
                </a:solidFill>
              </a:rPr>
              <a:t>ICW3=10H</a:t>
            </a:r>
            <a:r>
              <a:rPr lang="zh-CN" altLang="en-US" dirty="0">
                <a:solidFill>
                  <a:srgbClr val="006600"/>
                </a:solidFill>
              </a:rPr>
              <a:t>，从片的</a:t>
            </a:r>
            <a:r>
              <a:rPr lang="en-US" altLang="zh-CN" dirty="0">
                <a:solidFill>
                  <a:srgbClr val="006600"/>
                </a:solidFill>
              </a:rPr>
              <a:t>ICW3=04H</a:t>
            </a:r>
            <a:r>
              <a:rPr lang="zh-CN" altLang="en-US" dirty="0">
                <a:solidFill>
                  <a:srgbClr val="006600"/>
                </a:solidFill>
              </a:rPr>
              <a:t>。</a:t>
            </a:r>
            <a:endParaRPr lang="zh-CN" altLang="en-US" dirty="0">
              <a:solidFill>
                <a:srgbClr val="006600"/>
              </a:solidFill>
            </a:endParaRPr>
          </a:p>
          <a:p>
            <a:pPr eaLnBrk="1" hangingPunct="1">
              <a:lnSpc>
                <a:spcPct val="150000"/>
              </a:lnSpc>
            </a:pPr>
            <a:r>
              <a:rPr lang="zh-CN" altLang="en-US" dirty="0"/>
              <a:t>中断响应时，主片通过级连线</a:t>
            </a:r>
            <a:r>
              <a:rPr lang="en-US" altLang="zh-CN" dirty="0"/>
              <a:t>CAS</a:t>
            </a:r>
            <a:r>
              <a:rPr lang="en-US" altLang="zh-CN" baseline="-20000" dirty="0"/>
              <a:t>2</a:t>
            </a:r>
            <a:r>
              <a:rPr lang="en-US" altLang="zh-CN" dirty="0"/>
              <a:t>-CAS</a:t>
            </a:r>
            <a:r>
              <a:rPr lang="en-US" altLang="zh-CN" baseline="-20000" dirty="0"/>
              <a:t>0</a:t>
            </a:r>
            <a:r>
              <a:rPr lang="zh-CN" altLang="en-US" dirty="0"/>
              <a:t>送出被允许中断的从片标识码，各从片用自己的</a:t>
            </a:r>
            <a:r>
              <a:rPr lang="en-US" altLang="zh-CN" dirty="0"/>
              <a:t>ICW3</a:t>
            </a:r>
            <a:r>
              <a:rPr lang="zh-CN" altLang="en-US" dirty="0"/>
              <a:t>与</a:t>
            </a:r>
            <a:r>
              <a:rPr lang="en-US" altLang="zh-CN" dirty="0"/>
              <a:t>CAS</a:t>
            </a:r>
            <a:r>
              <a:rPr lang="en-US" altLang="zh-CN" baseline="-20000" dirty="0"/>
              <a:t>2</a:t>
            </a:r>
            <a:r>
              <a:rPr lang="en-US" altLang="zh-CN" dirty="0"/>
              <a:t>-CAS</a:t>
            </a:r>
            <a:r>
              <a:rPr lang="en-US" altLang="zh-CN" baseline="-20000" dirty="0"/>
              <a:t>0</a:t>
            </a:r>
            <a:r>
              <a:rPr lang="zh-CN" altLang="en-US" dirty="0"/>
              <a:t>比较，二者一致的从片才可发送中断向量码。</a:t>
            </a:r>
            <a:endParaRPr lang="zh-CN" altLang="en-US" dirty="0"/>
          </a:p>
        </p:txBody>
      </p:sp>
    </p:spTree>
  </p:cSld>
  <p:clrMapOvr>
    <a:masterClrMapping/>
  </p:clrMapOvr>
  <p:transition spd="slow">
    <p:zoom/>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5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32451" name="Rectangle 2"/>
          <p:cNvSpPr>
            <a:spLocks noGrp="1" noRot="1"/>
          </p:cNvSpPr>
          <p:nvPr>
            <p:ph type="title" idx="4294967295"/>
          </p:nvPr>
        </p:nvSpPr>
        <p:spPr/>
        <p:txBody>
          <a:bodyPr vert="horz" wrap="square" lIns="91440" tIns="45720" rIns="91440" bIns="45720" anchor="b" anchorCtr="0"/>
          <a:p>
            <a:pPr eaLnBrk="1" hangingPunct="1"/>
            <a:r>
              <a:rPr lang="en-GB" altLang="en-US" dirty="0"/>
              <a:t>ICW4——</a:t>
            </a:r>
            <a:r>
              <a:rPr lang="zh-CN" altLang="en-US" dirty="0"/>
              <a:t>中断结束方式字 </a:t>
            </a:r>
            <a:endParaRPr lang="zh-CN" altLang="en-US" dirty="0"/>
          </a:p>
        </p:txBody>
      </p:sp>
      <p:sp>
        <p:nvSpPr>
          <p:cNvPr id="232452" name="Rectangle 3"/>
          <p:cNvSpPr>
            <a:spLocks noGrp="1" noRot="1"/>
          </p:cNvSpPr>
          <p:nvPr>
            <p:ph type="body" idx="4294967295"/>
          </p:nvPr>
        </p:nvSpPr>
        <p:spPr>
          <a:xfrm>
            <a:off x="431800" y="3197225"/>
            <a:ext cx="3816350" cy="3484563"/>
          </a:xfrm>
        </p:spPr>
        <p:txBody>
          <a:bodyPr vert="horz" wrap="square" lIns="91440" tIns="45720" rIns="91440" bIns="45720" anchor="t" anchorCtr="0"/>
          <a:p>
            <a:pPr eaLnBrk="1" hangingPunct="1"/>
            <a:r>
              <a:rPr lang="en-US" altLang="zh-CN" dirty="0"/>
              <a:t>SFNM: </a:t>
            </a:r>
            <a:r>
              <a:rPr lang="zh-CN" altLang="en-US" dirty="0"/>
              <a:t>特殊全嵌套</a:t>
            </a:r>
            <a:endParaRPr lang="zh-CN" altLang="en-US" dirty="0"/>
          </a:p>
          <a:p>
            <a:pPr lvl="1" eaLnBrk="1" hangingPunct="1">
              <a:buNone/>
            </a:pPr>
            <a:r>
              <a:rPr lang="en-US" altLang="zh-CN" sz="2000" dirty="0"/>
              <a:t>1  </a:t>
            </a:r>
            <a:r>
              <a:rPr lang="zh-CN" altLang="en-US" sz="2000" dirty="0"/>
              <a:t>特殊全嵌套方式</a:t>
            </a:r>
            <a:endParaRPr lang="zh-CN" altLang="en-US" sz="2000" dirty="0"/>
          </a:p>
          <a:p>
            <a:pPr lvl="1" eaLnBrk="1" hangingPunct="1">
              <a:buNone/>
            </a:pPr>
            <a:r>
              <a:rPr lang="en-US" altLang="zh-CN" sz="2000" dirty="0"/>
              <a:t>0  </a:t>
            </a:r>
            <a:r>
              <a:rPr lang="zh-CN" altLang="en-US" sz="2000" dirty="0"/>
              <a:t>一般全嵌套方式</a:t>
            </a:r>
            <a:endParaRPr lang="zh-CN" altLang="en-US" sz="2000" dirty="0"/>
          </a:p>
          <a:p>
            <a:pPr eaLnBrk="1" hangingPunct="1"/>
            <a:endParaRPr lang="zh-CN" altLang="en-US" dirty="0"/>
          </a:p>
          <a:p>
            <a:pPr eaLnBrk="1" hangingPunct="1"/>
            <a:r>
              <a:rPr lang="en-US" altLang="zh-CN" dirty="0"/>
              <a:t>AEOI: </a:t>
            </a:r>
            <a:r>
              <a:rPr lang="zh-CN" altLang="en-US" dirty="0"/>
              <a:t>自动</a:t>
            </a:r>
            <a:r>
              <a:rPr lang="en-US" altLang="zh-CN" dirty="0"/>
              <a:t>EOI</a:t>
            </a:r>
            <a:endParaRPr lang="en-US" altLang="zh-CN" dirty="0"/>
          </a:p>
          <a:p>
            <a:pPr lvl="1" eaLnBrk="1" hangingPunct="1">
              <a:buNone/>
            </a:pPr>
            <a:r>
              <a:rPr lang="en-US" altLang="zh-CN" sz="2000" dirty="0"/>
              <a:t>1  </a:t>
            </a:r>
            <a:r>
              <a:rPr lang="zh-CN" altLang="en-US" sz="2000" dirty="0"/>
              <a:t>自动</a:t>
            </a:r>
            <a:r>
              <a:rPr lang="en-US" altLang="zh-CN" sz="2000" dirty="0"/>
              <a:t>EOI</a:t>
            </a:r>
            <a:r>
              <a:rPr lang="zh-CN" altLang="en-US" sz="2000" dirty="0"/>
              <a:t>方式</a:t>
            </a:r>
            <a:endParaRPr lang="zh-CN" altLang="en-US" sz="2000" dirty="0"/>
          </a:p>
          <a:p>
            <a:pPr lvl="1" eaLnBrk="1" hangingPunct="1">
              <a:buNone/>
            </a:pPr>
            <a:r>
              <a:rPr lang="en-US" altLang="zh-CN" sz="2000" dirty="0"/>
              <a:t>0  </a:t>
            </a:r>
            <a:r>
              <a:rPr lang="zh-CN" altLang="en-US" sz="2000" dirty="0"/>
              <a:t>非自动</a:t>
            </a:r>
            <a:r>
              <a:rPr lang="en-US" altLang="zh-CN" sz="2000" dirty="0"/>
              <a:t>EOI</a:t>
            </a:r>
            <a:r>
              <a:rPr lang="zh-CN" altLang="en-US" sz="2000" dirty="0"/>
              <a:t>方式</a:t>
            </a:r>
            <a:endParaRPr lang="zh-CN" altLang="en-US" sz="2000" dirty="0"/>
          </a:p>
        </p:txBody>
      </p:sp>
      <p:sp>
        <p:nvSpPr>
          <p:cNvPr id="232453" name="Rectangle 4"/>
          <p:cNvSpPr/>
          <p:nvPr/>
        </p:nvSpPr>
        <p:spPr>
          <a:xfrm>
            <a:off x="674688" y="2076450"/>
            <a:ext cx="8001000" cy="8636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2400" dirty="0">
                <a:ea typeface="楷体_GB2312"/>
              </a:rPr>
              <a:t>A0</a:t>
            </a:r>
            <a:r>
              <a:rPr lang="en-US" altLang="zh-CN" sz="2400" b="0" dirty="0">
                <a:ea typeface="楷体_GB2312"/>
              </a:rPr>
              <a:t>   	D7	D6     	D5    D4   	D3  	D2   	D1   	D0</a:t>
            </a:r>
            <a:br>
              <a:rPr lang="en-US" altLang="zh-CN" sz="2400" b="0" dirty="0">
                <a:ea typeface="楷体_GB2312"/>
              </a:rPr>
            </a:br>
            <a:r>
              <a:rPr lang="en-US" altLang="zh-CN" sz="2400" b="0" dirty="0">
                <a:ea typeface="楷体_GB2312"/>
              </a:rPr>
              <a:t> </a:t>
            </a:r>
            <a:r>
              <a:rPr lang="en-US" altLang="zh-CN" sz="2400" dirty="0">
                <a:solidFill>
                  <a:srgbClr val="007254"/>
                </a:solidFill>
                <a:ea typeface="楷体_GB2312"/>
              </a:rPr>
              <a:t>1</a:t>
            </a:r>
            <a:r>
              <a:rPr lang="en-US" altLang="zh-CN" sz="2400" dirty="0">
                <a:solidFill>
                  <a:srgbClr val="FF0000"/>
                </a:solidFill>
                <a:ea typeface="楷体_GB2312"/>
              </a:rPr>
              <a:t>	 0         0	 0    SFNM   BUF   M/S    AEOI	 1</a:t>
            </a:r>
            <a:endParaRPr lang="en-US" altLang="zh-CN" sz="2400" dirty="0">
              <a:solidFill>
                <a:srgbClr val="FF0000"/>
              </a:solidFill>
              <a:ea typeface="楷体_GB2312"/>
            </a:endParaRPr>
          </a:p>
        </p:txBody>
      </p:sp>
      <p:sp>
        <p:nvSpPr>
          <p:cNvPr id="232454" name="Rectangle 5"/>
          <p:cNvSpPr/>
          <p:nvPr/>
        </p:nvSpPr>
        <p:spPr>
          <a:xfrm>
            <a:off x="4643438" y="3224213"/>
            <a:ext cx="4032250" cy="2924175"/>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Aft>
                <a:spcPct val="0"/>
              </a:spcAft>
              <a:buSzTx/>
              <a:buFont typeface="Wingdings" panose="05000000000000000000" pitchFamily="2" charset="2"/>
              <a:buChar char="§"/>
            </a:pPr>
            <a:r>
              <a:rPr lang="en-US" altLang="zh-CN" sz="2400" b="0" dirty="0">
                <a:solidFill>
                  <a:schemeClr val="tx1"/>
                </a:solidFill>
                <a:ea typeface="楷体_GB2312"/>
              </a:rPr>
              <a:t>BUF: </a:t>
            </a:r>
            <a:r>
              <a:rPr lang="zh-CN" altLang="en-US" sz="2400" b="0" dirty="0">
                <a:solidFill>
                  <a:schemeClr val="tx1"/>
                </a:solidFill>
                <a:ea typeface="楷体_GB2312"/>
              </a:rPr>
              <a:t>缓冲方式</a:t>
            </a:r>
            <a:endParaRPr lang="zh-CN" altLang="en-US" sz="2400" b="0" dirty="0">
              <a:solidFill>
                <a:schemeClr val="tx1"/>
              </a:solidFill>
              <a:ea typeface="楷体_GB2312"/>
            </a:endParaRPr>
          </a:p>
          <a:p>
            <a:pPr marL="342900" lvl="0" indent="-342900">
              <a:lnSpc>
                <a:spcPct val="100000"/>
              </a:lnSpc>
              <a:spcAft>
                <a:spcPct val="0"/>
              </a:spcAft>
              <a:buSzTx/>
              <a:buNone/>
            </a:pPr>
            <a:r>
              <a:rPr lang="zh-CN" altLang="en-US" sz="2400" b="0" dirty="0">
                <a:solidFill>
                  <a:schemeClr val="tx1"/>
                </a:solidFill>
                <a:ea typeface="楷体_GB2312"/>
              </a:rPr>
              <a:t>    </a:t>
            </a:r>
            <a:r>
              <a:rPr lang="en-US" altLang="zh-CN" sz="2400" b="0" dirty="0">
                <a:solidFill>
                  <a:schemeClr val="tx1"/>
                </a:solidFill>
                <a:ea typeface="楷体_GB2312"/>
              </a:rPr>
              <a:t>M/S: </a:t>
            </a:r>
            <a:r>
              <a:rPr lang="zh-CN" altLang="en-US" sz="2400" b="0" dirty="0">
                <a:solidFill>
                  <a:schemeClr val="tx1"/>
                </a:solidFill>
                <a:ea typeface="楷体_GB2312"/>
              </a:rPr>
              <a:t>主</a:t>
            </a:r>
            <a:r>
              <a:rPr lang="en-US" altLang="zh-CN" sz="2400" b="0" dirty="0">
                <a:solidFill>
                  <a:schemeClr val="tx1"/>
                </a:solidFill>
                <a:ea typeface="楷体_GB2312"/>
              </a:rPr>
              <a:t>/</a:t>
            </a:r>
            <a:r>
              <a:rPr lang="zh-CN" altLang="en-US" sz="2400" b="0" dirty="0">
                <a:solidFill>
                  <a:schemeClr val="tx1"/>
                </a:solidFill>
                <a:ea typeface="楷体_GB2312"/>
              </a:rPr>
              <a:t>从缓冲选择</a:t>
            </a:r>
            <a:endParaRPr lang="zh-CN" altLang="en-US" sz="2400" b="0" dirty="0">
              <a:solidFill>
                <a:schemeClr val="tx1"/>
              </a:solidFill>
              <a:ea typeface="楷体_GB2312"/>
            </a:endParaRPr>
          </a:p>
          <a:p>
            <a:pPr marL="742950" lvl="1" indent="-285750" eaLnBrk="1" hangingPunct="1">
              <a:lnSpc>
                <a:spcPct val="100000"/>
              </a:lnSpc>
              <a:spcAft>
                <a:spcPct val="0"/>
              </a:spcAft>
              <a:buSzTx/>
              <a:buNone/>
            </a:pPr>
            <a:endParaRPr lang="zh-CN" altLang="en-US" sz="2000" i="1" dirty="0">
              <a:ea typeface="楷体_GB2312"/>
            </a:endParaRPr>
          </a:p>
          <a:p>
            <a:pPr marL="742950" lvl="1" indent="-285750" eaLnBrk="1" hangingPunct="1">
              <a:lnSpc>
                <a:spcPct val="100000"/>
              </a:lnSpc>
              <a:spcAft>
                <a:spcPct val="0"/>
              </a:spcAft>
              <a:buSzTx/>
              <a:buNone/>
            </a:pPr>
            <a:r>
              <a:rPr lang="en-US" altLang="zh-CN" sz="2000" i="1" dirty="0">
                <a:ea typeface="楷体_GB2312"/>
              </a:rPr>
              <a:t>BUF  M/S</a:t>
            </a:r>
            <a:endParaRPr lang="en-US" altLang="zh-CN" sz="2000" i="1" dirty="0">
              <a:ea typeface="楷体_GB2312"/>
            </a:endParaRPr>
          </a:p>
          <a:p>
            <a:pPr marL="742950" lvl="1" indent="-285750" eaLnBrk="1" hangingPunct="1">
              <a:lnSpc>
                <a:spcPct val="100000"/>
              </a:lnSpc>
              <a:spcAft>
                <a:spcPct val="0"/>
              </a:spcAft>
              <a:buSzTx/>
              <a:buNone/>
            </a:pPr>
            <a:r>
              <a:rPr lang="en-US" altLang="zh-CN" sz="2000" i="1" dirty="0">
                <a:ea typeface="楷体_GB2312"/>
              </a:rPr>
              <a:t>  1       1    </a:t>
            </a:r>
            <a:r>
              <a:rPr lang="zh-CN" altLang="en-US" sz="2000" i="1" dirty="0">
                <a:ea typeface="楷体_GB2312"/>
              </a:rPr>
              <a:t>缓冲方式</a:t>
            </a:r>
            <a:r>
              <a:rPr lang="en-US" altLang="zh-CN" sz="2000" i="1" dirty="0">
                <a:ea typeface="楷体_GB2312"/>
              </a:rPr>
              <a:t>/</a:t>
            </a:r>
            <a:r>
              <a:rPr lang="zh-CN" altLang="en-US" sz="2000" i="1" dirty="0">
                <a:ea typeface="楷体_GB2312"/>
              </a:rPr>
              <a:t>主</a:t>
            </a:r>
            <a:r>
              <a:rPr lang="en-US" altLang="zh-CN" sz="2000" i="1" dirty="0">
                <a:ea typeface="楷体_GB2312"/>
              </a:rPr>
              <a:t>PIC</a:t>
            </a:r>
            <a:endParaRPr lang="en-US" altLang="zh-CN" sz="2000" i="1" dirty="0">
              <a:ea typeface="楷体_GB2312"/>
            </a:endParaRPr>
          </a:p>
          <a:p>
            <a:pPr marL="742950" lvl="1" indent="-285750" eaLnBrk="1" hangingPunct="1">
              <a:lnSpc>
                <a:spcPct val="100000"/>
              </a:lnSpc>
              <a:spcAft>
                <a:spcPct val="0"/>
              </a:spcAft>
              <a:buSzTx/>
              <a:buNone/>
            </a:pPr>
            <a:r>
              <a:rPr lang="en-US" altLang="zh-CN" sz="2000" i="1" dirty="0">
                <a:ea typeface="楷体_GB2312"/>
              </a:rPr>
              <a:t>  1       0    </a:t>
            </a:r>
            <a:r>
              <a:rPr lang="zh-CN" altLang="en-US" sz="2000" i="1" dirty="0">
                <a:ea typeface="楷体_GB2312"/>
              </a:rPr>
              <a:t>缓冲方式</a:t>
            </a:r>
            <a:r>
              <a:rPr lang="en-US" altLang="zh-CN" sz="2000" i="1" dirty="0">
                <a:ea typeface="楷体_GB2312"/>
              </a:rPr>
              <a:t>/</a:t>
            </a:r>
            <a:r>
              <a:rPr lang="zh-CN" altLang="en-US" sz="2000" i="1" dirty="0">
                <a:ea typeface="楷体_GB2312"/>
              </a:rPr>
              <a:t>从</a:t>
            </a:r>
            <a:r>
              <a:rPr lang="en-US" altLang="zh-CN" sz="2000" i="1" dirty="0">
                <a:ea typeface="楷体_GB2312"/>
              </a:rPr>
              <a:t>PIC</a:t>
            </a:r>
            <a:endParaRPr lang="en-US" altLang="zh-CN" sz="2000" i="1" dirty="0">
              <a:ea typeface="楷体_GB2312"/>
            </a:endParaRPr>
          </a:p>
          <a:p>
            <a:pPr marL="742950" lvl="1" indent="-285750" eaLnBrk="1" hangingPunct="1">
              <a:lnSpc>
                <a:spcPct val="100000"/>
              </a:lnSpc>
              <a:spcAft>
                <a:spcPct val="0"/>
              </a:spcAft>
              <a:buSzTx/>
              <a:buNone/>
            </a:pPr>
            <a:r>
              <a:rPr lang="en-US" altLang="zh-CN" sz="2000" i="1" dirty="0">
                <a:ea typeface="楷体_GB2312"/>
              </a:rPr>
              <a:t>  0       x    </a:t>
            </a:r>
            <a:r>
              <a:rPr lang="zh-CN" altLang="en-US" sz="2000" i="1" dirty="0">
                <a:ea typeface="楷体_GB2312"/>
              </a:rPr>
              <a:t>非缓冲方式</a:t>
            </a:r>
            <a:r>
              <a:rPr lang="en-US" altLang="zh-CN" sz="2000" i="1" dirty="0">
                <a:ea typeface="楷体_GB2312"/>
              </a:rPr>
              <a:t>/</a:t>
            </a:r>
            <a:r>
              <a:rPr lang="zh-CN" altLang="en-US" sz="2000" i="1" dirty="0">
                <a:ea typeface="楷体_GB2312"/>
              </a:rPr>
              <a:t>正常</a:t>
            </a:r>
            <a:endParaRPr lang="zh-CN" altLang="en-US" sz="2000" i="1" dirty="0">
              <a:ea typeface="楷体_GB2312"/>
            </a:endParaRPr>
          </a:p>
        </p:txBody>
      </p:sp>
      <p:sp>
        <p:nvSpPr>
          <p:cNvPr id="232455" name="Line 6"/>
          <p:cNvSpPr/>
          <p:nvPr/>
        </p:nvSpPr>
        <p:spPr>
          <a:xfrm>
            <a:off x="5147945" y="4509135"/>
            <a:ext cx="576263" cy="0"/>
          </a:xfrm>
          <a:prstGeom prst="line">
            <a:avLst/>
          </a:prstGeom>
          <a:ln w="28575" cap="flat" cmpd="sng">
            <a:solidFill>
              <a:schemeClr val="tx1"/>
            </a:solidFill>
            <a:prstDash val="solid"/>
            <a:bevel/>
            <a:headEnd type="none" w="med" len="med"/>
            <a:tailEnd type="none" w="med" len="med"/>
          </a:ln>
        </p:spPr>
      </p:sp>
      <p:sp>
        <p:nvSpPr>
          <p:cNvPr id="232456" name="Line 7"/>
          <p:cNvSpPr/>
          <p:nvPr/>
        </p:nvSpPr>
        <p:spPr>
          <a:xfrm flipV="1">
            <a:off x="6156325" y="4509135"/>
            <a:ext cx="287338" cy="0"/>
          </a:xfrm>
          <a:prstGeom prst="line">
            <a:avLst/>
          </a:prstGeom>
          <a:ln w="28575" cap="flat" cmpd="sng">
            <a:solidFill>
              <a:schemeClr val="tx1"/>
            </a:solidFill>
            <a:prstDash val="solid"/>
            <a:bevel/>
            <a:headEnd type="none" w="med" len="med"/>
            <a:tailEnd type="none" w="med" len="med"/>
          </a:ln>
        </p:spPr>
      </p:sp>
    </p:spTree>
  </p:cSld>
  <p:clrMapOvr>
    <a:masterClrMapping/>
  </p:clrMapOvr>
  <p:transition spd="slow">
    <p:zoom/>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8" name="Rectangle 2"/>
          <p:cNvSpPr>
            <a:spLocks noGrp="1"/>
          </p:cNvSpPr>
          <p:nvPr>
            <p:ph type="body" idx="4294967295"/>
          </p:nvPr>
        </p:nvSpPr>
        <p:spPr>
          <a:xfrm>
            <a:off x="381000" y="1846263"/>
            <a:ext cx="8575675" cy="4895850"/>
          </a:xfrm>
        </p:spPr>
        <p:txBody>
          <a:bodyPr vert="horz" wrap="square" lIns="91440" tIns="45720" rIns="91440" bIns="45720" anchor="t" anchorCtr="0"/>
          <a:p>
            <a:pPr marL="0" indent="0">
              <a:lnSpc>
                <a:spcPct val="130000"/>
              </a:lnSpc>
              <a:buNone/>
            </a:pPr>
            <a:r>
              <a:rPr lang="zh-CN" altLang="en-US" sz="2400" dirty="0">
                <a:solidFill>
                  <a:schemeClr val="hlink"/>
                </a:solidFill>
              </a:rPr>
              <a:t>两种方式（总线连接方式）：缓冲方式和非缓冲方式</a:t>
            </a:r>
            <a:endParaRPr lang="zh-CN" altLang="en-US" sz="2400" dirty="0">
              <a:solidFill>
                <a:schemeClr val="hlink"/>
              </a:solidFill>
            </a:endParaRPr>
          </a:p>
          <a:p>
            <a:pPr marL="0" indent="0">
              <a:lnSpc>
                <a:spcPct val="130000"/>
              </a:lnSpc>
              <a:buNone/>
            </a:pPr>
            <a:r>
              <a:rPr lang="zh-CN" altLang="en-US" sz="1800" dirty="0"/>
              <a:t>① 缓冲方式 </a:t>
            </a:r>
            <a:endParaRPr lang="zh-CN" altLang="en-US" sz="1800" dirty="0"/>
          </a:p>
          <a:p>
            <a:pPr marL="0" indent="0">
              <a:lnSpc>
                <a:spcPct val="130000"/>
              </a:lnSpc>
              <a:buNone/>
            </a:pPr>
            <a:r>
              <a:rPr lang="zh-CN" altLang="en-US" sz="1800" dirty="0"/>
              <a:t>      </a:t>
            </a:r>
            <a:r>
              <a:rPr lang="zh-CN" altLang="en-US" sz="1800" dirty="0">
                <a:solidFill>
                  <a:srgbClr val="FF0000"/>
                </a:solidFill>
              </a:rPr>
              <a:t>多片</a:t>
            </a:r>
            <a:r>
              <a:rPr lang="en-US" altLang="zh-CN" sz="1800" dirty="0">
                <a:solidFill>
                  <a:srgbClr val="FF0000"/>
                </a:solidFill>
              </a:rPr>
              <a:t>8259A</a:t>
            </a:r>
            <a:r>
              <a:rPr lang="zh-CN" altLang="en-US" sz="1800" dirty="0">
                <a:solidFill>
                  <a:srgbClr val="FF0000"/>
                </a:solidFill>
              </a:rPr>
              <a:t>级连</a:t>
            </a:r>
            <a:r>
              <a:rPr lang="zh-CN" altLang="en-US" sz="1800" dirty="0"/>
              <a:t>的大系统中，</a:t>
            </a:r>
            <a:r>
              <a:rPr lang="en-US" altLang="zh-CN" sz="1800" dirty="0"/>
              <a:t>8259A</a:t>
            </a:r>
            <a:r>
              <a:rPr lang="zh-CN" altLang="en-US" sz="1800" dirty="0"/>
              <a:t>通过总线驱动器和数据总线相连，即为缓冲方式。该方式下，将</a:t>
            </a:r>
            <a:r>
              <a:rPr lang="en-US" altLang="zh-CN" sz="1800" dirty="0"/>
              <a:t>8259A</a:t>
            </a:r>
            <a:r>
              <a:rPr lang="zh-CN" altLang="en-US" sz="1800" dirty="0"/>
              <a:t>的</a:t>
            </a:r>
            <a:r>
              <a:rPr lang="en-US" altLang="zh-CN" sz="1800" dirty="0"/>
              <a:t>SP/EN</a:t>
            </a:r>
            <a:r>
              <a:rPr lang="zh-CN" altLang="en-US" sz="1800" dirty="0"/>
              <a:t>端和总线驱动器的允许端相连。此时主从片的区分不能依靠</a:t>
            </a:r>
            <a:r>
              <a:rPr lang="en-US" altLang="zh-CN" sz="1800" dirty="0"/>
              <a:t>SP/EN</a:t>
            </a:r>
            <a:r>
              <a:rPr lang="zh-CN" altLang="en-US" sz="1800" dirty="0"/>
              <a:t>脚，而是要通过</a:t>
            </a:r>
            <a:r>
              <a:rPr lang="en-US" altLang="zh-CN" sz="1800" dirty="0"/>
              <a:t>ICW4</a:t>
            </a:r>
            <a:r>
              <a:rPr lang="zh-CN" altLang="en-US" sz="1800" dirty="0"/>
              <a:t>的</a:t>
            </a:r>
            <a:r>
              <a:rPr lang="en-US" altLang="zh-CN" sz="1800" dirty="0"/>
              <a:t>D2</a:t>
            </a:r>
            <a:r>
              <a:rPr lang="zh-CN" altLang="en-US" sz="1800" dirty="0"/>
              <a:t>位决定。</a:t>
            </a:r>
            <a:endParaRPr lang="zh-CN" altLang="en-US" sz="1800" dirty="0"/>
          </a:p>
          <a:p>
            <a:pPr marL="0" indent="0">
              <a:lnSpc>
                <a:spcPct val="130000"/>
              </a:lnSpc>
              <a:buNone/>
            </a:pPr>
            <a:r>
              <a:rPr lang="zh-CN" altLang="en-US" sz="1800" dirty="0"/>
              <a:t>② 非缓冲方式 </a:t>
            </a:r>
            <a:endParaRPr lang="zh-CN" altLang="en-US" sz="1800" dirty="0"/>
          </a:p>
          <a:p>
            <a:pPr marL="0" indent="0">
              <a:lnSpc>
                <a:spcPct val="130000"/>
              </a:lnSpc>
              <a:buNone/>
            </a:pPr>
            <a:r>
              <a:rPr lang="zh-CN" altLang="en-US" sz="1800" dirty="0"/>
              <a:t>      当系统中只有</a:t>
            </a:r>
            <a:r>
              <a:rPr lang="zh-CN" altLang="en-US" sz="1800" dirty="0">
                <a:solidFill>
                  <a:srgbClr val="FF0000"/>
                </a:solidFill>
              </a:rPr>
              <a:t>单片</a:t>
            </a:r>
            <a:r>
              <a:rPr lang="en-US" altLang="zh-CN" sz="1800" dirty="0">
                <a:solidFill>
                  <a:srgbClr val="FF0000"/>
                </a:solidFill>
              </a:rPr>
              <a:t>8259A</a:t>
            </a:r>
            <a:r>
              <a:rPr lang="zh-CN" altLang="en-US" sz="1800" dirty="0"/>
              <a:t>时，将它直接与数据总线相连；在某些不太大的系统中，即使有多片</a:t>
            </a:r>
            <a:r>
              <a:rPr lang="en-US" altLang="zh-CN" sz="1800" dirty="0"/>
              <a:t>8259A</a:t>
            </a:r>
            <a:r>
              <a:rPr lang="zh-CN" altLang="en-US" sz="1800" dirty="0"/>
              <a:t>工作在级连方式，只要片数不多，也可将</a:t>
            </a:r>
            <a:r>
              <a:rPr lang="en-US" altLang="zh-CN" sz="1800" dirty="0"/>
              <a:t>8259A</a:t>
            </a:r>
            <a:r>
              <a:rPr lang="zh-CN" altLang="en-US" sz="1800" dirty="0"/>
              <a:t>直接与数据总线相连。在非缓冲方式下，</a:t>
            </a:r>
            <a:r>
              <a:rPr lang="en-US" altLang="zh-CN" sz="1800" dirty="0"/>
              <a:t>8259A</a:t>
            </a:r>
            <a:r>
              <a:rPr lang="zh-CN" altLang="en-US" sz="1800" dirty="0"/>
              <a:t>的 </a:t>
            </a:r>
            <a:r>
              <a:rPr lang="en-US" altLang="zh-CN" sz="1800" dirty="0"/>
              <a:t>SP/EN</a:t>
            </a:r>
            <a:r>
              <a:rPr lang="zh-CN" altLang="en-US" sz="1800" dirty="0"/>
              <a:t>端作为输入端。当系统中只有单片</a:t>
            </a:r>
            <a:r>
              <a:rPr lang="en-US" altLang="zh-CN" sz="1800" dirty="0"/>
              <a:t>8259A</a:t>
            </a:r>
            <a:r>
              <a:rPr lang="zh-CN" altLang="en-US" sz="1800" dirty="0"/>
              <a:t>时，此端必须接高电平；主从片由硬件引脚确定：主片的</a:t>
            </a:r>
            <a:r>
              <a:rPr lang="en-US" altLang="zh-CN" sz="1800" dirty="0"/>
              <a:t>SP/EN</a:t>
            </a:r>
            <a:r>
              <a:rPr lang="zh-CN" altLang="en-US" sz="1800" dirty="0"/>
              <a:t>端接高电平，从片的 </a:t>
            </a:r>
            <a:r>
              <a:rPr lang="en-US" altLang="zh-CN" sz="1800" dirty="0"/>
              <a:t>SP/EN</a:t>
            </a:r>
            <a:r>
              <a:rPr lang="zh-CN" altLang="en-US" sz="1800" dirty="0"/>
              <a:t>端接低电平。</a:t>
            </a:r>
            <a:endParaRPr lang="zh-CN" altLang="en-US" sz="1800" dirty="0"/>
          </a:p>
          <a:p>
            <a:pPr marL="0" indent="0">
              <a:lnSpc>
                <a:spcPct val="130000"/>
              </a:lnSpc>
              <a:buNone/>
            </a:pPr>
            <a:r>
              <a:rPr lang="en-US" altLang="zh-CN" sz="1800" dirty="0">
                <a:solidFill>
                  <a:schemeClr val="hlink"/>
                </a:solidFill>
              </a:rPr>
              <a:t>PC</a:t>
            </a:r>
            <a:r>
              <a:rPr lang="zh-CN" altLang="en-US" sz="1800" dirty="0">
                <a:solidFill>
                  <a:schemeClr val="hlink"/>
                </a:solidFill>
              </a:rPr>
              <a:t>机初始化为非缓冲方式</a:t>
            </a:r>
            <a:endParaRPr lang="zh-CN" altLang="en-US" sz="1800" dirty="0">
              <a:solidFill>
                <a:schemeClr val="hlink"/>
              </a:solidFill>
            </a:endParaRPr>
          </a:p>
        </p:txBody>
      </p:sp>
    </p:spTree>
  </p:cSld>
  <p:clrMapOvr>
    <a:masterClrMapping/>
  </p:clrMapOvr>
  <p:transition spd="slow">
    <p:zoom/>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6546" name="Rectangle 2"/>
          <p:cNvSpPr>
            <a:spLocks noGrp="1"/>
          </p:cNvSpPr>
          <p:nvPr>
            <p:ph type="title" idx="4294967295"/>
          </p:nvPr>
        </p:nvSpPr>
        <p:spPr>
          <a:xfrm>
            <a:off x="1116013" y="1052513"/>
            <a:ext cx="7772400" cy="685800"/>
          </a:xfrm>
        </p:spPr>
        <p:txBody>
          <a:bodyPr vert="horz" wrap="square" lIns="91440" tIns="45720" rIns="91440" bIns="45720" anchor="b" anchorCtr="0"/>
          <a:p>
            <a:r>
              <a:rPr lang="zh-CN" altLang="en-US" sz="2400" dirty="0">
                <a:solidFill>
                  <a:schemeClr val="hlink"/>
                </a:solidFill>
                <a:latin typeface="Times New Roman" panose="02020603050405020304" pitchFamily="18" charset="0"/>
              </a:rPr>
              <a:t>图</a:t>
            </a:r>
            <a:r>
              <a:rPr lang="en-US" altLang="zh-CN" sz="2400" dirty="0">
                <a:solidFill>
                  <a:schemeClr val="hlink"/>
                </a:solidFill>
                <a:latin typeface="Times New Roman" panose="02020603050405020304" pitchFamily="18" charset="0"/>
              </a:rPr>
              <a:t>:  8259A</a:t>
            </a:r>
            <a:r>
              <a:rPr lang="zh-CN" altLang="en-US" sz="2400" dirty="0">
                <a:solidFill>
                  <a:srgbClr val="CC0000"/>
                </a:solidFill>
                <a:latin typeface="Times New Roman" panose="02020603050405020304" pitchFamily="18" charset="0"/>
              </a:rPr>
              <a:t>缓冲方式</a:t>
            </a:r>
            <a:r>
              <a:rPr lang="zh-CN" altLang="en-US" sz="2400" dirty="0">
                <a:solidFill>
                  <a:schemeClr val="hlink"/>
                </a:solidFill>
                <a:latin typeface="Times New Roman" panose="02020603050405020304" pitchFamily="18" charset="0"/>
              </a:rPr>
              <a:t>下级连结构</a:t>
            </a:r>
            <a:endParaRPr lang="zh-CN" altLang="en-US" sz="2400" dirty="0">
              <a:solidFill>
                <a:schemeClr val="hlink"/>
              </a:solidFill>
              <a:latin typeface="Times New Roman" panose="02020603050405020304" pitchFamily="18" charset="0"/>
            </a:endParaRPr>
          </a:p>
        </p:txBody>
      </p:sp>
      <p:graphicFrame>
        <p:nvGraphicFramePr>
          <p:cNvPr id="236547" name="Object 3"/>
          <p:cNvGraphicFramePr>
            <a:graphicFrameLocks noChangeAspect="1"/>
          </p:cNvGraphicFramePr>
          <p:nvPr/>
        </p:nvGraphicFramePr>
        <p:xfrm>
          <a:off x="360363" y="2347913"/>
          <a:ext cx="8534400" cy="4510087"/>
        </p:xfrm>
        <a:graphic>
          <a:graphicData uri="http://schemas.openxmlformats.org/presentationml/2006/ole">
            <mc:AlternateContent xmlns:mc="http://schemas.openxmlformats.org/markup-compatibility/2006">
              <mc:Choice xmlns:v="urn:schemas-microsoft-com:vml" Requires="v">
                <p:oleObj spid="_x0000_s3085" name="" r:id="rId1" imgW="5848350" imgH="3267075" progId="Word.Picture.8">
                  <p:embed/>
                </p:oleObj>
              </mc:Choice>
              <mc:Fallback>
                <p:oleObj name="" r:id="rId1" imgW="5848350" imgH="3267075" progId="Word.Picture.8">
                  <p:embed/>
                  <p:pic>
                    <p:nvPicPr>
                      <p:cNvPr id="0" name="图片 3084"/>
                      <p:cNvPicPr/>
                      <p:nvPr/>
                    </p:nvPicPr>
                    <p:blipFill>
                      <a:blip r:embed="rId2"/>
                      <a:stretch>
                        <a:fillRect/>
                      </a:stretch>
                    </p:blipFill>
                    <p:spPr>
                      <a:xfrm>
                        <a:off x="360363" y="2347913"/>
                        <a:ext cx="8534400" cy="4510087"/>
                      </a:xfrm>
                      <a:prstGeom prst="rect">
                        <a:avLst/>
                      </a:prstGeom>
                      <a:noFill/>
                      <a:ln w="38100">
                        <a:noFill/>
                        <a:miter/>
                      </a:ln>
                    </p:spPr>
                  </p:pic>
                </p:oleObj>
              </mc:Fallback>
            </mc:AlternateContent>
          </a:graphicData>
        </a:graphic>
      </p:graphicFrame>
      <p:pic>
        <p:nvPicPr>
          <p:cNvPr id="164868" name="Picture 4"/>
          <p:cNvPicPr>
            <a:picLocks noChangeAspect="1"/>
          </p:cNvPicPr>
          <p:nvPr/>
        </p:nvPicPr>
        <p:blipFill>
          <a:blip r:embed="rId3"/>
          <a:stretch>
            <a:fillRect/>
          </a:stretch>
        </p:blipFill>
        <p:spPr>
          <a:xfrm>
            <a:off x="5940425" y="981075"/>
            <a:ext cx="3171825" cy="2209800"/>
          </a:xfrm>
          <a:prstGeom prst="rect">
            <a:avLst/>
          </a:prstGeom>
          <a:noFill/>
          <a:ln w="9525" cap="flat" cmpd="sng">
            <a:solidFill>
              <a:srgbClr val="0033CC"/>
            </a:solidFill>
            <a:prstDash val="solid"/>
            <a:miter/>
            <a:headEnd type="none" w="med" len="med"/>
            <a:tailEnd type="none" w="med" len="med"/>
          </a:ln>
        </p:spPr>
      </p:pic>
      <p:sp>
        <p:nvSpPr>
          <p:cNvPr id="236549" name="Rectangle 5"/>
          <p:cNvSpPr/>
          <p:nvPr/>
        </p:nvSpPr>
        <p:spPr>
          <a:xfrm>
            <a:off x="828675" y="1765300"/>
            <a:ext cx="5024438" cy="412750"/>
          </a:xfrm>
          <a:prstGeom prst="rect">
            <a:avLst/>
          </a:prstGeom>
          <a:noFill/>
          <a:ln w="15875" cap="flat" cmpd="sng">
            <a:solidFill>
              <a:srgbClr val="0033CC"/>
            </a:solidFill>
            <a:prstDash val="sysDot"/>
            <a:miter/>
            <a:headEnd type="none" w="med" len="med"/>
            <a:tailEnd type="none" w="med" len="med"/>
          </a:ln>
        </p:spPr>
        <p:txBody>
          <a:bodyPr anchor="ctr" anchorCtr="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214630">
              <a:lnSpc>
                <a:spcPct val="100000"/>
              </a:lnSpc>
              <a:spcBef>
                <a:spcPct val="0"/>
              </a:spcBef>
              <a:spcAft>
                <a:spcPct val="0"/>
              </a:spcAft>
              <a:buClrTx/>
              <a:buSzTx/>
              <a:buFont typeface="Arial" panose="020B0604020202020204" pitchFamily="34" charset="0"/>
              <a:buNone/>
            </a:pPr>
            <a:r>
              <a:rPr lang="en-US" altLang="zh-CN" sz="2000" b="0" dirty="0">
                <a:solidFill>
                  <a:srgbClr val="006600"/>
                </a:solidFill>
                <a:ea typeface="楷体_GB2312"/>
              </a:rPr>
              <a:t>74LS245</a:t>
            </a:r>
            <a:r>
              <a:rPr lang="zh-CN" altLang="en-US" sz="2000" b="0" dirty="0">
                <a:solidFill>
                  <a:srgbClr val="006600"/>
                </a:solidFill>
                <a:ea typeface="楷体_GB2312"/>
              </a:rPr>
              <a:t>：</a:t>
            </a:r>
            <a:r>
              <a:rPr lang="en-US" altLang="zh-CN" sz="2000" b="0" dirty="0">
                <a:solidFill>
                  <a:srgbClr val="006600"/>
                </a:solidFill>
                <a:ea typeface="楷体_GB2312"/>
              </a:rPr>
              <a:t>8</a:t>
            </a:r>
            <a:r>
              <a:rPr lang="zh-CN" altLang="en-US" sz="2000" b="0" dirty="0">
                <a:solidFill>
                  <a:srgbClr val="006600"/>
                </a:solidFill>
                <a:ea typeface="楷体_GB2312"/>
              </a:rPr>
              <a:t>路同相三态双向总线收发器</a:t>
            </a:r>
            <a:r>
              <a:rPr lang="zh-CN" altLang="en-US" sz="2000" dirty="0">
                <a:solidFill>
                  <a:srgbClr val="006600"/>
                </a:solidFill>
                <a:ea typeface="楷体_GB2312"/>
              </a:rPr>
              <a:t> </a:t>
            </a:r>
            <a:endParaRPr lang="zh-CN" altLang="en-US" sz="2000" dirty="0">
              <a:solidFill>
                <a:srgbClr val="006600"/>
              </a:solidFill>
              <a:ea typeface="楷体_GB2312"/>
            </a:endParaRPr>
          </a:p>
        </p:txBody>
      </p:sp>
      <p:sp>
        <p:nvSpPr>
          <p:cNvPr id="2" name="矩形 1"/>
          <p:cNvSpPr/>
          <p:nvPr/>
        </p:nvSpPr>
        <p:spPr>
          <a:xfrm>
            <a:off x="828675" y="2924175"/>
            <a:ext cx="8066088" cy="15128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8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xit" presetSubtype="10" fill="hold" nodeType="clickEffect">
                                  <p:stCondLst>
                                    <p:cond delay="0"/>
                                  </p:stCondLst>
                                  <p:childTnLst>
                                    <p:animEffect transition="out" filter="blinds(horizontal)">
                                      <p:cBhvr>
                                        <p:cTn id="10" dur="500"/>
                                        <p:tgtEl>
                                          <p:spTgt spid="164868"/>
                                        </p:tgtEl>
                                      </p:cBhvr>
                                    </p:animEffect>
                                    <p:set>
                                      <p:cBhvr>
                                        <p:cTn id="11" dur="1" fill="hold">
                                          <p:stCondLst>
                                            <p:cond delay="499"/>
                                          </p:stCondLst>
                                        </p:cTn>
                                        <p:tgtEl>
                                          <p:spTgt spid="1648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4" name="内容占位符 2"/>
          <p:cNvSpPr>
            <a:spLocks noGrp="1"/>
          </p:cNvSpPr>
          <p:nvPr>
            <p:ph idx="4294967295"/>
          </p:nvPr>
        </p:nvSpPr>
        <p:spPr>
          <a:xfrm>
            <a:off x="-87312" y="1989138"/>
            <a:ext cx="9251950" cy="5013325"/>
          </a:xfrm>
        </p:spPr>
        <p:txBody>
          <a:bodyPr vert="horz" wrap="square" lIns="91440" tIns="45720" rIns="91440" bIns="45720" anchor="t" anchorCtr="0"/>
          <a:p>
            <a:r>
              <a:rPr lang="zh-CN" altLang="en-US" sz="2000" dirty="0"/>
              <a:t>例</a:t>
            </a:r>
            <a:r>
              <a:rPr lang="en-US" altLang="zh-CN" sz="2000" dirty="0"/>
              <a:t>. PC/XT</a:t>
            </a:r>
            <a:r>
              <a:rPr lang="zh-CN" altLang="en-US" sz="2000" dirty="0"/>
              <a:t>机，</a:t>
            </a:r>
            <a:r>
              <a:rPr lang="en-US" altLang="zh-CN" sz="2000" dirty="0"/>
              <a:t>CPU</a:t>
            </a:r>
            <a:r>
              <a:rPr lang="zh-CN" altLang="en-US" sz="2000" dirty="0"/>
              <a:t>为</a:t>
            </a:r>
            <a:r>
              <a:rPr lang="en-US" altLang="zh-CN" sz="2000" dirty="0"/>
              <a:t>8088</a:t>
            </a:r>
            <a:r>
              <a:rPr lang="zh-CN" altLang="en-US" sz="2000" dirty="0"/>
              <a:t>，</a:t>
            </a:r>
            <a:r>
              <a:rPr lang="en-US" altLang="zh-CN" sz="2000" dirty="0"/>
              <a:t>8259A</a:t>
            </a:r>
            <a:r>
              <a:rPr lang="zh-CN" altLang="en-US" sz="2000" dirty="0"/>
              <a:t>与系统总线间采用缓冲器连接，非自动结束方式，只用</a:t>
            </a:r>
            <a:r>
              <a:rPr lang="en-US" altLang="zh-CN" sz="2000" dirty="0"/>
              <a:t>1</a:t>
            </a:r>
            <a:r>
              <a:rPr lang="zh-CN" altLang="en-US" sz="2000" dirty="0"/>
              <a:t>片</a:t>
            </a:r>
            <a:r>
              <a:rPr lang="en-US" altLang="zh-CN" sz="2000" dirty="0"/>
              <a:t>8259A</a:t>
            </a:r>
            <a:r>
              <a:rPr lang="zh-CN" altLang="en-US" sz="2000" dirty="0"/>
              <a:t>，正常完全嵌套。</a:t>
            </a:r>
            <a:endParaRPr lang="zh-CN" altLang="en-US" sz="2000" dirty="0"/>
          </a:p>
          <a:p>
            <a:pPr>
              <a:buNone/>
            </a:pPr>
            <a:r>
              <a:rPr lang="zh-CN" altLang="en-US" sz="2000" dirty="0"/>
              <a:t>     </a:t>
            </a:r>
            <a:r>
              <a:rPr lang="en-US" altLang="zh-CN" sz="2000" dirty="0"/>
              <a:t>ICW4=00001101B=0DH</a:t>
            </a:r>
            <a:endParaRPr lang="en-US" altLang="zh-CN" sz="2000" dirty="0"/>
          </a:p>
          <a:p>
            <a:pPr>
              <a:buNone/>
            </a:pPr>
            <a:r>
              <a:rPr lang="en-US" altLang="zh-CN" sz="2000" dirty="0"/>
              <a:t>     MOV  AL</a:t>
            </a:r>
            <a:r>
              <a:rPr lang="zh-CN" altLang="en-US" sz="2000" dirty="0"/>
              <a:t>，</a:t>
            </a:r>
            <a:r>
              <a:rPr lang="en-US" altLang="zh-CN" sz="2000" dirty="0"/>
              <a:t>0DH</a:t>
            </a:r>
            <a:endParaRPr lang="en-US" altLang="zh-CN" sz="2000" dirty="0"/>
          </a:p>
          <a:p>
            <a:pPr>
              <a:buNone/>
            </a:pPr>
            <a:r>
              <a:rPr lang="en-US" altLang="zh-CN" sz="2000" dirty="0"/>
              <a:t>     OUT  21H</a:t>
            </a:r>
            <a:r>
              <a:rPr lang="zh-CN" altLang="en-US" sz="2000" dirty="0"/>
              <a:t>，</a:t>
            </a:r>
            <a:r>
              <a:rPr lang="en-US" altLang="zh-CN" sz="2000" dirty="0"/>
              <a:t>AL</a:t>
            </a:r>
            <a:endParaRPr lang="en-US" altLang="zh-CN" sz="2000" dirty="0"/>
          </a:p>
          <a:p>
            <a:endParaRPr lang="en-US" altLang="zh-CN" sz="2000" dirty="0"/>
          </a:p>
          <a:p>
            <a:r>
              <a:rPr lang="zh-CN" altLang="en-US" sz="2000" dirty="0"/>
              <a:t>例</a:t>
            </a:r>
            <a:r>
              <a:rPr lang="en-US" altLang="zh-CN" sz="2000" dirty="0"/>
              <a:t>. TP86</a:t>
            </a:r>
            <a:r>
              <a:rPr lang="zh-CN" altLang="en-US" sz="2000" dirty="0"/>
              <a:t>单板机，</a:t>
            </a:r>
            <a:r>
              <a:rPr lang="en-US" altLang="zh-CN" sz="2000" dirty="0"/>
              <a:t>CPU</a:t>
            </a:r>
            <a:r>
              <a:rPr lang="zh-CN" altLang="en-US" sz="2000" dirty="0"/>
              <a:t>为</a:t>
            </a:r>
            <a:r>
              <a:rPr lang="en-US" altLang="zh-CN" sz="2000" dirty="0"/>
              <a:t>8086</a:t>
            </a:r>
            <a:r>
              <a:rPr lang="zh-CN" altLang="en-US" sz="2000" dirty="0"/>
              <a:t>，采用非自动结束方式，使用</a:t>
            </a:r>
            <a:r>
              <a:rPr lang="en-US" altLang="zh-CN" sz="2000" dirty="0"/>
              <a:t>2</a:t>
            </a:r>
            <a:r>
              <a:rPr lang="zh-CN" altLang="en-US" sz="2000" dirty="0"/>
              <a:t>片</a:t>
            </a:r>
            <a:r>
              <a:rPr lang="en-US" altLang="zh-CN" sz="2000" dirty="0"/>
              <a:t>8259A</a:t>
            </a:r>
            <a:r>
              <a:rPr lang="zh-CN" altLang="en-US" sz="2000" dirty="0"/>
              <a:t>，非缓冲方式，采用特殊全嵌套方式。</a:t>
            </a:r>
            <a:endParaRPr lang="zh-CN" altLang="en-US" sz="2000" dirty="0"/>
          </a:p>
          <a:p>
            <a:pPr>
              <a:buNone/>
            </a:pPr>
            <a:r>
              <a:rPr lang="zh-CN" altLang="en-US" sz="2000" dirty="0"/>
              <a:t>     </a:t>
            </a:r>
            <a:r>
              <a:rPr lang="en-US" altLang="zh-CN" sz="2000" dirty="0"/>
              <a:t>ICW4</a:t>
            </a:r>
            <a:r>
              <a:rPr lang="zh-CN" altLang="en-US" sz="2000" dirty="0"/>
              <a:t>＝</a:t>
            </a:r>
            <a:r>
              <a:rPr lang="en-US" altLang="zh-CN" sz="2000" dirty="0"/>
              <a:t>00010001B</a:t>
            </a:r>
            <a:r>
              <a:rPr lang="zh-CN" altLang="en-US" sz="2000" dirty="0"/>
              <a:t>＝</a:t>
            </a:r>
            <a:r>
              <a:rPr lang="en-US" altLang="zh-CN" sz="2000" dirty="0"/>
              <a:t>11H</a:t>
            </a:r>
            <a:endParaRPr lang="en-US" altLang="zh-CN" sz="2000" dirty="0"/>
          </a:p>
          <a:p>
            <a:pPr>
              <a:buNone/>
            </a:pPr>
            <a:r>
              <a:rPr lang="en-US" altLang="zh-CN" sz="2000" dirty="0"/>
              <a:t>     MOV  DX</a:t>
            </a:r>
            <a:r>
              <a:rPr lang="zh-CN" altLang="en-US" sz="2000" dirty="0"/>
              <a:t>，</a:t>
            </a:r>
            <a:r>
              <a:rPr lang="en-US" altLang="zh-CN" sz="2000" dirty="0"/>
              <a:t>FFDEH</a:t>
            </a:r>
            <a:endParaRPr lang="en-US" altLang="zh-CN" sz="2000" dirty="0"/>
          </a:p>
          <a:p>
            <a:pPr>
              <a:buNone/>
            </a:pPr>
            <a:r>
              <a:rPr lang="en-US" altLang="zh-CN" sz="2000" dirty="0"/>
              <a:t>     MOV  AL</a:t>
            </a:r>
            <a:r>
              <a:rPr lang="zh-CN" altLang="en-US" sz="2000" dirty="0"/>
              <a:t>，</a:t>
            </a:r>
            <a:r>
              <a:rPr lang="en-US" altLang="zh-CN" sz="2000" dirty="0"/>
              <a:t>11H</a:t>
            </a:r>
            <a:endParaRPr lang="en-US" altLang="zh-CN" sz="2000" dirty="0"/>
          </a:p>
          <a:p>
            <a:pPr>
              <a:buNone/>
            </a:pPr>
            <a:r>
              <a:rPr lang="en-US" altLang="zh-CN" sz="2000" dirty="0"/>
              <a:t>     OUT  DX</a:t>
            </a:r>
            <a:r>
              <a:rPr lang="zh-CN" altLang="en-US" sz="2000" dirty="0"/>
              <a:t>，</a:t>
            </a:r>
            <a:r>
              <a:rPr lang="en-US" altLang="zh-CN" sz="2000" dirty="0"/>
              <a:t>AL</a:t>
            </a:r>
            <a:endParaRPr lang="en-US" altLang="zh-CN" sz="2000" dirty="0"/>
          </a:p>
          <a:p>
            <a:endParaRPr lang="en-US" altLang="zh-CN" dirty="0"/>
          </a:p>
          <a:p>
            <a:pPr>
              <a:buNone/>
            </a:pPr>
            <a:endParaRPr lang="zh-CN" altLang="en-US" dirty="0"/>
          </a:p>
        </p:txBody>
      </p:sp>
    </p:spTree>
  </p:cSld>
  <p:clrMapOvr>
    <a:masterClrMapping/>
  </p:clrMapOvr>
  <p:transition spd="slow">
    <p:zoom/>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9618"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39619" name="Rectangle 2"/>
          <p:cNvSpPr>
            <a:spLocks noGrp="1" noRot="1"/>
          </p:cNvSpPr>
          <p:nvPr>
            <p:ph type="title" idx="4294967295"/>
          </p:nvPr>
        </p:nvSpPr>
        <p:spPr/>
        <p:txBody>
          <a:bodyPr vert="horz" wrap="square" lIns="91440" tIns="45720" rIns="91440" bIns="45720" anchor="b" anchorCtr="0"/>
          <a:p>
            <a:pPr eaLnBrk="1" hangingPunct="1"/>
            <a:r>
              <a:rPr lang="en-GB" altLang="en-US" dirty="0"/>
              <a:t>8259A</a:t>
            </a:r>
            <a:r>
              <a:rPr lang="zh-CN" altLang="en-US" dirty="0"/>
              <a:t>的操作命令字</a:t>
            </a:r>
            <a:r>
              <a:rPr lang="en-GB" altLang="en-US" dirty="0"/>
              <a:t>OCW</a:t>
            </a:r>
            <a:r>
              <a:rPr lang="en-US" altLang="zh-CN" dirty="0"/>
              <a:t> </a:t>
            </a:r>
            <a:endParaRPr lang="en-US" altLang="zh-CN" dirty="0"/>
          </a:p>
        </p:txBody>
      </p:sp>
      <p:sp>
        <p:nvSpPr>
          <p:cNvPr id="239620" name="Rectangle 3"/>
          <p:cNvSpPr>
            <a:spLocks noGrp="1" noRot="1"/>
          </p:cNvSpPr>
          <p:nvPr>
            <p:ph type="body" idx="4294967295"/>
          </p:nvPr>
        </p:nvSpPr>
        <p:spPr/>
        <p:txBody>
          <a:bodyPr vert="horz" wrap="square" lIns="91440" tIns="45720" rIns="91440" bIns="45720" anchor="t" anchorCtr="0"/>
          <a:p>
            <a:pPr eaLnBrk="1" hangingPunct="1"/>
            <a:r>
              <a:rPr lang="en-US" altLang="zh-CN" dirty="0"/>
              <a:t>OCW</a:t>
            </a:r>
            <a:r>
              <a:rPr lang="zh-CN" altLang="en-US" dirty="0"/>
              <a:t>用于设置</a:t>
            </a:r>
            <a:r>
              <a:rPr lang="en-US" altLang="zh-CN" dirty="0"/>
              <a:t>8259</a:t>
            </a:r>
            <a:r>
              <a:rPr lang="zh-CN" altLang="en-US" dirty="0"/>
              <a:t>的工作状态</a:t>
            </a:r>
            <a:endParaRPr lang="zh-CN" altLang="en-US" dirty="0"/>
          </a:p>
          <a:p>
            <a:pPr eaLnBrk="1" hangingPunct="1"/>
            <a:r>
              <a:rPr lang="zh-CN" altLang="en-US" dirty="0"/>
              <a:t>在初始化后写入</a:t>
            </a:r>
            <a:endParaRPr lang="zh-CN" altLang="en-US" dirty="0"/>
          </a:p>
          <a:p>
            <a:pPr eaLnBrk="1" hangingPunct="1"/>
            <a:r>
              <a:rPr lang="en-US" altLang="zh-CN" dirty="0"/>
              <a:t>OCW</a:t>
            </a:r>
            <a:r>
              <a:rPr lang="zh-CN" altLang="en-US" dirty="0"/>
              <a:t>的写入顺序可任意</a:t>
            </a:r>
            <a:endParaRPr lang="zh-CN" altLang="en-US" dirty="0"/>
          </a:p>
          <a:p>
            <a:pPr eaLnBrk="1" hangingPunct="1"/>
            <a:r>
              <a:rPr lang="zh-CN" altLang="en-US" dirty="0"/>
              <a:t>写入地址要求：</a:t>
            </a:r>
            <a:endParaRPr lang="zh-CN" altLang="en-US" dirty="0"/>
          </a:p>
          <a:p>
            <a:pPr lvl="1" eaLnBrk="1" hangingPunct="1"/>
            <a:r>
              <a:rPr lang="en-GB" altLang="en-US" dirty="0"/>
              <a:t>OCW1</a:t>
            </a:r>
            <a:r>
              <a:rPr lang="zh-CN" altLang="en-US" dirty="0"/>
              <a:t>必须写入奇地址端口</a:t>
            </a:r>
            <a:r>
              <a:rPr lang="en-GB" altLang="en-US" dirty="0"/>
              <a:t>(A</a:t>
            </a:r>
            <a:r>
              <a:rPr lang="en-GB" altLang="en-US" baseline="-20000" dirty="0"/>
              <a:t>0</a:t>
            </a:r>
            <a:r>
              <a:rPr lang="en-GB" altLang="en-US" dirty="0"/>
              <a:t>=1)</a:t>
            </a:r>
            <a:endParaRPr lang="en-GB" altLang="en-US" dirty="0"/>
          </a:p>
          <a:p>
            <a:pPr lvl="1" eaLnBrk="1" hangingPunct="1"/>
            <a:r>
              <a:rPr lang="en-GB" altLang="en-US" dirty="0"/>
              <a:t>OCW2</a:t>
            </a:r>
            <a:r>
              <a:rPr lang="zh-CN" altLang="en-US" dirty="0"/>
              <a:t>，</a:t>
            </a:r>
            <a:r>
              <a:rPr lang="en-GB" altLang="en-US" dirty="0"/>
              <a:t>OCW3</a:t>
            </a:r>
            <a:r>
              <a:rPr lang="zh-CN" altLang="en-US" dirty="0"/>
              <a:t>必须写入偶地址端口</a:t>
            </a:r>
            <a:r>
              <a:rPr lang="en-GB" altLang="en-US" dirty="0"/>
              <a:t>(A</a:t>
            </a:r>
            <a:r>
              <a:rPr lang="en-GB" altLang="en-US" baseline="-20000" dirty="0"/>
              <a:t>0</a:t>
            </a:r>
            <a:r>
              <a:rPr lang="en-GB" altLang="en-US" dirty="0"/>
              <a:t>=0)</a:t>
            </a:r>
            <a:r>
              <a:rPr lang="en-US" altLang="zh-CN" dirty="0"/>
              <a:t> </a:t>
            </a:r>
            <a:endParaRPr lang="en-US" altLang="zh-CN" dirty="0"/>
          </a:p>
        </p:txBody>
      </p:sp>
    </p:spTree>
  </p:cSld>
  <p:clrMapOvr>
    <a:masterClrMapping/>
  </p:clrMapOvr>
  <p:transition spd="slow">
    <p:zoom/>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41667" name="Rectangle 2"/>
          <p:cNvSpPr>
            <a:spLocks noGrp="1" noRot="1"/>
          </p:cNvSpPr>
          <p:nvPr>
            <p:ph type="title" idx="4294967295"/>
          </p:nvPr>
        </p:nvSpPr>
        <p:spPr/>
        <p:txBody>
          <a:bodyPr vert="horz" wrap="square" lIns="91440" tIns="45720" rIns="91440" bIns="45720" anchor="b" anchorCtr="0"/>
          <a:p>
            <a:pPr eaLnBrk="1" hangingPunct="1"/>
            <a:r>
              <a:rPr lang="en-GB" altLang="en-US" dirty="0"/>
              <a:t>OCW1——</a:t>
            </a:r>
            <a:r>
              <a:rPr lang="zh-CN" altLang="en-US" dirty="0"/>
              <a:t>中断屏蔽字 </a:t>
            </a:r>
            <a:endParaRPr lang="zh-CN" altLang="en-US" dirty="0"/>
          </a:p>
        </p:txBody>
      </p:sp>
      <p:sp>
        <p:nvSpPr>
          <p:cNvPr id="241668" name="Rectangle 3"/>
          <p:cNvSpPr>
            <a:spLocks noGrp="1" noRot="1"/>
          </p:cNvSpPr>
          <p:nvPr>
            <p:ph type="body" idx="4294967295"/>
          </p:nvPr>
        </p:nvSpPr>
        <p:spPr>
          <a:xfrm>
            <a:off x="403225" y="3402013"/>
            <a:ext cx="8540750" cy="3298825"/>
          </a:xfrm>
        </p:spPr>
        <p:txBody>
          <a:bodyPr vert="horz" wrap="square" lIns="91440" tIns="45720" rIns="91440" bIns="45720" anchor="t" anchorCtr="0"/>
          <a:p>
            <a:pPr eaLnBrk="1" hangingPunct="1"/>
            <a:r>
              <a:rPr lang="en-US" altLang="zh-CN" dirty="0"/>
              <a:t>M</a:t>
            </a:r>
            <a:r>
              <a:rPr lang="en-US" altLang="zh-CN" baseline="-20000" dirty="0"/>
              <a:t>i</a:t>
            </a:r>
            <a:r>
              <a:rPr lang="en-US" altLang="zh-CN" dirty="0"/>
              <a:t>=1  </a:t>
            </a:r>
            <a:r>
              <a:rPr lang="zh-CN" altLang="en-US" dirty="0"/>
              <a:t>中断请求线</a:t>
            </a:r>
            <a:r>
              <a:rPr lang="en-US" altLang="zh-CN" dirty="0"/>
              <a:t>IR</a:t>
            </a:r>
            <a:r>
              <a:rPr lang="en-US" altLang="zh-CN" baseline="-20000" dirty="0"/>
              <a:t>i</a:t>
            </a:r>
            <a:r>
              <a:rPr lang="zh-CN" altLang="en-US" dirty="0"/>
              <a:t>被屏蔽</a:t>
            </a:r>
            <a:r>
              <a:rPr lang="en-US" altLang="zh-CN" dirty="0"/>
              <a:t>(</a:t>
            </a:r>
            <a:r>
              <a:rPr lang="zh-CN" altLang="en-US" dirty="0"/>
              <a:t>不允许中断</a:t>
            </a:r>
            <a:r>
              <a:rPr lang="en-US" altLang="zh-CN" dirty="0"/>
              <a:t>) </a:t>
            </a:r>
            <a:endParaRPr lang="en-US" altLang="zh-CN" dirty="0"/>
          </a:p>
          <a:p>
            <a:pPr eaLnBrk="1" hangingPunct="1">
              <a:buNone/>
            </a:pPr>
            <a:r>
              <a:rPr lang="en-US" altLang="zh-CN" dirty="0"/>
              <a:t>       =0  </a:t>
            </a:r>
            <a:r>
              <a:rPr lang="zh-CN" altLang="en-US" dirty="0"/>
              <a:t>允许该</a:t>
            </a:r>
            <a:r>
              <a:rPr lang="en-US" altLang="zh-CN" dirty="0"/>
              <a:t>IR</a:t>
            </a:r>
            <a:r>
              <a:rPr lang="en-US" altLang="zh-CN" baseline="-20000" dirty="0"/>
              <a:t>i</a:t>
            </a:r>
            <a:r>
              <a:rPr lang="zh-CN" altLang="en-US" dirty="0"/>
              <a:t>中断 </a:t>
            </a:r>
            <a:endParaRPr lang="zh-CN" altLang="en-US" dirty="0"/>
          </a:p>
          <a:p>
            <a:pPr eaLnBrk="1" hangingPunct="1"/>
            <a:endParaRPr lang="zh-CN" altLang="en-US" dirty="0"/>
          </a:p>
          <a:p>
            <a:pPr eaLnBrk="1" hangingPunct="1"/>
            <a:r>
              <a:rPr lang="en-US" altLang="zh-CN" dirty="0"/>
              <a:t>OCW1</a:t>
            </a:r>
            <a:r>
              <a:rPr lang="zh-CN" altLang="en-US" dirty="0"/>
              <a:t>将写入</a:t>
            </a:r>
            <a:r>
              <a:rPr lang="en-US" altLang="zh-CN" dirty="0"/>
              <a:t>IMR</a:t>
            </a:r>
            <a:r>
              <a:rPr lang="zh-CN" altLang="en-US" dirty="0"/>
              <a:t>寄存器。</a:t>
            </a:r>
            <a:endParaRPr lang="zh-CN" altLang="en-US" dirty="0"/>
          </a:p>
          <a:p>
            <a:pPr eaLnBrk="1" hangingPunct="1"/>
            <a:r>
              <a:rPr lang="en-US" altLang="zh-CN" dirty="0"/>
              <a:t>A0=1</a:t>
            </a:r>
            <a:r>
              <a:rPr lang="zh-CN" altLang="en-US" dirty="0"/>
              <a:t>时读</a:t>
            </a:r>
            <a:r>
              <a:rPr lang="en-US" altLang="zh-CN" dirty="0"/>
              <a:t>OCW1</a:t>
            </a:r>
            <a:r>
              <a:rPr lang="zh-CN" altLang="en-US" dirty="0"/>
              <a:t>可读出设置的</a:t>
            </a:r>
            <a:r>
              <a:rPr lang="en-US" altLang="zh-CN" dirty="0"/>
              <a:t>IMR</a:t>
            </a:r>
            <a:r>
              <a:rPr lang="zh-CN" altLang="en-US" dirty="0"/>
              <a:t>内容。 </a:t>
            </a:r>
            <a:endParaRPr lang="zh-CN" altLang="en-US" dirty="0"/>
          </a:p>
          <a:p>
            <a:pPr eaLnBrk="1" hangingPunct="1">
              <a:buNone/>
            </a:pPr>
            <a:endParaRPr lang="en-US" altLang="zh-CN" dirty="0"/>
          </a:p>
        </p:txBody>
      </p:sp>
      <p:sp>
        <p:nvSpPr>
          <p:cNvPr id="241669" name="Rectangle 4"/>
          <p:cNvSpPr/>
          <p:nvPr/>
        </p:nvSpPr>
        <p:spPr>
          <a:xfrm>
            <a:off x="673100" y="2276475"/>
            <a:ext cx="8001000" cy="8636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2400" dirty="0">
                <a:ea typeface="楷体_GB2312"/>
              </a:rPr>
              <a:t>A0</a:t>
            </a:r>
            <a:r>
              <a:rPr lang="en-US" altLang="zh-CN" sz="2400" b="0" dirty="0">
                <a:ea typeface="楷体_GB2312"/>
              </a:rPr>
              <a:t>   	D7	D6     	D5     	D4   	D3  	D2   	D1   	D0</a:t>
            </a:r>
            <a:br>
              <a:rPr lang="en-US" altLang="zh-CN" sz="2400" b="0" dirty="0">
                <a:ea typeface="楷体_GB2312"/>
              </a:rPr>
            </a:br>
            <a:r>
              <a:rPr lang="en-US" altLang="zh-CN" sz="2400" b="0" dirty="0">
                <a:ea typeface="楷体_GB2312"/>
              </a:rPr>
              <a:t> </a:t>
            </a:r>
            <a:r>
              <a:rPr lang="en-US" altLang="zh-CN" sz="2400" dirty="0">
                <a:solidFill>
                  <a:srgbClr val="FF0000"/>
                </a:solidFill>
                <a:ea typeface="楷体_GB2312"/>
              </a:rPr>
              <a:t>1	 M</a:t>
            </a:r>
            <a:r>
              <a:rPr lang="en-US" altLang="zh-CN" sz="2400" baseline="-20000" dirty="0">
                <a:solidFill>
                  <a:srgbClr val="FF0000"/>
                </a:solidFill>
                <a:ea typeface="楷体_GB2312"/>
              </a:rPr>
              <a:t>7</a:t>
            </a:r>
            <a:r>
              <a:rPr lang="en-US" altLang="zh-CN" sz="2400" dirty="0">
                <a:solidFill>
                  <a:srgbClr val="FF0000"/>
                </a:solidFill>
                <a:ea typeface="楷体_GB2312"/>
              </a:rPr>
              <a:t>       M</a:t>
            </a:r>
            <a:r>
              <a:rPr lang="en-US" altLang="zh-CN" sz="2400" baseline="-20000" dirty="0">
                <a:solidFill>
                  <a:srgbClr val="FF0000"/>
                </a:solidFill>
                <a:ea typeface="楷体_GB2312"/>
              </a:rPr>
              <a:t>6</a:t>
            </a:r>
            <a:r>
              <a:rPr lang="en-US" altLang="zh-CN" sz="2400" dirty="0">
                <a:solidFill>
                  <a:srgbClr val="FF0000"/>
                </a:solidFill>
                <a:ea typeface="楷体_GB2312"/>
              </a:rPr>
              <a:t> 	 M</a:t>
            </a:r>
            <a:r>
              <a:rPr lang="en-US" altLang="zh-CN" sz="2400" baseline="-20000" dirty="0">
                <a:solidFill>
                  <a:srgbClr val="FF0000"/>
                </a:solidFill>
                <a:ea typeface="楷体_GB2312"/>
              </a:rPr>
              <a:t>5</a:t>
            </a:r>
            <a:r>
              <a:rPr lang="en-US" altLang="zh-CN" sz="2400" dirty="0">
                <a:solidFill>
                  <a:srgbClr val="FF0000"/>
                </a:solidFill>
                <a:ea typeface="楷体_GB2312"/>
              </a:rPr>
              <a:t> 	 M</a:t>
            </a:r>
            <a:r>
              <a:rPr lang="en-US" altLang="zh-CN" sz="2400" baseline="-20000" dirty="0">
                <a:solidFill>
                  <a:srgbClr val="FF0000"/>
                </a:solidFill>
                <a:ea typeface="楷体_GB2312"/>
              </a:rPr>
              <a:t>4</a:t>
            </a:r>
            <a:r>
              <a:rPr lang="en-US" altLang="zh-CN" sz="2400" dirty="0">
                <a:solidFill>
                  <a:srgbClr val="FF0000"/>
                </a:solidFill>
                <a:ea typeface="楷体_GB2312"/>
              </a:rPr>
              <a:t> 	 M</a:t>
            </a:r>
            <a:r>
              <a:rPr lang="en-US" altLang="zh-CN" sz="2400" baseline="-20000" dirty="0">
                <a:solidFill>
                  <a:srgbClr val="FF0000"/>
                </a:solidFill>
                <a:ea typeface="楷体_GB2312"/>
              </a:rPr>
              <a:t>3</a:t>
            </a:r>
            <a:r>
              <a:rPr lang="en-US" altLang="zh-CN" sz="2400" dirty="0">
                <a:solidFill>
                  <a:srgbClr val="FF0000"/>
                </a:solidFill>
                <a:ea typeface="楷体_GB2312"/>
              </a:rPr>
              <a:t> 	 M</a:t>
            </a:r>
            <a:r>
              <a:rPr lang="en-US" altLang="zh-CN" sz="2400" baseline="-20000" dirty="0">
                <a:solidFill>
                  <a:srgbClr val="FF0000"/>
                </a:solidFill>
                <a:ea typeface="楷体_GB2312"/>
              </a:rPr>
              <a:t>2</a:t>
            </a:r>
            <a:r>
              <a:rPr lang="en-US" altLang="zh-CN" sz="2400" dirty="0">
                <a:solidFill>
                  <a:srgbClr val="FF0000"/>
                </a:solidFill>
                <a:ea typeface="楷体_GB2312"/>
              </a:rPr>
              <a:t> 	 M</a:t>
            </a:r>
            <a:r>
              <a:rPr lang="en-US" altLang="zh-CN" sz="2400" baseline="-20000" dirty="0">
                <a:solidFill>
                  <a:srgbClr val="FF0000"/>
                </a:solidFill>
                <a:ea typeface="楷体_GB2312"/>
              </a:rPr>
              <a:t>1</a:t>
            </a:r>
            <a:r>
              <a:rPr lang="en-US" altLang="zh-CN" sz="2400" dirty="0">
                <a:solidFill>
                  <a:srgbClr val="FF0000"/>
                </a:solidFill>
                <a:ea typeface="楷体_GB2312"/>
              </a:rPr>
              <a:t> 	 M</a:t>
            </a:r>
            <a:r>
              <a:rPr lang="en-US" altLang="zh-CN" sz="2400" baseline="-20000" dirty="0">
                <a:solidFill>
                  <a:srgbClr val="FF0000"/>
                </a:solidFill>
                <a:ea typeface="楷体_GB2312"/>
              </a:rPr>
              <a:t>0</a:t>
            </a:r>
            <a:endParaRPr lang="en-US" altLang="zh-CN" sz="2400" baseline="-20000" dirty="0">
              <a:solidFill>
                <a:srgbClr val="FF0000"/>
              </a:solidFill>
              <a:ea typeface="楷体_GB2312"/>
            </a:endParaRPr>
          </a:p>
        </p:txBody>
      </p:sp>
    </p:spTree>
  </p:cSld>
  <p:clrMapOvr>
    <a:masterClrMapping/>
  </p:clrMapOvr>
  <p:transition spd="slow">
    <p:zoom/>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9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42691" name="Rectangle 2"/>
          <p:cNvSpPr>
            <a:spLocks noGrp="1" noRot="1"/>
          </p:cNvSpPr>
          <p:nvPr>
            <p:ph type="title" idx="4294967295"/>
          </p:nvPr>
        </p:nvSpPr>
        <p:spPr>
          <a:xfrm>
            <a:off x="895350" y="214313"/>
            <a:ext cx="8048625" cy="1462087"/>
          </a:xfrm>
        </p:spPr>
        <p:txBody>
          <a:bodyPr vert="horz" wrap="square" lIns="91440" tIns="45720" rIns="91440" bIns="45720" anchor="b" anchorCtr="0"/>
          <a:p>
            <a:pPr eaLnBrk="1" hangingPunct="1"/>
            <a:r>
              <a:rPr lang="en-GB" altLang="en-US" sz="4000" dirty="0"/>
              <a:t>OCW2——</a:t>
            </a:r>
            <a:r>
              <a:rPr lang="zh-CN" altLang="en-US" sz="4000" dirty="0"/>
              <a:t>中断结束和优先级循环 </a:t>
            </a:r>
            <a:endParaRPr lang="zh-CN" altLang="en-US" sz="4000" dirty="0"/>
          </a:p>
        </p:txBody>
      </p:sp>
      <p:sp>
        <p:nvSpPr>
          <p:cNvPr id="242692" name="Rectangle 4"/>
          <p:cNvSpPr/>
          <p:nvPr/>
        </p:nvSpPr>
        <p:spPr>
          <a:xfrm>
            <a:off x="571500" y="1844675"/>
            <a:ext cx="8001000" cy="8636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2400" dirty="0">
                <a:ea typeface="楷体_GB2312"/>
              </a:rPr>
              <a:t>A0</a:t>
            </a:r>
            <a:r>
              <a:rPr lang="en-US" altLang="zh-CN" sz="2400" b="0" dirty="0">
                <a:ea typeface="楷体_GB2312"/>
              </a:rPr>
              <a:t>   	D7	D6     	D5     	D4   	D3  	D2   	D1   	D0</a:t>
            </a:r>
            <a:br>
              <a:rPr lang="en-US" altLang="zh-CN" sz="2400" b="0" dirty="0">
                <a:ea typeface="楷体_GB2312"/>
              </a:rPr>
            </a:br>
            <a:r>
              <a:rPr lang="en-US" altLang="zh-CN" sz="2400" b="0" dirty="0">
                <a:ea typeface="楷体_GB2312"/>
              </a:rPr>
              <a:t> </a:t>
            </a:r>
            <a:r>
              <a:rPr lang="en-US" altLang="zh-CN" sz="2400" dirty="0">
                <a:solidFill>
                  <a:srgbClr val="FF0000"/>
                </a:solidFill>
                <a:ea typeface="楷体_GB2312"/>
              </a:rPr>
              <a:t>0	 R        SL 	EOI  	 0 	 0 	 L</a:t>
            </a:r>
            <a:r>
              <a:rPr lang="en-US" altLang="zh-CN" sz="2400" baseline="-20000" dirty="0">
                <a:solidFill>
                  <a:srgbClr val="FF0000"/>
                </a:solidFill>
                <a:ea typeface="楷体_GB2312"/>
              </a:rPr>
              <a:t>2</a:t>
            </a:r>
            <a:r>
              <a:rPr lang="en-US" altLang="zh-CN" sz="2400" dirty="0">
                <a:solidFill>
                  <a:srgbClr val="FF0000"/>
                </a:solidFill>
                <a:ea typeface="楷体_GB2312"/>
              </a:rPr>
              <a:t> 	 L</a:t>
            </a:r>
            <a:r>
              <a:rPr lang="en-US" altLang="zh-CN" sz="2400" baseline="-20000" dirty="0">
                <a:solidFill>
                  <a:srgbClr val="FF0000"/>
                </a:solidFill>
                <a:ea typeface="楷体_GB2312"/>
              </a:rPr>
              <a:t>1</a:t>
            </a:r>
            <a:r>
              <a:rPr lang="en-US" altLang="zh-CN" sz="2400" dirty="0">
                <a:solidFill>
                  <a:srgbClr val="FF0000"/>
                </a:solidFill>
                <a:ea typeface="楷体_GB2312"/>
              </a:rPr>
              <a:t> 	 L</a:t>
            </a:r>
            <a:r>
              <a:rPr lang="en-US" altLang="zh-CN" sz="2400" baseline="-20000" dirty="0">
                <a:solidFill>
                  <a:srgbClr val="FF0000"/>
                </a:solidFill>
                <a:ea typeface="楷体_GB2312"/>
              </a:rPr>
              <a:t>0</a:t>
            </a:r>
            <a:endParaRPr lang="en-US" altLang="zh-CN" sz="2400" baseline="-20000" dirty="0">
              <a:solidFill>
                <a:srgbClr val="FF0000"/>
              </a:solidFill>
              <a:ea typeface="楷体_GB2312"/>
            </a:endParaRPr>
          </a:p>
        </p:txBody>
      </p:sp>
      <p:sp>
        <p:nvSpPr>
          <p:cNvPr id="242693" name="文本框 171012"/>
          <p:cNvSpPr txBox="1"/>
          <p:nvPr/>
        </p:nvSpPr>
        <p:spPr>
          <a:xfrm>
            <a:off x="179388" y="2781300"/>
            <a:ext cx="9036050" cy="37846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50000"/>
              </a:lnSpc>
              <a:spcBef>
                <a:spcPct val="0"/>
              </a:spcBef>
              <a:spcAft>
                <a:spcPct val="0"/>
              </a:spcAft>
              <a:buClrTx/>
              <a:buSzTx/>
              <a:buFont typeface="Arial" panose="020B0604020202020204" pitchFamily="34" charset="0"/>
              <a:buNone/>
            </a:pPr>
            <a:r>
              <a:rPr lang="zh-CN" altLang="en-US" sz="2000" b="0" dirty="0">
                <a:solidFill>
                  <a:schemeClr val="folHlink"/>
                </a:solidFill>
                <a:latin typeface="宋体" panose="02010600030101010101" pitchFamily="2" charset="-122"/>
                <a:ea typeface="楷体_GB2312"/>
              </a:rPr>
              <a:t>D4D3</a:t>
            </a:r>
            <a:r>
              <a:rPr lang="zh-CN" altLang="en-US" sz="2000" b="0" dirty="0">
                <a:solidFill>
                  <a:schemeClr val="tx1"/>
                </a:solidFill>
                <a:latin typeface="宋体" panose="02010600030101010101" pitchFamily="2" charset="-122"/>
                <a:ea typeface="楷体_GB2312"/>
              </a:rPr>
              <a:t>: =00，特征位</a:t>
            </a:r>
            <a:endParaRPr lang="zh-CN" altLang="en-US" sz="2000" b="0" dirty="0">
              <a:solidFill>
                <a:schemeClr val="tx1"/>
              </a:solidFill>
              <a:latin typeface="宋体" panose="02010600030101010101" pitchFamily="2" charset="-122"/>
              <a:ea typeface="楷体_GB2312"/>
            </a:endParaRPr>
          </a:p>
          <a:p>
            <a:pPr marL="0" lvl="0" indent="0">
              <a:lnSpc>
                <a:spcPct val="150000"/>
              </a:lnSpc>
              <a:spcBef>
                <a:spcPct val="0"/>
              </a:spcBef>
              <a:spcAft>
                <a:spcPct val="0"/>
              </a:spcAft>
              <a:buClrTx/>
              <a:buSzTx/>
              <a:buFont typeface="Arial" panose="020B0604020202020204" pitchFamily="34" charset="0"/>
              <a:buNone/>
            </a:pPr>
            <a:r>
              <a:rPr lang="zh-CN" altLang="en-US" sz="2000" b="0" dirty="0">
                <a:solidFill>
                  <a:schemeClr val="folHlink"/>
                </a:solidFill>
                <a:latin typeface="宋体" panose="02010600030101010101" pitchFamily="2" charset="-122"/>
                <a:ea typeface="楷体_GB2312"/>
              </a:rPr>
              <a:t>D7  </a:t>
            </a:r>
            <a:r>
              <a:rPr lang="zh-CN" altLang="en-US" sz="2000" b="0" dirty="0">
                <a:solidFill>
                  <a:schemeClr val="tx1"/>
                </a:solidFill>
                <a:latin typeface="宋体" panose="02010600030101010101" pitchFamily="2" charset="-122"/>
                <a:ea typeface="楷体_GB2312"/>
              </a:rPr>
              <a:t>: =1，表示启用循环优先级；R=0，固定优先级。</a:t>
            </a:r>
            <a:endParaRPr lang="zh-CN" altLang="en-US" sz="2000" b="0" dirty="0">
              <a:solidFill>
                <a:schemeClr val="tx1"/>
              </a:solidFill>
              <a:latin typeface="宋体" panose="02010600030101010101" pitchFamily="2" charset="-122"/>
              <a:ea typeface="楷体_GB2312"/>
            </a:endParaRPr>
          </a:p>
          <a:p>
            <a:pPr marL="0" lvl="0" indent="0">
              <a:lnSpc>
                <a:spcPct val="150000"/>
              </a:lnSpc>
              <a:spcBef>
                <a:spcPct val="0"/>
              </a:spcBef>
              <a:spcAft>
                <a:spcPct val="0"/>
              </a:spcAft>
              <a:buClrTx/>
              <a:buSzTx/>
              <a:buFont typeface="Arial" panose="020B0604020202020204" pitchFamily="34" charset="0"/>
              <a:buNone/>
            </a:pPr>
            <a:r>
              <a:rPr lang="zh-CN" altLang="en-US" sz="2000" b="0" dirty="0">
                <a:solidFill>
                  <a:schemeClr val="folHlink"/>
                </a:solidFill>
                <a:latin typeface="宋体" panose="02010600030101010101" pitchFamily="2" charset="-122"/>
                <a:ea typeface="楷体_GB2312"/>
              </a:rPr>
              <a:t>D6  </a:t>
            </a:r>
            <a:r>
              <a:rPr lang="zh-CN" altLang="en-US" sz="2000" b="0" dirty="0">
                <a:solidFill>
                  <a:schemeClr val="tx1"/>
                </a:solidFill>
                <a:latin typeface="宋体" panose="02010600030101010101" pitchFamily="2" charset="-122"/>
                <a:ea typeface="楷体_GB2312"/>
              </a:rPr>
              <a:t>: =1，</a:t>
            </a:r>
            <a:r>
              <a:rPr lang="en-US" altLang="zh-CN" sz="2000" b="0" dirty="0">
                <a:solidFill>
                  <a:schemeClr val="tx1"/>
                </a:solidFill>
                <a:latin typeface="宋体" panose="02010600030101010101" pitchFamily="2" charset="-122"/>
                <a:ea typeface="楷体_GB2312"/>
              </a:rPr>
              <a:t>OCW2</a:t>
            </a:r>
            <a:r>
              <a:rPr lang="zh-CN" altLang="en-US" sz="2000" b="0" dirty="0">
                <a:solidFill>
                  <a:schemeClr val="tx1"/>
                </a:solidFill>
                <a:latin typeface="宋体" panose="02010600030101010101" pitchFamily="2" charset="-122"/>
                <a:ea typeface="楷体_GB2312"/>
              </a:rPr>
              <a:t>中的</a:t>
            </a:r>
            <a:r>
              <a:rPr lang="en-US" altLang="zh-CN" sz="2000" b="0" dirty="0">
                <a:solidFill>
                  <a:schemeClr val="tx1"/>
                </a:solidFill>
                <a:latin typeface="宋体" panose="02010600030101010101" pitchFamily="2" charset="-122"/>
                <a:ea typeface="楷体_GB2312"/>
              </a:rPr>
              <a:t>L2-L0</a:t>
            </a:r>
            <a:r>
              <a:rPr lang="zh-CN" altLang="en-US" sz="2000" b="0" dirty="0">
                <a:solidFill>
                  <a:schemeClr val="tx1"/>
                </a:solidFill>
                <a:latin typeface="宋体" panose="02010600030101010101" pitchFamily="2" charset="-122"/>
                <a:ea typeface="楷体_GB2312"/>
              </a:rPr>
              <a:t>设置有效，</a:t>
            </a:r>
            <a:r>
              <a:rPr lang="en-US" altLang="zh-CN" sz="2000" b="0" dirty="0">
                <a:solidFill>
                  <a:schemeClr val="tx1"/>
                </a:solidFill>
                <a:latin typeface="宋体" panose="02010600030101010101" pitchFamily="2" charset="-122"/>
                <a:ea typeface="楷体_GB2312"/>
              </a:rPr>
              <a:t>SL=0</a:t>
            </a:r>
            <a:r>
              <a:rPr lang="zh-CN" altLang="en-US" sz="2000" b="0" dirty="0">
                <a:solidFill>
                  <a:schemeClr val="tx1"/>
                </a:solidFill>
                <a:latin typeface="宋体" panose="02010600030101010101" pitchFamily="2" charset="-122"/>
                <a:ea typeface="楷体_GB2312"/>
              </a:rPr>
              <a:t>无效</a:t>
            </a:r>
            <a:endParaRPr lang="zh-CN" altLang="en-US" sz="2000" b="0" dirty="0">
              <a:solidFill>
                <a:schemeClr val="tx1"/>
              </a:solidFill>
              <a:latin typeface="宋体" panose="02010600030101010101" pitchFamily="2" charset="-122"/>
              <a:ea typeface="楷体_GB2312"/>
            </a:endParaRPr>
          </a:p>
          <a:p>
            <a:pPr marL="0" lvl="0" indent="0">
              <a:lnSpc>
                <a:spcPct val="150000"/>
              </a:lnSpc>
              <a:spcBef>
                <a:spcPct val="0"/>
              </a:spcBef>
              <a:spcAft>
                <a:spcPct val="0"/>
              </a:spcAft>
              <a:buClrTx/>
              <a:buSzTx/>
              <a:buFont typeface="Arial" panose="020B0604020202020204" pitchFamily="34" charset="0"/>
              <a:buNone/>
            </a:pPr>
            <a:r>
              <a:rPr lang="zh-CN" altLang="en-US" sz="2000" b="0" dirty="0">
                <a:solidFill>
                  <a:schemeClr val="folHlink"/>
                </a:solidFill>
                <a:latin typeface="宋体" panose="02010600030101010101" pitchFamily="2" charset="-122"/>
                <a:ea typeface="楷体_GB2312"/>
                <a:sym typeface="Arial" panose="020B0604020202020204" pitchFamily="34" charset="0"/>
              </a:rPr>
              <a:t>D5  </a:t>
            </a:r>
            <a:r>
              <a:rPr lang="zh-CN" altLang="en-US" sz="2000" b="0" dirty="0">
                <a:solidFill>
                  <a:schemeClr val="tx1"/>
                </a:solidFill>
                <a:latin typeface="宋体" panose="02010600030101010101" pitchFamily="2" charset="-122"/>
                <a:ea typeface="楷体_GB2312"/>
                <a:sym typeface="Arial" panose="020B0604020202020204" pitchFamily="34" charset="0"/>
              </a:rPr>
              <a:t>: =1，非自动结束标志（</a:t>
            </a:r>
            <a:r>
              <a:rPr lang="en-US" altLang="zh-CN" sz="2000" b="0" dirty="0">
                <a:solidFill>
                  <a:schemeClr val="tx1"/>
                </a:solidFill>
                <a:latin typeface="宋体" panose="02010600030101010101" pitchFamily="2" charset="-122"/>
                <a:ea typeface="楷体_GB2312"/>
                <a:sym typeface="Arial" panose="020B0604020202020204" pitchFamily="34" charset="0"/>
              </a:rPr>
              <a:t>EOI)</a:t>
            </a:r>
            <a:endParaRPr lang="en-US" altLang="zh-CN" sz="2000" b="0" dirty="0">
              <a:solidFill>
                <a:schemeClr val="tx1"/>
              </a:solidFill>
              <a:latin typeface="宋体" panose="02010600030101010101" pitchFamily="2" charset="-122"/>
              <a:ea typeface="楷体_GB2312"/>
              <a:sym typeface="Arial" panose="020B0604020202020204" pitchFamily="34" charset="0"/>
            </a:endParaRPr>
          </a:p>
          <a:p>
            <a:pPr marL="0" lvl="0" indent="0">
              <a:lnSpc>
                <a:spcPct val="150000"/>
              </a:lnSpc>
              <a:spcBef>
                <a:spcPct val="0"/>
              </a:spcBef>
              <a:spcAft>
                <a:spcPct val="0"/>
              </a:spcAft>
              <a:buClrTx/>
              <a:buSzTx/>
              <a:buFont typeface="Arial" panose="020B0604020202020204" pitchFamily="34" charset="0"/>
              <a:buNone/>
            </a:pPr>
            <a:r>
              <a:rPr lang="en-US" altLang="zh-CN" sz="2000" b="0" dirty="0">
                <a:solidFill>
                  <a:schemeClr val="tx1"/>
                </a:solidFill>
                <a:latin typeface="宋体" panose="02010600030101010101" pitchFamily="2" charset="-122"/>
                <a:ea typeface="楷体_GB2312"/>
              </a:rPr>
              <a:t>EOI:</a:t>
            </a:r>
            <a:r>
              <a:rPr lang="zh-CN" altLang="en-US" sz="2000" b="0" dirty="0">
                <a:solidFill>
                  <a:schemeClr val="tx1"/>
                </a:solidFill>
                <a:latin typeface="宋体" panose="02010600030101010101" pitchFamily="2" charset="-122"/>
                <a:ea typeface="楷体_GB2312"/>
              </a:rPr>
              <a:t>中断结束命令位。</a:t>
            </a:r>
            <a:r>
              <a:rPr lang="en-US" altLang="zh-CN" sz="2000" b="0" dirty="0">
                <a:solidFill>
                  <a:schemeClr val="tx1"/>
                </a:solidFill>
                <a:latin typeface="宋体" panose="02010600030101010101" pitchFamily="2" charset="-122"/>
                <a:ea typeface="楷体_GB2312"/>
              </a:rPr>
              <a:t>EOI</a:t>
            </a:r>
            <a:r>
              <a:rPr lang="zh-CN" altLang="en-US" sz="2000" b="0" dirty="0">
                <a:solidFill>
                  <a:schemeClr val="tx1"/>
                </a:solidFill>
                <a:latin typeface="宋体" panose="02010600030101010101" pitchFamily="2" charset="-122"/>
                <a:ea typeface="楷体_GB2312"/>
              </a:rPr>
              <a:t>＝</a:t>
            </a:r>
            <a:r>
              <a:rPr lang="en-US" altLang="zh-CN" sz="2000" b="0" dirty="0">
                <a:solidFill>
                  <a:schemeClr val="tx1"/>
                </a:solidFill>
                <a:latin typeface="宋体" panose="02010600030101010101" pitchFamily="2" charset="-122"/>
                <a:ea typeface="楷体_GB2312"/>
              </a:rPr>
              <a:t>1</a:t>
            </a:r>
            <a:r>
              <a:rPr lang="zh-CN" altLang="en-US" sz="2000" b="0" dirty="0">
                <a:solidFill>
                  <a:schemeClr val="tx1"/>
                </a:solidFill>
                <a:latin typeface="宋体" panose="02010600030101010101" pitchFamily="2" charset="-122"/>
                <a:ea typeface="楷体_GB2312"/>
              </a:rPr>
              <a:t>中断结束时发送中断结束命令，使当前</a:t>
            </a:r>
            <a:r>
              <a:rPr lang="en-US" altLang="zh-CN" sz="2000" b="0" dirty="0">
                <a:solidFill>
                  <a:schemeClr val="tx1"/>
                </a:solidFill>
                <a:latin typeface="宋体" panose="02010600030101010101" pitchFamily="2" charset="-122"/>
                <a:ea typeface="楷体_GB2312"/>
              </a:rPr>
              <a:t>ISR</a:t>
            </a:r>
            <a:r>
              <a:rPr lang="zh-CN" altLang="en-US" sz="2000" b="0" dirty="0">
                <a:solidFill>
                  <a:schemeClr val="tx1"/>
                </a:solidFill>
                <a:latin typeface="宋体" panose="02010600030101010101" pitchFamily="2" charset="-122"/>
                <a:ea typeface="楷体_GB2312"/>
              </a:rPr>
              <a:t>寄存器的相应位清</a:t>
            </a:r>
            <a:r>
              <a:rPr lang="en-US" altLang="zh-CN" sz="2000" b="0" dirty="0">
                <a:solidFill>
                  <a:schemeClr val="tx1"/>
                </a:solidFill>
                <a:latin typeface="宋体" panose="02010600030101010101" pitchFamily="2" charset="-122"/>
                <a:ea typeface="楷体_GB2312"/>
              </a:rPr>
              <a:t>0</a:t>
            </a:r>
            <a:r>
              <a:rPr lang="zh-CN" altLang="en-US" sz="2000" b="0" dirty="0">
                <a:solidFill>
                  <a:schemeClr val="tx1"/>
                </a:solidFill>
                <a:latin typeface="宋体" panose="02010600030101010101" pitchFamily="2" charset="-122"/>
                <a:ea typeface="楷体_GB2312"/>
              </a:rPr>
              <a:t>。</a:t>
            </a:r>
            <a:r>
              <a:rPr lang="en-US" altLang="zh-CN" sz="2000" b="0" dirty="0">
                <a:solidFill>
                  <a:schemeClr val="tx1"/>
                </a:solidFill>
                <a:latin typeface="宋体" panose="02010600030101010101" pitchFamily="2" charset="-122"/>
                <a:ea typeface="楷体_GB2312"/>
              </a:rPr>
              <a:t>EOI=0</a:t>
            </a:r>
            <a:r>
              <a:rPr lang="zh-CN" altLang="en-US" sz="2000" b="0" dirty="0">
                <a:solidFill>
                  <a:schemeClr val="tx1"/>
                </a:solidFill>
                <a:latin typeface="宋体" panose="02010600030101010101" pitchFamily="2" charset="-122"/>
                <a:ea typeface="楷体_GB2312"/>
              </a:rPr>
              <a:t>时，不需要发送中断结束命令，即为中断自动结束</a:t>
            </a:r>
            <a:r>
              <a:rPr lang="zh-CN" altLang="en-US" sz="2000" b="0" dirty="0">
                <a:solidFill>
                  <a:schemeClr val="tx1"/>
                </a:solidFill>
                <a:latin typeface="宋体" panose="02010600030101010101" pitchFamily="2" charset="-122"/>
                <a:ea typeface="楷体_GB2312"/>
              </a:rPr>
              <a:t>方式。</a:t>
            </a:r>
            <a:endParaRPr lang="en-US" altLang="zh-CN" sz="2000" b="0" dirty="0">
              <a:solidFill>
                <a:schemeClr val="tx1"/>
              </a:solidFill>
              <a:latin typeface="宋体" panose="02010600030101010101" pitchFamily="2" charset="-122"/>
              <a:ea typeface="楷体_GB2312"/>
            </a:endParaRPr>
          </a:p>
          <a:p>
            <a:pPr marL="0" lvl="0" indent="0">
              <a:lnSpc>
                <a:spcPct val="150000"/>
              </a:lnSpc>
              <a:spcBef>
                <a:spcPct val="0"/>
              </a:spcBef>
              <a:spcAft>
                <a:spcPct val="0"/>
              </a:spcAft>
              <a:buClrTx/>
              <a:buSzTx/>
              <a:buFont typeface="Arial" panose="020B0604020202020204" pitchFamily="34" charset="0"/>
              <a:buNone/>
            </a:pPr>
            <a:r>
              <a:rPr lang="en-US" altLang="zh-CN" sz="2000" b="0" dirty="0">
                <a:solidFill>
                  <a:schemeClr val="hlink"/>
                </a:solidFill>
                <a:latin typeface="宋体" panose="02010600030101010101" pitchFamily="2" charset="-122"/>
                <a:ea typeface="楷体_GB2312"/>
              </a:rPr>
              <a:t>L2-L0</a:t>
            </a:r>
            <a:r>
              <a:rPr lang="zh-CN" altLang="en-US" sz="2000" b="0" dirty="0">
                <a:solidFill>
                  <a:schemeClr val="hlink"/>
                </a:solidFill>
                <a:latin typeface="宋体" panose="02010600030101010101" pitchFamily="2" charset="-122"/>
                <a:ea typeface="楷体_GB2312"/>
              </a:rPr>
              <a:t>：两个作用：在</a:t>
            </a:r>
            <a:r>
              <a:rPr lang="en-US" altLang="zh-CN" sz="2000" b="0" dirty="0">
                <a:solidFill>
                  <a:schemeClr val="hlink"/>
                </a:solidFill>
                <a:latin typeface="宋体" panose="02010600030101010101" pitchFamily="2" charset="-122"/>
                <a:ea typeface="楷体_GB2312"/>
              </a:rPr>
              <a:t>D7=1</a:t>
            </a:r>
            <a:r>
              <a:rPr lang="zh-CN" altLang="en-US" sz="2000" b="0" dirty="0">
                <a:solidFill>
                  <a:schemeClr val="hlink"/>
                </a:solidFill>
                <a:latin typeface="宋体" panose="02010600030101010101" pitchFamily="2" charset="-122"/>
                <a:ea typeface="楷体_GB2312"/>
              </a:rPr>
              <a:t>的情况下，</a:t>
            </a:r>
            <a:r>
              <a:rPr lang="en-US" altLang="zh-CN" sz="2000" b="0" dirty="0">
                <a:solidFill>
                  <a:schemeClr val="hlink"/>
                </a:solidFill>
                <a:latin typeface="宋体" panose="02010600030101010101" pitchFamily="2" charset="-122"/>
                <a:ea typeface="楷体_GB2312"/>
              </a:rPr>
              <a:t>3</a:t>
            </a:r>
            <a:r>
              <a:rPr lang="zh-CN" altLang="en-US" sz="2000" b="0" dirty="0">
                <a:solidFill>
                  <a:schemeClr val="hlink"/>
                </a:solidFill>
                <a:latin typeface="宋体" panose="02010600030101010101" pitchFamily="2" charset="-122"/>
                <a:ea typeface="楷体_GB2312"/>
              </a:rPr>
              <a:t>位表达循环开始的最低优先级；中断结束方式中，指明要清除</a:t>
            </a:r>
            <a:r>
              <a:rPr lang="en-US" altLang="zh-CN" sz="2000" b="0" dirty="0">
                <a:solidFill>
                  <a:schemeClr val="hlink"/>
                </a:solidFill>
                <a:latin typeface="宋体" panose="02010600030101010101" pitchFamily="2" charset="-122"/>
                <a:ea typeface="楷体_GB2312"/>
              </a:rPr>
              <a:t>ISR</a:t>
            </a:r>
            <a:r>
              <a:rPr lang="zh-CN" altLang="en-US" sz="2000" b="0" dirty="0">
                <a:solidFill>
                  <a:schemeClr val="hlink"/>
                </a:solidFill>
                <a:latin typeface="宋体" panose="02010600030101010101" pitchFamily="2" charset="-122"/>
                <a:ea typeface="楷体_GB2312"/>
              </a:rPr>
              <a:t>寄存器的哪</a:t>
            </a:r>
            <a:r>
              <a:rPr lang="zh-CN" altLang="en-US" sz="2000" b="0" dirty="0">
                <a:solidFill>
                  <a:schemeClr val="hlink"/>
                </a:solidFill>
                <a:latin typeface="宋体" panose="02010600030101010101" pitchFamily="2" charset="-122"/>
                <a:ea typeface="楷体_GB2312"/>
              </a:rPr>
              <a:t>一位。</a:t>
            </a:r>
            <a:endParaRPr lang="zh-CN" altLang="en-US" sz="2000" b="0" dirty="0">
              <a:solidFill>
                <a:schemeClr val="hlink"/>
              </a:solidFill>
              <a:latin typeface="宋体" panose="02010600030101010101" pitchFamily="2" charset="-122"/>
              <a:ea typeface="楷体_GB2312"/>
            </a:endParaRPr>
          </a:p>
        </p:txBody>
      </p:sp>
    </p:spTree>
  </p:cSld>
  <p:clrMapOvr>
    <a:masterClrMapping/>
  </p:clrMapOvr>
  <p:transition spd="slow">
    <p:zoom/>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03985" y="1844675"/>
            <a:ext cx="6419850" cy="3858895"/>
          </a:xfrm>
          <a:prstGeom prst="rect">
            <a:avLst/>
          </a:prstGeom>
        </p:spPr>
      </p:pic>
    </p:spTree>
  </p:cSld>
  <p:clrMapOvr>
    <a:masterClrMapping/>
  </p:clrMapOvr>
  <p:transition spd="slow">
    <p:zoom/>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3714"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173059" name="Rectangle 3"/>
          <p:cNvSpPr>
            <a:spLocks noGrp="1" noRot="1"/>
          </p:cNvSpPr>
          <p:nvPr>
            <p:ph type="body" idx="4294967295"/>
          </p:nvPr>
        </p:nvSpPr>
        <p:spPr>
          <a:xfrm>
            <a:off x="755650" y="3716338"/>
            <a:ext cx="7772400" cy="2630487"/>
          </a:xfrm>
        </p:spPr>
        <p:txBody>
          <a:bodyPr vert="horz" wrap="square" lIns="91440" tIns="45720" rIns="91440" bIns="45720" anchor="t" anchorCtr="0"/>
          <a:p>
            <a:pPr eaLnBrk="1" hangingPunct="1"/>
            <a:r>
              <a:rPr lang="en-US" altLang="zh-CN" dirty="0"/>
              <a:t>01100110</a:t>
            </a:r>
            <a:endParaRPr lang="en-US" altLang="zh-CN" dirty="0"/>
          </a:p>
          <a:p>
            <a:pPr lvl="1" eaLnBrk="1" hangingPunct="1"/>
            <a:r>
              <a:rPr lang="en-US" altLang="zh-CN" dirty="0">
                <a:solidFill>
                  <a:srgbClr val="FF0000"/>
                </a:solidFill>
              </a:rPr>
              <a:t>        </a:t>
            </a:r>
            <a:r>
              <a:rPr lang="en-US" altLang="zh-CN" dirty="0"/>
              <a:t> </a:t>
            </a:r>
            <a:r>
              <a:rPr lang="en-US" altLang="zh-CN" dirty="0">
                <a:sym typeface="Arial" panose="020B0604020202020204" pitchFamily="34" charset="0"/>
              </a:rPr>
              <a:t>———</a:t>
            </a:r>
            <a:r>
              <a:rPr lang="zh-CN" altLang="en-US" dirty="0"/>
              <a:t>结束</a:t>
            </a:r>
            <a:r>
              <a:rPr lang="en-US" altLang="zh-CN" dirty="0"/>
              <a:t>IR6</a:t>
            </a:r>
            <a:r>
              <a:rPr lang="zh-CN" altLang="en-US" dirty="0"/>
              <a:t>的中断 </a:t>
            </a:r>
            <a:endParaRPr lang="zh-CN" altLang="en-US" dirty="0"/>
          </a:p>
          <a:p>
            <a:pPr eaLnBrk="1" hangingPunct="1"/>
            <a:r>
              <a:rPr lang="en-US" altLang="zh-CN" dirty="0"/>
              <a:t>11000110</a:t>
            </a:r>
            <a:endParaRPr lang="en-US" altLang="zh-CN" dirty="0"/>
          </a:p>
          <a:p>
            <a:pPr lvl="1" eaLnBrk="1" hangingPunct="1"/>
            <a:r>
              <a:rPr lang="en-US" altLang="zh-CN" dirty="0"/>
              <a:t>         ———IR6</a:t>
            </a:r>
            <a:r>
              <a:rPr lang="zh-CN" altLang="en-US" dirty="0"/>
              <a:t>为最低级开始循环方式 </a:t>
            </a:r>
            <a:endParaRPr lang="zh-CN" altLang="en-US" dirty="0"/>
          </a:p>
          <a:p>
            <a:pPr eaLnBrk="1" hangingPunct="1"/>
            <a:endParaRPr lang="zh-CN" altLang="en-US" dirty="0"/>
          </a:p>
          <a:p>
            <a:pPr eaLnBrk="1" hangingPunct="1"/>
            <a:endParaRPr lang="en-US" altLang="zh-CN" dirty="0"/>
          </a:p>
        </p:txBody>
      </p:sp>
      <p:sp>
        <p:nvSpPr>
          <p:cNvPr id="243716" name="Rectangle 4"/>
          <p:cNvSpPr/>
          <p:nvPr/>
        </p:nvSpPr>
        <p:spPr>
          <a:xfrm>
            <a:off x="527050" y="2205038"/>
            <a:ext cx="8001000" cy="8636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2400" dirty="0">
                <a:ea typeface="楷体_GB2312"/>
              </a:rPr>
              <a:t>A0</a:t>
            </a:r>
            <a:r>
              <a:rPr lang="en-US" altLang="zh-CN" sz="2400" b="0" dirty="0">
                <a:ea typeface="楷体_GB2312"/>
              </a:rPr>
              <a:t>   	D7	D6     	D5     	D4   	D3  	D2   	D1   	D0</a:t>
            </a:r>
            <a:br>
              <a:rPr lang="en-US" altLang="zh-CN" sz="2400" b="0" dirty="0">
                <a:ea typeface="楷体_GB2312"/>
              </a:rPr>
            </a:br>
            <a:r>
              <a:rPr lang="en-US" altLang="zh-CN" sz="2400" b="0" dirty="0">
                <a:ea typeface="楷体_GB2312"/>
              </a:rPr>
              <a:t> </a:t>
            </a:r>
            <a:r>
              <a:rPr lang="en-US" altLang="zh-CN" sz="2400" dirty="0">
                <a:solidFill>
                  <a:srgbClr val="FF0000"/>
                </a:solidFill>
                <a:ea typeface="楷体_GB2312"/>
              </a:rPr>
              <a:t>0	 R        SL 	EOI  	 0 	 0 	 L</a:t>
            </a:r>
            <a:r>
              <a:rPr lang="en-US" altLang="zh-CN" sz="2400" baseline="-20000" dirty="0">
                <a:solidFill>
                  <a:srgbClr val="FF0000"/>
                </a:solidFill>
                <a:ea typeface="楷体_GB2312"/>
              </a:rPr>
              <a:t>2</a:t>
            </a:r>
            <a:r>
              <a:rPr lang="en-US" altLang="zh-CN" sz="2400" dirty="0">
                <a:solidFill>
                  <a:srgbClr val="FF0000"/>
                </a:solidFill>
                <a:ea typeface="楷体_GB2312"/>
              </a:rPr>
              <a:t> 	 L</a:t>
            </a:r>
            <a:r>
              <a:rPr lang="en-US" altLang="zh-CN" sz="2400" baseline="-20000" dirty="0">
                <a:solidFill>
                  <a:srgbClr val="FF0000"/>
                </a:solidFill>
                <a:ea typeface="楷体_GB2312"/>
              </a:rPr>
              <a:t>1</a:t>
            </a:r>
            <a:r>
              <a:rPr lang="en-US" altLang="zh-CN" sz="2400" dirty="0">
                <a:solidFill>
                  <a:srgbClr val="FF0000"/>
                </a:solidFill>
                <a:ea typeface="楷体_GB2312"/>
              </a:rPr>
              <a:t> 	 L</a:t>
            </a:r>
            <a:r>
              <a:rPr lang="en-US" altLang="zh-CN" sz="2400" baseline="-20000" dirty="0">
                <a:solidFill>
                  <a:srgbClr val="FF0000"/>
                </a:solidFill>
                <a:ea typeface="楷体_GB2312"/>
              </a:rPr>
              <a:t>0</a:t>
            </a:r>
            <a:endParaRPr lang="en-US" altLang="zh-CN" sz="2400" baseline="-20000" dirty="0">
              <a:solidFill>
                <a:srgbClr val="FF0000"/>
              </a:solidFill>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3059">
                                            <p:txEl>
                                              <p:charRg st="0" end="9"/>
                                            </p:txEl>
                                          </p:spTgt>
                                        </p:tgtEl>
                                        <p:attrNameLst>
                                          <p:attrName>style.visibility</p:attrName>
                                        </p:attrNameLst>
                                      </p:cBhvr>
                                      <p:to>
                                        <p:strVal val="visible"/>
                                      </p:to>
                                    </p:set>
                                    <p:animEffect transition="in" filter="blinds(horizontal)">
                                      <p:cBhvr>
                                        <p:cTn id="7" dur="500"/>
                                        <p:tgtEl>
                                          <p:spTgt spid="173059">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3059">
                                            <p:txEl>
                                              <p:charRg st="9" end="35"/>
                                            </p:txEl>
                                          </p:spTgt>
                                        </p:tgtEl>
                                        <p:attrNameLst>
                                          <p:attrName>style.visibility</p:attrName>
                                        </p:attrNameLst>
                                      </p:cBhvr>
                                      <p:to>
                                        <p:strVal val="visible"/>
                                      </p:to>
                                    </p:set>
                                    <p:animEffect transition="in" filter="blinds(horizontal)">
                                      <p:cBhvr>
                                        <p:cTn id="12" dur="500"/>
                                        <p:tgtEl>
                                          <p:spTgt spid="173059">
                                            <p:txEl>
                                              <p:charRg st="9" end="3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3059">
                                            <p:txEl>
                                              <p:charRg st="35" end="44"/>
                                            </p:txEl>
                                          </p:spTgt>
                                        </p:tgtEl>
                                        <p:attrNameLst>
                                          <p:attrName>style.visibility</p:attrName>
                                        </p:attrNameLst>
                                      </p:cBhvr>
                                      <p:to>
                                        <p:strVal val="visible"/>
                                      </p:to>
                                    </p:set>
                                    <p:animEffect transition="in" filter="blinds(horizontal)">
                                      <p:cBhvr>
                                        <p:cTn id="17" dur="500"/>
                                        <p:tgtEl>
                                          <p:spTgt spid="173059">
                                            <p:txEl>
                                              <p:charRg st="35" end="4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73059">
                                            <p:txEl>
                                              <p:charRg st="44" end="69"/>
                                            </p:txEl>
                                          </p:spTgt>
                                        </p:tgtEl>
                                        <p:attrNameLst>
                                          <p:attrName>style.visibility</p:attrName>
                                        </p:attrNameLst>
                                      </p:cBhvr>
                                      <p:to>
                                        <p:strVal val="visible"/>
                                      </p:to>
                                    </p:set>
                                    <p:animEffect transition="in" filter="blinds(horizontal)">
                                      <p:cBhvr>
                                        <p:cTn id="22" dur="500"/>
                                        <p:tgtEl>
                                          <p:spTgt spid="173059">
                                            <p:txEl>
                                              <p:charRg st="44" end="6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8"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44739" name="Rectangle 2"/>
          <p:cNvSpPr>
            <a:spLocks noGrp="1" noRot="1"/>
          </p:cNvSpPr>
          <p:nvPr>
            <p:ph type="title" idx="4294967295"/>
          </p:nvPr>
        </p:nvSpPr>
        <p:spPr>
          <a:xfrm>
            <a:off x="912813" y="214313"/>
            <a:ext cx="8031162" cy="1462087"/>
          </a:xfrm>
        </p:spPr>
        <p:txBody>
          <a:bodyPr vert="horz" wrap="square" lIns="91440" tIns="45720" rIns="91440" bIns="45720" anchor="b" anchorCtr="0"/>
          <a:p>
            <a:pPr eaLnBrk="1" hangingPunct="1"/>
            <a:r>
              <a:rPr lang="en-GB" altLang="en-US" sz="4000" dirty="0"/>
              <a:t>OCW3——</a:t>
            </a:r>
            <a:r>
              <a:rPr lang="zh-CN" altLang="en-US" sz="4000" dirty="0"/>
              <a:t>屏蔽方式和读出控制字 </a:t>
            </a:r>
            <a:endParaRPr lang="zh-CN" altLang="en-US" sz="4000" dirty="0"/>
          </a:p>
        </p:txBody>
      </p:sp>
      <p:sp>
        <p:nvSpPr>
          <p:cNvPr id="244740" name="Rectangle 3"/>
          <p:cNvSpPr>
            <a:spLocks noGrp="1" noRot="1"/>
          </p:cNvSpPr>
          <p:nvPr>
            <p:ph type="body" idx="4294967295"/>
          </p:nvPr>
        </p:nvSpPr>
        <p:spPr>
          <a:xfrm>
            <a:off x="323850" y="3429000"/>
            <a:ext cx="4319588" cy="3024188"/>
          </a:xfrm>
        </p:spPr>
        <p:txBody>
          <a:bodyPr vert="horz" wrap="square" lIns="91440" tIns="45720" rIns="91440" bIns="45720" anchor="t" anchorCtr="0"/>
          <a:p>
            <a:pPr eaLnBrk="1" hangingPunct="1">
              <a:lnSpc>
                <a:spcPct val="80000"/>
              </a:lnSpc>
            </a:pPr>
            <a:r>
              <a:rPr lang="en-US" altLang="zh-CN" sz="2000" dirty="0"/>
              <a:t>ESMM:</a:t>
            </a:r>
            <a:r>
              <a:rPr lang="en-US" altLang="zh-CN" sz="2000" dirty="0">
                <a:latin typeface="Times New Roman" panose="02020603050405020304" pitchFamily="18" charset="0"/>
              </a:rPr>
              <a:t> </a:t>
            </a:r>
            <a:r>
              <a:rPr lang="zh-CN" altLang="en-US" sz="2000" dirty="0">
                <a:latin typeface="Times New Roman" panose="02020603050405020304" pitchFamily="18" charset="0"/>
              </a:rPr>
              <a:t>允许使能特殊屏蔽方式</a:t>
            </a:r>
            <a:endParaRPr lang="zh-CN" altLang="en-US" sz="2000" dirty="0">
              <a:latin typeface="Times New Roman" panose="02020603050405020304" pitchFamily="18" charset="0"/>
            </a:endParaRPr>
          </a:p>
          <a:p>
            <a:pPr eaLnBrk="1" hangingPunct="1">
              <a:lnSpc>
                <a:spcPct val="80000"/>
              </a:lnSpc>
            </a:pPr>
            <a:r>
              <a:rPr lang="en-US" altLang="zh-CN" sz="2000" dirty="0"/>
              <a:t>SMM:</a:t>
            </a:r>
            <a:r>
              <a:rPr lang="en-US" altLang="zh-CN" sz="2000" dirty="0">
                <a:latin typeface="Times New Roman" panose="02020603050405020304" pitchFamily="18" charset="0"/>
              </a:rPr>
              <a:t>    </a:t>
            </a:r>
            <a:r>
              <a:rPr lang="zh-CN" altLang="en-US" sz="2000" dirty="0">
                <a:latin typeface="Times New Roman" panose="02020603050405020304" pitchFamily="18" charset="0"/>
              </a:rPr>
              <a:t>特殊屏蔽方式</a:t>
            </a:r>
            <a:endParaRPr lang="zh-CN" altLang="en-US" sz="2000" dirty="0">
              <a:latin typeface="Times New Roman" panose="02020603050405020304" pitchFamily="18" charset="0"/>
            </a:endParaRPr>
          </a:p>
          <a:p>
            <a:pPr algn="just" eaLnBrk="1" hangingPunct="1">
              <a:lnSpc>
                <a:spcPct val="80000"/>
              </a:lnSpc>
              <a:buNone/>
            </a:pPr>
            <a:r>
              <a:rPr lang="en-US" altLang="zh-CN" sz="2000" dirty="0">
                <a:solidFill>
                  <a:srgbClr val="0000FF"/>
                </a:solidFill>
              </a:rPr>
              <a:t>ESMM  SMM</a:t>
            </a:r>
            <a:endParaRPr lang="en-US" altLang="zh-CN" sz="2000" dirty="0">
              <a:solidFill>
                <a:srgbClr val="0000FF"/>
              </a:solidFill>
            </a:endParaRPr>
          </a:p>
          <a:p>
            <a:pPr algn="just" eaLnBrk="1" hangingPunct="1">
              <a:lnSpc>
                <a:spcPct val="80000"/>
              </a:lnSpc>
              <a:buNone/>
            </a:pPr>
            <a:r>
              <a:rPr lang="en-US" altLang="zh-CN" sz="2000" dirty="0">
                <a:solidFill>
                  <a:srgbClr val="0000FF"/>
                </a:solidFill>
              </a:rPr>
              <a:t>1           1         </a:t>
            </a:r>
            <a:r>
              <a:rPr lang="zh-CN" altLang="en-US" sz="2000" dirty="0">
                <a:solidFill>
                  <a:srgbClr val="0000FF"/>
                </a:solidFill>
              </a:rPr>
              <a:t>特殊屏蔽方式置位</a:t>
            </a:r>
            <a:endParaRPr lang="zh-CN" altLang="en-US" sz="2000" dirty="0">
              <a:solidFill>
                <a:srgbClr val="0000FF"/>
              </a:solidFill>
            </a:endParaRPr>
          </a:p>
          <a:p>
            <a:pPr algn="just" eaLnBrk="1" hangingPunct="1">
              <a:lnSpc>
                <a:spcPct val="80000"/>
              </a:lnSpc>
              <a:buNone/>
            </a:pPr>
            <a:r>
              <a:rPr lang="en-US" altLang="zh-CN" sz="2000" dirty="0">
                <a:solidFill>
                  <a:srgbClr val="0000FF"/>
                </a:solidFill>
              </a:rPr>
              <a:t>1           0         </a:t>
            </a:r>
            <a:r>
              <a:rPr lang="zh-CN" altLang="en-US" sz="2000" dirty="0">
                <a:solidFill>
                  <a:srgbClr val="0000FF"/>
                </a:solidFill>
              </a:rPr>
              <a:t>特殊屏蔽方式复位</a:t>
            </a:r>
            <a:endParaRPr lang="zh-CN" altLang="en-US" sz="2000" dirty="0">
              <a:solidFill>
                <a:srgbClr val="0000FF"/>
              </a:solidFill>
            </a:endParaRPr>
          </a:p>
          <a:p>
            <a:pPr algn="just" eaLnBrk="1" hangingPunct="1">
              <a:lnSpc>
                <a:spcPct val="80000"/>
              </a:lnSpc>
              <a:buNone/>
            </a:pPr>
            <a:r>
              <a:rPr lang="en-US" altLang="zh-CN" sz="2000" dirty="0">
                <a:solidFill>
                  <a:srgbClr val="0000FF"/>
                </a:solidFill>
              </a:rPr>
              <a:t>0           x         </a:t>
            </a:r>
            <a:r>
              <a:rPr lang="zh-CN" altLang="en-US" sz="2000" dirty="0">
                <a:solidFill>
                  <a:srgbClr val="0000FF"/>
                </a:solidFill>
              </a:rPr>
              <a:t>非特殊屏蔽方式</a:t>
            </a:r>
            <a:endParaRPr lang="zh-CN" altLang="en-US" sz="2000" dirty="0">
              <a:solidFill>
                <a:srgbClr val="0000FF"/>
              </a:solidFill>
            </a:endParaRPr>
          </a:p>
          <a:p>
            <a:pPr algn="just" eaLnBrk="1" hangingPunct="1">
              <a:lnSpc>
                <a:spcPct val="80000"/>
              </a:lnSpc>
              <a:buNone/>
            </a:pPr>
            <a:endParaRPr lang="zh-CN" altLang="en-US" sz="2000" dirty="0"/>
          </a:p>
          <a:p>
            <a:pPr algn="just" eaLnBrk="1" hangingPunct="1">
              <a:lnSpc>
                <a:spcPct val="80000"/>
              </a:lnSpc>
              <a:buNone/>
            </a:pPr>
            <a:r>
              <a:rPr lang="en-US" altLang="zh-CN" sz="2000" dirty="0"/>
              <a:t>P(Polling):  =1  </a:t>
            </a:r>
            <a:r>
              <a:rPr lang="zh-CN" altLang="en-US" sz="2000" dirty="0">
                <a:latin typeface="Times New Roman" panose="02020603050405020304" pitchFamily="18" charset="0"/>
              </a:rPr>
              <a:t>查询方式</a:t>
            </a:r>
            <a:endParaRPr lang="zh-CN" altLang="en-US" sz="2000" dirty="0"/>
          </a:p>
          <a:p>
            <a:pPr algn="just" eaLnBrk="1" hangingPunct="1">
              <a:lnSpc>
                <a:spcPct val="80000"/>
              </a:lnSpc>
              <a:buNone/>
            </a:pPr>
            <a:r>
              <a:rPr lang="zh-CN" altLang="en-US" sz="2000" dirty="0"/>
              <a:t>                    </a:t>
            </a:r>
            <a:r>
              <a:rPr lang="en-US" altLang="zh-CN" sz="2000" dirty="0"/>
              <a:t>=0  </a:t>
            </a:r>
            <a:r>
              <a:rPr lang="zh-CN" altLang="en-US" sz="2000" dirty="0"/>
              <a:t>非查询方式</a:t>
            </a:r>
            <a:endParaRPr lang="zh-CN" altLang="en-US" sz="2000" dirty="0">
              <a:latin typeface="Times New Roman" panose="02020603050405020304" pitchFamily="18" charset="0"/>
            </a:endParaRPr>
          </a:p>
        </p:txBody>
      </p:sp>
      <p:sp>
        <p:nvSpPr>
          <p:cNvPr id="244741" name="Rectangle 4"/>
          <p:cNvSpPr/>
          <p:nvPr/>
        </p:nvSpPr>
        <p:spPr>
          <a:xfrm>
            <a:off x="0" y="2324100"/>
            <a:ext cx="9144000" cy="792163"/>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400" dirty="0">
                <a:ea typeface="楷体_GB2312"/>
              </a:rPr>
              <a:t>A0</a:t>
            </a:r>
            <a:r>
              <a:rPr lang="en-US" altLang="zh-CN" sz="2400" b="0" dirty="0">
                <a:ea typeface="楷体_GB2312"/>
              </a:rPr>
              <a:t>   	D7	D6        	D5     	D4   	D3  	D2   	D1   	D0</a:t>
            </a:r>
            <a:br>
              <a:rPr lang="en-US" altLang="zh-CN" sz="2400" b="0" dirty="0">
                <a:ea typeface="楷体_GB2312"/>
              </a:rPr>
            </a:br>
            <a:r>
              <a:rPr lang="en-US" altLang="zh-CN" sz="2400" b="0" dirty="0">
                <a:ea typeface="楷体_GB2312"/>
              </a:rPr>
              <a:t> </a:t>
            </a:r>
            <a:r>
              <a:rPr lang="en-US" altLang="zh-CN" sz="2400" dirty="0">
                <a:solidFill>
                  <a:srgbClr val="FF0000"/>
                </a:solidFill>
                <a:ea typeface="楷体_GB2312"/>
              </a:rPr>
              <a:t>0	 0      	ESMM 	SMM 	 0 	 1 	 P 	RR 	RIS</a:t>
            </a:r>
            <a:endParaRPr lang="en-US" altLang="zh-CN" sz="2400" dirty="0">
              <a:solidFill>
                <a:srgbClr val="FF0000"/>
              </a:solidFill>
              <a:ea typeface="楷体_GB2312"/>
            </a:endParaRPr>
          </a:p>
        </p:txBody>
      </p:sp>
      <p:sp>
        <p:nvSpPr>
          <p:cNvPr id="244742" name="Rectangle 5"/>
          <p:cNvSpPr/>
          <p:nvPr/>
        </p:nvSpPr>
        <p:spPr>
          <a:xfrm>
            <a:off x="5602288" y="3500438"/>
            <a:ext cx="2879725" cy="1944687"/>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80000"/>
              </a:lnSpc>
              <a:spcAft>
                <a:spcPct val="0"/>
              </a:spcAft>
              <a:buSzTx/>
              <a:buFont typeface="Wingdings" panose="05000000000000000000" pitchFamily="2" charset="2"/>
              <a:buChar char="§"/>
            </a:pPr>
            <a:r>
              <a:rPr lang="en-US" altLang="zh-CN" sz="2000" b="0" dirty="0">
                <a:solidFill>
                  <a:schemeClr val="tx1"/>
                </a:solidFill>
                <a:ea typeface="楷体_GB2312"/>
              </a:rPr>
              <a:t>RR:  </a:t>
            </a:r>
            <a:r>
              <a:rPr lang="zh-CN" altLang="en-US" sz="2000" b="0" dirty="0">
                <a:solidFill>
                  <a:schemeClr val="tx1"/>
                </a:solidFill>
                <a:ea typeface="楷体_GB2312"/>
              </a:rPr>
              <a:t>读寄存器</a:t>
            </a:r>
            <a:endParaRPr lang="zh-CN" altLang="en-US" sz="2000" b="0" dirty="0">
              <a:solidFill>
                <a:schemeClr val="tx1"/>
              </a:solidFill>
              <a:ea typeface="楷体_GB2312"/>
            </a:endParaRPr>
          </a:p>
          <a:p>
            <a:pPr marL="342900" lvl="0" indent="-342900">
              <a:lnSpc>
                <a:spcPct val="80000"/>
              </a:lnSpc>
              <a:spcAft>
                <a:spcPct val="0"/>
              </a:spcAft>
              <a:buSzTx/>
              <a:buFont typeface="Wingdings" panose="05000000000000000000" pitchFamily="2" charset="2"/>
              <a:buChar char="§"/>
            </a:pPr>
            <a:r>
              <a:rPr lang="en-US" altLang="zh-CN" sz="2000" b="0" dirty="0">
                <a:solidFill>
                  <a:schemeClr val="tx1"/>
                </a:solidFill>
                <a:ea typeface="楷体_GB2312"/>
              </a:rPr>
              <a:t>RIS:  ISR/IRR</a:t>
            </a:r>
            <a:r>
              <a:rPr lang="zh-CN" altLang="en-US" sz="2000" b="0" dirty="0">
                <a:solidFill>
                  <a:schemeClr val="tx1"/>
                </a:solidFill>
                <a:ea typeface="楷体_GB2312"/>
              </a:rPr>
              <a:t>选择</a:t>
            </a:r>
            <a:endParaRPr lang="zh-CN" altLang="en-US" sz="2000" b="0" dirty="0">
              <a:solidFill>
                <a:schemeClr val="tx1"/>
              </a:solidFill>
              <a:ea typeface="楷体_GB2312"/>
            </a:endParaRPr>
          </a:p>
          <a:p>
            <a:pPr marL="342900" lvl="0" indent="-342900" algn="just">
              <a:lnSpc>
                <a:spcPct val="80000"/>
              </a:lnSpc>
              <a:spcAft>
                <a:spcPct val="0"/>
              </a:spcAft>
              <a:buSzTx/>
              <a:buNone/>
            </a:pPr>
            <a:r>
              <a:rPr lang="en-US" altLang="zh-CN" sz="2000" b="0" dirty="0">
                <a:solidFill>
                  <a:srgbClr val="0000FF"/>
                </a:solidFill>
                <a:ea typeface="楷体_GB2312"/>
              </a:rPr>
              <a:t>RR      RIS</a:t>
            </a:r>
            <a:endParaRPr lang="en-US" altLang="zh-CN" sz="2000" b="0" dirty="0">
              <a:solidFill>
                <a:srgbClr val="0000FF"/>
              </a:solidFill>
              <a:ea typeface="楷体_GB2312"/>
            </a:endParaRPr>
          </a:p>
          <a:p>
            <a:pPr marL="342900" lvl="0" indent="-342900" algn="just">
              <a:lnSpc>
                <a:spcPct val="80000"/>
              </a:lnSpc>
              <a:spcAft>
                <a:spcPct val="0"/>
              </a:spcAft>
              <a:buSzTx/>
              <a:buNone/>
            </a:pPr>
            <a:r>
              <a:rPr lang="en-US" altLang="zh-CN" sz="2000" b="0" dirty="0">
                <a:solidFill>
                  <a:srgbClr val="0000FF"/>
                </a:solidFill>
                <a:ea typeface="楷体_GB2312"/>
              </a:rPr>
              <a:t>1         1       </a:t>
            </a:r>
            <a:r>
              <a:rPr lang="zh-CN" altLang="en-US" sz="2000" b="0" dirty="0">
                <a:solidFill>
                  <a:srgbClr val="0000FF"/>
                </a:solidFill>
                <a:ea typeface="楷体_GB2312"/>
              </a:rPr>
              <a:t>读</a:t>
            </a:r>
            <a:r>
              <a:rPr lang="en-US" altLang="zh-CN" sz="2000" b="0" dirty="0">
                <a:solidFill>
                  <a:srgbClr val="0000FF"/>
                </a:solidFill>
                <a:ea typeface="楷体_GB2312"/>
              </a:rPr>
              <a:t>ISR</a:t>
            </a:r>
            <a:endParaRPr lang="en-US" altLang="zh-CN" sz="2000" b="0" dirty="0">
              <a:solidFill>
                <a:srgbClr val="0000FF"/>
              </a:solidFill>
              <a:ea typeface="楷体_GB2312"/>
            </a:endParaRPr>
          </a:p>
          <a:p>
            <a:pPr marL="342900" lvl="0" indent="-342900" algn="just">
              <a:lnSpc>
                <a:spcPct val="80000"/>
              </a:lnSpc>
              <a:spcAft>
                <a:spcPct val="0"/>
              </a:spcAft>
              <a:buSzTx/>
              <a:buNone/>
            </a:pPr>
            <a:r>
              <a:rPr lang="en-US" altLang="zh-CN" sz="2000" b="0" dirty="0">
                <a:solidFill>
                  <a:srgbClr val="0000FF"/>
                </a:solidFill>
                <a:ea typeface="楷体_GB2312"/>
              </a:rPr>
              <a:t>1         0       </a:t>
            </a:r>
            <a:r>
              <a:rPr lang="zh-CN" altLang="en-US" sz="2000" b="0" dirty="0">
                <a:solidFill>
                  <a:srgbClr val="0000FF"/>
                </a:solidFill>
                <a:ea typeface="楷体_GB2312"/>
              </a:rPr>
              <a:t>读</a:t>
            </a:r>
            <a:r>
              <a:rPr lang="en-US" altLang="zh-CN" sz="2000" b="0" dirty="0">
                <a:solidFill>
                  <a:srgbClr val="0000FF"/>
                </a:solidFill>
                <a:ea typeface="楷体_GB2312"/>
              </a:rPr>
              <a:t>IRR</a:t>
            </a:r>
            <a:endParaRPr lang="en-US" altLang="zh-CN" sz="2000" b="0" dirty="0">
              <a:solidFill>
                <a:srgbClr val="0000FF"/>
              </a:solidFill>
              <a:ea typeface="楷体_GB2312"/>
            </a:endParaRPr>
          </a:p>
          <a:p>
            <a:pPr marL="342900" lvl="0" indent="-342900" algn="just">
              <a:lnSpc>
                <a:spcPct val="80000"/>
              </a:lnSpc>
              <a:spcAft>
                <a:spcPct val="0"/>
              </a:spcAft>
              <a:buSzTx/>
              <a:buNone/>
            </a:pPr>
            <a:r>
              <a:rPr lang="en-US" altLang="zh-CN" sz="2000" b="0" dirty="0">
                <a:solidFill>
                  <a:srgbClr val="0000FF"/>
                </a:solidFill>
                <a:ea typeface="楷体_GB2312"/>
              </a:rPr>
              <a:t>0         x       </a:t>
            </a:r>
            <a:r>
              <a:rPr lang="zh-CN" altLang="en-US" sz="2000" b="0" dirty="0">
                <a:solidFill>
                  <a:srgbClr val="0000FF"/>
                </a:solidFill>
                <a:ea typeface="楷体_GB2312"/>
              </a:rPr>
              <a:t>无效</a:t>
            </a:r>
            <a:endParaRPr lang="zh-CN" altLang="en-US" sz="2000" b="0" dirty="0">
              <a:solidFill>
                <a:srgbClr val="0000FF"/>
              </a:solidFill>
              <a:ea typeface="楷体_GB2312"/>
            </a:endParaRPr>
          </a:p>
        </p:txBody>
      </p:sp>
    </p:spTree>
  </p:cSld>
  <p:clrMapOvr>
    <a:masterClrMapping/>
  </p:clrMapOvr>
  <p:transition spd="slow">
    <p:zoom/>
  </p:transition>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45762"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45763" name="Rectangle 2"/>
          <p:cNvSpPr>
            <a:spLocks noGrp="1"/>
          </p:cNvSpPr>
          <p:nvPr>
            <p:ph type="body" idx="4294967295"/>
          </p:nvPr>
        </p:nvSpPr>
        <p:spPr>
          <a:xfrm>
            <a:off x="762000" y="533400"/>
            <a:ext cx="8229600" cy="6172200"/>
          </a:xfrm>
        </p:spPr>
        <p:txBody>
          <a:bodyPr vert="horz" wrap="square" lIns="91440" tIns="45720" rIns="91440" bIns="45720" anchor="t" anchorCtr="0"/>
          <a:p>
            <a:pPr eaLnBrk="1" hangingPunct="1">
              <a:lnSpc>
                <a:spcPct val="80000"/>
              </a:lnSpc>
            </a:pPr>
            <a:r>
              <a:rPr lang="zh-CN" altLang="en-US" sz="1800" dirty="0">
                <a:solidFill>
                  <a:srgbClr val="7575D1"/>
                </a:solidFill>
                <a:latin typeface="楷体_GB2312"/>
              </a:rPr>
              <a:t>特殊屏蔽例：</a:t>
            </a:r>
            <a:endParaRPr lang="zh-CN" altLang="en-US" sz="1800" dirty="0">
              <a:solidFill>
                <a:srgbClr val="7575D1"/>
              </a:solidFill>
              <a:latin typeface="楷体_GB2312"/>
            </a:endParaRPr>
          </a:p>
          <a:p>
            <a:pPr eaLnBrk="1" hangingPunct="1">
              <a:lnSpc>
                <a:spcPct val="80000"/>
              </a:lnSpc>
              <a:buNone/>
            </a:pPr>
            <a:r>
              <a:rPr lang="zh-CN" altLang="en-US" sz="1800" dirty="0">
                <a:solidFill>
                  <a:srgbClr val="7575D1"/>
                </a:solidFill>
                <a:latin typeface="楷体_GB2312"/>
              </a:rPr>
              <a:t>	</a:t>
            </a:r>
            <a:r>
              <a:rPr lang="zh-CN" altLang="en-US" sz="1800" dirty="0">
                <a:solidFill>
                  <a:srgbClr val="FF0000"/>
                </a:solidFill>
                <a:latin typeface="楷体_GB2312"/>
              </a:rPr>
              <a:t>；</a:t>
            </a:r>
            <a:r>
              <a:rPr lang="en-US" altLang="zh-CN" sz="1800" dirty="0">
                <a:solidFill>
                  <a:srgbClr val="FF0000"/>
                </a:solidFill>
                <a:latin typeface="楷体_GB2312"/>
              </a:rPr>
              <a:t>IR4</a:t>
            </a:r>
            <a:r>
              <a:rPr lang="zh-CN" altLang="en-US" sz="1800" dirty="0">
                <a:solidFill>
                  <a:srgbClr val="FF0000"/>
                </a:solidFill>
                <a:latin typeface="楷体_GB2312"/>
              </a:rPr>
              <a:t>中断处理程序</a:t>
            </a:r>
            <a:endParaRPr lang="zh-CN" altLang="en-US" sz="1800" dirty="0">
              <a:solidFill>
                <a:srgbClr val="FF0000"/>
              </a:solidFill>
              <a:latin typeface="楷体_GB2312"/>
            </a:endParaRPr>
          </a:p>
          <a:p>
            <a:pPr eaLnBrk="1" hangingPunct="1">
              <a:lnSpc>
                <a:spcPct val="80000"/>
              </a:lnSpc>
              <a:buNone/>
            </a:pPr>
            <a:r>
              <a:rPr lang="zh-CN" altLang="en-US" sz="1800" dirty="0">
                <a:solidFill>
                  <a:srgbClr val="7575D1"/>
                </a:solidFill>
                <a:latin typeface="楷体_GB2312"/>
              </a:rPr>
              <a:t>	</a:t>
            </a:r>
            <a:r>
              <a:rPr lang="en-US" altLang="zh-CN" sz="1800" dirty="0">
                <a:solidFill>
                  <a:srgbClr val="7575D1"/>
                </a:solidFill>
                <a:latin typeface="楷体_GB2312"/>
              </a:rPr>
              <a:t>CLI</a:t>
            </a:r>
            <a:endParaRPr lang="en-US" altLang="zh-CN" sz="1800" dirty="0">
              <a:solidFill>
                <a:srgbClr val="7575D1"/>
              </a:solidFill>
              <a:latin typeface="楷体_GB2312"/>
            </a:endParaRPr>
          </a:p>
          <a:p>
            <a:pPr eaLnBrk="1" hangingPunct="1">
              <a:lnSpc>
                <a:spcPct val="80000"/>
              </a:lnSpc>
              <a:buNone/>
            </a:pPr>
            <a:r>
              <a:rPr lang="en-US" altLang="zh-CN" sz="1800" dirty="0">
                <a:solidFill>
                  <a:srgbClr val="7575D1"/>
                </a:solidFill>
                <a:latin typeface="楷体_GB2312"/>
              </a:rPr>
              <a:t>	MOV    AL</a:t>
            </a:r>
            <a:r>
              <a:rPr lang="zh-CN" altLang="en-US" sz="1800" dirty="0">
                <a:solidFill>
                  <a:srgbClr val="7575D1"/>
                </a:solidFill>
                <a:latin typeface="楷体_GB2312"/>
              </a:rPr>
              <a:t>，</a:t>
            </a:r>
            <a:r>
              <a:rPr lang="en-US" altLang="zh-CN" sz="1800" dirty="0">
                <a:solidFill>
                  <a:srgbClr val="7575D1"/>
                </a:solidFill>
                <a:latin typeface="楷体_GB2312"/>
              </a:rPr>
              <a:t>68H              </a:t>
            </a:r>
            <a:r>
              <a:rPr lang="zh-CN" altLang="en-US" sz="1800" dirty="0">
                <a:solidFill>
                  <a:srgbClr val="7575D1"/>
                </a:solidFill>
                <a:latin typeface="楷体_GB2312"/>
              </a:rPr>
              <a:t>；</a:t>
            </a:r>
            <a:r>
              <a:rPr lang="en-US" altLang="zh-CN" sz="1800" dirty="0">
                <a:solidFill>
                  <a:srgbClr val="FF0000"/>
                </a:solidFill>
                <a:latin typeface="楷体_GB2312"/>
              </a:rPr>
              <a:t>OCW3</a:t>
            </a:r>
            <a:r>
              <a:rPr lang="zh-CN" altLang="en-US" sz="1800" dirty="0">
                <a:solidFill>
                  <a:srgbClr val="FF0000"/>
                </a:solidFill>
                <a:latin typeface="楷体_GB2312"/>
              </a:rPr>
              <a:t>：</a:t>
            </a:r>
            <a:r>
              <a:rPr lang="en-US" altLang="zh-CN" sz="1800" dirty="0">
                <a:solidFill>
                  <a:srgbClr val="FF0000"/>
                </a:solidFill>
                <a:latin typeface="楷体_GB2312"/>
              </a:rPr>
              <a:t>0 </a:t>
            </a:r>
            <a:r>
              <a:rPr lang="en-US" altLang="zh-CN" sz="1800" u="sng" dirty="0">
                <a:solidFill>
                  <a:srgbClr val="FF0000"/>
                </a:solidFill>
                <a:latin typeface="楷体_GB2312"/>
              </a:rPr>
              <a:t>1 1</a:t>
            </a:r>
            <a:r>
              <a:rPr lang="en-US" altLang="zh-CN" sz="1800" dirty="0">
                <a:solidFill>
                  <a:srgbClr val="FF0000"/>
                </a:solidFill>
                <a:latin typeface="楷体_GB2312"/>
              </a:rPr>
              <a:t> 0 1 0 0 0	</a:t>
            </a:r>
            <a:r>
              <a:rPr lang="zh-CN" altLang="en-US" sz="1800" dirty="0">
                <a:solidFill>
                  <a:srgbClr val="FF0000"/>
                </a:solidFill>
                <a:latin typeface="楷体_GB2312"/>
              </a:rPr>
              <a:t>？</a:t>
            </a:r>
            <a:endParaRPr lang="en-US" altLang="zh-CN" sz="1800" dirty="0">
              <a:solidFill>
                <a:srgbClr val="FF0000"/>
              </a:solidFill>
              <a:latin typeface="楷体_GB2312"/>
            </a:endParaRPr>
          </a:p>
          <a:p>
            <a:pPr eaLnBrk="1" hangingPunct="1">
              <a:lnSpc>
                <a:spcPct val="80000"/>
              </a:lnSpc>
              <a:buNone/>
            </a:pPr>
            <a:r>
              <a:rPr lang="en-US" altLang="zh-CN" sz="1800" dirty="0">
                <a:solidFill>
                  <a:srgbClr val="7575D1"/>
                </a:solidFill>
                <a:latin typeface="楷体_GB2312"/>
              </a:rPr>
              <a:t>	OUT    0C0H</a:t>
            </a:r>
            <a:r>
              <a:rPr lang="zh-CN" altLang="en-US" sz="1800" dirty="0">
                <a:solidFill>
                  <a:srgbClr val="7575D1"/>
                </a:solidFill>
                <a:latin typeface="楷体_GB2312"/>
              </a:rPr>
              <a:t>，</a:t>
            </a:r>
            <a:r>
              <a:rPr lang="en-US" altLang="zh-CN" sz="1800" dirty="0">
                <a:solidFill>
                  <a:srgbClr val="7575D1"/>
                </a:solidFill>
                <a:latin typeface="楷体_GB2312"/>
              </a:rPr>
              <a:t>AL             </a:t>
            </a:r>
            <a:r>
              <a:rPr lang="zh-CN" altLang="en-US" sz="1800" dirty="0">
                <a:solidFill>
                  <a:srgbClr val="7575D1"/>
                </a:solidFill>
                <a:latin typeface="楷体_GB2312"/>
              </a:rPr>
              <a:t>；设置特殊屏蔽方式</a:t>
            </a:r>
            <a:endParaRPr lang="zh-CN" altLang="en-US" sz="1800" dirty="0">
              <a:solidFill>
                <a:srgbClr val="7575D1"/>
              </a:solidFill>
              <a:latin typeface="楷体_GB2312"/>
            </a:endParaRPr>
          </a:p>
          <a:p>
            <a:pPr eaLnBrk="1" hangingPunct="1">
              <a:lnSpc>
                <a:spcPct val="80000"/>
              </a:lnSpc>
              <a:buNone/>
            </a:pPr>
            <a:r>
              <a:rPr lang="zh-CN" altLang="en-US" sz="1800" dirty="0">
                <a:solidFill>
                  <a:srgbClr val="7575D1"/>
                </a:solidFill>
                <a:latin typeface="楷体_GB2312"/>
              </a:rPr>
              <a:t>	</a:t>
            </a:r>
            <a:r>
              <a:rPr lang="en-US" altLang="zh-CN" sz="1800" dirty="0">
                <a:solidFill>
                  <a:srgbClr val="7575D1"/>
                </a:solidFill>
                <a:latin typeface="楷体_GB2312"/>
              </a:rPr>
              <a:t>IN     AL</a:t>
            </a:r>
            <a:r>
              <a:rPr lang="zh-CN" altLang="en-US" sz="1800" dirty="0">
                <a:solidFill>
                  <a:srgbClr val="7575D1"/>
                </a:solidFill>
                <a:latin typeface="楷体_GB2312"/>
              </a:rPr>
              <a:t>，</a:t>
            </a:r>
            <a:r>
              <a:rPr lang="en-US" altLang="zh-CN" sz="1800" dirty="0">
                <a:solidFill>
                  <a:srgbClr val="7575D1"/>
                </a:solidFill>
                <a:latin typeface="楷体_GB2312"/>
              </a:rPr>
              <a:t>0C2H 	</a:t>
            </a:r>
            <a:endParaRPr lang="en-US" altLang="zh-CN" sz="1800" dirty="0">
              <a:solidFill>
                <a:srgbClr val="7575D1"/>
              </a:solidFill>
              <a:latin typeface="楷体_GB2312"/>
            </a:endParaRPr>
          </a:p>
          <a:p>
            <a:pPr eaLnBrk="1" hangingPunct="1">
              <a:lnSpc>
                <a:spcPct val="80000"/>
              </a:lnSpc>
              <a:buNone/>
            </a:pPr>
            <a:r>
              <a:rPr lang="en-US" altLang="zh-CN" sz="1800" dirty="0">
                <a:solidFill>
                  <a:srgbClr val="7575D1"/>
                </a:solidFill>
                <a:latin typeface="楷体_GB2312"/>
              </a:rPr>
              <a:t>	OR     AL</a:t>
            </a:r>
            <a:r>
              <a:rPr lang="zh-CN" altLang="en-US" sz="1800" dirty="0">
                <a:solidFill>
                  <a:srgbClr val="7575D1"/>
                </a:solidFill>
                <a:latin typeface="楷体_GB2312"/>
              </a:rPr>
              <a:t>，</a:t>
            </a:r>
            <a:r>
              <a:rPr lang="en-US" altLang="zh-CN" sz="1800" dirty="0">
                <a:solidFill>
                  <a:srgbClr val="7575D1"/>
                </a:solidFill>
                <a:latin typeface="楷体_GB2312"/>
              </a:rPr>
              <a:t>10H              </a:t>
            </a:r>
            <a:r>
              <a:rPr lang="zh-CN" altLang="en-US" sz="1800" dirty="0">
                <a:solidFill>
                  <a:srgbClr val="7575D1"/>
                </a:solidFill>
                <a:latin typeface="楷体_GB2312"/>
              </a:rPr>
              <a:t>；屏蔽</a:t>
            </a:r>
            <a:r>
              <a:rPr lang="en-US" altLang="zh-CN" sz="1800" dirty="0">
                <a:solidFill>
                  <a:srgbClr val="7575D1"/>
                </a:solidFill>
                <a:latin typeface="楷体_GB2312"/>
              </a:rPr>
              <a:t>IR4</a:t>
            </a:r>
            <a:endParaRPr lang="en-US" altLang="zh-CN" sz="1800" dirty="0">
              <a:solidFill>
                <a:srgbClr val="7575D1"/>
              </a:solidFill>
              <a:latin typeface="楷体_GB2312"/>
            </a:endParaRPr>
          </a:p>
          <a:p>
            <a:pPr eaLnBrk="1" hangingPunct="1">
              <a:lnSpc>
                <a:spcPct val="80000"/>
              </a:lnSpc>
              <a:buNone/>
            </a:pPr>
            <a:r>
              <a:rPr lang="en-US" altLang="zh-CN" sz="1800" dirty="0">
                <a:solidFill>
                  <a:srgbClr val="7575D1"/>
                </a:solidFill>
                <a:latin typeface="楷体_GB2312"/>
              </a:rPr>
              <a:t>	OUT    0C2H</a:t>
            </a:r>
            <a:r>
              <a:rPr lang="zh-CN" altLang="en-US" sz="1800" dirty="0">
                <a:solidFill>
                  <a:srgbClr val="7575D1"/>
                </a:solidFill>
                <a:latin typeface="楷体_GB2312"/>
              </a:rPr>
              <a:t>，</a:t>
            </a:r>
            <a:r>
              <a:rPr lang="en-US" altLang="zh-CN" sz="1800" dirty="0">
                <a:solidFill>
                  <a:srgbClr val="7575D1"/>
                </a:solidFill>
                <a:latin typeface="楷体_GB2312"/>
              </a:rPr>
              <a:t>AL </a:t>
            </a:r>
            <a:endParaRPr lang="en-US" altLang="zh-CN" sz="1800" dirty="0">
              <a:solidFill>
                <a:srgbClr val="7575D1"/>
              </a:solidFill>
              <a:latin typeface="楷体_GB2312"/>
            </a:endParaRPr>
          </a:p>
          <a:p>
            <a:pPr eaLnBrk="1" hangingPunct="1">
              <a:lnSpc>
                <a:spcPct val="80000"/>
              </a:lnSpc>
              <a:buNone/>
            </a:pPr>
            <a:r>
              <a:rPr lang="en-US" altLang="zh-CN" sz="1800" dirty="0">
                <a:solidFill>
                  <a:srgbClr val="7575D1"/>
                </a:solidFill>
                <a:latin typeface="楷体_GB2312"/>
              </a:rPr>
              <a:t>	STI</a:t>
            </a:r>
            <a:endParaRPr lang="en-US" altLang="zh-CN" sz="1800" dirty="0">
              <a:solidFill>
                <a:srgbClr val="7575D1"/>
              </a:solidFill>
              <a:latin typeface="楷体_GB2312"/>
            </a:endParaRPr>
          </a:p>
          <a:p>
            <a:pPr eaLnBrk="1" hangingPunct="1">
              <a:lnSpc>
                <a:spcPct val="80000"/>
              </a:lnSpc>
              <a:buNone/>
            </a:pPr>
            <a:r>
              <a:rPr lang="en-US" altLang="zh-CN" sz="1800" dirty="0">
                <a:solidFill>
                  <a:srgbClr val="7575D1"/>
                </a:solidFill>
                <a:latin typeface="楷体_GB2312"/>
              </a:rPr>
              <a:t>	</a:t>
            </a:r>
            <a:r>
              <a:rPr lang="zh-CN" altLang="en-US" sz="1800" dirty="0">
                <a:solidFill>
                  <a:srgbClr val="FF0000"/>
                </a:solidFill>
                <a:latin typeface="楷体_GB2312"/>
              </a:rPr>
              <a:t>；</a:t>
            </a:r>
            <a:r>
              <a:rPr lang="en-US" altLang="zh-CN" sz="1800" dirty="0">
                <a:solidFill>
                  <a:srgbClr val="FF0000"/>
                </a:solidFill>
                <a:latin typeface="楷体_GB2312"/>
              </a:rPr>
              <a:t>IR7</a:t>
            </a:r>
            <a:r>
              <a:rPr lang="zh-CN" altLang="en-US" sz="1800" dirty="0">
                <a:solidFill>
                  <a:srgbClr val="FF0000"/>
                </a:solidFill>
                <a:latin typeface="楷体_GB2312"/>
              </a:rPr>
              <a:t>请求，响应，返回</a:t>
            </a:r>
            <a:endParaRPr lang="zh-CN" altLang="en-US" sz="1800" dirty="0">
              <a:solidFill>
                <a:srgbClr val="FF0000"/>
              </a:solidFill>
              <a:latin typeface="楷体_GB2312"/>
            </a:endParaRPr>
          </a:p>
          <a:p>
            <a:pPr eaLnBrk="1" hangingPunct="1">
              <a:lnSpc>
                <a:spcPct val="80000"/>
              </a:lnSpc>
              <a:buNone/>
            </a:pPr>
            <a:r>
              <a:rPr lang="zh-CN" altLang="en-US" sz="1800" dirty="0">
                <a:solidFill>
                  <a:srgbClr val="7575D1"/>
                </a:solidFill>
                <a:latin typeface="楷体_GB2312"/>
              </a:rPr>
              <a:t>	</a:t>
            </a:r>
            <a:r>
              <a:rPr lang="en-US" altLang="zh-CN" sz="1800" dirty="0">
                <a:solidFill>
                  <a:srgbClr val="7575D1"/>
                </a:solidFill>
                <a:latin typeface="楷体_GB2312"/>
              </a:rPr>
              <a:t>CLI                         </a:t>
            </a:r>
            <a:r>
              <a:rPr lang="zh-CN" altLang="en-US" sz="1800" dirty="0">
                <a:solidFill>
                  <a:srgbClr val="7575D1"/>
                </a:solidFill>
                <a:latin typeface="楷体_GB2312"/>
              </a:rPr>
              <a:t>；为设命令字</a:t>
            </a:r>
            <a:endParaRPr lang="zh-CN" altLang="en-US" sz="1800" dirty="0">
              <a:solidFill>
                <a:srgbClr val="7575D1"/>
              </a:solidFill>
              <a:latin typeface="楷体_GB2312"/>
            </a:endParaRPr>
          </a:p>
          <a:p>
            <a:pPr eaLnBrk="1" hangingPunct="1">
              <a:lnSpc>
                <a:spcPct val="80000"/>
              </a:lnSpc>
              <a:buNone/>
            </a:pPr>
            <a:r>
              <a:rPr lang="zh-CN" altLang="en-US" sz="1800" dirty="0">
                <a:solidFill>
                  <a:srgbClr val="7575D1"/>
                </a:solidFill>
                <a:latin typeface="楷体_GB2312"/>
              </a:rPr>
              <a:t>	</a:t>
            </a:r>
            <a:r>
              <a:rPr lang="en-US" altLang="zh-CN" sz="1800" dirty="0">
                <a:solidFill>
                  <a:srgbClr val="7575D1"/>
                </a:solidFill>
                <a:latin typeface="楷体_GB2312"/>
              </a:rPr>
              <a:t>IN     AL</a:t>
            </a:r>
            <a:r>
              <a:rPr lang="zh-CN" altLang="en-US" sz="1800" dirty="0">
                <a:solidFill>
                  <a:srgbClr val="7575D1"/>
                </a:solidFill>
                <a:latin typeface="楷体_GB2312"/>
              </a:rPr>
              <a:t>，</a:t>
            </a:r>
            <a:r>
              <a:rPr lang="en-US" altLang="zh-CN" sz="1800" dirty="0">
                <a:solidFill>
                  <a:srgbClr val="7575D1"/>
                </a:solidFill>
                <a:latin typeface="楷体_GB2312"/>
              </a:rPr>
              <a:t>0C2H             </a:t>
            </a:r>
            <a:r>
              <a:rPr lang="zh-CN" altLang="en-US" sz="1800" dirty="0">
                <a:solidFill>
                  <a:srgbClr val="7575D1"/>
                </a:solidFill>
                <a:latin typeface="楷体_GB2312"/>
              </a:rPr>
              <a:t>；读出屏蔽字</a:t>
            </a:r>
            <a:endParaRPr lang="zh-CN" altLang="en-US" sz="1800" dirty="0">
              <a:solidFill>
                <a:srgbClr val="7575D1"/>
              </a:solidFill>
              <a:latin typeface="楷体_GB2312"/>
            </a:endParaRPr>
          </a:p>
          <a:p>
            <a:pPr eaLnBrk="1" hangingPunct="1">
              <a:lnSpc>
                <a:spcPct val="80000"/>
              </a:lnSpc>
              <a:buNone/>
            </a:pPr>
            <a:r>
              <a:rPr lang="zh-CN" altLang="en-US" sz="1800" dirty="0">
                <a:solidFill>
                  <a:srgbClr val="7575D1"/>
                </a:solidFill>
                <a:latin typeface="楷体_GB2312"/>
              </a:rPr>
              <a:t>	</a:t>
            </a:r>
            <a:r>
              <a:rPr lang="en-US" altLang="zh-CN" sz="1800" dirty="0">
                <a:solidFill>
                  <a:srgbClr val="7575D1"/>
                </a:solidFill>
                <a:latin typeface="楷体_GB2312"/>
              </a:rPr>
              <a:t>AND    AL</a:t>
            </a:r>
            <a:r>
              <a:rPr lang="zh-CN" altLang="en-US" sz="1800" dirty="0">
                <a:solidFill>
                  <a:srgbClr val="7575D1"/>
                </a:solidFill>
                <a:latin typeface="楷体_GB2312"/>
              </a:rPr>
              <a:t>，</a:t>
            </a:r>
            <a:r>
              <a:rPr lang="en-US" altLang="zh-CN" sz="1800" dirty="0">
                <a:solidFill>
                  <a:srgbClr val="7575D1"/>
                </a:solidFill>
                <a:latin typeface="楷体_GB2312"/>
              </a:rPr>
              <a:t>0EFH             </a:t>
            </a:r>
            <a:r>
              <a:rPr lang="zh-CN" altLang="en-US" sz="1800" dirty="0">
                <a:solidFill>
                  <a:srgbClr val="7575D1"/>
                </a:solidFill>
                <a:latin typeface="楷体_GB2312"/>
              </a:rPr>
              <a:t>；清除</a:t>
            </a:r>
            <a:r>
              <a:rPr lang="en-US" altLang="zh-CN" sz="1800" dirty="0">
                <a:solidFill>
                  <a:srgbClr val="7575D1"/>
                </a:solidFill>
                <a:latin typeface="楷体_GB2312"/>
              </a:rPr>
              <a:t>IMR4</a:t>
            </a:r>
            <a:endParaRPr lang="en-US" altLang="zh-CN" sz="1800" dirty="0">
              <a:solidFill>
                <a:srgbClr val="7575D1"/>
              </a:solidFill>
              <a:latin typeface="楷体_GB2312"/>
            </a:endParaRPr>
          </a:p>
          <a:p>
            <a:pPr eaLnBrk="1" hangingPunct="1">
              <a:lnSpc>
                <a:spcPct val="80000"/>
              </a:lnSpc>
              <a:buNone/>
            </a:pPr>
            <a:r>
              <a:rPr lang="en-US" altLang="zh-CN" sz="1800" dirty="0">
                <a:solidFill>
                  <a:srgbClr val="7575D1"/>
                </a:solidFill>
                <a:latin typeface="楷体_GB2312"/>
              </a:rPr>
              <a:t>	OUT    0C2H</a:t>
            </a:r>
            <a:r>
              <a:rPr lang="zh-CN" altLang="en-US" sz="1800" dirty="0">
                <a:solidFill>
                  <a:srgbClr val="7575D1"/>
                </a:solidFill>
                <a:latin typeface="楷体_GB2312"/>
              </a:rPr>
              <a:t>，</a:t>
            </a:r>
            <a:r>
              <a:rPr lang="en-US" altLang="zh-CN" sz="1800" dirty="0">
                <a:solidFill>
                  <a:srgbClr val="7575D1"/>
                </a:solidFill>
                <a:latin typeface="楷体_GB2312"/>
              </a:rPr>
              <a:t>AL</a:t>
            </a:r>
            <a:endParaRPr lang="en-US" altLang="zh-CN" sz="1800" dirty="0">
              <a:solidFill>
                <a:srgbClr val="7575D1"/>
              </a:solidFill>
              <a:latin typeface="楷体_GB2312"/>
            </a:endParaRPr>
          </a:p>
          <a:p>
            <a:pPr eaLnBrk="1" hangingPunct="1">
              <a:lnSpc>
                <a:spcPct val="80000"/>
              </a:lnSpc>
              <a:buNone/>
            </a:pPr>
            <a:r>
              <a:rPr lang="en-US" altLang="zh-CN" sz="1800" dirty="0">
                <a:solidFill>
                  <a:srgbClr val="7575D1"/>
                </a:solidFill>
                <a:latin typeface="楷体_GB2312"/>
              </a:rPr>
              <a:t>	MOV    AL</a:t>
            </a:r>
            <a:r>
              <a:rPr lang="zh-CN" altLang="en-US" sz="1800" dirty="0">
                <a:solidFill>
                  <a:srgbClr val="7575D1"/>
                </a:solidFill>
                <a:latin typeface="楷体_GB2312"/>
              </a:rPr>
              <a:t>，</a:t>
            </a:r>
            <a:r>
              <a:rPr lang="en-US" altLang="zh-CN" sz="1800" dirty="0">
                <a:solidFill>
                  <a:srgbClr val="7575D1"/>
                </a:solidFill>
                <a:latin typeface="楷体_GB2312"/>
              </a:rPr>
              <a:t>48H              </a:t>
            </a:r>
            <a:r>
              <a:rPr lang="zh-CN" altLang="en-US" sz="1800" dirty="0">
                <a:solidFill>
                  <a:srgbClr val="7575D1"/>
                </a:solidFill>
                <a:latin typeface="楷体_GB2312"/>
              </a:rPr>
              <a:t>；</a:t>
            </a:r>
            <a:r>
              <a:rPr lang="en-US" altLang="zh-CN" sz="1800" dirty="0">
                <a:solidFill>
                  <a:srgbClr val="7575D1"/>
                </a:solidFill>
                <a:latin typeface="楷体_GB2312"/>
              </a:rPr>
              <a:t>OCW3</a:t>
            </a:r>
            <a:r>
              <a:rPr lang="zh-CN" altLang="en-US" sz="1800" dirty="0">
                <a:solidFill>
                  <a:srgbClr val="7575D1"/>
                </a:solidFill>
                <a:latin typeface="楷体_GB2312"/>
              </a:rPr>
              <a:t>：</a:t>
            </a:r>
            <a:r>
              <a:rPr lang="en-US" altLang="zh-CN" sz="1800" dirty="0">
                <a:solidFill>
                  <a:srgbClr val="7575D1"/>
                </a:solidFill>
                <a:latin typeface="楷体_GB2312"/>
              </a:rPr>
              <a:t>0 </a:t>
            </a:r>
            <a:r>
              <a:rPr lang="en-US" altLang="zh-CN" sz="1800" u="sng" dirty="0">
                <a:solidFill>
                  <a:srgbClr val="7575D1"/>
                </a:solidFill>
                <a:latin typeface="楷体_GB2312"/>
              </a:rPr>
              <a:t>1 0 </a:t>
            </a:r>
            <a:r>
              <a:rPr lang="en-US" altLang="zh-CN" sz="1800" dirty="0">
                <a:solidFill>
                  <a:srgbClr val="7575D1"/>
                </a:solidFill>
                <a:latin typeface="楷体_GB2312"/>
              </a:rPr>
              <a:t>0 1 0 0 0</a:t>
            </a:r>
            <a:endParaRPr lang="en-US" altLang="zh-CN" sz="1800" dirty="0">
              <a:solidFill>
                <a:srgbClr val="7575D1"/>
              </a:solidFill>
              <a:latin typeface="楷体_GB2312"/>
            </a:endParaRPr>
          </a:p>
          <a:p>
            <a:pPr eaLnBrk="1" hangingPunct="1">
              <a:lnSpc>
                <a:spcPct val="80000"/>
              </a:lnSpc>
              <a:buNone/>
            </a:pPr>
            <a:r>
              <a:rPr lang="en-US" altLang="zh-CN" sz="1800" dirty="0">
                <a:solidFill>
                  <a:srgbClr val="7575D1"/>
                </a:solidFill>
                <a:latin typeface="楷体_GB2312"/>
              </a:rPr>
              <a:t>	OUT    0C0H</a:t>
            </a:r>
            <a:r>
              <a:rPr lang="zh-CN" altLang="en-US" sz="1800" dirty="0">
                <a:solidFill>
                  <a:srgbClr val="7575D1"/>
                </a:solidFill>
                <a:latin typeface="楷体_GB2312"/>
              </a:rPr>
              <a:t>，</a:t>
            </a:r>
            <a:r>
              <a:rPr lang="en-US" altLang="zh-CN" sz="1800" dirty="0">
                <a:solidFill>
                  <a:srgbClr val="7575D1"/>
                </a:solidFill>
                <a:latin typeface="楷体_GB2312"/>
              </a:rPr>
              <a:t>AL             </a:t>
            </a:r>
            <a:r>
              <a:rPr lang="zh-CN" altLang="en-US" sz="1800" dirty="0">
                <a:solidFill>
                  <a:srgbClr val="7575D1"/>
                </a:solidFill>
                <a:latin typeface="楷体_GB2312"/>
              </a:rPr>
              <a:t>；取消特殊屏蔽</a:t>
            </a:r>
            <a:endParaRPr lang="zh-CN" altLang="en-US" sz="1800" dirty="0">
              <a:solidFill>
                <a:srgbClr val="7575D1"/>
              </a:solidFill>
              <a:latin typeface="楷体_GB2312"/>
            </a:endParaRPr>
          </a:p>
          <a:p>
            <a:pPr eaLnBrk="1" hangingPunct="1">
              <a:lnSpc>
                <a:spcPct val="80000"/>
              </a:lnSpc>
              <a:buNone/>
            </a:pPr>
            <a:r>
              <a:rPr lang="zh-CN" altLang="en-US" sz="1800" dirty="0">
                <a:solidFill>
                  <a:srgbClr val="7575D1"/>
                </a:solidFill>
                <a:latin typeface="楷体_GB2312"/>
              </a:rPr>
              <a:t>	</a:t>
            </a:r>
            <a:r>
              <a:rPr lang="en-US" altLang="zh-CN" sz="1800" dirty="0">
                <a:solidFill>
                  <a:srgbClr val="7575D1"/>
                </a:solidFill>
                <a:latin typeface="楷体_GB2312"/>
              </a:rPr>
              <a:t>STI</a:t>
            </a:r>
            <a:endParaRPr lang="en-US" altLang="zh-CN" sz="1800" dirty="0">
              <a:solidFill>
                <a:srgbClr val="7575D1"/>
              </a:solidFill>
              <a:latin typeface="楷体_GB2312"/>
            </a:endParaRPr>
          </a:p>
          <a:p>
            <a:pPr eaLnBrk="1" hangingPunct="1">
              <a:lnSpc>
                <a:spcPct val="80000"/>
              </a:lnSpc>
              <a:buNone/>
            </a:pPr>
            <a:r>
              <a:rPr lang="en-US" altLang="zh-CN" sz="1800" dirty="0">
                <a:solidFill>
                  <a:srgbClr val="7575D1"/>
                </a:solidFill>
                <a:latin typeface="楷体_GB2312"/>
              </a:rPr>
              <a:t>   </a:t>
            </a:r>
            <a:r>
              <a:rPr lang="zh-CN" altLang="en-US" sz="1800" dirty="0">
                <a:solidFill>
                  <a:srgbClr val="FF0000"/>
                </a:solidFill>
                <a:latin typeface="楷体_GB2312"/>
              </a:rPr>
              <a:t>；继续</a:t>
            </a:r>
            <a:r>
              <a:rPr lang="en-US" altLang="zh-CN" sz="1800" dirty="0">
                <a:solidFill>
                  <a:srgbClr val="FF0000"/>
                </a:solidFill>
                <a:latin typeface="楷体_GB2312"/>
              </a:rPr>
              <a:t>IR4</a:t>
            </a:r>
            <a:r>
              <a:rPr lang="zh-CN" altLang="en-US" sz="1800" dirty="0">
                <a:solidFill>
                  <a:srgbClr val="FF0000"/>
                </a:solidFill>
                <a:latin typeface="楷体_GB2312"/>
              </a:rPr>
              <a:t>中断服务</a:t>
            </a:r>
            <a:endParaRPr lang="zh-CN" altLang="en-US" sz="1800" dirty="0">
              <a:solidFill>
                <a:srgbClr val="FF0000"/>
              </a:solidFill>
              <a:latin typeface="楷体_GB2312"/>
            </a:endParaRPr>
          </a:p>
          <a:p>
            <a:pPr eaLnBrk="1" hangingPunct="1">
              <a:lnSpc>
                <a:spcPct val="80000"/>
              </a:lnSpc>
              <a:buNone/>
            </a:pPr>
            <a:r>
              <a:rPr lang="zh-CN" altLang="en-US" sz="1800" dirty="0">
                <a:solidFill>
                  <a:srgbClr val="7575D1"/>
                </a:solidFill>
                <a:latin typeface="楷体_GB2312"/>
              </a:rPr>
              <a:t>	</a:t>
            </a:r>
            <a:r>
              <a:rPr lang="en-US" altLang="zh-CN" sz="1800" dirty="0">
                <a:solidFill>
                  <a:srgbClr val="7575D1"/>
                </a:solidFill>
                <a:latin typeface="楷体_GB2312"/>
              </a:rPr>
              <a:t>MOV    AL</a:t>
            </a:r>
            <a:r>
              <a:rPr lang="zh-CN" altLang="en-US" sz="1800" dirty="0">
                <a:solidFill>
                  <a:srgbClr val="7575D1"/>
                </a:solidFill>
                <a:latin typeface="楷体_GB2312"/>
              </a:rPr>
              <a:t>，</a:t>
            </a:r>
            <a:r>
              <a:rPr lang="en-US" altLang="zh-CN" sz="1800" dirty="0">
                <a:solidFill>
                  <a:srgbClr val="7575D1"/>
                </a:solidFill>
                <a:latin typeface="楷体_GB2312"/>
              </a:rPr>
              <a:t>20H              </a:t>
            </a:r>
            <a:r>
              <a:rPr lang="zh-CN" altLang="en-US" sz="1800" dirty="0">
                <a:solidFill>
                  <a:srgbClr val="7575D1"/>
                </a:solidFill>
                <a:latin typeface="楷体_GB2312"/>
              </a:rPr>
              <a:t>；</a:t>
            </a:r>
            <a:r>
              <a:rPr lang="en-US" altLang="zh-CN" sz="1800" dirty="0">
                <a:solidFill>
                  <a:srgbClr val="7575D1"/>
                </a:solidFill>
                <a:latin typeface="楷体_GB2312"/>
              </a:rPr>
              <a:t>OCW2</a:t>
            </a:r>
            <a:r>
              <a:rPr lang="zh-CN" altLang="en-US" sz="1800" dirty="0">
                <a:solidFill>
                  <a:srgbClr val="7575D1"/>
                </a:solidFill>
                <a:latin typeface="楷体_GB2312"/>
              </a:rPr>
              <a:t>：</a:t>
            </a:r>
            <a:r>
              <a:rPr lang="en-US" altLang="zh-CN" sz="1800" dirty="0">
                <a:solidFill>
                  <a:srgbClr val="7575D1"/>
                </a:solidFill>
                <a:latin typeface="楷体_GB2312"/>
              </a:rPr>
              <a:t>0 0 </a:t>
            </a:r>
            <a:r>
              <a:rPr lang="en-US" altLang="zh-CN" sz="1800" u="sng" dirty="0">
                <a:solidFill>
                  <a:srgbClr val="7575D1"/>
                </a:solidFill>
                <a:latin typeface="楷体_GB2312"/>
              </a:rPr>
              <a:t>1</a:t>
            </a:r>
            <a:r>
              <a:rPr lang="en-US" altLang="zh-CN" sz="1800" dirty="0">
                <a:solidFill>
                  <a:srgbClr val="7575D1"/>
                </a:solidFill>
                <a:latin typeface="楷体_GB2312"/>
              </a:rPr>
              <a:t> 0 0 0 0 0  (EOI)</a:t>
            </a:r>
            <a:endParaRPr lang="en-US" altLang="zh-CN" sz="1800" dirty="0">
              <a:solidFill>
                <a:srgbClr val="7575D1"/>
              </a:solidFill>
              <a:latin typeface="楷体_GB2312"/>
            </a:endParaRPr>
          </a:p>
          <a:p>
            <a:pPr eaLnBrk="1" hangingPunct="1">
              <a:lnSpc>
                <a:spcPct val="80000"/>
              </a:lnSpc>
              <a:buNone/>
            </a:pPr>
            <a:r>
              <a:rPr lang="en-US" altLang="zh-CN" sz="1800" dirty="0">
                <a:solidFill>
                  <a:srgbClr val="7575D1"/>
                </a:solidFill>
                <a:latin typeface="楷体_GB2312"/>
              </a:rPr>
              <a:t>	OUT    0C0</a:t>
            </a:r>
            <a:r>
              <a:rPr lang="zh-CN" altLang="en-US" sz="1800" dirty="0">
                <a:solidFill>
                  <a:srgbClr val="7575D1"/>
                </a:solidFill>
                <a:latin typeface="楷体_GB2312"/>
              </a:rPr>
              <a:t>，</a:t>
            </a:r>
            <a:r>
              <a:rPr lang="en-US" altLang="zh-CN" sz="1800" dirty="0">
                <a:solidFill>
                  <a:srgbClr val="7575D1"/>
                </a:solidFill>
                <a:latin typeface="楷体_GB2312"/>
              </a:rPr>
              <a:t>AL</a:t>
            </a:r>
            <a:endParaRPr lang="en-US" altLang="zh-CN" sz="1800" dirty="0">
              <a:solidFill>
                <a:srgbClr val="7575D1"/>
              </a:solidFill>
              <a:latin typeface="楷体_GB2312"/>
            </a:endParaRPr>
          </a:p>
          <a:p>
            <a:pPr eaLnBrk="1" hangingPunct="1">
              <a:lnSpc>
                <a:spcPct val="80000"/>
              </a:lnSpc>
              <a:buNone/>
            </a:pPr>
            <a:r>
              <a:rPr lang="en-US" altLang="zh-CN" sz="1800" dirty="0">
                <a:solidFill>
                  <a:srgbClr val="7575D1"/>
                </a:solidFill>
                <a:latin typeface="楷体_GB2312"/>
              </a:rPr>
              <a:t>   IRET </a:t>
            </a:r>
            <a:endParaRPr lang="en-US" altLang="zh-CN" sz="1800" dirty="0">
              <a:solidFill>
                <a:srgbClr val="7575D1"/>
              </a:solidFill>
              <a:latin typeface="楷体_GB2312"/>
            </a:endParaRPr>
          </a:p>
        </p:txBody>
      </p:sp>
    </p:spTree>
  </p:cSld>
  <p:clrMapOvr>
    <a:masterClrMapping/>
  </p:clrMapOvr>
  <p:transition spd="slow">
    <p:zoom/>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678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46787" name="Rectangle 3"/>
          <p:cNvSpPr>
            <a:spLocks noGrp="1" noRot="1"/>
          </p:cNvSpPr>
          <p:nvPr>
            <p:ph type="body" idx="4294967295"/>
          </p:nvPr>
        </p:nvSpPr>
        <p:spPr>
          <a:xfrm>
            <a:off x="520700" y="2017713"/>
            <a:ext cx="8434388" cy="3355975"/>
          </a:xfrm>
        </p:spPr>
        <p:txBody>
          <a:bodyPr vert="horz" wrap="square" lIns="91440" tIns="45720" rIns="91440" bIns="45720" anchor="t" anchorCtr="0"/>
          <a:p>
            <a:pPr eaLnBrk="1" hangingPunct="1">
              <a:lnSpc>
                <a:spcPct val="150000"/>
              </a:lnSpc>
            </a:pPr>
            <a:r>
              <a:rPr lang="zh-CN" altLang="en-US" sz="2000" dirty="0"/>
              <a:t>查询方式允许</a:t>
            </a:r>
            <a:r>
              <a:rPr lang="en-US" altLang="zh-CN" sz="2000" dirty="0"/>
              <a:t>8259A</a:t>
            </a:r>
            <a:r>
              <a:rPr lang="zh-CN" altLang="en-US" sz="2000" dirty="0"/>
              <a:t>不工作于中断方式，而是以查询方式工作。</a:t>
            </a:r>
            <a:endParaRPr lang="zh-CN" altLang="en-US" sz="2000" dirty="0"/>
          </a:p>
          <a:p>
            <a:pPr lvl="1" eaLnBrk="1" hangingPunct="1">
              <a:lnSpc>
                <a:spcPct val="150000"/>
              </a:lnSpc>
            </a:pPr>
            <a:r>
              <a:rPr lang="en-US" altLang="zh-CN" sz="2000" dirty="0">
                <a:solidFill>
                  <a:srgbClr val="0000FF"/>
                </a:solidFill>
              </a:rPr>
              <a:t>CPU</a:t>
            </a:r>
            <a:r>
              <a:rPr lang="zh-CN" altLang="en-US" sz="2000" dirty="0">
                <a:solidFill>
                  <a:srgbClr val="0000FF"/>
                </a:solidFill>
              </a:rPr>
              <a:t>先写一个</a:t>
            </a:r>
            <a:r>
              <a:rPr lang="en-US" altLang="zh-CN" sz="2000" dirty="0">
                <a:solidFill>
                  <a:srgbClr val="0000FF"/>
                </a:solidFill>
              </a:rPr>
              <a:t>D</a:t>
            </a:r>
            <a:r>
              <a:rPr lang="en-US" altLang="zh-CN" sz="2000" baseline="-20000" dirty="0">
                <a:solidFill>
                  <a:srgbClr val="0000FF"/>
                </a:solidFill>
              </a:rPr>
              <a:t>2</a:t>
            </a:r>
            <a:r>
              <a:rPr lang="en-US" altLang="zh-CN" sz="2000" dirty="0">
                <a:solidFill>
                  <a:srgbClr val="0000FF"/>
                </a:solidFill>
              </a:rPr>
              <a:t>=1</a:t>
            </a:r>
            <a:r>
              <a:rPr lang="zh-CN" altLang="en-US" sz="2000" dirty="0">
                <a:solidFill>
                  <a:srgbClr val="0000FF"/>
                </a:solidFill>
              </a:rPr>
              <a:t>的</a:t>
            </a:r>
            <a:r>
              <a:rPr lang="en-US" altLang="zh-CN" sz="2000" dirty="0">
                <a:solidFill>
                  <a:srgbClr val="0000FF"/>
                </a:solidFill>
              </a:rPr>
              <a:t>OCW3</a:t>
            </a:r>
            <a:r>
              <a:rPr lang="zh-CN" altLang="en-US" sz="2000" dirty="0">
                <a:solidFill>
                  <a:srgbClr val="0000FF"/>
                </a:solidFill>
              </a:rPr>
              <a:t>，再对同一地址读入，即可得到如下状态字节：</a:t>
            </a:r>
            <a:endParaRPr lang="zh-CN" altLang="en-US" sz="2000" dirty="0">
              <a:solidFill>
                <a:srgbClr val="0000FF"/>
              </a:solidFill>
            </a:endParaRPr>
          </a:p>
          <a:p>
            <a:pPr lvl="1" eaLnBrk="1" hangingPunct="1">
              <a:lnSpc>
                <a:spcPct val="150000"/>
              </a:lnSpc>
              <a:buNone/>
            </a:pPr>
            <a:r>
              <a:rPr lang="zh-CN" altLang="en-US" sz="2000" dirty="0">
                <a:solidFill>
                  <a:srgbClr val="0000FF"/>
                </a:solidFill>
              </a:rPr>
              <a:t>             </a:t>
            </a:r>
            <a:r>
              <a:rPr lang="en-US" altLang="zh-CN" sz="2000" dirty="0">
                <a:solidFill>
                  <a:srgbClr val="0000FF"/>
                </a:solidFill>
              </a:rPr>
              <a:t>I    x    x     x    x   R</a:t>
            </a:r>
            <a:r>
              <a:rPr lang="en-US" altLang="zh-CN" sz="2000" baseline="-20000" dirty="0">
                <a:solidFill>
                  <a:srgbClr val="0000FF"/>
                </a:solidFill>
              </a:rPr>
              <a:t>2</a:t>
            </a:r>
            <a:r>
              <a:rPr lang="en-US" altLang="zh-CN" sz="2000" dirty="0">
                <a:solidFill>
                  <a:srgbClr val="0000FF"/>
                </a:solidFill>
              </a:rPr>
              <a:t>   R</a:t>
            </a:r>
            <a:r>
              <a:rPr lang="en-US" altLang="zh-CN" sz="2000" baseline="-20000" dirty="0">
                <a:solidFill>
                  <a:srgbClr val="0000FF"/>
                </a:solidFill>
              </a:rPr>
              <a:t>1</a:t>
            </a:r>
            <a:r>
              <a:rPr lang="en-US" altLang="zh-CN" sz="2000" dirty="0">
                <a:solidFill>
                  <a:srgbClr val="0000FF"/>
                </a:solidFill>
              </a:rPr>
              <a:t>   R</a:t>
            </a:r>
            <a:r>
              <a:rPr lang="en-US" altLang="zh-CN" sz="2000" baseline="-20000" dirty="0">
                <a:solidFill>
                  <a:srgbClr val="0000FF"/>
                </a:solidFill>
              </a:rPr>
              <a:t>0</a:t>
            </a:r>
            <a:r>
              <a:rPr lang="en-US" altLang="zh-CN" sz="2000" dirty="0">
                <a:solidFill>
                  <a:srgbClr val="0000FF"/>
                </a:solidFill>
              </a:rPr>
              <a:t> </a:t>
            </a:r>
            <a:endParaRPr lang="en-US" altLang="zh-CN" sz="2000" dirty="0">
              <a:solidFill>
                <a:srgbClr val="0000FF"/>
              </a:solidFill>
            </a:endParaRPr>
          </a:p>
          <a:p>
            <a:pPr lvl="1" eaLnBrk="1" hangingPunct="1">
              <a:lnSpc>
                <a:spcPct val="150000"/>
              </a:lnSpc>
              <a:buNone/>
            </a:pPr>
            <a:r>
              <a:rPr lang="en-US" altLang="zh-CN" sz="2000" dirty="0">
                <a:solidFill>
                  <a:srgbClr val="0000FF"/>
                </a:solidFill>
              </a:rPr>
              <a:t>   I=1</a:t>
            </a:r>
            <a:r>
              <a:rPr lang="zh-CN" altLang="en-US" sz="2000" dirty="0">
                <a:solidFill>
                  <a:srgbClr val="0000FF"/>
                </a:solidFill>
              </a:rPr>
              <a:t>表示有中断请求，中断请求号为</a:t>
            </a:r>
            <a:r>
              <a:rPr lang="en-US" altLang="zh-CN" sz="2000" dirty="0">
                <a:solidFill>
                  <a:srgbClr val="0000FF"/>
                </a:solidFill>
              </a:rPr>
              <a:t>R</a:t>
            </a:r>
            <a:r>
              <a:rPr lang="en-US" altLang="zh-CN" sz="2000" baseline="-20000" dirty="0">
                <a:solidFill>
                  <a:srgbClr val="0000FF"/>
                </a:solidFill>
              </a:rPr>
              <a:t>2</a:t>
            </a:r>
            <a:r>
              <a:rPr lang="en-US" altLang="zh-CN" sz="2000" dirty="0">
                <a:solidFill>
                  <a:srgbClr val="0000FF"/>
                </a:solidFill>
              </a:rPr>
              <a:t>-R</a:t>
            </a:r>
            <a:r>
              <a:rPr lang="en-US" altLang="zh-CN" sz="2000" baseline="-20000" dirty="0">
                <a:solidFill>
                  <a:srgbClr val="0000FF"/>
                </a:solidFill>
              </a:rPr>
              <a:t>0</a:t>
            </a:r>
            <a:endParaRPr lang="en-US" altLang="zh-CN" sz="2000" baseline="-20000" dirty="0">
              <a:solidFill>
                <a:srgbClr val="0000FF"/>
              </a:solidFill>
            </a:endParaRPr>
          </a:p>
          <a:p>
            <a:pPr lvl="1" eaLnBrk="1" hangingPunct="1">
              <a:lnSpc>
                <a:spcPct val="150000"/>
              </a:lnSpc>
              <a:buNone/>
            </a:pPr>
            <a:r>
              <a:rPr lang="en-US" altLang="zh-CN" sz="2000" dirty="0">
                <a:solidFill>
                  <a:srgbClr val="0000FF"/>
                </a:solidFill>
              </a:rPr>
              <a:t>   </a:t>
            </a:r>
            <a:r>
              <a:rPr lang="zh-CN" altLang="en-US" sz="2000" dirty="0">
                <a:solidFill>
                  <a:srgbClr val="0000FF"/>
                </a:solidFill>
              </a:rPr>
              <a:t>此查询步骤可反复执行，以响应多个同时发生的中断。       </a:t>
            </a:r>
            <a:endParaRPr lang="zh-CN" altLang="en-US" sz="2000" dirty="0">
              <a:solidFill>
                <a:srgbClr val="0000FF"/>
              </a:solidFill>
            </a:endParaRPr>
          </a:p>
        </p:txBody>
      </p:sp>
    </p:spTree>
  </p:cSld>
  <p:clrMapOvr>
    <a:masterClrMapping/>
  </p:clrMapOvr>
  <p:transition spd="slow">
    <p:zoom/>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7810" name="Rectangle 3"/>
          <p:cNvSpPr>
            <a:spLocks noGrp="1"/>
          </p:cNvSpPr>
          <p:nvPr>
            <p:ph type="body" idx="4294967295"/>
          </p:nvPr>
        </p:nvSpPr>
        <p:spPr>
          <a:xfrm>
            <a:off x="323850" y="2017713"/>
            <a:ext cx="8631238" cy="4114800"/>
          </a:xfrm>
        </p:spPr>
        <p:txBody>
          <a:bodyPr vert="horz" wrap="square" lIns="91440" tIns="45720" rIns="91440" bIns="45720" anchor="t" anchorCtr="0"/>
          <a:p>
            <a:pPr>
              <a:lnSpc>
                <a:spcPct val="150000"/>
              </a:lnSpc>
            </a:pPr>
            <a:r>
              <a:rPr lang="zh-CN" altLang="en-US" sz="2000" b="0" dirty="0">
                <a:latin typeface="楷体_GB2312"/>
                <a:sym typeface="Arial" panose="020B0604020202020204" pitchFamily="34" charset="0"/>
              </a:rPr>
              <a:t>中断查询方式中，</a:t>
            </a:r>
            <a:r>
              <a:rPr lang="en-US" altLang="zh-CN" sz="2000" b="0" dirty="0">
                <a:latin typeface="楷体_GB2312"/>
                <a:sym typeface="Arial" panose="020B0604020202020204" pitchFamily="34" charset="0"/>
              </a:rPr>
              <a:t>8259A</a:t>
            </a:r>
            <a:r>
              <a:rPr lang="zh-CN" altLang="en-US" sz="2000" b="0" dirty="0">
                <a:latin typeface="楷体_GB2312"/>
                <a:sym typeface="Arial" panose="020B0604020202020204" pitchFamily="34" charset="0"/>
              </a:rPr>
              <a:t>不通过</a:t>
            </a:r>
            <a:r>
              <a:rPr lang="en-US" altLang="zh-CN" sz="2000" b="0" dirty="0">
                <a:latin typeface="楷体_GB2312"/>
                <a:sym typeface="Arial" panose="020B0604020202020204" pitchFamily="34" charset="0"/>
              </a:rPr>
              <a:t>INT</a:t>
            </a:r>
            <a:r>
              <a:rPr lang="zh-CN" altLang="en-US" sz="2000" b="0" dirty="0">
                <a:latin typeface="楷体_GB2312"/>
                <a:sym typeface="Arial" panose="020B0604020202020204" pitchFamily="34" charset="0"/>
              </a:rPr>
              <a:t>信号向</a:t>
            </a:r>
            <a:r>
              <a:rPr lang="en-US" altLang="zh-CN" sz="2000" b="0" dirty="0">
                <a:latin typeface="楷体_GB2312"/>
                <a:sym typeface="Arial" panose="020B0604020202020204" pitchFamily="34" charset="0"/>
              </a:rPr>
              <a:t>CPU</a:t>
            </a:r>
            <a:r>
              <a:rPr lang="zh-CN" altLang="en-US" sz="2000" b="0" dirty="0">
                <a:latin typeface="楷体_GB2312"/>
                <a:sym typeface="Arial" panose="020B0604020202020204" pitchFamily="34" charset="0"/>
              </a:rPr>
              <a:t>发中断请求信号，因为</a:t>
            </a:r>
            <a:r>
              <a:rPr lang="en-US" altLang="zh-CN" sz="2000" b="0" dirty="0">
                <a:latin typeface="楷体_GB2312"/>
                <a:sym typeface="Arial" panose="020B0604020202020204" pitchFamily="34" charset="0"/>
              </a:rPr>
              <a:t>CPU</a:t>
            </a:r>
            <a:r>
              <a:rPr lang="zh-CN" altLang="en-US" sz="2000" b="0" dirty="0">
                <a:latin typeface="楷体_GB2312"/>
                <a:sym typeface="Arial" panose="020B0604020202020204" pitchFamily="34" charset="0"/>
              </a:rPr>
              <a:t>内部的中断允许寄存器复位，所以禁止了</a:t>
            </a:r>
            <a:r>
              <a:rPr lang="en-US" altLang="zh-CN" sz="2000" b="0" dirty="0">
                <a:latin typeface="楷体_GB2312"/>
                <a:sym typeface="Arial" panose="020B0604020202020204" pitchFamily="34" charset="0"/>
              </a:rPr>
              <a:t>8259A</a:t>
            </a:r>
            <a:r>
              <a:rPr lang="zh-CN" altLang="en-US" sz="2000" b="0" dirty="0">
                <a:latin typeface="楷体_GB2312"/>
                <a:sym typeface="Arial" panose="020B0604020202020204" pitchFamily="34" charset="0"/>
              </a:rPr>
              <a:t>对</a:t>
            </a:r>
            <a:r>
              <a:rPr lang="en-US" altLang="zh-CN" sz="2000" b="0" dirty="0">
                <a:latin typeface="楷体_GB2312"/>
                <a:sym typeface="Arial" panose="020B0604020202020204" pitchFamily="34" charset="0"/>
              </a:rPr>
              <a:t>CPU</a:t>
            </a:r>
            <a:r>
              <a:rPr lang="zh-CN" altLang="en-US" sz="2000" b="0" dirty="0">
                <a:latin typeface="楷体_GB2312"/>
                <a:sym typeface="Arial" panose="020B0604020202020204" pitchFamily="34" charset="0"/>
              </a:rPr>
              <a:t>的中断请求。</a:t>
            </a:r>
            <a:r>
              <a:rPr lang="en-US" altLang="zh-CN" sz="2000" b="0" dirty="0">
                <a:latin typeface="楷体_GB2312"/>
                <a:sym typeface="Arial" panose="020B0604020202020204" pitchFamily="34" charset="0"/>
              </a:rPr>
              <a:t>CPU</a:t>
            </a:r>
            <a:r>
              <a:rPr lang="zh-CN" altLang="en-US" sz="2000" b="0" dirty="0">
                <a:latin typeface="楷体_GB2312"/>
                <a:sym typeface="Arial" panose="020B0604020202020204" pitchFamily="34" charset="0"/>
              </a:rPr>
              <a:t>要使用软件查询来确定中断源，才能实现对外设的中断服务。因此，中断查询方式既有中断的特点，又有查询特点。</a:t>
            </a:r>
            <a:endParaRPr lang="en-US" altLang="zh-CN" sz="2000" b="0" dirty="0">
              <a:latin typeface="楷体_GB2312"/>
              <a:sym typeface="Arial" panose="020B0604020202020204" pitchFamily="34" charset="0"/>
            </a:endParaRPr>
          </a:p>
          <a:p>
            <a:pPr>
              <a:lnSpc>
                <a:spcPct val="150000"/>
              </a:lnSpc>
            </a:pPr>
            <a:r>
              <a:rPr lang="zh-CN" altLang="en-US" sz="2000" b="0" dirty="0">
                <a:latin typeface="楷体_GB2312"/>
                <a:sym typeface="Arial" panose="020B0604020202020204" pitchFamily="34" charset="0"/>
              </a:rPr>
              <a:t>中断查询方式一般用在多于</a:t>
            </a:r>
            <a:r>
              <a:rPr lang="en-US" altLang="zh-CN" sz="2000" b="0" dirty="0">
                <a:latin typeface="楷体_GB2312"/>
                <a:sym typeface="Arial" panose="020B0604020202020204" pitchFamily="34" charset="0"/>
              </a:rPr>
              <a:t>64</a:t>
            </a:r>
            <a:r>
              <a:rPr lang="zh-CN" altLang="en-US" sz="2000" b="0" dirty="0">
                <a:latin typeface="楷体_GB2312"/>
                <a:sym typeface="Arial" panose="020B0604020202020204" pitchFamily="34" charset="0"/>
              </a:rPr>
              <a:t>级中断的场合，或者用在一个中断服务程序中几个模块分别为几个中断设备服务的情况。</a:t>
            </a:r>
            <a:endParaRPr lang="zh-CN" altLang="en-US" sz="2000" b="0" dirty="0">
              <a:latin typeface="楷体_GB2312"/>
              <a:sym typeface="Arial" panose="020B0604020202020204" pitchFamily="34" charset="0"/>
            </a:endParaRPr>
          </a:p>
        </p:txBody>
      </p:sp>
    </p:spTree>
  </p:cSld>
  <p:clrMapOvr>
    <a:masterClrMapping/>
  </p:clrMapOvr>
  <p:transition spd="slow">
    <p:zoom/>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8834" name="内容占位符 2"/>
          <p:cNvSpPr>
            <a:spLocks noGrp="1"/>
          </p:cNvSpPr>
          <p:nvPr>
            <p:ph idx="4294967295"/>
          </p:nvPr>
        </p:nvSpPr>
        <p:spPr>
          <a:xfrm>
            <a:off x="323850" y="2017713"/>
            <a:ext cx="8631238" cy="4114800"/>
          </a:xfrm>
        </p:spPr>
        <p:txBody>
          <a:bodyPr vert="horz" wrap="square" lIns="91440" tIns="45720" rIns="91440" bIns="45720" anchor="t" anchorCtr="0"/>
          <a:p>
            <a:pPr>
              <a:lnSpc>
                <a:spcPct val="150000"/>
              </a:lnSpc>
            </a:pPr>
            <a:r>
              <a:rPr lang="en-US" altLang="zh-CN" sz="2400" b="0" dirty="0">
                <a:latin typeface="楷体_GB2312"/>
              </a:rPr>
              <a:t>CPU</a:t>
            </a:r>
            <a:r>
              <a:rPr lang="zh-CN" altLang="en-US" sz="2400" b="0" dirty="0">
                <a:latin typeface="楷体_GB2312"/>
              </a:rPr>
              <a:t>所执行的查询程序应包含如下过程：</a:t>
            </a:r>
            <a:br>
              <a:rPr lang="zh-CN" altLang="en-US" sz="2400" dirty="0">
                <a:latin typeface="楷体_GB2312"/>
              </a:rPr>
            </a:br>
            <a:r>
              <a:rPr lang="zh-CN" altLang="en-US" sz="2400" b="0" dirty="0">
                <a:latin typeface="楷体_GB2312"/>
              </a:rPr>
              <a:t>①系统关中断。</a:t>
            </a:r>
            <a:br>
              <a:rPr lang="zh-CN" altLang="en-US" sz="2400" dirty="0">
                <a:latin typeface="楷体_GB2312"/>
              </a:rPr>
            </a:br>
            <a:r>
              <a:rPr lang="zh-CN" altLang="en-US" sz="2400" b="0" dirty="0">
                <a:latin typeface="楷体_GB2312"/>
              </a:rPr>
              <a:t>②用</a:t>
            </a:r>
            <a:r>
              <a:rPr lang="en-US" altLang="zh-CN" sz="2400" b="0" dirty="0">
                <a:latin typeface="楷体_GB2312"/>
              </a:rPr>
              <a:t>OUT</a:t>
            </a:r>
            <a:r>
              <a:rPr lang="zh-CN" altLang="en-US" sz="2400" b="0" dirty="0">
                <a:latin typeface="楷体_GB2312"/>
              </a:rPr>
              <a:t>指令使</a:t>
            </a:r>
            <a:r>
              <a:rPr lang="en-US" altLang="zh-CN" sz="2400" b="0" dirty="0">
                <a:latin typeface="楷体_GB2312"/>
              </a:rPr>
              <a:t>CPU</a:t>
            </a:r>
            <a:r>
              <a:rPr lang="zh-CN" altLang="en-US" sz="2400" b="0" dirty="0">
                <a:latin typeface="楷体_GB2312"/>
              </a:rPr>
              <a:t>向</a:t>
            </a:r>
            <a:r>
              <a:rPr lang="en-US" altLang="zh-CN" sz="2400" b="0" dirty="0">
                <a:latin typeface="楷体_GB2312"/>
              </a:rPr>
              <a:t>8259A</a:t>
            </a:r>
            <a:r>
              <a:rPr lang="zh-CN" altLang="en-US" sz="2400" b="0" dirty="0">
                <a:latin typeface="楷体_GB2312"/>
              </a:rPr>
              <a:t>端口（偶端口）送</a:t>
            </a:r>
            <a:r>
              <a:rPr lang="en-US" altLang="zh-CN" sz="2400" b="0" dirty="0">
                <a:latin typeface="楷体_GB2312"/>
              </a:rPr>
              <a:t>OCW3</a:t>
            </a:r>
            <a:r>
              <a:rPr lang="zh-CN" altLang="en-US" sz="2400" b="0" dirty="0">
                <a:latin typeface="楷体_GB2312"/>
              </a:rPr>
              <a:t>命令字。</a:t>
            </a:r>
            <a:br>
              <a:rPr lang="zh-CN" altLang="en-US" sz="2400" dirty="0">
                <a:latin typeface="楷体_GB2312"/>
              </a:rPr>
            </a:br>
            <a:r>
              <a:rPr lang="zh-CN" altLang="en-US" sz="2400" b="0" dirty="0">
                <a:latin typeface="楷体_GB2312"/>
              </a:rPr>
              <a:t>③若外设已发出过中断请求，</a:t>
            </a:r>
            <a:r>
              <a:rPr lang="en-US" altLang="zh-CN" sz="2400" b="0" dirty="0">
                <a:latin typeface="楷体_GB2312"/>
              </a:rPr>
              <a:t>8259A</a:t>
            </a:r>
            <a:r>
              <a:rPr lang="zh-CN" altLang="en-US" sz="2400" b="0" dirty="0">
                <a:latin typeface="楷体_GB2312"/>
              </a:rPr>
              <a:t>在当前</a:t>
            </a:r>
            <a:r>
              <a:rPr lang="zh-CN" altLang="en-US" sz="2400" b="0" dirty="0">
                <a:solidFill>
                  <a:srgbClr val="FF0000"/>
                </a:solidFill>
                <a:latin typeface="楷体_GB2312"/>
              </a:rPr>
              <a:t>中断服务寄存器</a:t>
            </a:r>
            <a:r>
              <a:rPr lang="zh-CN" altLang="en-US" sz="2400" b="0" dirty="0">
                <a:latin typeface="楷体_GB2312"/>
              </a:rPr>
              <a:t>中使对应位置</a:t>
            </a:r>
            <a:r>
              <a:rPr lang="en-US" altLang="zh-CN" sz="2400" b="0" dirty="0">
                <a:latin typeface="楷体_GB2312"/>
              </a:rPr>
              <a:t>"1"</a:t>
            </a:r>
            <a:r>
              <a:rPr lang="zh-CN" altLang="en-US" sz="2400" b="0" dirty="0">
                <a:latin typeface="楷体_GB2312"/>
              </a:rPr>
              <a:t>，且立即组成查询字。</a:t>
            </a:r>
            <a:br>
              <a:rPr lang="zh-CN" altLang="en-US" sz="2400" dirty="0">
                <a:latin typeface="楷体_GB2312"/>
              </a:rPr>
            </a:br>
            <a:r>
              <a:rPr lang="zh-CN" altLang="en-US" sz="2400" b="0" dirty="0">
                <a:latin typeface="楷体_GB2312"/>
              </a:rPr>
              <a:t>④</a:t>
            </a:r>
            <a:r>
              <a:rPr lang="en-US" altLang="zh-CN" sz="2400" b="0" dirty="0">
                <a:latin typeface="楷体_GB2312"/>
              </a:rPr>
              <a:t>CPU</a:t>
            </a:r>
            <a:r>
              <a:rPr lang="zh-CN" altLang="en-US" sz="2400" b="0" dirty="0">
                <a:latin typeface="楷体_GB2312"/>
              </a:rPr>
              <a:t>用</a:t>
            </a:r>
            <a:r>
              <a:rPr lang="en-US" altLang="zh-CN" sz="2400" b="0" dirty="0">
                <a:latin typeface="楷体_GB2312"/>
              </a:rPr>
              <a:t>IN</a:t>
            </a:r>
            <a:r>
              <a:rPr lang="zh-CN" altLang="en-US" sz="2400" b="0" dirty="0">
                <a:latin typeface="楷体_GB2312"/>
              </a:rPr>
              <a:t>指令从端口（偶端口）读取</a:t>
            </a:r>
            <a:r>
              <a:rPr lang="en-US" altLang="zh-CN" sz="2400" b="0" dirty="0">
                <a:latin typeface="楷体_GB2312"/>
              </a:rPr>
              <a:t>8259A</a:t>
            </a:r>
            <a:r>
              <a:rPr lang="zh-CN" altLang="en-US" sz="2400" b="0" dirty="0">
                <a:latin typeface="楷体_GB2312"/>
              </a:rPr>
              <a:t>的查询字。</a:t>
            </a:r>
            <a:endParaRPr lang="zh-CN" altLang="en-US" sz="2400" dirty="0">
              <a:latin typeface="楷体_GB2312"/>
            </a:endParaRPr>
          </a:p>
        </p:txBody>
      </p:sp>
    </p:spTree>
  </p:cSld>
  <p:clrMapOvr>
    <a:masterClrMapping/>
  </p:clrMapOvr>
  <p:transition spd="slow">
    <p:zoom/>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9858" name="页脚占位符 5"/>
          <p:cNvSpPr txBox="1">
            <a:spLocks noGrp="1"/>
          </p:cNvSpPr>
          <p:nvPr/>
        </p:nvSpPr>
        <p:spPr>
          <a:xfrm>
            <a:off x="8604250" y="6381750"/>
            <a:ext cx="539750" cy="47625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fld id="{9A0DB2DC-4C9A-4742-B13C-FB6460FD3503}" type="slidenum">
              <a:rPr lang="en-US" altLang="zh-CN" sz="1400" b="0" dirty="0">
                <a:solidFill>
                  <a:srgbClr val="000000"/>
                </a:solidFill>
                <a:latin typeface="Tahoma" panose="020B0604030504040204" pitchFamily="34" charset="0"/>
                <a:ea typeface="楷体_GB2312"/>
              </a:rPr>
            </a:fld>
            <a:endParaRPr lang="en-US" altLang="zh-CN" sz="1400" b="0" dirty="0">
              <a:solidFill>
                <a:srgbClr val="000000"/>
              </a:solidFill>
              <a:latin typeface="Tahoma" panose="020B0604030504040204" pitchFamily="34" charset="0"/>
              <a:ea typeface="楷体_GB2312"/>
            </a:endParaRPr>
          </a:p>
        </p:txBody>
      </p:sp>
      <p:sp>
        <p:nvSpPr>
          <p:cNvPr id="249859" name="Rectangle 3"/>
          <p:cNvSpPr>
            <a:spLocks noGrp="1"/>
          </p:cNvSpPr>
          <p:nvPr>
            <p:ph type="body" sz="half" idx="4294967295"/>
          </p:nvPr>
        </p:nvSpPr>
        <p:spPr>
          <a:xfrm>
            <a:off x="419100" y="1279525"/>
            <a:ext cx="8694738" cy="5102225"/>
          </a:xfrm>
        </p:spPr>
        <p:txBody>
          <a:bodyPr vert="horz" wrap="square" lIns="91440" tIns="45720" rIns="91440" bIns="45720" anchor="t" anchorCtr="0"/>
          <a:lstStyle>
            <a:lvl1pPr lvl="0">
              <a:buClr>
                <a:schemeClr val="folHlink"/>
              </a:buClr>
              <a:buSzPct val="60000"/>
              <a:buFont typeface="Wingdings" panose="05000000000000000000" pitchFamily="2" charset="2"/>
              <a:defRPr sz="2400"/>
            </a:lvl1pPr>
            <a:lvl2pPr lvl="1">
              <a:buClr>
                <a:schemeClr val="hlink"/>
              </a:buClr>
              <a:buSzPct val="55000"/>
              <a:buFont typeface="Wingdings" panose="05000000000000000000" pitchFamily="2" charset="2"/>
              <a:defRPr sz="2000"/>
            </a:lvl2pPr>
            <a:lvl3pPr lvl="2">
              <a:buClr>
                <a:schemeClr val="folHlink"/>
              </a:buClr>
              <a:buSzPct val="50000"/>
              <a:buFont typeface="Wingdings" panose="05000000000000000000" pitchFamily="2" charset="2"/>
              <a:defRPr sz="1800"/>
            </a:lvl3pPr>
            <a:lvl4pPr lvl="3">
              <a:buClr>
                <a:schemeClr val="accent2"/>
              </a:buClr>
              <a:buSzPct val="55000"/>
              <a:buFont typeface="Wingdings" panose="05000000000000000000" pitchFamily="2" charset="2"/>
              <a:defRPr sz="1800"/>
            </a:lvl4pPr>
            <a:lvl5pPr lvl="4">
              <a:buClr>
                <a:schemeClr val="accent1"/>
              </a:buClr>
              <a:buSzPct val="50000"/>
              <a:buFont typeface="Wingdings" panose="05000000000000000000" pitchFamily="2" charset="2"/>
              <a:defRPr sz="1800"/>
            </a:lvl5pPr>
          </a:lstStyle>
          <a:p>
            <a:pPr marL="457200" lvl="1" indent="0">
              <a:lnSpc>
                <a:spcPct val="100000"/>
              </a:lnSpc>
              <a:buNone/>
            </a:pPr>
            <a:r>
              <a:rPr lang="zh-CN" altLang="en-US" sz="2800" dirty="0">
                <a:latin typeface="宋体" panose="02010600030101010101" pitchFamily="2" charset="-122"/>
              </a:rPr>
              <a:t>例</a:t>
            </a:r>
            <a:r>
              <a:rPr lang="en-US" altLang="zh-CN" sz="2800" dirty="0">
                <a:latin typeface="宋体" panose="02010600030101010101" pitchFamily="2" charset="-122"/>
              </a:rPr>
              <a:t>1</a:t>
            </a:r>
            <a:endParaRPr lang="en-US" altLang="zh-CN" sz="2800" dirty="0">
              <a:latin typeface="宋体" panose="02010600030101010101" pitchFamily="2" charset="-122"/>
            </a:endParaRPr>
          </a:p>
          <a:p>
            <a:pPr marL="457200" lvl="1" indent="0">
              <a:lnSpc>
                <a:spcPct val="100000"/>
              </a:lnSpc>
            </a:pPr>
            <a:r>
              <a:rPr lang="zh-CN" altLang="en-US" sz="2200" dirty="0">
                <a:latin typeface="宋体" panose="02010600030101010101" pitchFamily="2" charset="-122"/>
              </a:rPr>
              <a:t>若该</a:t>
            </a:r>
            <a:r>
              <a:rPr lang="en-US" altLang="zh-CN" sz="2200" dirty="0">
                <a:latin typeface="宋体" panose="02010600030101010101" pitchFamily="2" charset="-122"/>
              </a:rPr>
              <a:t>8259A</a:t>
            </a:r>
            <a:r>
              <a:rPr lang="zh-CN" altLang="en-US" sz="2200" dirty="0">
                <a:latin typeface="宋体" panose="02010600030101010101" pitchFamily="2" charset="-122"/>
              </a:rPr>
              <a:t>为主片，请用查询方式，查询哪个从片有中断请求。</a:t>
            </a:r>
            <a:endParaRPr lang="zh-CN" altLang="en-US" sz="2200" dirty="0">
              <a:solidFill>
                <a:srgbClr val="9900FF"/>
              </a:solidFill>
              <a:latin typeface="宋体" panose="02010600030101010101" pitchFamily="2" charset="-122"/>
            </a:endParaRPr>
          </a:p>
          <a:p>
            <a:pPr marL="457200" lvl="1" indent="0">
              <a:lnSpc>
                <a:spcPct val="100000"/>
              </a:lnSpc>
              <a:buNone/>
            </a:pPr>
            <a:r>
              <a:rPr lang="zh-CN" altLang="en-US" sz="2200" dirty="0">
                <a:latin typeface="Times New Roman" panose="02020603050405020304" pitchFamily="18" charset="0"/>
              </a:rPr>
              <a:t>     </a:t>
            </a:r>
            <a:r>
              <a:rPr lang="en-US" altLang="zh-CN" sz="2200" dirty="0">
                <a:latin typeface="Times New Roman" panose="02020603050405020304" pitchFamily="18" charset="0"/>
              </a:rPr>
              <a:t>MOV  AL, 000</a:t>
            </a:r>
            <a:r>
              <a:rPr lang="en-US" altLang="zh-CN" sz="2200" dirty="0">
                <a:solidFill>
                  <a:srgbClr val="9900FF"/>
                </a:solidFill>
                <a:latin typeface="Times New Roman" panose="02020603050405020304" pitchFamily="18" charset="0"/>
              </a:rPr>
              <a:t>01</a:t>
            </a:r>
            <a:r>
              <a:rPr lang="en-US" altLang="zh-CN" sz="2200" dirty="0">
                <a:solidFill>
                  <a:srgbClr val="FF0000"/>
                </a:solidFill>
                <a:latin typeface="Times New Roman" panose="02020603050405020304" pitchFamily="18" charset="0"/>
              </a:rPr>
              <a:t>1</a:t>
            </a:r>
            <a:r>
              <a:rPr lang="en-US" altLang="zh-CN" sz="2200" dirty="0">
                <a:solidFill>
                  <a:schemeClr val="hlink"/>
                </a:solidFill>
                <a:latin typeface="Times New Roman" panose="02020603050405020304" pitchFamily="18" charset="0"/>
              </a:rPr>
              <a:t>00</a:t>
            </a:r>
            <a:r>
              <a:rPr lang="en-US" altLang="zh-CN" sz="2200" dirty="0">
                <a:latin typeface="Times New Roman" panose="02020603050405020304" pitchFamily="18" charset="0"/>
              </a:rPr>
              <a:t>B ;发OCW</a:t>
            </a:r>
            <a:r>
              <a:rPr lang="en-US" altLang="zh-CN" sz="2200" baseline="-10000" dirty="0">
                <a:latin typeface="Times New Roman" panose="02020603050405020304" pitchFamily="18" charset="0"/>
              </a:rPr>
              <a:t>3</a:t>
            </a:r>
            <a:r>
              <a:rPr lang="en-US" altLang="zh-CN" sz="2200" dirty="0">
                <a:latin typeface="Times New Roman" panose="02020603050405020304" pitchFamily="18" charset="0"/>
              </a:rPr>
              <a:t>,欲查询是否有中断请求</a:t>
            </a:r>
            <a:endParaRPr lang="en-US" altLang="zh-CN" sz="2200" dirty="0">
              <a:latin typeface="Times New Roman" panose="02020603050405020304" pitchFamily="18" charset="0"/>
            </a:endParaRPr>
          </a:p>
          <a:p>
            <a:pPr marL="457200" lvl="1" indent="0">
              <a:lnSpc>
                <a:spcPct val="100000"/>
              </a:lnSpc>
              <a:buNone/>
            </a:pPr>
            <a:r>
              <a:rPr lang="zh-CN" altLang="en-US" sz="2200" dirty="0">
                <a:latin typeface="Times New Roman" panose="02020603050405020304" pitchFamily="18" charset="0"/>
              </a:rPr>
              <a:t>     </a:t>
            </a:r>
            <a:r>
              <a:rPr lang="en-US" altLang="zh-CN" sz="2200" dirty="0">
                <a:solidFill>
                  <a:srgbClr val="993300"/>
                </a:solidFill>
                <a:latin typeface="Times New Roman" panose="02020603050405020304" pitchFamily="18" charset="0"/>
              </a:rPr>
              <a:t>OUT  20H,AL</a:t>
            </a:r>
            <a:endParaRPr lang="en-US" altLang="zh-CN" sz="2200" dirty="0">
              <a:solidFill>
                <a:srgbClr val="993300"/>
              </a:solidFill>
              <a:latin typeface="Times New Roman" panose="02020603050405020304" pitchFamily="18" charset="0"/>
            </a:endParaRPr>
          </a:p>
          <a:p>
            <a:pPr marL="457200" lvl="1" indent="0">
              <a:lnSpc>
                <a:spcPct val="100000"/>
              </a:lnSpc>
              <a:buNone/>
            </a:pPr>
            <a:r>
              <a:rPr lang="en-US" altLang="zh-CN" sz="2200" dirty="0">
                <a:latin typeface="Times New Roman" panose="02020603050405020304" pitchFamily="18" charset="0"/>
              </a:rPr>
              <a:t>     </a:t>
            </a:r>
            <a:r>
              <a:rPr lang="en-US" altLang="zh-CN" sz="2200" dirty="0">
                <a:solidFill>
                  <a:srgbClr val="0000CC"/>
                </a:solidFill>
                <a:latin typeface="Times New Roman" panose="02020603050405020304" pitchFamily="18" charset="0"/>
              </a:rPr>
              <a:t>IN  AL, 20H</a:t>
            </a:r>
            <a:r>
              <a:rPr lang="en-US" altLang="zh-CN" sz="2200" dirty="0">
                <a:latin typeface="Times New Roman" panose="02020603050405020304" pitchFamily="18" charset="0"/>
              </a:rPr>
              <a:t>                  ;</a:t>
            </a:r>
            <a:r>
              <a:rPr lang="zh-CN" altLang="en-US" sz="2200" dirty="0">
                <a:latin typeface="Times New Roman" panose="02020603050405020304" pitchFamily="18" charset="0"/>
              </a:rPr>
              <a:t>读查询字，并判断最高位是否为</a:t>
            </a:r>
            <a:r>
              <a:rPr lang="en-US" altLang="zh-CN" sz="2200" dirty="0">
                <a:latin typeface="Times New Roman" panose="02020603050405020304" pitchFamily="18" charset="0"/>
              </a:rPr>
              <a:t>1</a:t>
            </a:r>
            <a:endParaRPr lang="en-US" altLang="zh-CN" sz="2200" dirty="0">
              <a:latin typeface="Times New Roman" panose="02020603050405020304" pitchFamily="18" charset="0"/>
            </a:endParaRPr>
          </a:p>
          <a:p>
            <a:pPr marL="457200" lvl="1" indent="0">
              <a:lnSpc>
                <a:spcPct val="100000"/>
              </a:lnSpc>
              <a:buNone/>
            </a:pPr>
            <a:r>
              <a:rPr lang="en-US" altLang="zh-CN" sz="2200" dirty="0">
                <a:latin typeface="Times New Roman" panose="02020603050405020304" pitchFamily="18" charset="0"/>
              </a:rPr>
              <a:t>     TEST  AL, 80H        </a:t>
            </a:r>
            <a:endParaRPr lang="en-US" altLang="zh-CN" sz="2200" dirty="0">
              <a:latin typeface="Times New Roman" panose="02020603050405020304" pitchFamily="18" charset="0"/>
            </a:endParaRPr>
          </a:p>
          <a:p>
            <a:pPr marL="457200" lvl="1" indent="0">
              <a:lnSpc>
                <a:spcPct val="100000"/>
              </a:lnSpc>
              <a:buNone/>
            </a:pPr>
            <a:r>
              <a:rPr lang="en-US" altLang="zh-CN" sz="2200" dirty="0">
                <a:latin typeface="Times New Roman" panose="02020603050405020304" pitchFamily="18" charset="0"/>
              </a:rPr>
              <a:t>     JZ  DONE</a:t>
            </a:r>
            <a:endParaRPr lang="en-US" altLang="zh-CN" sz="2200" dirty="0">
              <a:latin typeface="Times New Roman" panose="02020603050405020304" pitchFamily="18" charset="0"/>
            </a:endParaRPr>
          </a:p>
          <a:p>
            <a:pPr marL="457200" lvl="1" indent="0">
              <a:lnSpc>
                <a:spcPct val="100000"/>
              </a:lnSpc>
              <a:buNone/>
            </a:pPr>
            <a:r>
              <a:rPr lang="en-US" altLang="zh-CN" sz="2200" dirty="0">
                <a:latin typeface="Times New Roman" panose="02020603050405020304" pitchFamily="18" charset="0"/>
              </a:rPr>
              <a:t>     AND AL,07H                ;判断中断源的编码</a:t>
            </a:r>
            <a:endParaRPr lang="en-US" altLang="zh-CN" sz="2200" dirty="0">
              <a:latin typeface="Times New Roman" panose="02020603050405020304" pitchFamily="18" charset="0"/>
            </a:endParaRPr>
          </a:p>
          <a:p>
            <a:pPr marL="457200" lvl="1" indent="0">
              <a:lnSpc>
                <a:spcPct val="100000"/>
              </a:lnSpc>
              <a:buNone/>
            </a:pPr>
            <a:r>
              <a:rPr lang="en-US" altLang="zh-CN" sz="2200" dirty="0">
                <a:latin typeface="Times New Roman" panose="02020603050405020304" pitchFamily="18" charset="0"/>
              </a:rPr>
              <a:t>                                             (低三位为最高优先级请求的序号 )</a:t>
            </a:r>
            <a:endParaRPr lang="en-US" altLang="zh-CN" sz="2200" dirty="0">
              <a:latin typeface="Times New Roman" panose="02020603050405020304" pitchFamily="18" charset="0"/>
            </a:endParaRPr>
          </a:p>
          <a:p>
            <a:pPr marL="457200" lvl="1" indent="0">
              <a:lnSpc>
                <a:spcPct val="100000"/>
              </a:lnSpc>
              <a:buNone/>
            </a:pPr>
            <a:r>
              <a:rPr lang="en-US" altLang="zh-CN" sz="2200" dirty="0">
                <a:latin typeface="Times New Roman" panose="02020603050405020304" pitchFamily="18" charset="0"/>
              </a:rPr>
              <a:t>     …… </a:t>
            </a:r>
            <a:endParaRPr lang="en-US" altLang="zh-CN" sz="2200" dirty="0">
              <a:latin typeface="Times New Roman" panose="02020603050405020304" pitchFamily="18" charset="0"/>
            </a:endParaRPr>
          </a:p>
          <a:p>
            <a:pPr marL="457200" lvl="1" indent="0">
              <a:lnSpc>
                <a:spcPct val="100000"/>
              </a:lnSpc>
              <a:buNone/>
            </a:pPr>
            <a:r>
              <a:rPr lang="en-US" altLang="zh-CN" sz="2200" dirty="0">
                <a:latin typeface="Times New Roman" panose="02020603050405020304" pitchFamily="18" charset="0"/>
              </a:rPr>
              <a:t>     DONE:  HLT</a:t>
            </a:r>
            <a:endParaRPr lang="en-US" altLang="zh-CN" sz="2200" dirty="0">
              <a:latin typeface="Times New Roman" panose="02020603050405020304" pitchFamily="18" charset="0"/>
            </a:endParaRPr>
          </a:p>
        </p:txBody>
      </p:sp>
      <p:sp>
        <p:nvSpPr>
          <p:cNvPr id="249860" name="Rectangle 5"/>
          <p:cNvSpPr/>
          <p:nvPr/>
        </p:nvSpPr>
        <p:spPr>
          <a:xfrm>
            <a:off x="4211638" y="5302250"/>
            <a:ext cx="3960812" cy="1079500"/>
          </a:xfrm>
          <a:prstGeom prst="rect">
            <a:avLst/>
          </a:prstGeom>
          <a:noFill/>
          <a:ln w="25400" cap="flat" cmpd="sng">
            <a:solidFill>
              <a:srgbClr val="800080"/>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200" b="0" dirty="0">
                <a:solidFill>
                  <a:srgbClr val="0000FF"/>
                </a:solidFill>
                <a:ea typeface="楷体_GB2312"/>
              </a:rPr>
              <a:t>说明：查询字的结构</a:t>
            </a:r>
            <a:endParaRPr lang="zh-CN" altLang="en-US" sz="2200" b="0" dirty="0">
              <a:solidFill>
                <a:srgbClr val="0000FF"/>
              </a:solidFill>
              <a:ea typeface="楷体_GB2312"/>
            </a:endParaRPr>
          </a:p>
          <a:p>
            <a:pPr marL="0" lvl="0" indent="0">
              <a:lnSpc>
                <a:spcPct val="100000"/>
              </a:lnSpc>
              <a:spcBef>
                <a:spcPct val="0"/>
              </a:spcBef>
              <a:spcAft>
                <a:spcPct val="0"/>
              </a:spcAft>
              <a:buClrTx/>
              <a:buSzTx/>
              <a:buNone/>
            </a:pPr>
            <a:r>
              <a:rPr lang="zh-CN" altLang="en-US" sz="2200" b="0" dirty="0">
                <a:solidFill>
                  <a:schemeClr val="tx1"/>
                </a:solidFill>
                <a:ea typeface="楷体_GB2312"/>
              </a:rPr>
              <a:t>      </a:t>
            </a:r>
            <a:r>
              <a:rPr lang="en-US" altLang="zh-CN" sz="2200" b="0" dirty="0">
                <a:solidFill>
                  <a:schemeClr val="tx1"/>
                </a:solidFill>
                <a:ea typeface="楷体_GB2312"/>
              </a:rPr>
              <a:t>D</a:t>
            </a:r>
            <a:r>
              <a:rPr lang="en-US" altLang="zh-CN" sz="2200" b="0" baseline="-10000" dirty="0">
                <a:solidFill>
                  <a:schemeClr val="tx1"/>
                </a:solidFill>
                <a:ea typeface="楷体_GB2312"/>
              </a:rPr>
              <a:t>7</a:t>
            </a:r>
            <a:r>
              <a:rPr lang="zh-CN" altLang="en-US" sz="2200" b="0" dirty="0">
                <a:solidFill>
                  <a:schemeClr val="tx1"/>
                </a:solidFill>
                <a:ea typeface="楷体_GB2312"/>
              </a:rPr>
              <a:t>：</a:t>
            </a:r>
            <a:r>
              <a:rPr lang="en-US" altLang="zh-CN" sz="2200" b="0" dirty="0">
                <a:solidFill>
                  <a:schemeClr val="tx1"/>
                </a:solidFill>
                <a:ea typeface="楷体_GB2312"/>
              </a:rPr>
              <a:t>=1</a:t>
            </a:r>
            <a:r>
              <a:rPr lang="zh-CN" altLang="en-US" sz="2200" b="0" dirty="0">
                <a:solidFill>
                  <a:schemeClr val="tx1"/>
                </a:solidFill>
                <a:ea typeface="楷体_GB2312"/>
              </a:rPr>
              <a:t>表示有中断</a:t>
            </a:r>
            <a:endParaRPr lang="zh-CN" altLang="en-US" sz="2200" b="0" dirty="0">
              <a:solidFill>
                <a:schemeClr val="tx1"/>
              </a:solidFill>
              <a:ea typeface="楷体_GB2312"/>
            </a:endParaRPr>
          </a:p>
          <a:p>
            <a:pPr marL="0" lvl="0" indent="0">
              <a:lnSpc>
                <a:spcPct val="100000"/>
              </a:lnSpc>
              <a:spcBef>
                <a:spcPct val="0"/>
              </a:spcBef>
              <a:spcAft>
                <a:spcPct val="0"/>
              </a:spcAft>
              <a:buClrTx/>
              <a:buSzTx/>
              <a:buNone/>
            </a:pPr>
            <a:r>
              <a:rPr lang="zh-CN" altLang="en-US" sz="2200" b="0" dirty="0">
                <a:solidFill>
                  <a:schemeClr val="tx1"/>
                </a:solidFill>
                <a:ea typeface="楷体_GB2312"/>
              </a:rPr>
              <a:t>      </a:t>
            </a:r>
            <a:r>
              <a:rPr lang="en-US" altLang="zh-CN" sz="2200" b="0" dirty="0">
                <a:solidFill>
                  <a:schemeClr val="tx1"/>
                </a:solidFill>
                <a:ea typeface="楷体_GB2312"/>
              </a:rPr>
              <a:t>D</a:t>
            </a:r>
            <a:r>
              <a:rPr lang="en-US" altLang="zh-CN" sz="2200" b="0" baseline="-10000" dirty="0">
                <a:solidFill>
                  <a:schemeClr val="tx1"/>
                </a:solidFill>
                <a:ea typeface="楷体_GB2312"/>
              </a:rPr>
              <a:t>2</a:t>
            </a:r>
            <a:r>
              <a:rPr lang="zh-CN" altLang="en-US" sz="2200" b="0" dirty="0">
                <a:solidFill>
                  <a:schemeClr val="tx1"/>
                </a:solidFill>
                <a:ea typeface="楷体_GB2312"/>
              </a:rPr>
              <a:t>～</a:t>
            </a:r>
            <a:r>
              <a:rPr lang="en-US" altLang="zh-CN" sz="2200" b="0" dirty="0">
                <a:solidFill>
                  <a:schemeClr val="tx1"/>
                </a:solidFill>
                <a:ea typeface="楷体_GB2312"/>
              </a:rPr>
              <a:t>D</a:t>
            </a:r>
            <a:r>
              <a:rPr lang="en-US" altLang="zh-CN" sz="2200" b="0" baseline="-10000" dirty="0">
                <a:solidFill>
                  <a:schemeClr val="tx1"/>
                </a:solidFill>
                <a:ea typeface="楷体_GB2312"/>
              </a:rPr>
              <a:t>1</a:t>
            </a:r>
            <a:r>
              <a:rPr lang="zh-CN" altLang="en-US" sz="2200" b="0" dirty="0">
                <a:solidFill>
                  <a:schemeClr val="tx1"/>
                </a:solidFill>
                <a:ea typeface="楷体_GB2312"/>
              </a:rPr>
              <a:t>：最高优先级序号</a:t>
            </a:r>
            <a:endParaRPr lang="zh-CN" altLang="en-US" sz="2200" b="0" dirty="0">
              <a:solidFill>
                <a:schemeClr val="tx1"/>
              </a:solidFill>
              <a:ea typeface="楷体_GB2312"/>
            </a:endParaRPr>
          </a:p>
        </p:txBody>
      </p:sp>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190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51907" name="Rectangle 2"/>
          <p:cNvSpPr>
            <a:spLocks noGrp="1" noRot="1"/>
          </p:cNvSpPr>
          <p:nvPr>
            <p:ph type="title" idx="4294967295"/>
          </p:nvPr>
        </p:nvSpPr>
        <p:spPr/>
        <p:txBody>
          <a:bodyPr vert="horz" wrap="square" lIns="91440" tIns="45720" rIns="91440" bIns="45720" anchor="b" anchorCtr="0"/>
          <a:p>
            <a:pPr eaLnBrk="1" hangingPunct="1"/>
            <a:r>
              <a:rPr lang="en-US" altLang="zh-CN" dirty="0"/>
              <a:t>8259A</a:t>
            </a:r>
            <a:r>
              <a:rPr lang="zh-CN" altLang="en-US" dirty="0"/>
              <a:t>编程举例</a:t>
            </a:r>
            <a:endParaRPr lang="zh-CN" altLang="en-US" dirty="0"/>
          </a:p>
        </p:txBody>
      </p:sp>
      <p:sp>
        <p:nvSpPr>
          <p:cNvPr id="251908" name="Rectangle 3"/>
          <p:cNvSpPr>
            <a:spLocks noGrp="1" noRot="1"/>
          </p:cNvSpPr>
          <p:nvPr>
            <p:ph type="body" idx="4294967295"/>
          </p:nvPr>
        </p:nvSpPr>
        <p:spPr/>
        <p:txBody>
          <a:bodyPr vert="horz" wrap="square" lIns="91440" tIns="45720" rIns="91440" bIns="45720" anchor="t" anchorCtr="0"/>
          <a:p>
            <a:pPr eaLnBrk="1" hangingPunct="1"/>
            <a:r>
              <a:rPr lang="zh-CN" altLang="en-US" dirty="0"/>
              <a:t>按以下要求初始化</a:t>
            </a:r>
            <a:r>
              <a:rPr lang="en-US" altLang="zh-CN" dirty="0"/>
              <a:t>8259A</a:t>
            </a:r>
            <a:r>
              <a:rPr lang="zh-CN" altLang="en-US" dirty="0"/>
              <a:t>：</a:t>
            </a:r>
            <a:endParaRPr lang="zh-CN" altLang="en-US" dirty="0"/>
          </a:p>
          <a:p>
            <a:pPr lvl="1" eaLnBrk="1" hangingPunct="1"/>
            <a:r>
              <a:rPr lang="zh-CN" altLang="en-US" dirty="0"/>
              <a:t>接口地址为</a:t>
            </a:r>
            <a:r>
              <a:rPr lang="en-US" altLang="zh-CN" dirty="0"/>
              <a:t>20H</a:t>
            </a:r>
            <a:r>
              <a:rPr lang="zh-CN" altLang="en-US" dirty="0"/>
              <a:t>和</a:t>
            </a:r>
            <a:r>
              <a:rPr lang="en-US" altLang="zh-CN" dirty="0"/>
              <a:t>21H</a:t>
            </a:r>
            <a:r>
              <a:rPr lang="zh-CN" altLang="en-US" dirty="0"/>
              <a:t>；</a:t>
            </a:r>
            <a:endParaRPr lang="zh-CN" altLang="en-US" dirty="0"/>
          </a:p>
          <a:p>
            <a:pPr lvl="1" eaLnBrk="1" hangingPunct="1"/>
            <a:r>
              <a:rPr lang="zh-CN" altLang="en-US" dirty="0"/>
              <a:t>中断为上升沿触发；单片</a:t>
            </a:r>
            <a:r>
              <a:rPr lang="en-US" altLang="zh-CN" dirty="0"/>
              <a:t>8259A</a:t>
            </a:r>
            <a:r>
              <a:rPr lang="zh-CN" altLang="en-US" dirty="0"/>
              <a:t>；不写</a:t>
            </a:r>
            <a:r>
              <a:rPr lang="en-US" altLang="zh-CN" dirty="0"/>
              <a:t>ICW4</a:t>
            </a:r>
            <a:r>
              <a:rPr lang="zh-CN" altLang="en-US" dirty="0"/>
              <a:t>；</a:t>
            </a:r>
            <a:endParaRPr lang="zh-CN" altLang="en-US" dirty="0"/>
          </a:p>
          <a:p>
            <a:pPr lvl="1" eaLnBrk="1" hangingPunct="1"/>
            <a:r>
              <a:rPr lang="zh-CN" altLang="en-US" dirty="0"/>
              <a:t>与</a:t>
            </a:r>
            <a:r>
              <a:rPr lang="en-US" altLang="zh-CN" dirty="0"/>
              <a:t>IR</a:t>
            </a:r>
            <a:r>
              <a:rPr lang="en-US" altLang="zh-CN" baseline="-20000" dirty="0"/>
              <a:t>0</a:t>
            </a:r>
            <a:r>
              <a:rPr lang="en-US" altLang="zh-CN" dirty="0"/>
              <a:t>-IR</a:t>
            </a:r>
            <a:r>
              <a:rPr lang="en-US" altLang="zh-CN" baseline="-20000" dirty="0"/>
              <a:t>3</a:t>
            </a:r>
            <a:r>
              <a:rPr lang="zh-CN" altLang="en-US" dirty="0"/>
              <a:t>对应的中断向量码为</a:t>
            </a:r>
            <a:r>
              <a:rPr lang="en-US" altLang="zh-CN" dirty="0"/>
              <a:t>08H-0BH</a:t>
            </a:r>
            <a:r>
              <a:rPr lang="zh-CN" altLang="en-US" dirty="0"/>
              <a:t>；</a:t>
            </a:r>
            <a:endParaRPr lang="zh-CN" altLang="en-US" dirty="0"/>
          </a:p>
          <a:p>
            <a:pPr lvl="1" eaLnBrk="1" hangingPunct="1"/>
            <a:r>
              <a:rPr lang="en-US" altLang="zh-CN" dirty="0"/>
              <a:t>IR</a:t>
            </a:r>
            <a:r>
              <a:rPr lang="en-US" altLang="zh-CN" baseline="-20000" dirty="0"/>
              <a:t>4</a:t>
            </a:r>
            <a:r>
              <a:rPr lang="en-US" altLang="zh-CN" dirty="0"/>
              <a:t>-IR</a:t>
            </a:r>
            <a:r>
              <a:rPr lang="en-US" altLang="zh-CN" baseline="-20000" dirty="0"/>
              <a:t>7</a:t>
            </a:r>
            <a:r>
              <a:rPr lang="zh-CN" altLang="en-US" dirty="0"/>
              <a:t>不使用。</a:t>
            </a:r>
            <a:endParaRPr lang="zh-CN" altLang="en-US" dirty="0"/>
          </a:p>
        </p:txBody>
      </p:sp>
    </p:spTree>
  </p:cSld>
  <p:clrMapOvr>
    <a:masterClrMapping/>
  </p:clrMapOvr>
  <p:transition spd="slow">
    <p:zoom/>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293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182275" name="Rectangle 4"/>
          <p:cNvSpPr/>
          <p:nvPr/>
        </p:nvSpPr>
        <p:spPr>
          <a:xfrm>
            <a:off x="1370013" y="5510213"/>
            <a:ext cx="5762625" cy="1198562"/>
          </a:xfrm>
          <a:prstGeom prst="rect">
            <a:avLst/>
          </a:prstGeom>
          <a:noFill/>
          <a:ln w="9525"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b="0" dirty="0">
                <a:solidFill>
                  <a:schemeClr val="tx1"/>
                </a:solidFill>
                <a:ea typeface="楷体_GB2312"/>
              </a:rPr>
              <a:t>根据要求，各初始化参数及工作参数如下：</a:t>
            </a:r>
            <a:endParaRPr lang="zh-CN" altLang="en-US" sz="1800" b="0" dirty="0">
              <a:solidFill>
                <a:schemeClr val="tx1"/>
              </a:solidFill>
              <a:ea typeface="楷体_GB2312"/>
            </a:endParaRPr>
          </a:p>
          <a:p>
            <a:pPr marL="457200" lvl="1" indent="0" eaLnBrk="1" hangingPunct="1">
              <a:lnSpc>
                <a:spcPct val="100000"/>
              </a:lnSpc>
              <a:spcBef>
                <a:spcPct val="0"/>
              </a:spcBef>
              <a:spcAft>
                <a:spcPct val="0"/>
              </a:spcAft>
              <a:buClrTx/>
              <a:buSzTx/>
              <a:buNone/>
            </a:pPr>
            <a:r>
              <a:rPr lang="en-US" altLang="zh-CN" sz="1800" i="1" dirty="0">
                <a:ea typeface="楷体_GB2312"/>
              </a:rPr>
              <a:t>ICW1 = 00010010 = 12H</a:t>
            </a:r>
            <a:endParaRPr lang="en-US" altLang="zh-CN" sz="1800" i="1" dirty="0">
              <a:ea typeface="楷体_GB2312"/>
            </a:endParaRPr>
          </a:p>
          <a:p>
            <a:pPr marL="457200" lvl="1" indent="0" eaLnBrk="1" hangingPunct="1">
              <a:lnSpc>
                <a:spcPct val="100000"/>
              </a:lnSpc>
              <a:spcBef>
                <a:spcPct val="0"/>
              </a:spcBef>
              <a:spcAft>
                <a:spcPct val="0"/>
              </a:spcAft>
              <a:buClrTx/>
              <a:buSzTx/>
              <a:buNone/>
            </a:pPr>
            <a:r>
              <a:rPr lang="en-US" altLang="zh-CN" sz="1800" i="1" dirty="0">
                <a:ea typeface="楷体_GB2312"/>
              </a:rPr>
              <a:t>ICW2 = 08H                           </a:t>
            </a:r>
            <a:r>
              <a:rPr lang="zh-CN" altLang="en-US" sz="1800" i="1" dirty="0">
                <a:ea typeface="楷体_GB2312"/>
              </a:rPr>
              <a:t>  中断向量码 </a:t>
            </a:r>
            <a:endParaRPr lang="zh-CN" altLang="en-US" sz="1800" i="1" dirty="0">
              <a:ea typeface="楷体_GB2312"/>
            </a:endParaRPr>
          </a:p>
          <a:p>
            <a:pPr marL="457200" lvl="1" indent="0" eaLnBrk="1" hangingPunct="1">
              <a:lnSpc>
                <a:spcPct val="100000"/>
              </a:lnSpc>
              <a:spcBef>
                <a:spcPct val="0"/>
              </a:spcBef>
              <a:spcAft>
                <a:spcPct val="0"/>
              </a:spcAft>
              <a:buClrTx/>
              <a:buSzTx/>
              <a:buNone/>
            </a:pPr>
            <a:r>
              <a:rPr lang="en-US" altLang="zh-CN" sz="1800" i="1" dirty="0">
                <a:ea typeface="楷体_GB2312"/>
              </a:rPr>
              <a:t>OCW1 = 11110000 = 0F0H     </a:t>
            </a:r>
            <a:r>
              <a:rPr lang="zh-CN" altLang="en-US" sz="1800" i="1" dirty="0">
                <a:ea typeface="楷体_GB2312"/>
              </a:rPr>
              <a:t>中断屏蔽字 </a:t>
            </a:r>
            <a:endParaRPr lang="zh-CN" altLang="en-US" sz="1800" i="1" dirty="0">
              <a:ea typeface="楷体_GB2312"/>
            </a:endParaRPr>
          </a:p>
        </p:txBody>
      </p:sp>
      <p:sp>
        <p:nvSpPr>
          <p:cNvPr id="252932" name="Rectangle 5"/>
          <p:cNvSpPr/>
          <p:nvPr/>
        </p:nvSpPr>
        <p:spPr>
          <a:xfrm>
            <a:off x="395288" y="2297113"/>
            <a:ext cx="8713787" cy="8636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400" dirty="0">
                <a:ea typeface="楷体_GB2312"/>
              </a:rPr>
              <a:t>A0</a:t>
            </a:r>
            <a:r>
              <a:rPr lang="en-US" altLang="zh-CN" sz="2400" b="0" dirty="0">
                <a:ea typeface="楷体_GB2312"/>
              </a:rPr>
              <a:t>   	D7	D6     	D5     	D4   	D3  	D2   	D1   	D0</a:t>
            </a:r>
            <a:br>
              <a:rPr lang="en-US" altLang="zh-CN" sz="2400" b="0" dirty="0">
                <a:ea typeface="楷体_GB2312"/>
              </a:rPr>
            </a:br>
            <a:r>
              <a:rPr lang="en-US" altLang="zh-CN" sz="2400" b="0" dirty="0">
                <a:ea typeface="楷体_GB2312"/>
              </a:rPr>
              <a:t> </a:t>
            </a:r>
            <a:r>
              <a:rPr lang="en-US" altLang="zh-CN" sz="2400" dirty="0">
                <a:solidFill>
                  <a:srgbClr val="FF0000"/>
                </a:solidFill>
                <a:ea typeface="楷体_GB2312"/>
              </a:rPr>
              <a:t>0	 x         x 	  x 	  1     LTIM       x   SNGL    IC4                          </a:t>
            </a:r>
            <a:endParaRPr lang="en-US" altLang="zh-CN" sz="2400" dirty="0">
              <a:solidFill>
                <a:srgbClr val="FF0000"/>
              </a:solidFill>
              <a:ea typeface="楷体_GB2312"/>
            </a:endParaRPr>
          </a:p>
        </p:txBody>
      </p:sp>
      <p:sp>
        <p:nvSpPr>
          <p:cNvPr id="252933" name="Rectangle 6"/>
          <p:cNvSpPr/>
          <p:nvPr/>
        </p:nvSpPr>
        <p:spPr>
          <a:xfrm>
            <a:off x="352425" y="3500438"/>
            <a:ext cx="8001000" cy="8636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2400" dirty="0">
                <a:ea typeface="楷体_GB2312"/>
              </a:rPr>
              <a:t>A0</a:t>
            </a:r>
            <a:r>
              <a:rPr lang="en-US" altLang="zh-CN" sz="2400" b="0" dirty="0">
                <a:ea typeface="楷体_GB2312"/>
              </a:rPr>
              <a:t>   	D7	D6     	D5     	D4   	D3  	D2   	D1   	D0</a:t>
            </a:r>
            <a:br>
              <a:rPr lang="en-US" altLang="zh-CN" sz="2400" b="0" dirty="0">
                <a:ea typeface="楷体_GB2312"/>
              </a:rPr>
            </a:br>
            <a:r>
              <a:rPr lang="en-US" altLang="zh-CN" sz="2400" b="0" dirty="0">
                <a:ea typeface="楷体_GB2312"/>
              </a:rPr>
              <a:t> </a:t>
            </a:r>
            <a:r>
              <a:rPr lang="en-US" altLang="zh-CN" sz="2400" dirty="0">
                <a:solidFill>
                  <a:srgbClr val="FF0000"/>
                </a:solidFill>
                <a:ea typeface="楷体_GB2312"/>
              </a:rPr>
              <a:t>1	 T</a:t>
            </a:r>
            <a:r>
              <a:rPr lang="en-US" altLang="zh-CN" sz="2400" baseline="-20000" dirty="0">
                <a:solidFill>
                  <a:srgbClr val="FF0000"/>
                </a:solidFill>
                <a:ea typeface="楷体_GB2312"/>
              </a:rPr>
              <a:t>7</a:t>
            </a:r>
            <a:r>
              <a:rPr lang="en-US" altLang="zh-CN" sz="2400" dirty="0">
                <a:solidFill>
                  <a:srgbClr val="FF0000"/>
                </a:solidFill>
                <a:ea typeface="楷体_GB2312"/>
              </a:rPr>
              <a:t>       T</a:t>
            </a:r>
            <a:r>
              <a:rPr lang="en-US" altLang="zh-CN" sz="2400" baseline="-20000" dirty="0">
                <a:solidFill>
                  <a:srgbClr val="FF0000"/>
                </a:solidFill>
                <a:ea typeface="楷体_GB2312"/>
              </a:rPr>
              <a:t>6</a:t>
            </a:r>
            <a:r>
              <a:rPr lang="en-US" altLang="zh-CN" sz="2400" dirty="0">
                <a:solidFill>
                  <a:srgbClr val="FF0000"/>
                </a:solidFill>
                <a:ea typeface="楷体_GB2312"/>
              </a:rPr>
              <a:t> 	 T</a:t>
            </a:r>
            <a:r>
              <a:rPr lang="en-US" altLang="zh-CN" sz="2400" baseline="-20000" dirty="0">
                <a:solidFill>
                  <a:srgbClr val="FF0000"/>
                </a:solidFill>
                <a:ea typeface="楷体_GB2312"/>
              </a:rPr>
              <a:t>5</a:t>
            </a:r>
            <a:r>
              <a:rPr lang="en-US" altLang="zh-CN" sz="2400" dirty="0">
                <a:solidFill>
                  <a:srgbClr val="FF0000"/>
                </a:solidFill>
                <a:ea typeface="楷体_GB2312"/>
              </a:rPr>
              <a:t> 	 T</a:t>
            </a:r>
            <a:r>
              <a:rPr lang="en-US" altLang="zh-CN" sz="2400" baseline="-20000" dirty="0">
                <a:solidFill>
                  <a:srgbClr val="FF0000"/>
                </a:solidFill>
                <a:ea typeface="楷体_GB2312"/>
              </a:rPr>
              <a:t>4</a:t>
            </a:r>
            <a:r>
              <a:rPr lang="en-US" altLang="zh-CN" sz="2400" dirty="0">
                <a:solidFill>
                  <a:srgbClr val="FF0000"/>
                </a:solidFill>
                <a:ea typeface="楷体_GB2312"/>
              </a:rPr>
              <a:t> 	 T</a:t>
            </a:r>
            <a:r>
              <a:rPr lang="en-US" altLang="zh-CN" sz="2400" baseline="-20000" dirty="0">
                <a:solidFill>
                  <a:srgbClr val="FF0000"/>
                </a:solidFill>
                <a:ea typeface="楷体_GB2312"/>
              </a:rPr>
              <a:t>3</a:t>
            </a:r>
            <a:r>
              <a:rPr lang="en-US" altLang="zh-CN" sz="2400" dirty="0">
                <a:solidFill>
                  <a:srgbClr val="FF0000"/>
                </a:solidFill>
                <a:ea typeface="楷体_GB2312"/>
              </a:rPr>
              <a:t> 	 x 	 x 	 x</a:t>
            </a:r>
            <a:endParaRPr lang="en-US" altLang="zh-CN" sz="2400" dirty="0">
              <a:solidFill>
                <a:srgbClr val="FF0000"/>
              </a:solidFill>
              <a:ea typeface="楷体_GB2312"/>
            </a:endParaRPr>
          </a:p>
        </p:txBody>
      </p:sp>
      <p:sp>
        <p:nvSpPr>
          <p:cNvPr id="252934" name="Rectangle 8"/>
          <p:cNvSpPr/>
          <p:nvPr/>
        </p:nvSpPr>
        <p:spPr>
          <a:xfrm>
            <a:off x="395288" y="4646613"/>
            <a:ext cx="8001000" cy="8636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None/>
            </a:pPr>
            <a:r>
              <a:rPr lang="en-US" altLang="zh-CN" sz="2400" dirty="0">
                <a:ea typeface="楷体_GB2312"/>
              </a:rPr>
              <a:t>A0</a:t>
            </a:r>
            <a:r>
              <a:rPr lang="en-US" altLang="zh-CN" sz="2400" b="0" dirty="0">
                <a:ea typeface="楷体_GB2312"/>
              </a:rPr>
              <a:t>   	D7	D6     	D5     	D4   	D3  	D2   	D1   	D0</a:t>
            </a:r>
            <a:br>
              <a:rPr lang="en-US" altLang="zh-CN" sz="2400" b="0" dirty="0">
                <a:ea typeface="楷体_GB2312"/>
              </a:rPr>
            </a:br>
            <a:r>
              <a:rPr lang="en-US" altLang="zh-CN" sz="2400" b="0" dirty="0">
                <a:ea typeface="楷体_GB2312"/>
              </a:rPr>
              <a:t> </a:t>
            </a:r>
            <a:r>
              <a:rPr lang="en-US" altLang="zh-CN" sz="2400" dirty="0">
                <a:solidFill>
                  <a:srgbClr val="FF0000"/>
                </a:solidFill>
                <a:ea typeface="楷体_GB2312"/>
              </a:rPr>
              <a:t>1	 M</a:t>
            </a:r>
            <a:r>
              <a:rPr lang="en-US" altLang="zh-CN" sz="2400" baseline="-20000" dirty="0">
                <a:solidFill>
                  <a:srgbClr val="FF0000"/>
                </a:solidFill>
                <a:ea typeface="楷体_GB2312"/>
              </a:rPr>
              <a:t>7</a:t>
            </a:r>
            <a:r>
              <a:rPr lang="en-US" altLang="zh-CN" sz="2400" dirty="0">
                <a:solidFill>
                  <a:srgbClr val="FF0000"/>
                </a:solidFill>
                <a:ea typeface="楷体_GB2312"/>
              </a:rPr>
              <a:t>       M</a:t>
            </a:r>
            <a:r>
              <a:rPr lang="en-US" altLang="zh-CN" sz="2400" baseline="-20000" dirty="0">
                <a:solidFill>
                  <a:srgbClr val="FF0000"/>
                </a:solidFill>
                <a:ea typeface="楷体_GB2312"/>
              </a:rPr>
              <a:t>6</a:t>
            </a:r>
            <a:r>
              <a:rPr lang="en-US" altLang="zh-CN" sz="2400" dirty="0">
                <a:solidFill>
                  <a:srgbClr val="FF0000"/>
                </a:solidFill>
                <a:ea typeface="楷体_GB2312"/>
              </a:rPr>
              <a:t> 	 M</a:t>
            </a:r>
            <a:r>
              <a:rPr lang="en-US" altLang="zh-CN" sz="2400" baseline="-20000" dirty="0">
                <a:solidFill>
                  <a:srgbClr val="FF0000"/>
                </a:solidFill>
                <a:ea typeface="楷体_GB2312"/>
              </a:rPr>
              <a:t>5</a:t>
            </a:r>
            <a:r>
              <a:rPr lang="en-US" altLang="zh-CN" sz="2400" dirty="0">
                <a:solidFill>
                  <a:srgbClr val="FF0000"/>
                </a:solidFill>
                <a:ea typeface="楷体_GB2312"/>
              </a:rPr>
              <a:t> 	 M</a:t>
            </a:r>
            <a:r>
              <a:rPr lang="en-US" altLang="zh-CN" sz="2400" baseline="-20000" dirty="0">
                <a:solidFill>
                  <a:srgbClr val="FF0000"/>
                </a:solidFill>
                <a:ea typeface="楷体_GB2312"/>
              </a:rPr>
              <a:t>4</a:t>
            </a:r>
            <a:r>
              <a:rPr lang="en-US" altLang="zh-CN" sz="2400" dirty="0">
                <a:solidFill>
                  <a:srgbClr val="FF0000"/>
                </a:solidFill>
                <a:ea typeface="楷体_GB2312"/>
              </a:rPr>
              <a:t> 	 M</a:t>
            </a:r>
            <a:r>
              <a:rPr lang="en-US" altLang="zh-CN" sz="2400" baseline="-20000" dirty="0">
                <a:solidFill>
                  <a:srgbClr val="FF0000"/>
                </a:solidFill>
                <a:ea typeface="楷体_GB2312"/>
              </a:rPr>
              <a:t>3</a:t>
            </a:r>
            <a:r>
              <a:rPr lang="en-US" altLang="zh-CN" sz="2400" dirty="0">
                <a:solidFill>
                  <a:srgbClr val="FF0000"/>
                </a:solidFill>
                <a:ea typeface="楷体_GB2312"/>
              </a:rPr>
              <a:t> 	 M</a:t>
            </a:r>
            <a:r>
              <a:rPr lang="en-US" altLang="zh-CN" sz="2400" baseline="-20000" dirty="0">
                <a:solidFill>
                  <a:srgbClr val="FF0000"/>
                </a:solidFill>
                <a:ea typeface="楷体_GB2312"/>
              </a:rPr>
              <a:t>2</a:t>
            </a:r>
            <a:r>
              <a:rPr lang="en-US" altLang="zh-CN" sz="2400" dirty="0">
                <a:solidFill>
                  <a:srgbClr val="FF0000"/>
                </a:solidFill>
                <a:ea typeface="楷体_GB2312"/>
              </a:rPr>
              <a:t> 	 M</a:t>
            </a:r>
            <a:r>
              <a:rPr lang="en-US" altLang="zh-CN" sz="2400" baseline="-20000" dirty="0">
                <a:solidFill>
                  <a:srgbClr val="FF0000"/>
                </a:solidFill>
                <a:ea typeface="楷体_GB2312"/>
              </a:rPr>
              <a:t>1</a:t>
            </a:r>
            <a:r>
              <a:rPr lang="en-US" altLang="zh-CN" sz="2400" dirty="0">
                <a:solidFill>
                  <a:srgbClr val="FF0000"/>
                </a:solidFill>
                <a:ea typeface="楷体_GB2312"/>
              </a:rPr>
              <a:t> 	 M</a:t>
            </a:r>
            <a:r>
              <a:rPr lang="en-US" altLang="zh-CN" sz="2400" baseline="-20000" dirty="0">
                <a:solidFill>
                  <a:srgbClr val="FF0000"/>
                </a:solidFill>
                <a:ea typeface="楷体_GB2312"/>
              </a:rPr>
              <a:t>0</a:t>
            </a:r>
            <a:endParaRPr lang="en-US" altLang="zh-CN" sz="2400" baseline="-20000" dirty="0">
              <a:solidFill>
                <a:srgbClr val="FF0000"/>
              </a:solidFill>
              <a:ea typeface="楷体_GB2312"/>
            </a:endParaRPr>
          </a:p>
        </p:txBody>
      </p:sp>
      <p:sp>
        <p:nvSpPr>
          <p:cNvPr id="252935" name="Rectangle 9"/>
          <p:cNvSpPr/>
          <p:nvPr/>
        </p:nvSpPr>
        <p:spPr>
          <a:xfrm>
            <a:off x="398463" y="1993900"/>
            <a:ext cx="755650" cy="366713"/>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dirty="0">
                <a:solidFill>
                  <a:srgbClr val="FF0000"/>
                </a:solidFill>
                <a:ea typeface="楷体_GB2312"/>
              </a:rPr>
              <a:t>ICW1</a:t>
            </a:r>
            <a:endParaRPr lang="en-US" altLang="zh-CN" sz="1800" dirty="0">
              <a:solidFill>
                <a:srgbClr val="FF0000"/>
              </a:solidFill>
              <a:ea typeface="楷体_GB2312"/>
            </a:endParaRPr>
          </a:p>
        </p:txBody>
      </p:sp>
      <p:sp>
        <p:nvSpPr>
          <p:cNvPr id="252936" name="Rectangle 10"/>
          <p:cNvSpPr/>
          <p:nvPr/>
        </p:nvSpPr>
        <p:spPr>
          <a:xfrm>
            <a:off x="395288" y="3133725"/>
            <a:ext cx="755650" cy="366713"/>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dirty="0">
                <a:solidFill>
                  <a:srgbClr val="FF0000"/>
                </a:solidFill>
                <a:ea typeface="楷体_GB2312"/>
              </a:rPr>
              <a:t>ICW2</a:t>
            </a:r>
            <a:endParaRPr lang="en-US" altLang="zh-CN" sz="1800" dirty="0">
              <a:solidFill>
                <a:srgbClr val="FF0000"/>
              </a:solidFill>
              <a:ea typeface="楷体_GB2312"/>
            </a:endParaRPr>
          </a:p>
        </p:txBody>
      </p:sp>
      <p:sp>
        <p:nvSpPr>
          <p:cNvPr id="252937" name="Rectangle 11"/>
          <p:cNvSpPr/>
          <p:nvPr/>
        </p:nvSpPr>
        <p:spPr>
          <a:xfrm>
            <a:off x="395288" y="4381500"/>
            <a:ext cx="869950" cy="366713"/>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dirty="0">
                <a:solidFill>
                  <a:srgbClr val="FF0000"/>
                </a:solidFill>
                <a:ea typeface="楷体_GB2312"/>
              </a:rPr>
              <a:t>OCW1</a:t>
            </a:r>
            <a:endParaRPr lang="en-US" altLang="zh-CN" sz="1800" dirty="0">
              <a:solidFill>
                <a:srgbClr val="FF0000"/>
              </a:solidFill>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2275"/>
                                        </p:tgtEl>
                                        <p:attrNameLst>
                                          <p:attrName>style.visibility</p:attrName>
                                        </p:attrNameLst>
                                      </p:cBhvr>
                                      <p:to>
                                        <p:strVal val="visible"/>
                                      </p:to>
                                    </p:set>
                                    <p:animEffect transition="in" filter="blinds(horizontal)">
                                      <p:cBhvr>
                                        <p:cTn id="7" dur="500"/>
                                        <p:tgtEl>
                                          <p:spTgt spid="182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ldLvl="0" animBg="1"/>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3954" name="Rectangle 5"/>
          <p:cNvSpPr>
            <a:spLocks noGrp="1" noChangeAspect="1"/>
          </p:cNvSpPr>
          <p:nvPr>
            <p:ph type="title" idx="4294967295"/>
          </p:nvPr>
        </p:nvSpPr>
        <p:spPr>
          <a:xfrm>
            <a:off x="4356100" y="376238"/>
            <a:ext cx="4714875" cy="503237"/>
          </a:xfrm>
        </p:spPr>
        <p:txBody>
          <a:bodyPr vert="horz" wrap="square" lIns="91440" tIns="45720" rIns="91440" bIns="45720" anchor="b" anchorCtr="0"/>
          <a:p>
            <a:pPr algn="r"/>
            <a:r>
              <a:rPr lang="en-US" altLang="zh-CN" sz="2800" dirty="0"/>
              <a:t>8259</a:t>
            </a:r>
            <a:r>
              <a:rPr lang="zh-CN" altLang="en-US" sz="2800" dirty="0"/>
              <a:t>与计算机的连接</a:t>
            </a:r>
            <a:endParaRPr lang="zh-CN" altLang="en-US" sz="2800" dirty="0"/>
          </a:p>
        </p:txBody>
      </p:sp>
      <p:sp>
        <p:nvSpPr>
          <p:cNvPr id="253955" name="Rectangle 3"/>
          <p:cNvSpPr>
            <a:spLocks noGrp="1" noChangeAspect="1"/>
          </p:cNvSpPr>
          <p:nvPr>
            <p:ph type="body" sz="half" idx="4294967295"/>
          </p:nvPr>
        </p:nvSpPr>
        <p:spPr>
          <a:xfrm>
            <a:off x="323850" y="549275"/>
            <a:ext cx="8569325" cy="5397500"/>
          </a:xfrm>
        </p:spPr>
        <p:txBody>
          <a:bodyPr vert="horz" wrap="square" lIns="91440" tIns="45720" rIns="91440" bIns="45720" anchor="t" anchorCtr="0"/>
          <a:lstStyle>
            <a:lvl1pPr lvl="0">
              <a:buClr>
                <a:schemeClr val="folHlink"/>
              </a:buClr>
              <a:buSzPct val="60000"/>
              <a:buFont typeface="Wingdings" panose="05000000000000000000" pitchFamily="2" charset="2"/>
              <a:defRPr sz="2400"/>
            </a:lvl1pPr>
            <a:lvl2pPr lvl="1">
              <a:buClr>
                <a:schemeClr val="hlink"/>
              </a:buClr>
              <a:buSzPct val="55000"/>
              <a:buFont typeface="Wingdings" panose="05000000000000000000" pitchFamily="2" charset="2"/>
              <a:defRPr sz="2000"/>
            </a:lvl2pPr>
            <a:lvl3pPr lvl="2">
              <a:buClr>
                <a:schemeClr val="folHlink"/>
              </a:buClr>
              <a:buSzPct val="50000"/>
              <a:buFont typeface="Wingdings" panose="05000000000000000000" pitchFamily="2" charset="2"/>
              <a:defRPr sz="1800"/>
            </a:lvl3pPr>
            <a:lvl4pPr lvl="3">
              <a:buClr>
                <a:schemeClr val="accent2"/>
              </a:buClr>
              <a:buSzPct val="55000"/>
              <a:buFont typeface="Wingdings" panose="05000000000000000000" pitchFamily="2" charset="2"/>
              <a:defRPr sz="1800"/>
            </a:lvl4pPr>
            <a:lvl5pPr lvl="4">
              <a:buClr>
                <a:schemeClr val="accent1"/>
              </a:buClr>
              <a:buSzPct val="50000"/>
              <a:buFont typeface="Wingdings" panose="05000000000000000000" pitchFamily="2" charset="2"/>
              <a:defRPr sz="1800"/>
            </a:lvl5pPr>
          </a:lstStyle>
          <a:p>
            <a:pPr marL="812800" lvl="0" indent="-812800">
              <a:lnSpc>
                <a:spcPct val="120000"/>
              </a:lnSpc>
              <a:buNone/>
            </a:pPr>
            <a:endParaRPr lang="en-US" altLang="zh-CN" sz="2000" dirty="0">
              <a:solidFill>
                <a:srgbClr val="0000FF"/>
              </a:solidFill>
            </a:endParaRPr>
          </a:p>
          <a:p>
            <a:pPr marL="812800" lvl="0" indent="-812800">
              <a:lnSpc>
                <a:spcPct val="120000"/>
              </a:lnSpc>
              <a:buNone/>
            </a:pPr>
            <a:r>
              <a:rPr lang="en-US" altLang="zh-CN" sz="2000" dirty="0">
                <a:solidFill>
                  <a:srgbClr val="0000FF"/>
                </a:solidFill>
              </a:rPr>
              <a:t>8259A</a:t>
            </a:r>
            <a:r>
              <a:rPr lang="zh-CN" altLang="en-US" sz="2000" dirty="0">
                <a:solidFill>
                  <a:srgbClr val="0000FF"/>
                </a:solidFill>
              </a:rPr>
              <a:t>单片工作方式的接口电路</a:t>
            </a:r>
            <a:endParaRPr lang="zh-CN" altLang="en-US" sz="2000" dirty="0">
              <a:solidFill>
                <a:srgbClr val="0000FF"/>
              </a:solidFill>
            </a:endParaRPr>
          </a:p>
        </p:txBody>
      </p:sp>
      <p:sp>
        <p:nvSpPr>
          <p:cNvPr id="253956" name="Rectangle 253"/>
          <p:cNvSpPr/>
          <p:nvPr/>
        </p:nvSpPr>
        <p:spPr>
          <a:xfrm>
            <a:off x="5257800" y="3860800"/>
            <a:ext cx="3778250" cy="28702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800100" lvl="1" indent="-342900">
              <a:lnSpc>
                <a:spcPct val="130000"/>
              </a:lnSpc>
              <a:spcBef>
                <a:spcPct val="0"/>
              </a:spcBef>
              <a:spcAft>
                <a:spcPct val="0"/>
              </a:spcAft>
              <a:buClr>
                <a:srgbClr val="A50021"/>
              </a:buClr>
              <a:buSzTx/>
              <a:buFont typeface="Wingdings" panose="05000000000000000000" pitchFamily="2" charset="2"/>
              <a:buChar char="l"/>
            </a:pPr>
            <a:r>
              <a:rPr lang="en-US" altLang="zh-CN" sz="2000" i="1" dirty="0">
                <a:ea typeface="楷体_GB2312"/>
              </a:rPr>
              <a:t>  </a:t>
            </a:r>
            <a:r>
              <a:rPr lang="zh-CN" altLang="en-US" sz="2000" i="1" dirty="0">
                <a:ea typeface="楷体_GB2312"/>
              </a:rPr>
              <a:t>高位地址线</a:t>
            </a:r>
            <a:r>
              <a:rPr lang="en-US" altLang="zh-CN" sz="2000" i="1" dirty="0">
                <a:ea typeface="楷体_GB2312"/>
              </a:rPr>
              <a:t>A15~A5</a:t>
            </a:r>
            <a:r>
              <a:rPr lang="zh-CN" altLang="en-US" sz="2000" i="1" dirty="0">
                <a:ea typeface="楷体_GB2312"/>
              </a:rPr>
              <a:t>，通过74</a:t>
            </a:r>
            <a:r>
              <a:rPr lang="en-US" altLang="zh-CN" sz="2000" i="1" dirty="0">
                <a:ea typeface="楷体_GB2312"/>
              </a:rPr>
              <a:t>LS30</a:t>
            </a:r>
            <a:r>
              <a:rPr lang="zh-CN" altLang="en-US" sz="2000" i="1" dirty="0">
                <a:ea typeface="楷体_GB2312"/>
              </a:rPr>
              <a:t>（</a:t>
            </a:r>
            <a:r>
              <a:rPr lang="en-US" altLang="zh-CN" sz="2000" i="1" dirty="0">
                <a:ea typeface="楷体_GB2312"/>
              </a:rPr>
              <a:t>8</a:t>
            </a:r>
            <a:r>
              <a:rPr lang="zh-CN" altLang="en-US" sz="2000" i="1" dirty="0">
                <a:ea typeface="楷体_GB2312"/>
              </a:rPr>
              <a:t>输入与非门）和</a:t>
            </a:r>
            <a:r>
              <a:rPr lang="en-US" altLang="zh-CN" sz="2000" i="1" dirty="0">
                <a:ea typeface="楷体_GB2312"/>
              </a:rPr>
              <a:t>74LS138</a:t>
            </a:r>
            <a:r>
              <a:rPr lang="zh-CN" altLang="en-US" sz="2000" i="1" dirty="0">
                <a:ea typeface="楷体_GB2312"/>
              </a:rPr>
              <a:t>进行部分译码，控制</a:t>
            </a:r>
            <a:r>
              <a:rPr lang="en-US" altLang="zh-CN" sz="2000" i="1" dirty="0">
                <a:ea typeface="楷体_GB2312"/>
              </a:rPr>
              <a:t>/CS</a:t>
            </a:r>
            <a:r>
              <a:rPr lang="zh-CN" altLang="en-US" sz="2000" i="1" dirty="0">
                <a:ea typeface="楷体_GB2312"/>
              </a:rPr>
              <a:t>，端口范围为</a:t>
            </a:r>
            <a:r>
              <a:rPr lang="en-US" altLang="zh-CN" sz="2000" i="1" dirty="0">
                <a:ea typeface="楷体_GB2312"/>
              </a:rPr>
              <a:t>020H~03FH</a:t>
            </a:r>
            <a:r>
              <a:rPr lang="zh-CN" altLang="en-US" sz="2000" i="1" dirty="0">
                <a:ea typeface="楷体_GB2312"/>
              </a:rPr>
              <a:t>，常用</a:t>
            </a:r>
            <a:r>
              <a:rPr lang="en-US" altLang="zh-CN" sz="2000" i="1" dirty="0">
                <a:ea typeface="楷体_GB2312"/>
              </a:rPr>
              <a:t>20H</a:t>
            </a:r>
            <a:r>
              <a:rPr lang="zh-CN" altLang="en-US" sz="2000" i="1" dirty="0">
                <a:ea typeface="楷体_GB2312"/>
              </a:rPr>
              <a:t>和</a:t>
            </a:r>
            <a:r>
              <a:rPr lang="en-US" altLang="zh-CN" sz="2000" i="1" dirty="0">
                <a:ea typeface="楷体_GB2312"/>
              </a:rPr>
              <a:t>22H</a:t>
            </a:r>
            <a:r>
              <a:rPr lang="zh-CN" altLang="en-US" sz="2000" i="1" dirty="0">
                <a:ea typeface="楷体_GB2312"/>
              </a:rPr>
              <a:t>两个偶端口</a:t>
            </a:r>
            <a:endParaRPr lang="zh-CN" altLang="en-US" sz="2000" i="1" dirty="0">
              <a:ea typeface="楷体_GB2312"/>
            </a:endParaRPr>
          </a:p>
        </p:txBody>
      </p:sp>
      <p:sp>
        <p:nvSpPr>
          <p:cNvPr id="253957" name="Rectangle 254"/>
          <p:cNvSpPr/>
          <p:nvPr/>
        </p:nvSpPr>
        <p:spPr>
          <a:xfrm>
            <a:off x="5186363" y="1076325"/>
            <a:ext cx="3981450" cy="461963"/>
          </a:xfrm>
          <a:prstGeom prst="rect">
            <a:avLst/>
          </a:prstGeom>
          <a:solidFill>
            <a:schemeClr val="bg1"/>
          </a:solid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457200" lvl="1" indent="0">
              <a:lnSpc>
                <a:spcPct val="120000"/>
              </a:lnSpc>
              <a:spcBef>
                <a:spcPct val="0"/>
              </a:spcBef>
              <a:spcAft>
                <a:spcPct val="0"/>
              </a:spcAft>
              <a:buClr>
                <a:srgbClr val="A50021"/>
              </a:buClr>
              <a:buSzTx/>
              <a:buFont typeface="Wingdings" panose="05000000000000000000" pitchFamily="2" charset="2"/>
              <a:buChar char="l"/>
            </a:pPr>
            <a:r>
              <a:rPr lang="en-US" altLang="zh-CN" sz="2000" i="1" dirty="0">
                <a:ea typeface="楷体_GB2312"/>
              </a:rPr>
              <a:t>   8259</a:t>
            </a:r>
            <a:r>
              <a:rPr lang="zh-CN" altLang="en-US" sz="2000" i="1" dirty="0">
                <a:ea typeface="楷体_GB2312"/>
              </a:rPr>
              <a:t>采用</a:t>
            </a:r>
            <a:r>
              <a:rPr lang="en-US" altLang="zh-CN" sz="2000" i="1" dirty="0">
                <a:ea typeface="楷体_GB2312"/>
              </a:rPr>
              <a:t>D7~D0</a:t>
            </a:r>
            <a:r>
              <a:rPr lang="zh-CN" altLang="en-US" sz="2000" i="1" dirty="0">
                <a:ea typeface="楷体_GB2312"/>
              </a:rPr>
              <a:t>传送数据</a:t>
            </a:r>
            <a:endParaRPr lang="zh-CN" altLang="en-US" sz="2000" i="1" dirty="0">
              <a:ea typeface="楷体_GB2312"/>
            </a:endParaRPr>
          </a:p>
        </p:txBody>
      </p:sp>
      <p:sp>
        <p:nvSpPr>
          <p:cNvPr id="253958" name="Rectangle 255"/>
          <p:cNvSpPr/>
          <p:nvPr/>
        </p:nvSpPr>
        <p:spPr>
          <a:xfrm>
            <a:off x="7218363" y="1874838"/>
            <a:ext cx="2052637" cy="180022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40000"/>
              </a:lnSpc>
              <a:spcBef>
                <a:spcPct val="0"/>
              </a:spcBef>
              <a:spcAft>
                <a:spcPct val="0"/>
              </a:spcAft>
              <a:buClr>
                <a:srgbClr val="A50021"/>
              </a:buClr>
              <a:buSzTx/>
              <a:buFont typeface="Wingdings" panose="05000000000000000000" pitchFamily="2" charset="2"/>
              <a:buChar char="l"/>
            </a:pPr>
            <a:r>
              <a:rPr lang="en-US" altLang="zh-CN" sz="2000" b="0" dirty="0">
                <a:solidFill>
                  <a:schemeClr val="tx1"/>
                </a:solidFill>
                <a:ea typeface="楷体_GB2312"/>
              </a:rPr>
              <a:t> </a:t>
            </a:r>
            <a:r>
              <a:rPr lang="zh-CN" altLang="en-US" sz="2000" b="0" dirty="0">
                <a:solidFill>
                  <a:schemeClr val="tx1"/>
                </a:solidFill>
                <a:ea typeface="楷体_GB2312"/>
              </a:rPr>
              <a:t>低位地址线</a:t>
            </a:r>
            <a:r>
              <a:rPr lang="en-US" altLang="zh-CN" sz="2000" b="0" dirty="0">
                <a:solidFill>
                  <a:schemeClr val="tx1"/>
                </a:solidFill>
                <a:ea typeface="楷体_GB2312"/>
              </a:rPr>
              <a:t>A1</a:t>
            </a:r>
            <a:r>
              <a:rPr lang="zh-CN" altLang="en-US" sz="2000" b="0" dirty="0">
                <a:solidFill>
                  <a:schemeClr val="tx1"/>
                </a:solidFill>
                <a:ea typeface="楷体_GB2312"/>
              </a:rPr>
              <a:t>接</a:t>
            </a:r>
            <a:r>
              <a:rPr lang="en-US" altLang="zh-CN" sz="2000" b="0" dirty="0">
                <a:solidFill>
                  <a:schemeClr val="tx1"/>
                </a:solidFill>
                <a:ea typeface="楷体_GB2312"/>
              </a:rPr>
              <a:t>8259</a:t>
            </a:r>
            <a:r>
              <a:rPr lang="zh-CN" altLang="en-US" sz="2000" b="0" dirty="0">
                <a:solidFill>
                  <a:schemeClr val="tx1"/>
                </a:solidFill>
                <a:ea typeface="楷体_GB2312"/>
              </a:rPr>
              <a:t>的</a:t>
            </a:r>
            <a:r>
              <a:rPr lang="en-US" altLang="zh-CN" sz="2000" b="0" dirty="0">
                <a:solidFill>
                  <a:schemeClr val="tx1"/>
                </a:solidFill>
                <a:ea typeface="楷体_GB2312"/>
              </a:rPr>
              <a:t>A0</a:t>
            </a:r>
            <a:r>
              <a:rPr lang="zh-CN" altLang="en-US" sz="2000" b="0" dirty="0">
                <a:solidFill>
                  <a:schemeClr val="tx1"/>
                </a:solidFill>
                <a:ea typeface="楷体_GB2312"/>
              </a:rPr>
              <a:t>引脚，用于选择</a:t>
            </a:r>
            <a:r>
              <a:rPr lang="en-US" altLang="zh-CN" sz="2000" b="0" dirty="0">
                <a:solidFill>
                  <a:schemeClr val="tx1"/>
                </a:solidFill>
                <a:ea typeface="楷体_GB2312"/>
              </a:rPr>
              <a:t>8259</a:t>
            </a:r>
            <a:r>
              <a:rPr lang="zh-CN" altLang="en-US" sz="2000" b="0" dirty="0">
                <a:solidFill>
                  <a:schemeClr val="tx1"/>
                </a:solidFill>
                <a:ea typeface="楷体_GB2312"/>
              </a:rPr>
              <a:t>内部寄存器</a:t>
            </a:r>
            <a:endParaRPr lang="zh-CN" altLang="en-US" sz="2000" b="0" dirty="0">
              <a:solidFill>
                <a:schemeClr val="tx1"/>
              </a:solidFill>
              <a:ea typeface="楷体_GB2312"/>
            </a:endParaRPr>
          </a:p>
        </p:txBody>
      </p:sp>
      <p:sp>
        <p:nvSpPr>
          <p:cNvPr id="253959" name="Rectangle 9"/>
          <p:cNvSpPr/>
          <p:nvPr/>
        </p:nvSpPr>
        <p:spPr>
          <a:xfrm>
            <a:off x="287338" y="1658938"/>
            <a:ext cx="2921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D7</a:t>
            </a:r>
            <a:endParaRPr lang="en-US" altLang="zh-CN" sz="1800" b="0" dirty="0">
              <a:solidFill>
                <a:schemeClr val="tx1"/>
              </a:solidFill>
              <a:ea typeface="楷体_GB2312"/>
            </a:endParaRPr>
          </a:p>
        </p:txBody>
      </p:sp>
      <p:sp>
        <p:nvSpPr>
          <p:cNvPr id="253960" name="Rectangle 10"/>
          <p:cNvSpPr/>
          <p:nvPr/>
        </p:nvSpPr>
        <p:spPr>
          <a:xfrm>
            <a:off x="366713" y="1870075"/>
            <a:ext cx="13335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t>
            </a:r>
            <a:endParaRPr lang="en-US" altLang="zh-CN" sz="1800" b="0" dirty="0">
              <a:solidFill>
                <a:schemeClr val="tx1"/>
              </a:solidFill>
              <a:ea typeface="楷体_GB2312"/>
            </a:endParaRPr>
          </a:p>
        </p:txBody>
      </p:sp>
      <p:sp>
        <p:nvSpPr>
          <p:cNvPr id="253961" name="Rectangle 11"/>
          <p:cNvSpPr/>
          <p:nvPr/>
        </p:nvSpPr>
        <p:spPr>
          <a:xfrm>
            <a:off x="287338" y="2081213"/>
            <a:ext cx="2921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D0</a:t>
            </a:r>
            <a:endParaRPr lang="en-US" altLang="zh-CN" sz="1800" b="0" dirty="0">
              <a:solidFill>
                <a:schemeClr val="tx1"/>
              </a:solidFill>
              <a:ea typeface="楷体_GB2312"/>
            </a:endParaRPr>
          </a:p>
        </p:txBody>
      </p:sp>
      <p:grpSp>
        <p:nvGrpSpPr>
          <p:cNvPr id="253962" name="Group 18"/>
          <p:cNvGrpSpPr/>
          <p:nvPr/>
        </p:nvGrpSpPr>
        <p:grpSpPr>
          <a:xfrm>
            <a:off x="603250" y="1771650"/>
            <a:ext cx="398463" cy="420688"/>
            <a:chOff x="0" y="0"/>
            <a:chExt cx="251" cy="265"/>
          </a:xfrm>
        </p:grpSpPr>
        <p:grpSp>
          <p:nvGrpSpPr>
            <p:cNvPr id="254196" name="Group 14"/>
            <p:cNvGrpSpPr/>
            <p:nvPr/>
          </p:nvGrpSpPr>
          <p:grpSpPr>
            <a:xfrm>
              <a:off x="0" y="0"/>
              <a:ext cx="251" cy="130"/>
              <a:chOff x="0" y="0"/>
              <a:chExt cx="251" cy="130"/>
            </a:xfrm>
          </p:grpSpPr>
          <p:sp>
            <p:nvSpPr>
              <p:cNvPr id="254200" name="Line 12"/>
              <p:cNvSpPr/>
              <p:nvPr/>
            </p:nvSpPr>
            <p:spPr>
              <a:xfrm flipV="1">
                <a:off x="0" y="0"/>
                <a:ext cx="244" cy="130"/>
              </a:xfrm>
              <a:prstGeom prst="line">
                <a:avLst/>
              </a:prstGeom>
              <a:ln w="17463" cap="flat" cmpd="sng">
                <a:solidFill>
                  <a:srgbClr val="000000"/>
                </a:solidFill>
                <a:prstDash val="solid"/>
                <a:bevel/>
                <a:headEnd type="none" w="med" len="med"/>
                <a:tailEnd type="none" w="med" len="med"/>
              </a:ln>
            </p:spPr>
          </p:sp>
          <p:sp>
            <p:nvSpPr>
              <p:cNvPr id="254201" name="Freeform 13"/>
              <p:cNvSpPr/>
              <p:nvPr/>
            </p:nvSpPr>
            <p:spPr>
              <a:xfrm>
                <a:off x="250" y="0"/>
                <a:ext cx="1" cy="95"/>
              </a:xfrm>
              <a:custGeom>
                <a:avLst/>
                <a:gdLst/>
                <a:ahLst/>
                <a:cxnLst>
                  <a:cxn ang="0">
                    <a:pos x="0" y="0"/>
                  </a:cxn>
                  <a:cxn ang="0">
                    <a:pos x="0" y="17"/>
                  </a:cxn>
                  <a:cxn ang="0">
                    <a:pos x="0" y="95"/>
                  </a:cxn>
                </a:cxnLst>
                <a:pathLst>
                  <a:path w="1" h="95">
                    <a:moveTo>
                      <a:pt x="0" y="0"/>
                    </a:moveTo>
                    <a:lnTo>
                      <a:pt x="0" y="17"/>
                    </a:lnTo>
                    <a:lnTo>
                      <a:pt x="0" y="95"/>
                    </a:lnTo>
                  </a:path>
                </a:pathLst>
              </a:custGeom>
              <a:noFill/>
              <a:ln w="17463" cap="flat" cmpd="sng">
                <a:solidFill>
                  <a:srgbClr val="000000">
                    <a:alpha val="100000"/>
                  </a:srgbClr>
                </a:solidFill>
                <a:prstDash val="solid"/>
                <a:bevel/>
                <a:headEnd type="none" w="med" len="med"/>
                <a:tailEnd type="none" w="med" len="med"/>
              </a:ln>
            </p:spPr>
            <p:txBody>
              <a:bodyPr/>
              <a:p>
                <a:endParaRPr lang="zh-CN" altLang="en-US"/>
              </a:p>
            </p:txBody>
          </p:sp>
        </p:grpSp>
        <p:grpSp>
          <p:nvGrpSpPr>
            <p:cNvPr id="254197" name="Group 17"/>
            <p:cNvGrpSpPr/>
            <p:nvPr/>
          </p:nvGrpSpPr>
          <p:grpSpPr>
            <a:xfrm>
              <a:off x="0" y="134"/>
              <a:ext cx="251" cy="131"/>
              <a:chOff x="0" y="0"/>
              <a:chExt cx="251" cy="131"/>
            </a:xfrm>
          </p:grpSpPr>
          <p:sp>
            <p:nvSpPr>
              <p:cNvPr id="254198" name="Line 15"/>
              <p:cNvSpPr/>
              <p:nvPr/>
            </p:nvSpPr>
            <p:spPr>
              <a:xfrm>
                <a:off x="0" y="0"/>
                <a:ext cx="244" cy="131"/>
              </a:xfrm>
              <a:prstGeom prst="line">
                <a:avLst/>
              </a:prstGeom>
              <a:ln w="17463" cap="flat" cmpd="sng">
                <a:solidFill>
                  <a:srgbClr val="000000"/>
                </a:solidFill>
                <a:prstDash val="solid"/>
                <a:bevel/>
                <a:headEnd type="none" w="med" len="med"/>
                <a:tailEnd type="none" w="med" len="med"/>
              </a:ln>
            </p:spPr>
          </p:sp>
          <p:sp>
            <p:nvSpPr>
              <p:cNvPr id="254199" name="Freeform 16"/>
              <p:cNvSpPr/>
              <p:nvPr/>
            </p:nvSpPr>
            <p:spPr>
              <a:xfrm>
                <a:off x="250" y="36"/>
                <a:ext cx="1" cy="95"/>
              </a:xfrm>
              <a:custGeom>
                <a:avLst/>
                <a:gdLst/>
                <a:ahLst/>
                <a:cxnLst>
                  <a:cxn ang="0">
                    <a:pos x="0" y="95"/>
                  </a:cxn>
                  <a:cxn ang="0">
                    <a:pos x="0" y="79"/>
                  </a:cxn>
                  <a:cxn ang="0">
                    <a:pos x="0" y="0"/>
                  </a:cxn>
                </a:cxnLst>
                <a:pathLst>
                  <a:path w="1" h="95">
                    <a:moveTo>
                      <a:pt x="0" y="95"/>
                    </a:moveTo>
                    <a:lnTo>
                      <a:pt x="0" y="79"/>
                    </a:lnTo>
                    <a:lnTo>
                      <a:pt x="0" y="0"/>
                    </a:lnTo>
                  </a:path>
                </a:pathLst>
              </a:custGeom>
              <a:noFill/>
              <a:ln w="17463" cap="flat" cmpd="sng">
                <a:solidFill>
                  <a:srgbClr val="000000">
                    <a:alpha val="100000"/>
                  </a:srgbClr>
                </a:solidFill>
                <a:prstDash val="solid"/>
                <a:bevel/>
                <a:headEnd type="none" w="med" len="med"/>
                <a:tailEnd type="none" w="med" len="med"/>
              </a:ln>
            </p:spPr>
            <p:txBody>
              <a:bodyPr/>
              <a:p>
                <a:endParaRPr lang="zh-CN" altLang="en-US"/>
              </a:p>
            </p:txBody>
          </p:sp>
        </p:grpSp>
      </p:grpSp>
      <p:sp>
        <p:nvSpPr>
          <p:cNvPr id="253963" name="Rectangle 19"/>
          <p:cNvSpPr/>
          <p:nvPr/>
        </p:nvSpPr>
        <p:spPr>
          <a:xfrm>
            <a:off x="2616200" y="1655763"/>
            <a:ext cx="1790700" cy="2362200"/>
          </a:xfrm>
          <a:prstGeom prst="rect">
            <a:avLst/>
          </a:prstGeom>
          <a:solidFill>
            <a:srgbClr val="CCFF66"/>
          </a:solidFill>
          <a:ln w="254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3964" name="Rectangle 20"/>
          <p:cNvSpPr/>
          <p:nvPr/>
        </p:nvSpPr>
        <p:spPr>
          <a:xfrm>
            <a:off x="2693988" y="1654175"/>
            <a:ext cx="2921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D7</a:t>
            </a:r>
            <a:endParaRPr lang="en-US" altLang="zh-CN" sz="1800" b="0" dirty="0">
              <a:solidFill>
                <a:schemeClr val="tx1"/>
              </a:solidFill>
              <a:ea typeface="楷体_GB2312"/>
            </a:endParaRPr>
          </a:p>
        </p:txBody>
      </p:sp>
      <p:sp>
        <p:nvSpPr>
          <p:cNvPr id="253965" name="Rectangle 21"/>
          <p:cNvSpPr/>
          <p:nvPr/>
        </p:nvSpPr>
        <p:spPr>
          <a:xfrm>
            <a:off x="2725738" y="1865313"/>
            <a:ext cx="228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b="0" dirty="0">
                <a:solidFill>
                  <a:schemeClr val="tx1"/>
                </a:solidFill>
                <a:ea typeface="楷体_GB2312"/>
              </a:rPr>
              <a:t>～</a:t>
            </a:r>
            <a:endParaRPr lang="zh-CN" altLang="en-US" sz="1800" b="0" dirty="0">
              <a:solidFill>
                <a:schemeClr val="tx1"/>
              </a:solidFill>
              <a:ea typeface="楷体_GB2312"/>
            </a:endParaRPr>
          </a:p>
        </p:txBody>
      </p:sp>
      <p:sp>
        <p:nvSpPr>
          <p:cNvPr id="253966" name="Rectangle 22"/>
          <p:cNvSpPr/>
          <p:nvPr/>
        </p:nvSpPr>
        <p:spPr>
          <a:xfrm>
            <a:off x="2693988" y="2076450"/>
            <a:ext cx="2921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D0</a:t>
            </a:r>
            <a:endParaRPr lang="en-US" altLang="zh-CN" sz="1800" b="0" dirty="0">
              <a:solidFill>
                <a:schemeClr val="tx1"/>
              </a:solidFill>
              <a:ea typeface="楷体_GB2312"/>
            </a:endParaRPr>
          </a:p>
        </p:txBody>
      </p:sp>
      <p:sp>
        <p:nvSpPr>
          <p:cNvPr id="253967" name="Rectangle 23"/>
          <p:cNvSpPr/>
          <p:nvPr/>
        </p:nvSpPr>
        <p:spPr>
          <a:xfrm>
            <a:off x="2674938" y="2451100"/>
            <a:ext cx="3302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RD</a:t>
            </a:r>
            <a:endParaRPr lang="en-US" altLang="zh-CN" sz="1800" b="0" dirty="0">
              <a:solidFill>
                <a:schemeClr val="tx1"/>
              </a:solidFill>
              <a:ea typeface="楷体_GB2312"/>
            </a:endParaRPr>
          </a:p>
        </p:txBody>
      </p:sp>
      <p:sp>
        <p:nvSpPr>
          <p:cNvPr id="253968" name="Rectangle 24"/>
          <p:cNvSpPr/>
          <p:nvPr/>
        </p:nvSpPr>
        <p:spPr>
          <a:xfrm>
            <a:off x="2649538" y="2695575"/>
            <a:ext cx="3810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WR</a:t>
            </a:r>
            <a:endParaRPr lang="en-US" altLang="zh-CN" sz="1800" b="0" dirty="0">
              <a:solidFill>
                <a:schemeClr val="tx1"/>
              </a:solidFill>
              <a:ea typeface="楷体_GB2312"/>
            </a:endParaRPr>
          </a:p>
        </p:txBody>
      </p:sp>
      <p:sp>
        <p:nvSpPr>
          <p:cNvPr id="253969" name="Rectangle 25"/>
          <p:cNvSpPr/>
          <p:nvPr/>
        </p:nvSpPr>
        <p:spPr>
          <a:xfrm>
            <a:off x="2657475" y="2911475"/>
            <a:ext cx="3683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INT</a:t>
            </a:r>
            <a:endParaRPr lang="en-US" altLang="zh-CN" sz="1800" b="0" dirty="0">
              <a:solidFill>
                <a:schemeClr val="tx1"/>
              </a:solidFill>
              <a:ea typeface="楷体_GB2312"/>
            </a:endParaRPr>
          </a:p>
        </p:txBody>
      </p:sp>
      <p:sp>
        <p:nvSpPr>
          <p:cNvPr id="253970" name="Rectangle 26"/>
          <p:cNvSpPr/>
          <p:nvPr/>
        </p:nvSpPr>
        <p:spPr>
          <a:xfrm>
            <a:off x="2657475" y="3141663"/>
            <a:ext cx="533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INTA</a:t>
            </a:r>
            <a:endParaRPr lang="en-US" altLang="zh-CN" sz="1800" b="0" dirty="0">
              <a:solidFill>
                <a:schemeClr val="tx1"/>
              </a:solidFill>
              <a:ea typeface="楷体_GB2312"/>
            </a:endParaRPr>
          </a:p>
        </p:txBody>
      </p:sp>
      <p:sp>
        <p:nvSpPr>
          <p:cNvPr id="253971" name="Rectangle 27"/>
          <p:cNvSpPr/>
          <p:nvPr/>
        </p:nvSpPr>
        <p:spPr>
          <a:xfrm>
            <a:off x="2657475" y="3379788"/>
            <a:ext cx="2921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A0</a:t>
            </a:r>
            <a:endParaRPr lang="en-US" altLang="zh-CN" sz="1800" b="0" dirty="0">
              <a:solidFill>
                <a:schemeClr val="tx1"/>
              </a:solidFill>
              <a:ea typeface="楷体_GB2312"/>
            </a:endParaRPr>
          </a:p>
        </p:txBody>
      </p:sp>
      <p:sp>
        <p:nvSpPr>
          <p:cNvPr id="253972" name="Rectangle 28"/>
          <p:cNvSpPr/>
          <p:nvPr/>
        </p:nvSpPr>
        <p:spPr>
          <a:xfrm>
            <a:off x="2657475" y="3687763"/>
            <a:ext cx="3175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CS</a:t>
            </a:r>
            <a:endParaRPr lang="en-US" altLang="zh-CN" sz="1800" b="0" dirty="0">
              <a:solidFill>
                <a:schemeClr val="tx1"/>
              </a:solidFill>
              <a:ea typeface="楷体_GB2312"/>
            </a:endParaRPr>
          </a:p>
        </p:txBody>
      </p:sp>
      <p:sp>
        <p:nvSpPr>
          <p:cNvPr id="253973" name="Rectangle 29"/>
          <p:cNvSpPr/>
          <p:nvPr/>
        </p:nvSpPr>
        <p:spPr>
          <a:xfrm>
            <a:off x="3089275" y="2609850"/>
            <a:ext cx="749300" cy="3048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chemeClr val="tx1"/>
                </a:solidFill>
                <a:ea typeface="楷体_GB2312"/>
              </a:rPr>
              <a:t>8259A</a:t>
            </a:r>
            <a:endParaRPr lang="en-US" altLang="zh-CN" sz="2000" b="0" dirty="0">
              <a:solidFill>
                <a:schemeClr val="tx1"/>
              </a:solidFill>
              <a:ea typeface="楷体_GB2312"/>
            </a:endParaRPr>
          </a:p>
        </p:txBody>
      </p:sp>
      <p:sp>
        <p:nvSpPr>
          <p:cNvPr id="253974" name="Rectangle 30"/>
          <p:cNvSpPr/>
          <p:nvPr/>
        </p:nvSpPr>
        <p:spPr>
          <a:xfrm>
            <a:off x="3149600" y="1698625"/>
            <a:ext cx="6858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SP/EN</a:t>
            </a:r>
            <a:endParaRPr lang="en-US" altLang="zh-CN" sz="1800" b="0" dirty="0">
              <a:solidFill>
                <a:schemeClr val="tx1"/>
              </a:solidFill>
              <a:ea typeface="楷体_GB2312"/>
            </a:endParaRPr>
          </a:p>
        </p:txBody>
      </p:sp>
      <p:sp>
        <p:nvSpPr>
          <p:cNvPr id="253975" name="Rectangle 31"/>
          <p:cNvSpPr/>
          <p:nvPr/>
        </p:nvSpPr>
        <p:spPr>
          <a:xfrm>
            <a:off x="3952875" y="1660525"/>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IR0</a:t>
            </a:r>
            <a:endParaRPr lang="en-US" altLang="zh-CN" sz="1800" b="0" dirty="0">
              <a:solidFill>
                <a:schemeClr val="tx1"/>
              </a:solidFill>
              <a:ea typeface="楷体_GB2312"/>
            </a:endParaRPr>
          </a:p>
        </p:txBody>
      </p:sp>
      <p:sp>
        <p:nvSpPr>
          <p:cNvPr id="253976" name="Rectangle 32"/>
          <p:cNvSpPr/>
          <p:nvPr/>
        </p:nvSpPr>
        <p:spPr>
          <a:xfrm>
            <a:off x="3952875" y="187166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IR1</a:t>
            </a:r>
            <a:endParaRPr lang="en-US" altLang="zh-CN" sz="1800" b="0" dirty="0">
              <a:solidFill>
                <a:schemeClr val="tx1"/>
              </a:solidFill>
              <a:ea typeface="楷体_GB2312"/>
            </a:endParaRPr>
          </a:p>
        </p:txBody>
      </p:sp>
      <p:sp>
        <p:nvSpPr>
          <p:cNvPr id="253977" name="Rectangle 33"/>
          <p:cNvSpPr/>
          <p:nvPr/>
        </p:nvSpPr>
        <p:spPr>
          <a:xfrm>
            <a:off x="3952875" y="2082800"/>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IR2</a:t>
            </a:r>
            <a:endParaRPr lang="en-US" altLang="zh-CN" sz="1800" b="0" dirty="0">
              <a:solidFill>
                <a:schemeClr val="tx1"/>
              </a:solidFill>
              <a:ea typeface="楷体_GB2312"/>
            </a:endParaRPr>
          </a:p>
        </p:txBody>
      </p:sp>
      <p:sp>
        <p:nvSpPr>
          <p:cNvPr id="253978" name="Rectangle 34"/>
          <p:cNvSpPr/>
          <p:nvPr/>
        </p:nvSpPr>
        <p:spPr>
          <a:xfrm>
            <a:off x="3952875" y="2293938"/>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IR3</a:t>
            </a:r>
            <a:endParaRPr lang="en-US" altLang="zh-CN" sz="1800" b="0" dirty="0">
              <a:solidFill>
                <a:schemeClr val="tx1"/>
              </a:solidFill>
              <a:ea typeface="楷体_GB2312"/>
            </a:endParaRPr>
          </a:p>
        </p:txBody>
      </p:sp>
      <p:sp>
        <p:nvSpPr>
          <p:cNvPr id="253979" name="Rectangle 35"/>
          <p:cNvSpPr/>
          <p:nvPr/>
        </p:nvSpPr>
        <p:spPr>
          <a:xfrm>
            <a:off x="3952875" y="2503488"/>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IR4</a:t>
            </a:r>
            <a:endParaRPr lang="en-US" altLang="zh-CN" sz="1800" b="0" dirty="0">
              <a:solidFill>
                <a:schemeClr val="tx1"/>
              </a:solidFill>
              <a:ea typeface="楷体_GB2312"/>
            </a:endParaRPr>
          </a:p>
        </p:txBody>
      </p:sp>
      <p:sp>
        <p:nvSpPr>
          <p:cNvPr id="253980" name="Rectangle 36"/>
          <p:cNvSpPr/>
          <p:nvPr/>
        </p:nvSpPr>
        <p:spPr>
          <a:xfrm>
            <a:off x="3952875" y="2714625"/>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IR5</a:t>
            </a:r>
            <a:endParaRPr lang="en-US" altLang="zh-CN" sz="1800" b="0" dirty="0">
              <a:solidFill>
                <a:schemeClr val="tx1"/>
              </a:solidFill>
              <a:ea typeface="楷体_GB2312"/>
            </a:endParaRPr>
          </a:p>
        </p:txBody>
      </p:sp>
      <p:sp>
        <p:nvSpPr>
          <p:cNvPr id="253981" name="Rectangle 37"/>
          <p:cNvSpPr/>
          <p:nvPr/>
        </p:nvSpPr>
        <p:spPr>
          <a:xfrm>
            <a:off x="3952875" y="292576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IR6</a:t>
            </a:r>
            <a:endParaRPr lang="en-US" altLang="zh-CN" sz="1800" b="0" dirty="0">
              <a:solidFill>
                <a:schemeClr val="tx1"/>
              </a:solidFill>
              <a:ea typeface="楷体_GB2312"/>
            </a:endParaRPr>
          </a:p>
        </p:txBody>
      </p:sp>
      <p:sp>
        <p:nvSpPr>
          <p:cNvPr id="253982" name="Rectangle 38"/>
          <p:cNvSpPr/>
          <p:nvPr/>
        </p:nvSpPr>
        <p:spPr>
          <a:xfrm>
            <a:off x="3952875" y="3136900"/>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IR7</a:t>
            </a:r>
            <a:endParaRPr lang="en-US" altLang="zh-CN" sz="1800" b="0" dirty="0">
              <a:solidFill>
                <a:schemeClr val="tx1"/>
              </a:solidFill>
              <a:ea typeface="楷体_GB2312"/>
            </a:endParaRPr>
          </a:p>
        </p:txBody>
      </p:sp>
      <p:sp>
        <p:nvSpPr>
          <p:cNvPr id="253983" name="Rectangle 39"/>
          <p:cNvSpPr/>
          <p:nvPr/>
        </p:nvSpPr>
        <p:spPr>
          <a:xfrm>
            <a:off x="3703638" y="3348038"/>
            <a:ext cx="609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CAS2</a:t>
            </a:r>
            <a:endParaRPr lang="en-US" altLang="zh-CN" sz="1800" b="0" dirty="0">
              <a:solidFill>
                <a:schemeClr val="tx1"/>
              </a:solidFill>
              <a:ea typeface="楷体_GB2312"/>
            </a:endParaRPr>
          </a:p>
        </p:txBody>
      </p:sp>
      <p:sp>
        <p:nvSpPr>
          <p:cNvPr id="253984" name="Rectangle 40"/>
          <p:cNvSpPr/>
          <p:nvPr/>
        </p:nvSpPr>
        <p:spPr>
          <a:xfrm>
            <a:off x="3665538" y="3559175"/>
            <a:ext cx="609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CAS1</a:t>
            </a:r>
            <a:endParaRPr lang="en-US" altLang="zh-CN" sz="1800" b="0" dirty="0">
              <a:solidFill>
                <a:schemeClr val="tx1"/>
              </a:solidFill>
              <a:ea typeface="楷体_GB2312"/>
            </a:endParaRPr>
          </a:p>
        </p:txBody>
      </p:sp>
      <p:sp>
        <p:nvSpPr>
          <p:cNvPr id="253985" name="Rectangle 41"/>
          <p:cNvSpPr/>
          <p:nvPr/>
        </p:nvSpPr>
        <p:spPr>
          <a:xfrm>
            <a:off x="3665538" y="3770313"/>
            <a:ext cx="609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CAS0</a:t>
            </a:r>
            <a:endParaRPr lang="en-US" altLang="zh-CN" sz="1800" b="0" dirty="0">
              <a:solidFill>
                <a:schemeClr val="tx1"/>
              </a:solidFill>
              <a:ea typeface="楷体_GB2312"/>
            </a:endParaRPr>
          </a:p>
        </p:txBody>
      </p:sp>
      <p:sp>
        <p:nvSpPr>
          <p:cNvPr id="253986" name="Rectangle 42"/>
          <p:cNvSpPr/>
          <p:nvPr/>
        </p:nvSpPr>
        <p:spPr>
          <a:xfrm>
            <a:off x="4913313" y="1682750"/>
            <a:ext cx="533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IRQ0</a:t>
            </a:r>
            <a:endParaRPr lang="en-US" altLang="zh-CN" sz="1800" b="0" dirty="0">
              <a:solidFill>
                <a:schemeClr val="tx1"/>
              </a:solidFill>
              <a:ea typeface="楷体_GB2312"/>
            </a:endParaRPr>
          </a:p>
        </p:txBody>
      </p:sp>
      <p:sp>
        <p:nvSpPr>
          <p:cNvPr id="253987" name="Rectangle 43"/>
          <p:cNvSpPr/>
          <p:nvPr/>
        </p:nvSpPr>
        <p:spPr>
          <a:xfrm>
            <a:off x="4913313" y="1893888"/>
            <a:ext cx="533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IRQ1</a:t>
            </a:r>
            <a:endParaRPr lang="en-US" altLang="zh-CN" sz="1800" b="0" dirty="0">
              <a:solidFill>
                <a:schemeClr val="tx1"/>
              </a:solidFill>
              <a:ea typeface="楷体_GB2312"/>
            </a:endParaRPr>
          </a:p>
        </p:txBody>
      </p:sp>
      <p:sp>
        <p:nvSpPr>
          <p:cNvPr id="253988" name="Rectangle 44"/>
          <p:cNvSpPr/>
          <p:nvPr/>
        </p:nvSpPr>
        <p:spPr>
          <a:xfrm>
            <a:off x="4913313" y="2105025"/>
            <a:ext cx="533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IRQ2</a:t>
            </a:r>
            <a:endParaRPr lang="en-US" altLang="zh-CN" sz="1800" b="0" dirty="0">
              <a:solidFill>
                <a:schemeClr val="tx1"/>
              </a:solidFill>
              <a:ea typeface="楷体_GB2312"/>
            </a:endParaRPr>
          </a:p>
        </p:txBody>
      </p:sp>
      <p:sp>
        <p:nvSpPr>
          <p:cNvPr id="253989" name="Rectangle 45"/>
          <p:cNvSpPr/>
          <p:nvPr/>
        </p:nvSpPr>
        <p:spPr>
          <a:xfrm>
            <a:off x="4913313" y="2316163"/>
            <a:ext cx="533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IRQ3</a:t>
            </a:r>
            <a:endParaRPr lang="en-US" altLang="zh-CN" sz="1800" b="0" dirty="0">
              <a:solidFill>
                <a:schemeClr val="tx1"/>
              </a:solidFill>
              <a:ea typeface="楷体_GB2312"/>
            </a:endParaRPr>
          </a:p>
        </p:txBody>
      </p:sp>
      <p:sp>
        <p:nvSpPr>
          <p:cNvPr id="253990" name="Rectangle 46"/>
          <p:cNvSpPr/>
          <p:nvPr/>
        </p:nvSpPr>
        <p:spPr>
          <a:xfrm>
            <a:off x="4913313" y="2527300"/>
            <a:ext cx="533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IRQ4</a:t>
            </a:r>
            <a:endParaRPr lang="en-US" altLang="zh-CN" sz="1800" b="0" dirty="0">
              <a:solidFill>
                <a:schemeClr val="tx1"/>
              </a:solidFill>
              <a:ea typeface="楷体_GB2312"/>
            </a:endParaRPr>
          </a:p>
        </p:txBody>
      </p:sp>
      <p:sp>
        <p:nvSpPr>
          <p:cNvPr id="253991" name="Rectangle 47"/>
          <p:cNvSpPr/>
          <p:nvPr/>
        </p:nvSpPr>
        <p:spPr>
          <a:xfrm>
            <a:off x="4913313" y="2738438"/>
            <a:ext cx="533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IRQ5</a:t>
            </a:r>
            <a:endParaRPr lang="en-US" altLang="zh-CN" sz="1800" b="0" dirty="0">
              <a:solidFill>
                <a:schemeClr val="tx1"/>
              </a:solidFill>
              <a:ea typeface="楷体_GB2312"/>
            </a:endParaRPr>
          </a:p>
        </p:txBody>
      </p:sp>
      <p:sp>
        <p:nvSpPr>
          <p:cNvPr id="253992" name="Rectangle 48"/>
          <p:cNvSpPr/>
          <p:nvPr/>
        </p:nvSpPr>
        <p:spPr>
          <a:xfrm>
            <a:off x="4913313" y="2947988"/>
            <a:ext cx="533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IRQ6</a:t>
            </a:r>
            <a:endParaRPr lang="en-US" altLang="zh-CN" sz="1800" b="0" dirty="0">
              <a:solidFill>
                <a:schemeClr val="tx1"/>
              </a:solidFill>
              <a:ea typeface="楷体_GB2312"/>
            </a:endParaRPr>
          </a:p>
        </p:txBody>
      </p:sp>
      <p:sp>
        <p:nvSpPr>
          <p:cNvPr id="253993" name="Rectangle 49"/>
          <p:cNvSpPr/>
          <p:nvPr/>
        </p:nvSpPr>
        <p:spPr>
          <a:xfrm>
            <a:off x="4913313" y="3159125"/>
            <a:ext cx="533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IRQ7</a:t>
            </a:r>
            <a:endParaRPr lang="en-US" altLang="zh-CN" sz="1800" b="0" dirty="0">
              <a:solidFill>
                <a:schemeClr val="tx1"/>
              </a:solidFill>
              <a:ea typeface="楷体_GB2312"/>
            </a:endParaRPr>
          </a:p>
        </p:txBody>
      </p:sp>
      <p:sp>
        <p:nvSpPr>
          <p:cNvPr id="253994" name="Rectangle 50"/>
          <p:cNvSpPr/>
          <p:nvPr/>
        </p:nvSpPr>
        <p:spPr>
          <a:xfrm>
            <a:off x="5529263" y="1654175"/>
            <a:ext cx="1381125"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b="0" dirty="0">
                <a:solidFill>
                  <a:schemeClr val="tx1"/>
                </a:solidFill>
                <a:ea typeface="楷体_GB2312"/>
              </a:rPr>
              <a:t>日时钟</a:t>
            </a:r>
            <a:r>
              <a:rPr lang="en-US" altLang="zh-CN" sz="1800" b="0" dirty="0">
                <a:solidFill>
                  <a:schemeClr val="tx1"/>
                </a:solidFill>
                <a:ea typeface="楷体_GB2312"/>
              </a:rPr>
              <a:t>(08H)</a:t>
            </a:r>
            <a:endParaRPr lang="en-US" altLang="zh-CN" sz="1800" b="0" dirty="0">
              <a:solidFill>
                <a:schemeClr val="tx1"/>
              </a:solidFill>
              <a:ea typeface="楷体_GB2312"/>
            </a:endParaRPr>
          </a:p>
        </p:txBody>
      </p:sp>
      <p:sp>
        <p:nvSpPr>
          <p:cNvPr id="253995" name="Rectangle 51"/>
          <p:cNvSpPr/>
          <p:nvPr/>
        </p:nvSpPr>
        <p:spPr>
          <a:xfrm>
            <a:off x="5521325" y="1863725"/>
            <a:ext cx="1003300"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b="0" dirty="0">
                <a:solidFill>
                  <a:schemeClr val="tx1"/>
                </a:solidFill>
                <a:ea typeface="楷体_GB2312"/>
              </a:rPr>
              <a:t>键盘</a:t>
            </a:r>
            <a:r>
              <a:rPr lang="en-US" altLang="zh-CN" sz="1800" b="0" dirty="0">
                <a:solidFill>
                  <a:schemeClr val="tx1"/>
                </a:solidFill>
                <a:ea typeface="楷体_GB2312"/>
              </a:rPr>
              <a:t>(09H)</a:t>
            </a:r>
            <a:endParaRPr lang="en-US" altLang="zh-CN" sz="1800" b="0" dirty="0">
              <a:solidFill>
                <a:schemeClr val="tx1"/>
              </a:solidFill>
              <a:ea typeface="楷体_GB2312"/>
            </a:endParaRPr>
          </a:p>
        </p:txBody>
      </p:sp>
      <p:sp>
        <p:nvSpPr>
          <p:cNvPr id="253996" name="Rectangle 52"/>
          <p:cNvSpPr/>
          <p:nvPr/>
        </p:nvSpPr>
        <p:spPr>
          <a:xfrm>
            <a:off x="6111875" y="2136775"/>
            <a:ext cx="1147763"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b="0" dirty="0">
                <a:solidFill>
                  <a:schemeClr val="tx1"/>
                </a:solidFill>
                <a:ea typeface="楷体_GB2312"/>
              </a:rPr>
              <a:t>保留</a:t>
            </a:r>
            <a:r>
              <a:rPr lang="en-US" altLang="zh-CN" sz="1800" b="0" dirty="0">
                <a:solidFill>
                  <a:schemeClr val="tx1"/>
                </a:solidFill>
                <a:ea typeface="楷体_GB2312"/>
              </a:rPr>
              <a:t>(0AH)</a:t>
            </a:r>
            <a:endParaRPr lang="en-US" altLang="zh-CN" sz="1800" b="0" dirty="0">
              <a:solidFill>
                <a:schemeClr val="tx1"/>
              </a:solidFill>
              <a:ea typeface="楷体_GB2312"/>
            </a:endParaRPr>
          </a:p>
        </p:txBody>
      </p:sp>
      <p:sp>
        <p:nvSpPr>
          <p:cNvPr id="253997" name="Rectangle 53"/>
          <p:cNvSpPr/>
          <p:nvPr/>
        </p:nvSpPr>
        <p:spPr>
          <a:xfrm>
            <a:off x="5534025" y="2314575"/>
            <a:ext cx="1317625"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COM2(0BH)</a:t>
            </a:r>
            <a:endParaRPr lang="en-US" altLang="zh-CN" sz="1800" b="0" dirty="0">
              <a:solidFill>
                <a:schemeClr val="tx1"/>
              </a:solidFill>
              <a:ea typeface="楷体_GB2312"/>
            </a:endParaRPr>
          </a:p>
        </p:txBody>
      </p:sp>
      <p:sp>
        <p:nvSpPr>
          <p:cNvPr id="253998" name="Rectangle 54"/>
          <p:cNvSpPr/>
          <p:nvPr/>
        </p:nvSpPr>
        <p:spPr>
          <a:xfrm>
            <a:off x="5483225" y="2517775"/>
            <a:ext cx="1495425"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 COM1(0CH)</a:t>
            </a:r>
            <a:endParaRPr lang="en-US" altLang="zh-CN" sz="1800" b="0" dirty="0">
              <a:solidFill>
                <a:schemeClr val="tx1"/>
              </a:solidFill>
              <a:ea typeface="楷体_GB2312"/>
            </a:endParaRPr>
          </a:p>
        </p:txBody>
      </p:sp>
      <p:sp>
        <p:nvSpPr>
          <p:cNvPr id="253999" name="Rectangle 55"/>
          <p:cNvSpPr/>
          <p:nvPr/>
        </p:nvSpPr>
        <p:spPr>
          <a:xfrm>
            <a:off x="5584825" y="2708275"/>
            <a:ext cx="1292225"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b="0" dirty="0">
                <a:solidFill>
                  <a:schemeClr val="tx1"/>
                </a:solidFill>
                <a:ea typeface="楷体_GB2312"/>
              </a:rPr>
              <a:t>硬盘</a:t>
            </a:r>
            <a:r>
              <a:rPr lang="en-US" altLang="zh-CN" sz="1800" b="0" dirty="0">
                <a:solidFill>
                  <a:schemeClr val="tx1"/>
                </a:solidFill>
                <a:ea typeface="楷体_GB2312"/>
              </a:rPr>
              <a:t>(0DH)</a:t>
            </a:r>
            <a:endParaRPr lang="en-US" altLang="zh-CN" sz="1800" b="0" dirty="0">
              <a:solidFill>
                <a:schemeClr val="tx1"/>
              </a:solidFill>
              <a:ea typeface="楷体_GB2312"/>
            </a:endParaRPr>
          </a:p>
        </p:txBody>
      </p:sp>
      <p:sp>
        <p:nvSpPr>
          <p:cNvPr id="254000" name="Rectangle 56"/>
          <p:cNvSpPr/>
          <p:nvPr/>
        </p:nvSpPr>
        <p:spPr>
          <a:xfrm>
            <a:off x="5584825" y="2936875"/>
            <a:ext cx="1074738" cy="2746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b="0" dirty="0">
                <a:solidFill>
                  <a:schemeClr val="tx1"/>
                </a:solidFill>
                <a:ea typeface="楷体_GB2312"/>
              </a:rPr>
              <a:t>软盘</a:t>
            </a:r>
            <a:r>
              <a:rPr lang="en-US" altLang="zh-CN" sz="1800" b="0" dirty="0">
                <a:solidFill>
                  <a:schemeClr val="tx1"/>
                </a:solidFill>
                <a:ea typeface="楷体_GB2312"/>
              </a:rPr>
              <a:t>(0EH)</a:t>
            </a:r>
            <a:endParaRPr lang="en-US" altLang="zh-CN" sz="1800" b="0" dirty="0">
              <a:solidFill>
                <a:schemeClr val="tx1"/>
              </a:solidFill>
              <a:ea typeface="楷体_GB2312"/>
            </a:endParaRPr>
          </a:p>
        </p:txBody>
      </p:sp>
      <p:sp>
        <p:nvSpPr>
          <p:cNvPr id="254001" name="Rectangle 57"/>
          <p:cNvSpPr/>
          <p:nvPr/>
        </p:nvSpPr>
        <p:spPr>
          <a:xfrm>
            <a:off x="5559425" y="3167063"/>
            <a:ext cx="1482725" cy="274637"/>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b="0" dirty="0">
                <a:solidFill>
                  <a:schemeClr val="tx1"/>
                </a:solidFill>
                <a:ea typeface="楷体_GB2312"/>
              </a:rPr>
              <a:t>打印机</a:t>
            </a:r>
            <a:r>
              <a:rPr lang="en-US" altLang="zh-CN" sz="1800" b="0" dirty="0">
                <a:solidFill>
                  <a:schemeClr val="tx1"/>
                </a:solidFill>
                <a:ea typeface="楷体_GB2312"/>
              </a:rPr>
              <a:t>(0FH)</a:t>
            </a:r>
            <a:endParaRPr lang="en-US" altLang="zh-CN" sz="1800" b="0" dirty="0">
              <a:solidFill>
                <a:schemeClr val="tx1"/>
              </a:solidFill>
              <a:ea typeface="楷体_GB2312"/>
            </a:endParaRPr>
          </a:p>
        </p:txBody>
      </p:sp>
      <p:sp>
        <p:nvSpPr>
          <p:cNvPr id="254002" name="Line 58"/>
          <p:cNvSpPr/>
          <p:nvPr/>
        </p:nvSpPr>
        <p:spPr>
          <a:xfrm flipH="1">
            <a:off x="2679700" y="3689350"/>
            <a:ext cx="238125" cy="1588"/>
          </a:xfrm>
          <a:prstGeom prst="line">
            <a:avLst/>
          </a:prstGeom>
          <a:ln w="17463" cap="flat" cmpd="sng">
            <a:solidFill>
              <a:srgbClr val="000000"/>
            </a:solidFill>
            <a:prstDash val="solid"/>
            <a:bevel/>
            <a:headEnd type="none" w="med" len="med"/>
            <a:tailEnd type="none" w="med" len="med"/>
          </a:ln>
        </p:spPr>
      </p:sp>
      <p:sp>
        <p:nvSpPr>
          <p:cNvPr id="254003" name="Line 60"/>
          <p:cNvSpPr/>
          <p:nvPr/>
        </p:nvSpPr>
        <p:spPr>
          <a:xfrm flipH="1">
            <a:off x="3130550" y="1695450"/>
            <a:ext cx="280988" cy="1588"/>
          </a:xfrm>
          <a:prstGeom prst="line">
            <a:avLst/>
          </a:prstGeom>
          <a:ln w="17463" cap="flat" cmpd="sng">
            <a:solidFill>
              <a:srgbClr val="000000"/>
            </a:solidFill>
            <a:prstDash val="solid"/>
            <a:bevel/>
            <a:headEnd type="none" w="med" len="med"/>
            <a:tailEnd type="none" w="med" len="med"/>
          </a:ln>
        </p:spPr>
      </p:sp>
      <p:sp>
        <p:nvSpPr>
          <p:cNvPr id="254004" name="Oval 61"/>
          <p:cNvSpPr/>
          <p:nvPr/>
        </p:nvSpPr>
        <p:spPr>
          <a:xfrm>
            <a:off x="3406775" y="1457325"/>
            <a:ext cx="88900" cy="96838"/>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005" name="Line 62"/>
          <p:cNvSpPr/>
          <p:nvPr/>
        </p:nvSpPr>
        <p:spPr>
          <a:xfrm flipV="1">
            <a:off x="3462338" y="1554163"/>
            <a:ext cx="1587" cy="87312"/>
          </a:xfrm>
          <a:prstGeom prst="line">
            <a:avLst/>
          </a:prstGeom>
          <a:ln w="17463" cap="flat" cmpd="sng">
            <a:solidFill>
              <a:srgbClr val="000000"/>
            </a:solidFill>
            <a:prstDash val="solid"/>
            <a:bevel/>
            <a:headEnd type="none" w="med" len="med"/>
            <a:tailEnd type="none" w="med" len="med"/>
          </a:ln>
        </p:spPr>
      </p:sp>
      <p:sp>
        <p:nvSpPr>
          <p:cNvPr id="254006" name="Rectangle 63"/>
          <p:cNvSpPr/>
          <p:nvPr/>
        </p:nvSpPr>
        <p:spPr>
          <a:xfrm>
            <a:off x="3571875" y="1412875"/>
            <a:ext cx="41275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+5V</a:t>
            </a:r>
            <a:endParaRPr lang="en-US" altLang="zh-CN" sz="1800" b="0" dirty="0">
              <a:solidFill>
                <a:schemeClr val="tx1"/>
              </a:solidFill>
              <a:ea typeface="楷体_GB2312"/>
            </a:endParaRPr>
          </a:p>
        </p:txBody>
      </p:sp>
      <p:grpSp>
        <p:nvGrpSpPr>
          <p:cNvPr id="254007" name="Group 66"/>
          <p:cNvGrpSpPr/>
          <p:nvPr/>
        </p:nvGrpSpPr>
        <p:grpSpPr>
          <a:xfrm>
            <a:off x="4421188" y="1738313"/>
            <a:ext cx="384175" cy="141287"/>
            <a:chOff x="0" y="0"/>
            <a:chExt cx="242" cy="89"/>
          </a:xfrm>
        </p:grpSpPr>
        <p:sp>
          <p:nvSpPr>
            <p:cNvPr id="254194" name="Oval 64"/>
            <p:cNvSpPr/>
            <p:nvPr/>
          </p:nvSpPr>
          <p:spPr>
            <a:xfrm>
              <a:off x="163" y="0"/>
              <a:ext cx="79" cy="89"/>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95" name="Line 65"/>
            <p:cNvSpPr/>
            <p:nvPr/>
          </p:nvSpPr>
          <p:spPr>
            <a:xfrm flipH="1">
              <a:off x="0" y="42"/>
              <a:ext cx="152" cy="1"/>
            </a:xfrm>
            <a:prstGeom prst="line">
              <a:avLst/>
            </a:prstGeom>
            <a:ln w="17463" cap="flat" cmpd="sng">
              <a:solidFill>
                <a:srgbClr val="000000"/>
              </a:solidFill>
              <a:prstDash val="solid"/>
              <a:bevel/>
              <a:headEnd type="none" w="med" len="med"/>
              <a:tailEnd type="none" w="med" len="med"/>
            </a:ln>
          </p:spPr>
        </p:sp>
      </p:grpSp>
      <p:grpSp>
        <p:nvGrpSpPr>
          <p:cNvPr id="254008" name="Group 69"/>
          <p:cNvGrpSpPr/>
          <p:nvPr/>
        </p:nvGrpSpPr>
        <p:grpSpPr>
          <a:xfrm>
            <a:off x="4421188" y="1933575"/>
            <a:ext cx="384175" cy="142875"/>
            <a:chOff x="0" y="0"/>
            <a:chExt cx="242" cy="90"/>
          </a:xfrm>
        </p:grpSpPr>
        <p:sp>
          <p:nvSpPr>
            <p:cNvPr id="254192" name="Oval 67"/>
            <p:cNvSpPr/>
            <p:nvPr/>
          </p:nvSpPr>
          <p:spPr>
            <a:xfrm>
              <a:off x="163" y="0"/>
              <a:ext cx="79" cy="90"/>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93" name="Line 68"/>
            <p:cNvSpPr/>
            <p:nvPr/>
          </p:nvSpPr>
          <p:spPr>
            <a:xfrm flipH="1">
              <a:off x="0" y="43"/>
              <a:ext cx="152" cy="1"/>
            </a:xfrm>
            <a:prstGeom prst="line">
              <a:avLst/>
            </a:prstGeom>
            <a:ln w="17463" cap="flat" cmpd="sng">
              <a:solidFill>
                <a:srgbClr val="000000"/>
              </a:solidFill>
              <a:prstDash val="solid"/>
              <a:bevel/>
              <a:headEnd type="none" w="med" len="med"/>
              <a:tailEnd type="none" w="med" len="med"/>
            </a:ln>
          </p:spPr>
        </p:sp>
      </p:grpSp>
      <p:grpSp>
        <p:nvGrpSpPr>
          <p:cNvPr id="254009" name="Group 72"/>
          <p:cNvGrpSpPr/>
          <p:nvPr/>
        </p:nvGrpSpPr>
        <p:grpSpPr>
          <a:xfrm>
            <a:off x="4416425" y="2152650"/>
            <a:ext cx="385763" cy="142875"/>
            <a:chOff x="0" y="0"/>
            <a:chExt cx="243" cy="90"/>
          </a:xfrm>
        </p:grpSpPr>
        <p:sp>
          <p:nvSpPr>
            <p:cNvPr id="254190" name="Oval 70"/>
            <p:cNvSpPr/>
            <p:nvPr/>
          </p:nvSpPr>
          <p:spPr>
            <a:xfrm>
              <a:off x="163" y="0"/>
              <a:ext cx="80" cy="90"/>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91" name="Line 71"/>
            <p:cNvSpPr/>
            <p:nvPr/>
          </p:nvSpPr>
          <p:spPr>
            <a:xfrm flipH="1">
              <a:off x="0" y="42"/>
              <a:ext cx="153" cy="1"/>
            </a:xfrm>
            <a:prstGeom prst="line">
              <a:avLst/>
            </a:prstGeom>
            <a:ln w="17463" cap="flat" cmpd="sng">
              <a:solidFill>
                <a:srgbClr val="000000"/>
              </a:solidFill>
              <a:prstDash val="solid"/>
              <a:bevel/>
              <a:headEnd type="none" w="med" len="med"/>
              <a:tailEnd type="none" w="med" len="med"/>
            </a:ln>
          </p:spPr>
        </p:sp>
      </p:grpSp>
      <p:grpSp>
        <p:nvGrpSpPr>
          <p:cNvPr id="254010" name="Group 75"/>
          <p:cNvGrpSpPr/>
          <p:nvPr/>
        </p:nvGrpSpPr>
        <p:grpSpPr>
          <a:xfrm>
            <a:off x="4411663" y="2347913"/>
            <a:ext cx="385762" cy="142875"/>
            <a:chOff x="0" y="0"/>
            <a:chExt cx="243" cy="90"/>
          </a:xfrm>
        </p:grpSpPr>
        <p:sp>
          <p:nvSpPr>
            <p:cNvPr id="254188" name="Oval 73"/>
            <p:cNvSpPr/>
            <p:nvPr/>
          </p:nvSpPr>
          <p:spPr>
            <a:xfrm>
              <a:off x="163" y="0"/>
              <a:ext cx="80" cy="90"/>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89" name="Line 74"/>
            <p:cNvSpPr/>
            <p:nvPr/>
          </p:nvSpPr>
          <p:spPr>
            <a:xfrm flipH="1">
              <a:off x="0" y="43"/>
              <a:ext cx="153" cy="1"/>
            </a:xfrm>
            <a:prstGeom prst="line">
              <a:avLst/>
            </a:prstGeom>
            <a:ln w="17463" cap="flat" cmpd="sng">
              <a:solidFill>
                <a:srgbClr val="000000"/>
              </a:solidFill>
              <a:prstDash val="solid"/>
              <a:bevel/>
              <a:headEnd type="none" w="med" len="med"/>
              <a:tailEnd type="none" w="med" len="med"/>
            </a:ln>
          </p:spPr>
        </p:sp>
      </p:grpSp>
      <p:grpSp>
        <p:nvGrpSpPr>
          <p:cNvPr id="254011" name="Group 78"/>
          <p:cNvGrpSpPr/>
          <p:nvPr/>
        </p:nvGrpSpPr>
        <p:grpSpPr>
          <a:xfrm>
            <a:off x="4416425" y="2559050"/>
            <a:ext cx="385763" cy="142875"/>
            <a:chOff x="0" y="0"/>
            <a:chExt cx="243" cy="90"/>
          </a:xfrm>
        </p:grpSpPr>
        <p:sp>
          <p:nvSpPr>
            <p:cNvPr id="254186" name="Oval 76"/>
            <p:cNvSpPr/>
            <p:nvPr/>
          </p:nvSpPr>
          <p:spPr>
            <a:xfrm>
              <a:off x="163" y="0"/>
              <a:ext cx="80" cy="90"/>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87" name="Line 77"/>
            <p:cNvSpPr/>
            <p:nvPr/>
          </p:nvSpPr>
          <p:spPr>
            <a:xfrm flipH="1">
              <a:off x="0" y="43"/>
              <a:ext cx="153" cy="1"/>
            </a:xfrm>
            <a:prstGeom prst="line">
              <a:avLst/>
            </a:prstGeom>
            <a:ln w="17463" cap="flat" cmpd="sng">
              <a:solidFill>
                <a:srgbClr val="000000"/>
              </a:solidFill>
              <a:prstDash val="solid"/>
              <a:bevel/>
              <a:headEnd type="none" w="med" len="med"/>
              <a:tailEnd type="none" w="med" len="med"/>
            </a:ln>
          </p:spPr>
        </p:sp>
      </p:grpSp>
      <p:grpSp>
        <p:nvGrpSpPr>
          <p:cNvPr id="254012" name="Group 81"/>
          <p:cNvGrpSpPr/>
          <p:nvPr/>
        </p:nvGrpSpPr>
        <p:grpSpPr>
          <a:xfrm>
            <a:off x="4421188" y="2762250"/>
            <a:ext cx="384175" cy="142875"/>
            <a:chOff x="0" y="0"/>
            <a:chExt cx="242" cy="90"/>
          </a:xfrm>
        </p:grpSpPr>
        <p:sp>
          <p:nvSpPr>
            <p:cNvPr id="254184" name="Oval 79"/>
            <p:cNvSpPr/>
            <p:nvPr/>
          </p:nvSpPr>
          <p:spPr>
            <a:xfrm>
              <a:off x="163" y="0"/>
              <a:ext cx="79" cy="90"/>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85" name="Line 80"/>
            <p:cNvSpPr/>
            <p:nvPr/>
          </p:nvSpPr>
          <p:spPr>
            <a:xfrm flipH="1">
              <a:off x="0" y="43"/>
              <a:ext cx="152" cy="1"/>
            </a:xfrm>
            <a:prstGeom prst="line">
              <a:avLst/>
            </a:prstGeom>
            <a:ln w="17463" cap="flat" cmpd="sng">
              <a:solidFill>
                <a:srgbClr val="000000"/>
              </a:solidFill>
              <a:prstDash val="solid"/>
              <a:bevel/>
              <a:headEnd type="none" w="med" len="med"/>
              <a:tailEnd type="none" w="med" len="med"/>
            </a:ln>
          </p:spPr>
        </p:sp>
      </p:grpSp>
      <p:grpSp>
        <p:nvGrpSpPr>
          <p:cNvPr id="254013" name="Group 84"/>
          <p:cNvGrpSpPr/>
          <p:nvPr/>
        </p:nvGrpSpPr>
        <p:grpSpPr>
          <a:xfrm>
            <a:off x="4421188" y="2962275"/>
            <a:ext cx="384175" cy="142875"/>
            <a:chOff x="0" y="0"/>
            <a:chExt cx="242" cy="90"/>
          </a:xfrm>
        </p:grpSpPr>
        <p:sp>
          <p:nvSpPr>
            <p:cNvPr id="254182" name="Oval 82"/>
            <p:cNvSpPr/>
            <p:nvPr/>
          </p:nvSpPr>
          <p:spPr>
            <a:xfrm>
              <a:off x="163" y="0"/>
              <a:ext cx="79" cy="90"/>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83" name="Line 83"/>
            <p:cNvSpPr/>
            <p:nvPr/>
          </p:nvSpPr>
          <p:spPr>
            <a:xfrm flipH="1">
              <a:off x="0" y="43"/>
              <a:ext cx="152" cy="1"/>
            </a:xfrm>
            <a:prstGeom prst="line">
              <a:avLst/>
            </a:prstGeom>
            <a:ln w="17463" cap="flat" cmpd="sng">
              <a:solidFill>
                <a:srgbClr val="000000"/>
              </a:solidFill>
              <a:prstDash val="solid"/>
              <a:bevel/>
              <a:headEnd type="none" w="med" len="med"/>
              <a:tailEnd type="none" w="med" len="med"/>
            </a:ln>
          </p:spPr>
        </p:sp>
      </p:grpSp>
      <p:grpSp>
        <p:nvGrpSpPr>
          <p:cNvPr id="254014" name="Group 87"/>
          <p:cNvGrpSpPr/>
          <p:nvPr/>
        </p:nvGrpSpPr>
        <p:grpSpPr>
          <a:xfrm>
            <a:off x="4411663" y="3187700"/>
            <a:ext cx="385762" cy="142875"/>
            <a:chOff x="0" y="0"/>
            <a:chExt cx="243" cy="90"/>
          </a:xfrm>
        </p:grpSpPr>
        <p:sp>
          <p:nvSpPr>
            <p:cNvPr id="254180" name="Oval 85"/>
            <p:cNvSpPr/>
            <p:nvPr/>
          </p:nvSpPr>
          <p:spPr>
            <a:xfrm>
              <a:off x="163" y="0"/>
              <a:ext cx="80" cy="90"/>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81" name="Line 86"/>
            <p:cNvSpPr/>
            <p:nvPr/>
          </p:nvSpPr>
          <p:spPr>
            <a:xfrm flipH="1">
              <a:off x="0" y="43"/>
              <a:ext cx="153" cy="1"/>
            </a:xfrm>
            <a:prstGeom prst="line">
              <a:avLst/>
            </a:prstGeom>
            <a:ln w="17463" cap="flat" cmpd="sng">
              <a:solidFill>
                <a:srgbClr val="000000"/>
              </a:solidFill>
              <a:prstDash val="solid"/>
              <a:bevel/>
              <a:headEnd type="none" w="med" len="med"/>
              <a:tailEnd type="none" w="med" len="med"/>
            </a:ln>
          </p:spPr>
        </p:sp>
      </p:grpSp>
      <p:grpSp>
        <p:nvGrpSpPr>
          <p:cNvPr id="254015" name="Group 90"/>
          <p:cNvGrpSpPr/>
          <p:nvPr/>
        </p:nvGrpSpPr>
        <p:grpSpPr>
          <a:xfrm>
            <a:off x="4416425" y="3398838"/>
            <a:ext cx="385763" cy="142875"/>
            <a:chOff x="0" y="0"/>
            <a:chExt cx="243" cy="90"/>
          </a:xfrm>
        </p:grpSpPr>
        <p:sp>
          <p:nvSpPr>
            <p:cNvPr id="254178" name="Oval 88"/>
            <p:cNvSpPr/>
            <p:nvPr/>
          </p:nvSpPr>
          <p:spPr>
            <a:xfrm>
              <a:off x="163" y="0"/>
              <a:ext cx="80" cy="90"/>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79" name="Line 89"/>
            <p:cNvSpPr/>
            <p:nvPr/>
          </p:nvSpPr>
          <p:spPr>
            <a:xfrm flipH="1">
              <a:off x="0" y="43"/>
              <a:ext cx="153" cy="1"/>
            </a:xfrm>
            <a:prstGeom prst="line">
              <a:avLst/>
            </a:prstGeom>
            <a:ln w="17463" cap="flat" cmpd="sng">
              <a:solidFill>
                <a:srgbClr val="000000"/>
              </a:solidFill>
              <a:prstDash val="solid"/>
              <a:bevel/>
              <a:headEnd type="none" w="med" len="med"/>
              <a:tailEnd type="none" w="med" len="med"/>
            </a:ln>
          </p:spPr>
        </p:sp>
      </p:grpSp>
      <p:grpSp>
        <p:nvGrpSpPr>
          <p:cNvPr id="254016" name="Group 93"/>
          <p:cNvGrpSpPr/>
          <p:nvPr/>
        </p:nvGrpSpPr>
        <p:grpSpPr>
          <a:xfrm>
            <a:off x="4416425" y="3609975"/>
            <a:ext cx="385763" cy="142875"/>
            <a:chOff x="0" y="0"/>
            <a:chExt cx="243" cy="90"/>
          </a:xfrm>
        </p:grpSpPr>
        <p:sp>
          <p:nvSpPr>
            <p:cNvPr id="254176" name="Oval 91"/>
            <p:cNvSpPr/>
            <p:nvPr/>
          </p:nvSpPr>
          <p:spPr>
            <a:xfrm>
              <a:off x="163" y="0"/>
              <a:ext cx="80" cy="90"/>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77" name="Line 92"/>
            <p:cNvSpPr/>
            <p:nvPr/>
          </p:nvSpPr>
          <p:spPr>
            <a:xfrm flipH="1">
              <a:off x="0" y="43"/>
              <a:ext cx="153" cy="1"/>
            </a:xfrm>
            <a:prstGeom prst="line">
              <a:avLst/>
            </a:prstGeom>
            <a:ln w="17463" cap="flat" cmpd="sng">
              <a:solidFill>
                <a:srgbClr val="000000"/>
              </a:solidFill>
              <a:prstDash val="solid"/>
              <a:bevel/>
              <a:headEnd type="none" w="med" len="med"/>
              <a:tailEnd type="none" w="med" len="med"/>
            </a:ln>
          </p:spPr>
        </p:sp>
      </p:grpSp>
      <p:grpSp>
        <p:nvGrpSpPr>
          <p:cNvPr id="254017" name="Group 96"/>
          <p:cNvGrpSpPr/>
          <p:nvPr/>
        </p:nvGrpSpPr>
        <p:grpSpPr>
          <a:xfrm>
            <a:off x="4411663" y="3802063"/>
            <a:ext cx="385762" cy="142875"/>
            <a:chOff x="0" y="0"/>
            <a:chExt cx="243" cy="90"/>
          </a:xfrm>
        </p:grpSpPr>
        <p:sp>
          <p:nvSpPr>
            <p:cNvPr id="254174" name="Oval 94"/>
            <p:cNvSpPr/>
            <p:nvPr/>
          </p:nvSpPr>
          <p:spPr>
            <a:xfrm>
              <a:off x="163" y="0"/>
              <a:ext cx="80" cy="90"/>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75" name="Line 95"/>
            <p:cNvSpPr/>
            <p:nvPr/>
          </p:nvSpPr>
          <p:spPr>
            <a:xfrm flipH="1">
              <a:off x="0" y="43"/>
              <a:ext cx="153" cy="1"/>
            </a:xfrm>
            <a:prstGeom prst="line">
              <a:avLst/>
            </a:prstGeom>
            <a:ln w="17463" cap="flat" cmpd="sng">
              <a:solidFill>
                <a:srgbClr val="000000"/>
              </a:solidFill>
              <a:prstDash val="solid"/>
              <a:bevel/>
              <a:headEnd type="none" w="med" len="med"/>
              <a:tailEnd type="none" w="med" len="med"/>
            </a:ln>
          </p:spPr>
        </p:sp>
      </p:grpSp>
      <p:grpSp>
        <p:nvGrpSpPr>
          <p:cNvPr id="254018" name="Group 103"/>
          <p:cNvGrpSpPr/>
          <p:nvPr/>
        </p:nvGrpSpPr>
        <p:grpSpPr>
          <a:xfrm>
            <a:off x="2209800" y="1776413"/>
            <a:ext cx="398463" cy="420687"/>
            <a:chOff x="0" y="0"/>
            <a:chExt cx="251" cy="265"/>
          </a:xfrm>
        </p:grpSpPr>
        <p:grpSp>
          <p:nvGrpSpPr>
            <p:cNvPr id="254168" name="Group 99"/>
            <p:cNvGrpSpPr/>
            <p:nvPr/>
          </p:nvGrpSpPr>
          <p:grpSpPr>
            <a:xfrm>
              <a:off x="0" y="0"/>
              <a:ext cx="251" cy="131"/>
              <a:chOff x="0" y="0"/>
              <a:chExt cx="251" cy="131"/>
            </a:xfrm>
          </p:grpSpPr>
          <p:sp>
            <p:nvSpPr>
              <p:cNvPr id="254172" name="Line 97"/>
              <p:cNvSpPr/>
              <p:nvPr/>
            </p:nvSpPr>
            <p:spPr>
              <a:xfrm flipH="1" flipV="1">
                <a:off x="7" y="0"/>
                <a:ext cx="244" cy="131"/>
              </a:xfrm>
              <a:prstGeom prst="line">
                <a:avLst/>
              </a:prstGeom>
              <a:ln w="17463" cap="flat" cmpd="sng">
                <a:solidFill>
                  <a:srgbClr val="000000"/>
                </a:solidFill>
                <a:prstDash val="solid"/>
                <a:bevel/>
                <a:headEnd type="none" w="med" len="med"/>
                <a:tailEnd type="none" w="med" len="med"/>
              </a:ln>
            </p:spPr>
          </p:sp>
          <p:sp>
            <p:nvSpPr>
              <p:cNvPr id="254173" name="Freeform 98"/>
              <p:cNvSpPr/>
              <p:nvPr/>
            </p:nvSpPr>
            <p:spPr>
              <a:xfrm>
                <a:off x="0" y="0"/>
                <a:ext cx="1" cy="95"/>
              </a:xfrm>
              <a:custGeom>
                <a:avLst/>
                <a:gdLst/>
                <a:ahLst/>
                <a:cxnLst>
                  <a:cxn ang="0">
                    <a:pos x="0" y="0"/>
                  </a:cxn>
                  <a:cxn ang="0">
                    <a:pos x="0" y="17"/>
                  </a:cxn>
                  <a:cxn ang="0">
                    <a:pos x="0" y="95"/>
                  </a:cxn>
                </a:cxnLst>
                <a:pathLst>
                  <a:path w="1" h="95">
                    <a:moveTo>
                      <a:pt x="0" y="0"/>
                    </a:moveTo>
                    <a:lnTo>
                      <a:pt x="0" y="17"/>
                    </a:lnTo>
                    <a:lnTo>
                      <a:pt x="0" y="95"/>
                    </a:lnTo>
                  </a:path>
                </a:pathLst>
              </a:custGeom>
              <a:noFill/>
              <a:ln w="17463" cap="flat" cmpd="sng">
                <a:solidFill>
                  <a:srgbClr val="000000">
                    <a:alpha val="100000"/>
                  </a:srgbClr>
                </a:solidFill>
                <a:prstDash val="solid"/>
                <a:bevel/>
                <a:headEnd type="none" w="med" len="med"/>
                <a:tailEnd type="none" w="med" len="med"/>
              </a:ln>
            </p:spPr>
            <p:txBody>
              <a:bodyPr/>
              <a:p>
                <a:endParaRPr lang="zh-CN" altLang="en-US"/>
              </a:p>
            </p:txBody>
          </p:sp>
        </p:grpSp>
        <p:grpSp>
          <p:nvGrpSpPr>
            <p:cNvPr id="254169" name="Group 102"/>
            <p:cNvGrpSpPr/>
            <p:nvPr/>
          </p:nvGrpSpPr>
          <p:grpSpPr>
            <a:xfrm>
              <a:off x="0" y="135"/>
              <a:ext cx="251" cy="130"/>
              <a:chOff x="0" y="0"/>
              <a:chExt cx="251" cy="130"/>
            </a:xfrm>
          </p:grpSpPr>
          <p:sp>
            <p:nvSpPr>
              <p:cNvPr id="254170" name="Line 100"/>
              <p:cNvSpPr/>
              <p:nvPr/>
            </p:nvSpPr>
            <p:spPr>
              <a:xfrm flipH="1">
                <a:off x="7" y="0"/>
                <a:ext cx="244" cy="130"/>
              </a:xfrm>
              <a:prstGeom prst="line">
                <a:avLst/>
              </a:prstGeom>
              <a:ln w="17463" cap="flat" cmpd="sng">
                <a:solidFill>
                  <a:srgbClr val="000000"/>
                </a:solidFill>
                <a:prstDash val="solid"/>
                <a:bevel/>
                <a:headEnd type="none" w="med" len="med"/>
                <a:tailEnd type="none" w="med" len="med"/>
              </a:ln>
            </p:spPr>
          </p:sp>
          <p:sp>
            <p:nvSpPr>
              <p:cNvPr id="254171" name="Freeform 101"/>
              <p:cNvSpPr/>
              <p:nvPr/>
            </p:nvSpPr>
            <p:spPr>
              <a:xfrm>
                <a:off x="0" y="35"/>
                <a:ext cx="1" cy="95"/>
              </a:xfrm>
              <a:custGeom>
                <a:avLst/>
                <a:gdLst/>
                <a:ahLst/>
                <a:cxnLst>
                  <a:cxn ang="0">
                    <a:pos x="0" y="95"/>
                  </a:cxn>
                  <a:cxn ang="0">
                    <a:pos x="0" y="80"/>
                  </a:cxn>
                  <a:cxn ang="0">
                    <a:pos x="0" y="0"/>
                  </a:cxn>
                </a:cxnLst>
                <a:pathLst>
                  <a:path w="1" h="95">
                    <a:moveTo>
                      <a:pt x="0" y="95"/>
                    </a:moveTo>
                    <a:lnTo>
                      <a:pt x="0" y="80"/>
                    </a:lnTo>
                    <a:lnTo>
                      <a:pt x="0" y="0"/>
                    </a:lnTo>
                  </a:path>
                </a:pathLst>
              </a:custGeom>
              <a:noFill/>
              <a:ln w="17463" cap="flat" cmpd="sng">
                <a:solidFill>
                  <a:srgbClr val="000000">
                    <a:alpha val="100000"/>
                  </a:srgbClr>
                </a:solidFill>
                <a:prstDash val="solid"/>
                <a:bevel/>
                <a:headEnd type="none" w="med" len="med"/>
                <a:tailEnd type="none" w="med" len="med"/>
              </a:ln>
            </p:spPr>
            <p:txBody>
              <a:bodyPr/>
              <a:p>
                <a:endParaRPr lang="zh-CN" altLang="en-US"/>
              </a:p>
            </p:txBody>
          </p:sp>
        </p:grpSp>
      </p:grpSp>
      <p:sp>
        <p:nvSpPr>
          <p:cNvPr id="254019" name="Line 104"/>
          <p:cNvSpPr/>
          <p:nvPr/>
        </p:nvSpPr>
        <p:spPr>
          <a:xfrm flipH="1">
            <a:off x="1000125" y="1925638"/>
            <a:ext cx="1206500" cy="1587"/>
          </a:xfrm>
          <a:prstGeom prst="line">
            <a:avLst/>
          </a:prstGeom>
          <a:ln w="17463" cap="flat" cmpd="sng">
            <a:solidFill>
              <a:srgbClr val="000000"/>
            </a:solidFill>
            <a:prstDash val="solid"/>
            <a:bevel/>
            <a:headEnd type="none" w="med" len="med"/>
            <a:tailEnd type="none" w="med" len="med"/>
          </a:ln>
        </p:spPr>
      </p:sp>
      <p:sp>
        <p:nvSpPr>
          <p:cNvPr id="254020" name="Rectangle 105"/>
          <p:cNvSpPr/>
          <p:nvPr/>
        </p:nvSpPr>
        <p:spPr>
          <a:xfrm>
            <a:off x="195263" y="2451100"/>
            <a:ext cx="406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IOR</a:t>
            </a:r>
            <a:endParaRPr lang="en-US" altLang="zh-CN" sz="1800" b="0" dirty="0">
              <a:solidFill>
                <a:schemeClr val="tx1"/>
              </a:solidFill>
              <a:ea typeface="楷体_GB2312"/>
            </a:endParaRPr>
          </a:p>
        </p:txBody>
      </p:sp>
      <p:sp>
        <p:nvSpPr>
          <p:cNvPr id="254021" name="Rectangle 106"/>
          <p:cNvSpPr/>
          <p:nvPr/>
        </p:nvSpPr>
        <p:spPr>
          <a:xfrm>
            <a:off x="150813" y="2693988"/>
            <a:ext cx="4572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IOW</a:t>
            </a:r>
            <a:endParaRPr lang="en-US" altLang="zh-CN" sz="1800" b="0" dirty="0">
              <a:solidFill>
                <a:schemeClr val="tx1"/>
              </a:solidFill>
              <a:ea typeface="楷体_GB2312"/>
            </a:endParaRPr>
          </a:p>
        </p:txBody>
      </p:sp>
      <p:sp>
        <p:nvSpPr>
          <p:cNvPr id="254022" name="Rectangle 107"/>
          <p:cNvSpPr/>
          <p:nvPr/>
        </p:nvSpPr>
        <p:spPr>
          <a:xfrm>
            <a:off x="65088" y="2911475"/>
            <a:ext cx="533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INTR</a:t>
            </a:r>
            <a:endParaRPr lang="en-US" altLang="zh-CN" sz="1800" b="0" dirty="0">
              <a:solidFill>
                <a:schemeClr val="tx1"/>
              </a:solidFill>
              <a:ea typeface="楷体_GB2312"/>
            </a:endParaRPr>
          </a:p>
        </p:txBody>
      </p:sp>
      <p:sp>
        <p:nvSpPr>
          <p:cNvPr id="254023" name="Rectangle 108"/>
          <p:cNvSpPr/>
          <p:nvPr/>
        </p:nvSpPr>
        <p:spPr>
          <a:xfrm>
            <a:off x="65088" y="3152775"/>
            <a:ext cx="533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INTA</a:t>
            </a:r>
            <a:endParaRPr lang="en-US" altLang="zh-CN" sz="1800" b="0" dirty="0">
              <a:solidFill>
                <a:schemeClr val="tx1"/>
              </a:solidFill>
              <a:ea typeface="楷体_GB2312"/>
            </a:endParaRPr>
          </a:p>
        </p:txBody>
      </p:sp>
      <p:sp>
        <p:nvSpPr>
          <p:cNvPr id="254024" name="Rectangle 109"/>
          <p:cNvSpPr/>
          <p:nvPr/>
        </p:nvSpPr>
        <p:spPr>
          <a:xfrm>
            <a:off x="277813" y="3400425"/>
            <a:ext cx="2921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A1</a:t>
            </a:r>
            <a:endParaRPr lang="en-US" altLang="zh-CN" sz="1800" b="0" dirty="0">
              <a:solidFill>
                <a:schemeClr val="tx1"/>
              </a:solidFill>
              <a:ea typeface="楷体_GB2312"/>
            </a:endParaRPr>
          </a:p>
        </p:txBody>
      </p:sp>
      <p:grpSp>
        <p:nvGrpSpPr>
          <p:cNvPr id="254025" name="Group 113"/>
          <p:cNvGrpSpPr/>
          <p:nvPr/>
        </p:nvGrpSpPr>
        <p:grpSpPr>
          <a:xfrm>
            <a:off x="657225" y="2559050"/>
            <a:ext cx="1951038" cy="120650"/>
            <a:chOff x="0" y="0"/>
            <a:chExt cx="1229" cy="76"/>
          </a:xfrm>
        </p:grpSpPr>
        <p:sp>
          <p:nvSpPr>
            <p:cNvPr id="254166" name="Oval 111"/>
            <p:cNvSpPr/>
            <p:nvPr/>
          </p:nvSpPr>
          <p:spPr>
            <a:xfrm>
              <a:off x="0" y="0"/>
              <a:ext cx="80" cy="76"/>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67" name="Line 112"/>
            <p:cNvSpPr/>
            <p:nvPr/>
          </p:nvSpPr>
          <p:spPr>
            <a:xfrm flipH="1">
              <a:off x="90" y="33"/>
              <a:ext cx="1139" cy="1"/>
            </a:xfrm>
            <a:prstGeom prst="line">
              <a:avLst/>
            </a:prstGeom>
            <a:ln w="17463" cap="flat" cmpd="sng">
              <a:solidFill>
                <a:srgbClr val="000000"/>
              </a:solidFill>
              <a:prstDash val="solid"/>
              <a:bevel/>
              <a:headEnd type="none" w="med" len="med"/>
              <a:tailEnd type="none" w="med" len="med"/>
            </a:ln>
          </p:spPr>
        </p:sp>
      </p:grpSp>
      <p:grpSp>
        <p:nvGrpSpPr>
          <p:cNvPr id="254026" name="Group 116"/>
          <p:cNvGrpSpPr/>
          <p:nvPr/>
        </p:nvGrpSpPr>
        <p:grpSpPr>
          <a:xfrm>
            <a:off x="649288" y="2755900"/>
            <a:ext cx="1951037" cy="119063"/>
            <a:chOff x="0" y="0"/>
            <a:chExt cx="1229" cy="75"/>
          </a:xfrm>
        </p:grpSpPr>
        <p:sp>
          <p:nvSpPr>
            <p:cNvPr id="254164" name="Oval 114"/>
            <p:cNvSpPr/>
            <p:nvPr/>
          </p:nvSpPr>
          <p:spPr>
            <a:xfrm>
              <a:off x="0" y="0"/>
              <a:ext cx="79" cy="75"/>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65" name="Line 115"/>
            <p:cNvSpPr/>
            <p:nvPr/>
          </p:nvSpPr>
          <p:spPr>
            <a:xfrm flipH="1">
              <a:off x="90" y="33"/>
              <a:ext cx="1139" cy="1"/>
            </a:xfrm>
            <a:prstGeom prst="line">
              <a:avLst/>
            </a:prstGeom>
            <a:ln w="17463" cap="flat" cmpd="sng">
              <a:solidFill>
                <a:srgbClr val="000000"/>
              </a:solidFill>
              <a:prstDash val="solid"/>
              <a:bevel/>
              <a:headEnd type="none" w="med" len="med"/>
              <a:tailEnd type="none" w="med" len="med"/>
            </a:ln>
          </p:spPr>
        </p:sp>
      </p:grpSp>
      <p:grpSp>
        <p:nvGrpSpPr>
          <p:cNvPr id="254027" name="Group 119"/>
          <p:cNvGrpSpPr/>
          <p:nvPr/>
        </p:nvGrpSpPr>
        <p:grpSpPr>
          <a:xfrm>
            <a:off x="657225" y="2965450"/>
            <a:ext cx="1951038" cy="120650"/>
            <a:chOff x="0" y="0"/>
            <a:chExt cx="1229" cy="76"/>
          </a:xfrm>
        </p:grpSpPr>
        <p:sp>
          <p:nvSpPr>
            <p:cNvPr id="254162" name="Oval 117"/>
            <p:cNvSpPr/>
            <p:nvPr/>
          </p:nvSpPr>
          <p:spPr>
            <a:xfrm>
              <a:off x="0" y="0"/>
              <a:ext cx="80" cy="76"/>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63" name="Line 118"/>
            <p:cNvSpPr/>
            <p:nvPr/>
          </p:nvSpPr>
          <p:spPr>
            <a:xfrm flipH="1">
              <a:off x="90" y="33"/>
              <a:ext cx="1139" cy="1"/>
            </a:xfrm>
            <a:prstGeom prst="line">
              <a:avLst/>
            </a:prstGeom>
            <a:ln w="17463" cap="flat" cmpd="sng">
              <a:solidFill>
                <a:srgbClr val="000000"/>
              </a:solidFill>
              <a:prstDash val="solid"/>
              <a:bevel/>
              <a:headEnd type="none" w="med" len="med"/>
              <a:tailEnd type="none" w="med" len="med"/>
            </a:ln>
          </p:spPr>
        </p:sp>
      </p:grpSp>
      <p:grpSp>
        <p:nvGrpSpPr>
          <p:cNvPr id="254028" name="Group 122"/>
          <p:cNvGrpSpPr/>
          <p:nvPr/>
        </p:nvGrpSpPr>
        <p:grpSpPr>
          <a:xfrm>
            <a:off x="665163" y="3200400"/>
            <a:ext cx="1951037" cy="119063"/>
            <a:chOff x="0" y="0"/>
            <a:chExt cx="1229" cy="75"/>
          </a:xfrm>
        </p:grpSpPr>
        <p:sp>
          <p:nvSpPr>
            <p:cNvPr id="254160" name="Oval 120"/>
            <p:cNvSpPr/>
            <p:nvPr/>
          </p:nvSpPr>
          <p:spPr>
            <a:xfrm>
              <a:off x="0" y="0"/>
              <a:ext cx="80" cy="75"/>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61" name="Line 121"/>
            <p:cNvSpPr/>
            <p:nvPr/>
          </p:nvSpPr>
          <p:spPr>
            <a:xfrm flipH="1">
              <a:off x="90" y="33"/>
              <a:ext cx="1139" cy="1"/>
            </a:xfrm>
            <a:prstGeom prst="line">
              <a:avLst/>
            </a:prstGeom>
            <a:ln w="17463" cap="flat" cmpd="sng">
              <a:solidFill>
                <a:srgbClr val="000000"/>
              </a:solidFill>
              <a:prstDash val="solid"/>
              <a:bevel/>
              <a:headEnd type="none" w="med" len="med"/>
              <a:tailEnd type="none" w="med" len="med"/>
            </a:ln>
          </p:spPr>
        </p:sp>
      </p:grpSp>
      <p:grpSp>
        <p:nvGrpSpPr>
          <p:cNvPr id="254029" name="Group 125"/>
          <p:cNvGrpSpPr/>
          <p:nvPr/>
        </p:nvGrpSpPr>
        <p:grpSpPr>
          <a:xfrm>
            <a:off x="665163" y="3448050"/>
            <a:ext cx="1951037" cy="120650"/>
            <a:chOff x="0" y="0"/>
            <a:chExt cx="1229" cy="76"/>
          </a:xfrm>
        </p:grpSpPr>
        <p:sp>
          <p:nvSpPr>
            <p:cNvPr id="254158" name="Oval 123"/>
            <p:cNvSpPr/>
            <p:nvPr/>
          </p:nvSpPr>
          <p:spPr>
            <a:xfrm>
              <a:off x="0" y="0"/>
              <a:ext cx="80" cy="76"/>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59" name="Line 124"/>
            <p:cNvSpPr/>
            <p:nvPr/>
          </p:nvSpPr>
          <p:spPr>
            <a:xfrm flipH="1">
              <a:off x="90" y="33"/>
              <a:ext cx="1139" cy="1"/>
            </a:xfrm>
            <a:prstGeom prst="line">
              <a:avLst/>
            </a:prstGeom>
            <a:ln w="17463" cap="flat" cmpd="sng">
              <a:solidFill>
                <a:srgbClr val="000000"/>
              </a:solidFill>
              <a:prstDash val="solid"/>
              <a:bevel/>
              <a:headEnd type="none" w="med" len="med"/>
              <a:tailEnd type="none" w="med" len="med"/>
            </a:ln>
          </p:spPr>
        </p:sp>
      </p:grpSp>
      <p:sp>
        <p:nvSpPr>
          <p:cNvPr id="254030" name="Line 126"/>
          <p:cNvSpPr/>
          <p:nvPr/>
        </p:nvSpPr>
        <p:spPr>
          <a:xfrm flipH="1">
            <a:off x="2305050" y="3832225"/>
            <a:ext cx="295275" cy="1588"/>
          </a:xfrm>
          <a:prstGeom prst="line">
            <a:avLst/>
          </a:prstGeom>
          <a:ln w="17463" cap="flat" cmpd="sng">
            <a:solidFill>
              <a:srgbClr val="000000"/>
            </a:solidFill>
            <a:prstDash val="solid"/>
            <a:bevel/>
            <a:headEnd type="none" w="med" len="med"/>
            <a:tailEnd type="none" w="med" len="med"/>
          </a:ln>
        </p:spPr>
      </p:sp>
      <p:sp>
        <p:nvSpPr>
          <p:cNvPr id="254031" name="Line 128"/>
          <p:cNvSpPr/>
          <p:nvPr/>
        </p:nvSpPr>
        <p:spPr>
          <a:xfrm flipH="1">
            <a:off x="3489325" y="1703388"/>
            <a:ext cx="209550" cy="1587"/>
          </a:xfrm>
          <a:prstGeom prst="line">
            <a:avLst/>
          </a:prstGeom>
          <a:ln w="17463" cap="flat" cmpd="sng">
            <a:solidFill>
              <a:srgbClr val="000000"/>
            </a:solidFill>
            <a:prstDash val="solid"/>
            <a:bevel/>
            <a:headEnd type="none" w="med" len="med"/>
            <a:tailEnd type="none" w="med" len="med"/>
          </a:ln>
        </p:spPr>
      </p:sp>
      <p:sp>
        <p:nvSpPr>
          <p:cNvPr id="254032" name="Line 129"/>
          <p:cNvSpPr/>
          <p:nvPr/>
        </p:nvSpPr>
        <p:spPr>
          <a:xfrm flipH="1">
            <a:off x="1003300" y="2043113"/>
            <a:ext cx="1209675" cy="1587"/>
          </a:xfrm>
          <a:prstGeom prst="line">
            <a:avLst/>
          </a:prstGeom>
          <a:ln w="17463" cap="flat" cmpd="sng">
            <a:solidFill>
              <a:srgbClr val="000000"/>
            </a:solidFill>
            <a:prstDash val="solid"/>
            <a:bevel/>
            <a:headEnd type="none" w="med" len="med"/>
            <a:tailEnd type="none" w="med" len="med"/>
          </a:ln>
        </p:spPr>
      </p:sp>
      <p:grpSp>
        <p:nvGrpSpPr>
          <p:cNvPr id="254033" name="Group 140"/>
          <p:cNvGrpSpPr/>
          <p:nvPr/>
        </p:nvGrpSpPr>
        <p:grpSpPr>
          <a:xfrm>
            <a:off x="188913" y="4062413"/>
            <a:ext cx="452437" cy="1374775"/>
            <a:chOff x="0" y="0"/>
            <a:chExt cx="285" cy="866"/>
          </a:xfrm>
        </p:grpSpPr>
        <p:grpSp>
          <p:nvGrpSpPr>
            <p:cNvPr id="254151" name="Group 136"/>
            <p:cNvGrpSpPr/>
            <p:nvPr/>
          </p:nvGrpSpPr>
          <p:grpSpPr>
            <a:xfrm>
              <a:off x="11" y="0"/>
              <a:ext cx="269" cy="429"/>
              <a:chOff x="0" y="0"/>
              <a:chExt cx="269" cy="429"/>
            </a:xfrm>
          </p:grpSpPr>
          <p:sp>
            <p:nvSpPr>
              <p:cNvPr id="254155" name="Rectangle 133"/>
              <p:cNvSpPr/>
              <p:nvPr/>
            </p:nvSpPr>
            <p:spPr>
              <a:xfrm>
                <a:off x="0" y="256"/>
                <a:ext cx="264" cy="173"/>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A13</a:t>
                </a:r>
                <a:endParaRPr lang="en-US" altLang="zh-CN" sz="1800" b="0" dirty="0">
                  <a:solidFill>
                    <a:schemeClr val="tx1"/>
                  </a:solidFill>
                  <a:ea typeface="楷体_GB2312"/>
                </a:endParaRPr>
              </a:p>
            </p:txBody>
          </p:sp>
          <p:sp>
            <p:nvSpPr>
              <p:cNvPr id="254156" name="Rectangle 134"/>
              <p:cNvSpPr/>
              <p:nvPr/>
            </p:nvSpPr>
            <p:spPr>
              <a:xfrm>
                <a:off x="0" y="0"/>
                <a:ext cx="264" cy="173"/>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A15</a:t>
                </a:r>
                <a:endParaRPr lang="en-US" altLang="zh-CN" sz="1800" b="0" dirty="0">
                  <a:solidFill>
                    <a:schemeClr val="tx1"/>
                  </a:solidFill>
                  <a:ea typeface="楷体_GB2312"/>
                </a:endParaRPr>
              </a:p>
            </p:txBody>
          </p:sp>
          <p:sp>
            <p:nvSpPr>
              <p:cNvPr id="254157" name="Rectangle 135"/>
              <p:cNvSpPr/>
              <p:nvPr/>
            </p:nvSpPr>
            <p:spPr>
              <a:xfrm>
                <a:off x="5" y="130"/>
                <a:ext cx="264" cy="173"/>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A14</a:t>
                </a:r>
                <a:endParaRPr lang="en-US" altLang="zh-CN" sz="1800" b="0" dirty="0">
                  <a:solidFill>
                    <a:schemeClr val="tx1"/>
                  </a:solidFill>
                  <a:ea typeface="楷体_GB2312"/>
                </a:endParaRPr>
              </a:p>
            </p:txBody>
          </p:sp>
        </p:grpSp>
        <p:sp>
          <p:nvSpPr>
            <p:cNvPr id="254152" name="Rectangle 137"/>
            <p:cNvSpPr/>
            <p:nvPr/>
          </p:nvSpPr>
          <p:spPr>
            <a:xfrm>
              <a:off x="21" y="693"/>
              <a:ext cx="264" cy="173"/>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A10</a:t>
              </a:r>
              <a:endParaRPr lang="en-US" altLang="zh-CN" sz="1800" b="0" dirty="0">
                <a:solidFill>
                  <a:schemeClr val="tx1"/>
                </a:solidFill>
                <a:ea typeface="楷体_GB2312"/>
              </a:endParaRPr>
            </a:p>
          </p:txBody>
        </p:sp>
        <p:sp>
          <p:nvSpPr>
            <p:cNvPr id="254153" name="Rectangle 138"/>
            <p:cNvSpPr/>
            <p:nvPr/>
          </p:nvSpPr>
          <p:spPr>
            <a:xfrm>
              <a:off x="5" y="413"/>
              <a:ext cx="264" cy="173"/>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A12</a:t>
              </a:r>
              <a:endParaRPr lang="en-US" altLang="zh-CN" sz="1800" b="0" dirty="0">
                <a:solidFill>
                  <a:schemeClr val="tx1"/>
                </a:solidFill>
                <a:ea typeface="楷体_GB2312"/>
              </a:endParaRPr>
            </a:p>
          </p:txBody>
        </p:sp>
        <p:sp>
          <p:nvSpPr>
            <p:cNvPr id="254154" name="Rectangle 139"/>
            <p:cNvSpPr/>
            <p:nvPr/>
          </p:nvSpPr>
          <p:spPr>
            <a:xfrm>
              <a:off x="0" y="565"/>
              <a:ext cx="264" cy="173"/>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A11</a:t>
              </a:r>
              <a:endParaRPr lang="en-US" altLang="zh-CN" sz="1800" b="0" dirty="0">
                <a:solidFill>
                  <a:schemeClr val="tx1"/>
                </a:solidFill>
                <a:ea typeface="楷体_GB2312"/>
              </a:endParaRPr>
            </a:p>
          </p:txBody>
        </p:sp>
      </p:grpSp>
      <p:sp>
        <p:nvSpPr>
          <p:cNvPr id="254034" name="Freeform 141"/>
          <p:cNvSpPr/>
          <p:nvPr/>
        </p:nvSpPr>
        <p:spPr>
          <a:xfrm>
            <a:off x="954088" y="4527550"/>
            <a:ext cx="155575" cy="180975"/>
          </a:xfrm>
          <a:custGeom>
            <a:avLst/>
            <a:gdLst/>
            <a:ahLst/>
            <a:cxnLst>
              <a:cxn ang="0">
                <a:pos x="0" y="0"/>
              </a:cxn>
              <a:cxn ang="0">
                <a:pos x="0" y="2147483646"/>
              </a:cxn>
              <a:cxn ang="0">
                <a:pos x="2147483646" y="2147483646"/>
              </a:cxn>
              <a:cxn ang="0">
                <a:pos x="0" y="0"/>
              </a:cxn>
            </a:cxnLst>
            <a:pathLst>
              <a:path w="98" h="114">
                <a:moveTo>
                  <a:pt x="0" y="0"/>
                </a:moveTo>
                <a:lnTo>
                  <a:pt x="0" y="114"/>
                </a:lnTo>
                <a:lnTo>
                  <a:pt x="98" y="54"/>
                </a:lnTo>
                <a:lnTo>
                  <a:pt x="0" y="0"/>
                </a:lnTo>
              </a:path>
            </a:pathLst>
          </a:custGeom>
          <a:noFill/>
          <a:ln w="17463" cap="flat" cmpd="sng">
            <a:solidFill>
              <a:srgbClr val="000000">
                <a:alpha val="100000"/>
              </a:srgbClr>
            </a:solidFill>
            <a:prstDash val="solid"/>
            <a:bevel/>
            <a:headEnd type="none" w="med" len="med"/>
            <a:tailEnd type="none" w="med" len="med"/>
          </a:ln>
        </p:spPr>
        <p:txBody>
          <a:bodyPr/>
          <a:p>
            <a:endParaRPr lang="zh-CN" altLang="en-US"/>
          </a:p>
        </p:txBody>
      </p:sp>
      <p:grpSp>
        <p:nvGrpSpPr>
          <p:cNvPr id="254035" name="Group 148"/>
          <p:cNvGrpSpPr/>
          <p:nvPr/>
        </p:nvGrpSpPr>
        <p:grpSpPr>
          <a:xfrm>
            <a:off x="661988" y="4105275"/>
            <a:ext cx="790575" cy="180975"/>
            <a:chOff x="0" y="0"/>
            <a:chExt cx="498" cy="114"/>
          </a:xfrm>
        </p:grpSpPr>
        <p:sp>
          <p:nvSpPr>
            <p:cNvPr id="254145" name="Freeform 142"/>
            <p:cNvSpPr/>
            <p:nvPr/>
          </p:nvSpPr>
          <p:spPr>
            <a:xfrm>
              <a:off x="184" y="0"/>
              <a:ext cx="98" cy="114"/>
            </a:xfrm>
            <a:custGeom>
              <a:avLst/>
              <a:gdLst/>
              <a:ahLst/>
              <a:cxnLst>
                <a:cxn ang="0">
                  <a:pos x="0" y="0"/>
                </a:cxn>
                <a:cxn ang="0">
                  <a:pos x="0" y="114"/>
                </a:cxn>
                <a:cxn ang="0">
                  <a:pos x="98" y="55"/>
                </a:cxn>
                <a:cxn ang="0">
                  <a:pos x="0" y="0"/>
                </a:cxn>
              </a:cxnLst>
              <a:pathLst>
                <a:path w="98" h="114">
                  <a:moveTo>
                    <a:pt x="0" y="0"/>
                  </a:moveTo>
                  <a:lnTo>
                    <a:pt x="0" y="114"/>
                  </a:lnTo>
                  <a:lnTo>
                    <a:pt x="98" y="55"/>
                  </a:lnTo>
                  <a:lnTo>
                    <a:pt x="0" y="0"/>
                  </a:lnTo>
                </a:path>
              </a:pathLst>
            </a:custGeom>
            <a:noFill/>
            <a:ln w="17463" cap="flat" cmpd="sng">
              <a:solidFill>
                <a:srgbClr val="000000">
                  <a:alpha val="100000"/>
                </a:srgbClr>
              </a:solidFill>
              <a:prstDash val="solid"/>
              <a:bevel/>
              <a:headEnd type="none" w="med" len="med"/>
              <a:tailEnd type="none" w="med" len="med"/>
            </a:ln>
          </p:spPr>
          <p:txBody>
            <a:bodyPr/>
            <a:p>
              <a:endParaRPr lang="zh-CN" altLang="en-US"/>
            </a:p>
          </p:txBody>
        </p:sp>
        <p:grpSp>
          <p:nvGrpSpPr>
            <p:cNvPr id="254146" name="Group 147"/>
            <p:cNvGrpSpPr/>
            <p:nvPr/>
          </p:nvGrpSpPr>
          <p:grpSpPr>
            <a:xfrm>
              <a:off x="0" y="24"/>
              <a:ext cx="498" cy="64"/>
              <a:chOff x="0" y="0"/>
              <a:chExt cx="498" cy="64"/>
            </a:xfrm>
          </p:grpSpPr>
          <p:sp>
            <p:nvSpPr>
              <p:cNvPr id="254147" name="Oval 143"/>
              <p:cNvSpPr/>
              <p:nvPr/>
            </p:nvSpPr>
            <p:spPr>
              <a:xfrm>
                <a:off x="282" y="0"/>
                <a:ext cx="61" cy="64"/>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48" name="Line 144"/>
              <p:cNvSpPr/>
              <p:nvPr/>
            </p:nvSpPr>
            <p:spPr>
              <a:xfrm>
                <a:off x="58" y="31"/>
                <a:ext cx="126" cy="1"/>
              </a:xfrm>
              <a:prstGeom prst="line">
                <a:avLst/>
              </a:prstGeom>
              <a:ln w="17463" cap="flat" cmpd="sng">
                <a:solidFill>
                  <a:srgbClr val="000000"/>
                </a:solidFill>
                <a:prstDash val="solid"/>
                <a:bevel/>
                <a:headEnd type="none" w="med" len="med"/>
                <a:tailEnd type="none" w="med" len="med"/>
              </a:ln>
            </p:spPr>
          </p:sp>
          <p:sp>
            <p:nvSpPr>
              <p:cNvPr id="254149" name="Line 145"/>
              <p:cNvSpPr/>
              <p:nvPr/>
            </p:nvSpPr>
            <p:spPr>
              <a:xfrm>
                <a:off x="351" y="31"/>
                <a:ext cx="147" cy="1"/>
              </a:xfrm>
              <a:prstGeom prst="line">
                <a:avLst/>
              </a:prstGeom>
              <a:ln w="17463" cap="flat" cmpd="sng">
                <a:solidFill>
                  <a:srgbClr val="000000"/>
                </a:solidFill>
                <a:prstDash val="solid"/>
                <a:bevel/>
                <a:headEnd type="none" w="med" len="med"/>
                <a:tailEnd type="none" w="med" len="med"/>
              </a:ln>
            </p:spPr>
          </p:sp>
          <p:sp>
            <p:nvSpPr>
              <p:cNvPr id="254150" name="Oval 146"/>
              <p:cNvSpPr/>
              <p:nvPr/>
            </p:nvSpPr>
            <p:spPr>
              <a:xfrm>
                <a:off x="0" y="0"/>
                <a:ext cx="56" cy="59"/>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grpSp>
      </p:grpSp>
      <p:sp>
        <p:nvSpPr>
          <p:cNvPr id="254036" name="Freeform 149"/>
          <p:cNvSpPr/>
          <p:nvPr/>
        </p:nvSpPr>
        <p:spPr>
          <a:xfrm>
            <a:off x="954088" y="4316413"/>
            <a:ext cx="155575" cy="180975"/>
          </a:xfrm>
          <a:custGeom>
            <a:avLst/>
            <a:gdLst/>
            <a:ahLst/>
            <a:cxnLst>
              <a:cxn ang="0">
                <a:pos x="0" y="0"/>
              </a:cxn>
              <a:cxn ang="0">
                <a:pos x="0" y="2147483646"/>
              </a:cxn>
              <a:cxn ang="0">
                <a:pos x="2147483646" y="2147483646"/>
              </a:cxn>
              <a:cxn ang="0">
                <a:pos x="0" y="0"/>
              </a:cxn>
            </a:cxnLst>
            <a:pathLst>
              <a:path w="98" h="114">
                <a:moveTo>
                  <a:pt x="0" y="0"/>
                </a:moveTo>
                <a:lnTo>
                  <a:pt x="0" y="114"/>
                </a:lnTo>
                <a:lnTo>
                  <a:pt x="98" y="54"/>
                </a:lnTo>
                <a:lnTo>
                  <a:pt x="0" y="0"/>
                </a:lnTo>
              </a:path>
            </a:pathLst>
          </a:custGeom>
          <a:noFill/>
          <a:ln w="17463" cap="flat" cmpd="sng">
            <a:solidFill>
              <a:srgbClr val="000000">
                <a:alpha val="100000"/>
              </a:srgbClr>
            </a:solidFill>
            <a:prstDash val="solid"/>
            <a:bevel/>
            <a:headEnd type="none" w="med" len="med"/>
            <a:tailEnd type="none" w="med" len="med"/>
          </a:ln>
        </p:spPr>
        <p:txBody>
          <a:bodyPr/>
          <a:p>
            <a:endParaRPr lang="zh-CN" altLang="en-US"/>
          </a:p>
        </p:txBody>
      </p:sp>
      <p:sp>
        <p:nvSpPr>
          <p:cNvPr id="254037" name="Oval 150"/>
          <p:cNvSpPr/>
          <p:nvPr/>
        </p:nvSpPr>
        <p:spPr>
          <a:xfrm>
            <a:off x="1109663" y="4354513"/>
            <a:ext cx="96837" cy="100012"/>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038" name="Line 151"/>
          <p:cNvSpPr/>
          <p:nvPr/>
        </p:nvSpPr>
        <p:spPr>
          <a:xfrm>
            <a:off x="754063" y="4402138"/>
            <a:ext cx="200025" cy="1587"/>
          </a:xfrm>
          <a:prstGeom prst="line">
            <a:avLst/>
          </a:prstGeom>
          <a:ln w="17463" cap="flat" cmpd="sng">
            <a:solidFill>
              <a:srgbClr val="000000"/>
            </a:solidFill>
            <a:prstDash val="solid"/>
            <a:bevel/>
            <a:headEnd type="none" w="med" len="med"/>
            <a:tailEnd type="none" w="med" len="med"/>
          </a:ln>
        </p:spPr>
      </p:sp>
      <p:sp>
        <p:nvSpPr>
          <p:cNvPr id="254039" name="Line 152"/>
          <p:cNvSpPr/>
          <p:nvPr/>
        </p:nvSpPr>
        <p:spPr>
          <a:xfrm>
            <a:off x="1219200" y="4402138"/>
            <a:ext cx="233363" cy="1587"/>
          </a:xfrm>
          <a:prstGeom prst="line">
            <a:avLst/>
          </a:prstGeom>
          <a:ln w="17463" cap="flat" cmpd="sng">
            <a:solidFill>
              <a:srgbClr val="000000"/>
            </a:solidFill>
            <a:prstDash val="solid"/>
            <a:bevel/>
            <a:headEnd type="none" w="med" len="med"/>
            <a:tailEnd type="none" w="med" len="med"/>
          </a:ln>
        </p:spPr>
      </p:sp>
      <p:sp>
        <p:nvSpPr>
          <p:cNvPr id="254040" name="Oval 153"/>
          <p:cNvSpPr/>
          <p:nvPr/>
        </p:nvSpPr>
        <p:spPr>
          <a:xfrm>
            <a:off x="661988" y="4354513"/>
            <a:ext cx="88900" cy="93662"/>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041" name="Oval 154"/>
          <p:cNvSpPr/>
          <p:nvPr/>
        </p:nvSpPr>
        <p:spPr>
          <a:xfrm>
            <a:off x="1109663" y="4565650"/>
            <a:ext cx="96837" cy="100013"/>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042" name="Line 155"/>
          <p:cNvSpPr/>
          <p:nvPr/>
        </p:nvSpPr>
        <p:spPr>
          <a:xfrm>
            <a:off x="754063" y="4613275"/>
            <a:ext cx="200025" cy="1588"/>
          </a:xfrm>
          <a:prstGeom prst="line">
            <a:avLst/>
          </a:prstGeom>
          <a:ln w="17463" cap="flat" cmpd="sng">
            <a:solidFill>
              <a:srgbClr val="000000"/>
            </a:solidFill>
            <a:prstDash val="solid"/>
            <a:bevel/>
            <a:headEnd type="none" w="med" len="med"/>
            <a:tailEnd type="none" w="med" len="med"/>
          </a:ln>
        </p:spPr>
      </p:sp>
      <p:sp>
        <p:nvSpPr>
          <p:cNvPr id="254043" name="Line 156"/>
          <p:cNvSpPr/>
          <p:nvPr/>
        </p:nvSpPr>
        <p:spPr>
          <a:xfrm>
            <a:off x="1219200" y="4613275"/>
            <a:ext cx="233363" cy="1588"/>
          </a:xfrm>
          <a:prstGeom prst="line">
            <a:avLst/>
          </a:prstGeom>
          <a:ln w="17463" cap="flat" cmpd="sng">
            <a:solidFill>
              <a:srgbClr val="000000"/>
            </a:solidFill>
            <a:prstDash val="solid"/>
            <a:bevel/>
            <a:headEnd type="none" w="med" len="med"/>
            <a:tailEnd type="none" w="med" len="med"/>
          </a:ln>
        </p:spPr>
      </p:sp>
      <p:sp>
        <p:nvSpPr>
          <p:cNvPr id="254044" name="Oval 157"/>
          <p:cNvSpPr/>
          <p:nvPr/>
        </p:nvSpPr>
        <p:spPr>
          <a:xfrm>
            <a:off x="661988" y="4565650"/>
            <a:ext cx="88900" cy="93663"/>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grpSp>
        <p:nvGrpSpPr>
          <p:cNvPr id="254045" name="Group 163"/>
          <p:cNvGrpSpPr/>
          <p:nvPr/>
        </p:nvGrpSpPr>
        <p:grpSpPr>
          <a:xfrm>
            <a:off x="657225" y="4733925"/>
            <a:ext cx="792163" cy="180975"/>
            <a:chOff x="0" y="0"/>
            <a:chExt cx="499" cy="114"/>
          </a:xfrm>
        </p:grpSpPr>
        <p:sp>
          <p:nvSpPr>
            <p:cNvPr id="254140" name="Freeform 158"/>
            <p:cNvSpPr/>
            <p:nvPr/>
          </p:nvSpPr>
          <p:spPr>
            <a:xfrm>
              <a:off x="185" y="0"/>
              <a:ext cx="97" cy="114"/>
            </a:xfrm>
            <a:custGeom>
              <a:avLst/>
              <a:gdLst/>
              <a:ahLst/>
              <a:cxnLst>
                <a:cxn ang="0">
                  <a:pos x="0" y="0"/>
                </a:cxn>
                <a:cxn ang="0">
                  <a:pos x="0" y="114"/>
                </a:cxn>
                <a:cxn ang="0">
                  <a:pos x="97" y="55"/>
                </a:cxn>
                <a:cxn ang="0">
                  <a:pos x="0" y="0"/>
                </a:cxn>
              </a:cxnLst>
              <a:pathLst>
                <a:path w="97" h="114">
                  <a:moveTo>
                    <a:pt x="0" y="0"/>
                  </a:moveTo>
                  <a:lnTo>
                    <a:pt x="0" y="114"/>
                  </a:lnTo>
                  <a:lnTo>
                    <a:pt x="97" y="55"/>
                  </a:lnTo>
                  <a:lnTo>
                    <a:pt x="0" y="0"/>
                  </a:lnTo>
                </a:path>
              </a:pathLst>
            </a:custGeom>
            <a:noFill/>
            <a:ln w="17463" cap="flat" cmpd="sng">
              <a:solidFill>
                <a:srgbClr val="000000">
                  <a:alpha val="100000"/>
                </a:srgbClr>
              </a:solidFill>
              <a:prstDash val="solid"/>
              <a:bevel/>
              <a:headEnd type="none" w="med" len="med"/>
              <a:tailEnd type="none" w="med" len="med"/>
            </a:ln>
          </p:spPr>
          <p:txBody>
            <a:bodyPr/>
            <a:p>
              <a:endParaRPr lang="zh-CN" altLang="en-US"/>
            </a:p>
          </p:txBody>
        </p:sp>
        <p:sp>
          <p:nvSpPr>
            <p:cNvPr id="254141" name="Oval 159"/>
            <p:cNvSpPr/>
            <p:nvPr/>
          </p:nvSpPr>
          <p:spPr>
            <a:xfrm>
              <a:off x="282" y="24"/>
              <a:ext cx="61" cy="64"/>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42" name="Line 160"/>
            <p:cNvSpPr/>
            <p:nvPr/>
          </p:nvSpPr>
          <p:spPr>
            <a:xfrm>
              <a:off x="58" y="55"/>
              <a:ext cx="127" cy="1"/>
            </a:xfrm>
            <a:prstGeom prst="line">
              <a:avLst/>
            </a:prstGeom>
            <a:ln w="17463" cap="flat" cmpd="sng">
              <a:solidFill>
                <a:srgbClr val="000000"/>
              </a:solidFill>
              <a:prstDash val="solid"/>
              <a:bevel/>
              <a:headEnd type="none" w="med" len="med"/>
              <a:tailEnd type="none" w="med" len="med"/>
            </a:ln>
          </p:spPr>
        </p:sp>
        <p:sp>
          <p:nvSpPr>
            <p:cNvPr id="254143" name="Line 161"/>
            <p:cNvSpPr/>
            <p:nvPr/>
          </p:nvSpPr>
          <p:spPr>
            <a:xfrm>
              <a:off x="351" y="55"/>
              <a:ext cx="148" cy="1"/>
            </a:xfrm>
            <a:prstGeom prst="line">
              <a:avLst/>
            </a:prstGeom>
            <a:ln w="17463" cap="flat" cmpd="sng">
              <a:solidFill>
                <a:srgbClr val="000000"/>
              </a:solidFill>
              <a:prstDash val="solid"/>
              <a:bevel/>
              <a:headEnd type="none" w="med" len="med"/>
              <a:tailEnd type="none" w="med" len="med"/>
            </a:ln>
          </p:spPr>
        </p:sp>
        <p:sp>
          <p:nvSpPr>
            <p:cNvPr id="254144" name="Oval 162"/>
            <p:cNvSpPr/>
            <p:nvPr/>
          </p:nvSpPr>
          <p:spPr>
            <a:xfrm>
              <a:off x="0" y="24"/>
              <a:ext cx="56" cy="59"/>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grpSp>
      <p:sp>
        <p:nvSpPr>
          <p:cNvPr id="254046" name="Freeform 164"/>
          <p:cNvSpPr/>
          <p:nvPr/>
        </p:nvSpPr>
        <p:spPr>
          <a:xfrm>
            <a:off x="958850" y="4949825"/>
            <a:ext cx="155575" cy="179388"/>
          </a:xfrm>
          <a:custGeom>
            <a:avLst/>
            <a:gdLst/>
            <a:ahLst/>
            <a:cxnLst>
              <a:cxn ang="0">
                <a:pos x="0" y="0"/>
              </a:cxn>
              <a:cxn ang="0">
                <a:pos x="0" y="2147483646"/>
              </a:cxn>
              <a:cxn ang="0">
                <a:pos x="2147483646" y="2147483646"/>
              </a:cxn>
              <a:cxn ang="0">
                <a:pos x="0" y="0"/>
              </a:cxn>
            </a:cxnLst>
            <a:pathLst>
              <a:path w="98" h="113">
                <a:moveTo>
                  <a:pt x="0" y="0"/>
                </a:moveTo>
                <a:lnTo>
                  <a:pt x="0" y="113"/>
                </a:lnTo>
                <a:lnTo>
                  <a:pt x="98" y="54"/>
                </a:lnTo>
                <a:lnTo>
                  <a:pt x="0" y="0"/>
                </a:lnTo>
              </a:path>
            </a:pathLst>
          </a:custGeom>
          <a:noFill/>
          <a:ln w="17463" cap="flat" cmpd="sng">
            <a:solidFill>
              <a:srgbClr val="000000">
                <a:alpha val="100000"/>
              </a:srgbClr>
            </a:solidFill>
            <a:prstDash val="solid"/>
            <a:bevel/>
            <a:headEnd type="none" w="med" len="med"/>
            <a:tailEnd type="none" w="med" len="med"/>
          </a:ln>
        </p:spPr>
        <p:txBody>
          <a:bodyPr/>
          <a:p>
            <a:endParaRPr lang="zh-CN" altLang="en-US"/>
          </a:p>
        </p:txBody>
      </p:sp>
      <p:sp>
        <p:nvSpPr>
          <p:cNvPr id="254047" name="Oval 165"/>
          <p:cNvSpPr/>
          <p:nvPr/>
        </p:nvSpPr>
        <p:spPr>
          <a:xfrm>
            <a:off x="1104900" y="4987925"/>
            <a:ext cx="96838" cy="100013"/>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048" name="Line 166"/>
          <p:cNvSpPr/>
          <p:nvPr/>
        </p:nvSpPr>
        <p:spPr>
          <a:xfrm>
            <a:off x="749300" y="5035550"/>
            <a:ext cx="201613" cy="1588"/>
          </a:xfrm>
          <a:prstGeom prst="line">
            <a:avLst/>
          </a:prstGeom>
          <a:ln w="17463" cap="flat" cmpd="sng">
            <a:solidFill>
              <a:srgbClr val="000000"/>
            </a:solidFill>
            <a:prstDash val="solid"/>
            <a:bevel/>
            <a:headEnd type="none" w="med" len="med"/>
            <a:tailEnd type="none" w="med" len="med"/>
          </a:ln>
        </p:spPr>
      </p:sp>
      <p:sp>
        <p:nvSpPr>
          <p:cNvPr id="254049" name="Line 167"/>
          <p:cNvSpPr/>
          <p:nvPr/>
        </p:nvSpPr>
        <p:spPr>
          <a:xfrm>
            <a:off x="1214438" y="5035550"/>
            <a:ext cx="234950" cy="1588"/>
          </a:xfrm>
          <a:prstGeom prst="line">
            <a:avLst/>
          </a:prstGeom>
          <a:ln w="17463" cap="flat" cmpd="sng">
            <a:solidFill>
              <a:srgbClr val="000000"/>
            </a:solidFill>
            <a:prstDash val="solid"/>
            <a:bevel/>
            <a:headEnd type="none" w="med" len="med"/>
            <a:tailEnd type="none" w="med" len="med"/>
          </a:ln>
        </p:spPr>
      </p:sp>
      <p:sp>
        <p:nvSpPr>
          <p:cNvPr id="254050" name="Oval 168"/>
          <p:cNvSpPr/>
          <p:nvPr/>
        </p:nvSpPr>
        <p:spPr>
          <a:xfrm>
            <a:off x="657225" y="4987925"/>
            <a:ext cx="88900" cy="92075"/>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051" name="Freeform 169"/>
          <p:cNvSpPr/>
          <p:nvPr/>
        </p:nvSpPr>
        <p:spPr>
          <a:xfrm>
            <a:off x="950913" y="5159375"/>
            <a:ext cx="153987" cy="180975"/>
          </a:xfrm>
          <a:custGeom>
            <a:avLst/>
            <a:gdLst/>
            <a:ahLst/>
            <a:cxnLst>
              <a:cxn ang="0">
                <a:pos x="0" y="0"/>
              </a:cxn>
              <a:cxn ang="0">
                <a:pos x="0" y="2147483646"/>
              </a:cxn>
              <a:cxn ang="0">
                <a:pos x="2147483646" y="2147483646"/>
              </a:cxn>
              <a:cxn ang="0">
                <a:pos x="0" y="0"/>
              </a:cxn>
            </a:cxnLst>
            <a:pathLst>
              <a:path w="97" h="114">
                <a:moveTo>
                  <a:pt x="0" y="0"/>
                </a:moveTo>
                <a:lnTo>
                  <a:pt x="0" y="114"/>
                </a:lnTo>
                <a:lnTo>
                  <a:pt x="97" y="55"/>
                </a:lnTo>
                <a:lnTo>
                  <a:pt x="0" y="0"/>
                </a:lnTo>
              </a:path>
            </a:pathLst>
          </a:custGeom>
          <a:noFill/>
          <a:ln w="17463" cap="flat" cmpd="sng">
            <a:solidFill>
              <a:srgbClr val="000000">
                <a:alpha val="100000"/>
              </a:srgbClr>
            </a:solidFill>
            <a:prstDash val="solid"/>
            <a:bevel/>
            <a:headEnd type="none" w="med" len="med"/>
            <a:tailEnd type="none" w="med" len="med"/>
          </a:ln>
        </p:spPr>
        <p:txBody>
          <a:bodyPr/>
          <a:p>
            <a:endParaRPr lang="zh-CN" altLang="en-US"/>
          </a:p>
        </p:txBody>
      </p:sp>
      <p:sp>
        <p:nvSpPr>
          <p:cNvPr id="254052" name="Oval 170"/>
          <p:cNvSpPr/>
          <p:nvPr/>
        </p:nvSpPr>
        <p:spPr>
          <a:xfrm>
            <a:off x="1104900" y="5197475"/>
            <a:ext cx="96838" cy="101600"/>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053" name="Line 171"/>
          <p:cNvSpPr/>
          <p:nvPr/>
        </p:nvSpPr>
        <p:spPr>
          <a:xfrm>
            <a:off x="749300" y="5246688"/>
            <a:ext cx="201613" cy="1587"/>
          </a:xfrm>
          <a:prstGeom prst="line">
            <a:avLst/>
          </a:prstGeom>
          <a:ln w="17463" cap="flat" cmpd="sng">
            <a:solidFill>
              <a:srgbClr val="000000"/>
            </a:solidFill>
            <a:prstDash val="solid"/>
            <a:bevel/>
            <a:headEnd type="none" w="med" len="med"/>
            <a:tailEnd type="none" w="med" len="med"/>
          </a:ln>
        </p:spPr>
      </p:sp>
      <p:sp>
        <p:nvSpPr>
          <p:cNvPr id="254054" name="Line 172"/>
          <p:cNvSpPr/>
          <p:nvPr/>
        </p:nvSpPr>
        <p:spPr>
          <a:xfrm>
            <a:off x="1214438" y="5246688"/>
            <a:ext cx="234950" cy="1587"/>
          </a:xfrm>
          <a:prstGeom prst="line">
            <a:avLst/>
          </a:prstGeom>
          <a:ln w="17463" cap="flat" cmpd="sng">
            <a:solidFill>
              <a:srgbClr val="000000"/>
            </a:solidFill>
            <a:prstDash val="solid"/>
            <a:bevel/>
            <a:headEnd type="none" w="med" len="med"/>
            <a:tailEnd type="none" w="med" len="med"/>
          </a:ln>
        </p:spPr>
      </p:sp>
      <p:sp>
        <p:nvSpPr>
          <p:cNvPr id="254055" name="Oval 173"/>
          <p:cNvSpPr/>
          <p:nvPr/>
        </p:nvSpPr>
        <p:spPr>
          <a:xfrm>
            <a:off x="657225" y="5197475"/>
            <a:ext cx="88900" cy="93663"/>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grpSp>
        <p:nvGrpSpPr>
          <p:cNvPr id="254056" name="Group 180"/>
          <p:cNvGrpSpPr/>
          <p:nvPr/>
        </p:nvGrpSpPr>
        <p:grpSpPr>
          <a:xfrm>
            <a:off x="661988" y="5378450"/>
            <a:ext cx="790575" cy="180975"/>
            <a:chOff x="0" y="0"/>
            <a:chExt cx="498" cy="114"/>
          </a:xfrm>
        </p:grpSpPr>
        <p:sp>
          <p:nvSpPr>
            <p:cNvPr id="254134" name="Freeform 174"/>
            <p:cNvSpPr/>
            <p:nvPr/>
          </p:nvSpPr>
          <p:spPr>
            <a:xfrm>
              <a:off x="184" y="0"/>
              <a:ext cx="98" cy="114"/>
            </a:xfrm>
            <a:custGeom>
              <a:avLst/>
              <a:gdLst/>
              <a:ahLst/>
              <a:cxnLst>
                <a:cxn ang="0">
                  <a:pos x="0" y="0"/>
                </a:cxn>
                <a:cxn ang="0">
                  <a:pos x="0" y="114"/>
                </a:cxn>
                <a:cxn ang="0">
                  <a:pos x="98" y="55"/>
                </a:cxn>
                <a:cxn ang="0">
                  <a:pos x="0" y="0"/>
                </a:cxn>
              </a:cxnLst>
              <a:pathLst>
                <a:path w="98" h="114">
                  <a:moveTo>
                    <a:pt x="0" y="0"/>
                  </a:moveTo>
                  <a:lnTo>
                    <a:pt x="0" y="114"/>
                  </a:lnTo>
                  <a:lnTo>
                    <a:pt x="98" y="55"/>
                  </a:lnTo>
                  <a:lnTo>
                    <a:pt x="0" y="0"/>
                  </a:lnTo>
                </a:path>
              </a:pathLst>
            </a:custGeom>
            <a:noFill/>
            <a:ln w="17463" cap="flat" cmpd="sng">
              <a:solidFill>
                <a:srgbClr val="000000">
                  <a:alpha val="100000"/>
                </a:srgbClr>
              </a:solidFill>
              <a:prstDash val="solid"/>
              <a:bevel/>
              <a:headEnd type="none" w="med" len="med"/>
              <a:tailEnd type="none" w="med" len="med"/>
            </a:ln>
          </p:spPr>
          <p:txBody>
            <a:bodyPr/>
            <a:p>
              <a:endParaRPr lang="zh-CN" altLang="en-US"/>
            </a:p>
          </p:txBody>
        </p:sp>
        <p:grpSp>
          <p:nvGrpSpPr>
            <p:cNvPr id="254135" name="Group 179"/>
            <p:cNvGrpSpPr/>
            <p:nvPr/>
          </p:nvGrpSpPr>
          <p:grpSpPr>
            <a:xfrm>
              <a:off x="0" y="24"/>
              <a:ext cx="498" cy="64"/>
              <a:chOff x="0" y="0"/>
              <a:chExt cx="498" cy="64"/>
            </a:xfrm>
          </p:grpSpPr>
          <p:sp>
            <p:nvSpPr>
              <p:cNvPr id="254136" name="Oval 175"/>
              <p:cNvSpPr/>
              <p:nvPr/>
            </p:nvSpPr>
            <p:spPr>
              <a:xfrm>
                <a:off x="282" y="0"/>
                <a:ext cx="61" cy="64"/>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37" name="Line 176"/>
              <p:cNvSpPr/>
              <p:nvPr/>
            </p:nvSpPr>
            <p:spPr>
              <a:xfrm>
                <a:off x="58" y="31"/>
                <a:ext cx="126" cy="1"/>
              </a:xfrm>
              <a:prstGeom prst="line">
                <a:avLst/>
              </a:prstGeom>
              <a:ln w="17463" cap="flat" cmpd="sng">
                <a:solidFill>
                  <a:srgbClr val="000000"/>
                </a:solidFill>
                <a:prstDash val="solid"/>
                <a:bevel/>
                <a:headEnd type="none" w="med" len="med"/>
                <a:tailEnd type="none" w="med" len="med"/>
              </a:ln>
            </p:spPr>
          </p:sp>
          <p:sp>
            <p:nvSpPr>
              <p:cNvPr id="254138" name="Line 177"/>
              <p:cNvSpPr/>
              <p:nvPr/>
            </p:nvSpPr>
            <p:spPr>
              <a:xfrm>
                <a:off x="351" y="31"/>
                <a:ext cx="147" cy="1"/>
              </a:xfrm>
              <a:prstGeom prst="line">
                <a:avLst/>
              </a:prstGeom>
              <a:ln w="17463" cap="flat" cmpd="sng">
                <a:solidFill>
                  <a:srgbClr val="000000"/>
                </a:solidFill>
                <a:prstDash val="solid"/>
                <a:bevel/>
                <a:headEnd type="none" w="med" len="med"/>
                <a:tailEnd type="none" w="med" len="med"/>
              </a:ln>
            </p:spPr>
          </p:sp>
          <p:sp>
            <p:nvSpPr>
              <p:cNvPr id="254139" name="Oval 178"/>
              <p:cNvSpPr/>
              <p:nvPr/>
            </p:nvSpPr>
            <p:spPr>
              <a:xfrm>
                <a:off x="0" y="0"/>
                <a:ext cx="56" cy="59"/>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grpSp>
      </p:grpSp>
      <p:sp>
        <p:nvSpPr>
          <p:cNvPr id="254057" name="Line 181"/>
          <p:cNvSpPr/>
          <p:nvPr/>
        </p:nvSpPr>
        <p:spPr>
          <a:xfrm>
            <a:off x="1457325" y="4741863"/>
            <a:ext cx="301625" cy="1587"/>
          </a:xfrm>
          <a:prstGeom prst="line">
            <a:avLst/>
          </a:prstGeom>
          <a:ln w="17463" cap="flat" cmpd="sng">
            <a:solidFill>
              <a:srgbClr val="000000"/>
            </a:solidFill>
            <a:prstDash val="solid"/>
            <a:bevel/>
            <a:headEnd type="none" w="med" len="med"/>
            <a:tailEnd type="none" w="med" len="med"/>
          </a:ln>
        </p:spPr>
      </p:sp>
      <p:sp>
        <p:nvSpPr>
          <p:cNvPr id="254058" name="Arc 182"/>
          <p:cNvSpPr/>
          <p:nvPr/>
        </p:nvSpPr>
        <p:spPr>
          <a:xfrm>
            <a:off x="1766888" y="4741863"/>
            <a:ext cx="201612" cy="180975"/>
          </a:xfrm>
          <a:custGeom>
            <a:avLst/>
            <a:gdLst/>
            <a:ahLst/>
            <a:cxnLst>
              <a:cxn ang="0">
                <a:pos x="0" y="0"/>
              </a:cxn>
              <a:cxn ang="0">
                <a:pos x="2147483646" y="2147483646"/>
              </a:cxn>
              <a:cxn ang="0">
                <a:pos x="0" y="0"/>
              </a:cxn>
              <a:cxn ang="0">
                <a:pos x="2147483646" y="2147483646"/>
              </a:cxn>
              <a:cxn ang="0">
                <a:pos x="0" y="2147483646"/>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7463" cap="flat" cmpd="sng">
            <a:solidFill>
              <a:srgbClr val="000000">
                <a:alpha val="100000"/>
              </a:srgbClr>
            </a:solidFill>
            <a:prstDash val="solid"/>
            <a:bevel/>
            <a:headEnd type="none" w="med" len="med"/>
            <a:tailEnd type="none" w="med" len="med"/>
          </a:ln>
        </p:spPr>
        <p:txBody>
          <a:bodyPr/>
          <a:p>
            <a:endParaRPr lang="zh-CN" altLang="en-US"/>
          </a:p>
        </p:txBody>
      </p:sp>
      <p:sp>
        <p:nvSpPr>
          <p:cNvPr id="254059" name="Arc 183"/>
          <p:cNvSpPr/>
          <p:nvPr/>
        </p:nvSpPr>
        <p:spPr>
          <a:xfrm>
            <a:off x="1766888" y="4922838"/>
            <a:ext cx="201612" cy="180975"/>
          </a:xfrm>
          <a:custGeom>
            <a:avLst/>
            <a:gdLst/>
            <a:ahLst/>
            <a:cxnLst>
              <a:cxn ang="0">
                <a:pos x="2147483646" y="0"/>
              </a:cxn>
              <a:cxn ang="0">
                <a:pos x="0" y="2147483646"/>
              </a:cxn>
              <a:cxn ang="0">
                <a:pos x="2147483646" y="0"/>
              </a:cxn>
              <a:cxn ang="0">
                <a:pos x="0" y="2147483646"/>
              </a:cxn>
              <a:cxn ang="0">
                <a:pos x="0" y="0"/>
              </a:cxn>
              <a:cxn ang="0">
                <a:pos x="2147483646" y="0"/>
              </a:cxn>
            </a:cxnLst>
            <a:pathLst>
              <a:path w="21600" h="21600" fill="none">
                <a:moveTo>
                  <a:pt x="21600" y="0"/>
                </a:moveTo>
                <a:cubicBezTo>
                  <a:pt x="21600" y="11929"/>
                  <a:pt x="11929" y="21599"/>
                  <a:pt x="0" y="21600"/>
                </a:cubicBezTo>
              </a:path>
              <a:path w="21600" h="21600" stroke="0">
                <a:moveTo>
                  <a:pt x="21600" y="0"/>
                </a:moveTo>
                <a:cubicBezTo>
                  <a:pt x="21600" y="11929"/>
                  <a:pt x="11929" y="21599"/>
                  <a:pt x="0" y="21600"/>
                </a:cubicBezTo>
                <a:lnTo>
                  <a:pt x="0" y="0"/>
                </a:lnTo>
                <a:lnTo>
                  <a:pt x="21600" y="0"/>
                </a:lnTo>
                <a:close/>
              </a:path>
            </a:pathLst>
          </a:custGeom>
          <a:noFill/>
          <a:ln w="17463" cap="flat" cmpd="sng">
            <a:solidFill>
              <a:srgbClr val="000000">
                <a:alpha val="100000"/>
              </a:srgbClr>
            </a:solidFill>
            <a:prstDash val="solid"/>
            <a:bevel/>
            <a:headEnd type="none" w="med" len="med"/>
            <a:tailEnd type="none" w="med" len="med"/>
          </a:ln>
        </p:spPr>
        <p:txBody>
          <a:bodyPr/>
          <a:p>
            <a:endParaRPr lang="zh-CN" altLang="en-US"/>
          </a:p>
        </p:txBody>
      </p:sp>
      <p:sp>
        <p:nvSpPr>
          <p:cNvPr id="254060" name="Line 184"/>
          <p:cNvSpPr/>
          <p:nvPr/>
        </p:nvSpPr>
        <p:spPr>
          <a:xfrm flipH="1">
            <a:off x="1465263" y="5103813"/>
            <a:ext cx="301625" cy="1587"/>
          </a:xfrm>
          <a:prstGeom prst="line">
            <a:avLst/>
          </a:prstGeom>
          <a:ln w="17463" cap="flat" cmpd="sng">
            <a:solidFill>
              <a:srgbClr val="000000"/>
            </a:solidFill>
            <a:prstDash val="solid"/>
            <a:bevel/>
            <a:headEnd type="none" w="med" len="med"/>
            <a:tailEnd type="none" w="med" len="med"/>
          </a:ln>
        </p:spPr>
      </p:sp>
      <p:sp>
        <p:nvSpPr>
          <p:cNvPr id="254061" name="Oval 185"/>
          <p:cNvSpPr/>
          <p:nvPr/>
        </p:nvSpPr>
        <p:spPr>
          <a:xfrm>
            <a:off x="1966913" y="4862513"/>
            <a:ext cx="142875" cy="127000"/>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062" name="Rectangle 186"/>
          <p:cNvSpPr/>
          <p:nvPr/>
        </p:nvSpPr>
        <p:spPr>
          <a:xfrm>
            <a:off x="1522413" y="4487863"/>
            <a:ext cx="8001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74LS30</a:t>
            </a:r>
            <a:endParaRPr lang="en-US" altLang="zh-CN" sz="1800" b="0" dirty="0">
              <a:solidFill>
                <a:schemeClr val="tx1"/>
              </a:solidFill>
              <a:ea typeface="楷体_GB2312"/>
            </a:endParaRPr>
          </a:p>
        </p:txBody>
      </p:sp>
      <p:sp>
        <p:nvSpPr>
          <p:cNvPr id="254063" name="Rectangle 187"/>
          <p:cNvSpPr/>
          <p:nvPr/>
        </p:nvSpPr>
        <p:spPr>
          <a:xfrm>
            <a:off x="790575" y="5565775"/>
            <a:ext cx="8001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74LS04</a:t>
            </a:r>
            <a:endParaRPr lang="en-US" altLang="zh-CN" sz="1800" b="0" dirty="0">
              <a:solidFill>
                <a:schemeClr val="tx1"/>
              </a:solidFill>
              <a:ea typeface="楷体_GB2312"/>
            </a:endParaRPr>
          </a:p>
        </p:txBody>
      </p:sp>
      <p:sp>
        <p:nvSpPr>
          <p:cNvPr id="254064" name="Rectangle 188"/>
          <p:cNvSpPr/>
          <p:nvPr/>
        </p:nvSpPr>
        <p:spPr>
          <a:xfrm>
            <a:off x="334963" y="5359400"/>
            <a:ext cx="2921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A9</a:t>
            </a:r>
            <a:endParaRPr lang="en-US" altLang="zh-CN" sz="1800" b="0" dirty="0">
              <a:solidFill>
                <a:schemeClr val="tx1"/>
              </a:solidFill>
              <a:ea typeface="楷体_GB2312"/>
            </a:endParaRPr>
          </a:p>
        </p:txBody>
      </p:sp>
      <p:sp>
        <p:nvSpPr>
          <p:cNvPr id="254065" name="Line 189"/>
          <p:cNvSpPr/>
          <p:nvPr/>
        </p:nvSpPr>
        <p:spPr>
          <a:xfrm flipH="1">
            <a:off x="1247775" y="4006850"/>
            <a:ext cx="201613" cy="1588"/>
          </a:xfrm>
          <a:prstGeom prst="line">
            <a:avLst/>
          </a:prstGeom>
          <a:ln w="17463" cap="flat" cmpd="sng">
            <a:solidFill>
              <a:srgbClr val="000000"/>
            </a:solidFill>
            <a:prstDash val="solid"/>
            <a:bevel/>
            <a:headEnd type="none" w="med" len="med"/>
            <a:tailEnd type="none" w="med" len="med"/>
          </a:ln>
        </p:spPr>
      </p:sp>
      <p:sp>
        <p:nvSpPr>
          <p:cNvPr id="254066" name="Oval 190"/>
          <p:cNvSpPr/>
          <p:nvPr/>
        </p:nvSpPr>
        <p:spPr>
          <a:xfrm>
            <a:off x="1184275" y="3824288"/>
            <a:ext cx="88900" cy="98425"/>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067" name="Rectangle 191"/>
          <p:cNvSpPr/>
          <p:nvPr/>
        </p:nvSpPr>
        <p:spPr>
          <a:xfrm>
            <a:off x="754063" y="3744913"/>
            <a:ext cx="41275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+5V</a:t>
            </a:r>
            <a:endParaRPr lang="en-US" altLang="zh-CN" sz="1800" b="0" dirty="0">
              <a:solidFill>
                <a:schemeClr val="tx1"/>
              </a:solidFill>
              <a:ea typeface="楷体_GB2312"/>
            </a:endParaRPr>
          </a:p>
        </p:txBody>
      </p:sp>
      <p:sp>
        <p:nvSpPr>
          <p:cNvPr id="254068" name="Line 192"/>
          <p:cNvSpPr/>
          <p:nvPr/>
        </p:nvSpPr>
        <p:spPr>
          <a:xfrm flipV="1">
            <a:off x="1239838" y="3922713"/>
            <a:ext cx="1587" cy="85725"/>
          </a:xfrm>
          <a:prstGeom prst="line">
            <a:avLst/>
          </a:prstGeom>
          <a:ln w="17463" cap="flat" cmpd="sng">
            <a:solidFill>
              <a:srgbClr val="000000"/>
            </a:solidFill>
            <a:prstDash val="solid"/>
            <a:bevel/>
            <a:headEnd type="none" w="med" len="med"/>
            <a:tailEnd type="none" w="med" len="med"/>
          </a:ln>
        </p:spPr>
      </p:sp>
      <p:sp>
        <p:nvSpPr>
          <p:cNvPr id="254069" name="Line 193"/>
          <p:cNvSpPr/>
          <p:nvPr/>
        </p:nvSpPr>
        <p:spPr>
          <a:xfrm>
            <a:off x="1452563" y="3927475"/>
            <a:ext cx="1587" cy="1538288"/>
          </a:xfrm>
          <a:prstGeom prst="line">
            <a:avLst/>
          </a:prstGeom>
          <a:ln w="17463" cap="flat" cmpd="sng">
            <a:solidFill>
              <a:srgbClr val="000000"/>
            </a:solidFill>
            <a:prstDash val="solid"/>
            <a:bevel/>
            <a:headEnd type="none" w="med" len="med"/>
            <a:tailEnd type="none" w="med" len="med"/>
          </a:ln>
        </p:spPr>
      </p:sp>
      <p:sp>
        <p:nvSpPr>
          <p:cNvPr id="254070" name="Rectangle 194"/>
          <p:cNvSpPr/>
          <p:nvPr/>
        </p:nvSpPr>
        <p:spPr>
          <a:xfrm>
            <a:off x="2225675" y="4973638"/>
            <a:ext cx="2921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A8</a:t>
            </a:r>
            <a:endParaRPr lang="en-US" altLang="zh-CN" sz="1800" b="0" dirty="0">
              <a:solidFill>
                <a:schemeClr val="tx1"/>
              </a:solidFill>
              <a:ea typeface="楷体_GB2312"/>
            </a:endParaRPr>
          </a:p>
        </p:txBody>
      </p:sp>
      <p:sp>
        <p:nvSpPr>
          <p:cNvPr id="254071" name="Rectangle 195"/>
          <p:cNvSpPr/>
          <p:nvPr/>
        </p:nvSpPr>
        <p:spPr>
          <a:xfrm>
            <a:off x="2225675" y="5184775"/>
            <a:ext cx="2921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A7</a:t>
            </a:r>
            <a:endParaRPr lang="en-US" altLang="zh-CN" sz="1800" b="0" dirty="0">
              <a:solidFill>
                <a:schemeClr val="tx1"/>
              </a:solidFill>
              <a:ea typeface="楷体_GB2312"/>
            </a:endParaRPr>
          </a:p>
        </p:txBody>
      </p:sp>
      <p:sp>
        <p:nvSpPr>
          <p:cNvPr id="254072" name="Rectangle 196"/>
          <p:cNvSpPr/>
          <p:nvPr/>
        </p:nvSpPr>
        <p:spPr>
          <a:xfrm>
            <a:off x="2225675" y="5395913"/>
            <a:ext cx="2921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A6</a:t>
            </a:r>
            <a:endParaRPr lang="en-US" altLang="zh-CN" sz="1800" b="0" dirty="0">
              <a:solidFill>
                <a:schemeClr val="tx1"/>
              </a:solidFill>
              <a:ea typeface="楷体_GB2312"/>
            </a:endParaRPr>
          </a:p>
        </p:txBody>
      </p:sp>
      <p:sp>
        <p:nvSpPr>
          <p:cNvPr id="254073" name="Rectangle 197"/>
          <p:cNvSpPr/>
          <p:nvPr/>
        </p:nvSpPr>
        <p:spPr>
          <a:xfrm>
            <a:off x="2225675" y="5607050"/>
            <a:ext cx="2921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A5</a:t>
            </a:r>
            <a:endParaRPr lang="en-US" altLang="zh-CN" sz="1800" b="0" dirty="0">
              <a:solidFill>
                <a:schemeClr val="tx1"/>
              </a:solidFill>
              <a:ea typeface="楷体_GB2312"/>
            </a:endParaRPr>
          </a:p>
        </p:txBody>
      </p:sp>
      <p:sp>
        <p:nvSpPr>
          <p:cNvPr id="254074" name="Rectangle 198"/>
          <p:cNvSpPr/>
          <p:nvPr/>
        </p:nvSpPr>
        <p:spPr>
          <a:xfrm>
            <a:off x="2884488" y="4479925"/>
            <a:ext cx="985837" cy="1343025"/>
          </a:xfrm>
          <a:prstGeom prst="rect">
            <a:avLst/>
          </a:prstGeom>
          <a:solidFill>
            <a:srgbClr val="FFFF66"/>
          </a:solidFill>
          <a:ln w="254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075" name="Line 199"/>
          <p:cNvSpPr/>
          <p:nvPr/>
        </p:nvSpPr>
        <p:spPr>
          <a:xfrm flipH="1">
            <a:off x="2695575" y="4679950"/>
            <a:ext cx="188913" cy="1588"/>
          </a:xfrm>
          <a:prstGeom prst="line">
            <a:avLst/>
          </a:prstGeom>
          <a:ln w="17463" cap="flat" cmpd="sng">
            <a:solidFill>
              <a:srgbClr val="000000"/>
            </a:solidFill>
            <a:prstDash val="solid"/>
            <a:bevel/>
            <a:headEnd type="none" w="med" len="med"/>
            <a:tailEnd type="none" w="med" len="med"/>
          </a:ln>
        </p:spPr>
      </p:sp>
      <p:sp>
        <p:nvSpPr>
          <p:cNvPr id="254076" name="Line 200"/>
          <p:cNvSpPr/>
          <p:nvPr/>
        </p:nvSpPr>
        <p:spPr>
          <a:xfrm flipV="1">
            <a:off x="2687638" y="4586288"/>
            <a:ext cx="1587" cy="93662"/>
          </a:xfrm>
          <a:prstGeom prst="line">
            <a:avLst/>
          </a:prstGeom>
          <a:ln w="17463" cap="flat" cmpd="sng">
            <a:solidFill>
              <a:srgbClr val="000000"/>
            </a:solidFill>
            <a:prstDash val="solid"/>
            <a:bevel/>
            <a:headEnd type="none" w="med" len="med"/>
            <a:tailEnd type="none" w="med" len="med"/>
          </a:ln>
        </p:spPr>
      </p:sp>
      <p:sp>
        <p:nvSpPr>
          <p:cNvPr id="254077" name="Oval 201"/>
          <p:cNvSpPr/>
          <p:nvPr/>
        </p:nvSpPr>
        <p:spPr>
          <a:xfrm>
            <a:off x="2644775" y="4484688"/>
            <a:ext cx="88900" cy="96837"/>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078" name="Rectangle 202"/>
          <p:cNvSpPr/>
          <p:nvPr/>
        </p:nvSpPr>
        <p:spPr>
          <a:xfrm>
            <a:off x="2344738" y="4221163"/>
            <a:ext cx="41275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+5V</a:t>
            </a:r>
            <a:endParaRPr lang="en-US" altLang="zh-CN" sz="1800" b="0" dirty="0">
              <a:solidFill>
                <a:schemeClr val="tx1"/>
              </a:solidFill>
              <a:ea typeface="楷体_GB2312"/>
            </a:endParaRPr>
          </a:p>
        </p:txBody>
      </p:sp>
      <p:sp>
        <p:nvSpPr>
          <p:cNvPr id="254079" name="Rectangle 203"/>
          <p:cNvSpPr/>
          <p:nvPr/>
        </p:nvSpPr>
        <p:spPr>
          <a:xfrm>
            <a:off x="2957513" y="5183188"/>
            <a:ext cx="1651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C</a:t>
            </a:r>
            <a:endParaRPr lang="en-US" altLang="zh-CN" sz="1800" b="0" dirty="0">
              <a:solidFill>
                <a:schemeClr val="tx1"/>
              </a:solidFill>
              <a:ea typeface="楷体_GB2312"/>
            </a:endParaRPr>
          </a:p>
        </p:txBody>
      </p:sp>
      <p:sp>
        <p:nvSpPr>
          <p:cNvPr id="254080" name="Rectangle 204"/>
          <p:cNvSpPr/>
          <p:nvPr/>
        </p:nvSpPr>
        <p:spPr>
          <a:xfrm>
            <a:off x="2957513" y="5387975"/>
            <a:ext cx="1651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B</a:t>
            </a:r>
            <a:endParaRPr lang="en-US" altLang="zh-CN" sz="1800" b="0" dirty="0">
              <a:solidFill>
                <a:schemeClr val="tx1"/>
              </a:solidFill>
              <a:ea typeface="楷体_GB2312"/>
            </a:endParaRPr>
          </a:p>
        </p:txBody>
      </p:sp>
      <p:sp>
        <p:nvSpPr>
          <p:cNvPr id="254081" name="Rectangle 205"/>
          <p:cNvSpPr/>
          <p:nvPr/>
        </p:nvSpPr>
        <p:spPr>
          <a:xfrm>
            <a:off x="2957513" y="5591175"/>
            <a:ext cx="1651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a:t>
            </a:r>
            <a:endParaRPr lang="en-US" altLang="zh-CN" sz="1800" b="0" dirty="0">
              <a:solidFill>
                <a:schemeClr val="tx1"/>
              </a:solidFill>
              <a:ea typeface="楷体_GB2312"/>
            </a:endParaRPr>
          </a:p>
        </p:txBody>
      </p:sp>
      <p:sp>
        <p:nvSpPr>
          <p:cNvPr id="254082" name="Rectangle 206"/>
          <p:cNvSpPr/>
          <p:nvPr/>
        </p:nvSpPr>
        <p:spPr>
          <a:xfrm>
            <a:off x="2941638" y="4238625"/>
            <a:ext cx="9271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74LS138</a:t>
            </a:r>
            <a:endParaRPr lang="en-US" altLang="zh-CN" sz="1800" b="0" dirty="0">
              <a:solidFill>
                <a:schemeClr val="tx1"/>
              </a:solidFill>
              <a:ea typeface="楷体_GB2312"/>
            </a:endParaRPr>
          </a:p>
        </p:txBody>
      </p:sp>
      <p:grpSp>
        <p:nvGrpSpPr>
          <p:cNvPr id="254083" name="Group 209"/>
          <p:cNvGrpSpPr/>
          <p:nvPr/>
        </p:nvGrpSpPr>
        <p:grpSpPr>
          <a:xfrm>
            <a:off x="2586038" y="5084763"/>
            <a:ext cx="285750" cy="93662"/>
            <a:chOff x="0" y="0"/>
            <a:chExt cx="180" cy="59"/>
          </a:xfrm>
        </p:grpSpPr>
        <p:sp>
          <p:nvSpPr>
            <p:cNvPr id="254132" name="Oval 207"/>
            <p:cNvSpPr/>
            <p:nvPr/>
          </p:nvSpPr>
          <p:spPr>
            <a:xfrm>
              <a:off x="0" y="0"/>
              <a:ext cx="56" cy="59"/>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33" name="Line 208"/>
            <p:cNvSpPr/>
            <p:nvPr/>
          </p:nvSpPr>
          <p:spPr>
            <a:xfrm flipH="1">
              <a:off x="59" y="32"/>
              <a:ext cx="121" cy="1"/>
            </a:xfrm>
            <a:prstGeom prst="line">
              <a:avLst/>
            </a:prstGeom>
            <a:ln w="17463" cap="flat" cmpd="sng">
              <a:solidFill>
                <a:srgbClr val="000000"/>
              </a:solidFill>
              <a:prstDash val="solid"/>
              <a:bevel/>
              <a:headEnd type="none" w="med" len="med"/>
              <a:tailEnd type="none" w="med" len="med"/>
            </a:ln>
          </p:spPr>
        </p:sp>
      </p:grpSp>
      <p:grpSp>
        <p:nvGrpSpPr>
          <p:cNvPr id="254084" name="Group 212"/>
          <p:cNvGrpSpPr/>
          <p:nvPr/>
        </p:nvGrpSpPr>
        <p:grpSpPr>
          <a:xfrm>
            <a:off x="2586038" y="5262563"/>
            <a:ext cx="285750" cy="93662"/>
            <a:chOff x="0" y="0"/>
            <a:chExt cx="180" cy="59"/>
          </a:xfrm>
        </p:grpSpPr>
        <p:sp>
          <p:nvSpPr>
            <p:cNvPr id="254130" name="Oval 210"/>
            <p:cNvSpPr/>
            <p:nvPr/>
          </p:nvSpPr>
          <p:spPr>
            <a:xfrm>
              <a:off x="0" y="0"/>
              <a:ext cx="56" cy="59"/>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31" name="Line 211"/>
            <p:cNvSpPr/>
            <p:nvPr/>
          </p:nvSpPr>
          <p:spPr>
            <a:xfrm flipH="1">
              <a:off x="59" y="32"/>
              <a:ext cx="121" cy="1"/>
            </a:xfrm>
            <a:prstGeom prst="line">
              <a:avLst/>
            </a:prstGeom>
            <a:ln w="17463" cap="flat" cmpd="sng">
              <a:solidFill>
                <a:srgbClr val="000000"/>
              </a:solidFill>
              <a:prstDash val="solid"/>
              <a:bevel/>
              <a:headEnd type="none" w="med" len="med"/>
              <a:tailEnd type="none" w="med" len="med"/>
            </a:ln>
          </p:spPr>
        </p:sp>
      </p:grpSp>
      <p:grpSp>
        <p:nvGrpSpPr>
          <p:cNvPr id="254085" name="Group 215"/>
          <p:cNvGrpSpPr/>
          <p:nvPr/>
        </p:nvGrpSpPr>
        <p:grpSpPr>
          <a:xfrm>
            <a:off x="2582863" y="5435600"/>
            <a:ext cx="284162" cy="93663"/>
            <a:chOff x="0" y="0"/>
            <a:chExt cx="179" cy="59"/>
          </a:xfrm>
        </p:grpSpPr>
        <p:sp>
          <p:nvSpPr>
            <p:cNvPr id="254128" name="Oval 213"/>
            <p:cNvSpPr/>
            <p:nvPr/>
          </p:nvSpPr>
          <p:spPr>
            <a:xfrm>
              <a:off x="0" y="0"/>
              <a:ext cx="56" cy="59"/>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29" name="Line 214"/>
            <p:cNvSpPr/>
            <p:nvPr/>
          </p:nvSpPr>
          <p:spPr>
            <a:xfrm flipH="1">
              <a:off x="58" y="32"/>
              <a:ext cx="121" cy="1"/>
            </a:xfrm>
            <a:prstGeom prst="line">
              <a:avLst/>
            </a:prstGeom>
            <a:ln w="17463" cap="flat" cmpd="sng">
              <a:solidFill>
                <a:srgbClr val="000000"/>
              </a:solidFill>
              <a:prstDash val="solid"/>
              <a:bevel/>
              <a:headEnd type="none" w="med" len="med"/>
              <a:tailEnd type="none" w="med" len="med"/>
            </a:ln>
          </p:spPr>
        </p:sp>
      </p:grpSp>
      <p:sp>
        <p:nvSpPr>
          <p:cNvPr id="254086" name="Rectangle 216"/>
          <p:cNvSpPr/>
          <p:nvPr/>
        </p:nvSpPr>
        <p:spPr>
          <a:xfrm>
            <a:off x="3602038" y="4783138"/>
            <a:ext cx="279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Y1</a:t>
            </a:r>
            <a:endParaRPr lang="en-US" altLang="zh-CN" sz="1800" b="0" dirty="0">
              <a:solidFill>
                <a:schemeClr val="tx1"/>
              </a:solidFill>
              <a:ea typeface="楷体_GB2312"/>
            </a:endParaRPr>
          </a:p>
        </p:txBody>
      </p:sp>
      <p:sp>
        <p:nvSpPr>
          <p:cNvPr id="254087" name="Oval 217"/>
          <p:cNvSpPr/>
          <p:nvPr/>
        </p:nvSpPr>
        <p:spPr>
          <a:xfrm>
            <a:off x="3871913" y="4576763"/>
            <a:ext cx="96837" cy="100012"/>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088" name="Rectangle 218"/>
          <p:cNvSpPr/>
          <p:nvPr/>
        </p:nvSpPr>
        <p:spPr>
          <a:xfrm>
            <a:off x="3573463" y="4519613"/>
            <a:ext cx="279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Y0</a:t>
            </a:r>
            <a:endParaRPr lang="en-US" altLang="zh-CN" sz="1800" b="0" dirty="0">
              <a:solidFill>
                <a:schemeClr val="tx1"/>
              </a:solidFill>
              <a:ea typeface="楷体_GB2312"/>
            </a:endParaRPr>
          </a:p>
        </p:txBody>
      </p:sp>
      <p:sp>
        <p:nvSpPr>
          <p:cNvPr id="254089" name="Rectangle 220"/>
          <p:cNvSpPr/>
          <p:nvPr/>
        </p:nvSpPr>
        <p:spPr>
          <a:xfrm>
            <a:off x="2911475" y="4754563"/>
            <a:ext cx="4699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G2A</a:t>
            </a:r>
            <a:endParaRPr lang="en-US" altLang="zh-CN" sz="1800" b="0" dirty="0">
              <a:solidFill>
                <a:schemeClr val="tx1"/>
              </a:solidFill>
              <a:ea typeface="楷体_GB2312"/>
            </a:endParaRPr>
          </a:p>
        </p:txBody>
      </p:sp>
      <p:sp>
        <p:nvSpPr>
          <p:cNvPr id="254090" name="Rectangle 223"/>
          <p:cNvSpPr/>
          <p:nvPr/>
        </p:nvSpPr>
        <p:spPr>
          <a:xfrm>
            <a:off x="2901950" y="4999038"/>
            <a:ext cx="4699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G2B</a:t>
            </a:r>
            <a:endParaRPr lang="en-US" altLang="zh-CN" sz="1800" b="0" dirty="0">
              <a:solidFill>
                <a:schemeClr val="tx1"/>
              </a:solidFill>
              <a:ea typeface="楷体_GB2312"/>
            </a:endParaRPr>
          </a:p>
        </p:txBody>
      </p:sp>
      <p:grpSp>
        <p:nvGrpSpPr>
          <p:cNvPr id="254091" name="Group 227"/>
          <p:cNvGrpSpPr/>
          <p:nvPr/>
        </p:nvGrpSpPr>
        <p:grpSpPr>
          <a:xfrm>
            <a:off x="2909888" y="4495800"/>
            <a:ext cx="304800" cy="338138"/>
            <a:chOff x="0" y="0"/>
            <a:chExt cx="192" cy="213"/>
          </a:xfrm>
        </p:grpSpPr>
        <p:sp>
          <p:nvSpPr>
            <p:cNvPr id="254126" name="Rectangle 225"/>
            <p:cNvSpPr/>
            <p:nvPr/>
          </p:nvSpPr>
          <p:spPr>
            <a:xfrm>
              <a:off x="0" y="0"/>
              <a:ext cx="192" cy="173"/>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G1</a:t>
              </a:r>
              <a:endParaRPr lang="en-US" altLang="zh-CN" sz="1800" b="0" dirty="0">
                <a:solidFill>
                  <a:schemeClr val="tx1"/>
                </a:solidFill>
                <a:ea typeface="楷体_GB2312"/>
              </a:endParaRPr>
            </a:p>
          </p:txBody>
        </p:sp>
        <p:sp>
          <p:nvSpPr>
            <p:cNvPr id="254127" name="Rectangle 226"/>
            <p:cNvSpPr/>
            <p:nvPr/>
          </p:nvSpPr>
          <p:spPr>
            <a:xfrm>
              <a:off x="185" y="40"/>
              <a:ext cx="1" cy="173"/>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grpSp>
      <p:grpSp>
        <p:nvGrpSpPr>
          <p:cNvPr id="254092" name="Group 230"/>
          <p:cNvGrpSpPr/>
          <p:nvPr/>
        </p:nvGrpSpPr>
        <p:grpSpPr>
          <a:xfrm>
            <a:off x="2586038" y="5630863"/>
            <a:ext cx="285750" cy="93662"/>
            <a:chOff x="0" y="0"/>
            <a:chExt cx="180" cy="59"/>
          </a:xfrm>
        </p:grpSpPr>
        <p:sp>
          <p:nvSpPr>
            <p:cNvPr id="254124" name="Oval 228"/>
            <p:cNvSpPr/>
            <p:nvPr/>
          </p:nvSpPr>
          <p:spPr>
            <a:xfrm>
              <a:off x="0" y="0"/>
              <a:ext cx="56" cy="59"/>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125" name="Line 229"/>
            <p:cNvSpPr/>
            <p:nvPr/>
          </p:nvSpPr>
          <p:spPr>
            <a:xfrm flipH="1">
              <a:off x="59" y="32"/>
              <a:ext cx="121" cy="1"/>
            </a:xfrm>
            <a:prstGeom prst="line">
              <a:avLst/>
            </a:prstGeom>
            <a:ln w="17463" cap="flat" cmpd="sng">
              <a:solidFill>
                <a:srgbClr val="000000"/>
              </a:solidFill>
              <a:prstDash val="solid"/>
              <a:bevel/>
              <a:headEnd type="none" w="med" len="med"/>
              <a:tailEnd type="none" w="med" len="med"/>
            </a:ln>
          </p:spPr>
        </p:sp>
      </p:grpSp>
      <p:sp>
        <p:nvSpPr>
          <p:cNvPr id="254093" name="Line 231"/>
          <p:cNvSpPr/>
          <p:nvPr/>
        </p:nvSpPr>
        <p:spPr>
          <a:xfrm flipH="1">
            <a:off x="3603625" y="4535488"/>
            <a:ext cx="209550" cy="1587"/>
          </a:xfrm>
          <a:prstGeom prst="line">
            <a:avLst/>
          </a:prstGeom>
          <a:ln w="17463" cap="flat" cmpd="sng">
            <a:solidFill>
              <a:srgbClr val="000000"/>
            </a:solidFill>
            <a:prstDash val="solid"/>
            <a:bevel/>
            <a:headEnd type="none" w="med" len="med"/>
            <a:tailEnd type="none" w="med" len="med"/>
          </a:ln>
        </p:spPr>
      </p:sp>
      <p:sp>
        <p:nvSpPr>
          <p:cNvPr id="254094" name="Line 232"/>
          <p:cNvSpPr/>
          <p:nvPr/>
        </p:nvSpPr>
        <p:spPr>
          <a:xfrm flipH="1">
            <a:off x="3621088" y="4783138"/>
            <a:ext cx="201612" cy="1587"/>
          </a:xfrm>
          <a:prstGeom prst="line">
            <a:avLst/>
          </a:prstGeom>
          <a:ln w="17463" cap="flat" cmpd="sng">
            <a:solidFill>
              <a:srgbClr val="000000"/>
            </a:solidFill>
            <a:prstDash val="solid"/>
            <a:bevel/>
            <a:headEnd type="none" w="med" len="med"/>
            <a:tailEnd type="none" w="med" len="med"/>
          </a:ln>
        </p:spPr>
      </p:sp>
      <p:sp>
        <p:nvSpPr>
          <p:cNvPr id="254095" name="Line 233"/>
          <p:cNvSpPr/>
          <p:nvPr/>
        </p:nvSpPr>
        <p:spPr>
          <a:xfrm flipH="1">
            <a:off x="3981450" y="4903788"/>
            <a:ext cx="514350" cy="1587"/>
          </a:xfrm>
          <a:prstGeom prst="line">
            <a:avLst/>
          </a:prstGeom>
          <a:ln w="17463" cap="flat" cmpd="sng">
            <a:solidFill>
              <a:srgbClr val="000000"/>
            </a:solidFill>
            <a:prstDash val="solid"/>
            <a:bevel/>
            <a:headEnd type="none" w="med" len="med"/>
            <a:tailEnd type="none" w="med" len="med"/>
          </a:ln>
        </p:spPr>
      </p:sp>
      <p:sp>
        <p:nvSpPr>
          <p:cNvPr id="254096" name="Oval 234"/>
          <p:cNvSpPr/>
          <p:nvPr/>
        </p:nvSpPr>
        <p:spPr>
          <a:xfrm>
            <a:off x="3871913" y="4840288"/>
            <a:ext cx="96837" cy="101600"/>
          </a:xfrm>
          <a:prstGeom prst="ellipse">
            <a:avLst/>
          </a:prstGeom>
          <a:noFill/>
          <a:ln w="17463"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4097" name="Line 235"/>
          <p:cNvSpPr/>
          <p:nvPr/>
        </p:nvSpPr>
        <p:spPr>
          <a:xfrm flipH="1">
            <a:off x="2124075" y="4916488"/>
            <a:ext cx="742950" cy="1587"/>
          </a:xfrm>
          <a:prstGeom prst="line">
            <a:avLst/>
          </a:prstGeom>
          <a:ln w="17463" cap="flat" cmpd="sng">
            <a:solidFill>
              <a:srgbClr val="000000"/>
            </a:solidFill>
            <a:prstDash val="solid"/>
            <a:bevel/>
            <a:headEnd type="none" w="med" len="med"/>
            <a:tailEnd type="none" w="med" len="med"/>
          </a:ln>
        </p:spPr>
      </p:sp>
      <p:sp>
        <p:nvSpPr>
          <p:cNvPr id="254098" name="Line 236"/>
          <p:cNvSpPr/>
          <p:nvPr/>
        </p:nvSpPr>
        <p:spPr>
          <a:xfrm>
            <a:off x="3978275" y="4624388"/>
            <a:ext cx="263525" cy="1587"/>
          </a:xfrm>
          <a:prstGeom prst="line">
            <a:avLst/>
          </a:prstGeom>
          <a:ln w="17463" cap="flat" cmpd="sng">
            <a:solidFill>
              <a:srgbClr val="000000"/>
            </a:solidFill>
            <a:prstDash val="solid"/>
            <a:bevel/>
            <a:headEnd type="none" w="med" len="med"/>
            <a:tailEnd type="none" w="med" len="med"/>
          </a:ln>
        </p:spPr>
      </p:sp>
      <p:sp>
        <p:nvSpPr>
          <p:cNvPr id="254099" name="Line 237"/>
          <p:cNvSpPr/>
          <p:nvPr/>
        </p:nvSpPr>
        <p:spPr>
          <a:xfrm>
            <a:off x="2298700" y="3843338"/>
            <a:ext cx="1588" cy="342900"/>
          </a:xfrm>
          <a:prstGeom prst="line">
            <a:avLst/>
          </a:prstGeom>
          <a:ln w="17463" cap="flat" cmpd="sng">
            <a:solidFill>
              <a:srgbClr val="000000"/>
            </a:solidFill>
            <a:prstDash val="solid"/>
            <a:bevel/>
            <a:headEnd type="none" w="med" len="med"/>
            <a:tailEnd type="none" w="med" len="med"/>
          </a:ln>
        </p:spPr>
      </p:sp>
      <p:sp>
        <p:nvSpPr>
          <p:cNvPr id="254100" name="Line 238"/>
          <p:cNvSpPr/>
          <p:nvPr/>
        </p:nvSpPr>
        <p:spPr>
          <a:xfrm flipV="1">
            <a:off x="2295525" y="4194175"/>
            <a:ext cx="2211388" cy="3175"/>
          </a:xfrm>
          <a:prstGeom prst="line">
            <a:avLst/>
          </a:prstGeom>
          <a:ln w="17463" cap="flat" cmpd="sng">
            <a:solidFill>
              <a:srgbClr val="000000"/>
            </a:solidFill>
            <a:prstDash val="solid"/>
            <a:bevel/>
            <a:headEnd type="none" w="med" len="med"/>
            <a:tailEnd type="none" w="med" len="med"/>
          </a:ln>
        </p:spPr>
      </p:sp>
      <p:sp>
        <p:nvSpPr>
          <p:cNvPr id="254101" name="Line 239"/>
          <p:cNvSpPr/>
          <p:nvPr/>
        </p:nvSpPr>
        <p:spPr>
          <a:xfrm>
            <a:off x="4506913" y="4194175"/>
            <a:ext cx="1587" cy="704850"/>
          </a:xfrm>
          <a:prstGeom prst="line">
            <a:avLst/>
          </a:prstGeom>
          <a:ln w="17463" cap="flat" cmpd="sng">
            <a:solidFill>
              <a:srgbClr val="000000"/>
            </a:solidFill>
            <a:prstDash val="solid"/>
            <a:bevel/>
            <a:headEnd type="none" w="med" len="med"/>
            <a:tailEnd type="none" w="med" len="med"/>
          </a:ln>
        </p:spPr>
      </p:sp>
      <p:sp>
        <p:nvSpPr>
          <p:cNvPr id="254102" name="Line 240"/>
          <p:cNvSpPr/>
          <p:nvPr/>
        </p:nvSpPr>
        <p:spPr>
          <a:xfrm>
            <a:off x="209550" y="2451100"/>
            <a:ext cx="360363" cy="0"/>
          </a:xfrm>
          <a:prstGeom prst="line">
            <a:avLst/>
          </a:prstGeom>
          <a:ln w="25400" cap="flat" cmpd="sng">
            <a:solidFill>
              <a:schemeClr val="tx1"/>
            </a:solidFill>
            <a:prstDash val="solid"/>
            <a:bevel/>
            <a:headEnd type="none" w="med" len="med"/>
            <a:tailEnd type="none" w="med" len="med"/>
          </a:ln>
        </p:spPr>
      </p:sp>
      <p:sp>
        <p:nvSpPr>
          <p:cNvPr id="254103" name="Line 241"/>
          <p:cNvSpPr/>
          <p:nvPr/>
        </p:nvSpPr>
        <p:spPr>
          <a:xfrm>
            <a:off x="150813" y="2720975"/>
            <a:ext cx="433387" cy="0"/>
          </a:xfrm>
          <a:prstGeom prst="line">
            <a:avLst/>
          </a:prstGeom>
          <a:ln w="25400" cap="flat" cmpd="sng">
            <a:solidFill>
              <a:schemeClr val="tx1"/>
            </a:solidFill>
            <a:prstDash val="solid"/>
            <a:bevel/>
            <a:headEnd type="none" w="med" len="med"/>
            <a:tailEnd type="none" w="med" len="med"/>
          </a:ln>
        </p:spPr>
      </p:sp>
      <p:sp>
        <p:nvSpPr>
          <p:cNvPr id="254104" name="Line 242"/>
          <p:cNvSpPr/>
          <p:nvPr/>
        </p:nvSpPr>
        <p:spPr>
          <a:xfrm>
            <a:off x="2944813" y="4754563"/>
            <a:ext cx="360362" cy="0"/>
          </a:xfrm>
          <a:prstGeom prst="line">
            <a:avLst/>
          </a:prstGeom>
          <a:ln w="25400" cap="flat" cmpd="sng">
            <a:solidFill>
              <a:schemeClr val="tx1"/>
            </a:solidFill>
            <a:prstDash val="solid"/>
            <a:bevel/>
            <a:headEnd type="none" w="med" len="med"/>
            <a:tailEnd type="none" w="med" len="med"/>
          </a:ln>
        </p:spPr>
      </p:sp>
      <p:sp>
        <p:nvSpPr>
          <p:cNvPr id="254105" name="Line 243"/>
          <p:cNvSpPr/>
          <p:nvPr/>
        </p:nvSpPr>
        <p:spPr>
          <a:xfrm>
            <a:off x="2944813" y="5013325"/>
            <a:ext cx="360362" cy="0"/>
          </a:xfrm>
          <a:prstGeom prst="line">
            <a:avLst/>
          </a:prstGeom>
          <a:ln w="25400" cap="flat" cmpd="sng">
            <a:solidFill>
              <a:schemeClr val="tx1"/>
            </a:solidFill>
            <a:prstDash val="solid"/>
            <a:bevel/>
            <a:headEnd type="none" w="med" len="med"/>
            <a:tailEnd type="none" w="med" len="med"/>
          </a:ln>
        </p:spPr>
      </p:sp>
      <p:sp>
        <p:nvSpPr>
          <p:cNvPr id="254106" name="Line 244"/>
          <p:cNvSpPr/>
          <p:nvPr/>
        </p:nvSpPr>
        <p:spPr>
          <a:xfrm>
            <a:off x="2657475" y="3155950"/>
            <a:ext cx="503238" cy="0"/>
          </a:xfrm>
          <a:prstGeom prst="line">
            <a:avLst/>
          </a:prstGeom>
          <a:ln w="25400" cap="flat" cmpd="sng">
            <a:solidFill>
              <a:schemeClr val="tx1"/>
            </a:solidFill>
            <a:prstDash val="solid"/>
            <a:bevel/>
            <a:headEnd type="none" w="med" len="med"/>
            <a:tailEnd type="none" w="med" len="med"/>
          </a:ln>
        </p:spPr>
      </p:sp>
      <p:sp>
        <p:nvSpPr>
          <p:cNvPr id="254107" name="Line 245"/>
          <p:cNvSpPr/>
          <p:nvPr/>
        </p:nvSpPr>
        <p:spPr>
          <a:xfrm>
            <a:off x="2657475" y="2451100"/>
            <a:ext cx="360363" cy="0"/>
          </a:xfrm>
          <a:prstGeom prst="line">
            <a:avLst/>
          </a:prstGeom>
          <a:ln w="25400" cap="flat" cmpd="sng">
            <a:solidFill>
              <a:schemeClr val="tx1"/>
            </a:solidFill>
            <a:prstDash val="solid"/>
            <a:bevel/>
            <a:headEnd type="none" w="med" len="med"/>
            <a:tailEnd type="none" w="med" len="med"/>
          </a:ln>
        </p:spPr>
      </p:sp>
      <p:sp>
        <p:nvSpPr>
          <p:cNvPr id="254108" name="Line 246"/>
          <p:cNvSpPr/>
          <p:nvPr/>
        </p:nvSpPr>
        <p:spPr>
          <a:xfrm>
            <a:off x="2657475" y="2720975"/>
            <a:ext cx="360363" cy="0"/>
          </a:xfrm>
          <a:prstGeom prst="line">
            <a:avLst/>
          </a:prstGeom>
          <a:ln w="25400" cap="flat" cmpd="sng">
            <a:solidFill>
              <a:schemeClr val="tx1"/>
            </a:solidFill>
            <a:prstDash val="solid"/>
            <a:bevel/>
            <a:headEnd type="none" w="med" len="med"/>
            <a:tailEnd type="none" w="med" len="med"/>
          </a:ln>
        </p:spPr>
      </p:sp>
      <p:grpSp>
        <p:nvGrpSpPr>
          <p:cNvPr id="254109" name="Group 256"/>
          <p:cNvGrpSpPr/>
          <p:nvPr/>
        </p:nvGrpSpPr>
        <p:grpSpPr>
          <a:xfrm>
            <a:off x="0" y="5949950"/>
            <a:ext cx="6056313" cy="769938"/>
            <a:chOff x="0" y="0"/>
            <a:chExt cx="3720" cy="730"/>
          </a:xfrm>
        </p:grpSpPr>
        <p:sp>
          <p:nvSpPr>
            <p:cNvPr id="254112" name="Rectangle 257"/>
            <p:cNvSpPr/>
            <p:nvPr/>
          </p:nvSpPr>
          <p:spPr>
            <a:xfrm>
              <a:off x="3019" y="120"/>
              <a:ext cx="514" cy="261"/>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b="0" dirty="0">
                  <a:solidFill>
                    <a:srgbClr val="000000"/>
                  </a:solidFill>
                  <a:latin typeface="宋体" panose="02010600030101010101" pitchFamily="2" charset="-122"/>
                  <a:ea typeface="楷体_GB2312"/>
                </a:rPr>
                <a:t>范   围</a:t>
              </a:r>
              <a:endParaRPr lang="zh-CN" altLang="en-US" sz="1800" b="0" dirty="0">
                <a:solidFill>
                  <a:schemeClr val="tx1"/>
                </a:solidFill>
                <a:ea typeface="楷体_GB2312"/>
              </a:endParaRPr>
            </a:p>
          </p:txBody>
        </p:sp>
        <p:sp>
          <p:nvSpPr>
            <p:cNvPr id="254113" name="Rectangle 258"/>
            <p:cNvSpPr/>
            <p:nvPr/>
          </p:nvSpPr>
          <p:spPr>
            <a:xfrm>
              <a:off x="6" y="107"/>
              <a:ext cx="2891" cy="260"/>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latin typeface="宋体" panose="02010600030101010101" pitchFamily="2" charset="-122"/>
                  <a:ea typeface="楷体_GB2312"/>
                </a:rPr>
                <a:t>A15A14A13A12A11A10A9A8A7A6A5A4A3A2A1A0</a:t>
              </a:r>
              <a:endParaRPr lang="en-US" altLang="zh-CN" sz="1800" b="0" dirty="0">
                <a:solidFill>
                  <a:schemeClr val="tx1"/>
                </a:solidFill>
                <a:ea typeface="楷体_GB2312"/>
              </a:endParaRPr>
            </a:p>
          </p:txBody>
        </p:sp>
        <p:sp>
          <p:nvSpPr>
            <p:cNvPr id="254114" name="Rectangle 259"/>
            <p:cNvSpPr/>
            <p:nvPr/>
          </p:nvSpPr>
          <p:spPr>
            <a:xfrm>
              <a:off x="3222" y="215"/>
              <a:ext cx="498" cy="261"/>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latin typeface="Fixedsys" charset="-122"/>
                  <a:ea typeface="楷体_GB2312"/>
                </a:rPr>
                <a:t>       </a:t>
              </a:r>
              <a:endParaRPr lang="en-US" altLang="zh-CN" sz="1800" b="0" dirty="0">
                <a:solidFill>
                  <a:schemeClr val="tx1"/>
                </a:solidFill>
                <a:ea typeface="楷体_GB2312"/>
              </a:endParaRPr>
            </a:p>
          </p:txBody>
        </p:sp>
        <p:sp>
          <p:nvSpPr>
            <p:cNvPr id="254115" name="Line 260"/>
            <p:cNvSpPr/>
            <p:nvPr/>
          </p:nvSpPr>
          <p:spPr>
            <a:xfrm>
              <a:off x="0" y="6"/>
              <a:ext cx="3652" cy="1"/>
            </a:xfrm>
            <a:prstGeom prst="line">
              <a:avLst/>
            </a:prstGeom>
            <a:ln w="19050" cap="flat" cmpd="sng">
              <a:solidFill>
                <a:srgbClr val="000000"/>
              </a:solidFill>
              <a:prstDash val="solid"/>
              <a:bevel/>
              <a:headEnd type="none" w="med" len="med"/>
              <a:tailEnd type="none" w="med" len="med"/>
            </a:ln>
          </p:spPr>
        </p:sp>
        <p:sp>
          <p:nvSpPr>
            <p:cNvPr id="254116" name="Line 261"/>
            <p:cNvSpPr/>
            <p:nvPr/>
          </p:nvSpPr>
          <p:spPr>
            <a:xfrm>
              <a:off x="2797" y="6"/>
              <a:ext cx="1" cy="716"/>
            </a:xfrm>
            <a:prstGeom prst="line">
              <a:avLst/>
            </a:prstGeom>
            <a:ln w="19050" cap="flat" cmpd="sng">
              <a:solidFill>
                <a:srgbClr val="000000"/>
              </a:solidFill>
              <a:prstDash val="solid"/>
              <a:bevel/>
              <a:headEnd type="none" w="med" len="med"/>
              <a:tailEnd type="none" w="med" len="med"/>
            </a:ln>
          </p:spPr>
        </p:sp>
        <p:sp>
          <p:nvSpPr>
            <p:cNvPr id="254117" name="Line 262"/>
            <p:cNvSpPr/>
            <p:nvPr/>
          </p:nvSpPr>
          <p:spPr>
            <a:xfrm flipH="1">
              <a:off x="0" y="722"/>
              <a:ext cx="3664" cy="1"/>
            </a:xfrm>
            <a:prstGeom prst="line">
              <a:avLst/>
            </a:prstGeom>
            <a:ln w="19050" cap="flat" cmpd="sng">
              <a:solidFill>
                <a:srgbClr val="000000"/>
              </a:solidFill>
              <a:prstDash val="solid"/>
              <a:bevel/>
              <a:headEnd type="none" w="med" len="med"/>
              <a:tailEnd type="none" w="med" len="med"/>
            </a:ln>
          </p:spPr>
        </p:sp>
        <p:sp>
          <p:nvSpPr>
            <p:cNvPr id="254118" name="Rectangle 263"/>
            <p:cNvSpPr/>
            <p:nvPr/>
          </p:nvSpPr>
          <p:spPr>
            <a:xfrm>
              <a:off x="0" y="470"/>
              <a:ext cx="2705" cy="26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FF0000"/>
                  </a:solidFill>
                  <a:latin typeface="宋体" panose="02010600030101010101" pitchFamily="2" charset="-122"/>
                  <a:ea typeface="楷体_GB2312"/>
                </a:rPr>
                <a:t>0  0  0  0  0  0  0  0 0 0 1 X X X X X</a:t>
              </a:r>
              <a:endParaRPr lang="en-US" altLang="zh-CN" sz="1800" b="0" dirty="0">
                <a:solidFill>
                  <a:srgbClr val="FF0000"/>
                </a:solidFill>
                <a:ea typeface="楷体_GB2312"/>
              </a:endParaRPr>
            </a:p>
          </p:txBody>
        </p:sp>
        <p:sp>
          <p:nvSpPr>
            <p:cNvPr id="254119" name="Line 264"/>
            <p:cNvSpPr/>
            <p:nvPr/>
          </p:nvSpPr>
          <p:spPr>
            <a:xfrm>
              <a:off x="1605" y="0"/>
              <a:ext cx="1" cy="722"/>
            </a:xfrm>
            <a:prstGeom prst="line">
              <a:avLst/>
            </a:prstGeom>
            <a:ln w="0" cap="flat" cmpd="sng">
              <a:solidFill>
                <a:srgbClr val="000000"/>
              </a:solidFill>
              <a:prstDash val="sysDot"/>
              <a:bevel/>
              <a:headEnd type="none" w="med" len="med"/>
              <a:tailEnd type="none" w="med" len="med"/>
            </a:ln>
          </p:spPr>
        </p:sp>
        <p:sp>
          <p:nvSpPr>
            <p:cNvPr id="254120" name="Line 265"/>
            <p:cNvSpPr/>
            <p:nvPr/>
          </p:nvSpPr>
          <p:spPr>
            <a:xfrm>
              <a:off x="2041" y="6"/>
              <a:ext cx="1" cy="716"/>
            </a:xfrm>
            <a:prstGeom prst="line">
              <a:avLst/>
            </a:prstGeom>
            <a:ln w="0" cap="flat" cmpd="sng">
              <a:solidFill>
                <a:srgbClr val="000000"/>
              </a:solidFill>
              <a:prstDash val="sysDot"/>
              <a:bevel/>
              <a:headEnd type="none" w="med" len="med"/>
              <a:tailEnd type="none" w="med" len="med"/>
            </a:ln>
          </p:spPr>
        </p:sp>
        <p:sp>
          <p:nvSpPr>
            <p:cNvPr id="254121" name="Rectangle 266"/>
            <p:cNvSpPr/>
            <p:nvPr/>
          </p:nvSpPr>
          <p:spPr>
            <a:xfrm>
              <a:off x="2821" y="467"/>
              <a:ext cx="356" cy="26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FF0000"/>
                  </a:solidFill>
                  <a:latin typeface="宋体" panose="02010600030101010101" pitchFamily="2" charset="-122"/>
                  <a:ea typeface="楷体_GB2312"/>
                </a:rPr>
                <a:t>0020H</a:t>
              </a:r>
              <a:endParaRPr lang="en-US" altLang="zh-CN" sz="1800" b="0" dirty="0">
                <a:solidFill>
                  <a:srgbClr val="FF0000"/>
                </a:solidFill>
                <a:ea typeface="楷体_GB2312"/>
              </a:endParaRPr>
            </a:p>
          </p:txBody>
        </p:sp>
        <p:sp>
          <p:nvSpPr>
            <p:cNvPr id="254122" name="Rectangle 267"/>
            <p:cNvSpPr/>
            <p:nvPr/>
          </p:nvSpPr>
          <p:spPr>
            <a:xfrm>
              <a:off x="3186" y="467"/>
              <a:ext cx="497" cy="26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b="0" dirty="0">
                  <a:solidFill>
                    <a:srgbClr val="FF0000"/>
                  </a:solidFill>
                  <a:latin typeface="宋体" panose="02010600030101010101" pitchFamily="2" charset="-122"/>
                  <a:ea typeface="楷体_GB2312"/>
                </a:rPr>
                <a:t>～</a:t>
              </a:r>
              <a:r>
                <a:rPr lang="en-US" altLang="zh-CN" sz="1800" b="0" dirty="0">
                  <a:solidFill>
                    <a:srgbClr val="FF0000"/>
                  </a:solidFill>
                  <a:latin typeface="宋体" panose="02010600030101010101" pitchFamily="2" charset="-122"/>
                  <a:ea typeface="楷体_GB2312"/>
                </a:rPr>
                <a:t>003FH</a:t>
              </a:r>
              <a:endParaRPr lang="en-US" altLang="zh-CN" sz="1800" b="0" dirty="0">
                <a:solidFill>
                  <a:srgbClr val="FF0000"/>
                </a:solidFill>
                <a:ea typeface="楷体_GB2312"/>
              </a:endParaRPr>
            </a:p>
          </p:txBody>
        </p:sp>
        <p:sp>
          <p:nvSpPr>
            <p:cNvPr id="254123" name="Line 268"/>
            <p:cNvSpPr/>
            <p:nvPr/>
          </p:nvSpPr>
          <p:spPr>
            <a:xfrm flipH="1">
              <a:off x="0" y="358"/>
              <a:ext cx="3658" cy="1"/>
            </a:xfrm>
            <a:prstGeom prst="line">
              <a:avLst/>
            </a:prstGeom>
            <a:ln w="19050" cap="flat" cmpd="sng">
              <a:solidFill>
                <a:srgbClr val="000000"/>
              </a:solidFill>
              <a:prstDash val="solid"/>
              <a:bevel/>
              <a:headEnd type="none" w="med" len="med"/>
              <a:tailEnd type="none" w="med" len="med"/>
            </a:ln>
          </p:spPr>
        </p:sp>
      </p:grpSp>
      <p:sp>
        <p:nvSpPr>
          <p:cNvPr id="254110" name="Line 270"/>
          <p:cNvSpPr/>
          <p:nvPr/>
        </p:nvSpPr>
        <p:spPr>
          <a:xfrm>
            <a:off x="111125" y="3167063"/>
            <a:ext cx="433388" cy="0"/>
          </a:xfrm>
          <a:prstGeom prst="line">
            <a:avLst/>
          </a:prstGeom>
          <a:ln w="25400" cap="flat" cmpd="sng">
            <a:solidFill>
              <a:schemeClr val="tx1"/>
            </a:solidFill>
            <a:prstDash val="solid"/>
            <a:bevel/>
            <a:headEnd type="none" w="med" len="med"/>
            <a:tailEnd type="none" w="med" len="med"/>
          </a:ln>
        </p:spPr>
      </p:sp>
      <p:sp>
        <p:nvSpPr>
          <p:cNvPr id="254111" name="矩形 1"/>
          <p:cNvSpPr/>
          <p:nvPr/>
        </p:nvSpPr>
        <p:spPr>
          <a:xfrm>
            <a:off x="-44450" y="188913"/>
            <a:ext cx="5765800" cy="769937"/>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812800" lvl="0" indent="-812800">
              <a:lnSpc>
                <a:spcPct val="100000"/>
              </a:lnSpc>
              <a:spcBef>
                <a:spcPct val="0"/>
              </a:spcBef>
              <a:spcAft>
                <a:spcPct val="0"/>
              </a:spcAft>
              <a:buClrTx/>
              <a:buSzTx/>
              <a:buNone/>
            </a:pPr>
            <a:r>
              <a:rPr lang="en-US" altLang="zh-CN" sz="4400" b="0" dirty="0">
                <a:solidFill>
                  <a:srgbClr val="FF0000"/>
                </a:solidFill>
                <a:ea typeface="楷体_GB2312"/>
              </a:rPr>
              <a:t>8259A</a:t>
            </a:r>
            <a:r>
              <a:rPr lang="zh-CN" altLang="en-US" sz="4400" b="0" dirty="0">
                <a:solidFill>
                  <a:srgbClr val="FF0000"/>
                </a:solidFill>
                <a:ea typeface="楷体_GB2312"/>
              </a:rPr>
              <a:t>与计算机的连接</a:t>
            </a:r>
            <a:endParaRPr lang="zh-CN" altLang="en-US" sz="4400" b="0" dirty="0">
              <a:solidFill>
                <a:srgbClr val="FF0000"/>
              </a:solidFill>
              <a:ea typeface="楷体_GB2312"/>
            </a:endParaRPr>
          </a:p>
        </p:txBody>
      </p:sp>
    </p:spTree>
  </p:cSld>
  <p:clrMapOvr>
    <a:masterClrMapping/>
  </p:clrMapOvr>
  <p:transition spd="slow">
    <p:zoom/>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02" name="Rectangle 2"/>
          <p:cNvSpPr>
            <a:spLocks noGrp="1" noChangeAspect="1"/>
          </p:cNvSpPr>
          <p:nvPr>
            <p:ph type="title" idx="4294967295"/>
          </p:nvPr>
        </p:nvSpPr>
        <p:spPr>
          <a:xfrm>
            <a:off x="4356100" y="376238"/>
            <a:ext cx="4714875" cy="503237"/>
          </a:xfrm>
        </p:spPr>
        <p:txBody>
          <a:bodyPr vert="horz" wrap="square" lIns="91440" tIns="45720" rIns="91440" bIns="45720" anchor="b" anchorCtr="0"/>
          <a:p>
            <a:pPr algn="r"/>
            <a:r>
              <a:rPr lang="zh-CN" altLang="en-US" sz="2800" dirty="0"/>
              <a:t>两片</a:t>
            </a:r>
            <a:r>
              <a:rPr lang="en-US" altLang="zh-CN" sz="2800" dirty="0"/>
              <a:t>8259</a:t>
            </a:r>
            <a:r>
              <a:rPr lang="zh-CN" altLang="en-US" sz="2800" dirty="0"/>
              <a:t>级联管理</a:t>
            </a:r>
            <a:r>
              <a:rPr lang="en-US" altLang="zh-CN" sz="2800" dirty="0"/>
              <a:t>15</a:t>
            </a:r>
            <a:r>
              <a:rPr lang="zh-CN" altLang="en-US" sz="2800" dirty="0"/>
              <a:t>级中断</a:t>
            </a:r>
            <a:endParaRPr lang="zh-CN" altLang="en-US" sz="2800" dirty="0"/>
          </a:p>
        </p:txBody>
      </p:sp>
      <p:sp>
        <p:nvSpPr>
          <p:cNvPr id="256003" name="Rectangle 221"/>
          <p:cNvSpPr/>
          <p:nvPr/>
        </p:nvSpPr>
        <p:spPr>
          <a:xfrm>
            <a:off x="6324600" y="1104900"/>
            <a:ext cx="2860675" cy="284956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40000"/>
              </a:lnSpc>
              <a:spcBef>
                <a:spcPct val="0"/>
              </a:spcBef>
              <a:spcAft>
                <a:spcPct val="0"/>
              </a:spcAft>
              <a:buClr>
                <a:srgbClr val="A50021"/>
              </a:buClr>
              <a:buSzTx/>
              <a:buFont typeface="Wingdings" panose="05000000000000000000" pitchFamily="2" charset="2"/>
              <a:buChar char="l"/>
            </a:pPr>
            <a:r>
              <a:rPr lang="en-US" altLang="zh-CN" sz="2000" b="0" dirty="0">
                <a:solidFill>
                  <a:schemeClr val="tx1"/>
                </a:solidFill>
                <a:ea typeface="楷体_GB2312"/>
              </a:rPr>
              <a:t>  </a:t>
            </a:r>
            <a:r>
              <a:rPr lang="zh-CN" altLang="en-US" sz="1800" b="0" dirty="0">
                <a:solidFill>
                  <a:schemeClr val="tx1"/>
                </a:solidFill>
                <a:ea typeface="楷体_GB2312"/>
              </a:rPr>
              <a:t>收到第一个</a:t>
            </a:r>
            <a:r>
              <a:rPr lang="en-US" altLang="zh-CN" sz="1800" b="0" dirty="0">
                <a:solidFill>
                  <a:schemeClr val="tx1"/>
                </a:solidFill>
                <a:ea typeface="楷体_GB2312"/>
              </a:rPr>
              <a:t>INTA</a:t>
            </a:r>
            <a:r>
              <a:rPr lang="zh-CN" altLang="en-US" sz="1800" b="0" dirty="0">
                <a:solidFill>
                  <a:schemeClr val="tx1"/>
                </a:solidFill>
                <a:ea typeface="楷体_GB2312"/>
              </a:rPr>
              <a:t>时，主片通过</a:t>
            </a:r>
            <a:r>
              <a:rPr lang="en-US" altLang="zh-CN" sz="1800" b="0" dirty="0">
                <a:solidFill>
                  <a:schemeClr val="tx1"/>
                </a:solidFill>
                <a:ea typeface="楷体_GB2312"/>
              </a:rPr>
              <a:t>CAS2~CAS0</a:t>
            </a:r>
            <a:r>
              <a:rPr lang="zh-CN" altLang="en-US" sz="1800" b="0" dirty="0">
                <a:solidFill>
                  <a:schemeClr val="tx1"/>
                </a:solidFill>
                <a:ea typeface="楷体_GB2312"/>
              </a:rPr>
              <a:t>通知有中断申请的从片在第二个</a:t>
            </a:r>
            <a:r>
              <a:rPr lang="en-US" altLang="zh-CN" sz="1800" b="0" dirty="0">
                <a:solidFill>
                  <a:schemeClr val="tx1"/>
                </a:solidFill>
                <a:ea typeface="楷体_GB2312"/>
              </a:rPr>
              <a:t>INTA</a:t>
            </a:r>
            <a:r>
              <a:rPr lang="zh-CN" altLang="en-US" sz="1800" b="0" dirty="0">
                <a:solidFill>
                  <a:schemeClr val="tx1"/>
                </a:solidFill>
                <a:ea typeface="楷体_GB2312"/>
              </a:rPr>
              <a:t>时送出中断类型码</a:t>
            </a:r>
            <a:endParaRPr lang="zh-CN" altLang="en-US" sz="1800" b="0" dirty="0">
              <a:solidFill>
                <a:schemeClr val="tx1"/>
              </a:solidFill>
              <a:ea typeface="楷体_GB2312"/>
            </a:endParaRPr>
          </a:p>
          <a:p>
            <a:pPr marL="342900" lvl="0" indent="-342900">
              <a:lnSpc>
                <a:spcPct val="140000"/>
              </a:lnSpc>
              <a:spcBef>
                <a:spcPct val="0"/>
              </a:spcBef>
              <a:spcAft>
                <a:spcPct val="0"/>
              </a:spcAft>
              <a:buClr>
                <a:srgbClr val="A50021"/>
              </a:buClr>
              <a:buSzTx/>
              <a:buFont typeface="Wingdings" panose="05000000000000000000" pitchFamily="2" charset="2"/>
              <a:buChar char="l"/>
            </a:pPr>
            <a:r>
              <a:rPr lang="zh-CN" altLang="en-US" sz="1800" b="0" dirty="0">
                <a:solidFill>
                  <a:schemeClr val="tx1"/>
                </a:solidFill>
                <a:ea typeface="楷体_GB2312"/>
              </a:rPr>
              <a:t>  从片</a:t>
            </a:r>
            <a:r>
              <a:rPr lang="en-US" altLang="zh-CN" sz="1800" b="0" dirty="0">
                <a:solidFill>
                  <a:schemeClr val="tx1"/>
                </a:solidFill>
                <a:ea typeface="楷体_GB2312"/>
              </a:rPr>
              <a:t>8259A</a:t>
            </a:r>
            <a:r>
              <a:rPr lang="zh-CN" altLang="en-US" sz="1800" b="0" dirty="0">
                <a:solidFill>
                  <a:schemeClr val="tx1"/>
                </a:solidFill>
                <a:ea typeface="楷体_GB2312"/>
              </a:rPr>
              <a:t>的中断申请端</a:t>
            </a:r>
            <a:r>
              <a:rPr lang="en-US" altLang="zh-CN" sz="1800" b="0" dirty="0">
                <a:solidFill>
                  <a:schemeClr val="tx1"/>
                </a:solidFill>
                <a:ea typeface="楷体_GB2312"/>
              </a:rPr>
              <a:t>INT</a:t>
            </a:r>
            <a:r>
              <a:rPr lang="zh-CN" altLang="en-US" sz="1800" b="0" dirty="0">
                <a:solidFill>
                  <a:schemeClr val="tx1"/>
                </a:solidFill>
                <a:ea typeface="楷体_GB2312"/>
              </a:rPr>
              <a:t>接主片的</a:t>
            </a:r>
            <a:r>
              <a:rPr lang="en-US" altLang="zh-CN" sz="1800" b="0" dirty="0">
                <a:solidFill>
                  <a:schemeClr val="tx1"/>
                </a:solidFill>
                <a:ea typeface="楷体_GB2312"/>
              </a:rPr>
              <a:t>IR2</a:t>
            </a:r>
            <a:endParaRPr lang="en-US" altLang="zh-CN" sz="1800" b="0" dirty="0">
              <a:solidFill>
                <a:schemeClr val="tx1"/>
              </a:solidFill>
              <a:ea typeface="楷体_GB2312"/>
            </a:endParaRPr>
          </a:p>
        </p:txBody>
      </p:sp>
      <p:sp>
        <p:nvSpPr>
          <p:cNvPr id="256004" name="Oval 5"/>
          <p:cNvSpPr/>
          <p:nvPr/>
        </p:nvSpPr>
        <p:spPr>
          <a:xfrm>
            <a:off x="3024188" y="920750"/>
            <a:ext cx="92075" cy="107950"/>
          </a:xfrm>
          <a:prstGeom prst="ellipse">
            <a:avLst/>
          </a:prstGeom>
          <a:solidFill>
            <a:schemeClr val="bg1"/>
          </a:solid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6005" name="Rectangle 6"/>
          <p:cNvSpPr/>
          <p:nvPr/>
        </p:nvSpPr>
        <p:spPr>
          <a:xfrm>
            <a:off x="3179763" y="914400"/>
            <a:ext cx="412750" cy="274638"/>
          </a:xfrm>
          <a:prstGeom prst="rect">
            <a:avLst/>
          </a:prstGeom>
          <a:solidFill>
            <a:schemeClr val="bg1"/>
          </a:solid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+5V</a:t>
            </a:r>
            <a:endParaRPr lang="en-US" altLang="zh-CN" sz="1800" b="0" dirty="0">
              <a:solidFill>
                <a:schemeClr val="tx1"/>
              </a:solidFill>
              <a:ea typeface="楷体_GB2312"/>
            </a:endParaRPr>
          </a:p>
        </p:txBody>
      </p:sp>
      <p:sp>
        <p:nvSpPr>
          <p:cNvPr id="256006" name="Rectangle 7"/>
          <p:cNvSpPr/>
          <p:nvPr/>
        </p:nvSpPr>
        <p:spPr>
          <a:xfrm>
            <a:off x="2219325" y="1162050"/>
            <a:ext cx="1862138" cy="2551113"/>
          </a:xfrm>
          <a:prstGeom prst="rect">
            <a:avLst/>
          </a:prstGeom>
          <a:solidFill>
            <a:srgbClr val="FFFF66"/>
          </a:solidFill>
          <a:ln w="1587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6007" name="Rectangle 11"/>
          <p:cNvSpPr/>
          <p:nvPr/>
        </p:nvSpPr>
        <p:spPr>
          <a:xfrm>
            <a:off x="2343150" y="1779588"/>
            <a:ext cx="327025"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INT</a:t>
            </a:r>
            <a:endParaRPr lang="en-US" altLang="zh-CN" sz="1800" b="0" dirty="0">
              <a:solidFill>
                <a:schemeClr val="tx1"/>
              </a:solidFill>
              <a:ea typeface="楷体_GB2312"/>
            </a:endParaRPr>
          </a:p>
        </p:txBody>
      </p:sp>
      <p:sp>
        <p:nvSpPr>
          <p:cNvPr id="256008" name="Rectangle 12"/>
          <p:cNvSpPr/>
          <p:nvPr/>
        </p:nvSpPr>
        <p:spPr>
          <a:xfrm>
            <a:off x="2754313" y="2393950"/>
            <a:ext cx="565150" cy="6096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rgbClr val="000000"/>
                </a:solidFill>
                <a:ea typeface="楷体_GB2312"/>
              </a:rPr>
              <a:t>8259</a:t>
            </a:r>
            <a:endParaRPr lang="en-US" altLang="zh-CN" sz="2000" b="0" dirty="0">
              <a:solidFill>
                <a:srgbClr val="000000"/>
              </a:solidFill>
              <a:ea typeface="楷体_GB2312"/>
            </a:endParaRPr>
          </a:p>
          <a:p>
            <a:pPr marL="0" lvl="0" indent="0">
              <a:lnSpc>
                <a:spcPct val="100000"/>
              </a:lnSpc>
              <a:spcBef>
                <a:spcPct val="0"/>
              </a:spcBef>
              <a:spcAft>
                <a:spcPct val="0"/>
              </a:spcAft>
              <a:buClrTx/>
              <a:buSzTx/>
              <a:buNone/>
            </a:pPr>
            <a:r>
              <a:rPr lang="zh-CN" altLang="en-US" sz="2000" b="0" dirty="0">
                <a:solidFill>
                  <a:srgbClr val="000000"/>
                </a:solidFill>
                <a:ea typeface="楷体_GB2312"/>
              </a:rPr>
              <a:t>主片</a:t>
            </a:r>
            <a:endParaRPr lang="zh-CN" altLang="en-US" sz="2000" b="0" dirty="0">
              <a:solidFill>
                <a:schemeClr val="tx1"/>
              </a:solidFill>
              <a:ea typeface="楷体_GB2312"/>
            </a:endParaRPr>
          </a:p>
        </p:txBody>
      </p:sp>
      <p:sp>
        <p:nvSpPr>
          <p:cNvPr id="256009" name="Rectangle 13"/>
          <p:cNvSpPr/>
          <p:nvPr/>
        </p:nvSpPr>
        <p:spPr>
          <a:xfrm>
            <a:off x="2762250" y="1227138"/>
            <a:ext cx="6858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SP/EN</a:t>
            </a:r>
            <a:endParaRPr lang="en-US" altLang="zh-CN" sz="1800" b="0" dirty="0">
              <a:solidFill>
                <a:schemeClr val="tx1"/>
              </a:solidFill>
              <a:ea typeface="楷体_GB2312"/>
            </a:endParaRPr>
          </a:p>
        </p:txBody>
      </p:sp>
      <p:sp>
        <p:nvSpPr>
          <p:cNvPr id="256010" name="Rectangle 14"/>
          <p:cNvSpPr/>
          <p:nvPr/>
        </p:nvSpPr>
        <p:spPr>
          <a:xfrm>
            <a:off x="3597275" y="1176338"/>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IR0</a:t>
            </a:r>
            <a:endParaRPr lang="en-US" altLang="zh-CN" sz="1800" b="0" dirty="0">
              <a:solidFill>
                <a:schemeClr val="tx1"/>
              </a:solidFill>
              <a:ea typeface="楷体_GB2312"/>
            </a:endParaRPr>
          </a:p>
        </p:txBody>
      </p:sp>
      <p:sp>
        <p:nvSpPr>
          <p:cNvPr id="256011" name="Rectangle 15"/>
          <p:cNvSpPr/>
          <p:nvPr/>
        </p:nvSpPr>
        <p:spPr>
          <a:xfrm>
            <a:off x="3597275" y="140811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IR1</a:t>
            </a:r>
            <a:endParaRPr lang="en-US" altLang="zh-CN" sz="1800" b="0" dirty="0">
              <a:solidFill>
                <a:schemeClr val="tx1"/>
              </a:solidFill>
              <a:ea typeface="楷体_GB2312"/>
            </a:endParaRPr>
          </a:p>
        </p:txBody>
      </p:sp>
      <p:sp>
        <p:nvSpPr>
          <p:cNvPr id="256012" name="Rectangle 16"/>
          <p:cNvSpPr/>
          <p:nvPr/>
        </p:nvSpPr>
        <p:spPr>
          <a:xfrm>
            <a:off x="3597275" y="1639888"/>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IR2</a:t>
            </a:r>
            <a:endParaRPr lang="en-US" altLang="zh-CN" sz="1800" b="0" dirty="0">
              <a:solidFill>
                <a:schemeClr val="tx1"/>
              </a:solidFill>
              <a:ea typeface="楷体_GB2312"/>
            </a:endParaRPr>
          </a:p>
        </p:txBody>
      </p:sp>
      <p:sp>
        <p:nvSpPr>
          <p:cNvPr id="256013" name="Rectangle 17"/>
          <p:cNvSpPr/>
          <p:nvPr/>
        </p:nvSpPr>
        <p:spPr>
          <a:xfrm>
            <a:off x="3597275" y="1870075"/>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IR3</a:t>
            </a:r>
            <a:endParaRPr lang="en-US" altLang="zh-CN" sz="1800" b="0" dirty="0">
              <a:solidFill>
                <a:schemeClr val="tx1"/>
              </a:solidFill>
              <a:ea typeface="楷体_GB2312"/>
            </a:endParaRPr>
          </a:p>
        </p:txBody>
      </p:sp>
      <p:sp>
        <p:nvSpPr>
          <p:cNvPr id="256014" name="Rectangle 18"/>
          <p:cNvSpPr/>
          <p:nvPr/>
        </p:nvSpPr>
        <p:spPr>
          <a:xfrm>
            <a:off x="3597275" y="2101850"/>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IR4</a:t>
            </a:r>
            <a:endParaRPr lang="en-US" altLang="zh-CN" sz="1800" b="0" dirty="0">
              <a:solidFill>
                <a:schemeClr val="tx1"/>
              </a:solidFill>
              <a:ea typeface="楷体_GB2312"/>
            </a:endParaRPr>
          </a:p>
        </p:txBody>
      </p:sp>
      <p:sp>
        <p:nvSpPr>
          <p:cNvPr id="256015" name="Rectangle 19"/>
          <p:cNvSpPr/>
          <p:nvPr/>
        </p:nvSpPr>
        <p:spPr>
          <a:xfrm>
            <a:off x="3597275" y="2332038"/>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IR5</a:t>
            </a:r>
            <a:endParaRPr lang="en-US" altLang="zh-CN" sz="1800" b="0" dirty="0">
              <a:solidFill>
                <a:schemeClr val="tx1"/>
              </a:solidFill>
              <a:ea typeface="楷体_GB2312"/>
            </a:endParaRPr>
          </a:p>
        </p:txBody>
      </p:sp>
      <p:sp>
        <p:nvSpPr>
          <p:cNvPr id="256016" name="Rectangle 20"/>
          <p:cNvSpPr/>
          <p:nvPr/>
        </p:nvSpPr>
        <p:spPr>
          <a:xfrm>
            <a:off x="3597275" y="256381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IR6</a:t>
            </a:r>
            <a:endParaRPr lang="en-US" altLang="zh-CN" sz="1800" b="0" dirty="0">
              <a:solidFill>
                <a:schemeClr val="tx1"/>
              </a:solidFill>
              <a:ea typeface="楷体_GB2312"/>
            </a:endParaRPr>
          </a:p>
        </p:txBody>
      </p:sp>
      <p:sp>
        <p:nvSpPr>
          <p:cNvPr id="256017" name="Rectangle 21"/>
          <p:cNvSpPr/>
          <p:nvPr/>
        </p:nvSpPr>
        <p:spPr>
          <a:xfrm>
            <a:off x="3597275" y="2794000"/>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IR7</a:t>
            </a:r>
            <a:endParaRPr lang="en-US" altLang="zh-CN" sz="1800" b="0" dirty="0">
              <a:solidFill>
                <a:schemeClr val="tx1"/>
              </a:solidFill>
              <a:ea typeface="楷体_GB2312"/>
            </a:endParaRPr>
          </a:p>
        </p:txBody>
      </p:sp>
      <p:sp>
        <p:nvSpPr>
          <p:cNvPr id="256018" name="Rectangle 22"/>
          <p:cNvSpPr/>
          <p:nvPr/>
        </p:nvSpPr>
        <p:spPr>
          <a:xfrm>
            <a:off x="4614863" y="1193800"/>
            <a:ext cx="533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IRQ0</a:t>
            </a:r>
            <a:endParaRPr lang="en-US" altLang="zh-CN" sz="1800" b="0" dirty="0">
              <a:solidFill>
                <a:schemeClr val="tx1"/>
              </a:solidFill>
              <a:ea typeface="楷体_GB2312"/>
            </a:endParaRPr>
          </a:p>
        </p:txBody>
      </p:sp>
      <p:sp>
        <p:nvSpPr>
          <p:cNvPr id="256019" name="Rectangle 23"/>
          <p:cNvSpPr/>
          <p:nvPr/>
        </p:nvSpPr>
        <p:spPr>
          <a:xfrm>
            <a:off x="4614863" y="1423988"/>
            <a:ext cx="533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IRQ1</a:t>
            </a:r>
            <a:endParaRPr lang="en-US" altLang="zh-CN" sz="1800" b="0" dirty="0">
              <a:solidFill>
                <a:schemeClr val="tx1"/>
              </a:solidFill>
              <a:ea typeface="楷体_GB2312"/>
            </a:endParaRPr>
          </a:p>
        </p:txBody>
      </p:sp>
      <p:sp>
        <p:nvSpPr>
          <p:cNvPr id="256020" name="Rectangle 24"/>
          <p:cNvSpPr/>
          <p:nvPr/>
        </p:nvSpPr>
        <p:spPr>
          <a:xfrm>
            <a:off x="4614863" y="1655763"/>
            <a:ext cx="533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IRQ2</a:t>
            </a:r>
            <a:endParaRPr lang="en-US" altLang="zh-CN" sz="1800" b="0" dirty="0">
              <a:solidFill>
                <a:schemeClr val="tx1"/>
              </a:solidFill>
              <a:ea typeface="楷体_GB2312"/>
            </a:endParaRPr>
          </a:p>
        </p:txBody>
      </p:sp>
      <p:sp>
        <p:nvSpPr>
          <p:cNvPr id="256021" name="Rectangle 25"/>
          <p:cNvSpPr/>
          <p:nvPr/>
        </p:nvSpPr>
        <p:spPr>
          <a:xfrm>
            <a:off x="4614863" y="1887538"/>
            <a:ext cx="533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IRQ3</a:t>
            </a:r>
            <a:endParaRPr lang="en-US" altLang="zh-CN" sz="1800" b="0" dirty="0">
              <a:solidFill>
                <a:schemeClr val="tx1"/>
              </a:solidFill>
              <a:ea typeface="楷体_GB2312"/>
            </a:endParaRPr>
          </a:p>
        </p:txBody>
      </p:sp>
      <p:sp>
        <p:nvSpPr>
          <p:cNvPr id="256022" name="Rectangle 26"/>
          <p:cNvSpPr/>
          <p:nvPr/>
        </p:nvSpPr>
        <p:spPr>
          <a:xfrm>
            <a:off x="4614863" y="2117725"/>
            <a:ext cx="533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IRQ4</a:t>
            </a:r>
            <a:endParaRPr lang="en-US" altLang="zh-CN" sz="1800" b="0" dirty="0">
              <a:solidFill>
                <a:schemeClr val="tx1"/>
              </a:solidFill>
              <a:ea typeface="楷体_GB2312"/>
            </a:endParaRPr>
          </a:p>
        </p:txBody>
      </p:sp>
      <p:sp>
        <p:nvSpPr>
          <p:cNvPr id="256023" name="Rectangle 27"/>
          <p:cNvSpPr/>
          <p:nvPr/>
        </p:nvSpPr>
        <p:spPr>
          <a:xfrm>
            <a:off x="4614863" y="2349500"/>
            <a:ext cx="533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IRQ5</a:t>
            </a:r>
            <a:endParaRPr lang="en-US" altLang="zh-CN" sz="1800" b="0" dirty="0">
              <a:solidFill>
                <a:schemeClr val="tx1"/>
              </a:solidFill>
              <a:ea typeface="楷体_GB2312"/>
            </a:endParaRPr>
          </a:p>
        </p:txBody>
      </p:sp>
      <p:sp>
        <p:nvSpPr>
          <p:cNvPr id="256024" name="Rectangle 28"/>
          <p:cNvSpPr/>
          <p:nvPr/>
        </p:nvSpPr>
        <p:spPr>
          <a:xfrm>
            <a:off x="4614863" y="2579688"/>
            <a:ext cx="533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IRQ6</a:t>
            </a:r>
            <a:endParaRPr lang="en-US" altLang="zh-CN" sz="1800" b="0" dirty="0">
              <a:solidFill>
                <a:schemeClr val="tx1"/>
              </a:solidFill>
              <a:ea typeface="楷体_GB2312"/>
            </a:endParaRPr>
          </a:p>
        </p:txBody>
      </p:sp>
      <p:sp>
        <p:nvSpPr>
          <p:cNvPr id="256025" name="Rectangle 29"/>
          <p:cNvSpPr/>
          <p:nvPr/>
        </p:nvSpPr>
        <p:spPr>
          <a:xfrm>
            <a:off x="4614863" y="2811463"/>
            <a:ext cx="533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IRQ7</a:t>
            </a:r>
            <a:endParaRPr lang="en-US" altLang="zh-CN" sz="1800" b="0" dirty="0">
              <a:solidFill>
                <a:schemeClr val="tx1"/>
              </a:solidFill>
              <a:ea typeface="楷体_GB2312"/>
            </a:endParaRPr>
          </a:p>
        </p:txBody>
      </p:sp>
      <p:sp>
        <p:nvSpPr>
          <p:cNvPr id="256026" name="Line 31"/>
          <p:cNvSpPr/>
          <p:nvPr/>
        </p:nvSpPr>
        <p:spPr>
          <a:xfrm flipH="1">
            <a:off x="2767013" y="1223963"/>
            <a:ext cx="288925" cy="1587"/>
          </a:xfrm>
          <a:prstGeom prst="line">
            <a:avLst/>
          </a:prstGeom>
          <a:ln w="15875" cap="flat" cmpd="sng">
            <a:solidFill>
              <a:srgbClr val="000000"/>
            </a:solidFill>
            <a:prstDash val="solid"/>
            <a:bevel/>
            <a:headEnd type="none" w="med" len="med"/>
            <a:tailEnd type="none" w="med" len="med"/>
          </a:ln>
        </p:spPr>
      </p:sp>
      <p:sp>
        <p:nvSpPr>
          <p:cNvPr id="256027" name="Line 35"/>
          <p:cNvSpPr/>
          <p:nvPr/>
        </p:nvSpPr>
        <p:spPr>
          <a:xfrm flipH="1">
            <a:off x="4079875" y="1344613"/>
            <a:ext cx="266700" cy="1587"/>
          </a:xfrm>
          <a:prstGeom prst="line">
            <a:avLst/>
          </a:prstGeom>
          <a:ln w="15875" cap="flat" cmpd="sng">
            <a:solidFill>
              <a:srgbClr val="000000"/>
            </a:solidFill>
            <a:prstDash val="solid"/>
            <a:bevel/>
            <a:headEnd type="none" w="med" len="med"/>
            <a:tailEnd type="none" w="med" len="med"/>
          </a:ln>
        </p:spPr>
      </p:sp>
      <p:sp>
        <p:nvSpPr>
          <p:cNvPr id="256028" name="Line 38"/>
          <p:cNvSpPr/>
          <p:nvPr/>
        </p:nvSpPr>
        <p:spPr>
          <a:xfrm flipH="1">
            <a:off x="4079875" y="1558925"/>
            <a:ext cx="266700" cy="1588"/>
          </a:xfrm>
          <a:prstGeom prst="line">
            <a:avLst/>
          </a:prstGeom>
          <a:ln w="15875" cap="flat" cmpd="sng">
            <a:solidFill>
              <a:srgbClr val="000000"/>
            </a:solidFill>
            <a:prstDash val="solid"/>
            <a:bevel/>
            <a:headEnd type="none" w="med" len="med"/>
            <a:tailEnd type="none" w="med" len="med"/>
          </a:ln>
        </p:spPr>
      </p:sp>
      <p:sp>
        <p:nvSpPr>
          <p:cNvPr id="256029" name="Line 41"/>
          <p:cNvSpPr/>
          <p:nvPr/>
        </p:nvSpPr>
        <p:spPr>
          <a:xfrm flipH="1">
            <a:off x="4098925" y="2012950"/>
            <a:ext cx="260350" cy="1588"/>
          </a:xfrm>
          <a:prstGeom prst="line">
            <a:avLst/>
          </a:prstGeom>
          <a:ln w="15875" cap="flat" cmpd="sng">
            <a:solidFill>
              <a:srgbClr val="000000"/>
            </a:solidFill>
            <a:prstDash val="solid"/>
            <a:bevel/>
            <a:headEnd type="none" w="med" len="med"/>
            <a:tailEnd type="none" w="med" len="med"/>
          </a:ln>
        </p:spPr>
      </p:sp>
      <p:sp>
        <p:nvSpPr>
          <p:cNvPr id="256030" name="Line 44"/>
          <p:cNvSpPr/>
          <p:nvPr/>
        </p:nvSpPr>
        <p:spPr>
          <a:xfrm flipH="1">
            <a:off x="4079875" y="2243138"/>
            <a:ext cx="266700" cy="1587"/>
          </a:xfrm>
          <a:prstGeom prst="line">
            <a:avLst/>
          </a:prstGeom>
          <a:ln w="15875" cap="flat" cmpd="sng">
            <a:solidFill>
              <a:srgbClr val="000000"/>
            </a:solidFill>
            <a:prstDash val="solid"/>
            <a:bevel/>
            <a:headEnd type="none" w="med" len="med"/>
            <a:tailEnd type="none" w="med" len="med"/>
          </a:ln>
        </p:spPr>
      </p:sp>
      <p:sp>
        <p:nvSpPr>
          <p:cNvPr id="256031" name="Line 47"/>
          <p:cNvSpPr/>
          <p:nvPr/>
        </p:nvSpPr>
        <p:spPr>
          <a:xfrm flipH="1">
            <a:off x="4079875" y="2474913"/>
            <a:ext cx="266700" cy="1587"/>
          </a:xfrm>
          <a:prstGeom prst="line">
            <a:avLst/>
          </a:prstGeom>
          <a:ln w="15875" cap="flat" cmpd="sng">
            <a:solidFill>
              <a:srgbClr val="000000"/>
            </a:solidFill>
            <a:prstDash val="solid"/>
            <a:bevel/>
            <a:headEnd type="none" w="med" len="med"/>
            <a:tailEnd type="none" w="med" len="med"/>
          </a:ln>
        </p:spPr>
      </p:sp>
      <p:sp>
        <p:nvSpPr>
          <p:cNvPr id="256032" name="Line 50"/>
          <p:cNvSpPr/>
          <p:nvPr/>
        </p:nvSpPr>
        <p:spPr>
          <a:xfrm flipH="1">
            <a:off x="4084638" y="2686050"/>
            <a:ext cx="266700" cy="1588"/>
          </a:xfrm>
          <a:prstGeom prst="line">
            <a:avLst/>
          </a:prstGeom>
          <a:ln w="15875" cap="flat" cmpd="sng">
            <a:solidFill>
              <a:srgbClr val="000000"/>
            </a:solidFill>
            <a:prstDash val="solid"/>
            <a:bevel/>
            <a:headEnd type="none" w="med" len="med"/>
            <a:tailEnd type="none" w="med" len="med"/>
          </a:ln>
        </p:spPr>
      </p:sp>
      <p:sp>
        <p:nvSpPr>
          <p:cNvPr id="256033" name="Line 53"/>
          <p:cNvSpPr/>
          <p:nvPr/>
        </p:nvSpPr>
        <p:spPr>
          <a:xfrm flipH="1">
            <a:off x="4079875" y="2921000"/>
            <a:ext cx="266700" cy="1588"/>
          </a:xfrm>
          <a:prstGeom prst="line">
            <a:avLst/>
          </a:prstGeom>
          <a:ln w="15875" cap="flat" cmpd="sng">
            <a:solidFill>
              <a:srgbClr val="000000"/>
            </a:solidFill>
            <a:prstDash val="solid"/>
            <a:bevel/>
            <a:headEnd type="none" w="med" len="med"/>
            <a:tailEnd type="none" w="med" len="med"/>
          </a:ln>
        </p:spPr>
      </p:sp>
      <p:sp>
        <p:nvSpPr>
          <p:cNvPr id="256034" name="Line 54"/>
          <p:cNvSpPr/>
          <p:nvPr/>
        </p:nvSpPr>
        <p:spPr>
          <a:xfrm flipH="1">
            <a:off x="3135313" y="1233488"/>
            <a:ext cx="215900" cy="1587"/>
          </a:xfrm>
          <a:prstGeom prst="line">
            <a:avLst/>
          </a:prstGeom>
          <a:ln w="15875" cap="flat" cmpd="sng">
            <a:solidFill>
              <a:srgbClr val="000000"/>
            </a:solidFill>
            <a:prstDash val="solid"/>
            <a:bevel/>
            <a:headEnd type="none" w="med" len="med"/>
            <a:tailEnd type="none" w="med" len="med"/>
          </a:ln>
        </p:spPr>
      </p:sp>
      <p:sp>
        <p:nvSpPr>
          <p:cNvPr id="256035" name="Line 57"/>
          <p:cNvSpPr/>
          <p:nvPr/>
        </p:nvSpPr>
        <p:spPr>
          <a:xfrm>
            <a:off x="3074988" y="1022350"/>
            <a:ext cx="1587" cy="131763"/>
          </a:xfrm>
          <a:prstGeom prst="line">
            <a:avLst/>
          </a:prstGeom>
          <a:ln w="15875" cap="flat" cmpd="sng">
            <a:solidFill>
              <a:srgbClr val="000000"/>
            </a:solidFill>
            <a:prstDash val="solid"/>
            <a:bevel/>
            <a:headEnd type="none" w="med" len="med"/>
            <a:tailEnd type="none" w="med" len="med"/>
          </a:ln>
        </p:spPr>
      </p:sp>
      <p:sp>
        <p:nvSpPr>
          <p:cNvPr id="256036" name="Rectangle 58"/>
          <p:cNvSpPr/>
          <p:nvPr/>
        </p:nvSpPr>
        <p:spPr>
          <a:xfrm>
            <a:off x="2305050" y="3478213"/>
            <a:ext cx="1733550"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CAS2 CAS1 CAS0</a:t>
            </a:r>
            <a:endParaRPr lang="en-US" altLang="zh-CN" sz="1600" b="0" dirty="0">
              <a:solidFill>
                <a:schemeClr val="tx1"/>
              </a:solidFill>
              <a:ea typeface="楷体_GB2312"/>
            </a:endParaRPr>
          </a:p>
        </p:txBody>
      </p:sp>
      <p:sp>
        <p:nvSpPr>
          <p:cNvPr id="256037" name="Rectangle 59"/>
          <p:cNvSpPr/>
          <p:nvPr/>
        </p:nvSpPr>
        <p:spPr>
          <a:xfrm>
            <a:off x="2227263" y="4059238"/>
            <a:ext cx="1851025" cy="2490787"/>
          </a:xfrm>
          <a:prstGeom prst="rect">
            <a:avLst/>
          </a:prstGeom>
          <a:solidFill>
            <a:srgbClr val="CCFF66"/>
          </a:solidFill>
          <a:ln w="15875"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6038" name="Rectangle 61"/>
          <p:cNvSpPr/>
          <p:nvPr/>
        </p:nvSpPr>
        <p:spPr>
          <a:xfrm>
            <a:off x="2311400" y="4587875"/>
            <a:ext cx="71755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D7~D0</a:t>
            </a:r>
            <a:endParaRPr lang="en-US" altLang="zh-CN" sz="1800" b="0" dirty="0">
              <a:solidFill>
                <a:schemeClr val="tx1"/>
              </a:solidFill>
              <a:ea typeface="楷体_GB2312"/>
            </a:endParaRPr>
          </a:p>
        </p:txBody>
      </p:sp>
      <p:sp>
        <p:nvSpPr>
          <p:cNvPr id="256039" name="Rectangle 63"/>
          <p:cNvSpPr/>
          <p:nvPr/>
        </p:nvSpPr>
        <p:spPr>
          <a:xfrm>
            <a:off x="2305050" y="6129338"/>
            <a:ext cx="3175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CS</a:t>
            </a:r>
            <a:endParaRPr lang="en-US" altLang="zh-CN" sz="1800" b="0" dirty="0">
              <a:solidFill>
                <a:schemeClr val="tx1"/>
              </a:solidFill>
              <a:ea typeface="楷体_GB2312"/>
            </a:endParaRPr>
          </a:p>
        </p:txBody>
      </p:sp>
      <p:sp>
        <p:nvSpPr>
          <p:cNvPr id="256040" name="Rectangle 64"/>
          <p:cNvSpPr/>
          <p:nvPr/>
        </p:nvSpPr>
        <p:spPr>
          <a:xfrm>
            <a:off x="2886075" y="4841875"/>
            <a:ext cx="565150" cy="609600"/>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rgbClr val="000000"/>
                </a:solidFill>
                <a:ea typeface="楷体_GB2312"/>
              </a:rPr>
              <a:t>8259</a:t>
            </a:r>
            <a:endParaRPr lang="en-US" altLang="zh-CN" sz="2000" b="0" dirty="0">
              <a:solidFill>
                <a:srgbClr val="000000"/>
              </a:solidFill>
              <a:ea typeface="楷体_GB2312"/>
            </a:endParaRPr>
          </a:p>
          <a:p>
            <a:pPr marL="0" lvl="0" indent="0">
              <a:lnSpc>
                <a:spcPct val="100000"/>
              </a:lnSpc>
              <a:spcBef>
                <a:spcPct val="0"/>
              </a:spcBef>
              <a:spcAft>
                <a:spcPct val="0"/>
              </a:spcAft>
              <a:buClrTx/>
              <a:buSzTx/>
              <a:buNone/>
            </a:pPr>
            <a:r>
              <a:rPr lang="zh-CN" altLang="en-US" sz="2000" b="0" dirty="0">
                <a:solidFill>
                  <a:srgbClr val="000000"/>
                </a:solidFill>
                <a:ea typeface="楷体_GB2312"/>
              </a:rPr>
              <a:t>从片</a:t>
            </a:r>
            <a:endParaRPr lang="zh-CN" altLang="en-US" sz="2000" b="0" dirty="0">
              <a:solidFill>
                <a:schemeClr val="tx1"/>
              </a:solidFill>
              <a:ea typeface="楷体_GB2312"/>
            </a:endParaRPr>
          </a:p>
        </p:txBody>
      </p:sp>
      <p:sp>
        <p:nvSpPr>
          <p:cNvPr id="256041" name="Rectangle 65"/>
          <p:cNvSpPr/>
          <p:nvPr/>
        </p:nvSpPr>
        <p:spPr>
          <a:xfrm>
            <a:off x="2822575" y="6302375"/>
            <a:ext cx="6858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SP/EN</a:t>
            </a:r>
            <a:endParaRPr lang="en-US" altLang="zh-CN" sz="1800" b="0" dirty="0">
              <a:solidFill>
                <a:schemeClr val="tx1"/>
              </a:solidFill>
              <a:ea typeface="楷体_GB2312"/>
            </a:endParaRPr>
          </a:p>
        </p:txBody>
      </p:sp>
      <p:sp>
        <p:nvSpPr>
          <p:cNvPr id="256042" name="Rectangle 66"/>
          <p:cNvSpPr/>
          <p:nvPr/>
        </p:nvSpPr>
        <p:spPr>
          <a:xfrm>
            <a:off x="3606800" y="462756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IR0</a:t>
            </a:r>
            <a:endParaRPr lang="en-US" altLang="zh-CN" sz="1800" b="0" dirty="0">
              <a:solidFill>
                <a:schemeClr val="tx1"/>
              </a:solidFill>
              <a:ea typeface="楷体_GB2312"/>
            </a:endParaRPr>
          </a:p>
        </p:txBody>
      </p:sp>
      <p:sp>
        <p:nvSpPr>
          <p:cNvPr id="256043" name="Rectangle 67"/>
          <p:cNvSpPr/>
          <p:nvPr/>
        </p:nvSpPr>
        <p:spPr>
          <a:xfrm>
            <a:off x="3606800" y="4857750"/>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IR1</a:t>
            </a:r>
            <a:endParaRPr lang="en-US" altLang="zh-CN" sz="1800" b="0" dirty="0">
              <a:solidFill>
                <a:schemeClr val="tx1"/>
              </a:solidFill>
              <a:ea typeface="楷体_GB2312"/>
            </a:endParaRPr>
          </a:p>
        </p:txBody>
      </p:sp>
      <p:sp>
        <p:nvSpPr>
          <p:cNvPr id="256044" name="Rectangle 68"/>
          <p:cNvSpPr/>
          <p:nvPr/>
        </p:nvSpPr>
        <p:spPr>
          <a:xfrm>
            <a:off x="3606800" y="5089525"/>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IR2</a:t>
            </a:r>
            <a:endParaRPr lang="en-US" altLang="zh-CN" sz="1800" b="0" dirty="0">
              <a:solidFill>
                <a:schemeClr val="tx1"/>
              </a:solidFill>
              <a:ea typeface="楷体_GB2312"/>
            </a:endParaRPr>
          </a:p>
        </p:txBody>
      </p:sp>
      <p:sp>
        <p:nvSpPr>
          <p:cNvPr id="256045" name="Rectangle 69"/>
          <p:cNvSpPr/>
          <p:nvPr/>
        </p:nvSpPr>
        <p:spPr>
          <a:xfrm>
            <a:off x="3606800" y="531971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IR3</a:t>
            </a:r>
            <a:endParaRPr lang="en-US" altLang="zh-CN" sz="1800" b="0" dirty="0">
              <a:solidFill>
                <a:schemeClr val="tx1"/>
              </a:solidFill>
              <a:ea typeface="楷体_GB2312"/>
            </a:endParaRPr>
          </a:p>
        </p:txBody>
      </p:sp>
      <p:sp>
        <p:nvSpPr>
          <p:cNvPr id="256046" name="Rectangle 70"/>
          <p:cNvSpPr/>
          <p:nvPr/>
        </p:nvSpPr>
        <p:spPr>
          <a:xfrm>
            <a:off x="3606800" y="5551488"/>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IR4</a:t>
            </a:r>
            <a:endParaRPr lang="en-US" altLang="zh-CN" sz="1800" b="0" dirty="0">
              <a:solidFill>
                <a:schemeClr val="tx1"/>
              </a:solidFill>
              <a:ea typeface="楷体_GB2312"/>
            </a:endParaRPr>
          </a:p>
        </p:txBody>
      </p:sp>
      <p:sp>
        <p:nvSpPr>
          <p:cNvPr id="256047" name="Rectangle 71"/>
          <p:cNvSpPr/>
          <p:nvPr/>
        </p:nvSpPr>
        <p:spPr>
          <a:xfrm>
            <a:off x="3606800" y="5783263"/>
            <a:ext cx="3556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IR5</a:t>
            </a:r>
            <a:endParaRPr lang="en-US" altLang="zh-CN" sz="1800" b="0" dirty="0">
              <a:solidFill>
                <a:schemeClr val="tx1"/>
              </a:solidFill>
              <a:ea typeface="楷体_GB2312"/>
            </a:endParaRPr>
          </a:p>
        </p:txBody>
      </p:sp>
      <p:sp>
        <p:nvSpPr>
          <p:cNvPr id="256048" name="Rectangle 72"/>
          <p:cNvSpPr/>
          <p:nvPr/>
        </p:nvSpPr>
        <p:spPr>
          <a:xfrm>
            <a:off x="3606800" y="6013450"/>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IR6</a:t>
            </a:r>
            <a:endParaRPr lang="en-US" altLang="zh-CN" sz="1800" b="0" dirty="0">
              <a:solidFill>
                <a:schemeClr val="tx1"/>
              </a:solidFill>
              <a:ea typeface="楷体_GB2312"/>
            </a:endParaRPr>
          </a:p>
        </p:txBody>
      </p:sp>
      <p:sp>
        <p:nvSpPr>
          <p:cNvPr id="256049" name="Rectangle 73"/>
          <p:cNvSpPr/>
          <p:nvPr/>
        </p:nvSpPr>
        <p:spPr>
          <a:xfrm>
            <a:off x="3606800" y="6245225"/>
            <a:ext cx="3556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IR7</a:t>
            </a:r>
            <a:endParaRPr lang="en-US" altLang="zh-CN" sz="1800" b="0" dirty="0">
              <a:solidFill>
                <a:schemeClr val="tx1"/>
              </a:solidFill>
              <a:ea typeface="楷体_GB2312"/>
            </a:endParaRPr>
          </a:p>
        </p:txBody>
      </p:sp>
      <p:sp>
        <p:nvSpPr>
          <p:cNvPr id="256050" name="Line 74"/>
          <p:cNvSpPr/>
          <p:nvPr/>
        </p:nvSpPr>
        <p:spPr>
          <a:xfrm flipH="1">
            <a:off x="2297113" y="6173788"/>
            <a:ext cx="246062" cy="1587"/>
          </a:xfrm>
          <a:prstGeom prst="line">
            <a:avLst/>
          </a:prstGeom>
          <a:ln w="15875" cap="flat" cmpd="sng">
            <a:solidFill>
              <a:srgbClr val="000000"/>
            </a:solidFill>
            <a:prstDash val="solid"/>
            <a:bevel/>
            <a:headEnd type="none" w="med" len="med"/>
            <a:tailEnd type="none" w="med" len="med"/>
          </a:ln>
        </p:spPr>
      </p:sp>
      <p:sp>
        <p:nvSpPr>
          <p:cNvPr id="256051" name="Rectangle 75"/>
          <p:cNvSpPr/>
          <p:nvPr/>
        </p:nvSpPr>
        <p:spPr>
          <a:xfrm>
            <a:off x="4470400" y="4594225"/>
            <a:ext cx="533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IRQ8</a:t>
            </a:r>
            <a:endParaRPr lang="en-US" altLang="zh-CN" sz="1800" b="0" dirty="0">
              <a:solidFill>
                <a:schemeClr val="tx1"/>
              </a:solidFill>
              <a:ea typeface="楷体_GB2312"/>
            </a:endParaRPr>
          </a:p>
        </p:txBody>
      </p:sp>
      <p:sp>
        <p:nvSpPr>
          <p:cNvPr id="256052" name="Rectangle 76"/>
          <p:cNvSpPr/>
          <p:nvPr/>
        </p:nvSpPr>
        <p:spPr>
          <a:xfrm>
            <a:off x="4470400" y="4824413"/>
            <a:ext cx="533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IRQ9</a:t>
            </a:r>
            <a:endParaRPr lang="en-US" altLang="zh-CN" sz="1800" b="0" dirty="0">
              <a:solidFill>
                <a:schemeClr val="tx1"/>
              </a:solidFill>
              <a:ea typeface="楷体_GB2312"/>
            </a:endParaRPr>
          </a:p>
        </p:txBody>
      </p:sp>
      <p:sp>
        <p:nvSpPr>
          <p:cNvPr id="256053" name="Rectangle 77"/>
          <p:cNvSpPr/>
          <p:nvPr/>
        </p:nvSpPr>
        <p:spPr>
          <a:xfrm>
            <a:off x="4470400" y="5056188"/>
            <a:ext cx="660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IRQ10</a:t>
            </a:r>
            <a:endParaRPr lang="en-US" altLang="zh-CN" sz="1800" b="0" dirty="0">
              <a:solidFill>
                <a:schemeClr val="tx1"/>
              </a:solidFill>
              <a:ea typeface="楷体_GB2312"/>
            </a:endParaRPr>
          </a:p>
        </p:txBody>
      </p:sp>
      <p:sp>
        <p:nvSpPr>
          <p:cNvPr id="256054" name="Rectangle 78"/>
          <p:cNvSpPr/>
          <p:nvPr/>
        </p:nvSpPr>
        <p:spPr>
          <a:xfrm>
            <a:off x="4470400" y="5287963"/>
            <a:ext cx="660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IRQ11</a:t>
            </a:r>
            <a:endParaRPr lang="en-US" altLang="zh-CN" sz="1800" b="0" dirty="0">
              <a:solidFill>
                <a:schemeClr val="tx1"/>
              </a:solidFill>
              <a:ea typeface="楷体_GB2312"/>
            </a:endParaRPr>
          </a:p>
        </p:txBody>
      </p:sp>
      <p:sp>
        <p:nvSpPr>
          <p:cNvPr id="256055" name="Rectangle 79"/>
          <p:cNvSpPr/>
          <p:nvPr/>
        </p:nvSpPr>
        <p:spPr>
          <a:xfrm>
            <a:off x="4470400" y="5518150"/>
            <a:ext cx="660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IRQ12</a:t>
            </a:r>
            <a:endParaRPr lang="en-US" altLang="zh-CN" sz="1800" b="0" dirty="0">
              <a:solidFill>
                <a:schemeClr val="tx1"/>
              </a:solidFill>
              <a:ea typeface="楷体_GB2312"/>
            </a:endParaRPr>
          </a:p>
        </p:txBody>
      </p:sp>
      <p:sp>
        <p:nvSpPr>
          <p:cNvPr id="256056" name="Rectangle 80"/>
          <p:cNvSpPr/>
          <p:nvPr/>
        </p:nvSpPr>
        <p:spPr>
          <a:xfrm>
            <a:off x="4470400" y="5749925"/>
            <a:ext cx="6604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IRQ13</a:t>
            </a:r>
            <a:endParaRPr lang="en-US" altLang="zh-CN" sz="1800" b="0" dirty="0">
              <a:solidFill>
                <a:schemeClr val="tx1"/>
              </a:solidFill>
              <a:ea typeface="楷体_GB2312"/>
            </a:endParaRPr>
          </a:p>
        </p:txBody>
      </p:sp>
      <p:sp>
        <p:nvSpPr>
          <p:cNvPr id="256057" name="Rectangle 81"/>
          <p:cNvSpPr/>
          <p:nvPr/>
        </p:nvSpPr>
        <p:spPr>
          <a:xfrm>
            <a:off x="4470400" y="5980113"/>
            <a:ext cx="660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IRQ14</a:t>
            </a:r>
            <a:endParaRPr lang="en-US" altLang="zh-CN" sz="1800" b="0" dirty="0">
              <a:solidFill>
                <a:schemeClr val="tx1"/>
              </a:solidFill>
              <a:ea typeface="楷体_GB2312"/>
            </a:endParaRPr>
          </a:p>
        </p:txBody>
      </p:sp>
      <p:sp>
        <p:nvSpPr>
          <p:cNvPr id="256058" name="Rectangle 82"/>
          <p:cNvSpPr/>
          <p:nvPr/>
        </p:nvSpPr>
        <p:spPr>
          <a:xfrm>
            <a:off x="4470400" y="6211888"/>
            <a:ext cx="6604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IRQ15</a:t>
            </a:r>
            <a:endParaRPr lang="en-US" altLang="zh-CN" sz="1800" b="0" dirty="0">
              <a:solidFill>
                <a:schemeClr val="tx1"/>
              </a:solidFill>
              <a:ea typeface="楷体_GB2312"/>
            </a:endParaRPr>
          </a:p>
        </p:txBody>
      </p:sp>
      <p:sp>
        <p:nvSpPr>
          <p:cNvPr id="256059" name="Line 85"/>
          <p:cNvSpPr/>
          <p:nvPr/>
        </p:nvSpPr>
        <p:spPr>
          <a:xfrm flipH="1">
            <a:off x="4098925" y="4746625"/>
            <a:ext cx="260350" cy="1588"/>
          </a:xfrm>
          <a:prstGeom prst="line">
            <a:avLst/>
          </a:prstGeom>
          <a:ln w="15875" cap="flat" cmpd="sng">
            <a:solidFill>
              <a:srgbClr val="000000"/>
            </a:solidFill>
            <a:prstDash val="solid"/>
            <a:bevel/>
            <a:headEnd type="none" w="med" len="med"/>
            <a:tailEnd type="none" w="med" len="med"/>
          </a:ln>
        </p:spPr>
      </p:sp>
      <p:sp>
        <p:nvSpPr>
          <p:cNvPr id="256060" name="Line 88"/>
          <p:cNvSpPr/>
          <p:nvPr/>
        </p:nvSpPr>
        <p:spPr>
          <a:xfrm flipH="1">
            <a:off x="4098925" y="4959350"/>
            <a:ext cx="260350" cy="1588"/>
          </a:xfrm>
          <a:prstGeom prst="line">
            <a:avLst/>
          </a:prstGeom>
          <a:ln w="15875" cap="flat" cmpd="sng">
            <a:solidFill>
              <a:srgbClr val="000000"/>
            </a:solidFill>
            <a:prstDash val="solid"/>
            <a:bevel/>
            <a:headEnd type="none" w="med" len="med"/>
            <a:tailEnd type="none" w="med" len="med"/>
          </a:ln>
        </p:spPr>
      </p:sp>
      <p:sp>
        <p:nvSpPr>
          <p:cNvPr id="256061" name="Line 91"/>
          <p:cNvSpPr/>
          <p:nvPr/>
        </p:nvSpPr>
        <p:spPr>
          <a:xfrm flipH="1">
            <a:off x="4098925" y="5199063"/>
            <a:ext cx="260350" cy="1587"/>
          </a:xfrm>
          <a:prstGeom prst="line">
            <a:avLst/>
          </a:prstGeom>
          <a:ln w="15875" cap="flat" cmpd="sng">
            <a:solidFill>
              <a:srgbClr val="000000"/>
            </a:solidFill>
            <a:prstDash val="solid"/>
            <a:bevel/>
            <a:headEnd type="none" w="med" len="med"/>
            <a:tailEnd type="none" w="med" len="med"/>
          </a:ln>
        </p:spPr>
      </p:sp>
      <p:sp>
        <p:nvSpPr>
          <p:cNvPr id="256062" name="Line 94"/>
          <p:cNvSpPr/>
          <p:nvPr/>
        </p:nvSpPr>
        <p:spPr>
          <a:xfrm flipH="1">
            <a:off x="4090988" y="5413375"/>
            <a:ext cx="269875" cy="1588"/>
          </a:xfrm>
          <a:prstGeom prst="line">
            <a:avLst/>
          </a:prstGeom>
          <a:ln w="15875" cap="flat" cmpd="sng">
            <a:solidFill>
              <a:srgbClr val="000000"/>
            </a:solidFill>
            <a:prstDash val="solid"/>
            <a:bevel/>
            <a:headEnd type="none" w="med" len="med"/>
            <a:tailEnd type="none" w="med" len="med"/>
          </a:ln>
        </p:spPr>
      </p:sp>
      <p:sp>
        <p:nvSpPr>
          <p:cNvPr id="256063" name="Line 97"/>
          <p:cNvSpPr/>
          <p:nvPr/>
        </p:nvSpPr>
        <p:spPr>
          <a:xfrm flipH="1">
            <a:off x="4079875" y="5643563"/>
            <a:ext cx="271463" cy="1587"/>
          </a:xfrm>
          <a:prstGeom prst="line">
            <a:avLst/>
          </a:prstGeom>
          <a:ln w="15875" cap="flat" cmpd="sng">
            <a:solidFill>
              <a:srgbClr val="000000"/>
            </a:solidFill>
            <a:prstDash val="solid"/>
            <a:bevel/>
            <a:headEnd type="none" w="med" len="med"/>
            <a:tailEnd type="none" w="med" len="med"/>
          </a:ln>
        </p:spPr>
      </p:sp>
      <p:sp>
        <p:nvSpPr>
          <p:cNvPr id="256064" name="Line 100"/>
          <p:cNvSpPr/>
          <p:nvPr/>
        </p:nvSpPr>
        <p:spPr>
          <a:xfrm flipH="1">
            <a:off x="4090988" y="5875338"/>
            <a:ext cx="261937" cy="1587"/>
          </a:xfrm>
          <a:prstGeom prst="line">
            <a:avLst/>
          </a:prstGeom>
          <a:ln w="15875" cap="flat" cmpd="sng">
            <a:solidFill>
              <a:srgbClr val="000000"/>
            </a:solidFill>
            <a:prstDash val="solid"/>
            <a:bevel/>
            <a:headEnd type="none" w="med" len="med"/>
            <a:tailEnd type="none" w="med" len="med"/>
          </a:ln>
        </p:spPr>
      </p:sp>
      <p:sp>
        <p:nvSpPr>
          <p:cNvPr id="256065" name="Line 103"/>
          <p:cNvSpPr/>
          <p:nvPr/>
        </p:nvSpPr>
        <p:spPr>
          <a:xfrm flipH="1">
            <a:off x="4106863" y="6086475"/>
            <a:ext cx="257175" cy="1588"/>
          </a:xfrm>
          <a:prstGeom prst="line">
            <a:avLst/>
          </a:prstGeom>
          <a:ln w="15875" cap="flat" cmpd="sng">
            <a:solidFill>
              <a:srgbClr val="000000"/>
            </a:solidFill>
            <a:prstDash val="solid"/>
            <a:bevel/>
            <a:headEnd type="none" w="med" len="med"/>
            <a:tailEnd type="none" w="med" len="med"/>
          </a:ln>
        </p:spPr>
      </p:sp>
      <p:sp>
        <p:nvSpPr>
          <p:cNvPr id="256066" name="Line 106"/>
          <p:cNvSpPr/>
          <p:nvPr/>
        </p:nvSpPr>
        <p:spPr>
          <a:xfrm flipH="1">
            <a:off x="4079875" y="6321425"/>
            <a:ext cx="273050" cy="1588"/>
          </a:xfrm>
          <a:prstGeom prst="line">
            <a:avLst/>
          </a:prstGeom>
          <a:ln w="15875" cap="flat" cmpd="sng">
            <a:solidFill>
              <a:srgbClr val="000000"/>
            </a:solidFill>
            <a:prstDash val="solid"/>
            <a:bevel/>
            <a:headEnd type="none" w="med" len="med"/>
            <a:tailEnd type="none" w="med" len="med"/>
          </a:ln>
        </p:spPr>
      </p:sp>
      <p:sp>
        <p:nvSpPr>
          <p:cNvPr id="256067" name="Line 107"/>
          <p:cNvSpPr/>
          <p:nvPr/>
        </p:nvSpPr>
        <p:spPr>
          <a:xfrm flipH="1">
            <a:off x="3200400" y="6294438"/>
            <a:ext cx="215900" cy="1587"/>
          </a:xfrm>
          <a:prstGeom prst="line">
            <a:avLst/>
          </a:prstGeom>
          <a:ln w="15875" cap="flat" cmpd="sng">
            <a:solidFill>
              <a:srgbClr val="000000"/>
            </a:solidFill>
            <a:prstDash val="solid"/>
            <a:bevel/>
            <a:headEnd type="none" w="med" len="med"/>
            <a:tailEnd type="none" w="med" len="med"/>
          </a:ln>
        </p:spPr>
      </p:sp>
      <p:sp>
        <p:nvSpPr>
          <p:cNvPr id="256068" name="Rectangle 108"/>
          <p:cNvSpPr/>
          <p:nvPr/>
        </p:nvSpPr>
        <p:spPr>
          <a:xfrm>
            <a:off x="2305050" y="4083050"/>
            <a:ext cx="1733550"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CAS2 CAS1 CAS0</a:t>
            </a:r>
            <a:endParaRPr lang="en-US" altLang="zh-CN" sz="1600" b="0" dirty="0">
              <a:solidFill>
                <a:schemeClr val="tx1"/>
              </a:solidFill>
              <a:ea typeface="楷体_GB2312"/>
            </a:endParaRPr>
          </a:p>
        </p:txBody>
      </p:sp>
      <p:sp>
        <p:nvSpPr>
          <p:cNvPr id="256069" name="Rectangle 109"/>
          <p:cNvSpPr/>
          <p:nvPr/>
        </p:nvSpPr>
        <p:spPr>
          <a:xfrm>
            <a:off x="3617913" y="4356100"/>
            <a:ext cx="3683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INT</a:t>
            </a:r>
            <a:endParaRPr lang="en-US" altLang="zh-CN" sz="1800" b="0" dirty="0">
              <a:solidFill>
                <a:schemeClr val="tx1"/>
              </a:solidFill>
              <a:ea typeface="楷体_GB2312"/>
            </a:endParaRPr>
          </a:p>
        </p:txBody>
      </p:sp>
      <p:sp>
        <p:nvSpPr>
          <p:cNvPr id="256070" name="Line 111"/>
          <p:cNvSpPr/>
          <p:nvPr/>
        </p:nvSpPr>
        <p:spPr>
          <a:xfrm flipV="1">
            <a:off x="4098925" y="4443413"/>
            <a:ext cx="371475" cy="0"/>
          </a:xfrm>
          <a:prstGeom prst="line">
            <a:avLst/>
          </a:prstGeom>
          <a:ln w="15875" cap="flat" cmpd="sng">
            <a:solidFill>
              <a:srgbClr val="000000"/>
            </a:solidFill>
            <a:prstDash val="solid"/>
            <a:bevel/>
            <a:headEnd type="none" w="med" len="med"/>
            <a:tailEnd type="none" w="med" len="med"/>
          </a:ln>
        </p:spPr>
      </p:sp>
      <p:sp>
        <p:nvSpPr>
          <p:cNvPr id="256071" name="Line 112"/>
          <p:cNvSpPr/>
          <p:nvPr/>
        </p:nvSpPr>
        <p:spPr>
          <a:xfrm>
            <a:off x="4470400" y="1781175"/>
            <a:ext cx="1588" cy="2674938"/>
          </a:xfrm>
          <a:prstGeom prst="line">
            <a:avLst/>
          </a:prstGeom>
          <a:ln w="15875" cap="flat" cmpd="sng">
            <a:solidFill>
              <a:srgbClr val="000000"/>
            </a:solidFill>
            <a:prstDash val="solid"/>
            <a:bevel/>
            <a:headEnd type="none" w="med" len="med"/>
            <a:tailEnd type="none" w="med" len="med"/>
          </a:ln>
        </p:spPr>
      </p:sp>
      <p:sp>
        <p:nvSpPr>
          <p:cNvPr id="256072" name="Rectangle 113"/>
          <p:cNvSpPr/>
          <p:nvPr/>
        </p:nvSpPr>
        <p:spPr>
          <a:xfrm>
            <a:off x="1158875" y="6099175"/>
            <a:ext cx="5080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/CS2</a:t>
            </a:r>
            <a:endParaRPr lang="en-US" altLang="zh-CN" sz="1800" b="0" dirty="0">
              <a:solidFill>
                <a:schemeClr val="tx1"/>
              </a:solidFill>
              <a:ea typeface="楷体_GB2312"/>
            </a:endParaRPr>
          </a:p>
        </p:txBody>
      </p:sp>
      <p:sp>
        <p:nvSpPr>
          <p:cNvPr id="256073" name="Oval 115"/>
          <p:cNvSpPr/>
          <p:nvPr/>
        </p:nvSpPr>
        <p:spPr>
          <a:xfrm>
            <a:off x="2098675" y="6146800"/>
            <a:ext cx="130175" cy="166688"/>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6074" name="Line 116"/>
          <p:cNvSpPr/>
          <p:nvPr/>
        </p:nvSpPr>
        <p:spPr>
          <a:xfrm flipH="1">
            <a:off x="1763713" y="6230938"/>
            <a:ext cx="317500" cy="1587"/>
          </a:xfrm>
          <a:prstGeom prst="line">
            <a:avLst/>
          </a:prstGeom>
          <a:ln w="15875" cap="flat" cmpd="sng">
            <a:solidFill>
              <a:srgbClr val="000000"/>
            </a:solidFill>
            <a:prstDash val="solid"/>
            <a:bevel/>
            <a:headEnd type="none" w="med" len="med"/>
            <a:tailEnd type="none" w="med" len="med"/>
          </a:ln>
        </p:spPr>
      </p:sp>
      <p:sp>
        <p:nvSpPr>
          <p:cNvPr id="256075" name="Rectangle 117"/>
          <p:cNvSpPr/>
          <p:nvPr/>
        </p:nvSpPr>
        <p:spPr>
          <a:xfrm>
            <a:off x="1241425" y="3321050"/>
            <a:ext cx="1031875" cy="27622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20H~3FH</a:t>
            </a:r>
            <a:endParaRPr lang="en-US" altLang="zh-CN" sz="1800" b="0" dirty="0">
              <a:solidFill>
                <a:schemeClr val="tx1"/>
              </a:solidFill>
              <a:ea typeface="楷体_GB2312"/>
            </a:endParaRPr>
          </a:p>
        </p:txBody>
      </p:sp>
      <p:sp>
        <p:nvSpPr>
          <p:cNvPr id="256076" name="Rectangle 120"/>
          <p:cNvSpPr/>
          <p:nvPr/>
        </p:nvSpPr>
        <p:spPr>
          <a:xfrm>
            <a:off x="890588" y="6400800"/>
            <a:ext cx="106045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A0H~BFH</a:t>
            </a:r>
            <a:endParaRPr lang="en-US" altLang="zh-CN" sz="1800" b="0" dirty="0">
              <a:solidFill>
                <a:schemeClr val="tx1"/>
              </a:solidFill>
              <a:ea typeface="楷体_GB2312"/>
            </a:endParaRPr>
          </a:p>
        </p:txBody>
      </p:sp>
      <p:sp>
        <p:nvSpPr>
          <p:cNvPr id="256077" name="Line 121"/>
          <p:cNvSpPr/>
          <p:nvPr/>
        </p:nvSpPr>
        <p:spPr>
          <a:xfrm flipH="1">
            <a:off x="2871788" y="6308725"/>
            <a:ext cx="223837" cy="1588"/>
          </a:xfrm>
          <a:prstGeom prst="line">
            <a:avLst/>
          </a:prstGeom>
          <a:ln w="15875" cap="flat" cmpd="sng">
            <a:solidFill>
              <a:srgbClr val="000000"/>
            </a:solidFill>
            <a:prstDash val="solid"/>
            <a:bevel/>
            <a:headEnd type="none" w="med" len="med"/>
            <a:tailEnd type="none" w="med" len="med"/>
          </a:ln>
        </p:spPr>
      </p:sp>
      <p:sp>
        <p:nvSpPr>
          <p:cNvPr id="256078" name="Line 122"/>
          <p:cNvSpPr/>
          <p:nvPr/>
        </p:nvSpPr>
        <p:spPr>
          <a:xfrm flipH="1">
            <a:off x="2279650" y="5124450"/>
            <a:ext cx="414338" cy="1588"/>
          </a:xfrm>
          <a:prstGeom prst="line">
            <a:avLst/>
          </a:prstGeom>
          <a:ln w="15875" cap="flat" cmpd="sng">
            <a:solidFill>
              <a:srgbClr val="000000"/>
            </a:solidFill>
            <a:prstDash val="solid"/>
            <a:bevel/>
            <a:headEnd type="none" w="med" len="med"/>
            <a:tailEnd type="none" w="med" len="med"/>
          </a:ln>
        </p:spPr>
      </p:sp>
      <p:sp>
        <p:nvSpPr>
          <p:cNvPr id="256079" name="Line 123"/>
          <p:cNvSpPr/>
          <p:nvPr/>
        </p:nvSpPr>
        <p:spPr>
          <a:xfrm flipH="1">
            <a:off x="2314575" y="5354638"/>
            <a:ext cx="180975" cy="1587"/>
          </a:xfrm>
          <a:prstGeom prst="line">
            <a:avLst/>
          </a:prstGeom>
          <a:ln w="15875" cap="flat" cmpd="sng">
            <a:solidFill>
              <a:srgbClr val="000000"/>
            </a:solidFill>
            <a:prstDash val="solid"/>
            <a:bevel/>
            <a:headEnd type="none" w="med" len="med"/>
            <a:tailEnd type="none" w="med" len="med"/>
          </a:ln>
        </p:spPr>
      </p:sp>
      <p:sp>
        <p:nvSpPr>
          <p:cNvPr id="256080" name="Line 124"/>
          <p:cNvSpPr/>
          <p:nvPr/>
        </p:nvSpPr>
        <p:spPr>
          <a:xfrm flipH="1">
            <a:off x="2289175" y="5624513"/>
            <a:ext cx="198438" cy="1587"/>
          </a:xfrm>
          <a:prstGeom prst="line">
            <a:avLst/>
          </a:prstGeom>
          <a:ln w="15875" cap="flat" cmpd="sng">
            <a:solidFill>
              <a:srgbClr val="000000"/>
            </a:solidFill>
            <a:prstDash val="solid"/>
            <a:bevel/>
            <a:headEnd type="none" w="med" len="med"/>
            <a:tailEnd type="none" w="med" len="med"/>
          </a:ln>
        </p:spPr>
      </p:sp>
      <p:sp>
        <p:nvSpPr>
          <p:cNvPr id="256081" name="Freeform 125"/>
          <p:cNvSpPr/>
          <p:nvPr/>
        </p:nvSpPr>
        <p:spPr>
          <a:xfrm>
            <a:off x="2452688" y="3911600"/>
            <a:ext cx="93662" cy="147638"/>
          </a:xfrm>
          <a:custGeom>
            <a:avLst/>
            <a:gdLst/>
            <a:ahLst/>
            <a:cxnLst>
              <a:cxn ang="0">
                <a:pos x="2147483646" y="2147483646"/>
              </a:cxn>
              <a:cxn ang="0">
                <a:pos x="0" y="0"/>
              </a:cxn>
              <a:cxn ang="0">
                <a:pos x="2147483646" y="0"/>
              </a:cxn>
              <a:cxn ang="0">
                <a:pos x="2147483646" y="2147483646"/>
              </a:cxn>
            </a:cxnLst>
            <a:pathLst>
              <a:path w="57" h="93">
                <a:moveTo>
                  <a:pt x="36" y="93"/>
                </a:moveTo>
                <a:lnTo>
                  <a:pt x="0" y="0"/>
                </a:lnTo>
                <a:lnTo>
                  <a:pt x="57" y="0"/>
                </a:lnTo>
                <a:lnTo>
                  <a:pt x="36" y="93"/>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56082" name="Line 126"/>
          <p:cNvSpPr/>
          <p:nvPr/>
        </p:nvSpPr>
        <p:spPr>
          <a:xfrm>
            <a:off x="2503488" y="3729038"/>
            <a:ext cx="1587" cy="173037"/>
          </a:xfrm>
          <a:prstGeom prst="line">
            <a:avLst/>
          </a:prstGeom>
          <a:ln w="15875" cap="flat" cmpd="sng">
            <a:solidFill>
              <a:srgbClr val="000000"/>
            </a:solidFill>
            <a:prstDash val="solid"/>
            <a:bevel/>
            <a:headEnd type="none" w="med" len="med"/>
            <a:tailEnd type="none" w="med" len="med"/>
          </a:ln>
        </p:spPr>
      </p:sp>
      <p:sp>
        <p:nvSpPr>
          <p:cNvPr id="256083" name="Freeform 127"/>
          <p:cNvSpPr/>
          <p:nvPr/>
        </p:nvSpPr>
        <p:spPr>
          <a:xfrm>
            <a:off x="3086100" y="3902075"/>
            <a:ext cx="93663" cy="149225"/>
          </a:xfrm>
          <a:custGeom>
            <a:avLst/>
            <a:gdLst/>
            <a:ahLst/>
            <a:cxnLst>
              <a:cxn ang="0">
                <a:pos x="2147483646" y="2147483646"/>
              </a:cxn>
              <a:cxn ang="0">
                <a:pos x="0" y="0"/>
              </a:cxn>
              <a:cxn ang="0">
                <a:pos x="2147483646" y="0"/>
              </a:cxn>
              <a:cxn ang="0">
                <a:pos x="2147483646" y="2147483646"/>
              </a:cxn>
            </a:cxnLst>
            <a:pathLst>
              <a:path w="57" h="94">
                <a:moveTo>
                  <a:pt x="36" y="94"/>
                </a:moveTo>
                <a:lnTo>
                  <a:pt x="0" y="0"/>
                </a:lnTo>
                <a:lnTo>
                  <a:pt x="57" y="0"/>
                </a:lnTo>
                <a:lnTo>
                  <a:pt x="36" y="94"/>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56084" name="Freeform 128"/>
          <p:cNvSpPr/>
          <p:nvPr/>
        </p:nvSpPr>
        <p:spPr>
          <a:xfrm>
            <a:off x="3714750" y="3906838"/>
            <a:ext cx="95250" cy="149225"/>
          </a:xfrm>
          <a:custGeom>
            <a:avLst/>
            <a:gdLst/>
            <a:ahLst/>
            <a:cxnLst>
              <a:cxn ang="0">
                <a:pos x="2147483646" y="2147483646"/>
              </a:cxn>
              <a:cxn ang="0">
                <a:pos x="0" y="0"/>
              </a:cxn>
              <a:cxn ang="0">
                <a:pos x="2147483646" y="0"/>
              </a:cxn>
              <a:cxn ang="0">
                <a:pos x="2147483646" y="2147483646"/>
              </a:cxn>
            </a:cxnLst>
            <a:pathLst>
              <a:path w="58" h="94">
                <a:moveTo>
                  <a:pt x="37" y="94"/>
                </a:moveTo>
                <a:lnTo>
                  <a:pt x="0" y="0"/>
                </a:lnTo>
                <a:lnTo>
                  <a:pt x="58" y="0"/>
                </a:lnTo>
                <a:lnTo>
                  <a:pt x="37" y="94"/>
                </a:lnTo>
                <a:close/>
              </a:path>
            </a:pathLst>
          </a:custGeom>
          <a:solidFill>
            <a:srgbClr val="000000">
              <a:alpha val="100000"/>
            </a:srgbClr>
          </a:solidFill>
          <a:ln w="15875" cap="flat" cmpd="sng">
            <a:solidFill>
              <a:srgbClr val="000000">
                <a:alpha val="100000"/>
              </a:srgbClr>
            </a:solidFill>
            <a:prstDash val="solid"/>
            <a:bevel/>
            <a:headEnd type="none" w="med" len="med"/>
            <a:tailEnd type="none" w="med" len="med"/>
          </a:ln>
        </p:spPr>
        <p:txBody>
          <a:bodyPr/>
          <a:p>
            <a:endParaRPr lang="zh-CN" altLang="en-US"/>
          </a:p>
        </p:txBody>
      </p:sp>
      <p:sp>
        <p:nvSpPr>
          <p:cNvPr id="256085" name="Line 129"/>
          <p:cNvSpPr/>
          <p:nvPr/>
        </p:nvSpPr>
        <p:spPr>
          <a:xfrm>
            <a:off x="3136900" y="3719513"/>
            <a:ext cx="1588" cy="177800"/>
          </a:xfrm>
          <a:prstGeom prst="line">
            <a:avLst/>
          </a:prstGeom>
          <a:ln w="15875" cap="flat" cmpd="sng">
            <a:solidFill>
              <a:srgbClr val="000000"/>
            </a:solidFill>
            <a:prstDash val="solid"/>
            <a:bevel/>
            <a:headEnd type="none" w="med" len="med"/>
            <a:tailEnd type="none" w="med" len="med"/>
          </a:ln>
        </p:spPr>
      </p:sp>
      <p:sp>
        <p:nvSpPr>
          <p:cNvPr id="256086" name="Line 130"/>
          <p:cNvSpPr/>
          <p:nvPr/>
        </p:nvSpPr>
        <p:spPr>
          <a:xfrm>
            <a:off x="3762375" y="3719513"/>
            <a:ext cx="1588" cy="177800"/>
          </a:xfrm>
          <a:prstGeom prst="line">
            <a:avLst/>
          </a:prstGeom>
          <a:ln w="15875" cap="flat" cmpd="sng">
            <a:solidFill>
              <a:srgbClr val="000000"/>
            </a:solidFill>
            <a:prstDash val="solid"/>
            <a:bevel/>
            <a:headEnd type="none" w="med" len="med"/>
            <a:tailEnd type="none" w="med" len="med"/>
          </a:ln>
        </p:spPr>
      </p:sp>
      <p:sp>
        <p:nvSpPr>
          <p:cNvPr id="256087" name="Line 131"/>
          <p:cNvSpPr/>
          <p:nvPr/>
        </p:nvSpPr>
        <p:spPr>
          <a:xfrm flipH="1">
            <a:off x="3043238" y="6740525"/>
            <a:ext cx="201612" cy="1588"/>
          </a:xfrm>
          <a:prstGeom prst="line">
            <a:avLst/>
          </a:prstGeom>
          <a:ln w="15875" cap="flat" cmpd="sng">
            <a:solidFill>
              <a:srgbClr val="000000"/>
            </a:solidFill>
            <a:prstDash val="solid"/>
            <a:bevel/>
            <a:headEnd type="none" w="med" len="med"/>
            <a:tailEnd type="none" w="med" len="med"/>
          </a:ln>
        </p:spPr>
      </p:sp>
      <p:sp>
        <p:nvSpPr>
          <p:cNvPr id="256088" name="Line 132"/>
          <p:cNvSpPr/>
          <p:nvPr/>
        </p:nvSpPr>
        <p:spPr>
          <a:xfrm>
            <a:off x="3151188" y="6557963"/>
            <a:ext cx="1587" cy="182562"/>
          </a:xfrm>
          <a:prstGeom prst="line">
            <a:avLst/>
          </a:prstGeom>
          <a:ln w="15875" cap="flat" cmpd="sng">
            <a:solidFill>
              <a:srgbClr val="000000"/>
            </a:solidFill>
            <a:prstDash val="solid"/>
            <a:bevel/>
            <a:headEnd type="none" w="med" len="med"/>
            <a:tailEnd type="none" w="med" len="med"/>
          </a:ln>
        </p:spPr>
      </p:sp>
      <p:sp>
        <p:nvSpPr>
          <p:cNvPr id="256089" name="Rectangle 134"/>
          <p:cNvSpPr/>
          <p:nvPr/>
        </p:nvSpPr>
        <p:spPr>
          <a:xfrm>
            <a:off x="1519238" y="3089275"/>
            <a:ext cx="5080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/CS1</a:t>
            </a:r>
            <a:endParaRPr lang="en-US" altLang="zh-CN" sz="1800" b="0" dirty="0">
              <a:solidFill>
                <a:schemeClr val="tx1"/>
              </a:solidFill>
              <a:ea typeface="楷体_GB2312"/>
            </a:endParaRPr>
          </a:p>
        </p:txBody>
      </p:sp>
      <p:sp>
        <p:nvSpPr>
          <p:cNvPr id="256090" name="Rectangle 135"/>
          <p:cNvSpPr/>
          <p:nvPr/>
        </p:nvSpPr>
        <p:spPr>
          <a:xfrm>
            <a:off x="2311400" y="1995488"/>
            <a:ext cx="530225"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/INTA</a:t>
            </a:r>
            <a:endParaRPr lang="en-US" altLang="zh-CN" sz="1800" b="0" dirty="0">
              <a:solidFill>
                <a:schemeClr val="tx1"/>
              </a:solidFill>
              <a:ea typeface="楷体_GB2312"/>
            </a:endParaRPr>
          </a:p>
        </p:txBody>
      </p:sp>
      <p:sp>
        <p:nvSpPr>
          <p:cNvPr id="256091" name="Rectangle 136"/>
          <p:cNvSpPr/>
          <p:nvPr/>
        </p:nvSpPr>
        <p:spPr>
          <a:xfrm>
            <a:off x="2311400" y="2211388"/>
            <a:ext cx="349250"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/RD</a:t>
            </a:r>
            <a:endParaRPr lang="en-US" altLang="zh-CN" sz="1800" b="0" dirty="0">
              <a:solidFill>
                <a:schemeClr val="tx1"/>
              </a:solidFill>
              <a:ea typeface="楷体_GB2312"/>
            </a:endParaRPr>
          </a:p>
        </p:txBody>
      </p:sp>
      <p:sp>
        <p:nvSpPr>
          <p:cNvPr id="256092" name="Rectangle 137"/>
          <p:cNvSpPr/>
          <p:nvPr/>
        </p:nvSpPr>
        <p:spPr>
          <a:xfrm>
            <a:off x="2347913" y="2427288"/>
            <a:ext cx="395287"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/WR</a:t>
            </a:r>
            <a:endParaRPr lang="en-US" altLang="zh-CN" sz="1800" b="0" dirty="0">
              <a:solidFill>
                <a:schemeClr val="tx1"/>
              </a:solidFill>
              <a:ea typeface="楷体_GB2312"/>
            </a:endParaRPr>
          </a:p>
        </p:txBody>
      </p:sp>
      <p:sp>
        <p:nvSpPr>
          <p:cNvPr id="256093" name="Rectangle 138"/>
          <p:cNvSpPr/>
          <p:nvPr/>
        </p:nvSpPr>
        <p:spPr>
          <a:xfrm>
            <a:off x="2262188" y="2665413"/>
            <a:ext cx="258762"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A0</a:t>
            </a:r>
            <a:endParaRPr lang="en-US" altLang="zh-CN" sz="1800" b="0" dirty="0">
              <a:solidFill>
                <a:schemeClr val="tx1"/>
              </a:solidFill>
              <a:ea typeface="楷体_GB2312"/>
            </a:endParaRPr>
          </a:p>
        </p:txBody>
      </p:sp>
      <p:sp>
        <p:nvSpPr>
          <p:cNvPr id="256094" name="Rectangle 139"/>
          <p:cNvSpPr/>
          <p:nvPr/>
        </p:nvSpPr>
        <p:spPr>
          <a:xfrm>
            <a:off x="2271713" y="5099050"/>
            <a:ext cx="473075"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INTA</a:t>
            </a:r>
            <a:endParaRPr lang="en-US" altLang="zh-CN" sz="1800" b="0" dirty="0">
              <a:solidFill>
                <a:schemeClr val="tx1"/>
              </a:solidFill>
              <a:ea typeface="楷体_GB2312"/>
            </a:endParaRPr>
          </a:p>
        </p:txBody>
      </p:sp>
      <p:sp>
        <p:nvSpPr>
          <p:cNvPr id="256095" name="Rectangle 140"/>
          <p:cNvSpPr/>
          <p:nvPr/>
        </p:nvSpPr>
        <p:spPr>
          <a:xfrm>
            <a:off x="2305050" y="5321300"/>
            <a:ext cx="292100"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RD</a:t>
            </a:r>
            <a:endParaRPr lang="en-US" altLang="zh-CN" sz="1800" b="0" dirty="0">
              <a:solidFill>
                <a:schemeClr val="tx1"/>
              </a:solidFill>
              <a:ea typeface="楷体_GB2312"/>
            </a:endParaRPr>
          </a:p>
        </p:txBody>
      </p:sp>
      <p:sp>
        <p:nvSpPr>
          <p:cNvPr id="256096" name="Rectangle 141"/>
          <p:cNvSpPr/>
          <p:nvPr/>
        </p:nvSpPr>
        <p:spPr>
          <a:xfrm>
            <a:off x="2295525" y="5570538"/>
            <a:ext cx="338138"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WR</a:t>
            </a:r>
            <a:endParaRPr lang="en-US" altLang="zh-CN" sz="1800" b="0" dirty="0">
              <a:solidFill>
                <a:schemeClr val="tx1"/>
              </a:solidFill>
              <a:ea typeface="楷体_GB2312"/>
            </a:endParaRPr>
          </a:p>
        </p:txBody>
      </p:sp>
      <p:sp>
        <p:nvSpPr>
          <p:cNvPr id="256097" name="Rectangle 142"/>
          <p:cNvSpPr/>
          <p:nvPr/>
        </p:nvSpPr>
        <p:spPr>
          <a:xfrm>
            <a:off x="2289175" y="5743575"/>
            <a:ext cx="258763"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A0</a:t>
            </a:r>
            <a:endParaRPr lang="en-US" altLang="zh-CN" sz="1800" b="0" dirty="0">
              <a:solidFill>
                <a:schemeClr val="tx1"/>
              </a:solidFill>
              <a:ea typeface="楷体_GB2312"/>
            </a:endParaRPr>
          </a:p>
        </p:txBody>
      </p:sp>
      <p:sp>
        <p:nvSpPr>
          <p:cNvPr id="256098" name="Rectangle 143"/>
          <p:cNvSpPr/>
          <p:nvPr/>
        </p:nvSpPr>
        <p:spPr>
          <a:xfrm>
            <a:off x="74613" y="1169988"/>
            <a:ext cx="292100" cy="274637"/>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D7</a:t>
            </a:r>
            <a:endParaRPr lang="en-US" altLang="zh-CN" sz="1800" b="0" dirty="0">
              <a:solidFill>
                <a:schemeClr val="tx1"/>
              </a:solidFill>
              <a:ea typeface="楷体_GB2312"/>
            </a:endParaRPr>
          </a:p>
        </p:txBody>
      </p:sp>
      <p:sp>
        <p:nvSpPr>
          <p:cNvPr id="256099" name="Rectangle 144"/>
          <p:cNvSpPr/>
          <p:nvPr/>
        </p:nvSpPr>
        <p:spPr>
          <a:xfrm>
            <a:off x="74613" y="1349375"/>
            <a:ext cx="13335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a:t>
            </a:r>
            <a:endParaRPr lang="en-US" altLang="zh-CN" sz="1800" b="0" dirty="0">
              <a:solidFill>
                <a:schemeClr val="tx1"/>
              </a:solidFill>
              <a:ea typeface="楷体_GB2312"/>
            </a:endParaRPr>
          </a:p>
        </p:txBody>
      </p:sp>
      <p:sp>
        <p:nvSpPr>
          <p:cNvPr id="256100" name="Rectangle 145"/>
          <p:cNvSpPr/>
          <p:nvPr/>
        </p:nvSpPr>
        <p:spPr>
          <a:xfrm>
            <a:off x="74613" y="1504950"/>
            <a:ext cx="29210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rgbClr val="000000"/>
                </a:solidFill>
                <a:ea typeface="楷体_GB2312"/>
              </a:rPr>
              <a:t>D0</a:t>
            </a:r>
            <a:endParaRPr lang="en-US" altLang="zh-CN" sz="1800" b="0" dirty="0">
              <a:solidFill>
                <a:schemeClr val="tx1"/>
              </a:solidFill>
              <a:ea typeface="楷体_GB2312"/>
            </a:endParaRPr>
          </a:p>
        </p:txBody>
      </p:sp>
      <p:sp>
        <p:nvSpPr>
          <p:cNvPr id="256101" name="Rectangle 146"/>
          <p:cNvSpPr/>
          <p:nvPr/>
        </p:nvSpPr>
        <p:spPr>
          <a:xfrm>
            <a:off x="5326063" y="4595813"/>
            <a:ext cx="819150"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600" b="0" dirty="0">
                <a:solidFill>
                  <a:srgbClr val="000000"/>
                </a:solidFill>
                <a:ea typeface="楷体_GB2312"/>
              </a:rPr>
              <a:t>实时时钟</a:t>
            </a:r>
            <a:endParaRPr lang="zh-CN" altLang="en-US" sz="1800" b="0" dirty="0">
              <a:solidFill>
                <a:schemeClr val="tx1"/>
              </a:solidFill>
              <a:ea typeface="楷体_GB2312"/>
            </a:endParaRPr>
          </a:p>
        </p:txBody>
      </p:sp>
      <p:sp>
        <p:nvSpPr>
          <p:cNvPr id="256102" name="Rectangle 147"/>
          <p:cNvSpPr/>
          <p:nvPr/>
        </p:nvSpPr>
        <p:spPr>
          <a:xfrm>
            <a:off x="5305425" y="4843463"/>
            <a:ext cx="995363"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600" b="0" dirty="0">
                <a:solidFill>
                  <a:srgbClr val="000000"/>
                </a:solidFill>
                <a:ea typeface="楷体_GB2312"/>
              </a:rPr>
              <a:t>改向</a:t>
            </a:r>
            <a:r>
              <a:rPr lang="en-US" altLang="zh-CN" sz="1600" b="0" dirty="0">
                <a:solidFill>
                  <a:srgbClr val="000000"/>
                </a:solidFill>
                <a:ea typeface="楷体_GB2312"/>
              </a:rPr>
              <a:t>INT0A</a:t>
            </a:r>
            <a:endParaRPr lang="en-US" altLang="zh-CN" sz="1800" b="0" dirty="0">
              <a:solidFill>
                <a:schemeClr val="tx1"/>
              </a:solidFill>
              <a:ea typeface="楷体_GB2312"/>
            </a:endParaRPr>
          </a:p>
        </p:txBody>
      </p:sp>
      <p:sp>
        <p:nvSpPr>
          <p:cNvPr id="256103" name="Rectangle 148"/>
          <p:cNvSpPr/>
          <p:nvPr/>
        </p:nvSpPr>
        <p:spPr>
          <a:xfrm>
            <a:off x="5337175" y="5522913"/>
            <a:ext cx="819150"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600" b="0" dirty="0">
                <a:solidFill>
                  <a:srgbClr val="000000"/>
                </a:solidFill>
                <a:ea typeface="楷体_GB2312"/>
              </a:rPr>
              <a:t>协处理器</a:t>
            </a:r>
            <a:endParaRPr lang="zh-CN" altLang="en-US" sz="1800" b="0" dirty="0">
              <a:solidFill>
                <a:schemeClr val="tx1"/>
              </a:solidFill>
              <a:ea typeface="楷体_GB2312"/>
            </a:endParaRPr>
          </a:p>
        </p:txBody>
      </p:sp>
      <p:sp>
        <p:nvSpPr>
          <p:cNvPr id="256104" name="Rectangle 150"/>
          <p:cNvSpPr/>
          <p:nvPr/>
        </p:nvSpPr>
        <p:spPr>
          <a:xfrm>
            <a:off x="2281238" y="2959100"/>
            <a:ext cx="280987"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CS</a:t>
            </a:r>
            <a:endParaRPr lang="en-US" altLang="zh-CN" sz="1800" b="0" dirty="0">
              <a:solidFill>
                <a:schemeClr val="tx1"/>
              </a:solidFill>
              <a:ea typeface="楷体_GB2312"/>
            </a:endParaRPr>
          </a:p>
        </p:txBody>
      </p:sp>
      <p:sp>
        <p:nvSpPr>
          <p:cNvPr id="256105" name="Line 151"/>
          <p:cNvSpPr/>
          <p:nvPr/>
        </p:nvSpPr>
        <p:spPr>
          <a:xfrm flipH="1">
            <a:off x="2259013" y="2954338"/>
            <a:ext cx="244475" cy="1587"/>
          </a:xfrm>
          <a:prstGeom prst="line">
            <a:avLst/>
          </a:prstGeom>
          <a:ln w="15875" cap="flat" cmpd="sng">
            <a:solidFill>
              <a:srgbClr val="000000"/>
            </a:solidFill>
            <a:prstDash val="solid"/>
            <a:bevel/>
            <a:headEnd type="none" w="med" len="med"/>
            <a:tailEnd type="none" w="med" len="med"/>
          </a:ln>
        </p:spPr>
      </p:sp>
      <p:sp>
        <p:nvSpPr>
          <p:cNvPr id="256106" name="Oval 153"/>
          <p:cNvSpPr/>
          <p:nvPr/>
        </p:nvSpPr>
        <p:spPr>
          <a:xfrm>
            <a:off x="2060575" y="2982913"/>
            <a:ext cx="147638" cy="149225"/>
          </a:xfrm>
          <a:prstGeom prst="ellipse">
            <a:avLst/>
          </a:prstGeom>
          <a:no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6107" name="Line 154"/>
          <p:cNvSpPr/>
          <p:nvPr/>
        </p:nvSpPr>
        <p:spPr>
          <a:xfrm flipH="1">
            <a:off x="1582738" y="3052763"/>
            <a:ext cx="463550" cy="1587"/>
          </a:xfrm>
          <a:prstGeom prst="line">
            <a:avLst/>
          </a:prstGeom>
          <a:ln w="15875" cap="flat" cmpd="sng">
            <a:solidFill>
              <a:srgbClr val="000000"/>
            </a:solidFill>
            <a:prstDash val="solid"/>
            <a:bevel/>
            <a:headEnd type="none" w="med" len="med"/>
            <a:tailEnd type="none" w="med" len="med"/>
          </a:ln>
        </p:spPr>
      </p:sp>
      <p:grpSp>
        <p:nvGrpSpPr>
          <p:cNvPr id="256108" name="Group 155"/>
          <p:cNvGrpSpPr/>
          <p:nvPr/>
        </p:nvGrpSpPr>
        <p:grpSpPr>
          <a:xfrm>
            <a:off x="422275" y="1419225"/>
            <a:ext cx="392113" cy="223838"/>
            <a:chOff x="0" y="0"/>
            <a:chExt cx="237" cy="246"/>
          </a:xfrm>
        </p:grpSpPr>
        <p:grpSp>
          <p:nvGrpSpPr>
            <p:cNvPr id="256168" name="Group 156"/>
            <p:cNvGrpSpPr/>
            <p:nvPr/>
          </p:nvGrpSpPr>
          <p:grpSpPr>
            <a:xfrm>
              <a:off x="0" y="0"/>
              <a:ext cx="237" cy="121"/>
              <a:chOff x="0" y="0"/>
              <a:chExt cx="237" cy="121"/>
            </a:xfrm>
          </p:grpSpPr>
          <p:sp>
            <p:nvSpPr>
              <p:cNvPr id="256172" name="Line 157"/>
              <p:cNvSpPr/>
              <p:nvPr/>
            </p:nvSpPr>
            <p:spPr>
              <a:xfrm flipV="1">
                <a:off x="0" y="0"/>
                <a:ext cx="230" cy="121"/>
              </a:xfrm>
              <a:prstGeom prst="line">
                <a:avLst/>
              </a:prstGeom>
              <a:ln w="15875" cap="flat" cmpd="sng">
                <a:solidFill>
                  <a:srgbClr val="000000"/>
                </a:solidFill>
                <a:prstDash val="solid"/>
                <a:bevel/>
                <a:headEnd type="none" w="med" len="med"/>
                <a:tailEnd type="none" w="med" len="med"/>
              </a:ln>
            </p:spPr>
          </p:sp>
          <p:sp>
            <p:nvSpPr>
              <p:cNvPr id="256173" name="Freeform 158"/>
              <p:cNvSpPr/>
              <p:nvPr/>
            </p:nvSpPr>
            <p:spPr>
              <a:xfrm>
                <a:off x="236" y="0"/>
                <a:ext cx="1" cy="89"/>
              </a:xfrm>
              <a:custGeom>
                <a:avLst/>
                <a:gdLst/>
                <a:ahLst/>
                <a:cxnLst>
                  <a:cxn ang="0">
                    <a:pos x="0" y="0"/>
                  </a:cxn>
                  <a:cxn ang="0">
                    <a:pos x="0" y="14"/>
                  </a:cxn>
                  <a:cxn ang="0">
                    <a:pos x="0" y="89"/>
                  </a:cxn>
                </a:cxnLst>
                <a:pathLst>
                  <a:path w="1" h="89">
                    <a:moveTo>
                      <a:pt x="0" y="0"/>
                    </a:moveTo>
                    <a:lnTo>
                      <a:pt x="0" y="14"/>
                    </a:lnTo>
                    <a:lnTo>
                      <a:pt x="0" y="89"/>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grpSp>
        <p:grpSp>
          <p:nvGrpSpPr>
            <p:cNvPr id="256169" name="Group 159"/>
            <p:cNvGrpSpPr/>
            <p:nvPr/>
          </p:nvGrpSpPr>
          <p:grpSpPr>
            <a:xfrm>
              <a:off x="0" y="125"/>
              <a:ext cx="237" cy="121"/>
              <a:chOff x="0" y="0"/>
              <a:chExt cx="237" cy="121"/>
            </a:xfrm>
          </p:grpSpPr>
          <p:sp>
            <p:nvSpPr>
              <p:cNvPr id="256170" name="Line 160"/>
              <p:cNvSpPr/>
              <p:nvPr/>
            </p:nvSpPr>
            <p:spPr>
              <a:xfrm>
                <a:off x="0" y="0"/>
                <a:ext cx="230" cy="121"/>
              </a:xfrm>
              <a:prstGeom prst="line">
                <a:avLst/>
              </a:prstGeom>
              <a:ln w="15875" cap="flat" cmpd="sng">
                <a:solidFill>
                  <a:srgbClr val="000000"/>
                </a:solidFill>
                <a:prstDash val="solid"/>
                <a:bevel/>
                <a:headEnd type="none" w="med" len="med"/>
                <a:tailEnd type="none" w="med" len="med"/>
              </a:ln>
            </p:spPr>
          </p:sp>
          <p:sp>
            <p:nvSpPr>
              <p:cNvPr id="256171" name="Freeform 161"/>
              <p:cNvSpPr/>
              <p:nvPr/>
            </p:nvSpPr>
            <p:spPr>
              <a:xfrm>
                <a:off x="236" y="32"/>
                <a:ext cx="1" cy="89"/>
              </a:xfrm>
              <a:custGeom>
                <a:avLst/>
                <a:gdLst/>
                <a:ahLst/>
                <a:cxnLst>
                  <a:cxn ang="0">
                    <a:pos x="0" y="89"/>
                  </a:cxn>
                  <a:cxn ang="0">
                    <a:pos x="0" y="76"/>
                  </a:cxn>
                  <a:cxn ang="0">
                    <a:pos x="0" y="0"/>
                  </a:cxn>
                </a:cxnLst>
                <a:pathLst>
                  <a:path w="1" h="89">
                    <a:moveTo>
                      <a:pt x="0" y="89"/>
                    </a:moveTo>
                    <a:lnTo>
                      <a:pt x="0" y="76"/>
                    </a:lnTo>
                    <a:lnTo>
                      <a:pt x="0" y="0"/>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grpSp>
      </p:grpSp>
      <p:sp>
        <p:nvSpPr>
          <p:cNvPr id="256109" name="Line 162"/>
          <p:cNvSpPr/>
          <p:nvPr/>
        </p:nvSpPr>
        <p:spPr>
          <a:xfrm flipH="1">
            <a:off x="1389063" y="1587500"/>
            <a:ext cx="1587" cy="3062288"/>
          </a:xfrm>
          <a:prstGeom prst="line">
            <a:avLst/>
          </a:prstGeom>
          <a:ln w="15875" cap="flat" cmpd="sng">
            <a:solidFill>
              <a:srgbClr val="000000"/>
            </a:solidFill>
            <a:prstDash val="solid"/>
            <a:bevel/>
            <a:headEnd type="none" w="med" len="med"/>
            <a:tailEnd type="none" w="med" len="med"/>
          </a:ln>
        </p:spPr>
      </p:sp>
      <p:sp>
        <p:nvSpPr>
          <p:cNvPr id="256110" name="Line 163"/>
          <p:cNvSpPr/>
          <p:nvPr/>
        </p:nvSpPr>
        <p:spPr>
          <a:xfrm>
            <a:off x="1081088" y="2170113"/>
            <a:ext cx="3175" cy="3070225"/>
          </a:xfrm>
          <a:prstGeom prst="line">
            <a:avLst/>
          </a:prstGeom>
          <a:ln w="15875" cap="flat" cmpd="sng">
            <a:solidFill>
              <a:srgbClr val="000000"/>
            </a:solidFill>
            <a:prstDash val="solid"/>
            <a:bevel/>
            <a:headEnd type="none" w="med" len="med"/>
            <a:tailEnd type="none" w="med" len="med"/>
          </a:ln>
        </p:spPr>
      </p:sp>
      <p:sp>
        <p:nvSpPr>
          <p:cNvPr id="256111" name="Line 164"/>
          <p:cNvSpPr/>
          <p:nvPr/>
        </p:nvSpPr>
        <p:spPr>
          <a:xfrm>
            <a:off x="979488" y="2366963"/>
            <a:ext cx="1587" cy="3070225"/>
          </a:xfrm>
          <a:prstGeom prst="line">
            <a:avLst/>
          </a:prstGeom>
          <a:ln w="15875" cap="flat" cmpd="sng">
            <a:solidFill>
              <a:srgbClr val="000000"/>
            </a:solidFill>
            <a:prstDash val="solid"/>
            <a:bevel/>
            <a:headEnd type="none" w="med" len="med"/>
            <a:tailEnd type="none" w="med" len="med"/>
          </a:ln>
        </p:spPr>
      </p:sp>
      <p:sp>
        <p:nvSpPr>
          <p:cNvPr id="256112" name="Line 165"/>
          <p:cNvSpPr/>
          <p:nvPr/>
        </p:nvSpPr>
        <p:spPr>
          <a:xfrm flipV="1">
            <a:off x="874713" y="2565400"/>
            <a:ext cx="1587" cy="3070225"/>
          </a:xfrm>
          <a:prstGeom prst="line">
            <a:avLst/>
          </a:prstGeom>
          <a:ln w="15875" cap="flat" cmpd="sng">
            <a:solidFill>
              <a:srgbClr val="000000"/>
            </a:solidFill>
            <a:prstDash val="solid"/>
            <a:bevel/>
            <a:headEnd type="none" w="med" len="med"/>
            <a:tailEnd type="none" w="med" len="med"/>
          </a:ln>
        </p:spPr>
      </p:sp>
      <p:sp>
        <p:nvSpPr>
          <p:cNvPr id="256113" name="Line 166"/>
          <p:cNvSpPr/>
          <p:nvPr/>
        </p:nvSpPr>
        <p:spPr>
          <a:xfrm>
            <a:off x="771525" y="2763838"/>
            <a:ext cx="1588" cy="3070225"/>
          </a:xfrm>
          <a:prstGeom prst="line">
            <a:avLst/>
          </a:prstGeom>
          <a:ln w="15875" cap="flat" cmpd="sng">
            <a:solidFill>
              <a:srgbClr val="000000"/>
            </a:solidFill>
            <a:prstDash val="solid"/>
            <a:bevel/>
            <a:headEnd type="none" w="med" len="med"/>
            <a:tailEnd type="none" w="med" len="med"/>
          </a:ln>
        </p:spPr>
      </p:sp>
      <p:sp>
        <p:nvSpPr>
          <p:cNvPr id="256114" name="Rectangle 167"/>
          <p:cNvSpPr/>
          <p:nvPr/>
        </p:nvSpPr>
        <p:spPr>
          <a:xfrm>
            <a:off x="38100" y="1779588"/>
            <a:ext cx="473075"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INTR</a:t>
            </a:r>
            <a:endParaRPr lang="en-US" altLang="zh-CN" sz="1800" b="0" dirty="0">
              <a:solidFill>
                <a:schemeClr val="tx1"/>
              </a:solidFill>
              <a:ea typeface="楷体_GB2312"/>
            </a:endParaRPr>
          </a:p>
        </p:txBody>
      </p:sp>
      <p:sp>
        <p:nvSpPr>
          <p:cNvPr id="256115" name="Rectangle 173"/>
          <p:cNvSpPr/>
          <p:nvPr/>
        </p:nvSpPr>
        <p:spPr>
          <a:xfrm>
            <a:off x="6350" y="1995488"/>
            <a:ext cx="530225"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/INTA</a:t>
            </a:r>
            <a:endParaRPr lang="en-US" altLang="zh-CN" sz="1800" b="0" dirty="0">
              <a:solidFill>
                <a:schemeClr val="tx1"/>
              </a:solidFill>
              <a:ea typeface="楷体_GB2312"/>
            </a:endParaRPr>
          </a:p>
        </p:txBody>
      </p:sp>
      <p:sp>
        <p:nvSpPr>
          <p:cNvPr id="256116" name="Rectangle 176"/>
          <p:cNvSpPr/>
          <p:nvPr/>
        </p:nvSpPr>
        <p:spPr>
          <a:xfrm>
            <a:off x="92075" y="2211388"/>
            <a:ext cx="419100"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/IOR</a:t>
            </a:r>
            <a:endParaRPr lang="en-US" altLang="zh-CN" sz="1800" b="0" dirty="0">
              <a:solidFill>
                <a:schemeClr val="tx1"/>
              </a:solidFill>
              <a:ea typeface="楷体_GB2312"/>
            </a:endParaRPr>
          </a:p>
        </p:txBody>
      </p:sp>
      <p:sp>
        <p:nvSpPr>
          <p:cNvPr id="256117" name="Rectangle 177"/>
          <p:cNvSpPr/>
          <p:nvPr/>
        </p:nvSpPr>
        <p:spPr>
          <a:xfrm>
            <a:off x="46038" y="2427288"/>
            <a:ext cx="465137"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/IOW</a:t>
            </a:r>
            <a:endParaRPr lang="en-US" altLang="zh-CN" sz="1800" b="0" dirty="0">
              <a:solidFill>
                <a:schemeClr val="tx1"/>
              </a:solidFill>
              <a:ea typeface="楷体_GB2312"/>
            </a:endParaRPr>
          </a:p>
        </p:txBody>
      </p:sp>
      <p:sp>
        <p:nvSpPr>
          <p:cNvPr id="256118" name="Rectangle 178"/>
          <p:cNvSpPr/>
          <p:nvPr/>
        </p:nvSpPr>
        <p:spPr>
          <a:xfrm>
            <a:off x="252413" y="2614613"/>
            <a:ext cx="258762" cy="244475"/>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楷体_GB2312"/>
              </a:rPr>
              <a:t>A1</a:t>
            </a:r>
            <a:endParaRPr lang="en-US" altLang="zh-CN" sz="1800" b="0" dirty="0">
              <a:solidFill>
                <a:schemeClr val="tx1"/>
              </a:solidFill>
              <a:ea typeface="楷体_GB2312"/>
            </a:endParaRPr>
          </a:p>
        </p:txBody>
      </p:sp>
      <p:sp>
        <p:nvSpPr>
          <p:cNvPr id="256119" name="Oval 179"/>
          <p:cNvSpPr/>
          <p:nvPr/>
        </p:nvSpPr>
        <p:spPr>
          <a:xfrm>
            <a:off x="736600" y="2697163"/>
            <a:ext cx="77788" cy="84137"/>
          </a:xfrm>
          <a:prstGeom prst="ellipse">
            <a:avLst/>
          </a:prstGeom>
          <a:solidFill>
            <a:srgbClr val="000000"/>
          </a:solid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6120" name="Oval 180"/>
          <p:cNvSpPr/>
          <p:nvPr/>
        </p:nvSpPr>
        <p:spPr>
          <a:xfrm>
            <a:off x="839788" y="2498725"/>
            <a:ext cx="79375" cy="84138"/>
          </a:xfrm>
          <a:prstGeom prst="ellipse">
            <a:avLst/>
          </a:prstGeom>
          <a:solidFill>
            <a:srgbClr val="000000"/>
          </a:solid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6121" name="Oval 181"/>
          <p:cNvSpPr/>
          <p:nvPr/>
        </p:nvSpPr>
        <p:spPr>
          <a:xfrm>
            <a:off x="939800" y="2297113"/>
            <a:ext cx="77788" cy="82550"/>
          </a:xfrm>
          <a:prstGeom prst="ellipse">
            <a:avLst/>
          </a:prstGeom>
          <a:solidFill>
            <a:srgbClr val="000000"/>
          </a:solid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6122" name="Oval 182"/>
          <p:cNvSpPr/>
          <p:nvPr/>
        </p:nvSpPr>
        <p:spPr>
          <a:xfrm>
            <a:off x="1047750" y="2111375"/>
            <a:ext cx="77788" cy="82550"/>
          </a:xfrm>
          <a:prstGeom prst="ellipse">
            <a:avLst/>
          </a:prstGeom>
          <a:solidFill>
            <a:srgbClr val="000000"/>
          </a:solid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6123" name="Line 183"/>
          <p:cNvSpPr/>
          <p:nvPr/>
        </p:nvSpPr>
        <p:spPr>
          <a:xfrm>
            <a:off x="593725" y="2549525"/>
            <a:ext cx="682625" cy="1588"/>
          </a:xfrm>
          <a:prstGeom prst="line">
            <a:avLst/>
          </a:prstGeom>
          <a:ln w="15875" cap="flat" cmpd="sng">
            <a:solidFill>
              <a:srgbClr val="000000"/>
            </a:solidFill>
            <a:prstDash val="solid"/>
            <a:bevel/>
            <a:headEnd type="none" w="med" len="med"/>
            <a:tailEnd type="none" w="med" len="med"/>
          </a:ln>
        </p:spPr>
      </p:sp>
      <p:grpSp>
        <p:nvGrpSpPr>
          <p:cNvPr id="256124" name="Group 184"/>
          <p:cNvGrpSpPr/>
          <p:nvPr/>
        </p:nvGrpSpPr>
        <p:grpSpPr>
          <a:xfrm>
            <a:off x="1816100" y="1416050"/>
            <a:ext cx="390525" cy="219075"/>
            <a:chOff x="0" y="0"/>
            <a:chExt cx="236" cy="245"/>
          </a:xfrm>
        </p:grpSpPr>
        <p:grpSp>
          <p:nvGrpSpPr>
            <p:cNvPr id="256162" name="Group 185"/>
            <p:cNvGrpSpPr/>
            <p:nvPr/>
          </p:nvGrpSpPr>
          <p:grpSpPr>
            <a:xfrm>
              <a:off x="0" y="0"/>
              <a:ext cx="236" cy="121"/>
              <a:chOff x="0" y="0"/>
              <a:chExt cx="236" cy="121"/>
            </a:xfrm>
          </p:grpSpPr>
          <p:sp>
            <p:nvSpPr>
              <p:cNvPr id="256166" name="Line 186"/>
              <p:cNvSpPr/>
              <p:nvPr/>
            </p:nvSpPr>
            <p:spPr>
              <a:xfrm flipH="1" flipV="1">
                <a:off x="6" y="0"/>
                <a:ext cx="230" cy="121"/>
              </a:xfrm>
              <a:prstGeom prst="line">
                <a:avLst/>
              </a:prstGeom>
              <a:ln w="15875" cap="flat" cmpd="sng">
                <a:solidFill>
                  <a:srgbClr val="000000"/>
                </a:solidFill>
                <a:prstDash val="solid"/>
                <a:bevel/>
                <a:headEnd type="none" w="med" len="med"/>
                <a:tailEnd type="none" w="med" len="med"/>
              </a:ln>
            </p:spPr>
          </p:sp>
          <p:sp>
            <p:nvSpPr>
              <p:cNvPr id="256167" name="Freeform 187"/>
              <p:cNvSpPr/>
              <p:nvPr/>
            </p:nvSpPr>
            <p:spPr>
              <a:xfrm>
                <a:off x="0" y="0"/>
                <a:ext cx="1" cy="88"/>
              </a:xfrm>
              <a:custGeom>
                <a:avLst/>
                <a:gdLst/>
                <a:ahLst/>
                <a:cxnLst>
                  <a:cxn ang="0">
                    <a:pos x="0" y="0"/>
                  </a:cxn>
                  <a:cxn ang="0">
                    <a:pos x="0" y="14"/>
                  </a:cxn>
                  <a:cxn ang="0">
                    <a:pos x="0" y="88"/>
                  </a:cxn>
                </a:cxnLst>
                <a:pathLst>
                  <a:path w="1" h="88">
                    <a:moveTo>
                      <a:pt x="0" y="0"/>
                    </a:moveTo>
                    <a:lnTo>
                      <a:pt x="0" y="14"/>
                    </a:lnTo>
                    <a:lnTo>
                      <a:pt x="0" y="88"/>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grpSp>
        <p:grpSp>
          <p:nvGrpSpPr>
            <p:cNvPr id="256163" name="Group 188"/>
            <p:cNvGrpSpPr/>
            <p:nvPr/>
          </p:nvGrpSpPr>
          <p:grpSpPr>
            <a:xfrm>
              <a:off x="0" y="125"/>
              <a:ext cx="236" cy="120"/>
              <a:chOff x="0" y="0"/>
              <a:chExt cx="236" cy="120"/>
            </a:xfrm>
          </p:grpSpPr>
          <p:sp>
            <p:nvSpPr>
              <p:cNvPr id="256164" name="Line 189"/>
              <p:cNvSpPr/>
              <p:nvPr/>
            </p:nvSpPr>
            <p:spPr>
              <a:xfrm flipH="1">
                <a:off x="6" y="0"/>
                <a:ext cx="230" cy="120"/>
              </a:xfrm>
              <a:prstGeom prst="line">
                <a:avLst/>
              </a:prstGeom>
              <a:ln w="15875" cap="flat" cmpd="sng">
                <a:solidFill>
                  <a:srgbClr val="000000"/>
                </a:solidFill>
                <a:prstDash val="solid"/>
                <a:bevel/>
                <a:headEnd type="none" w="med" len="med"/>
                <a:tailEnd type="none" w="med" len="med"/>
              </a:ln>
            </p:spPr>
          </p:sp>
          <p:sp>
            <p:nvSpPr>
              <p:cNvPr id="256165" name="Freeform 190"/>
              <p:cNvSpPr/>
              <p:nvPr/>
            </p:nvSpPr>
            <p:spPr>
              <a:xfrm>
                <a:off x="0" y="32"/>
                <a:ext cx="1" cy="88"/>
              </a:xfrm>
              <a:custGeom>
                <a:avLst/>
                <a:gdLst/>
                <a:ahLst/>
                <a:cxnLst>
                  <a:cxn ang="0">
                    <a:pos x="0" y="88"/>
                  </a:cxn>
                  <a:cxn ang="0">
                    <a:pos x="0" y="75"/>
                  </a:cxn>
                  <a:cxn ang="0">
                    <a:pos x="0" y="0"/>
                  </a:cxn>
                </a:cxnLst>
                <a:pathLst>
                  <a:path w="1" h="88">
                    <a:moveTo>
                      <a:pt x="0" y="88"/>
                    </a:moveTo>
                    <a:lnTo>
                      <a:pt x="0" y="75"/>
                    </a:lnTo>
                    <a:lnTo>
                      <a:pt x="0" y="0"/>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grpSp>
      </p:grpSp>
      <p:sp>
        <p:nvSpPr>
          <p:cNvPr id="256125" name="Line 192"/>
          <p:cNvSpPr/>
          <p:nvPr/>
        </p:nvSpPr>
        <p:spPr>
          <a:xfrm>
            <a:off x="814388" y="1581150"/>
            <a:ext cx="461962" cy="1588"/>
          </a:xfrm>
          <a:prstGeom prst="line">
            <a:avLst/>
          </a:prstGeom>
          <a:ln w="15875" cap="flat" cmpd="sng">
            <a:solidFill>
              <a:srgbClr val="000000"/>
            </a:solidFill>
            <a:prstDash val="solid"/>
            <a:bevel/>
            <a:headEnd type="none" w="med" len="med"/>
            <a:tailEnd type="none" w="med" len="med"/>
          </a:ln>
        </p:spPr>
      </p:sp>
      <p:sp>
        <p:nvSpPr>
          <p:cNvPr id="256126" name="Line 193"/>
          <p:cNvSpPr/>
          <p:nvPr/>
        </p:nvSpPr>
        <p:spPr>
          <a:xfrm flipH="1">
            <a:off x="1392238" y="1943100"/>
            <a:ext cx="819150" cy="1588"/>
          </a:xfrm>
          <a:prstGeom prst="line">
            <a:avLst/>
          </a:prstGeom>
          <a:ln w="15875" cap="flat" cmpd="sng">
            <a:solidFill>
              <a:srgbClr val="000000"/>
            </a:solidFill>
            <a:prstDash val="solid"/>
            <a:bevel/>
            <a:headEnd type="none" w="med" len="med"/>
            <a:tailEnd type="none" w="med" len="med"/>
          </a:ln>
        </p:spPr>
      </p:sp>
      <p:sp>
        <p:nvSpPr>
          <p:cNvPr id="256127" name="Line 194"/>
          <p:cNvSpPr/>
          <p:nvPr/>
        </p:nvSpPr>
        <p:spPr>
          <a:xfrm flipH="1">
            <a:off x="1400175" y="2151063"/>
            <a:ext cx="811213" cy="1587"/>
          </a:xfrm>
          <a:prstGeom prst="line">
            <a:avLst/>
          </a:prstGeom>
          <a:ln w="15875" cap="flat" cmpd="sng">
            <a:solidFill>
              <a:srgbClr val="000000"/>
            </a:solidFill>
            <a:prstDash val="solid"/>
            <a:bevel/>
            <a:headEnd type="none" w="med" len="med"/>
            <a:tailEnd type="none" w="med" len="med"/>
          </a:ln>
        </p:spPr>
      </p:sp>
      <p:sp>
        <p:nvSpPr>
          <p:cNvPr id="256128" name="Line 195"/>
          <p:cNvSpPr/>
          <p:nvPr/>
        </p:nvSpPr>
        <p:spPr>
          <a:xfrm flipH="1">
            <a:off x="582613" y="2151063"/>
            <a:ext cx="692150" cy="1587"/>
          </a:xfrm>
          <a:prstGeom prst="line">
            <a:avLst/>
          </a:prstGeom>
          <a:ln w="15875" cap="flat" cmpd="sng">
            <a:solidFill>
              <a:srgbClr val="000000"/>
            </a:solidFill>
            <a:prstDash val="solid"/>
            <a:bevel/>
            <a:headEnd type="none" w="med" len="med"/>
            <a:tailEnd type="none" w="med" len="med"/>
          </a:ln>
        </p:spPr>
      </p:sp>
      <p:sp>
        <p:nvSpPr>
          <p:cNvPr id="256129" name="Line 196"/>
          <p:cNvSpPr/>
          <p:nvPr/>
        </p:nvSpPr>
        <p:spPr>
          <a:xfrm flipH="1">
            <a:off x="585788" y="2341563"/>
            <a:ext cx="695325" cy="1587"/>
          </a:xfrm>
          <a:prstGeom prst="line">
            <a:avLst/>
          </a:prstGeom>
          <a:ln w="15875" cap="flat" cmpd="sng">
            <a:solidFill>
              <a:srgbClr val="000000"/>
            </a:solidFill>
            <a:prstDash val="solid"/>
            <a:bevel/>
            <a:headEnd type="none" w="med" len="med"/>
            <a:tailEnd type="none" w="med" len="med"/>
          </a:ln>
        </p:spPr>
      </p:sp>
      <p:sp>
        <p:nvSpPr>
          <p:cNvPr id="256130" name="Line 197"/>
          <p:cNvSpPr/>
          <p:nvPr/>
        </p:nvSpPr>
        <p:spPr>
          <a:xfrm>
            <a:off x="1392238" y="2349500"/>
            <a:ext cx="827087" cy="1588"/>
          </a:xfrm>
          <a:prstGeom prst="line">
            <a:avLst/>
          </a:prstGeom>
          <a:ln w="15875" cap="flat" cmpd="sng">
            <a:solidFill>
              <a:srgbClr val="000000"/>
            </a:solidFill>
            <a:prstDash val="solid"/>
            <a:bevel/>
            <a:headEnd type="none" w="med" len="med"/>
            <a:tailEnd type="none" w="med" len="med"/>
          </a:ln>
        </p:spPr>
      </p:sp>
      <p:sp>
        <p:nvSpPr>
          <p:cNvPr id="256131" name="Line 198"/>
          <p:cNvSpPr/>
          <p:nvPr/>
        </p:nvSpPr>
        <p:spPr>
          <a:xfrm>
            <a:off x="577850" y="2741613"/>
            <a:ext cx="706438" cy="1587"/>
          </a:xfrm>
          <a:prstGeom prst="line">
            <a:avLst/>
          </a:prstGeom>
          <a:ln w="15875" cap="flat" cmpd="sng">
            <a:solidFill>
              <a:srgbClr val="000000"/>
            </a:solidFill>
            <a:prstDash val="solid"/>
            <a:bevel/>
            <a:headEnd type="none" w="med" len="med"/>
            <a:tailEnd type="none" w="med" len="med"/>
          </a:ln>
        </p:spPr>
      </p:sp>
      <p:sp>
        <p:nvSpPr>
          <p:cNvPr id="256132" name="Line 199"/>
          <p:cNvSpPr/>
          <p:nvPr/>
        </p:nvSpPr>
        <p:spPr>
          <a:xfrm>
            <a:off x="1397000" y="2738438"/>
            <a:ext cx="822325" cy="3175"/>
          </a:xfrm>
          <a:prstGeom prst="line">
            <a:avLst/>
          </a:prstGeom>
          <a:ln w="15875" cap="flat" cmpd="sng">
            <a:solidFill>
              <a:srgbClr val="000000"/>
            </a:solidFill>
            <a:prstDash val="solid"/>
            <a:bevel/>
            <a:headEnd type="none" w="med" len="med"/>
            <a:tailEnd type="none" w="med" len="med"/>
          </a:ln>
        </p:spPr>
      </p:sp>
      <p:sp>
        <p:nvSpPr>
          <p:cNvPr id="256133" name="Line 201"/>
          <p:cNvSpPr/>
          <p:nvPr/>
        </p:nvSpPr>
        <p:spPr>
          <a:xfrm>
            <a:off x="1087438" y="5241925"/>
            <a:ext cx="1131887" cy="1588"/>
          </a:xfrm>
          <a:prstGeom prst="line">
            <a:avLst/>
          </a:prstGeom>
          <a:ln w="15875" cap="flat" cmpd="sng">
            <a:solidFill>
              <a:srgbClr val="000000"/>
            </a:solidFill>
            <a:prstDash val="solid"/>
            <a:bevel/>
            <a:headEnd type="none" w="med" len="med"/>
            <a:tailEnd type="none" w="med" len="med"/>
          </a:ln>
        </p:spPr>
      </p:sp>
      <p:sp>
        <p:nvSpPr>
          <p:cNvPr id="256134" name="Line 202"/>
          <p:cNvSpPr/>
          <p:nvPr/>
        </p:nvSpPr>
        <p:spPr>
          <a:xfrm>
            <a:off x="987425" y="5443538"/>
            <a:ext cx="1231900" cy="4762"/>
          </a:xfrm>
          <a:prstGeom prst="line">
            <a:avLst/>
          </a:prstGeom>
          <a:ln w="15875" cap="flat" cmpd="sng">
            <a:solidFill>
              <a:srgbClr val="000000"/>
            </a:solidFill>
            <a:prstDash val="solid"/>
            <a:bevel/>
            <a:headEnd type="none" w="med" len="med"/>
            <a:tailEnd type="none" w="med" len="med"/>
          </a:ln>
        </p:spPr>
      </p:sp>
      <p:sp>
        <p:nvSpPr>
          <p:cNvPr id="256135" name="Line 203"/>
          <p:cNvSpPr/>
          <p:nvPr/>
        </p:nvSpPr>
        <p:spPr>
          <a:xfrm>
            <a:off x="879475" y="5638800"/>
            <a:ext cx="1339850" cy="3175"/>
          </a:xfrm>
          <a:prstGeom prst="line">
            <a:avLst/>
          </a:prstGeom>
          <a:ln w="15875" cap="flat" cmpd="sng">
            <a:solidFill>
              <a:srgbClr val="000000"/>
            </a:solidFill>
            <a:prstDash val="solid"/>
            <a:bevel/>
            <a:headEnd type="none" w="med" len="med"/>
            <a:tailEnd type="none" w="med" len="med"/>
          </a:ln>
        </p:spPr>
      </p:sp>
      <p:sp>
        <p:nvSpPr>
          <p:cNvPr id="256136" name="Line 204"/>
          <p:cNvSpPr/>
          <p:nvPr/>
        </p:nvSpPr>
        <p:spPr>
          <a:xfrm>
            <a:off x="785813" y="5840413"/>
            <a:ext cx="1430337" cy="1587"/>
          </a:xfrm>
          <a:prstGeom prst="line">
            <a:avLst/>
          </a:prstGeom>
          <a:ln w="15875" cap="flat" cmpd="sng">
            <a:solidFill>
              <a:srgbClr val="000000"/>
            </a:solidFill>
            <a:prstDash val="solid"/>
            <a:bevel/>
            <a:headEnd type="none" w="med" len="med"/>
            <a:tailEnd type="none" w="med" len="med"/>
          </a:ln>
        </p:spPr>
      </p:sp>
      <p:grpSp>
        <p:nvGrpSpPr>
          <p:cNvPr id="256137" name="Group 205"/>
          <p:cNvGrpSpPr/>
          <p:nvPr/>
        </p:nvGrpSpPr>
        <p:grpSpPr>
          <a:xfrm>
            <a:off x="1828800" y="4510088"/>
            <a:ext cx="390525" cy="388937"/>
            <a:chOff x="0" y="0"/>
            <a:chExt cx="235" cy="245"/>
          </a:xfrm>
        </p:grpSpPr>
        <p:grpSp>
          <p:nvGrpSpPr>
            <p:cNvPr id="256156" name="Group 206"/>
            <p:cNvGrpSpPr/>
            <p:nvPr/>
          </p:nvGrpSpPr>
          <p:grpSpPr>
            <a:xfrm>
              <a:off x="0" y="0"/>
              <a:ext cx="235" cy="120"/>
              <a:chOff x="0" y="0"/>
              <a:chExt cx="235" cy="120"/>
            </a:xfrm>
          </p:grpSpPr>
          <p:sp>
            <p:nvSpPr>
              <p:cNvPr id="256160" name="Line 207"/>
              <p:cNvSpPr/>
              <p:nvPr/>
            </p:nvSpPr>
            <p:spPr>
              <a:xfrm flipH="1" flipV="1">
                <a:off x="5" y="0"/>
                <a:ext cx="230" cy="120"/>
              </a:xfrm>
              <a:prstGeom prst="line">
                <a:avLst/>
              </a:prstGeom>
              <a:ln w="15875" cap="flat" cmpd="sng">
                <a:solidFill>
                  <a:srgbClr val="000000"/>
                </a:solidFill>
                <a:prstDash val="solid"/>
                <a:bevel/>
                <a:headEnd type="none" w="med" len="med"/>
                <a:tailEnd type="none" w="med" len="med"/>
              </a:ln>
            </p:spPr>
          </p:sp>
          <p:sp>
            <p:nvSpPr>
              <p:cNvPr id="256161" name="Freeform 208"/>
              <p:cNvSpPr/>
              <p:nvPr/>
            </p:nvSpPr>
            <p:spPr>
              <a:xfrm>
                <a:off x="0" y="0"/>
                <a:ext cx="1" cy="88"/>
              </a:xfrm>
              <a:custGeom>
                <a:avLst/>
                <a:gdLst/>
                <a:ahLst/>
                <a:cxnLst>
                  <a:cxn ang="0">
                    <a:pos x="0" y="0"/>
                  </a:cxn>
                  <a:cxn ang="0">
                    <a:pos x="0" y="14"/>
                  </a:cxn>
                  <a:cxn ang="0">
                    <a:pos x="0" y="88"/>
                  </a:cxn>
                </a:cxnLst>
                <a:pathLst>
                  <a:path w="1" h="88">
                    <a:moveTo>
                      <a:pt x="0" y="0"/>
                    </a:moveTo>
                    <a:lnTo>
                      <a:pt x="0" y="14"/>
                    </a:lnTo>
                    <a:lnTo>
                      <a:pt x="0" y="88"/>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grpSp>
        <p:grpSp>
          <p:nvGrpSpPr>
            <p:cNvPr id="256157" name="Group 209"/>
            <p:cNvGrpSpPr/>
            <p:nvPr/>
          </p:nvGrpSpPr>
          <p:grpSpPr>
            <a:xfrm>
              <a:off x="0" y="124"/>
              <a:ext cx="235" cy="121"/>
              <a:chOff x="0" y="0"/>
              <a:chExt cx="235" cy="121"/>
            </a:xfrm>
          </p:grpSpPr>
          <p:sp>
            <p:nvSpPr>
              <p:cNvPr id="256158" name="Line 210"/>
              <p:cNvSpPr/>
              <p:nvPr/>
            </p:nvSpPr>
            <p:spPr>
              <a:xfrm flipH="1">
                <a:off x="5" y="0"/>
                <a:ext cx="230" cy="121"/>
              </a:xfrm>
              <a:prstGeom prst="line">
                <a:avLst/>
              </a:prstGeom>
              <a:ln w="15875" cap="flat" cmpd="sng">
                <a:solidFill>
                  <a:srgbClr val="000000"/>
                </a:solidFill>
                <a:prstDash val="solid"/>
                <a:bevel/>
                <a:headEnd type="none" w="med" len="med"/>
                <a:tailEnd type="none" w="med" len="med"/>
              </a:ln>
            </p:spPr>
          </p:sp>
          <p:sp>
            <p:nvSpPr>
              <p:cNvPr id="256159" name="Freeform 211"/>
              <p:cNvSpPr/>
              <p:nvPr/>
            </p:nvSpPr>
            <p:spPr>
              <a:xfrm>
                <a:off x="0" y="33"/>
                <a:ext cx="1" cy="88"/>
              </a:xfrm>
              <a:custGeom>
                <a:avLst/>
                <a:gdLst/>
                <a:ahLst/>
                <a:cxnLst>
                  <a:cxn ang="0">
                    <a:pos x="0" y="88"/>
                  </a:cxn>
                  <a:cxn ang="0">
                    <a:pos x="0" y="75"/>
                  </a:cxn>
                  <a:cxn ang="0">
                    <a:pos x="0" y="0"/>
                  </a:cxn>
                </a:cxnLst>
                <a:pathLst>
                  <a:path w="1" h="88">
                    <a:moveTo>
                      <a:pt x="0" y="88"/>
                    </a:moveTo>
                    <a:lnTo>
                      <a:pt x="0" y="75"/>
                    </a:lnTo>
                    <a:lnTo>
                      <a:pt x="0" y="0"/>
                    </a:lnTo>
                  </a:path>
                </a:pathLst>
              </a:custGeom>
              <a:noFill/>
              <a:ln w="15875" cap="flat" cmpd="sng">
                <a:solidFill>
                  <a:srgbClr val="000000">
                    <a:alpha val="100000"/>
                  </a:srgbClr>
                </a:solidFill>
                <a:prstDash val="solid"/>
                <a:bevel/>
                <a:headEnd type="none" w="med" len="med"/>
                <a:tailEnd type="none" w="med" len="med"/>
              </a:ln>
            </p:spPr>
            <p:txBody>
              <a:bodyPr/>
              <a:p>
                <a:endParaRPr lang="zh-CN" altLang="en-US"/>
              </a:p>
            </p:txBody>
          </p:sp>
        </p:grpSp>
      </p:grpSp>
      <p:sp>
        <p:nvSpPr>
          <p:cNvPr id="256138" name="Line 212"/>
          <p:cNvSpPr/>
          <p:nvPr/>
        </p:nvSpPr>
        <p:spPr>
          <a:xfrm flipH="1">
            <a:off x="1296988" y="4754563"/>
            <a:ext cx="533400" cy="1587"/>
          </a:xfrm>
          <a:prstGeom prst="line">
            <a:avLst/>
          </a:prstGeom>
          <a:ln w="15875" cap="flat" cmpd="sng">
            <a:solidFill>
              <a:srgbClr val="000000"/>
            </a:solidFill>
            <a:prstDash val="solid"/>
            <a:bevel/>
            <a:headEnd type="none" w="med" len="med"/>
            <a:tailEnd type="none" w="med" len="med"/>
          </a:ln>
        </p:spPr>
      </p:sp>
      <p:sp>
        <p:nvSpPr>
          <p:cNvPr id="256139" name="Line 213"/>
          <p:cNvSpPr/>
          <p:nvPr/>
        </p:nvSpPr>
        <p:spPr>
          <a:xfrm flipH="1">
            <a:off x="1389063" y="4651375"/>
            <a:ext cx="433387" cy="1588"/>
          </a:xfrm>
          <a:prstGeom prst="line">
            <a:avLst/>
          </a:prstGeom>
          <a:ln w="15875" cap="flat" cmpd="sng">
            <a:solidFill>
              <a:srgbClr val="000000"/>
            </a:solidFill>
            <a:prstDash val="solid"/>
            <a:bevel/>
            <a:headEnd type="none" w="med" len="med"/>
            <a:tailEnd type="none" w="med" len="med"/>
          </a:ln>
        </p:spPr>
      </p:sp>
      <p:sp>
        <p:nvSpPr>
          <p:cNvPr id="256140" name="Line 214"/>
          <p:cNvSpPr/>
          <p:nvPr/>
        </p:nvSpPr>
        <p:spPr>
          <a:xfrm>
            <a:off x="1284288" y="1587500"/>
            <a:ext cx="3175" cy="3165475"/>
          </a:xfrm>
          <a:prstGeom prst="line">
            <a:avLst/>
          </a:prstGeom>
          <a:ln w="15875" cap="flat" cmpd="sng">
            <a:solidFill>
              <a:srgbClr val="000000"/>
            </a:solidFill>
            <a:prstDash val="solid"/>
            <a:bevel/>
            <a:headEnd type="none" w="med" len="med"/>
            <a:tailEnd type="none" w="med" len="med"/>
          </a:ln>
        </p:spPr>
      </p:sp>
      <p:sp>
        <p:nvSpPr>
          <p:cNvPr id="256141" name="Line 215"/>
          <p:cNvSpPr/>
          <p:nvPr/>
        </p:nvSpPr>
        <p:spPr>
          <a:xfrm flipH="1">
            <a:off x="582613" y="1939925"/>
            <a:ext cx="693737" cy="1588"/>
          </a:xfrm>
          <a:prstGeom prst="line">
            <a:avLst/>
          </a:prstGeom>
          <a:ln w="15875" cap="flat" cmpd="sng">
            <a:solidFill>
              <a:srgbClr val="000000"/>
            </a:solidFill>
            <a:prstDash val="solid"/>
            <a:bevel/>
            <a:headEnd type="none" w="med" len="med"/>
            <a:tailEnd type="none" w="med" len="med"/>
          </a:ln>
        </p:spPr>
      </p:sp>
      <p:sp>
        <p:nvSpPr>
          <p:cNvPr id="256142" name="Line 216"/>
          <p:cNvSpPr/>
          <p:nvPr/>
        </p:nvSpPr>
        <p:spPr>
          <a:xfrm>
            <a:off x="1398588" y="2551113"/>
            <a:ext cx="812800" cy="1587"/>
          </a:xfrm>
          <a:prstGeom prst="line">
            <a:avLst/>
          </a:prstGeom>
          <a:ln w="15875" cap="flat" cmpd="sng">
            <a:solidFill>
              <a:srgbClr val="000000"/>
            </a:solidFill>
            <a:prstDash val="solid"/>
            <a:bevel/>
            <a:headEnd type="none" w="med" len="med"/>
            <a:tailEnd type="none" w="med" len="med"/>
          </a:ln>
        </p:spPr>
      </p:sp>
      <p:sp>
        <p:nvSpPr>
          <p:cNvPr id="256143" name="Line 217"/>
          <p:cNvSpPr/>
          <p:nvPr/>
        </p:nvSpPr>
        <p:spPr>
          <a:xfrm flipH="1">
            <a:off x="1390650" y="1584325"/>
            <a:ext cx="423863" cy="1588"/>
          </a:xfrm>
          <a:prstGeom prst="line">
            <a:avLst/>
          </a:prstGeom>
          <a:ln w="15875" cap="flat" cmpd="sng">
            <a:solidFill>
              <a:srgbClr val="000000"/>
            </a:solidFill>
            <a:prstDash val="solid"/>
            <a:bevel/>
            <a:headEnd type="none" w="med" len="med"/>
            <a:tailEnd type="none" w="med" len="med"/>
          </a:ln>
        </p:spPr>
      </p:sp>
      <p:sp>
        <p:nvSpPr>
          <p:cNvPr id="256144" name="Line 218"/>
          <p:cNvSpPr/>
          <p:nvPr/>
        </p:nvSpPr>
        <p:spPr>
          <a:xfrm flipH="1">
            <a:off x="809625" y="1490663"/>
            <a:ext cx="1004888" cy="1587"/>
          </a:xfrm>
          <a:prstGeom prst="line">
            <a:avLst/>
          </a:prstGeom>
          <a:ln w="15875" cap="flat" cmpd="sng">
            <a:solidFill>
              <a:srgbClr val="000000"/>
            </a:solidFill>
            <a:prstDash val="solid"/>
            <a:bevel/>
            <a:headEnd type="none" w="med" len="med"/>
            <a:tailEnd type="none" w="med" len="med"/>
          </a:ln>
        </p:spPr>
      </p:sp>
      <p:sp>
        <p:nvSpPr>
          <p:cNvPr id="256145" name="Line 223"/>
          <p:cNvSpPr/>
          <p:nvPr/>
        </p:nvSpPr>
        <p:spPr>
          <a:xfrm flipH="1">
            <a:off x="4111625" y="1779588"/>
            <a:ext cx="358775" cy="0"/>
          </a:xfrm>
          <a:prstGeom prst="line">
            <a:avLst/>
          </a:prstGeom>
          <a:ln w="15875" cap="flat" cmpd="sng">
            <a:solidFill>
              <a:schemeClr val="tx1"/>
            </a:solidFill>
            <a:prstDash val="solid"/>
            <a:bevel/>
            <a:headEnd type="none" w="med" len="med"/>
            <a:tailEnd type="triangle" w="lg" len="lg"/>
          </a:ln>
        </p:spPr>
      </p:sp>
      <p:sp>
        <p:nvSpPr>
          <p:cNvPr id="256146" name="Rectangle 224"/>
          <p:cNvSpPr/>
          <p:nvPr/>
        </p:nvSpPr>
        <p:spPr>
          <a:xfrm>
            <a:off x="2312988" y="1419225"/>
            <a:ext cx="717550" cy="274638"/>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D7~D0</a:t>
            </a:r>
            <a:endParaRPr lang="en-US" altLang="zh-CN" sz="1800" b="0" dirty="0">
              <a:solidFill>
                <a:schemeClr val="tx1"/>
              </a:solidFill>
              <a:ea typeface="楷体_GB2312"/>
            </a:endParaRPr>
          </a:p>
        </p:txBody>
      </p:sp>
      <p:sp>
        <p:nvSpPr>
          <p:cNvPr id="256147" name="Oval 225"/>
          <p:cNvSpPr/>
          <p:nvPr/>
        </p:nvSpPr>
        <p:spPr>
          <a:xfrm>
            <a:off x="2076450" y="2479675"/>
            <a:ext cx="147638" cy="149225"/>
          </a:xfrm>
          <a:prstGeom prst="ellipse">
            <a:avLst/>
          </a:prstGeom>
          <a:solidFill>
            <a:schemeClr val="bg1"/>
          </a:solid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6148" name="Oval 226"/>
          <p:cNvSpPr/>
          <p:nvPr/>
        </p:nvSpPr>
        <p:spPr>
          <a:xfrm>
            <a:off x="2066925" y="2268538"/>
            <a:ext cx="147638" cy="149225"/>
          </a:xfrm>
          <a:prstGeom prst="ellipse">
            <a:avLst/>
          </a:prstGeom>
          <a:solidFill>
            <a:schemeClr val="bg1"/>
          </a:solid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6149" name="Oval 227"/>
          <p:cNvSpPr/>
          <p:nvPr/>
        </p:nvSpPr>
        <p:spPr>
          <a:xfrm>
            <a:off x="2066925" y="2066925"/>
            <a:ext cx="147638" cy="149225"/>
          </a:xfrm>
          <a:prstGeom prst="ellipse">
            <a:avLst/>
          </a:prstGeom>
          <a:solidFill>
            <a:schemeClr val="bg1"/>
          </a:solidFill>
          <a:ln w="15875"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56150" name="Rectangle 230"/>
          <p:cNvSpPr/>
          <p:nvPr/>
        </p:nvSpPr>
        <p:spPr>
          <a:xfrm>
            <a:off x="6416675" y="4459288"/>
            <a:ext cx="2843213" cy="15621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30000"/>
              </a:lnSpc>
              <a:spcBef>
                <a:spcPct val="0"/>
              </a:spcBef>
              <a:spcAft>
                <a:spcPct val="0"/>
              </a:spcAft>
              <a:buClr>
                <a:srgbClr val="A50021"/>
              </a:buClr>
              <a:buSzTx/>
              <a:buFont typeface="Wingdings" panose="05000000000000000000" pitchFamily="2" charset="2"/>
              <a:buChar char="l"/>
            </a:pPr>
            <a:r>
              <a:rPr lang="en-US" altLang="zh-CN" sz="2000" b="0" dirty="0">
                <a:solidFill>
                  <a:schemeClr val="tx1"/>
                </a:solidFill>
                <a:ea typeface="楷体_GB2312"/>
              </a:rPr>
              <a:t> </a:t>
            </a:r>
            <a:r>
              <a:rPr lang="en-US" altLang="zh-CN" sz="1800" b="0" dirty="0">
                <a:solidFill>
                  <a:schemeClr val="tx1"/>
                </a:solidFill>
                <a:ea typeface="楷体_GB2312"/>
              </a:rPr>
              <a:t> </a:t>
            </a:r>
            <a:r>
              <a:rPr lang="zh-CN" altLang="en-US" sz="1800" b="0" dirty="0">
                <a:solidFill>
                  <a:schemeClr val="tx1"/>
                </a:solidFill>
                <a:ea typeface="楷体_GB2312"/>
              </a:rPr>
              <a:t>主片的</a:t>
            </a:r>
            <a:r>
              <a:rPr lang="en-US" altLang="zh-CN" sz="1800" b="0" dirty="0">
                <a:solidFill>
                  <a:schemeClr val="tx1"/>
                </a:solidFill>
                <a:ea typeface="楷体_GB2312"/>
              </a:rPr>
              <a:t>SP/EN</a:t>
            </a:r>
            <a:r>
              <a:rPr lang="zh-CN" altLang="en-US" sz="1800" b="0" dirty="0">
                <a:solidFill>
                  <a:schemeClr val="tx1"/>
                </a:solidFill>
                <a:ea typeface="楷体_GB2312"/>
              </a:rPr>
              <a:t>接</a:t>
            </a:r>
            <a:r>
              <a:rPr lang="en-US" altLang="zh-CN" sz="1800" b="0" dirty="0">
                <a:solidFill>
                  <a:schemeClr val="tx1"/>
                </a:solidFill>
                <a:ea typeface="楷体_GB2312"/>
              </a:rPr>
              <a:t>+5V,</a:t>
            </a:r>
            <a:r>
              <a:rPr lang="zh-CN" altLang="en-US" sz="1800" b="0" dirty="0">
                <a:solidFill>
                  <a:schemeClr val="tx1"/>
                </a:solidFill>
                <a:ea typeface="楷体_GB2312"/>
              </a:rPr>
              <a:t>从片的</a:t>
            </a:r>
            <a:r>
              <a:rPr lang="en-US" altLang="zh-CN" sz="1800" b="0" dirty="0">
                <a:solidFill>
                  <a:schemeClr val="tx1"/>
                </a:solidFill>
                <a:ea typeface="楷体_GB2312"/>
              </a:rPr>
              <a:t>SP/EN</a:t>
            </a:r>
            <a:r>
              <a:rPr lang="zh-CN" altLang="en-US" sz="1800" b="0" dirty="0">
                <a:solidFill>
                  <a:schemeClr val="tx1"/>
                </a:solidFill>
                <a:ea typeface="楷体_GB2312"/>
              </a:rPr>
              <a:t>接地，主从片的</a:t>
            </a:r>
            <a:r>
              <a:rPr lang="en-US" altLang="zh-CN" sz="1800" b="0" dirty="0">
                <a:solidFill>
                  <a:schemeClr val="tx1"/>
                </a:solidFill>
                <a:ea typeface="楷体_GB2312"/>
              </a:rPr>
              <a:t>CAS2</a:t>
            </a:r>
            <a:r>
              <a:rPr lang="zh-CN" altLang="en-US" sz="1800" b="0" dirty="0">
                <a:solidFill>
                  <a:schemeClr val="tx1"/>
                </a:solidFill>
                <a:ea typeface="楷体_GB2312"/>
              </a:rPr>
              <a:t>、</a:t>
            </a:r>
            <a:r>
              <a:rPr lang="en-US" altLang="zh-CN" sz="1800" b="0" dirty="0">
                <a:solidFill>
                  <a:schemeClr val="tx1"/>
                </a:solidFill>
                <a:ea typeface="楷体_GB2312"/>
              </a:rPr>
              <a:t>CAS1</a:t>
            </a:r>
            <a:r>
              <a:rPr lang="zh-CN" altLang="en-US" sz="1800" b="0" dirty="0">
                <a:solidFill>
                  <a:schemeClr val="tx1"/>
                </a:solidFill>
                <a:ea typeface="楷体_GB2312"/>
              </a:rPr>
              <a:t>、</a:t>
            </a:r>
            <a:r>
              <a:rPr lang="en-US" altLang="zh-CN" sz="1800" b="0" dirty="0">
                <a:solidFill>
                  <a:schemeClr val="tx1"/>
                </a:solidFill>
                <a:ea typeface="楷体_GB2312"/>
              </a:rPr>
              <a:t>CAS0</a:t>
            </a:r>
            <a:r>
              <a:rPr lang="zh-CN" altLang="en-US" sz="1800" b="0" dirty="0">
                <a:solidFill>
                  <a:schemeClr val="tx1"/>
                </a:solidFill>
                <a:ea typeface="楷体_GB2312"/>
              </a:rPr>
              <a:t>对应连接</a:t>
            </a:r>
            <a:endParaRPr lang="zh-CN" altLang="en-US" sz="1800" b="0" dirty="0">
              <a:solidFill>
                <a:schemeClr val="tx1"/>
              </a:solidFill>
              <a:ea typeface="楷体_GB2312"/>
            </a:endParaRPr>
          </a:p>
        </p:txBody>
      </p:sp>
      <p:sp>
        <p:nvSpPr>
          <p:cNvPr id="256151" name="Rectangle 231"/>
          <p:cNvSpPr/>
          <p:nvPr/>
        </p:nvSpPr>
        <p:spPr>
          <a:xfrm>
            <a:off x="5270500" y="1446213"/>
            <a:ext cx="982663" cy="122237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黑体" panose="02010609060101010101" pitchFamily="49" charset="-122"/>
              </a:rPr>
              <a:t>IRQ0~ IRQ7</a:t>
            </a:r>
            <a:r>
              <a:rPr lang="zh-CN" altLang="en-US" sz="1600" b="0" dirty="0">
                <a:solidFill>
                  <a:srgbClr val="000000"/>
                </a:solidFill>
                <a:ea typeface="黑体" panose="02010609060101010101" pitchFamily="49" charset="-122"/>
              </a:rPr>
              <a:t>的中断类型码：</a:t>
            </a:r>
            <a:r>
              <a:rPr lang="en-US" altLang="zh-CN" sz="1600" b="0" dirty="0">
                <a:solidFill>
                  <a:srgbClr val="000000"/>
                </a:solidFill>
                <a:ea typeface="黑体" panose="02010609060101010101" pitchFamily="49" charset="-122"/>
              </a:rPr>
              <a:t>08H~0FH</a:t>
            </a:r>
            <a:endParaRPr lang="en-US" altLang="zh-CN" sz="1600" b="0" dirty="0">
              <a:solidFill>
                <a:srgbClr val="000000"/>
              </a:solidFill>
              <a:ea typeface="黑体" panose="02010609060101010101" pitchFamily="49" charset="-122"/>
            </a:endParaRPr>
          </a:p>
        </p:txBody>
      </p:sp>
      <p:sp>
        <p:nvSpPr>
          <p:cNvPr id="256152" name="Rectangle 232"/>
          <p:cNvSpPr/>
          <p:nvPr/>
        </p:nvSpPr>
        <p:spPr>
          <a:xfrm>
            <a:off x="4787900" y="3429000"/>
            <a:ext cx="1516063" cy="73342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600" b="0" dirty="0">
                <a:solidFill>
                  <a:srgbClr val="000000"/>
                </a:solidFill>
                <a:ea typeface="黑体" panose="02010609060101010101" pitchFamily="49" charset="-122"/>
              </a:rPr>
              <a:t>IRQ8~ IRQ15</a:t>
            </a:r>
            <a:r>
              <a:rPr lang="zh-CN" altLang="en-US" sz="1600" b="0" dirty="0">
                <a:solidFill>
                  <a:srgbClr val="000000"/>
                </a:solidFill>
                <a:ea typeface="黑体" panose="02010609060101010101" pitchFamily="49" charset="-122"/>
              </a:rPr>
              <a:t>的中断类型码：</a:t>
            </a:r>
            <a:r>
              <a:rPr lang="en-US" altLang="zh-CN" sz="1600" b="0" dirty="0">
                <a:solidFill>
                  <a:srgbClr val="000000"/>
                </a:solidFill>
                <a:ea typeface="黑体" panose="02010609060101010101" pitchFamily="49" charset="-122"/>
              </a:rPr>
              <a:t>70H~77H</a:t>
            </a:r>
            <a:endParaRPr lang="en-US" altLang="zh-CN" sz="1600" b="0" dirty="0">
              <a:solidFill>
                <a:srgbClr val="000000"/>
              </a:solidFill>
              <a:ea typeface="黑体" panose="02010609060101010101" pitchFamily="49" charset="-122"/>
            </a:endParaRPr>
          </a:p>
        </p:txBody>
      </p:sp>
      <p:sp>
        <p:nvSpPr>
          <p:cNvPr id="256153" name="Line 233"/>
          <p:cNvSpPr/>
          <p:nvPr/>
        </p:nvSpPr>
        <p:spPr>
          <a:xfrm>
            <a:off x="7669213" y="2392363"/>
            <a:ext cx="431800" cy="0"/>
          </a:xfrm>
          <a:prstGeom prst="line">
            <a:avLst/>
          </a:prstGeom>
          <a:ln w="25400" cap="flat" cmpd="sng">
            <a:solidFill>
              <a:schemeClr val="tx1"/>
            </a:solidFill>
            <a:prstDash val="solid"/>
            <a:bevel/>
            <a:headEnd type="none" w="med" len="med"/>
            <a:tailEnd type="none" w="med" len="med"/>
          </a:ln>
        </p:spPr>
      </p:sp>
      <p:sp>
        <p:nvSpPr>
          <p:cNvPr id="256154" name="Line 234"/>
          <p:cNvSpPr/>
          <p:nvPr/>
        </p:nvSpPr>
        <p:spPr>
          <a:xfrm>
            <a:off x="8027988" y="1189038"/>
            <a:ext cx="431800" cy="0"/>
          </a:xfrm>
          <a:prstGeom prst="line">
            <a:avLst/>
          </a:prstGeom>
          <a:ln w="25400" cap="flat" cmpd="sng">
            <a:solidFill>
              <a:schemeClr val="tx1"/>
            </a:solidFill>
            <a:prstDash val="solid"/>
            <a:bevel/>
            <a:headEnd type="none" w="med" len="med"/>
            <a:tailEnd type="none" w="med" len="med"/>
          </a:ln>
        </p:spPr>
      </p:sp>
      <p:sp>
        <p:nvSpPr>
          <p:cNvPr id="256155" name="Line 233"/>
          <p:cNvSpPr/>
          <p:nvPr/>
        </p:nvSpPr>
        <p:spPr>
          <a:xfrm>
            <a:off x="7539038" y="4579938"/>
            <a:ext cx="561975" cy="0"/>
          </a:xfrm>
          <a:prstGeom prst="line">
            <a:avLst/>
          </a:prstGeom>
          <a:ln w="25400" cap="flat" cmpd="sng">
            <a:solidFill>
              <a:schemeClr val="tx1"/>
            </a:solidFill>
            <a:prstDash val="solid"/>
            <a:bevel/>
            <a:headEnd type="none" w="med" len="med"/>
            <a:tailEnd type="none" w="med" len="med"/>
          </a:ln>
        </p:spPr>
      </p:sp>
    </p:spTree>
  </p:cSld>
  <p:clrMapOvr>
    <a:masterClrMapping/>
  </p:clrMapOvr>
  <p:transition spd="slow">
    <p:zoom/>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7026" name="Rectangle 2"/>
          <p:cNvSpPr>
            <a:spLocks noGrp="1" noChangeAspect="1"/>
          </p:cNvSpPr>
          <p:nvPr>
            <p:ph type="title" idx="4294967295"/>
          </p:nvPr>
        </p:nvSpPr>
        <p:spPr>
          <a:xfrm>
            <a:off x="4645025" y="0"/>
            <a:ext cx="4498975" cy="503238"/>
          </a:xfrm>
        </p:spPr>
        <p:txBody>
          <a:bodyPr vert="horz" wrap="square" lIns="91440" tIns="45720" rIns="91440" bIns="45720" anchor="b" anchorCtr="0"/>
          <a:p>
            <a:pPr algn="r"/>
            <a:r>
              <a:rPr lang="en-US" altLang="zh-CN" sz="3200" dirty="0"/>
              <a:t>8259</a:t>
            </a:r>
            <a:r>
              <a:rPr lang="zh-CN" altLang="en-US" sz="3200" dirty="0"/>
              <a:t>与计算机的连接</a:t>
            </a:r>
            <a:endParaRPr lang="zh-CN" altLang="en-US" sz="3200" dirty="0"/>
          </a:p>
        </p:txBody>
      </p:sp>
      <p:sp>
        <p:nvSpPr>
          <p:cNvPr id="257027" name="Rectangle 3"/>
          <p:cNvSpPr>
            <a:spLocks noGrp="1" noChangeAspect="1"/>
          </p:cNvSpPr>
          <p:nvPr>
            <p:ph type="body" idx="4294967295"/>
          </p:nvPr>
        </p:nvSpPr>
        <p:spPr>
          <a:xfrm>
            <a:off x="323850" y="620713"/>
            <a:ext cx="8496300" cy="3278187"/>
          </a:xfrm>
          <a:solidFill>
            <a:schemeClr val="bg1">
              <a:alpha val="100000"/>
            </a:schemeClr>
          </a:solidFill>
        </p:spPr>
        <p:txBody>
          <a:bodyPr vert="horz" wrap="square" lIns="91440" tIns="45720" rIns="91440" bIns="45720" anchor="t" anchorCtr="0"/>
          <a:p>
            <a:pPr marL="609600" indent="-609600">
              <a:buClr>
                <a:srgbClr val="990099"/>
              </a:buClr>
              <a:buFont typeface="黑体" panose="02010609060101010101" pitchFamily="49" charset="-122"/>
              <a:buChar char="※"/>
            </a:pPr>
            <a:r>
              <a:rPr lang="zh-CN" altLang="en-US" sz="2400" dirty="0">
                <a:solidFill>
                  <a:srgbClr val="990099"/>
                </a:solidFill>
              </a:rPr>
              <a:t>说明</a:t>
            </a:r>
            <a:endParaRPr lang="zh-CN" altLang="en-US" sz="2400" dirty="0">
              <a:solidFill>
                <a:srgbClr val="990099"/>
              </a:solidFill>
            </a:endParaRPr>
          </a:p>
          <a:p>
            <a:pPr marL="609600" indent="-609600">
              <a:lnSpc>
                <a:spcPct val="100000"/>
              </a:lnSpc>
              <a:buClr>
                <a:srgbClr val="A50021"/>
              </a:buClr>
              <a:buNone/>
            </a:pPr>
            <a:r>
              <a:rPr lang="zh-CN" altLang="en-US" sz="2400" dirty="0">
                <a:solidFill>
                  <a:schemeClr val="tx1"/>
                </a:solidFill>
              </a:rPr>
              <a:t>       </a:t>
            </a:r>
            <a:r>
              <a:rPr lang="zh-CN" altLang="en-US" sz="2400" dirty="0">
                <a:solidFill>
                  <a:schemeClr val="tx1"/>
                </a:solidFill>
                <a:latin typeface="楷体_GB2312"/>
              </a:rPr>
              <a:t>从片</a:t>
            </a:r>
            <a:r>
              <a:rPr lang="en-US" altLang="zh-CN" sz="2400" dirty="0">
                <a:solidFill>
                  <a:schemeClr val="tx1"/>
                </a:solidFill>
                <a:latin typeface="楷体_GB2312"/>
              </a:rPr>
              <a:t>8259A</a:t>
            </a:r>
            <a:r>
              <a:rPr lang="zh-CN" altLang="en-US" sz="2400" dirty="0">
                <a:solidFill>
                  <a:schemeClr val="tx1"/>
                </a:solidFill>
                <a:latin typeface="楷体_GB2312"/>
              </a:rPr>
              <a:t>的中断申请端</a:t>
            </a:r>
            <a:r>
              <a:rPr lang="en-US" altLang="zh-CN" sz="2400" dirty="0">
                <a:solidFill>
                  <a:schemeClr val="tx1"/>
                </a:solidFill>
                <a:latin typeface="楷体_GB2312"/>
              </a:rPr>
              <a:t>INT</a:t>
            </a:r>
            <a:r>
              <a:rPr lang="zh-CN" altLang="en-US" sz="2400" dirty="0">
                <a:solidFill>
                  <a:schemeClr val="tx1"/>
                </a:solidFill>
                <a:latin typeface="楷体_GB2312"/>
              </a:rPr>
              <a:t>接主片的</a:t>
            </a:r>
            <a:r>
              <a:rPr lang="en-US" altLang="zh-CN" sz="2400" dirty="0">
                <a:solidFill>
                  <a:schemeClr val="tx1"/>
                </a:solidFill>
                <a:latin typeface="楷体_GB2312"/>
              </a:rPr>
              <a:t>IRQ2</a:t>
            </a:r>
            <a:endParaRPr lang="en-US" altLang="zh-CN" sz="2400" dirty="0">
              <a:solidFill>
                <a:schemeClr val="tx1"/>
              </a:solidFill>
              <a:latin typeface="楷体_GB2312"/>
            </a:endParaRPr>
          </a:p>
          <a:p>
            <a:pPr marL="609600" indent="-609600">
              <a:lnSpc>
                <a:spcPct val="100000"/>
              </a:lnSpc>
              <a:buClr>
                <a:srgbClr val="A50021"/>
              </a:buClr>
              <a:buNone/>
            </a:pPr>
            <a:r>
              <a:rPr lang="zh-CN" altLang="en-US" sz="2400" dirty="0">
                <a:solidFill>
                  <a:schemeClr val="tx1"/>
                </a:solidFill>
                <a:latin typeface="楷体_GB2312"/>
              </a:rPr>
              <a:t>    主片的</a:t>
            </a:r>
            <a:r>
              <a:rPr lang="en-US" altLang="zh-CN" sz="2400" dirty="0">
                <a:solidFill>
                  <a:schemeClr val="tx1"/>
                </a:solidFill>
                <a:latin typeface="楷体_GB2312"/>
              </a:rPr>
              <a:t>SP/EN</a:t>
            </a:r>
            <a:r>
              <a:rPr lang="zh-CN" altLang="en-US" sz="2400" dirty="0">
                <a:solidFill>
                  <a:schemeClr val="tx1"/>
                </a:solidFill>
                <a:latin typeface="楷体_GB2312"/>
              </a:rPr>
              <a:t>接</a:t>
            </a:r>
            <a:r>
              <a:rPr lang="en-US" altLang="zh-CN" sz="2400" dirty="0">
                <a:solidFill>
                  <a:schemeClr val="tx1"/>
                </a:solidFill>
                <a:latin typeface="楷体_GB2312"/>
              </a:rPr>
              <a:t>+5V,</a:t>
            </a:r>
            <a:r>
              <a:rPr lang="zh-CN" altLang="en-US" sz="2400" dirty="0">
                <a:solidFill>
                  <a:schemeClr val="tx1"/>
                </a:solidFill>
                <a:latin typeface="楷体_GB2312"/>
              </a:rPr>
              <a:t>从片的</a:t>
            </a:r>
            <a:r>
              <a:rPr lang="en-US" altLang="zh-CN" sz="2400" dirty="0">
                <a:solidFill>
                  <a:schemeClr val="tx1"/>
                </a:solidFill>
                <a:latin typeface="楷体_GB2312"/>
              </a:rPr>
              <a:t>SP/EN</a:t>
            </a:r>
            <a:r>
              <a:rPr lang="zh-CN" altLang="en-US" sz="2400" dirty="0">
                <a:solidFill>
                  <a:schemeClr val="tx1"/>
                </a:solidFill>
                <a:latin typeface="楷体_GB2312"/>
              </a:rPr>
              <a:t>接地，主从片的</a:t>
            </a:r>
            <a:r>
              <a:rPr lang="en-US" altLang="zh-CN" sz="2400" dirty="0">
                <a:solidFill>
                  <a:schemeClr val="tx1"/>
                </a:solidFill>
                <a:latin typeface="楷体_GB2312"/>
              </a:rPr>
              <a:t>CAS2</a:t>
            </a:r>
            <a:r>
              <a:rPr lang="zh-CN" altLang="en-US" sz="2400" dirty="0">
                <a:solidFill>
                  <a:schemeClr val="tx1"/>
                </a:solidFill>
                <a:latin typeface="楷体_GB2312"/>
              </a:rPr>
              <a:t>、  </a:t>
            </a:r>
            <a:endParaRPr lang="en-US" altLang="zh-CN" sz="2400" dirty="0">
              <a:solidFill>
                <a:schemeClr val="tx1"/>
              </a:solidFill>
              <a:latin typeface="楷体_GB2312"/>
            </a:endParaRPr>
          </a:p>
          <a:p>
            <a:pPr marL="609600" indent="-609600">
              <a:lnSpc>
                <a:spcPct val="100000"/>
              </a:lnSpc>
              <a:buClr>
                <a:srgbClr val="A50021"/>
              </a:buClr>
              <a:buNone/>
            </a:pPr>
            <a:r>
              <a:rPr lang="en-US" altLang="zh-CN" sz="2400" dirty="0">
                <a:solidFill>
                  <a:schemeClr val="tx1"/>
                </a:solidFill>
                <a:latin typeface="楷体_GB2312"/>
              </a:rPr>
              <a:t>    CAS1</a:t>
            </a:r>
            <a:r>
              <a:rPr lang="zh-CN" altLang="en-US" sz="2400" dirty="0">
                <a:solidFill>
                  <a:schemeClr val="tx1"/>
                </a:solidFill>
                <a:latin typeface="楷体_GB2312"/>
              </a:rPr>
              <a:t>、</a:t>
            </a:r>
            <a:r>
              <a:rPr lang="en-US" altLang="zh-CN" sz="2400" dirty="0">
                <a:solidFill>
                  <a:schemeClr val="tx1"/>
                </a:solidFill>
                <a:latin typeface="楷体_GB2312"/>
              </a:rPr>
              <a:t>CAS0</a:t>
            </a:r>
            <a:r>
              <a:rPr lang="zh-CN" altLang="en-US" sz="2400" dirty="0">
                <a:solidFill>
                  <a:schemeClr val="tx1"/>
                </a:solidFill>
                <a:latin typeface="楷体_GB2312"/>
              </a:rPr>
              <a:t>对应连接。</a:t>
            </a:r>
            <a:endParaRPr lang="zh-CN" altLang="en-US" sz="2400" dirty="0">
              <a:solidFill>
                <a:schemeClr val="tx1"/>
              </a:solidFill>
              <a:latin typeface="楷体_GB2312"/>
            </a:endParaRPr>
          </a:p>
          <a:p>
            <a:pPr marL="609600" indent="-609600">
              <a:lnSpc>
                <a:spcPct val="100000"/>
              </a:lnSpc>
              <a:buClr>
                <a:srgbClr val="A50021"/>
              </a:buClr>
              <a:buNone/>
            </a:pPr>
            <a:r>
              <a:rPr lang="en-US" altLang="zh-CN" sz="2400" dirty="0">
                <a:solidFill>
                  <a:schemeClr val="tx1"/>
                </a:solidFill>
                <a:latin typeface="楷体_GB2312"/>
              </a:rPr>
              <a:t>    </a:t>
            </a:r>
            <a:r>
              <a:rPr lang="zh-CN" altLang="en-US" sz="2400" dirty="0">
                <a:solidFill>
                  <a:schemeClr val="tx1"/>
                </a:solidFill>
                <a:latin typeface="楷体_GB2312"/>
              </a:rPr>
              <a:t>主片的端口地址</a:t>
            </a:r>
            <a:r>
              <a:rPr lang="en-US" altLang="zh-CN" sz="2400" dirty="0">
                <a:solidFill>
                  <a:schemeClr val="tx1"/>
                </a:solidFill>
                <a:latin typeface="楷体_GB2312"/>
              </a:rPr>
              <a:t>INTA1</a:t>
            </a:r>
            <a:r>
              <a:rPr lang="zh-CN" altLang="en-US" sz="2400" dirty="0">
                <a:solidFill>
                  <a:schemeClr val="tx1"/>
                </a:solidFill>
                <a:latin typeface="楷体_GB2312"/>
              </a:rPr>
              <a:t>、</a:t>
            </a:r>
            <a:r>
              <a:rPr lang="en-US" altLang="zh-CN" sz="2400" dirty="0">
                <a:solidFill>
                  <a:schemeClr val="tx1"/>
                </a:solidFill>
                <a:latin typeface="楷体_GB2312"/>
              </a:rPr>
              <a:t>CS</a:t>
            </a:r>
            <a:r>
              <a:rPr lang="zh-CN" altLang="en-US" sz="2400" dirty="0">
                <a:solidFill>
                  <a:schemeClr val="tx1"/>
                </a:solidFill>
                <a:latin typeface="楷体_GB2312"/>
              </a:rPr>
              <a:t>为</a:t>
            </a:r>
            <a:r>
              <a:rPr lang="en-US" altLang="zh-CN" sz="2400" dirty="0">
                <a:solidFill>
                  <a:schemeClr val="tx1"/>
                </a:solidFill>
                <a:latin typeface="楷体_GB2312"/>
              </a:rPr>
              <a:t>020H~03FH, </a:t>
            </a:r>
            <a:r>
              <a:rPr lang="zh-CN" altLang="en-US" sz="2400" dirty="0">
                <a:solidFill>
                  <a:schemeClr val="tx1"/>
                </a:solidFill>
                <a:latin typeface="楷体_GB2312"/>
              </a:rPr>
              <a:t>从片的端口地址</a:t>
            </a:r>
            <a:endParaRPr lang="en-US" altLang="zh-CN" sz="2400" dirty="0">
              <a:solidFill>
                <a:schemeClr val="tx1"/>
              </a:solidFill>
              <a:latin typeface="楷体_GB2312"/>
            </a:endParaRPr>
          </a:p>
          <a:p>
            <a:pPr marL="609600" indent="-609600">
              <a:lnSpc>
                <a:spcPct val="100000"/>
              </a:lnSpc>
              <a:buClr>
                <a:srgbClr val="A50021"/>
              </a:buClr>
              <a:buNone/>
            </a:pPr>
            <a:r>
              <a:rPr lang="en-US" altLang="zh-CN" sz="2400" dirty="0">
                <a:solidFill>
                  <a:schemeClr val="tx1"/>
                </a:solidFill>
                <a:latin typeface="楷体_GB2312"/>
              </a:rPr>
              <a:t>    INTA2</a:t>
            </a:r>
            <a:r>
              <a:rPr lang="zh-CN" altLang="en-US" sz="2400" dirty="0">
                <a:solidFill>
                  <a:schemeClr val="tx1"/>
                </a:solidFill>
                <a:latin typeface="楷体_GB2312"/>
              </a:rPr>
              <a:t>、</a:t>
            </a:r>
            <a:r>
              <a:rPr lang="en-US" altLang="zh-CN" sz="2400" dirty="0">
                <a:solidFill>
                  <a:schemeClr val="tx1"/>
                </a:solidFill>
                <a:latin typeface="楷体_GB2312"/>
              </a:rPr>
              <a:t>CS</a:t>
            </a:r>
            <a:r>
              <a:rPr lang="zh-CN" altLang="en-US" sz="2400" dirty="0">
                <a:solidFill>
                  <a:schemeClr val="tx1"/>
                </a:solidFill>
                <a:latin typeface="楷体_GB2312"/>
              </a:rPr>
              <a:t>为</a:t>
            </a:r>
            <a:r>
              <a:rPr lang="en-US" altLang="zh-CN" sz="2400" dirty="0">
                <a:solidFill>
                  <a:schemeClr val="tx1"/>
                </a:solidFill>
                <a:latin typeface="楷体_GB2312"/>
              </a:rPr>
              <a:t>0A0~0BFH.</a:t>
            </a:r>
            <a:endParaRPr lang="en-US" altLang="zh-CN" sz="2400" dirty="0">
              <a:solidFill>
                <a:schemeClr val="tx1"/>
              </a:solidFill>
              <a:latin typeface="楷体_GB2312"/>
            </a:endParaRPr>
          </a:p>
          <a:p>
            <a:pPr marL="609600" indent="-609600">
              <a:lnSpc>
                <a:spcPct val="100000"/>
              </a:lnSpc>
              <a:buClr>
                <a:srgbClr val="A50021"/>
              </a:buClr>
              <a:buNone/>
            </a:pPr>
            <a:r>
              <a:rPr lang="en-US" altLang="zh-CN" sz="2400" dirty="0">
                <a:solidFill>
                  <a:schemeClr val="tx1"/>
                </a:solidFill>
                <a:latin typeface="楷体_GB2312"/>
              </a:rPr>
              <a:t>    </a:t>
            </a:r>
            <a:r>
              <a:rPr lang="en-US" altLang="zh-CN" sz="2400" dirty="0">
                <a:solidFill>
                  <a:srgbClr val="FF0000"/>
                </a:solidFill>
                <a:latin typeface="楷体_GB2312"/>
              </a:rPr>
              <a:t>8086</a:t>
            </a:r>
            <a:r>
              <a:rPr lang="zh-CN" altLang="en-US" sz="2400" dirty="0">
                <a:solidFill>
                  <a:srgbClr val="FF0000"/>
                </a:solidFill>
                <a:latin typeface="楷体_GB2312"/>
              </a:rPr>
              <a:t>系统主从芯片都用偶地址传递信息</a:t>
            </a:r>
            <a:r>
              <a:rPr lang="zh-CN" altLang="en-US" sz="2400" dirty="0">
                <a:solidFill>
                  <a:schemeClr val="tx1"/>
                </a:solidFill>
                <a:latin typeface="楷体_GB2312"/>
              </a:rPr>
              <a:t>。</a:t>
            </a:r>
            <a:endParaRPr lang="zh-CN" altLang="en-US" sz="2400" dirty="0">
              <a:solidFill>
                <a:schemeClr val="tx1"/>
              </a:solidFill>
              <a:latin typeface="楷体_GB2312"/>
            </a:endParaRPr>
          </a:p>
        </p:txBody>
      </p:sp>
      <p:sp>
        <p:nvSpPr>
          <p:cNvPr id="257028" name="Line 4"/>
          <p:cNvSpPr/>
          <p:nvPr/>
        </p:nvSpPr>
        <p:spPr>
          <a:xfrm>
            <a:off x="1042988" y="2133600"/>
            <a:ext cx="576262" cy="0"/>
          </a:xfrm>
          <a:prstGeom prst="line">
            <a:avLst/>
          </a:prstGeom>
          <a:ln w="25400" cap="flat" cmpd="sng">
            <a:solidFill>
              <a:schemeClr val="tx1"/>
            </a:solidFill>
            <a:prstDash val="solid"/>
            <a:bevel/>
            <a:headEnd type="none" w="med" len="med"/>
            <a:tailEnd type="none" w="med" len="med"/>
          </a:ln>
        </p:spPr>
      </p:sp>
      <p:sp>
        <p:nvSpPr>
          <p:cNvPr id="257029" name="Line 5"/>
          <p:cNvSpPr/>
          <p:nvPr/>
        </p:nvSpPr>
        <p:spPr>
          <a:xfrm>
            <a:off x="1962150" y="2133600"/>
            <a:ext cx="584200" cy="0"/>
          </a:xfrm>
          <a:prstGeom prst="line">
            <a:avLst/>
          </a:prstGeom>
          <a:ln w="25400" cap="flat" cmpd="sng">
            <a:solidFill>
              <a:schemeClr val="tx1"/>
            </a:solidFill>
            <a:prstDash val="solid"/>
            <a:bevel/>
            <a:headEnd type="none" w="med" len="med"/>
            <a:tailEnd type="none" w="med" len="med"/>
          </a:ln>
        </p:spPr>
      </p:sp>
      <p:sp>
        <p:nvSpPr>
          <p:cNvPr id="257030" name="Line 7"/>
          <p:cNvSpPr/>
          <p:nvPr/>
        </p:nvSpPr>
        <p:spPr>
          <a:xfrm>
            <a:off x="5003800" y="1700213"/>
            <a:ext cx="360363" cy="0"/>
          </a:xfrm>
          <a:prstGeom prst="line">
            <a:avLst/>
          </a:prstGeom>
          <a:ln w="25400" cap="flat" cmpd="sng">
            <a:solidFill>
              <a:schemeClr val="tx1"/>
            </a:solidFill>
            <a:prstDash val="solid"/>
            <a:bevel/>
            <a:headEnd type="none" w="med" len="med"/>
            <a:tailEnd type="none" w="med" len="med"/>
          </a:ln>
        </p:spPr>
      </p:sp>
      <p:grpSp>
        <p:nvGrpSpPr>
          <p:cNvPr id="257031" name="Group 8"/>
          <p:cNvGrpSpPr/>
          <p:nvPr/>
        </p:nvGrpSpPr>
        <p:grpSpPr>
          <a:xfrm>
            <a:off x="1547813" y="4076700"/>
            <a:ext cx="5934075" cy="1147763"/>
            <a:chOff x="0" y="0"/>
            <a:chExt cx="3738" cy="723"/>
          </a:xfrm>
        </p:grpSpPr>
        <p:sp>
          <p:nvSpPr>
            <p:cNvPr id="257053" name="Rectangle 9"/>
            <p:cNvSpPr/>
            <p:nvPr/>
          </p:nvSpPr>
          <p:spPr>
            <a:xfrm>
              <a:off x="3019" y="119"/>
              <a:ext cx="514" cy="174"/>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dirty="0">
                  <a:solidFill>
                    <a:srgbClr val="000000"/>
                  </a:solidFill>
                  <a:latin typeface="宋体" panose="02010600030101010101" pitchFamily="2" charset="-122"/>
                  <a:ea typeface="楷体_GB2312"/>
                </a:rPr>
                <a:t>范   围</a:t>
              </a:r>
              <a:endParaRPr lang="zh-CN" altLang="en-US" sz="1800" dirty="0">
                <a:solidFill>
                  <a:schemeClr val="tx1"/>
                </a:solidFill>
                <a:ea typeface="楷体_GB2312"/>
              </a:endParaRPr>
            </a:p>
          </p:txBody>
        </p:sp>
        <p:sp>
          <p:nvSpPr>
            <p:cNvPr id="257054" name="Rectangle 10"/>
            <p:cNvSpPr/>
            <p:nvPr/>
          </p:nvSpPr>
          <p:spPr>
            <a:xfrm>
              <a:off x="6" y="107"/>
              <a:ext cx="2774" cy="173"/>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dirty="0">
                  <a:solidFill>
                    <a:srgbClr val="000000"/>
                  </a:solidFill>
                  <a:latin typeface="宋体" panose="02010600030101010101" pitchFamily="2" charset="-122"/>
                  <a:ea typeface="楷体_GB2312"/>
                </a:rPr>
                <a:t>A15A14A13A12A11A10A9A8A7A6A5A4A3A2A1A0</a:t>
              </a:r>
              <a:endParaRPr lang="en-US" altLang="zh-CN" sz="1800" dirty="0">
                <a:solidFill>
                  <a:schemeClr val="tx1"/>
                </a:solidFill>
                <a:ea typeface="楷体_GB2312"/>
              </a:endParaRPr>
            </a:p>
          </p:txBody>
        </p:sp>
        <p:sp>
          <p:nvSpPr>
            <p:cNvPr id="257055" name="Rectangle 11"/>
            <p:cNvSpPr/>
            <p:nvPr/>
          </p:nvSpPr>
          <p:spPr>
            <a:xfrm>
              <a:off x="3222" y="215"/>
              <a:ext cx="516" cy="174"/>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dirty="0">
                  <a:solidFill>
                    <a:srgbClr val="000000"/>
                  </a:solidFill>
                  <a:latin typeface="Fixedsys" charset="-122"/>
                  <a:ea typeface="楷体_GB2312"/>
                </a:rPr>
                <a:t>       </a:t>
              </a:r>
              <a:endParaRPr lang="en-US" altLang="zh-CN" sz="1800" dirty="0">
                <a:solidFill>
                  <a:schemeClr val="tx1"/>
                </a:solidFill>
                <a:ea typeface="楷体_GB2312"/>
              </a:endParaRPr>
            </a:p>
          </p:txBody>
        </p:sp>
        <p:sp>
          <p:nvSpPr>
            <p:cNvPr id="257056" name="Line 12"/>
            <p:cNvSpPr/>
            <p:nvPr/>
          </p:nvSpPr>
          <p:spPr>
            <a:xfrm>
              <a:off x="0" y="6"/>
              <a:ext cx="3652" cy="1"/>
            </a:xfrm>
            <a:prstGeom prst="line">
              <a:avLst/>
            </a:prstGeom>
            <a:ln w="19050" cap="flat" cmpd="sng">
              <a:solidFill>
                <a:srgbClr val="000000"/>
              </a:solidFill>
              <a:prstDash val="solid"/>
              <a:bevel/>
              <a:headEnd type="none" w="med" len="med"/>
              <a:tailEnd type="none" w="med" len="med"/>
            </a:ln>
          </p:spPr>
        </p:sp>
        <p:sp>
          <p:nvSpPr>
            <p:cNvPr id="257057" name="Line 13"/>
            <p:cNvSpPr/>
            <p:nvPr/>
          </p:nvSpPr>
          <p:spPr>
            <a:xfrm>
              <a:off x="2797" y="6"/>
              <a:ext cx="1" cy="716"/>
            </a:xfrm>
            <a:prstGeom prst="line">
              <a:avLst/>
            </a:prstGeom>
            <a:ln w="19050" cap="flat" cmpd="sng">
              <a:solidFill>
                <a:srgbClr val="000000"/>
              </a:solidFill>
              <a:prstDash val="solid"/>
              <a:bevel/>
              <a:headEnd type="none" w="med" len="med"/>
              <a:tailEnd type="none" w="med" len="med"/>
            </a:ln>
          </p:spPr>
        </p:sp>
        <p:sp>
          <p:nvSpPr>
            <p:cNvPr id="257058" name="Line 14"/>
            <p:cNvSpPr/>
            <p:nvPr/>
          </p:nvSpPr>
          <p:spPr>
            <a:xfrm flipH="1">
              <a:off x="0" y="722"/>
              <a:ext cx="3664" cy="1"/>
            </a:xfrm>
            <a:prstGeom prst="line">
              <a:avLst/>
            </a:prstGeom>
            <a:ln w="19050" cap="flat" cmpd="sng">
              <a:solidFill>
                <a:srgbClr val="000000"/>
              </a:solidFill>
              <a:prstDash val="solid"/>
              <a:bevel/>
              <a:headEnd type="none" w="med" len="med"/>
              <a:tailEnd type="none" w="med" len="med"/>
            </a:ln>
          </p:spPr>
        </p:sp>
        <p:sp>
          <p:nvSpPr>
            <p:cNvPr id="257059" name="Rectangle 15"/>
            <p:cNvSpPr/>
            <p:nvPr/>
          </p:nvSpPr>
          <p:spPr>
            <a:xfrm>
              <a:off x="0" y="471"/>
              <a:ext cx="2801" cy="174"/>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dirty="0">
                  <a:solidFill>
                    <a:srgbClr val="FF0000"/>
                  </a:solidFill>
                  <a:highlight>
                    <a:srgbClr val="00FFFF"/>
                  </a:highlight>
                  <a:latin typeface="宋体" panose="02010600030101010101" pitchFamily="2" charset="-122"/>
                  <a:ea typeface="楷体_GB2312"/>
                </a:rPr>
                <a:t>0  0  0  0</a:t>
              </a:r>
              <a:r>
                <a:rPr lang="en-US" altLang="zh-CN" sz="1800" dirty="0">
                  <a:solidFill>
                    <a:srgbClr val="FF0000"/>
                  </a:solidFill>
                  <a:latin typeface="宋体" panose="02010600030101010101" pitchFamily="2" charset="-122"/>
                  <a:ea typeface="楷体_GB2312"/>
                </a:rPr>
                <a:t>  </a:t>
              </a:r>
              <a:r>
                <a:rPr lang="en-US" altLang="zh-CN" sz="1800" dirty="0">
                  <a:solidFill>
                    <a:srgbClr val="FF0000"/>
                  </a:solidFill>
                  <a:highlight>
                    <a:srgbClr val="FFFF00"/>
                  </a:highlight>
                  <a:latin typeface="宋体" panose="02010600030101010101" pitchFamily="2" charset="-122"/>
                  <a:ea typeface="楷体_GB2312"/>
                </a:rPr>
                <a:t>0  0  0  0</a:t>
              </a:r>
              <a:r>
                <a:rPr lang="en-US" altLang="zh-CN" sz="1800" dirty="0">
                  <a:solidFill>
                    <a:srgbClr val="FF0000"/>
                  </a:solidFill>
                  <a:latin typeface="宋体" panose="02010600030101010101" pitchFamily="2" charset="-122"/>
                  <a:ea typeface="楷体_GB2312"/>
                </a:rPr>
                <a:t> </a:t>
              </a:r>
              <a:r>
                <a:rPr lang="en-US" altLang="zh-CN" sz="1800" dirty="0">
                  <a:solidFill>
                    <a:srgbClr val="FF0000"/>
                  </a:solidFill>
                  <a:highlight>
                    <a:srgbClr val="008000"/>
                  </a:highlight>
                  <a:latin typeface="宋体" panose="02010600030101010101" pitchFamily="2" charset="-122"/>
                  <a:ea typeface="楷体_GB2312"/>
                </a:rPr>
                <a:t>0 0 1 X</a:t>
              </a:r>
              <a:r>
                <a:rPr lang="en-US" altLang="zh-CN" sz="1800" dirty="0">
                  <a:solidFill>
                    <a:srgbClr val="FF0000"/>
                  </a:solidFill>
                  <a:latin typeface="宋体" panose="02010600030101010101" pitchFamily="2" charset="-122"/>
                  <a:ea typeface="楷体_GB2312"/>
                </a:rPr>
                <a:t> X X X X</a:t>
              </a:r>
              <a:endParaRPr lang="en-US" altLang="zh-CN" sz="1800" dirty="0">
                <a:solidFill>
                  <a:srgbClr val="FF0000"/>
                </a:solidFill>
                <a:ea typeface="楷体_GB2312"/>
              </a:endParaRPr>
            </a:p>
          </p:txBody>
        </p:sp>
        <p:sp>
          <p:nvSpPr>
            <p:cNvPr id="257060" name="Line 16"/>
            <p:cNvSpPr/>
            <p:nvPr/>
          </p:nvSpPr>
          <p:spPr>
            <a:xfrm>
              <a:off x="1605" y="0"/>
              <a:ext cx="1" cy="722"/>
            </a:xfrm>
            <a:prstGeom prst="line">
              <a:avLst/>
            </a:prstGeom>
            <a:ln w="0" cap="flat" cmpd="sng">
              <a:solidFill>
                <a:srgbClr val="000000"/>
              </a:solidFill>
              <a:prstDash val="sysDot"/>
              <a:bevel/>
              <a:headEnd type="none" w="med" len="med"/>
              <a:tailEnd type="none" w="med" len="med"/>
            </a:ln>
          </p:spPr>
        </p:sp>
        <p:sp>
          <p:nvSpPr>
            <p:cNvPr id="257061" name="Line 17"/>
            <p:cNvSpPr/>
            <p:nvPr/>
          </p:nvSpPr>
          <p:spPr>
            <a:xfrm>
              <a:off x="2041" y="6"/>
              <a:ext cx="1" cy="716"/>
            </a:xfrm>
            <a:prstGeom prst="line">
              <a:avLst/>
            </a:prstGeom>
            <a:ln w="0" cap="flat" cmpd="sng">
              <a:solidFill>
                <a:srgbClr val="000000"/>
              </a:solidFill>
              <a:prstDash val="sysDot"/>
              <a:bevel/>
              <a:headEnd type="none" w="med" len="med"/>
              <a:tailEnd type="none" w="med" len="med"/>
            </a:ln>
          </p:spPr>
        </p:sp>
        <p:sp>
          <p:nvSpPr>
            <p:cNvPr id="257062" name="Rectangle 18"/>
            <p:cNvSpPr/>
            <p:nvPr/>
          </p:nvSpPr>
          <p:spPr>
            <a:xfrm>
              <a:off x="2821" y="465"/>
              <a:ext cx="369" cy="174"/>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dirty="0">
                  <a:solidFill>
                    <a:srgbClr val="FF0000"/>
                  </a:solidFill>
                  <a:latin typeface="宋体" panose="02010600030101010101" pitchFamily="2" charset="-122"/>
                  <a:ea typeface="楷体_GB2312"/>
                </a:rPr>
                <a:t>0020H</a:t>
              </a:r>
              <a:endParaRPr lang="en-US" altLang="zh-CN" sz="1800" dirty="0">
                <a:solidFill>
                  <a:srgbClr val="FF0000"/>
                </a:solidFill>
                <a:ea typeface="楷体_GB2312"/>
              </a:endParaRPr>
            </a:p>
          </p:txBody>
        </p:sp>
        <p:sp>
          <p:nvSpPr>
            <p:cNvPr id="257063" name="Rectangle 19"/>
            <p:cNvSpPr/>
            <p:nvPr/>
          </p:nvSpPr>
          <p:spPr>
            <a:xfrm>
              <a:off x="3186" y="465"/>
              <a:ext cx="510" cy="173"/>
            </a:xfrm>
            <a:prstGeom prst="rect">
              <a:avLst/>
            </a:prstGeom>
            <a:no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dirty="0">
                  <a:solidFill>
                    <a:srgbClr val="FF0000"/>
                  </a:solidFill>
                  <a:latin typeface="宋体" panose="02010600030101010101" pitchFamily="2" charset="-122"/>
                  <a:ea typeface="楷体_GB2312"/>
                </a:rPr>
                <a:t>～</a:t>
              </a:r>
              <a:r>
                <a:rPr lang="en-US" altLang="zh-CN" sz="1800" dirty="0">
                  <a:solidFill>
                    <a:srgbClr val="FF0000"/>
                  </a:solidFill>
                  <a:latin typeface="宋体" panose="02010600030101010101" pitchFamily="2" charset="-122"/>
                  <a:ea typeface="楷体_GB2312"/>
                </a:rPr>
                <a:t>003FH</a:t>
              </a:r>
              <a:endParaRPr lang="en-US" altLang="zh-CN" sz="1800" dirty="0">
                <a:solidFill>
                  <a:srgbClr val="FF0000"/>
                </a:solidFill>
                <a:ea typeface="楷体_GB2312"/>
              </a:endParaRPr>
            </a:p>
          </p:txBody>
        </p:sp>
        <p:sp>
          <p:nvSpPr>
            <p:cNvPr id="257064" name="Line 20"/>
            <p:cNvSpPr/>
            <p:nvPr/>
          </p:nvSpPr>
          <p:spPr>
            <a:xfrm flipH="1">
              <a:off x="0" y="358"/>
              <a:ext cx="3658" cy="1"/>
            </a:xfrm>
            <a:prstGeom prst="line">
              <a:avLst/>
            </a:prstGeom>
            <a:ln w="19050" cap="flat" cmpd="sng">
              <a:solidFill>
                <a:srgbClr val="000000"/>
              </a:solidFill>
              <a:prstDash val="solid"/>
              <a:bevel/>
              <a:headEnd type="none" w="med" len="med"/>
              <a:tailEnd type="none" w="med" len="med"/>
            </a:ln>
          </p:spPr>
        </p:sp>
      </p:grpSp>
      <p:sp>
        <p:nvSpPr>
          <p:cNvPr id="257032" name="Rectangle 21"/>
          <p:cNvSpPr/>
          <p:nvPr/>
        </p:nvSpPr>
        <p:spPr>
          <a:xfrm>
            <a:off x="179388" y="4287838"/>
            <a:ext cx="882650" cy="369887"/>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dirty="0">
                <a:solidFill>
                  <a:schemeClr val="tx1"/>
                </a:solidFill>
                <a:ea typeface="楷体_GB2312"/>
              </a:rPr>
              <a:t>主芯片</a:t>
            </a:r>
            <a:endParaRPr lang="zh-CN" altLang="en-US" sz="1800" dirty="0">
              <a:solidFill>
                <a:schemeClr val="tx1"/>
              </a:solidFill>
              <a:ea typeface="楷体_GB2312"/>
            </a:endParaRPr>
          </a:p>
        </p:txBody>
      </p:sp>
      <p:grpSp>
        <p:nvGrpSpPr>
          <p:cNvPr id="257033" name="Group 36"/>
          <p:cNvGrpSpPr/>
          <p:nvPr/>
        </p:nvGrpSpPr>
        <p:grpSpPr>
          <a:xfrm>
            <a:off x="179388" y="5445125"/>
            <a:ext cx="7213600" cy="1147763"/>
            <a:chOff x="0" y="0"/>
            <a:chExt cx="4544" cy="723"/>
          </a:xfrm>
        </p:grpSpPr>
        <p:sp>
          <p:nvSpPr>
            <p:cNvPr id="257041" name="Rectangle 23"/>
            <p:cNvSpPr/>
            <p:nvPr/>
          </p:nvSpPr>
          <p:spPr>
            <a:xfrm>
              <a:off x="3867" y="119"/>
              <a:ext cx="509" cy="173"/>
            </a:xfrm>
            <a:prstGeom prst="rect">
              <a:avLst/>
            </a:prstGeom>
            <a:solidFill>
              <a:schemeClr val="bg1"/>
            </a:solid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dirty="0">
                  <a:solidFill>
                    <a:srgbClr val="000000"/>
                  </a:solidFill>
                  <a:latin typeface="宋体" panose="02010600030101010101" pitchFamily="2" charset="-122"/>
                  <a:ea typeface="楷体_GB2312"/>
                </a:rPr>
                <a:t>范   围</a:t>
              </a:r>
              <a:endParaRPr lang="zh-CN" altLang="en-US" sz="1800" dirty="0">
                <a:solidFill>
                  <a:schemeClr val="tx1"/>
                </a:solidFill>
                <a:ea typeface="楷体_GB2312"/>
              </a:endParaRPr>
            </a:p>
          </p:txBody>
        </p:sp>
        <p:sp>
          <p:nvSpPr>
            <p:cNvPr id="257042" name="Rectangle 24"/>
            <p:cNvSpPr/>
            <p:nvPr/>
          </p:nvSpPr>
          <p:spPr>
            <a:xfrm>
              <a:off x="854" y="107"/>
              <a:ext cx="2774" cy="173"/>
            </a:xfrm>
            <a:prstGeom prst="rect">
              <a:avLst/>
            </a:prstGeom>
            <a:solidFill>
              <a:schemeClr val="bg1"/>
            </a:solid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dirty="0">
                  <a:solidFill>
                    <a:srgbClr val="000000"/>
                  </a:solidFill>
                  <a:latin typeface="宋体" panose="02010600030101010101" pitchFamily="2" charset="-122"/>
                  <a:ea typeface="楷体_GB2312"/>
                </a:rPr>
                <a:t>A15A14A13A12A11A10A9A8A7A6A5A4A3A2A1A0</a:t>
              </a:r>
              <a:endParaRPr lang="en-US" altLang="zh-CN" sz="1800" dirty="0">
                <a:solidFill>
                  <a:schemeClr val="tx1"/>
                </a:solidFill>
                <a:ea typeface="楷体_GB2312"/>
              </a:endParaRPr>
            </a:p>
          </p:txBody>
        </p:sp>
        <p:sp>
          <p:nvSpPr>
            <p:cNvPr id="257043" name="Line 26"/>
            <p:cNvSpPr/>
            <p:nvPr/>
          </p:nvSpPr>
          <p:spPr>
            <a:xfrm>
              <a:off x="848" y="6"/>
              <a:ext cx="3652" cy="1"/>
            </a:xfrm>
            <a:prstGeom prst="line">
              <a:avLst/>
            </a:prstGeom>
            <a:ln w="19050" cap="flat" cmpd="sng">
              <a:solidFill>
                <a:srgbClr val="000000"/>
              </a:solidFill>
              <a:prstDash val="solid"/>
              <a:bevel/>
              <a:headEnd type="none" w="med" len="med"/>
              <a:tailEnd type="none" w="med" len="med"/>
            </a:ln>
          </p:spPr>
        </p:sp>
        <p:sp>
          <p:nvSpPr>
            <p:cNvPr id="257044" name="Line 27"/>
            <p:cNvSpPr/>
            <p:nvPr/>
          </p:nvSpPr>
          <p:spPr>
            <a:xfrm>
              <a:off x="3645" y="6"/>
              <a:ext cx="1" cy="716"/>
            </a:xfrm>
            <a:prstGeom prst="line">
              <a:avLst/>
            </a:prstGeom>
            <a:ln w="19050" cap="flat" cmpd="sng">
              <a:solidFill>
                <a:srgbClr val="000000"/>
              </a:solidFill>
              <a:prstDash val="solid"/>
              <a:bevel/>
              <a:headEnd type="none" w="med" len="med"/>
              <a:tailEnd type="none" w="med" len="med"/>
            </a:ln>
          </p:spPr>
        </p:sp>
        <p:sp>
          <p:nvSpPr>
            <p:cNvPr id="257045" name="Line 28"/>
            <p:cNvSpPr/>
            <p:nvPr/>
          </p:nvSpPr>
          <p:spPr>
            <a:xfrm flipH="1">
              <a:off x="848" y="722"/>
              <a:ext cx="3664" cy="1"/>
            </a:xfrm>
            <a:prstGeom prst="line">
              <a:avLst/>
            </a:prstGeom>
            <a:ln w="19050" cap="flat" cmpd="sng">
              <a:solidFill>
                <a:srgbClr val="000000"/>
              </a:solidFill>
              <a:prstDash val="solid"/>
              <a:bevel/>
              <a:headEnd type="none" w="med" len="med"/>
              <a:tailEnd type="none" w="med" len="med"/>
            </a:ln>
          </p:spPr>
        </p:sp>
        <p:sp>
          <p:nvSpPr>
            <p:cNvPr id="257046" name="Rectangle 29"/>
            <p:cNvSpPr/>
            <p:nvPr/>
          </p:nvSpPr>
          <p:spPr>
            <a:xfrm>
              <a:off x="848" y="471"/>
              <a:ext cx="2774" cy="173"/>
            </a:xfrm>
            <a:prstGeom prst="rect">
              <a:avLst/>
            </a:prstGeom>
            <a:solidFill>
              <a:schemeClr val="bg1"/>
            </a:solid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dirty="0">
                  <a:solidFill>
                    <a:srgbClr val="FF0000"/>
                  </a:solidFill>
                  <a:highlight>
                    <a:srgbClr val="00FFFF"/>
                  </a:highlight>
                  <a:latin typeface="宋体" panose="02010600030101010101" pitchFamily="2" charset="-122"/>
                  <a:ea typeface="楷体_GB2312"/>
                </a:rPr>
                <a:t>0  0  0  0</a:t>
              </a:r>
              <a:r>
                <a:rPr lang="en-US" altLang="zh-CN" sz="1800" dirty="0">
                  <a:solidFill>
                    <a:srgbClr val="FF0000"/>
                  </a:solidFill>
                  <a:latin typeface="宋体" panose="02010600030101010101" pitchFamily="2" charset="-122"/>
                  <a:ea typeface="楷体_GB2312"/>
                </a:rPr>
                <a:t>  </a:t>
              </a:r>
              <a:r>
                <a:rPr lang="en-US" altLang="zh-CN" sz="1800" dirty="0">
                  <a:solidFill>
                    <a:srgbClr val="FF0000"/>
                  </a:solidFill>
                  <a:highlight>
                    <a:srgbClr val="FFFF00"/>
                  </a:highlight>
                  <a:latin typeface="宋体" panose="02010600030101010101" pitchFamily="2" charset="-122"/>
                  <a:ea typeface="楷体_GB2312"/>
                </a:rPr>
                <a:t>0  0  0  0</a:t>
              </a:r>
              <a:r>
                <a:rPr lang="en-US" altLang="zh-CN" sz="1800" dirty="0">
                  <a:solidFill>
                    <a:srgbClr val="FF0000"/>
                  </a:solidFill>
                  <a:latin typeface="宋体" panose="02010600030101010101" pitchFamily="2" charset="-122"/>
                  <a:ea typeface="楷体_GB2312"/>
                </a:rPr>
                <a:t> </a:t>
              </a:r>
              <a:r>
                <a:rPr lang="en-US" altLang="zh-CN" sz="1800" dirty="0">
                  <a:solidFill>
                    <a:srgbClr val="FF0000"/>
                  </a:solidFill>
                  <a:highlight>
                    <a:srgbClr val="008000"/>
                  </a:highlight>
                  <a:latin typeface="宋体" panose="02010600030101010101" pitchFamily="2" charset="-122"/>
                  <a:ea typeface="楷体_GB2312"/>
                </a:rPr>
                <a:t>1 0 1 X</a:t>
              </a:r>
              <a:r>
                <a:rPr lang="en-US" altLang="zh-CN" sz="1800" dirty="0">
                  <a:solidFill>
                    <a:srgbClr val="FF0000"/>
                  </a:solidFill>
                  <a:latin typeface="宋体" panose="02010600030101010101" pitchFamily="2" charset="-122"/>
                  <a:ea typeface="楷体_GB2312"/>
                </a:rPr>
                <a:t> X X X X</a:t>
              </a:r>
              <a:endParaRPr lang="en-US" altLang="zh-CN" sz="1800" dirty="0">
                <a:solidFill>
                  <a:srgbClr val="FF0000"/>
                </a:solidFill>
                <a:ea typeface="楷体_GB2312"/>
              </a:endParaRPr>
            </a:p>
          </p:txBody>
        </p:sp>
        <p:sp>
          <p:nvSpPr>
            <p:cNvPr id="257047" name="Line 30"/>
            <p:cNvSpPr/>
            <p:nvPr/>
          </p:nvSpPr>
          <p:spPr>
            <a:xfrm>
              <a:off x="2453" y="0"/>
              <a:ext cx="1" cy="722"/>
            </a:xfrm>
            <a:prstGeom prst="line">
              <a:avLst/>
            </a:prstGeom>
            <a:ln w="0" cap="flat" cmpd="sng">
              <a:solidFill>
                <a:srgbClr val="000000"/>
              </a:solidFill>
              <a:prstDash val="sysDot"/>
              <a:bevel/>
              <a:headEnd type="none" w="med" len="med"/>
              <a:tailEnd type="none" w="med" len="med"/>
            </a:ln>
          </p:spPr>
        </p:sp>
        <p:sp>
          <p:nvSpPr>
            <p:cNvPr id="257048" name="Line 31"/>
            <p:cNvSpPr/>
            <p:nvPr/>
          </p:nvSpPr>
          <p:spPr>
            <a:xfrm>
              <a:off x="2889" y="6"/>
              <a:ext cx="1" cy="716"/>
            </a:xfrm>
            <a:prstGeom prst="line">
              <a:avLst/>
            </a:prstGeom>
            <a:ln w="0" cap="flat" cmpd="sng">
              <a:solidFill>
                <a:srgbClr val="000000"/>
              </a:solidFill>
              <a:prstDash val="sysDot"/>
              <a:bevel/>
              <a:headEnd type="none" w="med" len="med"/>
              <a:tailEnd type="none" w="med" len="med"/>
            </a:ln>
          </p:spPr>
        </p:sp>
        <p:sp>
          <p:nvSpPr>
            <p:cNvPr id="257049" name="Rectangle 32"/>
            <p:cNvSpPr/>
            <p:nvPr/>
          </p:nvSpPr>
          <p:spPr>
            <a:xfrm>
              <a:off x="3669" y="465"/>
              <a:ext cx="365" cy="173"/>
            </a:xfrm>
            <a:prstGeom prst="rect">
              <a:avLst/>
            </a:prstGeom>
            <a:solidFill>
              <a:schemeClr val="bg1"/>
            </a:solid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dirty="0">
                  <a:solidFill>
                    <a:srgbClr val="FF0000"/>
                  </a:solidFill>
                  <a:latin typeface="宋体" panose="02010600030101010101" pitchFamily="2" charset="-122"/>
                  <a:ea typeface="楷体_GB2312"/>
                </a:rPr>
                <a:t>00A0H</a:t>
              </a:r>
              <a:endParaRPr lang="en-US" altLang="zh-CN" sz="1800" dirty="0">
                <a:solidFill>
                  <a:srgbClr val="FF0000"/>
                </a:solidFill>
                <a:ea typeface="楷体_GB2312"/>
              </a:endParaRPr>
            </a:p>
          </p:txBody>
        </p:sp>
        <p:sp>
          <p:nvSpPr>
            <p:cNvPr id="257050" name="Rectangle 33"/>
            <p:cNvSpPr/>
            <p:nvPr/>
          </p:nvSpPr>
          <p:spPr>
            <a:xfrm>
              <a:off x="4034" y="465"/>
              <a:ext cx="510" cy="173"/>
            </a:xfrm>
            <a:prstGeom prst="rect">
              <a:avLst/>
            </a:prstGeom>
            <a:solidFill>
              <a:schemeClr val="bg1"/>
            </a:solidFill>
            <a:ln w="9525">
              <a:noFill/>
            </a:ln>
          </p:spPr>
          <p:txBody>
            <a:bodyPr wrap="none"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dirty="0">
                  <a:solidFill>
                    <a:srgbClr val="FF0000"/>
                  </a:solidFill>
                  <a:latin typeface="宋体" panose="02010600030101010101" pitchFamily="2" charset="-122"/>
                  <a:ea typeface="楷体_GB2312"/>
                </a:rPr>
                <a:t>～</a:t>
              </a:r>
              <a:r>
                <a:rPr lang="en-US" altLang="zh-CN" sz="1800" dirty="0">
                  <a:solidFill>
                    <a:srgbClr val="FF0000"/>
                  </a:solidFill>
                  <a:latin typeface="宋体" panose="02010600030101010101" pitchFamily="2" charset="-122"/>
                  <a:ea typeface="楷体_GB2312"/>
                </a:rPr>
                <a:t>00BFH</a:t>
              </a:r>
              <a:endParaRPr lang="en-US" altLang="zh-CN" sz="1800" dirty="0">
                <a:solidFill>
                  <a:srgbClr val="FF0000"/>
                </a:solidFill>
                <a:ea typeface="楷体_GB2312"/>
              </a:endParaRPr>
            </a:p>
          </p:txBody>
        </p:sp>
        <p:sp>
          <p:nvSpPr>
            <p:cNvPr id="257051" name="Line 34"/>
            <p:cNvSpPr/>
            <p:nvPr/>
          </p:nvSpPr>
          <p:spPr>
            <a:xfrm flipH="1">
              <a:off x="848" y="358"/>
              <a:ext cx="3658" cy="1"/>
            </a:xfrm>
            <a:prstGeom prst="line">
              <a:avLst/>
            </a:prstGeom>
            <a:ln w="19050" cap="flat" cmpd="sng">
              <a:solidFill>
                <a:srgbClr val="000000"/>
              </a:solidFill>
              <a:prstDash val="solid"/>
              <a:bevel/>
              <a:headEnd type="none" w="med" len="med"/>
              <a:tailEnd type="none" w="med" len="med"/>
            </a:ln>
          </p:spPr>
        </p:sp>
        <p:sp>
          <p:nvSpPr>
            <p:cNvPr id="257052" name="Rectangle 35"/>
            <p:cNvSpPr/>
            <p:nvPr/>
          </p:nvSpPr>
          <p:spPr>
            <a:xfrm>
              <a:off x="0" y="182"/>
              <a:ext cx="556" cy="233"/>
            </a:xfrm>
            <a:prstGeom prst="rect">
              <a:avLst/>
            </a:prstGeom>
            <a:solidFill>
              <a:schemeClr val="bg1"/>
            </a:solid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1800" dirty="0">
                  <a:solidFill>
                    <a:schemeClr val="tx1"/>
                  </a:solidFill>
                  <a:ea typeface="楷体_GB2312"/>
                </a:rPr>
                <a:t>从芯片</a:t>
              </a:r>
              <a:endParaRPr lang="zh-CN" altLang="en-US" sz="1800" dirty="0">
                <a:solidFill>
                  <a:schemeClr val="tx1"/>
                </a:solidFill>
                <a:ea typeface="楷体_GB2312"/>
              </a:endParaRPr>
            </a:p>
          </p:txBody>
        </p:sp>
      </p:grpSp>
      <p:sp>
        <p:nvSpPr>
          <p:cNvPr id="257034" name="Line 37"/>
          <p:cNvSpPr/>
          <p:nvPr/>
        </p:nvSpPr>
        <p:spPr>
          <a:xfrm>
            <a:off x="2411413" y="1687513"/>
            <a:ext cx="360362" cy="0"/>
          </a:xfrm>
          <a:prstGeom prst="line">
            <a:avLst/>
          </a:prstGeom>
          <a:ln w="25400" cap="flat" cmpd="sng">
            <a:solidFill>
              <a:schemeClr val="tx1"/>
            </a:solidFill>
            <a:prstDash val="solid"/>
            <a:bevel/>
            <a:headEnd type="none" w="med" len="med"/>
            <a:tailEnd type="none" w="med" len="med"/>
          </a:ln>
        </p:spPr>
      </p:sp>
      <p:sp>
        <p:nvSpPr>
          <p:cNvPr id="257035" name="Line 38"/>
          <p:cNvSpPr/>
          <p:nvPr/>
        </p:nvSpPr>
        <p:spPr>
          <a:xfrm>
            <a:off x="4572000" y="1692275"/>
            <a:ext cx="360363" cy="0"/>
          </a:xfrm>
          <a:prstGeom prst="line">
            <a:avLst/>
          </a:prstGeom>
          <a:ln w="25400" cap="flat" cmpd="sng">
            <a:solidFill>
              <a:schemeClr val="tx1"/>
            </a:solidFill>
            <a:prstDash val="solid"/>
            <a:bevel/>
            <a:headEnd type="none" w="med" len="med"/>
            <a:tailEnd type="none" w="med" len="med"/>
          </a:ln>
        </p:spPr>
      </p:sp>
      <p:sp>
        <p:nvSpPr>
          <p:cNvPr id="257036" name="Line 39"/>
          <p:cNvSpPr/>
          <p:nvPr/>
        </p:nvSpPr>
        <p:spPr>
          <a:xfrm>
            <a:off x="1962150" y="1687513"/>
            <a:ext cx="360363" cy="0"/>
          </a:xfrm>
          <a:prstGeom prst="line">
            <a:avLst/>
          </a:prstGeom>
          <a:ln w="25400" cap="flat" cmpd="sng">
            <a:solidFill>
              <a:schemeClr val="tx1"/>
            </a:solidFill>
            <a:prstDash val="solid"/>
            <a:bevel/>
            <a:headEnd type="none" w="med" len="med"/>
            <a:tailEnd type="none" w="med" len="med"/>
          </a:ln>
        </p:spPr>
      </p:sp>
      <p:sp>
        <p:nvSpPr>
          <p:cNvPr id="257037" name="Line 40"/>
          <p:cNvSpPr/>
          <p:nvPr/>
        </p:nvSpPr>
        <p:spPr>
          <a:xfrm>
            <a:off x="4211638" y="2565400"/>
            <a:ext cx="360362" cy="0"/>
          </a:xfrm>
          <a:prstGeom prst="line">
            <a:avLst/>
          </a:prstGeom>
          <a:ln w="25400" cap="flat" cmpd="sng">
            <a:solidFill>
              <a:schemeClr val="tx1"/>
            </a:solidFill>
            <a:prstDash val="solid"/>
            <a:bevel/>
            <a:headEnd type="none" w="med" len="med"/>
            <a:tailEnd type="none" w="med" len="med"/>
          </a:ln>
        </p:spPr>
      </p:sp>
      <p:sp>
        <p:nvSpPr>
          <p:cNvPr id="257038" name="Line 41"/>
          <p:cNvSpPr/>
          <p:nvPr/>
        </p:nvSpPr>
        <p:spPr>
          <a:xfrm>
            <a:off x="2124075" y="2997200"/>
            <a:ext cx="360363" cy="0"/>
          </a:xfrm>
          <a:prstGeom prst="line">
            <a:avLst/>
          </a:prstGeom>
          <a:ln w="25400" cap="flat" cmpd="sng">
            <a:solidFill>
              <a:schemeClr val="tx1"/>
            </a:solidFill>
            <a:prstDash val="solid"/>
            <a:bevel/>
            <a:headEnd type="none" w="med" len="med"/>
            <a:tailEnd type="none" w="med" len="med"/>
          </a:ln>
        </p:spPr>
      </p:sp>
      <p:sp>
        <p:nvSpPr>
          <p:cNvPr id="257039" name="Line 4"/>
          <p:cNvSpPr/>
          <p:nvPr/>
        </p:nvSpPr>
        <p:spPr>
          <a:xfrm>
            <a:off x="7481888" y="1687513"/>
            <a:ext cx="576262" cy="0"/>
          </a:xfrm>
          <a:prstGeom prst="line">
            <a:avLst/>
          </a:prstGeom>
          <a:ln w="25400" cap="flat" cmpd="sng">
            <a:solidFill>
              <a:schemeClr val="tx1"/>
            </a:solidFill>
            <a:prstDash val="solid"/>
            <a:bevel/>
            <a:headEnd type="none" w="med" len="med"/>
            <a:tailEnd type="none" w="med" len="med"/>
          </a:ln>
        </p:spPr>
      </p:sp>
      <p:sp>
        <p:nvSpPr>
          <p:cNvPr id="257040" name="文本框 1"/>
          <p:cNvSpPr txBox="1"/>
          <p:nvPr/>
        </p:nvSpPr>
        <p:spPr>
          <a:xfrm>
            <a:off x="7010400" y="3298825"/>
            <a:ext cx="1909763" cy="646113"/>
          </a:xfrm>
          <a:prstGeom prst="rect">
            <a:avLst/>
          </a:prstGeom>
          <a:solidFill>
            <a:srgbClr val="FFEC99"/>
          </a:solidFill>
          <a:ln w="2857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1800" b="0" dirty="0">
                <a:solidFill>
                  <a:srgbClr val="0070C0"/>
                </a:solidFill>
                <a:latin typeface="楷体_GB2312"/>
                <a:ea typeface="楷体_GB2312"/>
              </a:rPr>
              <a:t>A0</a:t>
            </a:r>
            <a:r>
              <a:rPr lang="zh-CN" altLang="en-US" sz="1800" b="0" dirty="0">
                <a:solidFill>
                  <a:srgbClr val="0070C0"/>
                </a:solidFill>
                <a:latin typeface="楷体_GB2312"/>
                <a:ea typeface="楷体_GB2312"/>
              </a:rPr>
              <a:t>接在</a:t>
            </a:r>
            <a:r>
              <a:rPr lang="en-US" altLang="zh-CN" sz="1800" b="0" dirty="0">
                <a:solidFill>
                  <a:srgbClr val="0070C0"/>
                </a:solidFill>
                <a:latin typeface="楷体_GB2312"/>
                <a:ea typeface="楷体_GB2312"/>
              </a:rPr>
              <a:t>8086</a:t>
            </a:r>
            <a:r>
              <a:rPr lang="zh-CN" altLang="en-US" sz="1800" b="0" dirty="0">
                <a:solidFill>
                  <a:srgbClr val="0070C0"/>
                </a:solidFill>
                <a:latin typeface="楷体_GB2312"/>
                <a:ea typeface="楷体_GB2312"/>
              </a:rPr>
              <a:t>的那根地址线上？？</a:t>
            </a:r>
            <a:endParaRPr lang="zh-CN" altLang="en-US" sz="1800" b="0" dirty="0">
              <a:solidFill>
                <a:srgbClr val="0070C0"/>
              </a:solidFill>
              <a:latin typeface="楷体_GB2312"/>
              <a:ea typeface="楷体_GB2312"/>
            </a:endParaRPr>
          </a:p>
        </p:txBody>
      </p:sp>
    </p:spTree>
  </p:cSld>
  <p:clrMapOvr>
    <a:masterClrMapping/>
  </p:clrMapOvr>
  <p:transition spd="slow">
    <p:zoom/>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8050" name="页脚占位符 5"/>
          <p:cNvSpPr txBox="1">
            <a:spLocks noGrp="1"/>
          </p:cNvSpPr>
          <p:nvPr/>
        </p:nvSpPr>
        <p:spPr>
          <a:xfrm>
            <a:off x="8604250" y="6381750"/>
            <a:ext cx="539750" cy="47625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fld id="{9A0DB2DC-4C9A-4742-B13C-FB6460FD3503}" type="slidenum">
              <a:rPr lang="en-US" altLang="zh-CN" sz="1400" b="0" dirty="0">
                <a:solidFill>
                  <a:srgbClr val="000000"/>
                </a:solidFill>
                <a:latin typeface="Tahoma" panose="020B0604030504040204" pitchFamily="34" charset="0"/>
                <a:ea typeface="楷体_GB2312"/>
              </a:rPr>
            </a:fld>
            <a:endParaRPr lang="en-US" altLang="zh-CN" sz="1400" b="0" dirty="0">
              <a:solidFill>
                <a:srgbClr val="000000"/>
              </a:solidFill>
              <a:latin typeface="Tahoma" panose="020B0604030504040204" pitchFamily="34" charset="0"/>
              <a:ea typeface="楷体_GB2312"/>
            </a:endParaRPr>
          </a:p>
        </p:txBody>
      </p:sp>
      <p:sp>
        <p:nvSpPr>
          <p:cNvPr id="258051" name="Rectangle 3"/>
          <p:cNvSpPr>
            <a:spLocks noGrp="1"/>
          </p:cNvSpPr>
          <p:nvPr>
            <p:ph type="body" sz="half" idx="4294967295"/>
          </p:nvPr>
        </p:nvSpPr>
        <p:spPr>
          <a:xfrm>
            <a:off x="792163" y="1268413"/>
            <a:ext cx="8351837" cy="5757862"/>
          </a:xfrm>
        </p:spPr>
        <p:txBody>
          <a:bodyPr vert="horz" wrap="square" lIns="91440" tIns="45720" rIns="91440" bIns="45720" anchor="t" anchorCtr="0"/>
          <a:lstStyle>
            <a:lvl1pPr lvl="0">
              <a:buClr>
                <a:schemeClr val="folHlink"/>
              </a:buClr>
              <a:buSzPct val="60000"/>
              <a:buFont typeface="Wingdings" panose="05000000000000000000" pitchFamily="2" charset="2"/>
              <a:defRPr sz="2400"/>
            </a:lvl1pPr>
            <a:lvl2pPr lvl="1">
              <a:buClr>
                <a:schemeClr val="hlink"/>
              </a:buClr>
              <a:buSzPct val="55000"/>
              <a:buFont typeface="Wingdings" panose="05000000000000000000" pitchFamily="2" charset="2"/>
              <a:defRPr sz="2000"/>
            </a:lvl2pPr>
            <a:lvl3pPr lvl="2">
              <a:buClr>
                <a:schemeClr val="folHlink"/>
              </a:buClr>
              <a:buSzPct val="50000"/>
              <a:buFont typeface="Wingdings" panose="05000000000000000000" pitchFamily="2" charset="2"/>
              <a:defRPr sz="1800"/>
            </a:lvl3pPr>
            <a:lvl4pPr lvl="3">
              <a:buClr>
                <a:schemeClr val="accent2"/>
              </a:buClr>
              <a:buSzPct val="55000"/>
              <a:buFont typeface="Wingdings" panose="05000000000000000000" pitchFamily="2" charset="2"/>
              <a:defRPr sz="1800"/>
            </a:lvl4pPr>
            <a:lvl5pPr lvl="4">
              <a:buClr>
                <a:schemeClr val="accent1"/>
              </a:buClr>
              <a:buSzPct val="50000"/>
              <a:buFont typeface="Wingdings" panose="05000000000000000000" pitchFamily="2" charset="2"/>
              <a:defRPr sz="1800"/>
            </a:lvl5pPr>
          </a:lstStyle>
          <a:p>
            <a:pPr marL="457200" lvl="1" indent="0">
              <a:buNone/>
            </a:pPr>
            <a:r>
              <a:rPr lang="zh-CN" altLang="en-US" sz="2800" dirty="0">
                <a:latin typeface="楷体_GB2312"/>
              </a:rPr>
              <a:t>例</a:t>
            </a:r>
            <a:r>
              <a:rPr lang="en-US" altLang="zh-CN" sz="2800" dirty="0">
                <a:latin typeface="楷体_GB2312"/>
              </a:rPr>
              <a:t>1</a:t>
            </a:r>
            <a:endParaRPr lang="en-US" altLang="zh-CN" sz="2800" dirty="0">
              <a:latin typeface="楷体_GB2312"/>
            </a:endParaRPr>
          </a:p>
          <a:p>
            <a:pPr marL="457200" lvl="1" indent="0">
              <a:buNone/>
            </a:pPr>
            <a:r>
              <a:rPr lang="zh-CN" altLang="en-US" sz="2400" dirty="0">
                <a:latin typeface="宋体" panose="02010600030101010101" pitchFamily="2" charset="-122"/>
              </a:rPr>
              <a:t>某系统分配给</a:t>
            </a:r>
            <a:r>
              <a:rPr lang="en-US" altLang="zh-CN" sz="2400" dirty="0">
                <a:latin typeface="宋体" panose="02010600030101010101" pitchFamily="2" charset="-122"/>
              </a:rPr>
              <a:t>8259A</a:t>
            </a:r>
            <a:r>
              <a:rPr lang="zh-CN" altLang="en-US" sz="2400" dirty="0">
                <a:latin typeface="宋体" panose="02010600030101010101" pitchFamily="2" charset="-122"/>
              </a:rPr>
              <a:t>的端口地址为</a:t>
            </a:r>
            <a:r>
              <a:rPr lang="en-US" altLang="zh-CN" sz="2400" dirty="0">
                <a:latin typeface="宋体" panose="02010600030101010101" pitchFamily="2" charset="-122"/>
              </a:rPr>
              <a:t>20H</a:t>
            </a:r>
            <a:r>
              <a:rPr lang="zh-CN" altLang="en-US" sz="2400" dirty="0">
                <a:latin typeface="宋体" panose="02010600030101010101" pitchFamily="2" charset="-122"/>
              </a:rPr>
              <a:t>和</a:t>
            </a:r>
            <a:r>
              <a:rPr lang="en-US" altLang="zh-CN" sz="2400" dirty="0">
                <a:latin typeface="宋体" panose="02010600030101010101" pitchFamily="2" charset="-122"/>
              </a:rPr>
              <a:t>21H</a:t>
            </a:r>
            <a:r>
              <a:rPr lang="zh-CN" altLang="en-US" sz="2400" dirty="0">
                <a:latin typeface="宋体" panose="02010600030101010101" pitchFamily="2" charset="-122"/>
              </a:rPr>
              <a:t>，中断类型号为</a:t>
            </a:r>
            <a:r>
              <a:rPr lang="en-US" altLang="zh-CN" sz="2400" dirty="0">
                <a:latin typeface="宋体" panose="02010600030101010101" pitchFamily="2" charset="-122"/>
              </a:rPr>
              <a:t>40H</a:t>
            </a:r>
            <a:r>
              <a:rPr lang="en-US" altLang="zh-CN" sz="1600" dirty="0"/>
              <a:t>～</a:t>
            </a:r>
            <a:r>
              <a:rPr lang="en-US" altLang="zh-CN" sz="2400" dirty="0">
                <a:latin typeface="宋体" panose="02010600030101010101" pitchFamily="2" charset="-122"/>
              </a:rPr>
              <a:t>47H</a:t>
            </a:r>
            <a:r>
              <a:rPr lang="zh-CN" altLang="en-US" sz="2400" dirty="0">
                <a:latin typeface="宋体" panose="02010600030101010101" pitchFamily="2" charset="-122"/>
              </a:rPr>
              <a:t>，初始化要求：高电平触发方式、缓冲器方式，中断结束采用</a:t>
            </a:r>
            <a:r>
              <a:rPr lang="en-US" altLang="zh-CN" sz="2400" dirty="0">
                <a:latin typeface="宋体" panose="02010600030101010101" pitchFamily="2" charset="-122"/>
              </a:rPr>
              <a:t>EOI</a:t>
            </a:r>
            <a:r>
              <a:rPr lang="zh-CN" altLang="en-US" sz="2400" dirty="0">
                <a:latin typeface="宋体" panose="02010600030101010101" pitchFamily="2" charset="-122"/>
              </a:rPr>
              <a:t>方式，采用全嵌套方式。</a:t>
            </a:r>
            <a:endParaRPr lang="zh-CN" altLang="en-US" sz="2200" dirty="0">
              <a:solidFill>
                <a:srgbClr val="9900FF"/>
              </a:solidFill>
              <a:latin typeface="宋体" panose="02010600030101010101" pitchFamily="2" charset="-122"/>
            </a:endParaRPr>
          </a:p>
          <a:p>
            <a:pPr lvl="2">
              <a:buClr>
                <a:srgbClr val="990000"/>
              </a:buClr>
              <a:buNone/>
            </a:pPr>
            <a:r>
              <a:rPr lang="zh-CN" altLang="en-US" sz="2200" dirty="0">
                <a:solidFill>
                  <a:srgbClr val="9900FF"/>
                </a:solidFill>
                <a:latin typeface="宋体" panose="02010600030101010101" pitchFamily="2" charset="-122"/>
              </a:rPr>
              <a:t>◆主程序初始化编程：</a:t>
            </a:r>
            <a:r>
              <a:rPr lang="zh-CN" altLang="en-US" sz="2200" dirty="0">
                <a:latin typeface="宋体" panose="02010600030101010101" pitchFamily="2" charset="-122"/>
              </a:rPr>
              <a:t>     </a:t>
            </a:r>
            <a:r>
              <a:rPr lang="zh-CN" altLang="en-US" sz="1600" dirty="0">
                <a:solidFill>
                  <a:srgbClr val="CC6600"/>
                </a:solidFill>
              </a:rPr>
              <a:t>◆</a:t>
            </a:r>
            <a:r>
              <a:rPr lang="zh-CN" altLang="en-US" sz="2200" dirty="0">
                <a:solidFill>
                  <a:srgbClr val="CC6600"/>
                </a:solidFill>
                <a:latin typeface="宋体" panose="02010600030101010101" pitchFamily="2" charset="-122"/>
              </a:rPr>
              <a:t>中断服务程序：</a:t>
            </a:r>
            <a:endParaRPr lang="zh-CN" altLang="en-US" sz="2200" dirty="0">
              <a:solidFill>
                <a:srgbClr val="CC6600"/>
              </a:solidFill>
              <a:latin typeface="宋体" panose="02010600030101010101" pitchFamily="2" charset="-122"/>
            </a:endParaRPr>
          </a:p>
          <a:p>
            <a:pPr lvl="2">
              <a:spcBef>
                <a:spcPct val="0"/>
              </a:spcBef>
              <a:buClr>
                <a:srgbClr val="990000"/>
              </a:buClr>
              <a:buNone/>
            </a:pPr>
            <a:r>
              <a:rPr lang="zh-CN" altLang="en-US" sz="2200" dirty="0">
                <a:latin typeface="宋体" panose="02010600030101010101" pitchFamily="2" charset="-122"/>
              </a:rPr>
              <a:t>  </a:t>
            </a:r>
            <a:r>
              <a:rPr lang="en-US" altLang="zh-CN" sz="2200" dirty="0">
                <a:latin typeface="宋体" panose="02010600030101010101" pitchFamily="2" charset="-122"/>
              </a:rPr>
              <a:t>......                  ......</a:t>
            </a:r>
            <a:endParaRPr lang="en-US" altLang="zh-CN" sz="2200" dirty="0">
              <a:latin typeface="宋体" panose="02010600030101010101" pitchFamily="2" charset="-122"/>
            </a:endParaRPr>
          </a:p>
          <a:p>
            <a:pPr lvl="2">
              <a:spcBef>
                <a:spcPct val="0"/>
              </a:spcBef>
              <a:buClr>
                <a:srgbClr val="990000"/>
              </a:buClr>
              <a:buNone/>
            </a:pPr>
            <a:r>
              <a:rPr lang="en-US" altLang="zh-CN" sz="2200" dirty="0">
                <a:latin typeface="宋体" panose="02010600030101010101" pitchFamily="2" charset="-122"/>
              </a:rPr>
              <a:t>  MOV  AL</a:t>
            </a:r>
            <a:r>
              <a:rPr lang="zh-CN" altLang="en-US" sz="2200" dirty="0">
                <a:latin typeface="宋体" panose="02010600030101010101" pitchFamily="2" charset="-122"/>
              </a:rPr>
              <a:t>，</a:t>
            </a:r>
            <a:r>
              <a:rPr lang="en-US" altLang="zh-CN" sz="2200" dirty="0">
                <a:latin typeface="宋体" panose="02010600030101010101" pitchFamily="2" charset="-122"/>
              </a:rPr>
              <a:t>1BH            MOV  AL</a:t>
            </a:r>
            <a:r>
              <a:rPr lang="zh-CN" altLang="en-US" sz="2200" dirty="0">
                <a:latin typeface="宋体" panose="02010600030101010101" pitchFamily="2" charset="-122"/>
              </a:rPr>
              <a:t>，</a:t>
            </a:r>
            <a:r>
              <a:rPr lang="en-US" altLang="zh-CN" sz="2200" dirty="0">
                <a:latin typeface="宋体" panose="02010600030101010101" pitchFamily="2" charset="-122"/>
              </a:rPr>
              <a:t>20H</a:t>
            </a:r>
            <a:endParaRPr lang="en-US" altLang="zh-CN" sz="2200" dirty="0">
              <a:latin typeface="宋体" panose="02010600030101010101" pitchFamily="2" charset="-122"/>
            </a:endParaRPr>
          </a:p>
          <a:p>
            <a:pPr lvl="2">
              <a:spcBef>
                <a:spcPct val="0"/>
              </a:spcBef>
              <a:buClr>
                <a:srgbClr val="990000"/>
              </a:buClr>
              <a:buNone/>
            </a:pPr>
            <a:r>
              <a:rPr lang="en-US" altLang="zh-CN" sz="2200" dirty="0">
                <a:latin typeface="宋体" panose="02010600030101010101" pitchFamily="2" charset="-122"/>
              </a:rPr>
              <a:t>  OUT  20H</a:t>
            </a:r>
            <a:r>
              <a:rPr lang="zh-CN" altLang="en-US" sz="2200" dirty="0">
                <a:latin typeface="宋体" panose="02010600030101010101" pitchFamily="2" charset="-122"/>
              </a:rPr>
              <a:t>，</a:t>
            </a:r>
            <a:r>
              <a:rPr lang="en-US" altLang="zh-CN" sz="2200" dirty="0">
                <a:latin typeface="宋体" panose="02010600030101010101" pitchFamily="2" charset="-122"/>
              </a:rPr>
              <a:t>AL            OUT  20H</a:t>
            </a:r>
            <a:r>
              <a:rPr lang="zh-CN" altLang="en-US" sz="2200" dirty="0">
                <a:latin typeface="宋体" panose="02010600030101010101" pitchFamily="2" charset="-122"/>
              </a:rPr>
              <a:t>，</a:t>
            </a:r>
            <a:r>
              <a:rPr lang="en-US" altLang="zh-CN" sz="2200" dirty="0">
                <a:latin typeface="宋体" panose="02010600030101010101" pitchFamily="2" charset="-122"/>
              </a:rPr>
              <a:t>AL</a:t>
            </a:r>
            <a:endParaRPr lang="en-US" altLang="zh-CN" sz="2200" dirty="0">
              <a:latin typeface="宋体" panose="02010600030101010101" pitchFamily="2" charset="-122"/>
            </a:endParaRPr>
          </a:p>
          <a:p>
            <a:pPr lvl="2">
              <a:spcBef>
                <a:spcPct val="0"/>
              </a:spcBef>
              <a:buClr>
                <a:srgbClr val="990000"/>
              </a:buClr>
              <a:buNone/>
            </a:pPr>
            <a:r>
              <a:rPr lang="en-US" altLang="zh-CN" sz="2200" dirty="0">
                <a:latin typeface="宋体" panose="02010600030101010101" pitchFamily="2" charset="-122"/>
              </a:rPr>
              <a:t>  MOV  AL</a:t>
            </a:r>
            <a:r>
              <a:rPr lang="zh-CN" altLang="en-US" sz="2200" dirty="0">
                <a:latin typeface="宋体" panose="02010600030101010101" pitchFamily="2" charset="-122"/>
              </a:rPr>
              <a:t>，</a:t>
            </a:r>
            <a:r>
              <a:rPr lang="en-US" altLang="zh-CN" sz="2200" dirty="0">
                <a:latin typeface="宋体" panose="02010600030101010101" pitchFamily="2" charset="-122"/>
              </a:rPr>
              <a:t>40H            IRET</a:t>
            </a:r>
            <a:endParaRPr lang="en-US" altLang="zh-CN" sz="2200" dirty="0">
              <a:latin typeface="宋体" panose="02010600030101010101" pitchFamily="2" charset="-122"/>
            </a:endParaRPr>
          </a:p>
          <a:p>
            <a:pPr lvl="2">
              <a:spcBef>
                <a:spcPct val="0"/>
              </a:spcBef>
              <a:buClr>
                <a:srgbClr val="990000"/>
              </a:buClr>
              <a:buNone/>
            </a:pPr>
            <a:r>
              <a:rPr lang="en-US" altLang="zh-CN" sz="2200" dirty="0">
                <a:latin typeface="宋体" panose="02010600030101010101" pitchFamily="2" charset="-122"/>
              </a:rPr>
              <a:t>  OUT  21H</a:t>
            </a:r>
            <a:r>
              <a:rPr lang="zh-CN" altLang="en-US" sz="2200" dirty="0">
                <a:latin typeface="宋体" panose="02010600030101010101" pitchFamily="2" charset="-122"/>
              </a:rPr>
              <a:t>，</a:t>
            </a:r>
            <a:r>
              <a:rPr lang="en-US" altLang="zh-CN" sz="2200" dirty="0">
                <a:latin typeface="宋体" panose="02010600030101010101" pitchFamily="2" charset="-122"/>
              </a:rPr>
              <a:t>AL</a:t>
            </a:r>
            <a:endParaRPr lang="en-US" altLang="zh-CN" sz="2200" dirty="0">
              <a:latin typeface="宋体" panose="02010600030101010101" pitchFamily="2" charset="-122"/>
            </a:endParaRPr>
          </a:p>
          <a:p>
            <a:pPr lvl="2">
              <a:spcBef>
                <a:spcPct val="0"/>
              </a:spcBef>
              <a:buClr>
                <a:srgbClr val="990000"/>
              </a:buClr>
              <a:buNone/>
            </a:pPr>
            <a:r>
              <a:rPr lang="en-US" altLang="zh-CN" sz="2200" dirty="0">
                <a:latin typeface="宋体" panose="02010600030101010101" pitchFamily="2" charset="-122"/>
              </a:rPr>
              <a:t>  MOV  AL</a:t>
            </a:r>
            <a:r>
              <a:rPr lang="zh-CN" altLang="en-US" sz="2200" dirty="0">
                <a:latin typeface="宋体" panose="02010600030101010101" pitchFamily="2" charset="-122"/>
              </a:rPr>
              <a:t>，</a:t>
            </a:r>
            <a:r>
              <a:rPr lang="en-US" altLang="zh-CN" sz="2200" dirty="0">
                <a:latin typeface="宋体" panose="02010600030101010101" pitchFamily="2" charset="-122"/>
              </a:rPr>
              <a:t>09H</a:t>
            </a:r>
            <a:endParaRPr lang="en-US" altLang="zh-CN" sz="2200" dirty="0">
              <a:latin typeface="宋体" panose="02010600030101010101" pitchFamily="2" charset="-122"/>
            </a:endParaRPr>
          </a:p>
          <a:p>
            <a:pPr lvl="2">
              <a:spcBef>
                <a:spcPct val="0"/>
              </a:spcBef>
              <a:buClr>
                <a:srgbClr val="990000"/>
              </a:buClr>
              <a:buNone/>
            </a:pPr>
            <a:r>
              <a:rPr lang="en-US" altLang="zh-CN" sz="2200" dirty="0">
                <a:latin typeface="宋体" panose="02010600030101010101" pitchFamily="2" charset="-122"/>
              </a:rPr>
              <a:t>  OUT  21H</a:t>
            </a:r>
            <a:r>
              <a:rPr lang="zh-CN" altLang="en-US" sz="2200" dirty="0">
                <a:latin typeface="宋体" panose="02010600030101010101" pitchFamily="2" charset="-122"/>
              </a:rPr>
              <a:t>，</a:t>
            </a:r>
            <a:r>
              <a:rPr lang="en-US" altLang="zh-CN" sz="2200" dirty="0">
                <a:latin typeface="宋体" panose="02010600030101010101" pitchFamily="2" charset="-122"/>
              </a:rPr>
              <a:t>AL</a:t>
            </a:r>
            <a:endParaRPr lang="en-US" altLang="zh-CN" sz="2200" dirty="0">
              <a:latin typeface="宋体" panose="02010600030101010101" pitchFamily="2" charset="-122"/>
            </a:endParaRPr>
          </a:p>
          <a:p>
            <a:pPr lvl="2">
              <a:spcBef>
                <a:spcPct val="0"/>
              </a:spcBef>
              <a:buClr>
                <a:srgbClr val="990000"/>
              </a:buClr>
              <a:buNone/>
            </a:pPr>
            <a:r>
              <a:rPr lang="en-US" altLang="zh-CN" sz="2200" dirty="0">
                <a:latin typeface="宋体" panose="02010600030101010101" pitchFamily="2" charset="-122"/>
              </a:rPr>
              <a:t>  ......</a:t>
            </a:r>
            <a:endParaRPr lang="en-US" altLang="zh-CN" sz="2200" dirty="0">
              <a:latin typeface="宋体" panose="02010600030101010101" pitchFamily="2" charset="-122"/>
            </a:endParaRPr>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9074" name="页脚占位符 5"/>
          <p:cNvSpPr txBox="1">
            <a:spLocks noGrp="1"/>
          </p:cNvSpPr>
          <p:nvPr/>
        </p:nvSpPr>
        <p:spPr>
          <a:xfrm>
            <a:off x="8604250" y="6381750"/>
            <a:ext cx="539750" cy="47625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fld id="{9A0DB2DC-4C9A-4742-B13C-FB6460FD3503}" type="slidenum">
              <a:rPr lang="en-US" altLang="zh-CN" sz="1400" b="0" dirty="0">
                <a:solidFill>
                  <a:srgbClr val="000000"/>
                </a:solidFill>
                <a:latin typeface="Tahoma" panose="020B0604030504040204" pitchFamily="34" charset="0"/>
                <a:ea typeface="楷体_GB2312"/>
              </a:rPr>
            </a:fld>
            <a:endParaRPr lang="en-US" altLang="zh-CN" sz="1400" b="0" dirty="0">
              <a:solidFill>
                <a:srgbClr val="000000"/>
              </a:solidFill>
              <a:latin typeface="Tahoma" panose="020B0604030504040204" pitchFamily="34" charset="0"/>
              <a:ea typeface="楷体_GB2312"/>
            </a:endParaRPr>
          </a:p>
        </p:txBody>
      </p:sp>
      <p:sp>
        <p:nvSpPr>
          <p:cNvPr id="259075" name="Rectangle 3"/>
          <p:cNvSpPr>
            <a:spLocks noGrp="1"/>
          </p:cNvSpPr>
          <p:nvPr>
            <p:ph type="body" sz="half" idx="4294967295"/>
          </p:nvPr>
        </p:nvSpPr>
        <p:spPr>
          <a:xfrm>
            <a:off x="522288" y="1268413"/>
            <a:ext cx="8351837" cy="5661025"/>
          </a:xfrm>
        </p:spPr>
        <p:txBody>
          <a:bodyPr vert="horz" wrap="square" lIns="91440" tIns="45720" rIns="91440" bIns="45720" anchor="t" anchorCtr="0"/>
          <a:lstStyle>
            <a:lvl1pPr lvl="0">
              <a:buClr>
                <a:schemeClr val="folHlink"/>
              </a:buClr>
              <a:buSzPct val="60000"/>
              <a:buFont typeface="Wingdings" panose="05000000000000000000" pitchFamily="2" charset="2"/>
              <a:defRPr sz="2400"/>
            </a:lvl1pPr>
            <a:lvl2pPr lvl="1">
              <a:buClr>
                <a:schemeClr val="hlink"/>
              </a:buClr>
              <a:buSzPct val="55000"/>
              <a:buFont typeface="Wingdings" panose="05000000000000000000" pitchFamily="2" charset="2"/>
              <a:defRPr sz="2000"/>
            </a:lvl2pPr>
            <a:lvl3pPr lvl="2">
              <a:buClr>
                <a:schemeClr val="folHlink"/>
              </a:buClr>
              <a:buSzPct val="50000"/>
              <a:buFont typeface="Wingdings" panose="05000000000000000000" pitchFamily="2" charset="2"/>
              <a:defRPr sz="1800"/>
            </a:lvl3pPr>
            <a:lvl4pPr lvl="3">
              <a:buClr>
                <a:schemeClr val="accent2"/>
              </a:buClr>
              <a:buSzPct val="55000"/>
              <a:buFont typeface="Wingdings" panose="05000000000000000000" pitchFamily="2" charset="2"/>
              <a:defRPr sz="1800"/>
            </a:lvl4pPr>
            <a:lvl5pPr lvl="4">
              <a:buClr>
                <a:schemeClr val="accent1"/>
              </a:buClr>
              <a:buSzPct val="50000"/>
              <a:buFont typeface="Wingdings" panose="05000000000000000000" pitchFamily="2" charset="2"/>
              <a:defRPr sz="1800"/>
            </a:lvl5pPr>
          </a:lstStyle>
          <a:p>
            <a:pPr marL="457200" lvl="1" indent="0">
              <a:lnSpc>
                <a:spcPct val="100000"/>
              </a:lnSpc>
              <a:buNone/>
            </a:pPr>
            <a:r>
              <a:rPr lang="zh-CN" altLang="en-US" sz="2800" dirty="0">
                <a:latin typeface="宋体" panose="02010600030101010101" pitchFamily="2" charset="-122"/>
              </a:rPr>
              <a:t>例</a:t>
            </a:r>
            <a:r>
              <a:rPr lang="en-US" altLang="zh-CN" sz="2800" dirty="0">
                <a:latin typeface="宋体" panose="02010600030101010101" pitchFamily="2" charset="-122"/>
              </a:rPr>
              <a:t>2</a:t>
            </a:r>
            <a:endParaRPr lang="en-US" altLang="zh-CN" sz="2800" dirty="0">
              <a:latin typeface="宋体" panose="02010600030101010101" pitchFamily="2" charset="-122"/>
            </a:endParaRPr>
          </a:p>
          <a:p>
            <a:pPr marL="457200" lvl="1" indent="0">
              <a:lnSpc>
                <a:spcPct val="100000"/>
              </a:lnSpc>
              <a:buNone/>
            </a:pPr>
            <a:r>
              <a:rPr lang="zh-CN" altLang="en-US" dirty="0">
                <a:latin typeface="楷体_GB2312"/>
              </a:rPr>
              <a:t>读</a:t>
            </a:r>
            <a:r>
              <a:rPr lang="en-US" altLang="zh-CN" dirty="0">
                <a:latin typeface="楷体_GB2312"/>
              </a:rPr>
              <a:t>8259A</a:t>
            </a:r>
            <a:r>
              <a:rPr lang="zh-CN" altLang="en-US" dirty="0">
                <a:latin typeface="楷体_GB2312"/>
              </a:rPr>
              <a:t>相关寄存器的内容。设</a:t>
            </a:r>
            <a:r>
              <a:rPr lang="en-US" altLang="zh-CN" dirty="0">
                <a:latin typeface="楷体_GB2312"/>
              </a:rPr>
              <a:t>8259A</a:t>
            </a:r>
            <a:r>
              <a:rPr lang="zh-CN" altLang="en-US" dirty="0">
                <a:latin typeface="楷体_GB2312"/>
              </a:rPr>
              <a:t>的端口地址为</a:t>
            </a:r>
            <a:r>
              <a:rPr lang="en-US" altLang="zh-CN" dirty="0">
                <a:latin typeface="楷体_GB2312"/>
              </a:rPr>
              <a:t>20H</a:t>
            </a:r>
            <a:r>
              <a:rPr lang="zh-CN" altLang="en-US" dirty="0">
                <a:latin typeface="楷体_GB2312"/>
              </a:rPr>
              <a:t>、</a:t>
            </a:r>
            <a:r>
              <a:rPr lang="en-US" altLang="zh-CN" dirty="0">
                <a:latin typeface="楷体_GB2312"/>
              </a:rPr>
              <a:t>21H</a:t>
            </a:r>
            <a:r>
              <a:rPr lang="zh-CN" altLang="en-US" dirty="0">
                <a:latin typeface="楷体_GB2312"/>
              </a:rPr>
              <a:t>，请读入</a:t>
            </a:r>
            <a:r>
              <a:rPr lang="en-US" altLang="zh-CN" dirty="0">
                <a:latin typeface="楷体_GB2312"/>
              </a:rPr>
              <a:t>IRR</a:t>
            </a:r>
            <a:r>
              <a:rPr lang="zh-CN" altLang="en-US" dirty="0">
                <a:latin typeface="楷体_GB2312"/>
              </a:rPr>
              <a:t>、</a:t>
            </a:r>
            <a:r>
              <a:rPr lang="en-US" altLang="zh-CN" dirty="0">
                <a:latin typeface="楷体_GB2312"/>
              </a:rPr>
              <a:t>ISR</a:t>
            </a:r>
            <a:r>
              <a:rPr lang="zh-CN" altLang="en-US" dirty="0">
                <a:latin typeface="楷体_GB2312"/>
              </a:rPr>
              <a:t>、</a:t>
            </a:r>
            <a:r>
              <a:rPr lang="en-US" altLang="zh-CN" dirty="0">
                <a:latin typeface="楷体_GB2312"/>
              </a:rPr>
              <a:t>IMR</a:t>
            </a:r>
            <a:r>
              <a:rPr lang="zh-CN" altLang="en-US" dirty="0">
                <a:latin typeface="楷体_GB2312"/>
              </a:rPr>
              <a:t>寄存器的内容，并相继保存在数据段</a:t>
            </a:r>
            <a:r>
              <a:rPr lang="en-US" altLang="zh-CN" dirty="0">
                <a:latin typeface="楷体_GB2312"/>
              </a:rPr>
              <a:t>2000H</a:t>
            </a:r>
            <a:r>
              <a:rPr lang="zh-CN" altLang="en-US" dirty="0">
                <a:latin typeface="楷体_GB2312"/>
              </a:rPr>
              <a:t>开始的内存单元中。</a:t>
            </a:r>
            <a:endParaRPr lang="zh-CN" altLang="en-US" dirty="0">
              <a:solidFill>
                <a:srgbClr val="9900FF"/>
              </a:solidFill>
              <a:latin typeface="楷体_GB2312"/>
            </a:endParaRPr>
          </a:p>
          <a:p>
            <a:pPr marL="457200" lvl="1" indent="0">
              <a:lnSpc>
                <a:spcPct val="100000"/>
              </a:lnSpc>
              <a:buNone/>
            </a:pPr>
            <a:r>
              <a:rPr lang="zh-CN" altLang="en-US" dirty="0">
                <a:latin typeface="楷体_GB2312"/>
              </a:rPr>
              <a:t>    </a:t>
            </a:r>
            <a:r>
              <a:rPr lang="en-US" altLang="zh-CN" dirty="0">
                <a:latin typeface="楷体_GB2312"/>
              </a:rPr>
              <a:t>MOV AL, 000</a:t>
            </a:r>
            <a:r>
              <a:rPr lang="en-US" altLang="zh-CN" dirty="0">
                <a:solidFill>
                  <a:srgbClr val="FF0066"/>
                </a:solidFill>
                <a:latin typeface="楷体_GB2312"/>
              </a:rPr>
              <a:t>01</a:t>
            </a:r>
            <a:r>
              <a:rPr lang="en-US" altLang="zh-CN" dirty="0">
                <a:latin typeface="楷体_GB2312"/>
              </a:rPr>
              <a:t>0</a:t>
            </a:r>
            <a:r>
              <a:rPr lang="en-US" altLang="zh-CN" dirty="0">
                <a:solidFill>
                  <a:srgbClr val="9900FF"/>
                </a:solidFill>
                <a:latin typeface="楷体_GB2312"/>
              </a:rPr>
              <a:t>10</a:t>
            </a:r>
            <a:r>
              <a:rPr lang="en-US" altLang="zh-CN" dirty="0">
                <a:latin typeface="楷体_GB2312"/>
              </a:rPr>
              <a:t>B        ;</a:t>
            </a:r>
            <a:r>
              <a:rPr lang="zh-CN" altLang="en-US" dirty="0">
                <a:latin typeface="楷体_GB2312"/>
              </a:rPr>
              <a:t>发</a:t>
            </a:r>
            <a:r>
              <a:rPr lang="en-US" altLang="zh-CN" dirty="0">
                <a:latin typeface="楷体_GB2312"/>
              </a:rPr>
              <a:t>OCW3,</a:t>
            </a:r>
            <a:r>
              <a:rPr lang="zh-CN" altLang="en-US" dirty="0">
                <a:latin typeface="楷体_GB2312"/>
              </a:rPr>
              <a:t>读取</a:t>
            </a:r>
            <a:r>
              <a:rPr lang="en-US" altLang="zh-CN" dirty="0">
                <a:latin typeface="楷体_GB2312"/>
              </a:rPr>
              <a:t>IRR</a:t>
            </a:r>
            <a:r>
              <a:rPr lang="zh-CN" altLang="en-US" dirty="0">
                <a:latin typeface="楷体_GB2312"/>
              </a:rPr>
              <a:t>命令</a:t>
            </a:r>
            <a:endParaRPr lang="zh-CN" altLang="en-US" dirty="0">
              <a:latin typeface="楷体_GB2312"/>
            </a:endParaRPr>
          </a:p>
          <a:p>
            <a:pPr marL="457200" lvl="1" indent="0">
              <a:lnSpc>
                <a:spcPct val="100000"/>
              </a:lnSpc>
              <a:buNone/>
            </a:pPr>
            <a:r>
              <a:rPr lang="zh-CN" altLang="en-US" dirty="0">
                <a:latin typeface="楷体_GB2312"/>
              </a:rPr>
              <a:t>    </a:t>
            </a:r>
            <a:r>
              <a:rPr lang="en-US" altLang="zh-CN" dirty="0">
                <a:solidFill>
                  <a:srgbClr val="993300"/>
                </a:solidFill>
                <a:latin typeface="楷体_GB2312"/>
              </a:rPr>
              <a:t>OUT  20H, AL</a:t>
            </a:r>
            <a:endParaRPr lang="en-US" altLang="zh-CN" dirty="0">
              <a:solidFill>
                <a:srgbClr val="993300"/>
              </a:solidFill>
              <a:latin typeface="楷体_GB2312"/>
            </a:endParaRPr>
          </a:p>
          <a:p>
            <a:pPr marL="457200" lvl="1" indent="0">
              <a:lnSpc>
                <a:spcPct val="100000"/>
              </a:lnSpc>
              <a:buNone/>
            </a:pPr>
            <a:r>
              <a:rPr lang="en-US" altLang="zh-CN" dirty="0">
                <a:solidFill>
                  <a:srgbClr val="993300"/>
                </a:solidFill>
                <a:latin typeface="楷体_GB2312"/>
              </a:rPr>
              <a:t>    </a:t>
            </a:r>
            <a:r>
              <a:rPr lang="en-US" altLang="zh-CN" dirty="0">
                <a:solidFill>
                  <a:srgbClr val="0000CC"/>
                </a:solidFill>
                <a:latin typeface="楷体_GB2312"/>
              </a:rPr>
              <a:t>IN  AL, 20H</a:t>
            </a:r>
            <a:r>
              <a:rPr lang="en-US" altLang="zh-CN" dirty="0">
                <a:latin typeface="楷体_GB2312"/>
              </a:rPr>
              <a:t>              ;</a:t>
            </a:r>
            <a:r>
              <a:rPr lang="zh-CN" altLang="en-US" dirty="0">
                <a:latin typeface="楷体_GB2312"/>
              </a:rPr>
              <a:t>读入并保存</a:t>
            </a:r>
            <a:r>
              <a:rPr lang="en-US" altLang="zh-CN" dirty="0">
                <a:latin typeface="楷体_GB2312"/>
              </a:rPr>
              <a:t>IRR</a:t>
            </a:r>
            <a:r>
              <a:rPr lang="zh-CN" altLang="en-US" dirty="0">
                <a:latin typeface="楷体_GB2312"/>
              </a:rPr>
              <a:t>的内容</a:t>
            </a:r>
            <a:endParaRPr lang="zh-CN" altLang="en-US" dirty="0">
              <a:latin typeface="楷体_GB2312"/>
            </a:endParaRPr>
          </a:p>
          <a:p>
            <a:pPr lvl="2">
              <a:lnSpc>
                <a:spcPct val="100000"/>
              </a:lnSpc>
              <a:buClr>
                <a:srgbClr val="990000"/>
              </a:buClr>
              <a:buNone/>
            </a:pPr>
            <a:r>
              <a:rPr lang="en-US" altLang="zh-CN" sz="2000" dirty="0">
                <a:latin typeface="楷体_GB2312"/>
              </a:rPr>
              <a:t>MOV [2000H], AL</a:t>
            </a:r>
            <a:endParaRPr lang="en-US" altLang="zh-CN" sz="2000" dirty="0">
              <a:latin typeface="楷体_GB2312"/>
            </a:endParaRPr>
          </a:p>
          <a:p>
            <a:pPr lvl="2">
              <a:lnSpc>
                <a:spcPct val="100000"/>
              </a:lnSpc>
              <a:buClr>
                <a:srgbClr val="990000"/>
              </a:buClr>
              <a:buNone/>
            </a:pPr>
            <a:r>
              <a:rPr lang="en-US" altLang="zh-CN" sz="2000" dirty="0">
                <a:latin typeface="楷体_GB2312"/>
              </a:rPr>
              <a:t>MOV AL,000</a:t>
            </a:r>
            <a:r>
              <a:rPr lang="en-US" altLang="zh-CN" sz="2000" dirty="0">
                <a:solidFill>
                  <a:srgbClr val="FF0066"/>
                </a:solidFill>
                <a:latin typeface="楷体_GB2312"/>
              </a:rPr>
              <a:t>01</a:t>
            </a:r>
            <a:r>
              <a:rPr lang="en-US" altLang="zh-CN" sz="2000" dirty="0">
                <a:latin typeface="楷体_GB2312"/>
              </a:rPr>
              <a:t>0</a:t>
            </a:r>
            <a:r>
              <a:rPr lang="en-US" altLang="zh-CN" sz="2000" dirty="0">
                <a:solidFill>
                  <a:srgbClr val="CC6600"/>
                </a:solidFill>
                <a:latin typeface="楷体_GB2312"/>
              </a:rPr>
              <a:t>11</a:t>
            </a:r>
            <a:r>
              <a:rPr lang="en-US" altLang="zh-CN" sz="2000" dirty="0">
                <a:latin typeface="楷体_GB2312"/>
              </a:rPr>
              <a:t>B         ;</a:t>
            </a:r>
            <a:r>
              <a:rPr lang="zh-CN" altLang="en-US" sz="2000" dirty="0">
                <a:latin typeface="楷体_GB2312"/>
              </a:rPr>
              <a:t>发</a:t>
            </a:r>
            <a:r>
              <a:rPr lang="en-US" altLang="zh-CN" sz="2000" dirty="0">
                <a:latin typeface="楷体_GB2312"/>
              </a:rPr>
              <a:t>OCW3,</a:t>
            </a:r>
            <a:r>
              <a:rPr lang="zh-CN" altLang="en-US" sz="2000" dirty="0">
                <a:latin typeface="楷体_GB2312"/>
              </a:rPr>
              <a:t>读取</a:t>
            </a:r>
            <a:r>
              <a:rPr lang="en-US" altLang="zh-CN" sz="2000" dirty="0">
                <a:latin typeface="楷体_GB2312"/>
              </a:rPr>
              <a:t>ISR</a:t>
            </a:r>
            <a:r>
              <a:rPr lang="zh-CN" altLang="en-US" sz="2000" dirty="0">
                <a:latin typeface="楷体_GB2312"/>
              </a:rPr>
              <a:t>命令</a:t>
            </a:r>
            <a:endParaRPr lang="zh-CN" altLang="en-US" sz="2000" dirty="0">
              <a:latin typeface="楷体_GB2312"/>
            </a:endParaRPr>
          </a:p>
          <a:p>
            <a:pPr lvl="2">
              <a:lnSpc>
                <a:spcPct val="100000"/>
              </a:lnSpc>
              <a:buClr>
                <a:srgbClr val="990000"/>
              </a:buClr>
              <a:buNone/>
            </a:pPr>
            <a:r>
              <a:rPr lang="en-US" altLang="zh-CN" sz="2000" dirty="0">
                <a:solidFill>
                  <a:srgbClr val="993300"/>
                </a:solidFill>
                <a:latin typeface="楷体_GB2312"/>
              </a:rPr>
              <a:t>OUT  20H, AL</a:t>
            </a:r>
            <a:endParaRPr lang="en-US" altLang="zh-CN" sz="2000" dirty="0">
              <a:solidFill>
                <a:srgbClr val="993300"/>
              </a:solidFill>
              <a:latin typeface="楷体_GB2312"/>
            </a:endParaRPr>
          </a:p>
          <a:p>
            <a:pPr lvl="2">
              <a:lnSpc>
                <a:spcPct val="100000"/>
              </a:lnSpc>
              <a:buClr>
                <a:srgbClr val="990000"/>
              </a:buClr>
              <a:buNone/>
            </a:pPr>
            <a:r>
              <a:rPr lang="en-US" altLang="zh-CN" sz="2000" dirty="0">
                <a:solidFill>
                  <a:srgbClr val="0000CC"/>
                </a:solidFill>
                <a:latin typeface="楷体_GB2312"/>
              </a:rPr>
              <a:t>IN  AL, 20H</a:t>
            </a:r>
            <a:r>
              <a:rPr lang="en-US" altLang="zh-CN" sz="2000" dirty="0">
                <a:latin typeface="楷体_GB2312"/>
              </a:rPr>
              <a:t>              ;</a:t>
            </a:r>
            <a:r>
              <a:rPr lang="zh-CN" altLang="en-US" sz="2000" dirty="0">
                <a:latin typeface="楷体_GB2312"/>
              </a:rPr>
              <a:t>读入并保存</a:t>
            </a:r>
            <a:r>
              <a:rPr lang="en-US" altLang="zh-CN" sz="2000" dirty="0">
                <a:latin typeface="楷体_GB2312"/>
              </a:rPr>
              <a:t>ISR</a:t>
            </a:r>
            <a:r>
              <a:rPr lang="zh-CN" altLang="en-US" sz="2000" dirty="0">
                <a:latin typeface="楷体_GB2312"/>
              </a:rPr>
              <a:t>的内容</a:t>
            </a:r>
            <a:endParaRPr lang="zh-CN" altLang="en-US" sz="2000" dirty="0">
              <a:latin typeface="楷体_GB2312"/>
            </a:endParaRPr>
          </a:p>
          <a:p>
            <a:pPr lvl="2">
              <a:lnSpc>
                <a:spcPct val="100000"/>
              </a:lnSpc>
              <a:buClr>
                <a:srgbClr val="990000"/>
              </a:buClr>
              <a:buNone/>
            </a:pPr>
            <a:r>
              <a:rPr lang="en-US" altLang="zh-CN" sz="2000" dirty="0">
                <a:latin typeface="楷体_GB2312"/>
              </a:rPr>
              <a:t>MOV [2001H], AL</a:t>
            </a:r>
            <a:endParaRPr lang="en-US" altLang="zh-CN" sz="2000" dirty="0">
              <a:latin typeface="楷体_GB2312"/>
            </a:endParaRPr>
          </a:p>
          <a:p>
            <a:pPr lvl="2">
              <a:lnSpc>
                <a:spcPct val="100000"/>
              </a:lnSpc>
              <a:buClr>
                <a:srgbClr val="990000"/>
              </a:buClr>
              <a:buNone/>
            </a:pPr>
            <a:r>
              <a:rPr lang="en-US" altLang="zh-CN" sz="2000" dirty="0">
                <a:solidFill>
                  <a:srgbClr val="0000CC"/>
                </a:solidFill>
                <a:latin typeface="楷体_GB2312"/>
              </a:rPr>
              <a:t>IN  AL, 21H</a:t>
            </a:r>
            <a:r>
              <a:rPr lang="en-US" altLang="zh-CN" sz="2000" dirty="0">
                <a:latin typeface="楷体_GB2312"/>
              </a:rPr>
              <a:t>              ;</a:t>
            </a:r>
            <a:r>
              <a:rPr lang="zh-CN" altLang="en-US" sz="2000" dirty="0">
                <a:latin typeface="楷体_GB2312"/>
              </a:rPr>
              <a:t>直接读入并保存</a:t>
            </a:r>
            <a:r>
              <a:rPr lang="en-US" altLang="zh-CN" sz="2000" dirty="0">
                <a:latin typeface="楷体_GB2312"/>
              </a:rPr>
              <a:t>IMR</a:t>
            </a:r>
            <a:r>
              <a:rPr lang="zh-CN" altLang="en-US" sz="2000" dirty="0">
                <a:latin typeface="楷体_GB2312"/>
              </a:rPr>
              <a:t>的内容</a:t>
            </a:r>
            <a:endParaRPr lang="zh-CN" altLang="en-US" sz="2000" dirty="0">
              <a:latin typeface="楷体_GB2312"/>
            </a:endParaRPr>
          </a:p>
          <a:p>
            <a:pPr lvl="2">
              <a:lnSpc>
                <a:spcPct val="100000"/>
              </a:lnSpc>
              <a:buClr>
                <a:srgbClr val="990000"/>
              </a:buClr>
              <a:buNone/>
            </a:pPr>
            <a:r>
              <a:rPr lang="en-US" altLang="zh-CN" sz="2000" dirty="0">
                <a:latin typeface="楷体_GB2312"/>
              </a:rPr>
              <a:t>MOV [2002H], AL</a:t>
            </a:r>
            <a:endParaRPr lang="en-US" altLang="zh-CN" sz="2000" dirty="0">
              <a:latin typeface="楷体_GB2312"/>
            </a:endParaRPr>
          </a:p>
        </p:txBody>
      </p:sp>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0098" name="Rectangle 3"/>
          <p:cNvSpPr>
            <a:spLocks noGrp="1"/>
          </p:cNvSpPr>
          <p:nvPr>
            <p:ph type="body" sz="half" idx="4294967295"/>
          </p:nvPr>
        </p:nvSpPr>
        <p:spPr>
          <a:xfrm>
            <a:off x="760413" y="1268413"/>
            <a:ext cx="8351837" cy="5757862"/>
          </a:xfrm>
        </p:spPr>
        <p:txBody>
          <a:bodyPr vert="horz" wrap="square" lIns="91440" tIns="45720" rIns="91440" bIns="45720" anchor="t" anchorCtr="0"/>
          <a:lstStyle>
            <a:lvl1pPr lvl="0">
              <a:buClr>
                <a:schemeClr val="folHlink"/>
              </a:buClr>
              <a:buSzPct val="60000"/>
              <a:buFont typeface="Wingdings" panose="05000000000000000000" pitchFamily="2" charset="2"/>
              <a:defRPr sz="2400"/>
            </a:lvl1pPr>
            <a:lvl2pPr lvl="1">
              <a:buClr>
                <a:schemeClr val="hlink"/>
              </a:buClr>
              <a:buSzPct val="55000"/>
              <a:buFont typeface="Wingdings" panose="05000000000000000000" pitchFamily="2" charset="2"/>
              <a:defRPr sz="2000"/>
            </a:lvl2pPr>
            <a:lvl3pPr lvl="2">
              <a:buClr>
                <a:schemeClr val="folHlink"/>
              </a:buClr>
              <a:buSzPct val="50000"/>
              <a:buFont typeface="Wingdings" panose="05000000000000000000" pitchFamily="2" charset="2"/>
              <a:defRPr sz="1800"/>
            </a:lvl3pPr>
            <a:lvl4pPr lvl="3">
              <a:buClr>
                <a:schemeClr val="accent2"/>
              </a:buClr>
              <a:buSzPct val="55000"/>
              <a:buFont typeface="Wingdings" panose="05000000000000000000" pitchFamily="2" charset="2"/>
              <a:defRPr sz="1800"/>
            </a:lvl4pPr>
            <a:lvl5pPr lvl="4">
              <a:buClr>
                <a:schemeClr val="accent1"/>
              </a:buClr>
              <a:buSzPct val="50000"/>
              <a:buFont typeface="Wingdings" panose="05000000000000000000" pitchFamily="2" charset="2"/>
              <a:defRPr sz="1800"/>
            </a:lvl5pPr>
          </a:lstStyle>
          <a:p>
            <a:pPr lvl="0"/>
            <a:r>
              <a:rPr lang="zh-CN" altLang="en-US" sz="2800" dirty="0">
                <a:solidFill>
                  <a:srgbClr val="262673"/>
                </a:solidFill>
                <a:latin typeface="宋体" panose="02010600030101010101" pitchFamily="2" charset="-122"/>
              </a:rPr>
              <a:t>例</a:t>
            </a:r>
            <a:r>
              <a:rPr lang="en-US" altLang="zh-CN" sz="2800" dirty="0">
                <a:solidFill>
                  <a:srgbClr val="262673"/>
                </a:solidFill>
                <a:latin typeface="宋体" panose="02010600030101010101" pitchFamily="2" charset="-122"/>
              </a:rPr>
              <a:t>3</a:t>
            </a:r>
            <a:endParaRPr lang="zh-CN" altLang="en-US" sz="2800" dirty="0">
              <a:solidFill>
                <a:srgbClr val="262673"/>
              </a:solidFill>
              <a:latin typeface="宋体" panose="02010600030101010101" pitchFamily="2" charset="-122"/>
            </a:endParaRPr>
          </a:p>
          <a:p>
            <a:pPr lvl="1"/>
            <a:r>
              <a:rPr lang="en-US" altLang="zh-CN" sz="2400" dirty="0">
                <a:latin typeface="宋体" panose="02010600030101010101" pitchFamily="2" charset="-122"/>
              </a:rPr>
              <a:t>【</a:t>
            </a:r>
            <a:r>
              <a:rPr lang="zh-CN" altLang="en-US" sz="2400" dirty="0">
                <a:latin typeface="宋体" panose="02010600030101010101" pitchFamily="2" charset="-122"/>
              </a:rPr>
              <a:t>例</a:t>
            </a:r>
            <a:r>
              <a:rPr lang="en-US" altLang="zh-CN" sz="2400" dirty="0">
                <a:latin typeface="宋体" panose="02010600030101010101" pitchFamily="2" charset="-122"/>
              </a:rPr>
              <a:t>】</a:t>
            </a:r>
            <a:r>
              <a:rPr lang="zh-CN" altLang="en-US" sz="2400" dirty="0">
                <a:latin typeface="宋体" panose="02010600030101010101" pitchFamily="2" charset="-122"/>
              </a:rPr>
              <a:t>某级联系统，从片INT引脚接到主片IR</a:t>
            </a:r>
            <a:r>
              <a:rPr lang="zh-CN" altLang="en-US" sz="2400" baseline="-10000" dirty="0">
                <a:latin typeface="宋体" panose="02010600030101010101" pitchFamily="2" charset="-122"/>
              </a:rPr>
              <a:t>5</a:t>
            </a:r>
            <a:r>
              <a:rPr lang="zh-CN" altLang="en-US" sz="2400" dirty="0">
                <a:latin typeface="宋体" panose="02010600030101010101" pitchFamily="2" charset="-122"/>
              </a:rPr>
              <a:t>引脚。</a:t>
            </a:r>
            <a:endParaRPr lang="zh-CN" altLang="en-US" sz="2400" dirty="0">
              <a:latin typeface="宋体" panose="02010600030101010101" pitchFamily="2" charset="-122"/>
            </a:endParaRPr>
          </a:p>
          <a:p>
            <a:pPr lvl="2">
              <a:buClr>
                <a:srgbClr val="990000"/>
              </a:buClr>
            </a:pPr>
            <a:r>
              <a:rPr lang="zh-CN" altLang="en-US" sz="2100" dirty="0">
                <a:solidFill>
                  <a:srgbClr val="CC6600"/>
                </a:solidFill>
                <a:latin typeface="宋体" panose="02010600030101010101" pitchFamily="2" charset="-122"/>
              </a:rPr>
              <a:t>主片：</a:t>
            </a:r>
            <a:r>
              <a:rPr lang="zh-CN" altLang="en-US" sz="2100" dirty="0">
                <a:latin typeface="宋体" panose="02010600030101010101" pitchFamily="2" charset="-122"/>
              </a:rPr>
              <a:t>IR</a:t>
            </a:r>
            <a:r>
              <a:rPr lang="zh-CN" altLang="en-US" sz="2100" baseline="-10000" dirty="0">
                <a:latin typeface="宋体" panose="02010600030101010101" pitchFamily="2" charset="-122"/>
              </a:rPr>
              <a:t>1</a:t>
            </a:r>
            <a:r>
              <a:rPr lang="zh-CN" altLang="en-US" sz="2100" dirty="0">
                <a:latin typeface="宋体" panose="02010600030101010101" pitchFamily="2" charset="-122"/>
              </a:rPr>
              <a:t>、IR</a:t>
            </a:r>
            <a:r>
              <a:rPr lang="zh-CN" altLang="en-US" sz="2100" baseline="-10000" dirty="0">
                <a:latin typeface="宋体" panose="02010600030101010101" pitchFamily="2" charset="-122"/>
              </a:rPr>
              <a:t>6</a:t>
            </a:r>
            <a:r>
              <a:rPr lang="zh-CN" altLang="en-US" sz="2100" dirty="0">
                <a:latin typeface="宋体" panose="02010600030101010101" pitchFamily="2" charset="-122"/>
              </a:rPr>
              <a:t>引入中断请求，中断类型号31H和36H。中断向量2000H</a:t>
            </a:r>
            <a:r>
              <a:rPr lang="en-US" altLang="zh-CN" sz="2100" dirty="0">
                <a:latin typeface="宋体" panose="02010600030101010101" pitchFamily="2" charset="-122"/>
              </a:rPr>
              <a:t>:</a:t>
            </a:r>
            <a:r>
              <a:rPr lang="zh-CN" altLang="en-US" sz="2100" dirty="0">
                <a:latin typeface="宋体" panose="02010600030101010101" pitchFamily="2" charset="-122"/>
              </a:rPr>
              <a:t>1000H和2000H</a:t>
            </a:r>
            <a:r>
              <a:rPr lang="en-US" altLang="zh-CN" sz="2100" dirty="0">
                <a:latin typeface="宋体" panose="02010600030101010101" pitchFamily="2" charset="-122"/>
              </a:rPr>
              <a:t>:</a:t>
            </a:r>
            <a:r>
              <a:rPr lang="zh-CN" altLang="en-US" sz="2100" dirty="0">
                <a:latin typeface="宋体" panose="02010600030101010101" pitchFamily="2" charset="-122"/>
              </a:rPr>
              <a:t>6000H。</a:t>
            </a:r>
            <a:endParaRPr lang="zh-CN" altLang="en-US" sz="2100" dirty="0">
              <a:latin typeface="宋体" panose="02010600030101010101" pitchFamily="2" charset="-122"/>
            </a:endParaRPr>
          </a:p>
          <a:p>
            <a:pPr lvl="2">
              <a:buClr>
                <a:srgbClr val="990000"/>
              </a:buClr>
            </a:pPr>
            <a:r>
              <a:rPr lang="zh-CN" altLang="en-US" sz="2100" dirty="0">
                <a:solidFill>
                  <a:srgbClr val="0000CC"/>
                </a:solidFill>
                <a:latin typeface="宋体" panose="02010600030101010101" pitchFamily="2" charset="-122"/>
              </a:rPr>
              <a:t>从片：</a:t>
            </a:r>
            <a:r>
              <a:rPr lang="zh-CN" altLang="en-US" sz="2100" dirty="0">
                <a:latin typeface="宋体" panose="02010600030101010101" pitchFamily="2" charset="-122"/>
              </a:rPr>
              <a:t>IR</a:t>
            </a:r>
            <a:r>
              <a:rPr lang="zh-CN" altLang="en-US" sz="2100" baseline="-10000" dirty="0">
                <a:latin typeface="宋体" panose="02010600030101010101" pitchFamily="2" charset="-122"/>
              </a:rPr>
              <a:t>4</a:t>
            </a:r>
            <a:r>
              <a:rPr lang="zh-CN" altLang="en-US" sz="2100" dirty="0">
                <a:latin typeface="宋体" panose="02010600030101010101" pitchFamily="2" charset="-122"/>
              </a:rPr>
              <a:t>、IR</a:t>
            </a:r>
            <a:r>
              <a:rPr lang="zh-CN" altLang="en-US" sz="2100" baseline="-10000" dirty="0">
                <a:latin typeface="宋体" panose="02010600030101010101" pitchFamily="2" charset="-122"/>
              </a:rPr>
              <a:t>5</a:t>
            </a:r>
            <a:r>
              <a:rPr lang="zh-CN" altLang="en-US" sz="2100" dirty="0">
                <a:latin typeface="宋体" panose="02010600030101010101" pitchFamily="2" charset="-122"/>
              </a:rPr>
              <a:t>引入中断请求，中断类型号44H和45H。向量3000H</a:t>
            </a:r>
            <a:r>
              <a:rPr lang="en-US" altLang="zh-CN" sz="2100" dirty="0">
                <a:latin typeface="宋体" panose="02010600030101010101" pitchFamily="2" charset="-122"/>
              </a:rPr>
              <a:t>:</a:t>
            </a:r>
            <a:r>
              <a:rPr lang="zh-CN" altLang="en-US" sz="2100" dirty="0">
                <a:latin typeface="宋体" panose="02010600030101010101" pitchFamily="2" charset="-122"/>
              </a:rPr>
              <a:t>3500H和3000H</a:t>
            </a:r>
            <a:r>
              <a:rPr lang="en-US" altLang="zh-CN" sz="2100" dirty="0">
                <a:latin typeface="宋体" panose="02010600030101010101" pitchFamily="2" charset="-122"/>
              </a:rPr>
              <a:t>:</a:t>
            </a:r>
            <a:r>
              <a:rPr lang="zh-CN" altLang="en-US" sz="2100" dirty="0">
                <a:latin typeface="宋体" panose="02010600030101010101" pitchFamily="2" charset="-122"/>
              </a:rPr>
              <a:t>4500H。</a:t>
            </a:r>
            <a:endParaRPr lang="zh-CN" altLang="en-US" sz="2100" dirty="0">
              <a:latin typeface="宋体" panose="02010600030101010101" pitchFamily="2" charset="-122"/>
            </a:endParaRPr>
          </a:p>
        </p:txBody>
      </p:sp>
      <p:graphicFrame>
        <p:nvGraphicFramePr>
          <p:cNvPr id="260099" name="Object 4"/>
          <p:cNvGraphicFramePr>
            <a:graphicFrameLocks noChangeAspect="1"/>
          </p:cNvGraphicFramePr>
          <p:nvPr/>
        </p:nvGraphicFramePr>
        <p:xfrm>
          <a:off x="1166813" y="3789363"/>
          <a:ext cx="7508875" cy="3095625"/>
        </p:xfrm>
        <a:graphic>
          <a:graphicData uri="http://schemas.openxmlformats.org/presentationml/2006/ole">
            <mc:AlternateContent xmlns:mc="http://schemas.openxmlformats.org/markup-compatibility/2006">
              <mc:Choice xmlns:v="urn:schemas-microsoft-com:vml" Requires="v">
                <p:oleObj spid="_x0000_s3086" name="" r:id="rId1" imgW="3505200" imgH="1668145" progId="">
                  <p:embed/>
                </p:oleObj>
              </mc:Choice>
              <mc:Fallback>
                <p:oleObj name="" r:id="rId1" imgW="3505200" imgH="1668145" progId="">
                  <p:embed/>
                  <p:pic>
                    <p:nvPicPr>
                      <p:cNvPr id="0" name="图片 3085"/>
                      <p:cNvPicPr/>
                      <p:nvPr/>
                    </p:nvPicPr>
                    <p:blipFill>
                      <a:blip r:embed="rId2"/>
                      <a:stretch>
                        <a:fillRect/>
                      </a:stretch>
                    </p:blipFill>
                    <p:spPr>
                      <a:xfrm>
                        <a:off x="1166813" y="3789363"/>
                        <a:ext cx="7508875" cy="3095625"/>
                      </a:xfrm>
                      <a:prstGeom prst="rect">
                        <a:avLst/>
                      </a:prstGeom>
                      <a:noFill/>
                      <a:ln w="38100">
                        <a:noFill/>
                        <a:miter/>
                      </a:ln>
                    </p:spPr>
                  </p:pic>
                </p:oleObj>
              </mc:Fallback>
            </mc:AlternateContent>
          </a:graphicData>
        </a:graphic>
      </p:graphicFrame>
      <p:sp>
        <p:nvSpPr>
          <p:cNvPr id="260100" name="Rectangle 6"/>
          <p:cNvSpPr/>
          <p:nvPr/>
        </p:nvSpPr>
        <p:spPr>
          <a:xfrm>
            <a:off x="2179638" y="6453188"/>
            <a:ext cx="1295400" cy="288925"/>
          </a:xfrm>
          <a:prstGeom prst="rect">
            <a:avLst/>
          </a:prstGeom>
          <a:noFill/>
          <a:ln w="25400" cap="flat" cmpd="sng">
            <a:solidFill>
              <a:srgbClr val="800080"/>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60101" name="Rectangle 7"/>
          <p:cNvSpPr/>
          <p:nvPr/>
        </p:nvSpPr>
        <p:spPr>
          <a:xfrm>
            <a:off x="6545263" y="6523038"/>
            <a:ext cx="1296987" cy="288925"/>
          </a:xfrm>
          <a:prstGeom prst="rect">
            <a:avLst/>
          </a:prstGeom>
          <a:noFill/>
          <a:ln w="25400" cap="flat" cmpd="sng">
            <a:solidFill>
              <a:srgbClr val="800080"/>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60102" name="Rectangle 8"/>
          <p:cNvSpPr/>
          <p:nvPr/>
        </p:nvSpPr>
        <p:spPr>
          <a:xfrm>
            <a:off x="6588125" y="5445125"/>
            <a:ext cx="215900" cy="431800"/>
          </a:xfrm>
          <a:prstGeom prst="rect">
            <a:avLst/>
          </a:prstGeom>
          <a:noFill/>
          <a:ln w="25400" cap="flat" cmpd="sng">
            <a:solidFill>
              <a:srgbClr val="FF0066"/>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60103" name="Rectangle 9"/>
          <p:cNvSpPr/>
          <p:nvPr/>
        </p:nvSpPr>
        <p:spPr>
          <a:xfrm>
            <a:off x="7753350" y="5445125"/>
            <a:ext cx="215900" cy="431800"/>
          </a:xfrm>
          <a:prstGeom prst="rect">
            <a:avLst/>
          </a:prstGeom>
          <a:noFill/>
          <a:ln w="25400" cap="flat" cmpd="sng">
            <a:solidFill>
              <a:srgbClr val="FF0066"/>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60104" name="Rectangle 10"/>
          <p:cNvSpPr/>
          <p:nvPr/>
        </p:nvSpPr>
        <p:spPr>
          <a:xfrm>
            <a:off x="6303963" y="5445125"/>
            <a:ext cx="215900" cy="431800"/>
          </a:xfrm>
          <a:prstGeom prst="rect">
            <a:avLst/>
          </a:prstGeom>
          <a:noFill/>
          <a:ln w="25400" cap="flat" cmpd="sng">
            <a:solidFill>
              <a:srgbClr val="FF0066"/>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60105" name="Rectangle 11"/>
          <p:cNvSpPr/>
          <p:nvPr/>
        </p:nvSpPr>
        <p:spPr>
          <a:xfrm>
            <a:off x="2894013" y="5373688"/>
            <a:ext cx="215900" cy="431800"/>
          </a:xfrm>
          <a:prstGeom prst="rect">
            <a:avLst/>
          </a:prstGeom>
          <a:noFill/>
          <a:ln w="25400" cap="flat" cmpd="sng">
            <a:solidFill>
              <a:srgbClr val="FF0066"/>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
        <p:nvSpPr>
          <p:cNvPr id="260106" name="Rectangle 12"/>
          <p:cNvSpPr/>
          <p:nvPr/>
        </p:nvSpPr>
        <p:spPr>
          <a:xfrm>
            <a:off x="2611438" y="5373688"/>
            <a:ext cx="215900" cy="431800"/>
          </a:xfrm>
          <a:prstGeom prst="rect">
            <a:avLst/>
          </a:prstGeom>
          <a:noFill/>
          <a:ln w="25400" cap="flat" cmpd="sng">
            <a:solidFill>
              <a:srgbClr val="FF0066"/>
            </a:solidFill>
            <a:prstDash val="solid"/>
            <a:miter/>
            <a:headEnd type="none" w="med" len="med"/>
            <a:tailEnd type="none" w="med" len="med"/>
          </a:ln>
        </p:spPr>
        <p:txBody>
          <a:bodyPr wrap="none" lIns="0" tIns="0" rIns="0" bIns="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zh-CN" sz="1800" b="0" dirty="0">
              <a:solidFill>
                <a:schemeClr val="tx1"/>
              </a:solidFill>
              <a:ea typeface="楷体_GB2312"/>
            </a:endParaRPr>
          </a:p>
        </p:txBody>
      </p:sp>
    </p:spTree>
  </p:cSld>
  <p:clrMapOvr>
    <a:masterClrMapping/>
  </p:clrMapOvr>
  <p:transition spd="slow">
    <p:zoom/>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1122" name="Rectangle 3"/>
          <p:cNvSpPr>
            <a:spLocks noGrp="1"/>
          </p:cNvSpPr>
          <p:nvPr>
            <p:ph type="body" sz="half" idx="4294967295"/>
          </p:nvPr>
        </p:nvSpPr>
        <p:spPr>
          <a:xfrm>
            <a:off x="792163" y="1916113"/>
            <a:ext cx="8351837" cy="5757862"/>
          </a:xfrm>
        </p:spPr>
        <p:txBody>
          <a:bodyPr vert="horz" wrap="square" lIns="91440" tIns="45720" rIns="91440" bIns="45720" anchor="t" anchorCtr="0"/>
          <a:lstStyle>
            <a:lvl1pPr lvl="0">
              <a:buClr>
                <a:schemeClr val="folHlink"/>
              </a:buClr>
              <a:buSzPct val="60000"/>
              <a:buFont typeface="Wingdings" panose="05000000000000000000" pitchFamily="2" charset="2"/>
              <a:defRPr sz="2400"/>
            </a:lvl1pPr>
            <a:lvl2pPr lvl="1">
              <a:buClr>
                <a:schemeClr val="hlink"/>
              </a:buClr>
              <a:buSzPct val="55000"/>
              <a:buFont typeface="Wingdings" panose="05000000000000000000" pitchFamily="2" charset="2"/>
              <a:defRPr sz="2000"/>
            </a:lvl2pPr>
            <a:lvl3pPr lvl="2">
              <a:buClr>
                <a:schemeClr val="folHlink"/>
              </a:buClr>
              <a:buSzPct val="50000"/>
              <a:buFont typeface="Wingdings" panose="05000000000000000000" pitchFamily="2" charset="2"/>
              <a:defRPr sz="1800"/>
            </a:lvl3pPr>
            <a:lvl4pPr lvl="3">
              <a:buClr>
                <a:schemeClr val="accent2"/>
              </a:buClr>
              <a:buSzPct val="55000"/>
              <a:buFont typeface="Wingdings" panose="05000000000000000000" pitchFamily="2" charset="2"/>
              <a:defRPr sz="1800"/>
            </a:lvl4pPr>
            <a:lvl5pPr lvl="4">
              <a:buClr>
                <a:schemeClr val="accent1"/>
              </a:buClr>
              <a:buSzPct val="50000"/>
              <a:buFont typeface="Wingdings" panose="05000000000000000000" pitchFamily="2" charset="2"/>
              <a:defRPr sz="1800"/>
            </a:lvl5pPr>
          </a:lstStyle>
          <a:p>
            <a:pPr lvl="1"/>
            <a:r>
              <a:rPr lang="zh-CN" altLang="en-US" sz="2400" dirty="0">
                <a:solidFill>
                  <a:srgbClr val="262673"/>
                </a:solidFill>
                <a:latin typeface="宋体" panose="02010600030101010101" pitchFamily="2" charset="-122"/>
              </a:rPr>
              <a:t>主片初始化</a:t>
            </a:r>
            <a:endParaRPr lang="zh-CN" altLang="en-US" sz="2400" dirty="0">
              <a:solidFill>
                <a:srgbClr val="262673"/>
              </a:solidFill>
              <a:latin typeface="宋体" panose="02010600030101010101" pitchFamily="2" charset="-122"/>
            </a:endParaRPr>
          </a:p>
          <a:p>
            <a:pPr lvl="1">
              <a:buNone/>
            </a:pPr>
            <a:r>
              <a:rPr lang="zh-CN" altLang="en-US" sz="2200" dirty="0">
                <a:latin typeface="Times New Roman" panose="02020603050405020304" pitchFamily="18" charset="0"/>
              </a:rPr>
              <a:t>   </a:t>
            </a:r>
            <a:r>
              <a:rPr lang="en-US" altLang="zh-CN" sz="2200" dirty="0">
                <a:latin typeface="Times New Roman" panose="02020603050405020304" pitchFamily="18" charset="0"/>
              </a:rPr>
              <a:t>MOV  AL</a:t>
            </a:r>
            <a:r>
              <a:rPr lang="zh-CN" altLang="en-US" sz="2200" dirty="0">
                <a:latin typeface="Times New Roman" panose="02020603050405020304" pitchFamily="18" charset="0"/>
              </a:rPr>
              <a:t>，</a:t>
            </a:r>
            <a:r>
              <a:rPr lang="en-US" altLang="zh-CN" sz="2200" dirty="0">
                <a:solidFill>
                  <a:srgbClr val="0000FF"/>
                </a:solidFill>
                <a:latin typeface="Times New Roman" panose="02020603050405020304" pitchFamily="18" charset="0"/>
              </a:rPr>
              <a:t>19</a:t>
            </a:r>
            <a:r>
              <a:rPr lang="en-US" altLang="zh-CN" sz="2200" dirty="0">
                <a:latin typeface="Times New Roman" panose="02020603050405020304" pitchFamily="18" charset="0"/>
              </a:rPr>
              <a:t>H    </a:t>
            </a:r>
            <a:r>
              <a:rPr lang="zh-CN" altLang="en-US" sz="2200" dirty="0">
                <a:latin typeface="Times New Roman" panose="02020603050405020304" pitchFamily="18" charset="0"/>
              </a:rPr>
              <a:t>；</a:t>
            </a:r>
            <a:r>
              <a:rPr lang="en-US" altLang="zh-CN" sz="2200" dirty="0">
                <a:latin typeface="Times New Roman" panose="02020603050405020304" pitchFamily="18" charset="0"/>
              </a:rPr>
              <a:t>ICW</a:t>
            </a:r>
            <a:r>
              <a:rPr lang="en-US" altLang="zh-CN" sz="2200" baseline="-10000" dirty="0">
                <a:latin typeface="Times New Roman" panose="02020603050405020304" pitchFamily="18" charset="0"/>
              </a:rPr>
              <a:t>1</a:t>
            </a:r>
            <a:r>
              <a:rPr lang="zh-CN" altLang="en-US" sz="2200" dirty="0">
                <a:latin typeface="Times New Roman" panose="02020603050405020304" pitchFamily="18" charset="0"/>
              </a:rPr>
              <a:t>：级联连接，高电平触发</a:t>
            </a:r>
            <a:endParaRPr lang="zh-CN" altLang="en-US" sz="2200" dirty="0">
              <a:latin typeface="Times New Roman" panose="02020603050405020304" pitchFamily="18" charset="0"/>
            </a:endParaRPr>
          </a:p>
          <a:p>
            <a:pPr lvl="1">
              <a:buNone/>
            </a:pPr>
            <a:r>
              <a:rPr lang="zh-CN" altLang="en-US" sz="2200" dirty="0">
                <a:latin typeface="Times New Roman" panose="02020603050405020304" pitchFamily="18" charset="0"/>
              </a:rPr>
              <a:t>   </a:t>
            </a:r>
            <a:r>
              <a:rPr lang="en-US" altLang="zh-CN" sz="2200" dirty="0">
                <a:latin typeface="Times New Roman" panose="02020603050405020304" pitchFamily="18" charset="0"/>
              </a:rPr>
              <a:t>OUT  80H</a:t>
            </a:r>
            <a:r>
              <a:rPr lang="zh-CN" altLang="en-US" sz="2200" dirty="0">
                <a:latin typeface="Times New Roman" panose="02020603050405020304" pitchFamily="18" charset="0"/>
              </a:rPr>
              <a:t>，</a:t>
            </a:r>
            <a:r>
              <a:rPr lang="en-US" altLang="zh-CN" sz="2200" dirty="0">
                <a:latin typeface="Times New Roman" panose="02020603050405020304" pitchFamily="18" charset="0"/>
              </a:rPr>
              <a:t>AL</a:t>
            </a:r>
            <a:endParaRPr lang="en-US" altLang="zh-CN" sz="2200" dirty="0">
              <a:latin typeface="Times New Roman" panose="02020603050405020304" pitchFamily="18" charset="0"/>
            </a:endParaRPr>
          </a:p>
          <a:p>
            <a:pPr lvl="1">
              <a:buNone/>
            </a:pPr>
            <a:r>
              <a:rPr lang="en-US" altLang="zh-CN" sz="2200" dirty="0">
                <a:latin typeface="Times New Roman" panose="02020603050405020304" pitchFamily="18" charset="0"/>
              </a:rPr>
              <a:t>   MOV  AL</a:t>
            </a:r>
            <a:r>
              <a:rPr lang="zh-CN" altLang="en-US" sz="2200" dirty="0">
                <a:latin typeface="Times New Roman" panose="02020603050405020304" pitchFamily="18" charset="0"/>
              </a:rPr>
              <a:t>，</a:t>
            </a:r>
            <a:r>
              <a:rPr lang="en-US" altLang="zh-CN" sz="2200" dirty="0">
                <a:solidFill>
                  <a:srgbClr val="9900FF"/>
                </a:solidFill>
                <a:latin typeface="Times New Roman" panose="02020603050405020304" pitchFamily="18" charset="0"/>
              </a:rPr>
              <a:t>30</a:t>
            </a:r>
            <a:r>
              <a:rPr lang="en-US" altLang="zh-CN" sz="2200" dirty="0">
                <a:latin typeface="Times New Roman" panose="02020603050405020304" pitchFamily="18" charset="0"/>
              </a:rPr>
              <a:t>H    </a:t>
            </a:r>
            <a:r>
              <a:rPr lang="zh-CN" altLang="en-US" sz="2200" dirty="0">
                <a:latin typeface="Times New Roman" panose="02020603050405020304" pitchFamily="18" charset="0"/>
              </a:rPr>
              <a:t>；</a:t>
            </a:r>
            <a:r>
              <a:rPr lang="en-US" altLang="zh-CN" sz="2200" dirty="0">
                <a:latin typeface="Times New Roman" panose="02020603050405020304" pitchFamily="18" charset="0"/>
              </a:rPr>
              <a:t>ICW</a:t>
            </a:r>
            <a:r>
              <a:rPr lang="en-US" altLang="zh-CN" sz="2200" baseline="-10000" dirty="0">
                <a:latin typeface="Times New Roman" panose="02020603050405020304" pitchFamily="18" charset="0"/>
              </a:rPr>
              <a:t>2</a:t>
            </a:r>
            <a:r>
              <a:rPr lang="zh-CN" altLang="en-US" sz="2200" dirty="0">
                <a:latin typeface="Times New Roman" panose="02020603050405020304" pitchFamily="18" charset="0"/>
              </a:rPr>
              <a:t>：中断类型号为</a:t>
            </a:r>
            <a:r>
              <a:rPr lang="en-US" altLang="zh-CN" sz="2200" dirty="0">
                <a:latin typeface="Times New Roman" panose="02020603050405020304" pitchFamily="18" charset="0"/>
              </a:rPr>
              <a:t>30H</a:t>
            </a:r>
            <a:endParaRPr lang="en-US" altLang="zh-CN" sz="2200" dirty="0">
              <a:latin typeface="Times New Roman" panose="02020603050405020304" pitchFamily="18" charset="0"/>
            </a:endParaRPr>
          </a:p>
          <a:p>
            <a:pPr lvl="1">
              <a:buNone/>
            </a:pPr>
            <a:r>
              <a:rPr lang="en-US" altLang="zh-CN" sz="2200" dirty="0">
                <a:latin typeface="Times New Roman" panose="02020603050405020304" pitchFamily="18" charset="0"/>
              </a:rPr>
              <a:t>   OUT  81H</a:t>
            </a:r>
            <a:r>
              <a:rPr lang="zh-CN" altLang="en-US" sz="2200" dirty="0">
                <a:latin typeface="Times New Roman" panose="02020603050405020304" pitchFamily="18" charset="0"/>
              </a:rPr>
              <a:t>，</a:t>
            </a:r>
            <a:r>
              <a:rPr lang="en-US" altLang="zh-CN" sz="2200" dirty="0">
                <a:latin typeface="Times New Roman" panose="02020603050405020304" pitchFamily="18" charset="0"/>
              </a:rPr>
              <a:t>AL</a:t>
            </a:r>
            <a:endParaRPr lang="en-US" altLang="zh-CN" sz="2200" dirty="0">
              <a:latin typeface="Times New Roman" panose="02020603050405020304" pitchFamily="18" charset="0"/>
            </a:endParaRPr>
          </a:p>
          <a:p>
            <a:pPr lvl="1">
              <a:buNone/>
            </a:pPr>
            <a:r>
              <a:rPr lang="en-US" altLang="zh-CN" sz="2200" dirty="0">
                <a:latin typeface="Times New Roman" panose="02020603050405020304" pitchFamily="18" charset="0"/>
              </a:rPr>
              <a:t>   MOV  AL</a:t>
            </a:r>
            <a:r>
              <a:rPr lang="zh-CN" altLang="en-US" sz="2200" dirty="0">
                <a:latin typeface="Times New Roman" panose="02020603050405020304" pitchFamily="18" charset="0"/>
              </a:rPr>
              <a:t>，</a:t>
            </a:r>
            <a:r>
              <a:rPr lang="en-US" altLang="zh-CN" sz="2200" dirty="0">
                <a:solidFill>
                  <a:schemeClr val="hlink"/>
                </a:solidFill>
                <a:latin typeface="Times New Roman" panose="02020603050405020304" pitchFamily="18" charset="0"/>
              </a:rPr>
              <a:t>20</a:t>
            </a:r>
            <a:r>
              <a:rPr lang="en-US" altLang="zh-CN" sz="2200" dirty="0">
                <a:latin typeface="Times New Roman" panose="02020603050405020304" pitchFamily="18" charset="0"/>
              </a:rPr>
              <a:t>H    </a:t>
            </a:r>
            <a:r>
              <a:rPr lang="zh-CN" altLang="en-US" sz="2200" dirty="0">
                <a:latin typeface="Times New Roman" panose="02020603050405020304" pitchFamily="18" charset="0"/>
              </a:rPr>
              <a:t>；</a:t>
            </a:r>
            <a:r>
              <a:rPr lang="en-US" altLang="zh-CN" sz="2200" dirty="0">
                <a:latin typeface="Times New Roman" panose="02020603050405020304" pitchFamily="18" charset="0"/>
              </a:rPr>
              <a:t>ICW</a:t>
            </a:r>
            <a:r>
              <a:rPr lang="en-US" altLang="zh-CN" sz="2200" baseline="-10000" dirty="0">
                <a:latin typeface="Times New Roman" panose="02020603050405020304" pitchFamily="18" charset="0"/>
              </a:rPr>
              <a:t>3</a:t>
            </a:r>
            <a:r>
              <a:rPr lang="zh-CN" altLang="en-US" sz="2200" dirty="0">
                <a:latin typeface="Times New Roman" panose="02020603050405020304" pitchFamily="18" charset="0"/>
              </a:rPr>
              <a:t>：从片连接在</a:t>
            </a:r>
            <a:r>
              <a:rPr lang="en-US" altLang="zh-CN" sz="2200" dirty="0">
                <a:latin typeface="Times New Roman" panose="02020603050405020304" pitchFamily="18" charset="0"/>
              </a:rPr>
              <a:t>IR</a:t>
            </a:r>
            <a:r>
              <a:rPr lang="en-US" altLang="zh-CN" sz="2200" baseline="-10000" dirty="0">
                <a:latin typeface="Times New Roman" panose="02020603050405020304" pitchFamily="18" charset="0"/>
              </a:rPr>
              <a:t>5</a:t>
            </a:r>
            <a:r>
              <a:rPr lang="zh-CN" altLang="en-US" sz="2200" dirty="0">
                <a:latin typeface="Times New Roman" panose="02020603050405020304" pitchFamily="18" charset="0"/>
              </a:rPr>
              <a:t>引脚</a:t>
            </a:r>
            <a:endParaRPr lang="zh-CN" altLang="en-US" sz="2200" dirty="0">
              <a:latin typeface="Times New Roman" panose="02020603050405020304" pitchFamily="18" charset="0"/>
            </a:endParaRPr>
          </a:p>
          <a:p>
            <a:pPr lvl="1">
              <a:buNone/>
            </a:pPr>
            <a:r>
              <a:rPr lang="zh-CN" altLang="en-US" sz="2200" dirty="0">
                <a:latin typeface="Times New Roman" panose="02020603050405020304" pitchFamily="18" charset="0"/>
              </a:rPr>
              <a:t>   </a:t>
            </a:r>
            <a:r>
              <a:rPr lang="en-US" altLang="zh-CN" sz="2200" dirty="0">
                <a:latin typeface="Times New Roman" panose="02020603050405020304" pitchFamily="18" charset="0"/>
              </a:rPr>
              <a:t>OUT  81H</a:t>
            </a:r>
            <a:r>
              <a:rPr lang="zh-CN" altLang="en-US" sz="2200" dirty="0">
                <a:latin typeface="Times New Roman" panose="02020603050405020304" pitchFamily="18" charset="0"/>
              </a:rPr>
              <a:t>，</a:t>
            </a:r>
            <a:r>
              <a:rPr lang="en-US" altLang="zh-CN" sz="2200" dirty="0">
                <a:latin typeface="Times New Roman" panose="02020603050405020304" pitchFamily="18" charset="0"/>
              </a:rPr>
              <a:t>AL</a:t>
            </a:r>
            <a:endParaRPr lang="en-US" altLang="zh-CN" sz="2200" dirty="0">
              <a:latin typeface="Times New Roman" panose="02020603050405020304" pitchFamily="18" charset="0"/>
            </a:endParaRPr>
          </a:p>
          <a:p>
            <a:pPr lvl="1">
              <a:buNone/>
            </a:pPr>
            <a:r>
              <a:rPr lang="en-US" altLang="zh-CN" sz="2200" dirty="0">
                <a:latin typeface="Times New Roman" panose="02020603050405020304" pitchFamily="18" charset="0"/>
              </a:rPr>
              <a:t>   MOV  AL</a:t>
            </a:r>
            <a:r>
              <a:rPr lang="zh-CN" altLang="en-US" sz="2200" dirty="0">
                <a:latin typeface="Times New Roman" panose="02020603050405020304" pitchFamily="18" charset="0"/>
              </a:rPr>
              <a:t>，</a:t>
            </a:r>
            <a:r>
              <a:rPr lang="en-US" altLang="zh-CN" sz="2200" dirty="0">
                <a:solidFill>
                  <a:srgbClr val="990000"/>
                </a:solidFill>
                <a:latin typeface="Times New Roman" panose="02020603050405020304" pitchFamily="18" charset="0"/>
              </a:rPr>
              <a:t>11</a:t>
            </a:r>
            <a:r>
              <a:rPr lang="en-US" altLang="zh-CN" sz="2200" dirty="0">
                <a:latin typeface="Times New Roman" panose="02020603050405020304" pitchFamily="18" charset="0"/>
              </a:rPr>
              <a:t>H    </a:t>
            </a:r>
            <a:r>
              <a:rPr lang="zh-CN" altLang="en-US" sz="2200" dirty="0">
                <a:latin typeface="Times New Roman" panose="02020603050405020304" pitchFamily="18" charset="0"/>
              </a:rPr>
              <a:t>；</a:t>
            </a:r>
            <a:r>
              <a:rPr lang="en-US" altLang="zh-CN" sz="2200" dirty="0">
                <a:latin typeface="Times New Roman" panose="02020603050405020304" pitchFamily="18" charset="0"/>
              </a:rPr>
              <a:t>ICW</a:t>
            </a:r>
            <a:r>
              <a:rPr lang="en-US" altLang="zh-CN" sz="2200" baseline="-10000" dirty="0">
                <a:latin typeface="Times New Roman" panose="02020603050405020304" pitchFamily="18" charset="0"/>
              </a:rPr>
              <a:t>4</a:t>
            </a:r>
            <a:r>
              <a:rPr lang="zh-CN" altLang="en-US" sz="2200" dirty="0">
                <a:latin typeface="Times New Roman" panose="02020603050405020304" pitchFamily="18" charset="0"/>
              </a:rPr>
              <a:t>：特殊全嵌套方式，非缓冲方式</a:t>
            </a:r>
            <a:endParaRPr lang="zh-CN" altLang="en-US" sz="2200" dirty="0">
              <a:latin typeface="Times New Roman" panose="02020603050405020304" pitchFamily="18" charset="0"/>
            </a:endParaRPr>
          </a:p>
          <a:p>
            <a:pPr lvl="1">
              <a:buNone/>
            </a:pPr>
            <a:r>
              <a:rPr lang="zh-CN" altLang="en-US" sz="2200" dirty="0">
                <a:latin typeface="Times New Roman" panose="02020603050405020304" pitchFamily="18" charset="0"/>
              </a:rPr>
              <a:t>   </a:t>
            </a:r>
            <a:r>
              <a:rPr lang="en-US" altLang="zh-CN" sz="2200" dirty="0">
                <a:latin typeface="Times New Roman" panose="02020603050405020304" pitchFamily="18" charset="0"/>
              </a:rPr>
              <a:t>OUT  81H</a:t>
            </a:r>
            <a:r>
              <a:rPr lang="zh-CN" altLang="en-US" sz="2200" dirty="0">
                <a:latin typeface="Times New Roman" panose="02020603050405020304" pitchFamily="18" charset="0"/>
              </a:rPr>
              <a:t>，</a:t>
            </a:r>
            <a:r>
              <a:rPr lang="en-US" altLang="zh-CN" sz="2200" dirty="0">
                <a:latin typeface="Times New Roman" panose="02020603050405020304" pitchFamily="18" charset="0"/>
              </a:rPr>
              <a:t>AL</a:t>
            </a:r>
            <a:endParaRPr lang="en-US" altLang="zh-CN" sz="2200" dirty="0">
              <a:latin typeface="Times New Roman" panose="02020603050405020304" pitchFamily="18" charset="0"/>
            </a:endParaRPr>
          </a:p>
          <a:p>
            <a:pPr lvl="1">
              <a:buNone/>
            </a:pPr>
            <a:r>
              <a:rPr lang="en-US" altLang="zh-CN" sz="2200" dirty="0">
                <a:latin typeface="Times New Roman" panose="02020603050405020304" pitchFamily="18" charset="0"/>
              </a:rPr>
              <a:t>   MOV  AL</a:t>
            </a:r>
            <a:r>
              <a:rPr lang="zh-CN" altLang="en-US" sz="2200" dirty="0">
                <a:latin typeface="Times New Roman" panose="02020603050405020304" pitchFamily="18" charset="0"/>
              </a:rPr>
              <a:t>，</a:t>
            </a:r>
            <a:r>
              <a:rPr lang="en-US" altLang="zh-CN" sz="2200" dirty="0">
                <a:solidFill>
                  <a:srgbClr val="CC6600"/>
                </a:solidFill>
                <a:latin typeface="Times New Roman" panose="02020603050405020304" pitchFamily="18" charset="0"/>
              </a:rPr>
              <a:t>9D</a:t>
            </a:r>
            <a:r>
              <a:rPr lang="en-US" altLang="zh-CN" sz="2200" dirty="0">
                <a:latin typeface="Times New Roman" panose="02020603050405020304" pitchFamily="18" charset="0"/>
              </a:rPr>
              <a:t>H    </a:t>
            </a:r>
            <a:r>
              <a:rPr lang="zh-CN" altLang="en-US" sz="2200" dirty="0">
                <a:latin typeface="Times New Roman" panose="02020603050405020304" pitchFamily="18" charset="0"/>
              </a:rPr>
              <a:t>；</a:t>
            </a:r>
            <a:r>
              <a:rPr lang="en-US" altLang="zh-CN" sz="2200" dirty="0">
                <a:latin typeface="Times New Roman" panose="02020603050405020304" pitchFamily="18" charset="0"/>
              </a:rPr>
              <a:t>OCW</a:t>
            </a:r>
            <a:r>
              <a:rPr lang="en-US" altLang="zh-CN" sz="2200" baseline="-10000" dirty="0">
                <a:latin typeface="Times New Roman" panose="02020603050405020304" pitchFamily="18" charset="0"/>
              </a:rPr>
              <a:t>1</a:t>
            </a:r>
            <a:r>
              <a:rPr lang="zh-CN" altLang="en-US" sz="2200" dirty="0">
                <a:latin typeface="Times New Roman" panose="02020603050405020304" pitchFamily="18" charset="0"/>
              </a:rPr>
              <a:t>：允许</a:t>
            </a:r>
            <a:r>
              <a:rPr lang="en-US" altLang="zh-CN" sz="2200" dirty="0">
                <a:latin typeface="Times New Roman" panose="02020603050405020304" pitchFamily="18" charset="0"/>
              </a:rPr>
              <a:t>IR</a:t>
            </a:r>
            <a:r>
              <a:rPr lang="en-US" altLang="zh-CN" sz="2200" baseline="-10000" dirty="0">
                <a:latin typeface="Times New Roman" panose="02020603050405020304" pitchFamily="18" charset="0"/>
              </a:rPr>
              <a:t>1</a:t>
            </a:r>
            <a:r>
              <a:rPr lang="zh-CN" altLang="en-US" sz="2200" dirty="0">
                <a:latin typeface="Times New Roman" panose="02020603050405020304" pitchFamily="18" charset="0"/>
              </a:rPr>
              <a:t>、</a:t>
            </a:r>
            <a:r>
              <a:rPr lang="en-US" altLang="zh-CN" sz="2200" dirty="0">
                <a:latin typeface="Times New Roman" panose="02020603050405020304" pitchFamily="18" charset="0"/>
              </a:rPr>
              <a:t>IR</a:t>
            </a:r>
            <a:r>
              <a:rPr lang="en-US" altLang="zh-CN" sz="2200" baseline="-10000" dirty="0">
                <a:latin typeface="Times New Roman" panose="02020603050405020304" pitchFamily="18" charset="0"/>
              </a:rPr>
              <a:t>5</a:t>
            </a:r>
            <a:r>
              <a:rPr lang="zh-CN" altLang="en-US" sz="2200" dirty="0">
                <a:latin typeface="Times New Roman" panose="02020603050405020304" pitchFamily="18" charset="0"/>
              </a:rPr>
              <a:t>和</a:t>
            </a:r>
            <a:r>
              <a:rPr lang="en-US" altLang="zh-CN" sz="2200" dirty="0">
                <a:latin typeface="Times New Roman" panose="02020603050405020304" pitchFamily="18" charset="0"/>
              </a:rPr>
              <a:t>IR</a:t>
            </a:r>
            <a:r>
              <a:rPr lang="en-US" altLang="zh-CN" sz="2200" baseline="-10000" dirty="0">
                <a:latin typeface="Times New Roman" panose="02020603050405020304" pitchFamily="18" charset="0"/>
              </a:rPr>
              <a:t>6</a:t>
            </a:r>
            <a:r>
              <a:rPr lang="zh-CN" altLang="en-US" sz="2200" dirty="0">
                <a:latin typeface="Times New Roman" panose="02020603050405020304" pitchFamily="18" charset="0"/>
              </a:rPr>
              <a:t>中断</a:t>
            </a:r>
            <a:endParaRPr lang="zh-CN" altLang="en-US" sz="2200" dirty="0">
              <a:latin typeface="Times New Roman" panose="02020603050405020304" pitchFamily="18" charset="0"/>
            </a:endParaRPr>
          </a:p>
          <a:p>
            <a:pPr lvl="1">
              <a:buNone/>
            </a:pPr>
            <a:r>
              <a:rPr lang="zh-CN" altLang="en-US" sz="2200" dirty="0">
                <a:latin typeface="Times New Roman" panose="02020603050405020304" pitchFamily="18" charset="0"/>
              </a:rPr>
              <a:t>   </a:t>
            </a:r>
            <a:r>
              <a:rPr lang="en-US" altLang="zh-CN" sz="2200" dirty="0">
                <a:latin typeface="Times New Roman" panose="02020603050405020304" pitchFamily="18" charset="0"/>
              </a:rPr>
              <a:t>OUT  81H</a:t>
            </a:r>
            <a:r>
              <a:rPr lang="zh-CN" altLang="en-US" sz="2200" dirty="0">
                <a:latin typeface="Times New Roman" panose="02020603050405020304" pitchFamily="18" charset="0"/>
              </a:rPr>
              <a:t>，</a:t>
            </a:r>
            <a:r>
              <a:rPr lang="en-US" altLang="zh-CN" sz="2200" dirty="0">
                <a:latin typeface="Times New Roman" panose="02020603050405020304" pitchFamily="18" charset="0"/>
              </a:rPr>
              <a:t>AL</a:t>
            </a:r>
            <a:endParaRPr lang="en-US" altLang="zh-CN" sz="2200" dirty="0">
              <a:latin typeface="Times New Roman" panose="02020603050405020304" pitchFamily="18" charset="0"/>
            </a:endParaRPr>
          </a:p>
        </p:txBody>
      </p:sp>
    </p:spTree>
  </p:cSld>
  <p:clrMapOvr>
    <a:masterClrMapping/>
  </p:clrMapOvr>
  <p:transition spd="slow">
    <p:zoom/>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2146" name="Rectangle 3"/>
          <p:cNvSpPr>
            <a:spLocks noGrp="1"/>
          </p:cNvSpPr>
          <p:nvPr>
            <p:ph type="body" sz="half" idx="4294967295"/>
          </p:nvPr>
        </p:nvSpPr>
        <p:spPr>
          <a:xfrm>
            <a:off x="468313" y="1844675"/>
            <a:ext cx="8351837" cy="5757863"/>
          </a:xfrm>
        </p:spPr>
        <p:txBody>
          <a:bodyPr vert="horz" wrap="square" lIns="91440" tIns="45720" rIns="91440" bIns="45720" anchor="t" anchorCtr="0"/>
          <a:lstStyle>
            <a:lvl1pPr lvl="0">
              <a:buClr>
                <a:schemeClr val="folHlink"/>
              </a:buClr>
              <a:buSzPct val="60000"/>
              <a:buFont typeface="Wingdings" panose="05000000000000000000" pitchFamily="2" charset="2"/>
              <a:defRPr sz="2400"/>
            </a:lvl1pPr>
            <a:lvl2pPr lvl="1">
              <a:buClr>
                <a:schemeClr val="hlink"/>
              </a:buClr>
              <a:buSzPct val="55000"/>
              <a:buFont typeface="Wingdings" panose="05000000000000000000" pitchFamily="2" charset="2"/>
              <a:defRPr sz="2000"/>
            </a:lvl2pPr>
            <a:lvl3pPr lvl="2">
              <a:buClr>
                <a:schemeClr val="folHlink"/>
              </a:buClr>
              <a:buSzPct val="50000"/>
              <a:buFont typeface="Wingdings" panose="05000000000000000000" pitchFamily="2" charset="2"/>
              <a:defRPr sz="1800"/>
            </a:lvl3pPr>
            <a:lvl4pPr lvl="3">
              <a:buClr>
                <a:schemeClr val="accent2"/>
              </a:buClr>
              <a:buSzPct val="55000"/>
              <a:buFont typeface="Wingdings" panose="05000000000000000000" pitchFamily="2" charset="2"/>
              <a:defRPr sz="1800"/>
            </a:lvl4pPr>
            <a:lvl5pPr lvl="4">
              <a:buClr>
                <a:schemeClr val="accent1"/>
              </a:buClr>
              <a:buSzPct val="50000"/>
              <a:buFont typeface="Wingdings" panose="05000000000000000000" pitchFamily="2" charset="2"/>
              <a:defRPr sz="1800"/>
            </a:lvl5pPr>
          </a:lstStyle>
          <a:p>
            <a:pPr lvl="1"/>
            <a:r>
              <a:rPr lang="zh-CN" altLang="en-US" sz="2400" dirty="0">
                <a:solidFill>
                  <a:srgbClr val="0000CC"/>
                </a:solidFill>
                <a:latin typeface="宋体" panose="02010600030101010101" pitchFamily="2" charset="-122"/>
              </a:rPr>
              <a:t>从片初始化</a:t>
            </a:r>
            <a:endParaRPr lang="zh-CN" altLang="en-US" sz="2400" dirty="0">
              <a:solidFill>
                <a:srgbClr val="0000CC"/>
              </a:solidFill>
              <a:latin typeface="宋体" panose="02010600030101010101" pitchFamily="2" charset="-122"/>
            </a:endParaRPr>
          </a:p>
          <a:p>
            <a:pPr lvl="1">
              <a:buNone/>
            </a:pPr>
            <a:r>
              <a:rPr lang="zh-CN" altLang="en-US" sz="2200" dirty="0">
                <a:latin typeface="Times New Roman" panose="02020603050405020304" pitchFamily="18" charset="0"/>
              </a:rPr>
              <a:t>   </a:t>
            </a:r>
            <a:r>
              <a:rPr lang="en-US" altLang="zh-CN" sz="2200" dirty="0">
                <a:latin typeface="Times New Roman" panose="02020603050405020304" pitchFamily="18" charset="0"/>
              </a:rPr>
              <a:t>MOV  AL，</a:t>
            </a:r>
            <a:r>
              <a:rPr lang="en-US" altLang="zh-CN" sz="2200" dirty="0">
                <a:solidFill>
                  <a:srgbClr val="0000FF"/>
                </a:solidFill>
                <a:latin typeface="Times New Roman" panose="02020603050405020304" pitchFamily="18" charset="0"/>
              </a:rPr>
              <a:t>11</a:t>
            </a:r>
            <a:r>
              <a:rPr lang="en-US" altLang="zh-CN" sz="2200" dirty="0">
                <a:latin typeface="Times New Roman" panose="02020603050405020304" pitchFamily="18" charset="0"/>
              </a:rPr>
              <a:t>H    ；ICW</a:t>
            </a:r>
            <a:r>
              <a:rPr lang="en-US" altLang="zh-CN" sz="2200" baseline="-10000" dirty="0">
                <a:latin typeface="Times New Roman" panose="02020603050405020304" pitchFamily="18" charset="0"/>
              </a:rPr>
              <a:t>1</a:t>
            </a:r>
            <a:r>
              <a:rPr lang="en-US" altLang="zh-CN" sz="2200" dirty="0">
                <a:latin typeface="Times New Roman" panose="02020603050405020304" pitchFamily="18" charset="0"/>
              </a:rPr>
              <a:t> </a:t>
            </a:r>
            <a:r>
              <a:rPr lang="zh-CN" altLang="en-US" sz="2200" dirty="0">
                <a:latin typeface="Times New Roman" panose="02020603050405020304" pitchFamily="18" charset="0"/>
              </a:rPr>
              <a:t>：</a:t>
            </a:r>
            <a:r>
              <a:rPr lang="en-US" altLang="zh-CN" sz="2200" dirty="0">
                <a:latin typeface="Times New Roman" panose="02020603050405020304" pitchFamily="18" charset="0"/>
              </a:rPr>
              <a:t>级联连接，边沿触发</a:t>
            </a:r>
            <a:endParaRPr lang="zh-CN" altLang="en-US" sz="2200" dirty="0">
              <a:latin typeface="Times New Roman" panose="02020603050405020304" pitchFamily="18" charset="0"/>
            </a:endParaRPr>
          </a:p>
          <a:p>
            <a:pPr lvl="1">
              <a:buNone/>
            </a:pPr>
            <a:r>
              <a:rPr lang="en-US" altLang="zh-CN" sz="2200" dirty="0">
                <a:latin typeface="Times New Roman" panose="02020603050405020304" pitchFamily="18" charset="0"/>
              </a:rPr>
              <a:t>  </a:t>
            </a:r>
            <a:r>
              <a:rPr lang="zh-CN" altLang="en-US" sz="2200" dirty="0">
                <a:latin typeface="Times New Roman" panose="02020603050405020304" pitchFamily="18" charset="0"/>
              </a:rPr>
              <a:t> </a:t>
            </a:r>
            <a:r>
              <a:rPr lang="en-US" altLang="zh-CN" sz="2200" dirty="0">
                <a:latin typeface="Times New Roman" panose="02020603050405020304" pitchFamily="18" charset="0"/>
              </a:rPr>
              <a:t>OUT  90H，AL</a:t>
            </a:r>
            <a:endParaRPr lang="en-US" altLang="zh-CN" sz="2200" dirty="0">
              <a:latin typeface="Times New Roman" panose="02020603050405020304" pitchFamily="18" charset="0"/>
            </a:endParaRPr>
          </a:p>
          <a:p>
            <a:pPr lvl="1">
              <a:buNone/>
            </a:pPr>
            <a:r>
              <a:rPr lang="en-US" altLang="zh-CN" sz="2200" dirty="0">
                <a:latin typeface="Times New Roman" panose="02020603050405020304" pitchFamily="18" charset="0"/>
              </a:rPr>
              <a:t>   MOV  AL，</a:t>
            </a:r>
            <a:r>
              <a:rPr lang="en-US" altLang="zh-CN" sz="2200" dirty="0">
                <a:solidFill>
                  <a:srgbClr val="9900FF"/>
                </a:solidFill>
                <a:latin typeface="Times New Roman" panose="02020603050405020304" pitchFamily="18" charset="0"/>
              </a:rPr>
              <a:t>40</a:t>
            </a:r>
            <a:r>
              <a:rPr lang="en-US" altLang="zh-CN" sz="2200" dirty="0">
                <a:latin typeface="Times New Roman" panose="02020603050405020304" pitchFamily="18" charset="0"/>
              </a:rPr>
              <a:t>H    ；ICW</a:t>
            </a:r>
            <a:r>
              <a:rPr lang="en-US" altLang="zh-CN" sz="2200" baseline="-10000" dirty="0">
                <a:latin typeface="Times New Roman" panose="02020603050405020304" pitchFamily="18" charset="0"/>
              </a:rPr>
              <a:t>2</a:t>
            </a:r>
            <a:r>
              <a:rPr lang="zh-CN" altLang="en-US" sz="2200" dirty="0">
                <a:latin typeface="Times New Roman" panose="02020603050405020304" pitchFamily="18" charset="0"/>
              </a:rPr>
              <a:t>：</a:t>
            </a:r>
            <a:r>
              <a:rPr lang="en-US" altLang="zh-CN" sz="2200" dirty="0">
                <a:latin typeface="Times New Roman" panose="02020603050405020304" pitchFamily="18" charset="0"/>
              </a:rPr>
              <a:t>中断类型号为40H</a:t>
            </a:r>
            <a:endParaRPr lang="en-US" altLang="zh-CN" sz="2200" dirty="0">
              <a:latin typeface="Times New Roman" panose="02020603050405020304" pitchFamily="18" charset="0"/>
            </a:endParaRPr>
          </a:p>
          <a:p>
            <a:pPr lvl="1">
              <a:buNone/>
            </a:pPr>
            <a:r>
              <a:rPr lang="en-US" altLang="zh-CN" sz="2200" dirty="0">
                <a:latin typeface="Times New Roman" panose="02020603050405020304" pitchFamily="18" charset="0"/>
              </a:rPr>
              <a:t>   OUT  91H，AL</a:t>
            </a:r>
            <a:endParaRPr lang="en-US" altLang="zh-CN" sz="2200" dirty="0">
              <a:latin typeface="Times New Roman" panose="02020603050405020304" pitchFamily="18" charset="0"/>
            </a:endParaRPr>
          </a:p>
          <a:p>
            <a:pPr lvl="1">
              <a:buNone/>
            </a:pPr>
            <a:r>
              <a:rPr lang="en-US" altLang="zh-CN" sz="2200" dirty="0">
                <a:latin typeface="Times New Roman" panose="02020603050405020304" pitchFamily="18" charset="0"/>
              </a:rPr>
              <a:t>   MOV  AL，</a:t>
            </a:r>
            <a:r>
              <a:rPr lang="en-US" altLang="zh-CN" sz="2200" dirty="0">
                <a:solidFill>
                  <a:schemeClr val="hlink"/>
                </a:solidFill>
                <a:latin typeface="Times New Roman" panose="02020603050405020304" pitchFamily="18" charset="0"/>
              </a:rPr>
              <a:t>05</a:t>
            </a:r>
            <a:r>
              <a:rPr lang="en-US" altLang="zh-CN" sz="2200" dirty="0">
                <a:latin typeface="Times New Roman" panose="02020603050405020304" pitchFamily="18" charset="0"/>
              </a:rPr>
              <a:t>H    ；ICW</a:t>
            </a:r>
            <a:r>
              <a:rPr lang="en-US" altLang="zh-CN" sz="2200" baseline="-10000" dirty="0">
                <a:latin typeface="Times New Roman" panose="02020603050405020304" pitchFamily="18" charset="0"/>
              </a:rPr>
              <a:t>3</a:t>
            </a:r>
            <a:r>
              <a:rPr lang="zh-CN" altLang="en-US" sz="2200" dirty="0">
                <a:latin typeface="Times New Roman" panose="02020603050405020304" pitchFamily="18" charset="0"/>
              </a:rPr>
              <a:t>：</a:t>
            </a:r>
            <a:r>
              <a:rPr lang="en-US" altLang="zh-CN" sz="2200" dirty="0">
                <a:latin typeface="Times New Roman" panose="02020603050405020304" pitchFamily="18" charset="0"/>
              </a:rPr>
              <a:t> 从片连接在主片的IR</a:t>
            </a:r>
            <a:r>
              <a:rPr lang="en-US" altLang="zh-CN" sz="2200" baseline="-10000" dirty="0">
                <a:latin typeface="Times New Roman" panose="02020603050405020304" pitchFamily="18" charset="0"/>
              </a:rPr>
              <a:t>5</a:t>
            </a:r>
            <a:r>
              <a:rPr lang="en-US" altLang="zh-CN" sz="2200" dirty="0">
                <a:latin typeface="Times New Roman" panose="02020603050405020304" pitchFamily="18" charset="0"/>
              </a:rPr>
              <a:t>引脚</a:t>
            </a:r>
            <a:endParaRPr lang="zh-CN" altLang="en-US" sz="2200" dirty="0">
              <a:latin typeface="Times New Roman" panose="02020603050405020304" pitchFamily="18" charset="0"/>
            </a:endParaRPr>
          </a:p>
          <a:p>
            <a:pPr lvl="1">
              <a:buNone/>
            </a:pPr>
            <a:r>
              <a:rPr lang="en-US" altLang="zh-CN" sz="2200" dirty="0">
                <a:latin typeface="Times New Roman" panose="02020603050405020304" pitchFamily="18" charset="0"/>
              </a:rPr>
              <a:t>  </a:t>
            </a:r>
            <a:r>
              <a:rPr lang="zh-CN" altLang="en-US" sz="2200" dirty="0">
                <a:latin typeface="Times New Roman" panose="02020603050405020304" pitchFamily="18" charset="0"/>
              </a:rPr>
              <a:t> </a:t>
            </a:r>
            <a:r>
              <a:rPr lang="en-US" altLang="zh-CN" sz="2200" dirty="0">
                <a:latin typeface="Times New Roman" panose="02020603050405020304" pitchFamily="18" charset="0"/>
              </a:rPr>
              <a:t>OUT  91H，AL</a:t>
            </a:r>
            <a:endParaRPr lang="en-US" altLang="zh-CN" sz="2200" dirty="0">
              <a:latin typeface="Times New Roman" panose="02020603050405020304" pitchFamily="18" charset="0"/>
            </a:endParaRPr>
          </a:p>
          <a:p>
            <a:pPr lvl="1">
              <a:buNone/>
            </a:pPr>
            <a:r>
              <a:rPr lang="en-US" altLang="zh-CN" sz="2200" dirty="0">
                <a:latin typeface="Times New Roman" panose="02020603050405020304" pitchFamily="18" charset="0"/>
              </a:rPr>
              <a:t>   MOV  AL，</a:t>
            </a:r>
            <a:r>
              <a:rPr lang="en-US" altLang="zh-CN" sz="2200" dirty="0">
                <a:solidFill>
                  <a:srgbClr val="990000"/>
                </a:solidFill>
                <a:latin typeface="Times New Roman" panose="02020603050405020304" pitchFamily="18" charset="0"/>
              </a:rPr>
              <a:t>01</a:t>
            </a:r>
            <a:r>
              <a:rPr lang="en-US" altLang="zh-CN" sz="2200" dirty="0">
                <a:latin typeface="Times New Roman" panose="02020603050405020304" pitchFamily="18" charset="0"/>
              </a:rPr>
              <a:t>H    ；ICW</a:t>
            </a:r>
            <a:r>
              <a:rPr lang="en-US" altLang="zh-CN" sz="2200" baseline="-10000" dirty="0">
                <a:latin typeface="Times New Roman" panose="02020603050405020304" pitchFamily="18" charset="0"/>
              </a:rPr>
              <a:t>4</a:t>
            </a:r>
            <a:r>
              <a:rPr lang="en-US" altLang="zh-CN" sz="2200" dirty="0">
                <a:latin typeface="Times New Roman" panose="02020603050405020304" pitchFamily="18" charset="0"/>
              </a:rPr>
              <a:t> </a:t>
            </a:r>
            <a:r>
              <a:rPr lang="zh-CN" altLang="en-US" sz="2200" dirty="0">
                <a:latin typeface="Times New Roman" panose="02020603050405020304" pitchFamily="18" charset="0"/>
              </a:rPr>
              <a:t>：</a:t>
            </a:r>
            <a:r>
              <a:rPr lang="en-US" altLang="zh-CN" sz="2200" dirty="0">
                <a:latin typeface="Times New Roman" panose="02020603050405020304" pitchFamily="18" charset="0"/>
              </a:rPr>
              <a:t>全嵌套方式，非缓冲方式</a:t>
            </a:r>
            <a:endParaRPr lang="zh-CN" altLang="en-US" sz="2200" dirty="0">
              <a:latin typeface="Times New Roman" panose="02020603050405020304" pitchFamily="18" charset="0"/>
            </a:endParaRPr>
          </a:p>
          <a:p>
            <a:pPr lvl="1">
              <a:buNone/>
            </a:pPr>
            <a:r>
              <a:rPr lang="en-US" altLang="zh-CN" sz="2200" dirty="0">
                <a:latin typeface="Times New Roman" panose="02020603050405020304" pitchFamily="18" charset="0"/>
              </a:rPr>
              <a:t>  </a:t>
            </a:r>
            <a:r>
              <a:rPr lang="zh-CN" altLang="en-US" sz="2200" dirty="0">
                <a:latin typeface="Times New Roman" panose="02020603050405020304" pitchFamily="18" charset="0"/>
              </a:rPr>
              <a:t> </a:t>
            </a:r>
            <a:r>
              <a:rPr lang="en-US" altLang="zh-CN" sz="2200" dirty="0">
                <a:latin typeface="Times New Roman" panose="02020603050405020304" pitchFamily="18" charset="0"/>
              </a:rPr>
              <a:t>OUT  91H，AL</a:t>
            </a:r>
            <a:endParaRPr lang="en-US" altLang="zh-CN" sz="2200" dirty="0">
              <a:latin typeface="Times New Roman" panose="02020603050405020304" pitchFamily="18" charset="0"/>
            </a:endParaRPr>
          </a:p>
          <a:p>
            <a:pPr lvl="1">
              <a:buNone/>
            </a:pPr>
            <a:r>
              <a:rPr lang="en-US" altLang="zh-CN" sz="2200" dirty="0">
                <a:latin typeface="Times New Roman" panose="02020603050405020304" pitchFamily="18" charset="0"/>
              </a:rPr>
              <a:t>   MOV  AL，</a:t>
            </a:r>
            <a:r>
              <a:rPr lang="en-US" altLang="zh-CN" sz="2200" dirty="0">
                <a:solidFill>
                  <a:srgbClr val="CC6600"/>
                </a:solidFill>
                <a:latin typeface="Times New Roman" panose="02020603050405020304" pitchFamily="18" charset="0"/>
              </a:rPr>
              <a:t>0CF</a:t>
            </a:r>
            <a:r>
              <a:rPr lang="en-US" altLang="zh-CN" sz="2200" dirty="0">
                <a:latin typeface="Times New Roman" panose="02020603050405020304" pitchFamily="18" charset="0"/>
              </a:rPr>
              <a:t>H   ；OCW</a:t>
            </a:r>
            <a:r>
              <a:rPr lang="en-US" altLang="zh-CN" sz="2200" baseline="-10000" dirty="0">
                <a:latin typeface="Times New Roman" panose="02020603050405020304" pitchFamily="18" charset="0"/>
              </a:rPr>
              <a:t>1</a:t>
            </a:r>
            <a:r>
              <a:rPr lang="zh-CN" altLang="en-US" sz="2200" dirty="0">
                <a:latin typeface="Times New Roman" panose="02020603050405020304" pitchFamily="18" charset="0"/>
              </a:rPr>
              <a:t>：</a:t>
            </a:r>
            <a:r>
              <a:rPr lang="en-US" altLang="zh-CN" sz="2200" dirty="0">
                <a:latin typeface="Times New Roman" panose="02020603050405020304" pitchFamily="18" charset="0"/>
              </a:rPr>
              <a:t>允许IR</a:t>
            </a:r>
            <a:r>
              <a:rPr lang="en-US" altLang="zh-CN" sz="2200" baseline="-10000" dirty="0">
                <a:latin typeface="Times New Roman" panose="02020603050405020304" pitchFamily="18" charset="0"/>
              </a:rPr>
              <a:t>4</a:t>
            </a:r>
            <a:r>
              <a:rPr lang="en-US" altLang="zh-CN" sz="2200" dirty="0">
                <a:latin typeface="Times New Roman" panose="02020603050405020304" pitchFamily="18" charset="0"/>
              </a:rPr>
              <a:t>、IR</a:t>
            </a:r>
            <a:r>
              <a:rPr lang="en-US" altLang="zh-CN" sz="2200" baseline="-10000" dirty="0">
                <a:latin typeface="Times New Roman" panose="02020603050405020304" pitchFamily="18" charset="0"/>
              </a:rPr>
              <a:t>5</a:t>
            </a:r>
            <a:r>
              <a:rPr lang="en-US" altLang="zh-CN" sz="2200" dirty="0">
                <a:latin typeface="Times New Roman" panose="02020603050405020304" pitchFamily="18" charset="0"/>
              </a:rPr>
              <a:t>中断</a:t>
            </a:r>
            <a:endParaRPr lang="zh-CN" altLang="en-US" sz="2200" dirty="0">
              <a:latin typeface="Times New Roman" panose="02020603050405020304" pitchFamily="18" charset="0"/>
            </a:endParaRPr>
          </a:p>
          <a:p>
            <a:pPr lvl="1">
              <a:buNone/>
            </a:pPr>
            <a:r>
              <a:rPr lang="zh-CN" altLang="en-US" sz="2200" dirty="0">
                <a:latin typeface="Times New Roman" panose="02020603050405020304" pitchFamily="18" charset="0"/>
              </a:rPr>
              <a:t>   </a:t>
            </a:r>
            <a:r>
              <a:rPr lang="en-US" altLang="zh-CN" sz="2200" dirty="0">
                <a:latin typeface="Times New Roman" panose="02020603050405020304" pitchFamily="18" charset="0"/>
              </a:rPr>
              <a:t>OUT  91H，AL</a:t>
            </a:r>
            <a:endParaRPr lang="en-US" altLang="zh-CN" sz="2200" dirty="0">
              <a:latin typeface="Times New Roman" panose="02020603050405020304" pitchFamily="18" charset="0"/>
            </a:endParaRPr>
          </a:p>
        </p:txBody>
      </p:sp>
    </p:spTree>
  </p:cSld>
  <p:clrMapOvr>
    <a:masterClrMapping/>
  </p:clrMapOvr>
  <p:transition spd="slow">
    <p:zoom/>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317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63171" name="Rectangle 2"/>
          <p:cNvSpPr>
            <a:spLocks noGrp="1" noRot="1"/>
          </p:cNvSpPr>
          <p:nvPr>
            <p:ph type="title" idx="4294967295"/>
          </p:nvPr>
        </p:nvSpPr>
        <p:spPr/>
        <p:txBody>
          <a:bodyPr vert="horz" wrap="square" lIns="91440" tIns="45720" rIns="91440" bIns="45720" anchor="b" anchorCtr="0"/>
          <a:p>
            <a:pPr eaLnBrk="1" hangingPunct="1"/>
            <a:r>
              <a:rPr lang="zh-CN" altLang="en-US" sz="2800" b="1" dirty="0">
                <a:solidFill>
                  <a:srgbClr val="002060"/>
                </a:solidFill>
                <a:latin typeface="楷体_GB2312"/>
                <a:ea typeface="楷体_GB2312"/>
              </a:rPr>
              <a:t>例</a:t>
            </a:r>
            <a:r>
              <a:rPr lang="en-US" altLang="zh-CN" sz="2800" b="1" dirty="0">
                <a:solidFill>
                  <a:srgbClr val="002060"/>
                </a:solidFill>
                <a:latin typeface="楷体_GB2312"/>
                <a:ea typeface="楷体_GB2312"/>
              </a:rPr>
              <a:t>4</a:t>
            </a:r>
            <a:endParaRPr lang="en-US" altLang="zh-CN" sz="2800" b="1" dirty="0">
              <a:solidFill>
                <a:srgbClr val="002060"/>
              </a:solidFill>
              <a:latin typeface="楷体_GB2312"/>
              <a:ea typeface="楷体_GB2312"/>
            </a:endParaRPr>
          </a:p>
        </p:txBody>
      </p:sp>
      <p:sp>
        <p:nvSpPr>
          <p:cNvPr id="262148" name="Rectangle 3"/>
          <p:cNvSpPr>
            <a:spLocks noGrp="1" noRot="1" noChangeArrowheads="1"/>
          </p:cNvSpPr>
          <p:nvPr>
            <p:ph type="body" idx="4294967295"/>
          </p:nvPr>
        </p:nvSpPr>
        <p:spPr>
          <a:xfrm>
            <a:off x="1123950" y="1879600"/>
            <a:ext cx="7772400"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5000"/>
              </a:spcAft>
              <a:buClr>
                <a:schemeClr val="folHlink"/>
              </a:buClr>
              <a:buSzPct val="60000"/>
              <a:buFont typeface="Wingdings" panose="05000000000000000000" pitchFamily="2" charset="2"/>
              <a:buChar char="n"/>
              <a:defRPr/>
            </a:pPr>
            <a:r>
              <a:rPr kumimoji="0" lang="en-US" altLang="zh-CN" sz="2000" b="0" i="0" u="none" strike="noStrike" kern="1200" cap="none" spc="0" normalizeH="0" baseline="0" noProof="0" dirty="0" smtClean="0">
                <a:ln>
                  <a:noFill/>
                </a:ln>
                <a:solidFill>
                  <a:schemeClr val="tx2">
                    <a:lumMod val="50000"/>
                  </a:schemeClr>
                </a:solidFill>
                <a:effectLst/>
                <a:uLnTx/>
                <a:uFillTx/>
                <a:latin typeface="+mn-ea"/>
                <a:ea typeface="+mn-ea"/>
                <a:cs typeface="+mn-cs"/>
              </a:rPr>
              <a:t>2</a:t>
            </a: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片</a:t>
            </a:r>
            <a:r>
              <a:rPr kumimoji="0" lang="en-US" altLang="zh-CN" sz="2000" b="0" i="0" u="none" strike="noStrike" kern="1200" cap="none" spc="0" normalizeH="0" baseline="0" noProof="0" dirty="0" smtClean="0">
                <a:ln>
                  <a:noFill/>
                </a:ln>
                <a:solidFill>
                  <a:schemeClr val="tx2">
                    <a:lumMod val="50000"/>
                  </a:schemeClr>
                </a:solidFill>
                <a:effectLst/>
                <a:uLnTx/>
                <a:uFillTx/>
                <a:latin typeface="+mn-ea"/>
                <a:ea typeface="+mn-ea"/>
                <a:cs typeface="+mn-cs"/>
              </a:rPr>
              <a:t>8259</a:t>
            </a: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级联，从片的</a:t>
            </a:r>
            <a:r>
              <a:rPr kumimoji="0" lang="en-US" altLang="zh-CN" sz="2000" b="0" i="0" u="none" strike="noStrike" kern="1200" cap="none" spc="0" normalizeH="0" baseline="0" noProof="0" dirty="0" smtClean="0">
                <a:ln>
                  <a:noFill/>
                </a:ln>
                <a:solidFill>
                  <a:schemeClr val="tx2">
                    <a:lumMod val="50000"/>
                  </a:schemeClr>
                </a:solidFill>
                <a:effectLst/>
                <a:uLnTx/>
                <a:uFillTx/>
                <a:latin typeface="+mn-ea"/>
                <a:ea typeface="+mn-ea"/>
                <a:cs typeface="+mn-cs"/>
              </a:rPr>
              <a:t>INT</a:t>
            </a: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接主片的</a:t>
            </a:r>
            <a:r>
              <a:rPr kumimoji="0" lang="en-US" altLang="zh-CN" sz="2000" b="0" i="0" u="none" strike="noStrike" kern="1200" cap="none" spc="0" normalizeH="0" baseline="0" noProof="0" dirty="0" smtClean="0">
                <a:ln>
                  <a:noFill/>
                </a:ln>
                <a:solidFill>
                  <a:schemeClr val="tx2">
                    <a:lumMod val="50000"/>
                  </a:schemeClr>
                </a:solidFill>
                <a:effectLst/>
                <a:uLnTx/>
                <a:uFillTx/>
                <a:latin typeface="+mn-ea"/>
                <a:ea typeface="+mn-ea"/>
                <a:cs typeface="+mn-cs"/>
              </a:rPr>
              <a:t>IR2</a:t>
            </a: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a:t>
            </a:r>
            <a:endPar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endParaRPr>
          </a:p>
          <a:p>
            <a:pPr marL="342900" marR="0" lvl="0" indent="-342900" algn="l" defTabSz="914400" rtl="0" eaLnBrk="1" fontAlgn="base" latinLnBrk="0" hangingPunct="1">
              <a:lnSpc>
                <a:spcPct val="110000"/>
              </a:lnSpc>
              <a:spcBef>
                <a:spcPct val="20000"/>
              </a:spcBef>
              <a:spcAft>
                <a:spcPct val="5000"/>
              </a:spcAft>
              <a:buClr>
                <a:schemeClr val="folHlink"/>
              </a:buClr>
              <a:buSzPct val="60000"/>
              <a:buFont typeface="Wingdings" panose="05000000000000000000" pitchFamily="2" charset="2"/>
              <a:buChar char="n"/>
              <a:defRPr/>
            </a:pP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端口地址：主片</a:t>
            </a:r>
            <a:r>
              <a:rPr kumimoji="0" lang="en-US" altLang="zh-CN" sz="2000" b="0" i="0" u="none" strike="noStrike" kern="1200" cap="none" spc="0" normalizeH="0" baseline="0" noProof="0" dirty="0" smtClean="0">
                <a:ln>
                  <a:noFill/>
                </a:ln>
                <a:solidFill>
                  <a:schemeClr val="tx2">
                    <a:lumMod val="50000"/>
                  </a:schemeClr>
                </a:solidFill>
                <a:effectLst/>
                <a:uLnTx/>
                <a:uFillTx/>
                <a:latin typeface="+mn-ea"/>
                <a:ea typeface="+mn-ea"/>
                <a:cs typeface="+mn-cs"/>
              </a:rPr>
              <a:t>20H</a:t>
            </a: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a:t>
            </a:r>
            <a:r>
              <a:rPr kumimoji="0" lang="en-US" altLang="zh-CN" sz="2000" b="0" i="0" u="none" strike="noStrike" kern="1200" cap="none" spc="0" normalizeH="0" baseline="0" noProof="0" dirty="0" smtClean="0">
                <a:ln>
                  <a:noFill/>
                </a:ln>
                <a:solidFill>
                  <a:schemeClr val="tx2">
                    <a:lumMod val="50000"/>
                  </a:schemeClr>
                </a:solidFill>
                <a:effectLst/>
                <a:uLnTx/>
                <a:uFillTx/>
                <a:latin typeface="+mn-ea"/>
                <a:ea typeface="+mn-ea"/>
                <a:cs typeface="+mn-cs"/>
              </a:rPr>
              <a:t>21H</a:t>
            </a: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，从片</a:t>
            </a:r>
            <a:r>
              <a:rPr kumimoji="0" lang="en-US" altLang="zh-CN" sz="2000" b="0" i="0" u="none" strike="noStrike" kern="1200" cap="none" spc="0" normalizeH="0" baseline="0" noProof="0" dirty="0" smtClean="0">
                <a:ln>
                  <a:noFill/>
                </a:ln>
                <a:solidFill>
                  <a:schemeClr val="tx2">
                    <a:lumMod val="50000"/>
                  </a:schemeClr>
                </a:solidFill>
                <a:effectLst/>
                <a:uLnTx/>
                <a:uFillTx/>
                <a:latin typeface="+mn-ea"/>
                <a:ea typeface="+mn-ea"/>
                <a:cs typeface="+mn-cs"/>
              </a:rPr>
              <a:t>A0H</a:t>
            </a: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a:t>
            </a:r>
            <a:r>
              <a:rPr kumimoji="0" lang="en-US" altLang="zh-CN" sz="2000" b="0" i="0" u="none" strike="noStrike" kern="1200" cap="none" spc="0" normalizeH="0" baseline="0" noProof="0" dirty="0" smtClean="0">
                <a:ln>
                  <a:noFill/>
                </a:ln>
                <a:solidFill>
                  <a:schemeClr val="tx2">
                    <a:lumMod val="50000"/>
                  </a:schemeClr>
                </a:solidFill>
                <a:effectLst/>
                <a:uLnTx/>
                <a:uFillTx/>
                <a:latin typeface="+mn-ea"/>
                <a:ea typeface="+mn-ea"/>
                <a:cs typeface="+mn-cs"/>
              </a:rPr>
              <a:t>A1H</a:t>
            </a: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a:t>
            </a:r>
            <a:endPar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endParaRPr>
          </a:p>
          <a:p>
            <a:pPr marL="342900" marR="0" lvl="0" indent="-342900" algn="l" defTabSz="914400" rtl="0" eaLnBrk="1" fontAlgn="base" latinLnBrk="0" hangingPunct="1">
              <a:lnSpc>
                <a:spcPct val="110000"/>
              </a:lnSpc>
              <a:spcBef>
                <a:spcPct val="20000"/>
              </a:spcBef>
              <a:spcAft>
                <a:spcPct val="5000"/>
              </a:spcAft>
              <a:buClr>
                <a:schemeClr val="folHlink"/>
              </a:buClr>
              <a:buSzPct val="60000"/>
              <a:buFont typeface="Wingdings" panose="05000000000000000000" pitchFamily="2" charset="2"/>
              <a:buChar char="n"/>
              <a:defRPr/>
            </a:pP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主片和从片均采用边沿触发。</a:t>
            </a:r>
            <a:endPar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endParaRPr>
          </a:p>
          <a:p>
            <a:pPr marL="342900" marR="0" lvl="0" indent="-342900" algn="l" defTabSz="914400" rtl="0" eaLnBrk="1" fontAlgn="base" latinLnBrk="0" hangingPunct="1">
              <a:lnSpc>
                <a:spcPct val="110000"/>
              </a:lnSpc>
              <a:spcBef>
                <a:spcPct val="20000"/>
              </a:spcBef>
              <a:spcAft>
                <a:spcPct val="5000"/>
              </a:spcAft>
              <a:buClr>
                <a:schemeClr val="folHlink"/>
              </a:buClr>
              <a:buSzPct val="60000"/>
              <a:buFont typeface="Wingdings" panose="05000000000000000000" pitchFamily="2" charset="2"/>
              <a:buChar char="n"/>
              <a:defRPr/>
            </a:pP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主片采用特殊全嵌套方式，从片是一般全嵌套方式。</a:t>
            </a:r>
            <a:endPar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endParaRPr>
          </a:p>
          <a:p>
            <a:pPr marL="342900" marR="0" lvl="0" indent="-342900" algn="l" defTabSz="914400" rtl="0" eaLnBrk="1" fontAlgn="base" latinLnBrk="0" hangingPunct="1">
              <a:lnSpc>
                <a:spcPct val="110000"/>
              </a:lnSpc>
              <a:spcBef>
                <a:spcPct val="20000"/>
              </a:spcBef>
              <a:spcAft>
                <a:spcPct val="5000"/>
              </a:spcAft>
              <a:buClr>
                <a:schemeClr val="folHlink"/>
              </a:buClr>
              <a:buSzPct val="60000"/>
              <a:buFont typeface="Wingdings" panose="05000000000000000000" pitchFamily="2" charset="2"/>
              <a:buChar char="n"/>
              <a:defRPr/>
            </a:pP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采用非缓冲方式，主片接</a:t>
            </a:r>
            <a:r>
              <a:rPr kumimoji="0" lang="en-US" altLang="zh-CN" sz="2000" b="0" i="0" u="none" strike="noStrike" kern="1200" cap="none" spc="0" normalizeH="0" baseline="0" noProof="0" dirty="0" smtClean="0">
                <a:ln>
                  <a:noFill/>
                </a:ln>
                <a:solidFill>
                  <a:schemeClr val="tx2">
                    <a:lumMod val="50000"/>
                  </a:schemeClr>
                </a:solidFill>
                <a:effectLst/>
                <a:uLnTx/>
                <a:uFillTx/>
                <a:latin typeface="+mn-ea"/>
                <a:ea typeface="+mn-ea"/>
                <a:cs typeface="+mn-cs"/>
              </a:rPr>
              <a:t>+5V,</a:t>
            </a: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从片接地。</a:t>
            </a:r>
            <a:endPar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endParaRPr>
          </a:p>
          <a:p>
            <a:pPr marL="342900" marR="0" lvl="0" indent="-342900" algn="l" defTabSz="914400" rtl="0" eaLnBrk="1" fontAlgn="base" latinLnBrk="0" hangingPunct="1">
              <a:lnSpc>
                <a:spcPct val="110000"/>
              </a:lnSpc>
              <a:spcBef>
                <a:spcPct val="20000"/>
              </a:spcBef>
              <a:spcAft>
                <a:spcPct val="5000"/>
              </a:spcAft>
              <a:buClr>
                <a:schemeClr val="folHlink"/>
              </a:buClr>
              <a:buSzPct val="60000"/>
              <a:buFont typeface="Wingdings" panose="05000000000000000000" pitchFamily="2" charset="2"/>
              <a:buChar char="n"/>
              <a:defRPr/>
            </a:pP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主片的中断类型号为</a:t>
            </a:r>
            <a:r>
              <a:rPr kumimoji="0" lang="en-US" altLang="zh-CN" sz="2000" b="0" i="0" u="none" strike="noStrike" kern="1200" cap="none" spc="0" normalizeH="0" baseline="0" noProof="0" dirty="0" smtClean="0">
                <a:ln>
                  <a:noFill/>
                </a:ln>
                <a:solidFill>
                  <a:schemeClr val="tx2">
                    <a:lumMod val="50000"/>
                  </a:schemeClr>
                </a:solidFill>
                <a:effectLst/>
                <a:uLnTx/>
                <a:uFillTx/>
                <a:latin typeface="+mn-ea"/>
                <a:ea typeface="+mn-ea"/>
                <a:cs typeface="+mn-cs"/>
              </a:rPr>
              <a:t>08H~0FH</a:t>
            </a: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，从片的中断类型号为</a:t>
            </a:r>
            <a:r>
              <a:rPr kumimoji="0" lang="en-US" altLang="zh-CN" sz="2000" b="0" i="0" u="none" strike="noStrike" kern="1200" cap="none" spc="0" normalizeH="0" baseline="0" noProof="0" dirty="0" smtClean="0">
                <a:ln>
                  <a:noFill/>
                </a:ln>
                <a:solidFill>
                  <a:schemeClr val="tx2">
                    <a:lumMod val="50000"/>
                  </a:schemeClr>
                </a:solidFill>
                <a:effectLst/>
                <a:uLnTx/>
                <a:uFillTx/>
                <a:latin typeface="+mn-ea"/>
                <a:ea typeface="+mn-ea"/>
                <a:cs typeface="+mn-cs"/>
              </a:rPr>
              <a:t>70H~77H</a:t>
            </a: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a:t>
            </a:r>
            <a:endPar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endParaRPr>
          </a:p>
          <a:p>
            <a:pPr marL="342900" marR="0" lvl="0" indent="-342900" algn="l" defTabSz="914400" rtl="0" eaLnBrk="1" fontAlgn="base" latinLnBrk="0" hangingPunct="1">
              <a:lnSpc>
                <a:spcPct val="110000"/>
              </a:lnSpc>
              <a:spcBef>
                <a:spcPct val="20000"/>
              </a:spcBef>
              <a:spcAft>
                <a:spcPct val="5000"/>
              </a:spcAft>
              <a:buClr>
                <a:schemeClr val="folHlink"/>
              </a:buClr>
              <a:buSzPct val="60000"/>
              <a:buFont typeface="Wingdings" panose="05000000000000000000" pitchFamily="2" charset="2"/>
              <a:buChar char="n"/>
              <a:defRPr/>
            </a:pP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写出主</a:t>
            </a:r>
            <a:r>
              <a:rPr kumimoji="0" lang="en-US" altLang="zh-CN" sz="2000" b="0" i="0" u="none" strike="noStrike" kern="1200" cap="none" spc="0" normalizeH="0" baseline="0" noProof="0" dirty="0" smtClean="0">
                <a:ln>
                  <a:noFill/>
                </a:ln>
                <a:solidFill>
                  <a:schemeClr val="tx2">
                    <a:lumMod val="50000"/>
                  </a:schemeClr>
                </a:solidFill>
                <a:effectLst/>
                <a:uLnTx/>
                <a:uFillTx/>
                <a:latin typeface="+mn-ea"/>
                <a:ea typeface="+mn-ea"/>
                <a:cs typeface="+mn-cs"/>
              </a:rPr>
              <a:t>8259A</a:t>
            </a: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和从</a:t>
            </a:r>
            <a:r>
              <a:rPr kumimoji="0" lang="en-US" altLang="zh-CN" sz="2000" b="0" i="0" u="none" strike="noStrike" kern="1200" cap="none" spc="0" normalizeH="0" baseline="0" noProof="0" dirty="0" smtClean="0">
                <a:ln>
                  <a:noFill/>
                </a:ln>
                <a:solidFill>
                  <a:schemeClr val="tx2">
                    <a:lumMod val="50000"/>
                  </a:schemeClr>
                </a:solidFill>
                <a:effectLst/>
                <a:uLnTx/>
                <a:uFillTx/>
                <a:latin typeface="+mn-ea"/>
                <a:ea typeface="+mn-ea"/>
                <a:cs typeface="+mn-cs"/>
              </a:rPr>
              <a:t>8259A</a:t>
            </a:r>
            <a:r>
              <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rPr>
              <a:t>的初始化程序段。</a:t>
            </a:r>
            <a:endParaRPr kumimoji="0" lang="zh-CN" altLang="en-US" sz="2000" b="0" i="0" u="none" strike="noStrike" kern="1200" cap="none" spc="0" normalizeH="0" baseline="0" noProof="0" dirty="0" smtClean="0">
              <a:ln>
                <a:noFill/>
              </a:ln>
              <a:solidFill>
                <a:schemeClr val="tx2">
                  <a:lumMod val="50000"/>
                </a:schemeClr>
              </a:solidFill>
              <a:effectLst/>
              <a:uLnTx/>
              <a:uFillTx/>
              <a:latin typeface="+mn-ea"/>
              <a:ea typeface="+mn-ea"/>
              <a:cs typeface="+mn-cs"/>
            </a:endParaRPr>
          </a:p>
        </p:txBody>
      </p:sp>
    </p:spTree>
  </p:cSld>
  <p:clrMapOvr>
    <a:masterClrMapping/>
  </p:clrMapOvr>
  <p:transition spd="slow">
    <p:zoom/>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4194"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64195" name="Rectangle 3"/>
          <p:cNvSpPr>
            <a:spLocks noGrp="1" noRot="1"/>
          </p:cNvSpPr>
          <p:nvPr>
            <p:ph type="body" idx="4294967295"/>
          </p:nvPr>
        </p:nvSpPr>
        <p:spPr>
          <a:xfrm>
            <a:off x="1042988" y="1916113"/>
            <a:ext cx="7370762" cy="4640262"/>
          </a:xfrm>
        </p:spPr>
        <p:txBody>
          <a:bodyPr vert="horz" wrap="square" lIns="91440" tIns="45720" rIns="91440" bIns="45720" anchor="t" anchorCtr="0"/>
          <a:p>
            <a:pPr eaLnBrk="1" hangingPunct="1">
              <a:lnSpc>
                <a:spcPct val="150000"/>
              </a:lnSpc>
              <a:buNone/>
            </a:pPr>
            <a:r>
              <a:rPr lang="en-US" altLang="zh-CN" sz="2200" dirty="0">
                <a:solidFill>
                  <a:srgbClr val="0D0D0D"/>
                </a:solidFill>
                <a:latin typeface="楷体_GB2312"/>
              </a:rPr>
              <a:t>ICW1A EQU 20H 		</a:t>
            </a:r>
            <a:r>
              <a:rPr lang="zh-CN" altLang="en-US" sz="2200" dirty="0">
                <a:solidFill>
                  <a:srgbClr val="0D0D0D"/>
                </a:solidFill>
                <a:latin typeface="楷体_GB2312"/>
              </a:rPr>
              <a:t>；主片端口地址</a:t>
            </a:r>
            <a:endParaRPr lang="zh-CN" altLang="en-US" sz="2200" dirty="0">
              <a:solidFill>
                <a:srgbClr val="0D0D0D"/>
              </a:solidFill>
              <a:latin typeface="楷体_GB2312"/>
            </a:endParaRPr>
          </a:p>
          <a:p>
            <a:pPr eaLnBrk="1" hangingPunct="1">
              <a:lnSpc>
                <a:spcPct val="150000"/>
              </a:lnSpc>
              <a:buNone/>
            </a:pPr>
            <a:r>
              <a:rPr lang="en-US" altLang="zh-CN" sz="2200" dirty="0">
                <a:solidFill>
                  <a:srgbClr val="0D0D0D"/>
                </a:solidFill>
                <a:latin typeface="楷体_GB2312"/>
              </a:rPr>
              <a:t>ICW2A EQU ICW1A+1</a:t>
            </a:r>
            <a:endParaRPr lang="en-US" altLang="zh-CN" sz="2200" dirty="0">
              <a:solidFill>
                <a:srgbClr val="0D0D0D"/>
              </a:solidFill>
              <a:latin typeface="楷体_GB2312"/>
            </a:endParaRPr>
          </a:p>
          <a:p>
            <a:pPr eaLnBrk="1" hangingPunct="1">
              <a:lnSpc>
                <a:spcPct val="150000"/>
              </a:lnSpc>
              <a:buNone/>
            </a:pPr>
            <a:r>
              <a:rPr lang="en-US" altLang="zh-CN" sz="2200" dirty="0">
                <a:solidFill>
                  <a:srgbClr val="0D0D0D"/>
                </a:solidFill>
                <a:latin typeface="楷体_GB2312"/>
              </a:rPr>
              <a:t>ICW3A EQU ICW2A</a:t>
            </a:r>
            <a:endParaRPr lang="en-US" altLang="zh-CN" sz="2200" dirty="0">
              <a:solidFill>
                <a:srgbClr val="0D0D0D"/>
              </a:solidFill>
              <a:latin typeface="楷体_GB2312"/>
            </a:endParaRPr>
          </a:p>
          <a:p>
            <a:pPr eaLnBrk="1" hangingPunct="1">
              <a:lnSpc>
                <a:spcPct val="150000"/>
              </a:lnSpc>
              <a:buNone/>
            </a:pPr>
            <a:r>
              <a:rPr lang="en-US" altLang="zh-CN" sz="2200" dirty="0">
                <a:solidFill>
                  <a:srgbClr val="0D0D0D"/>
                </a:solidFill>
                <a:latin typeface="楷体_GB2312"/>
              </a:rPr>
              <a:t>ICW4A EQU ICW2A</a:t>
            </a:r>
            <a:endParaRPr lang="en-US" altLang="zh-CN" sz="2200" dirty="0">
              <a:solidFill>
                <a:srgbClr val="0D0D0D"/>
              </a:solidFill>
              <a:latin typeface="楷体_GB2312"/>
            </a:endParaRPr>
          </a:p>
          <a:p>
            <a:pPr eaLnBrk="1" hangingPunct="1">
              <a:lnSpc>
                <a:spcPct val="150000"/>
              </a:lnSpc>
              <a:buNone/>
            </a:pPr>
            <a:r>
              <a:rPr lang="en-US" altLang="zh-CN" sz="2200" dirty="0">
                <a:solidFill>
                  <a:srgbClr val="0D0D0D"/>
                </a:solidFill>
                <a:latin typeface="楷体_GB2312"/>
              </a:rPr>
              <a:t>ICW1B EQU 0A0H 		</a:t>
            </a:r>
            <a:r>
              <a:rPr lang="zh-CN" altLang="en-US" sz="2200" dirty="0">
                <a:solidFill>
                  <a:srgbClr val="0D0D0D"/>
                </a:solidFill>
                <a:latin typeface="楷体_GB2312"/>
              </a:rPr>
              <a:t>；从片端口地址</a:t>
            </a:r>
            <a:endParaRPr lang="zh-CN" altLang="en-US" sz="2200" dirty="0">
              <a:solidFill>
                <a:srgbClr val="0D0D0D"/>
              </a:solidFill>
              <a:latin typeface="楷体_GB2312"/>
            </a:endParaRPr>
          </a:p>
          <a:p>
            <a:pPr eaLnBrk="1" hangingPunct="1">
              <a:lnSpc>
                <a:spcPct val="150000"/>
              </a:lnSpc>
              <a:buNone/>
            </a:pPr>
            <a:r>
              <a:rPr lang="en-US" altLang="zh-CN" sz="2200" dirty="0">
                <a:solidFill>
                  <a:srgbClr val="0D0D0D"/>
                </a:solidFill>
                <a:latin typeface="楷体_GB2312"/>
              </a:rPr>
              <a:t>ICW2B EQU ICW1B+1</a:t>
            </a:r>
            <a:endParaRPr lang="en-US" altLang="zh-CN" sz="2200" dirty="0">
              <a:solidFill>
                <a:srgbClr val="0D0D0D"/>
              </a:solidFill>
              <a:latin typeface="楷体_GB2312"/>
            </a:endParaRPr>
          </a:p>
          <a:p>
            <a:pPr eaLnBrk="1" hangingPunct="1">
              <a:lnSpc>
                <a:spcPct val="150000"/>
              </a:lnSpc>
              <a:buNone/>
            </a:pPr>
            <a:r>
              <a:rPr lang="en-US" altLang="zh-CN" sz="2200" dirty="0">
                <a:solidFill>
                  <a:srgbClr val="0D0D0D"/>
                </a:solidFill>
                <a:latin typeface="楷体_GB2312"/>
              </a:rPr>
              <a:t>ICW3B EQU ICW2B</a:t>
            </a:r>
            <a:endParaRPr lang="en-US" altLang="zh-CN" sz="2200" dirty="0">
              <a:solidFill>
                <a:srgbClr val="0D0D0D"/>
              </a:solidFill>
              <a:latin typeface="楷体_GB2312"/>
            </a:endParaRPr>
          </a:p>
          <a:p>
            <a:pPr eaLnBrk="1" hangingPunct="1">
              <a:lnSpc>
                <a:spcPct val="150000"/>
              </a:lnSpc>
              <a:buNone/>
            </a:pPr>
            <a:r>
              <a:rPr lang="en-US" altLang="zh-CN" sz="2200" dirty="0">
                <a:solidFill>
                  <a:srgbClr val="0D0D0D"/>
                </a:solidFill>
                <a:latin typeface="楷体_GB2312"/>
              </a:rPr>
              <a:t>ICW4B EQU ICW2B</a:t>
            </a:r>
            <a:endParaRPr lang="en-US" altLang="zh-CN" sz="2200" dirty="0">
              <a:solidFill>
                <a:srgbClr val="0D0D0D"/>
              </a:solidFill>
              <a:latin typeface="楷体_GB2312"/>
            </a:endParaRPr>
          </a:p>
        </p:txBody>
      </p:sp>
    </p:spTree>
  </p:cSld>
  <p:clrMapOvr>
    <a:masterClrMapping/>
  </p:clrMapOvr>
  <p:transition spd="slow">
    <p:zoom/>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5218" name="矩形 1"/>
          <p:cNvSpPr/>
          <p:nvPr/>
        </p:nvSpPr>
        <p:spPr>
          <a:xfrm>
            <a:off x="827088" y="2133600"/>
            <a:ext cx="7921625" cy="434816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80000"/>
              </a:lnSpc>
              <a:spcBef>
                <a:spcPct val="0"/>
              </a:spcBef>
              <a:spcAft>
                <a:spcPct val="0"/>
              </a:spcAft>
              <a:buClr>
                <a:srgbClr val="FF0000"/>
              </a:buClr>
              <a:buSzPct val="80000"/>
            </a:pPr>
            <a:r>
              <a:rPr lang="zh-CN" altLang="en-US" sz="2400" dirty="0">
                <a:solidFill>
                  <a:srgbClr val="002060"/>
                </a:solidFill>
                <a:latin typeface="楷体_GB2312"/>
                <a:ea typeface="楷体_GB2312"/>
              </a:rPr>
              <a:t>主片初始化</a:t>
            </a:r>
            <a:endParaRPr lang="en-US" altLang="zh-CN" sz="2400" dirty="0">
              <a:solidFill>
                <a:srgbClr val="002060"/>
              </a:solidFill>
              <a:latin typeface="楷体_GB2312"/>
              <a:ea typeface="楷体_GB2312"/>
            </a:endParaRPr>
          </a:p>
          <a:p>
            <a:pPr marL="342900" lvl="0" indent="-342900">
              <a:lnSpc>
                <a:spcPct val="130000"/>
              </a:lnSpc>
              <a:spcBef>
                <a:spcPct val="0"/>
              </a:spcBef>
              <a:spcAft>
                <a:spcPct val="0"/>
              </a:spcAft>
              <a:buClrTx/>
              <a:buSzTx/>
              <a:buNone/>
            </a:pPr>
            <a:r>
              <a:rPr lang="en-US" altLang="zh-CN" sz="2200" dirty="0">
                <a:solidFill>
                  <a:srgbClr val="0D0D0D"/>
                </a:solidFill>
                <a:latin typeface="楷体_GB2312"/>
                <a:ea typeface="楷体_GB2312"/>
              </a:rPr>
              <a:t>MOV AL</a:t>
            </a:r>
            <a:r>
              <a:rPr lang="zh-CN" altLang="en-US" sz="2200" dirty="0">
                <a:solidFill>
                  <a:srgbClr val="0D0D0D"/>
                </a:solidFill>
                <a:latin typeface="楷体_GB2312"/>
                <a:ea typeface="楷体_GB2312"/>
              </a:rPr>
              <a:t>，</a:t>
            </a:r>
            <a:r>
              <a:rPr lang="en-US" altLang="zh-CN" sz="2200" dirty="0">
                <a:solidFill>
                  <a:srgbClr val="0D0D0D"/>
                </a:solidFill>
                <a:latin typeface="楷体_GB2312"/>
                <a:ea typeface="楷体_GB2312"/>
              </a:rPr>
              <a:t>11H    </a:t>
            </a:r>
            <a:r>
              <a:rPr lang="zh-CN" altLang="en-US" sz="2200" dirty="0">
                <a:solidFill>
                  <a:srgbClr val="0D0D0D"/>
                </a:solidFill>
                <a:latin typeface="楷体_GB2312"/>
                <a:ea typeface="楷体_GB2312"/>
              </a:rPr>
              <a:t>；</a:t>
            </a:r>
            <a:r>
              <a:rPr lang="en-US" altLang="zh-CN" sz="2200" dirty="0">
                <a:solidFill>
                  <a:srgbClr val="0D0D0D"/>
                </a:solidFill>
                <a:latin typeface="楷体_GB2312"/>
                <a:ea typeface="楷体_GB2312"/>
              </a:rPr>
              <a:t>ICW1</a:t>
            </a:r>
            <a:r>
              <a:rPr lang="zh-CN" altLang="en-US" sz="2200" dirty="0">
                <a:solidFill>
                  <a:srgbClr val="0D0D0D"/>
                </a:solidFill>
                <a:latin typeface="楷体_GB2312"/>
                <a:ea typeface="楷体_GB2312"/>
              </a:rPr>
              <a:t>，边沿触发，多片，需</a:t>
            </a:r>
            <a:r>
              <a:rPr lang="en-US" altLang="zh-CN" sz="2200" dirty="0">
                <a:solidFill>
                  <a:srgbClr val="0D0D0D"/>
                </a:solidFill>
                <a:latin typeface="楷体_GB2312"/>
                <a:ea typeface="楷体_GB2312"/>
              </a:rPr>
              <a:t>ICW4</a:t>
            </a:r>
            <a:endParaRPr lang="en-US" altLang="zh-CN" sz="2200" dirty="0">
              <a:solidFill>
                <a:srgbClr val="0D0D0D"/>
              </a:solidFill>
              <a:latin typeface="楷体_GB2312"/>
              <a:ea typeface="楷体_GB2312"/>
            </a:endParaRPr>
          </a:p>
          <a:p>
            <a:pPr marL="342900" lvl="0" indent="-342900">
              <a:lnSpc>
                <a:spcPct val="130000"/>
              </a:lnSpc>
              <a:spcBef>
                <a:spcPct val="0"/>
              </a:spcBef>
              <a:spcAft>
                <a:spcPct val="0"/>
              </a:spcAft>
              <a:buClrTx/>
              <a:buSzTx/>
              <a:buNone/>
            </a:pPr>
            <a:r>
              <a:rPr lang="en-US" altLang="zh-CN" sz="2200" dirty="0">
                <a:solidFill>
                  <a:srgbClr val="0D0D0D"/>
                </a:solidFill>
                <a:latin typeface="楷体_GB2312"/>
                <a:ea typeface="楷体_GB2312"/>
              </a:rPr>
              <a:t>OUT ICW1A</a:t>
            </a:r>
            <a:r>
              <a:rPr lang="zh-CN" altLang="en-US" sz="2200" dirty="0">
                <a:solidFill>
                  <a:srgbClr val="0D0D0D"/>
                </a:solidFill>
                <a:latin typeface="楷体_GB2312"/>
                <a:ea typeface="楷体_GB2312"/>
              </a:rPr>
              <a:t>，</a:t>
            </a:r>
            <a:r>
              <a:rPr lang="en-US" altLang="zh-CN" sz="2200" dirty="0">
                <a:solidFill>
                  <a:srgbClr val="0D0D0D"/>
                </a:solidFill>
                <a:latin typeface="楷体_GB2312"/>
                <a:ea typeface="楷体_GB2312"/>
              </a:rPr>
              <a:t>AL</a:t>
            </a:r>
            <a:endParaRPr lang="en-US" altLang="zh-CN" sz="2200" dirty="0">
              <a:solidFill>
                <a:srgbClr val="0D0D0D"/>
              </a:solidFill>
              <a:latin typeface="楷体_GB2312"/>
              <a:ea typeface="楷体_GB2312"/>
            </a:endParaRPr>
          </a:p>
          <a:p>
            <a:pPr marL="342900" lvl="0" indent="-342900">
              <a:lnSpc>
                <a:spcPct val="130000"/>
              </a:lnSpc>
              <a:spcBef>
                <a:spcPct val="0"/>
              </a:spcBef>
              <a:spcAft>
                <a:spcPct val="0"/>
              </a:spcAft>
              <a:buClrTx/>
              <a:buSzTx/>
              <a:buNone/>
            </a:pPr>
            <a:r>
              <a:rPr lang="en-US" altLang="zh-CN" sz="2200" dirty="0">
                <a:solidFill>
                  <a:srgbClr val="0D0D0D"/>
                </a:solidFill>
                <a:latin typeface="楷体_GB2312"/>
                <a:ea typeface="楷体_GB2312"/>
              </a:rPr>
              <a:t>MOV AL</a:t>
            </a:r>
            <a:r>
              <a:rPr lang="zh-CN" altLang="en-US" sz="2200" dirty="0">
                <a:solidFill>
                  <a:srgbClr val="0D0D0D"/>
                </a:solidFill>
                <a:latin typeface="楷体_GB2312"/>
                <a:ea typeface="楷体_GB2312"/>
              </a:rPr>
              <a:t>，</a:t>
            </a:r>
            <a:r>
              <a:rPr lang="en-US" altLang="zh-CN" sz="2200" dirty="0">
                <a:solidFill>
                  <a:srgbClr val="0D0D0D"/>
                </a:solidFill>
                <a:latin typeface="楷体_GB2312"/>
                <a:ea typeface="楷体_GB2312"/>
              </a:rPr>
              <a:t>08H    </a:t>
            </a:r>
            <a:r>
              <a:rPr lang="zh-CN" altLang="en-US" sz="2200" dirty="0">
                <a:solidFill>
                  <a:srgbClr val="0D0D0D"/>
                </a:solidFill>
                <a:latin typeface="楷体_GB2312"/>
                <a:ea typeface="楷体_GB2312"/>
              </a:rPr>
              <a:t>；</a:t>
            </a:r>
            <a:r>
              <a:rPr lang="en-US" altLang="zh-CN" sz="2200" dirty="0">
                <a:solidFill>
                  <a:srgbClr val="0D0D0D"/>
                </a:solidFill>
                <a:latin typeface="楷体_GB2312"/>
                <a:ea typeface="楷体_GB2312"/>
              </a:rPr>
              <a:t>ICW2</a:t>
            </a:r>
            <a:r>
              <a:rPr lang="zh-CN" altLang="en-US" sz="2200" dirty="0">
                <a:solidFill>
                  <a:srgbClr val="0D0D0D"/>
                </a:solidFill>
                <a:latin typeface="楷体_GB2312"/>
                <a:ea typeface="楷体_GB2312"/>
              </a:rPr>
              <a:t>，中断类型码</a:t>
            </a:r>
            <a:endParaRPr lang="zh-CN" altLang="en-US" sz="2200" dirty="0">
              <a:solidFill>
                <a:srgbClr val="0D0D0D"/>
              </a:solidFill>
              <a:latin typeface="楷体_GB2312"/>
              <a:ea typeface="楷体_GB2312"/>
            </a:endParaRPr>
          </a:p>
          <a:p>
            <a:pPr marL="342900" lvl="0" indent="-342900">
              <a:lnSpc>
                <a:spcPct val="130000"/>
              </a:lnSpc>
              <a:spcBef>
                <a:spcPct val="0"/>
              </a:spcBef>
              <a:spcAft>
                <a:spcPct val="0"/>
              </a:spcAft>
              <a:buClrTx/>
              <a:buSzTx/>
              <a:buNone/>
            </a:pPr>
            <a:r>
              <a:rPr lang="en-US" altLang="zh-CN" sz="2200" dirty="0">
                <a:solidFill>
                  <a:srgbClr val="0D0D0D"/>
                </a:solidFill>
                <a:latin typeface="楷体_GB2312"/>
                <a:ea typeface="楷体_GB2312"/>
              </a:rPr>
              <a:t>OUT ICW2A</a:t>
            </a:r>
            <a:r>
              <a:rPr lang="zh-CN" altLang="en-US" sz="2200" dirty="0">
                <a:solidFill>
                  <a:srgbClr val="0D0D0D"/>
                </a:solidFill>
                <a:latin typeface="楷体_GB2312"/>
                <a:ea typeface="楷体_GB2312"/>
              </a:rPr>
              <a:t>，</a:t>
            </a:r>
            <a:r>
              <a:rPr lang="en-US" altLang="zh-CN" sz="2200" dirty="0">
                <a:solidFill>
                  <a:srgbClr val="0D0D0D"/>
                </a:solidFill>
                <a:latin typeface="楷体_GB2312"/>
                <a:ea typeface="楷体_GB2312"/>
              </a:rPr>
              <a:t>AL</a:t>
            </a:r>
            <a:endParaRPr lang="en-US" altLang="zh-CN" sz="2200" dirty="0">
              <a:solidFill>
                <a:srgbClr val="0D0D0D"/>
              </a:solidFill>
              <a:latin typeface="楷体_GB2312"/>
              <a:ea typeface="楷体_GB2312"/>
            </a:endParaRPr>
          </a:p>
          <a:p>
            <a:pPr marL="342900" lvl="0" indent="-342900">
              <a:lnSpc>
                <a:spcPct val="130000"/>
              </a:lnSpc>
              <a:spcBef>
                <a:spcPct val="0"/>
              </a:spcBef>
              <a:spcAft>
                <a:spcPct val="0"/>
              </a:spcAft>
              <a:buClrTx/>
              <a:buSzTx/>
              <a:buNone/>
            </a:pPr>
            <a:r>
              <a:rPr lang="en-US" altLang="zh-CN" sz="2200" dirty="0">
                <a:solidFill>
                  <a:srgbClr val="0D0D0D"/>
                </a:solidFill>
                <a:latin typeface="楷体_GB2312"/>
                <a:ea typeface="楷体_GB2312"/>
              </a:rPr>
              <a:t>MOV AL</a:t>
            </a:r>
            <a:r>
              <a:rPr lang="zh-CN" altLang="en-US" sz="2200" dirty="0">
                <a:solidFill>
                  <a:srgbClr val="0D0D0D"/>
                </a:solidFill>
                <a:latin typeface="楷体_GB2312"/>
                <a:ea typeface="楷体_GB2312"/>
              </a:rPr>
              <a:t>，</a:t>
            </a:r>
            <a:r>
              <a:rPr lang="en-US" altLang="zh-CN" sz="2200" dirty="0">
                <a:solidFill>
                  <a:srgbClr val="0D0D0D"/>
                </a:solidFill>
                <a:latin typeface="楷体_GB2312"/>
                <a:ea typeface="楷体_GB2312"/>
              </a:rPr>
              <a:t>04H    </a:t>
            </a:r>
            <a:r>
              <a:rPr lang="zh-CN" altLang="en-US" sz="2200" dirty="0">
                <a:solidFill>
                  <a:srgbClr val="0D0D0D"/>
                </a:solidFill>
                <a:latin typeface="楷体_GB2312"/>
                <a:ea typeface="楷体_GB2312"/>
              </a:rPr>
              <a:t>；</a:t>
            </a:r>
            <a:r>
              <a:rPr lang="en-US" altLang="zh-CN" sz="2200" dirty="0">
                <a:solidFill>
                  <a:srgbClr val="0D0D0D"/>
                </a:solidFill>
                <a:latin typeface="楷体_GB2312"/>
                <a:ea typeface="楷体_GB2312"/>
              </a:rPr>
              <a:t>ICW3</a:t>
            </a:r>
            <a:r>
              <a:rPr lang="zh-CN" altLang="en-US" sz="2200" dirty="0">
                <a:solidFill>
                  <a:srgbClr val="0D0D0D"/>
                </a:solidFill>
                <a:latin typeface="楷体_GB2312"/>
                <a:ea typeface="楷体_GB2312"/>
              </a:rPr>
              <a:t>，</a:t>
            </a:r>
            <a:r>
              <a:rPr lang="en-US" altLang="zh-CN" sz="2200" dirty="0">
                <a:solidFill>
                  <a:srgbClr val="0D0D0D"/>
                </a:solidFill>
                <a:latin typeface="楷体_GB2312"/>
                <a:ea typeface="楷体_GB2312"/>
              </a:rPr>
              <a:t>IR2</a:t>
            </a:r>
            <a:r>
              <a:rPr lang="zh-CN" altLang="en-US" sz="2200" dirty="0">
                <a:solidFill>
                  <a:srgbClr val="0D0D0D"/>
                </a:solidFill>
                <a:latin typeface="楷体_GB2312"/>
                <a:ea typeface="楷体_GB2312"/>
              </a:rPr>
              <a:t>接从片</a:t>
            </a:r>
            <a:endParaRPr lang="zh-CN" altLang="en-US" sz="2200" dirty="0">
              <a:solidFill>
                <a:srgbClr val="0D0D0D"/>
              </a:solidFill>
              <a:latin typeface="楷体_GB2312"/>
              <a:ea typeface="楷体_GB2312"/>
            </a:endParaRPr>
          </a:p>
          <a:p>
            <a:pPr marL="342900" lvl="0" indent="-342900">
              <a:lnSpc>
                <a:spcPct val="130000"/>
              </a:lnSpc>
              <a:spcBef>
                <a:spcPct val="0"/>
              </a:spcBef>
              <a:spcAft>
                <a:spcPct val="0"/>
              </a:spcAft>
              <a:buClrTx/>
              <a:buSzTx/>
              <a:buNone/>
            </a:pPr>
            <a:r>
              <a:rPr lang="en-US" altLang="zh-CN" sz="2200" dirty="0">
                <a:solidFill>
                  <a:srgbClr val="0D0D0D"/>
                </a:solidFill>
                <a:latin typeface="楷体_GB2312"/>
                <a:ea typeface="楷体_GB2312"/>
              </a:rPr>
              <a:t>OUT ICW3A</a:t>
            </a:r>
            <a:r>
              <a:rPr lang="zh-CN" altLang="en-US" sz="2200" dirty="0">
                <a:solidFill>
                  <a:srgbClr val="0D0D0D"/>
                </a:solidFill>
                <a:latin typeface="楷体_GB2312"/>
                <a:ea typeface="楷体_GB2312"/>
              </a:rPr>
              <a:t>，</a:t>
            </a:r>
            <a:r>
              <a:rPr lang="en-US" altLang="zh-CN" sz="2200" dirty="0">
                <a:solidFill>
                  <a:srgbClr val="0D0D0D"/>
                </a:solidFill>
                <a:latin typeface="楷体_GB2312"/>
                <a:ea typeface="楷体_GB2312"/>
              </a:rPr>
              <a:t>AL</a:t>
            </a:r>
            <a:endParaRPr lang="en-US" altLang="zh-CN" sz="2200" dirty="0">
              <a:solidFill>
                <a:srgbClr val="0D0D0D"/>
              </a:solidFill>
              <a:latin typeface="楷体_GB2312"/>
              <a:ea typeface="楷体_GB2312"/>
            </a:endParaRPr>
          </a:p>
          <a:p>
            <a:pPr marL="342900" lvl="0" indent="-342900">
              <a:lnSpc>
                <a:spcPct val="130000"/>
              </a:lnSpc>
              <a:spcBef>
                <a:spcPct val="0"/>
              </a:spcBef>
              <a:spcAft>
                <a:spcPct val="0"/>
              </a:spcAft>
              <a:buClrTx/>
              <a:buSzTx/>
              <a:buNone/>
            </a:pPr>
            <a:r>
              <a:rPr lang="en-US" altLang="zh-CN" sz="2200" dirty="0">
                <a:solidFill>
                  <a:srgbClr val="0D0D0D"/>
                </a:solidFill>
                <a:latin typeface="楷体_GB2312"/>
                <a:ea typeface="楷体_GB2312"/>
              </a:rPr>
              <a:t>MOV AL</a:t>
            </a:r>
            <a:r>
              <a:rPr lang="zh-CN" altLang="en-US" sz="2200" dirty="0">
                <a:solidFill>
                  <a:srgbClr val="0D0D0D"/>
                </a:solidFill>
                <a:latin typeface="楷体_GB2312"/>
                <a:ea typeface="楷体_GB2312"/>
              </a:rPr>
              <a:t>，</a:t>
            </a:r>
            <a:r>
              <a:rPr lang="en-US" altLang="zh-CN" sz="2200" dirty="0">
                <a:solidFill>
                  <a:srgbClr val="0D0D0D"/>
                </a:solidFill>
                <a:latin typeface="楷体_GB2312"/>
                <a:ea typeface="楷体_GB2312"/>
              </a:rPr>
              <a:t>11H    </a:t>
            </a:r>
            <a:r>
              <a:rPr lang="zh-CN" altLang="en-US" sz="2200" dirty="0">
                <a:solidFill>
                  <a:srgbClr val="0D0D0D"/>
                </a:solidFill>
                <a:latin typeface="楷体_GB2312"/>
                <a:ea typeface="楷体_GB2312"/>
              </a:rPr>
              <a:t>；</a:t>
            </a:r>
            <a:r>
              <a:rPr lang="en-US" altLang="zh-CN" sz="2200" dirty="0">
                <a:solidFill>
                  <a:srgbClr val="0D0D0D"/>
                </a:solidFill>
                <a:latin typeface="楷体_GB2312"/>
                <a:ea typeface="楷体_GB2312"/>
              </a:rPr>
              <a:t>ICW4</a:t>
            </a:r>
            <a:r>
              <a:rPr lang="zh-CN" altLang="en-US" sz="2200" dirty="0">
                <a:solidFill>
                  <a:srgbClr val="0D0D0D"/>
                </a:solidFill>
                <a:latin typeface="楷体_GB2312"/>
                <a:ea typeface="楷体_GB2312"/>
              </a:rPr>
              <a:t>，非缓冲，特殊全嵌套，非自动结束</a:t>
            </a:r>
            <a:endParaRPr lang="zh-CN" altLang="en-US" sz="2200" dirty="0">
              <a:solidFill>
                <a:srgbClr val="0D0D0D"/>
              </a:solidFill>
              <a:latin typeface="楷体_GB2312"/>
              <a:ea typeface="楷体_GB2312"/>
            </a:endParaRPr>
          </a:p>
          <a:p>
            <a:pPr marL="342900" lvl="0" indent="-342900">
              <a:lnSpc>
                <a:spcPct val="130000"/>
              </a:lnSpc>
              <a:spcBef>
                <a:spcPct val="0"/>
              </a:spcBef>
              <a:spcAft>
                <a:spcPct val="0"/>
              </a:spcAft>
              <a:buClrTx/>
              <a:buSzTx/>
              <a:buNone/>
            </a:pPr>
            <a:r>
              <a:rPr lang="en-US" altLang="zh-CN" sz="2200" dirty="0">
                <a:solidFill>
                  <a:srgbClr val="0D0D0D"/>
                </a:solidFill>
                <a:latin typeface="楷体_GB2312"/>
                <a:ea typeface="楷体_GB2312"/>
              </a:rPr>
              <a:t>OUT ICW4A</a:t>
            </a:r>
            <a:r>
              <a:rPr lang="zh-CN" altLang="en-US" sz="2200" dirty="0">
                <a:solidFill>
                  <a:srgbClr val="0D0D0D"/>
                </a:solidFill>
                <a:latin typeface="楷体_GB2312"/>
                <a:ea typeface="楷体_GB2312"/>
              </a:rPr>
              <a:t>，</a:t>
            </a:r>
            <a:r>
              <a:rPr lang="en-US" altLang="zh-CN" sz="2200" dirty="0">
                <a:solidFill>
                  <a:srgbClr val="0D0D0D"/>
                </a:solidFill>
                <a:latin typeface="楷体_GB2312"/>
                <a:ea typeface="楷体_GB2312"/>
              </a:rPr>
              <a:t>AL</a:t>
            </a:r>
            <a:endParaRPr lang="en-US" altLang="zh-CN" sz="2200" dirty="0">
              <a:solidFill>
                <a:srgbClr val="0D0D0D"/>
              </a:solidFill>
              <a:latin typeface="楷体_GB2312"/>
              <a:ea typeface="楷体_GB2312"/>
            </a:endParaRPr>
          </a:p>
          <a:p>
            <a:pPr marL="342900" lvl="0" indent="-342900">
              <a:lnSpc>
                <a:spcPct val="130000"/>
              </a:lnSpc>
              <a:spcBef>
                <a:spcPct val="0"/>
              </a:spcBef>
              <a:spcAft>
                <a:spcPct val="0"/>
              </a:spcAft>
              <a:buClrTx/>
              <a:buSzTx/>
              <a:buNone/>
            </a:pPr>
            <a:r>
              <a:rPr lang="en-US" altLang="zh-CN" sz="2200" dirty="0">
                <a:solidFill>
                  <a:srgbClr val="0D0D0D"/>
                </a:solidFill>
                <a:latin typeface="楷体_GB2312"/>
                <a:ea typeface="楷体_GB2312"/>
              </a:rPr>
              <a:t>OUT ICW4B</a:t>
            </a:r>
            <a:r>
              <a:rPr lang="zh-CN" altLang="en-US" sz="2200" dirty="0">
                <a:solidFill>
                  <a:srgbClr val="0D0D0D"/>
                </a:solidFill>
                <a:latin typeface="楷体_GB2312"/>
                <a:ea typeface="楷体_GB2312"/>
              </a:rPr>
              <a:t>，</a:t>
            </a:r>
            <a:r>
              <a:rPr lang="en-US" altLang="zh-CN" sz="2200" dirty="0">
                <a:solidFill>
                  <a:srgbClr val="0D0D0D"/>
                </a:solidFill>
                <a:latin typeface="楷体_GB2312"/>
                <a:ea typeface="楷体_GB2312"/>
              </a:rPr>
              <a:t>AL</a:t>
            </a:r>
            <a:endParaRPr lang="en-US" altLang="zh-CN" sz="2200" dirty="0">
              <a:solidFill>
                <a:srgbClr val="0D0D0D"/>
              </a:solidFill>
              <a:latin typeface="楷体_GB2312"/>
              <a:ea typeface="楷体_GB2312"/>
            </a:endParaRPr>
          </a:p>
        </p:txBody>
      </p:sp>
    </p:spTree>
  </p:cSld>
  <p:clrMapOvr>
    <a:masterClrMapping/>
  </p:clrMapOvr>
  <p:transition spd="slow">
    <p:zoom/>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42" name="矩形 1"/>
          <p:cNvSpPr/>
          <p:nvPr/>
        </p:nvSpPr>
        <p:spPr>
          <a:xfrm>
            <a:off x="1116013" y="2060575"/>
            <a:ext cx="7127875" cy="4154488"/>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50000"/>
              </a:lnSpc>
              <a:spcBef>
                <a:spcPct val="0"/>
              </a:spcBef>
              <a:spcAft>
                <a:spcPct val="0"/>
              </a:spcAft>
              <a:buClr>
                <a:srgbClr val="FF0000"/>
              </a:buClr>
              <a:buSzTx/>
            </a:pPr>
            <a:r>
              <a:rPr lang="zh-CN" altLang="en-US" sz="2200" dirty="0">
                <a:solidFill>
                  <a:srgbClr val="002060"/>
                </a:solidFill>
                <a:latin typeface="楷体_GB2312"/>
                <a:ea typeface="楷体_GB2312"/>
              </a:rPr>
              <a:t>从片初始化</a:t>
            </a:r>
            <a:endParaRPr lang="en-US" altLang="zh-CN" sz="2200" dirty="0">
              <a:solidFill>
                <a:srgbClr val="002060"/>
              </a:solidFill>
              <a:latin typeface="楷体_GB2312"/>
              <a:ea typeface="楷体_GB2312"/>
            </a:endParaRPr>
          </a:p>
          <a:p>
            <a:pPr marL="342900" lvl="0" indent="-342900">
              <a:lnSpc>
                <a:spcPct val="150000"/>
              </a:lnSpc>
              <a:spcBef>
                <a:spcPct val="0"/>
              </a:spcBef>
              <a:spcAft>
                <a:spcPct val="0"/>
              </a:spcAft>
              <a:buClrTx/>
              <a:buSzTx/>
              <a:buNone/>
            </a:pPr>
            <a:r>
              <a:rPr lang="en-US" altLang="zh-CN" sz="2200" dirty="0">
                <a:solidFill>
                  <a:schemeClr val="tx1"/>
                </a:solidFill>
                <a:latin typeface="楷体_GB2312"/>
                <a:ea typeface="楷体_GB2312"/>
              </a:rPr>
              <a:t>MOV AL</a:t>
            </a:r>
            <a:r>
              <a:rPr lang="zh-CN" altLang="en-US" sz="2200" dirty="0">
                <a:solidFill>
                  <a:schemeClr val="tx1"/>
                </a:solidFill>
                <a:latin typeface="楷体_GB2312"/>
                <a:ea typeface="楷体_GB2312"/>
              </a:rPr>
              <a:t>，</a:t>
            </a:r>
            <a:r>
              <a:rPr lang="en-US" altLang="zh-CN" sz="2200" dirty="0">
                <a:solidFill>
                  <a:schemeClr val="tx1"/>
                </a:solidFill>
                <a:latin typeface="楷体_GB2312"/>
                <a:ea typeface="楷体_GB2312"/>
              </a:rPr>
              <a:t>11H 	</a:t>
            </a:r>
            <a:r>
              <a:rPr lang="zh-CN" altLang="en-US" sz="2200" dirty="0">
                <a:solidFill>
                  <a:schemeClr val="tx1"/>
                </a:solidFill>
                <a:latin typeface="楷体_GB2312"/>
                <a:ea typeface="楷体_GB2312"/>
              </a:rPr>
              <a:t>；</a:t>
            </a:r>
            <a:r>
              <a:rPr lang="en-US" altLang="zh-CN" sz="2200" dirty="0">
                <a:solidFill>
                  <a:schemeClr val="tx1"/>
                </a:solidFill>
                <a:latin typeface="楷体_GB2312"/>
                <a:ea typeface="楷体_GB2312"/>
              </a:rPr>
              <a:t>ICW1</a:t>
            </a:r>
            <a:r>
              <a:rPr lang="zh-CN" altLang="en-US" sz="2200" dirty="0">
                <a:solidFill>
                  <a:schemeClr val="tx1"/>
                </a:solidFill>
                <a:latin typeface="楷体_GB2312"/>
                <a:ea typeface="楷体_GB2312"/>
              </a:rPr>
              <a:t>，边沿触发，多片，需</a:t>
            </a:r>
            <a:r>
              <a:rPr lang="en-US" altLang="zh-CN" sz="2200" dirty="0">
                <a:solidFill>
                  <a:schemeClr val="tx1"/>
                </a:solidFill>
                <a:latin typeface="楷体_GB2312"/>
                <a:ea typeface="楷体_GB2312"/>
              </a:rPr>
              <a:t>ICW4</a:t>
            </a:r>
            <a:endParaRPr lang="en-US" altLang="zh-CN" sz="2200" dirty="0">
              <a:solidFill>
                <a:schemeClr val="tx1"/>
              </a:solidFill>
              <a:latin typeface="楷体_GB2312"/>
              <a:ea typeface="楷体_GB2312"/>
            </a:endParaRPr>
          </a:p>
          <a:p>
            <a:pPr marL="342900" lvl="0" indent="-342900">
              <a:lnSpc>
                <a:spcPct val="150000"/>
              </a:lnSpc>
              <a:spcBef>
                <a:spcPct val="0"/>
              </a:spcBef>
              <a:spcAft>
                <a:spcPct val="0"/>
              </a:spcAft>
              <a:buClrTx/>
              <a:buSzTx/>
              <a:buNone/>
            </a:pPr>
            <a:r>
              <a:rPr lang="en-US" altLang="zh-CN" sz="2200" dirty="0">
                <a:solidFill>
                  <a:schemeClr val="tx1"/>
                </a:solidFill>
                <a:latin typeface="楷体_GB2312"/>
                <a:ea typeface="楷体_GB2312"/>
              </a:rPr>
              <a:t>OUT ICW1B</a:t>
            </a:r>
            <a:r>
              <a:rPr lang="zh-CN" altLang="en-US" sz="2200" dirty="0">
                <a:solidFill>
                  <a:schemeClr val="tx1"/>
                </a:solidFill>
                <a:latin typeface="楷体_GB2312"/>
                <a:ea typeface="楷体_GB2312"/>
              </a:rPr>
              <a:t>，</a:t>
            </a:r>
            <a:r>
              <a:rPr lang="en-US" altLang="zh-CN" sz="2200" dirty="0">
                <a:solidFill>
                  <a:schemeClr val="tx1"/>
                </a:solidFill>
                <a:latin typeface="楷体_GB2312"/>
                <a:ea typeface="楷体_GB2312"/>
              </a:rPr>
              <a:t>AL</a:t>
            </a:r>
            <a:endParaRPr lang="en-US" altLang="zh-CN" sz="2200" dirty="0">
              <a:solidFill>
                <a:schemeClr val="tx1"/>
              </a:solidFill>
              <a:latin typeface="楷体_GB2312"/>
              <a:ea typeface="楷体_GB2312"/>
            </a:endParaRPr>
          </a:p>
          <a:p>
            <a:pPr marL="342900" lvl="0" indent="-342900">
              <a:lnSpc>
                <a:spcPct val="150000"/>
              </a:lnSpc>
              <a:spcBef>
                <a:spcPct val="0"/>
              </a:spcBef>
              <a:spcAft>
                <a:spcPct val="0"/>
              </a:spcAft>
              <a:buClrTx/>
              <a:buSzTx/>
              <a:buNone/>
            </a:pPr>
            <a:r>
              <a:rPr lang="en-US" altLang="zh-CN" sz="2200" dirty="0">
                <a:solidFill>
                  <a:schemeClr val="tx1"/>
                </a:solidFill>
                <a:latin typeface="楷体_GB2312"/>
                <a:ea typeface="楷体_GB2312"/>
              </a:rPr>
              <a:t>MOV AL</a:t>
            </a:r>
            <a:r>
              <a:rPr lang="zh-CN" altLang="en-US" sz="2200" dirty="0">
                <a:solidFill>
                  <a:schemeClr val="tx1"/>
                </a:solidFill>
                <a:latin typeface="楷体_GB2312"/>
                <a:ea typeface="楷体_GB2312"/>
              </a:rPr>
              <a:t>，</a:t>
            </a:r>
            <a:r>
              <a:rPr lang="en-US" altLang="zh-CN" sz="2200" dirty="0">
                <a:solidFill>
                  <a:schemeClr val="tx1"/>
                </a:solidFill>
                <a:latin typeface="楷体_GB2312"/>
                <a:ea typeface="楷体_GB2312"/>
              </a:rPr>
              <a:t>70H 	</a:t>
            </a:r>
            <a:r>
              <a:rPr lang="zh-CN" altLang="en-US" sz="2200" dirty="0">
                <a:solidFill>
                  <a:schemeClr val="tx1"/>
                </a:solidFill>
                <a:latin typeface="楷体_GB2312"/>
                <a:ea typeface="楷体_GB2312"/>
              </a:rPr>
              <a:t>；</a:t>
            </a:r>
            <a:r>
              <a:rPr lang="en-US" altLang="zh-CN" sz="2200" dirty="0">
                <a:solidFill>
                  <a:schemeClr val="tx1"/>
                </a:solidFill>
                <a:latin typeface="楷体_GB2312"/>
                <a:ea typeface="楷体_GB2312"/>
              </a:rPr>
              <a:t>ICW2</a:t>
            </a:r>
            <a:r>
              <a:rPr lang="zh-CN" altLang="en-US" sz="2200" dirty="0">
                <a:solidFill>
                  <a:schemeClr val="tx1"/>
                </a:solidFill>
                <a:latin typeface="楷体_GB2312"/>
                <a:ea typeface="楷体_GB2312"/>
              </a:rPr>
              <a:t>，中断类型码</a:t>
            </a:r>
            <a:endParaRPr lang="zh-CN" altLang="en-US" sz="2200" dirty="0">
              <a:solidFill>
                <a:schemeClr val="tx1"/>
              </a:solidFill>
              <a:latin typeface="楷体_GB2312"/>
              <a:ea typeface="楷体_GB2312"/>
            </a:endParaRPr>
          </a:p>
          <a:p>
            <a:pPr marL="342900" lvl="0" indent="-342900">
              <a:lnSpc>
                <a:spcPct val="150000"/>
              </a:lnSpc>
              <a:spcBef>
                <a:spcPct val="0"/>
              </a:spcBef>
              <a:spcAft>
                <a:spcPct val="0"/>
              </a:spcAft>
              <a:buClrTx/>
              <a:buSzTx/>
              <a:buNone/>
            </a:pPr>
            <a:r>
              <a:rPr lang="en-US" altLang="zh-CN" sz="2200" dirty="0">
                <a:solidFill>
                  <a:schemeClr val="tx1"/>
                </a:solidFill>
                <a:latin typeface="楷体_GB2312"/>
                <a:ea typeface="楷体_GB2312"/>
              </a:rPr>
              <a:t>OUT ICW2B</a:t>
            </a:r>
            <a:r>
              <a:rPr lang="zh-CN" altLang="en-US" sz="2200" dirty="0">
                <a:solidFill>
                  <a:schemeClr val="tx1"/>
                </a:solidFill>
                <a:latin typeface="楷体_GB2312"/>
                <a:ea typeface="楷体_GB2312"/>
              </a:rPr>
              <a:t>，</a:t>
            </a:r>
            <a:r>
              <a:rPr lang="en-US" altLang="zh-CN" sz="2200" dirty="0">
                <a:solidFill>
                  <a:schemeClr val="tx1"/>
                </a:solidFill>
                <a:latin typeface="楷体_GB2312"/>
                <a:ea typeface="楷体_GB2312"/>
              </a:rPr>
              <a:t>AL</a:t>
            </a:r>
            <a:endParaRPr lang="en-US" altLang="zh-CN" sz="2200" dirty="0">
              <a:solidFill>
                <a:schemeClr val="tx1"/>
              </a:solidFill>
              <a:latin typeface="楷体_GB2312"/>
              <a:ea typeface="楷体_GB2312"/>
            </a:endParaRPr>
          </a:p>
          <a:p>
            <a:pPr marL="342900" lvl="0" indent="-342900">
              <a:lnSpc>
                <a:spcPct val="150000"/>
              </a:lnSpc>
              <a:spcBef>
                <a:spcPct val="0"/>
              </a:spcBef>
              <a:spcAft>
                <a:spcPct val="0"/>
              </a:spcAft>
              <a:buClrTx/>
              <a:buSzTx/>
              <a:buNone/>
            </a:pPr>
            <a:r>
              <a:rPr lang="en-US" altLang="zh-CN" sz="2200" dirty="0">
                <a:solidFill>
                  <a:schemeClr val="tx1"/>
                </a:solidFill>
                <a:latin typeface="楷体_GB2312"/>
                <a:ea typeface="楷体_GB2312"/>
              </a:rPr>
              <a:t>MOV AL</a:t>
            </a:r>
            <a:r>
              <a:rPr lang="zh-CN" altLang="en-US" sz="2200" dirty="0">
                <a:solidFill>
                  <a:schemeClr val="tx1"/>
                </a:solidFill>
                <a:latin typeface="楷体_GB2312"/>
                <a:ea typeface="楷体_GB2312"/>
              </a:rPr>
              <a:t>，</a:t>
            </a:r>
            <a:r>
              <a:rPr lang="en-US" altLang="zh-CN" sz="2200" dirty="0">
                <a:solidFill>
                  <a:schemeClr val="tx1"/>
                </a:solidFill>
                <a:latin typeface="楷体_GB2312"/>
                <a:ea typeface="楷体_GB2312"/>
              </a:rPr>
              <a:t>02H 	</a:t>
            </a:r>
            <a:r>
              <a:rPr lang="zh-CN" altLang="en-US" sz="2200" dirty="0">
                <a:solidFill>
                  <a:schemeClr val="tx1"/>
                </a:solidFill>
                <a:latin typeface="楷体_GB2312"/>
                <a:ea typeface="楷体_GB2312"/>
              </a:rPr>
              <a:t>；</a:t>
            </a:r>
            <a:r>
              <a:rPr lang="en-US" altLang="zh-CN" sz="2200" dirty="0">
                <a:solidFill>
                  <a:schemeClr val="tx1"/>
                </a:solidFill>
                <a:latin typeface="楷体_GB2312"/>
                <a:ea typeface="楷体_GB2312"/>
              </a:rPr>
              <a:t>ICW3</a:t>
            </a:r>
            <a:r>
              <a:rPr lang="zh-CN" altLang="en-US" sz="2200" dirty="0">
                <a:solidFill>
                  <a:schemeClr val="tx1"/>
                </a:solidFill>
                <a:latin typeface="楷体_GB2312"/>
                <a:ea typeface="楷体_GB2312"/>
              </a:rPr>
              <a:t>，</a:t>
            </a:r>
            <a:r>
              <a:rPr lang="en-US" altLang="zh-CN" sz="2200" dirty="0">
                <a:solidFill>
                  <a:schemeClr val="tx1"/>
                </a:solidFill>
                <a:latin typeface="楷体_GB2312"/>
                <a:ea typeface="楷体_GB2312"/>
              </a:rPr>
              <a:t>INT</a:t>
            </a:r>
            <a:r>
              <a:rPr lang="zh-CN" altLang="en-US" sz="2200" dirty="0">
                <a:solidFill>
                  <a:schemeClr val="tx1"/>
                </a:solidFill>
                <a:latin typeface="楷体_GB2312"/>
                <a:ea typeface="楷体_GB2312"/>
              </a:rPr>
              <a:t>接主片的</a:t>
            </a:r>
            <a:r>
              <a:rPr lang="en-US" altLang="zh-CN" sz="2200" dirty="0">
                <a:solidFill>
                  <a:schemeClr val="tx1"/>
                </a:solidFill>
                <a:latin typeface="楷体_GB2312"/>
                <a:ea typeface="楷体_GB2312"/>
              </a:rPr>
              <a:t>IR2</a:t>
            </a:r>
            <a:endParaRPr lang="en-US" altLang="zh-CN" sz="2200" dirty="0">
              <a:solidFill>
                <a:schemeClr val="tx1"/>
              </a:solidFill>
              <a:latin typeface="楷体_GB2312"/>
              <a:ea typeface="楷体_GB2312"/>
            </a:endParaRPr>
          </a:p>
          <a:p>
            <a:pPr marL="342900" lvl="0" indent="-342900">
              <a:lnSpc>
                <a:spcPct val="150000"/>
              </a:lnSpc>
              <a:spcBef>
                <a:spcPct val="0"/>
              </a:spcBef>
              <a:spcAft>
                <a:spcPct val="0"/>
              </a:spcAft>
              <a:buClrTx/>
              <a:buSzTx/>
              <a:buNone/>
            </a:pPr>
            <a:r>
              <a:rPr lang="en-US" altLang="zh-CN" sz="2200" dirty="0">
                <a:solidFill>
                  <a:schemeClr val="tx1"/>
                </a:solidFill>
                <a:latin typeface="楷体_GB2312"/>
                <a:ea typeface="楷体_GB2312"/>
              </a:rPr>
              <a:t>OUT ICW3B</a:t>
            </a:r>
            <a:r>
              <a:rPr lang="zh-CN" altLang="en-US" sz="2200" dirty="0">
                <a:solidFill>
                  <a:schemeClr val="tx1"/>
                </a:solidFill>
                <a:latin typeface="楷体_GB2312"/>
                <a:ea typeface="楷体_GB2312"/>
              </a:rPr>
              <a:t>，</a:t>
            </a:r>
            <a:r>
              <a:rPr lang="en-US" altLang="zh-CN" sz="2200" dirty="0">
                <a:solidFill>
                  <a:schemeClr val="tx1"/>
                </a:solidFill>
                <a:latin typeface="楷体_GB2312"/>
                <a:ea typeface="楷体_GB2312"/>
              </a:rPr>
              <a:t>AL</a:t>
            </a:r>
            <a:endParaRPr lang="en-US" altLang="zh-CN" sz="2200" dirty="0">
              <a:solidFill>
                <a:schemeClr val="tx1"/>
              </a:solidFill>
              <a:latin typeface="楷体_GB2312"/>
              <a:ea typeface="楷体_GB2312"/>
            </a:endParaRPr>
          </a:p>
          <a:p>
            <a:pPr marL="342900" lvl="0" indent="-342900">
              <a:lnSpc>
                <a:spcPct val="150000"/>
              </a:lnSpc>
              <a:spcBef>
                <a:spcPct val="0"/>
              </a:spcBef>
              <a:spcAft>
                <a:spcPct val="0"/>
              </a:spcAft>
              <a:buClrTx/>
              <a:buSzTx/>
              <a:buNone/>
            </a:pPr>
            <a:r>
              <a:rPr lang="en-US" altLang="zh-CN" sz="2200" dirty="0">
                <a:solidFill>
                  <a:schemeClr val="tx1"/>
                </a:solidFill>
                <a:latin typeface="楷体_GB2312"/>
                <a:ea typeface="楷体_GB2312"/>
              </a:rPr>
              <a:t>MOV AL</a:t>
            </a:r>
            <a:r>
              <a:rPr lang="zh-CN" altLang="en-US" sz="2200" dirty="0">
                <a:solidFill>
                  <a:schemeClr val="tx1"/>
                </a:solidFill>
                <a:latin typeface="楷体_GB2312"/>
                <a:ea typeface="楷体_GB2312"/>
              </a:rPr>
              <a:t>，</a:t>
            </a:r>
            <a:r>
              <a:rPr lang="en-US" altLang="zh-CN" sz="2200" dirty="0">
                <a:solidFill>
                  <a:schemeClr val="tx1"/>
                </a:solidFill>
                <a:latin typeface="楷体_GB2312"/>
                <a:ea typeface="楷体_GB2312"/>
              </a:rPr>
              <a:t>01H 	</a:t>
            </a:r>
            <a:r>
              <a:rPr lang="zh-CN" altLang="en-US" sz="2200" dirty="0">
                <a:solidFill>
                  <a:schemeClr val="tx1"/>
                </a:solidFill>
                <a:latin typeface="楷体_GB2312"/>
                <a:ea typeface="楷体_GB2312"/>
              </a:rPr>
              <a:t>；</a:t>
            </a:r>
            <a:r>
              <a:rPr lang="en-US" altLang="zh-CN" sz="2200" dirty="0">
                <a:solidFill>
                  <a:schemeClr val="tx1"/>
                </a:solidFill>
                <a:latin typeface="楷体_GB2312"/>
                <a:ea typeface="楷体_GB2312"/>
              </a:rPr>
              <a:t>ICW4</a:t>
            </a:r>
            <a:r>
              <a:rPr lang="zh-CN" altLang="en-US" sz="2200" dirty="0">
                <a:solidFill>
                  <a:schemeClr val="tx1"/>
                </a:solidFill>
                <a:latin typeface="楷体_GB2312"/>
                <a:ea typeface="楷体_GB2312"/>
              </a:rPr>
              <a:t>，非缓冲，全嵌套，非自动结束</a:t>
            </a:r>
            <a:endParaRPr lang="zh-CN" altLang="en-US" sz="2200" dirty="0">
              <a:solidFill>
                <a:schemeClr val="tx1"/>
              </a:solidFill>
              <a:latin typeface="楷体_GB2312"/>
              <a:ea typeface="楷体_GB2312"/>
            </a:endParaRPr>
          </a:p>
        </p:txBody>
      </p:sp>
    </p:spTree>
  </p:cSld>
  <p:clrMapOvr>
    <a:masterClrMapping/>
  </p:clrMapOvr>
  <p:transition spd="slow">
    <p:zoom/>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726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67267" name="Rectangle 2"/>
          <p:cNvSpPr>
            <a:spLocks noGrp="1" noRot="1"/>
          </p:cNvSpPr>
          <p:nvPr>
            <p:ph type="title" idx="4294967295"/>
          </p:nvPr>
        </p:nvSpPr>
        <p:spPr/>
        <p:txBody>
          <a:bodyPr vert="horz" wrap="square" lIns="91440" tIns="45720" rIns="91440" bIns="45720" anchor="b" anchorCtr="0"/>
          <a:p>
            <a:pPr eaLnBrk="1" hangingPunct="1"/>
            <a:r>
              <a:rPr lang="en-GB" altLang="en-US" dirty="0"/>
              <a:t>PC</a:t>
            </a:r>
            <a:r>
              <a:rPr lang="zh-CN" altLang="en-US" dirty="0"/>
              <a:t>机中断程序设计</a:t>
            </a:r>
            <a:endParaRPr lang="zh-CN" altLang="en-US" dirty="0"/>
          </a:p>
        </p:txBody>
      </p:sp>
      <p:sp>
        <p:nvSpPr>
          <p:cNvPr id="267268" name="Rectangle 3"/>
          <p:cNvSpPr>
            <a:spLocks noGrp="1" noRot="1"/>
          </p:cNvSpPr>
          <p:nvPr>
            <p:ph type="body" idx="4294967295"/>
          </p:nvPr>
        </p:nvSpPr>
        <p:spPr>
          <a:xfrm>
            <a:off x="1171575" y="1871663"/>
            <a:ext cx="7772400" cy="4829175"/>
          </a:xfrm>
        </p:spPr>
        <p:txBody>
          <a:bodyPr vert="horz" wrap="square" lIns="91440" tIns="45720" rIns="91440" bIns="45720" anchor="t" anchorCtr="0"/>
          <a:p>
            <a:pPr eaLnBrk="1" hangingPunct="1">
              <a:lnSpc>
                <a:spcPct val="100000"/>
              </a:lnSpc>
              <a:buNone/>
            </a:pPr>
            <a:r>
              <a:rPr lang="en-US" altLang="zh-CN" sz="2000" dirty="0">
                <a:latin typeface="楷体_GB2312"/>
              </a:rPr>
              <a:t>1</a:t>
            </a:r>
            <a:r>
              <a:rPr lang="zh-CN" altLang="en-US" sz="2000" dirty="0">
                <a:latin typeface="楷体_GB2312"/>
              </a:rPr>
              <a:t>）主程序</a:t>
            </a:r>
            <a:endParaRPr lang="zh-CN" altLang="en-US" sz="2000" dirty="0">
              <a:latin typeface="楷体_GB2312"/>
            </a:endParaRPr>
          </a:p>
          <a:p>
            <a:pPr algn="just" eaLnBrk="1" hangingPunct="1">
              <a:lnSpc>
                <a:spcPct val="100000"/>
              </a:lnSpc>
              <a:buNone/>
            </a:pPr>
            <a:r>
              <a:rPr lang="zh-CN" altLang="en-US" sz="2000" dirty="0">
                <a:latin typeface="楷体_GB2312"/>
              </a:rPr>
              <a:t>		保存原中断向量			</a:t>
            </a:r>
            <a:endParaRPr lang="zh-CN" altLang="en-US" sz="2000" dirty="0">
              <a:latin typeface="楷体_GB2312"/>
            </a:endParaRPr>
          </a:p>
          <a:p>
            <a:pPr algn="just" eaLnBrk="1" hangingPunct="1">
              <a:lnSpc>
                <a:spcPct val="100000"/>
              </a:lnSpc>
              <a:buNone/>
            </a:pPr>
            <a:r>
              <a:rPr lang="zh-CN" altLang="en-US" sz="2000" dirty="0">
                <a:latin typeface="楷体_GB2312"/>
              </a:rPr>
              <a:t>		设置自己的中断向量</a:t>
            </a:r>
            <a:endParaRPr lang="zh-CN" altLang="en-US" sz="2000" dirty="0">
              <a:latin typeface="楷体_GB2312"/>
            </a:endParaRPr>
          </a:p>
          <a:p>
            <a:pPr algn="just" eaLnBrk="1" hangingPunct="1">
              <a:lnSpc>
                <a:spcPct val="100000"/>
              </a:lnSpc>
              <a:buNone/>
            </a:pPr>
            <a:r>
              <a:rPr lang="zh-CN" altLang="en-US" sz="2000" dirty="0">
                <a:latin typeface="楷体_GB2312"/>
              </a:rPr>
              <a:t>		初始化堆栈指针</a:t>
            </a:r>
            <a:endParaRPr lang="zh-CN" altLang="en-US" sz="2000" dirty="0">
              <a:latin typeface="楷体_GB2312"/>
            </a:endParaRPr>
          </a:p>
          <a:p>
            <a:pPr algn="just" eaLnBrk="1" hangingPunct="1">
              <a:lnSpc>
                <a:spcPct val="100000"/>
              </a:lnSpc>
              <a:buNone/>
            </a:pPr>
            <a:r>
              <a:rPr lang="zh-CN" altLang="en-US" sz="2000" dirty="0">
                <a:latin typeface="楷体_GB2312"/>
              </a:rPr>
              <a:t>		</a:t>
            </a:r>
            <a:r>
              <a:rPr lang="zh-CN" altLang="en-US" sz="2000" dirty="0">
                <a:solidFill>
                  <a:schemeClr val="hlink"/>
                </a:solidFill>
                <a:latin typeface="楷体_GB2312"/>
              </a:rPr>
              <a:t>设置</a:t>
            </a:r>
            <a:r>
              <a:rPr lang="en-US" altLang="zh-CN" sz="2000" dirty="0">
                <a:solidFill>
                  <a:schemeClr val="hlink"/>
                </a:solidFill>
                <a:latin typeface="楷体_GB2312"/>
              </a:rPr>
              <a:t>8259A</a:t>
            </a:r>
            <a:r>
              <a:rPr lang="zh-CN" altLang="en-US" sz="2000" dirty="0">
                <a:solidFill>
                  <a:schemeClr val="hlink"/>
                </a:solidFill>
                <a:latin typeface="楷体_GB2312"/>
              </a:rPr>
              <a:t>的中断屏蔽字（其他的已由操作系统设置）</a:t>
            </a:r>
            <a:endParaRPr lang="zh-CN" altLang="en-US" sz="2000" dirty="0">
              <a:solidFill>
                <a:schemeClr val="hlink"/>
              </a:solidFill>
              <a:latin typeface="楷体_GB2312"/>
            </a:endParaRPr>
          </a:p>
          <a:p>
            <a:pPr algn="just" eaLnBrk="1" hangingPunct="1">
              <a:lnSpc>
                <a:spcPct val="100000"/>
              </a:lnSpc>
              <a:buNone/>
            </a:pPr>
            <a:r>
              <a:rPr lang="zh-CN" altLang="en-US" sz="2000" dirty="0">
                <a:latin typeface="楷体_GB2312"/>
              </a:rPr>
              <a:t>		</a:t>
            </a:r>
            <a:r>
              <a:rPr lang="en-US" altLang="zh-CN" sz="2000" dirty="0">
                <a:latin typeface="楷体_GB2312"/>
              </a:rPr>
              <a:t>STI</a:t>
            </a:r>
            <a:endParaRPr lang="en-US" altLang="zh-CN" sz="2000" dirty="0">
              <a:latin typeface="楷体_GB2312"/>
            </a:endParaRPr>
          </a:p>
          <a:p>
            <a:pPr algn="just" eaLnBrk="1" hangingPunct="1">
              <a:lnSpc>
                <a:spcPct val="100000"/>
              </a:lnSpc>
              <a:buNone/>
            </a:pPr>
            <a:r>
              <a:rPr lang="en-US" altLang="zh-CN" sz="2000" dirty="0">
                <a:latin typeface="楷体_GB2312"/>
              </a:rPr>
              <a:t>2</a:t>
            </a:r>
            <a:r>
              <a:rPr lang="zh-CN" altLang="en-US" sz="2000" dirty="0">
                <a:latin typeface="楷体_GB2312"/>
              </a:rPr>
              <a:t>）中断服务程序</a:t>
            </a:r>
            <a:endParaRPr lang="zh-CN" altLang="en-US" sz="2000" dirty="0">
              <a:latin typeface="楷体_GB2312"/>
            </a:endParaRPr>
          </a:p>
          <a:p>
            <a:pPr algn="just" eaLnBrk="1" hangingPunct="1">
              <a:lnSpc>
                <a:spcPct val="100000"/>
              </a:lnSpc>
              <a:buNone/>
            </a:pPr>
            <a:r>
              <a:rPr lang="zh-CN" altLang="en-US" sz="2000" dirty="0">
                <a:latin typeface="楷体_GB2312"/>
              </a:rPr>
              <a:t>		保存所用到的寄存器内容</a:t>
            </a:r>
            <a:endParaRPr lang="zh-CN" altLang="en-US" sz="2000" dirty="0">
              <a:latin typeface="楷体_GB2312"/>
            </a:endParaRPr>
          </a:p>
          <a:p>
            <a:pPr algn="just" eaLnBrk="1" hangingPunct="1">
              <a:lnSpc>
                <a:spcPct val="100000"/>
              </a:lnSpc>
              <a:buNone/>
            </a:pPr>
            <a:r>
              <a:rPr lang="zh-CN" altLang="en-US" sz="2000" dirty="0">
                <a:latin typeface="楷体_GB2312"/>
              </a:rPr>
              <a:t>		中断服务程序主体</a:t>
            </a:r>
            <a:endParaRPr lang="zh-CN" altLang="en-US" sz="2000" dirty="0">
              <a:latin typeface="楷体_GB2312"/>
            </a:endParaRPr>
          </a:p>
          <a:p>
            <a:pPr algn="just" eaLnBrk="1" hangingPunct="1">
              <a:lnSpc>
                <a:spcPct val="100000"/>
              </a:lnSpc>
              <a:buNone/>
            </a:pPr>
            <a:r>
              <a:rPr lang="zh-CN" altLang="en-US" sz="2000" dirty="0">
                <a:latin typeface="楷体_GB2312"/>
              </a:rPr>
              <a:t>		恢复进入时保存的寄存器内容</a:t>
            </a:r>
            <a:endParaRPr lang="zh-CN" altLang="en-US" sz="2000" dirty="0">
              <a:latin typeface="楷体_GB2312"/>
            </a:endParaRPr>
          </a:p>
          <a:p>
            <a:pPr algn="just" eaLnBrk="1" hangingPunct="1">
              <a:lnSpc>
                <a:spcPct val="100000"/>
              </a:lnSpc>
              <a:buNone/>
            </a:pPr>
            <a:r>
              <a:rPr lang="zh-CN" altLang="en-US" sz="2000" dirty="0">
                <a:latin typeface="楷体_GB2312"/>
              </a:rPr>
              <a:t>		发</a:t>
            </a:r>
            <a:r>
              <a:rPr lang="en-US" altLang="zh-CN" sz="2000" dirty="0">
                <a:latin typeface="楷体_GB2312"/>
              </a:rPr>
              <a:t>EOI</a:t>
            </a:r>
            <a:r>
              <a:rPr lang="zh-CN" altLang="en-US" sz="2000" dirty="0">
                <a:latin typeface="楷体_GB2312"/>
              </a:rPr>
              <a:t>命令（必要时可提前）</a:t>
            </a:r>
            <a:endParaRPr lang="zh-CN" altLang="en-US" sz="2000" dirty="0">
              <a:latin typeface="楷体_GB2312"/>
            </a:endParaRPr>
          </a:p>
          <a:p>
            <a:pPr algn="just" eaLnBrk="1" hangingPunct="1">
              <a:lnSpc>
                <a:spcPct val="100000"/>
              </a:lnSpc>
              <a:buNone/>
            </a:pPr>
            <a:r>
              <a:rPr lang="zh-CN" altLang="en-US" sz="2000" dirty="0">
                <a:latin typeface="楷体_GB2312"/>
              </a:rPr>
              <a:t>		</a:t>
            </a:r>
            <a:r>
              <a:rPr lang="en-US" altLang="zh-CN" sz="2000" dirty="0">
                <a:latin typeface="楷体_GB2312"/>
              </a:rPr>
              <a:t>STI</a:t>
            </a:r>
            <a:r>
              <a:rPr lang="zh-CN" altLang="en-US" sz="2000" dirty="0">
                <a:latin typeface="楷体_GB2312"/>
              </a:rPr>
              <a:t>（必要时可提前）</a:t>
            </a:r>
            <a:endParaRPr lang="zh-CN" altLang="en-US" sz="2000" dirty="0">
              <a:latin typeface="楷体_GB2312"/>
            </a:endParaRPr>
          </a:p>
          <a:p>
            <a:pPr algn="just" eaLnBrk="1" hangingPunct="1">
              <a:lnSpc>
                <a:spcPct val="100000"/>
              </a:lnSpc>
              <a:buNone/>
            </a:pPr>
            <a:r>
              <a:rPr lang="zh-CN" altLang="en-US" sz="2000" dirty="0">
                <a:latin typeface="楷体_GB2312"/>
              </a:rPr>
              <a:t>		</a:t>
            </a:r>
            <a:r>
              <a:rPr lang="en-US" altLang="zh-CN" sz="2000" dirty="0">
                <a:latin typeface="楷体_GB2312"/>
              </a:rPr>
              <a:t>IRET</a:t>
            </a:r>
            <a:endParaRPr lang="en-US" altLang="zh-CN" sz="2000" dirty="0">
              <a:latin typeface="楷体_GB2312"/>
            </a:endParaRPr>
          </a:p>
        </p:txBody>
      </p:sp>
    </p:spTree>
  </p:cSld>
  <p:clrMapOvr>
    <a:masterClrMapping/>
  </p:clrMapOvr>
  <p:transition spd="slow">
    <p:zoom/>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8290"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68291" name="Rectangle 2"/>
          <p:cNvSpPr>
            <a:spLocks noGrp="1" noRot="1"/>
          </p:cNvSpPr>
          <p:nvPr>
            <p:ph type="title" idx="4294967295"/>
          </p:nvPr>
        </p:nvSpPr>
        <p:spPr/>
        <p:txBody>
          <a:bodyPr vert="horz" wrap="square" lIns="91440" tIns="45720" rIns="91440" bIns="45720" anchor="b" anchorCtr="0"/>
          <a:p>
            <a:pPr eaLnBrk="1" hangingPunct="1"/>
            <a:r>
              <a:rPr lang="zh-CN" altLang="en-US" sz="2800" b="1" dirty="0">
                <a:solidFill>
                  <a:srgbClr val="002060"/>
                </a:solidFill>
                <a:latin typeface="楷体_GB2312"/>
                <a:ea typeface="楷体_GB2312"/>
              </a:rPr>
              <a:t>例</a:t>
            </a:r>
            <a:r>
              <a:rPr lang="en-US" altLang="zh-CN" sz="2800" b="1" dirty="0">
                <a:solidFill>
                  <a:srgbClr val="002060"/>
                </a:solidFill>
                <a:latin typeface="楷体_GB2312"/>
                <a:ea typeface="楷体_GB2312"/>
              </a:rPr>
              <a:t>1</a:t>
            </a:r>
            <a:endParaRPr lang="zh-CN" altLang="en-US" sz="2800" b="1" dirty="0">
              <a:solidFill>
                <a:srgbClr val="002060"/>
              </a:solidFill>
              <a:latin typeface="楷体_GB2312"/>
              <a:ea typeface="楷体_GB2312"/>
            </a:endParaRPr>
          </a:p>
        </p:txBody>
      </p:sp>
      <p:sp>
        <p:nvSpPr>
          <p:cNvPr id="268292" name="Rectangle 3"/>
          <p:cNvSpPr>
            <a:spLocks noGrp="1" noRot="1"/>
          </p:cNvSpPr>
          <p:nvPr>
            <p:ph type="body" idx="4294967295"/>
          </p:nvPr>
        </p:nvSpPr>
        <p:spPr>
          <a:xfrm>
            <a:off x="646113" y="1989138"/>
            <a:ext cx="8486775" cy="3816350"/>
          </a:xfrm>
        </p:spPr>
        <p:txBody>
          <a:bodyPr vert="horz" wrap="square" lIns="91440" tIns="45720" rIns="91440" bIns="45720" anchor="t" anchorCtr="0"/>
          <a:p>
            <a:pPr eaLnBrk="1" hangingPunct="1"/>
            <a:r>
              <a:rPr lang="en-GB" altLang="en-US" sz="2400" dirty="0">
                <a:latin typeface="楷体_GB2312"/>
              </a:rPr>
              <a:t>PC</a:t>
            </a:r>
            <a:r>
              <a:rPr lang="zh-CN" altLang="en-US" sz="2400" dirty="0">
                <a:latin typeface="楷体_GB2312"/>
              </a:rPr>
              <a:t>机中主</a:t>
            </a:r>
            <a:r>
              <a:rPr lang="en-GB" altLang="en-US" sz="2400" dirty="0">
                <a:latin typeface="楷体_GB2312"/>
              </a:rPr>
              <a:t>8259A</a:t>
            </a:r>
            <a:r>
              <a:rPr lang="zh-CN" altLang="en-US" sz="2400" dirty="0">
                <a:latin typeface="楷体_GB2312"/>
              </a:rPr>
              <a:t>的</a:t>
            </a:r>
            <a:r>
              <a:rPr lang="en-GB" altLang="en-US" sz="2400" dirty="0">
                <a:latin typeface="楷体_GB2312"/>
              </a:rPr>
              <a:t>I/O</a:t>
            </a:r>
            <a:r>
              <a:rPr lang="zh-CN" altLang="en-US" sz="2400" dirty="0">
                <a:latin typeface="楷体_GB2312"/>
              </a:rPr>
              <a:t>地址为</a:t>
            </a:r>
            <a:r>
              <a:rPr lang="en-GB" altLang="en-US" sz="2400" dirty="0">
                <a:latin typeface="楷体_GB2312"/>
              </a:rPr>
              <a:t>20H</a:t>
            </a:r>
            <a:r>
              <a:rPr lang="zh-CN" altLang="en-US" sz="2400" dirty="0">
                <a:latin typeface="楷体_GB2312"/>
              </a:rPr>
              <a:t>和</a:t>
            </a:r>
            <a:r>
              <a:rPr lang="en-GB" altLang="en-US" sz="2400" dirty="0">
                <a:latin typeface="楷体_GB2312"/>
              </a:rPr>
              <a:t>21H</a:t>
            </a:r>
            <a:r>
              <a:rPr lang="zh-CN" altLang="en-US" sz="2400" dirty="0">
                <a:latin typeface="楷体_GB2312"/>
              </a:rPr>
              <a:t>，中断向量码为</a:t>
            </a:r>
            <a:r>
              <a:rPr lang="en-GB" altLang="en-US" sz="2400" dirty="0">
                <a:latin typeface="楷体_GB2312"/>
              </a:rPr>
              <a:t>08H</a:t>
            </a:r>
            <a:r>
              <a:rPr lang="zh-CN" altLang="en-US" sz="2400" dirty="0">
                <a:latin typeface="楷体_GB2312"/>
              </a:rPr>
              <a:t>；</a:t>
            </a:r>
            <a:endParaRPr lang="zh-CN" altLang="en-US" sz="2400" dirty="0">
              <a:latin typeface="楷体_GB2312"/>
            </a:endParaRPr>
          </a:p>
          <a:p>
            <a:pPr eaLnBrk="1" hangingPunct="1"/>
            <a:r>
              <a:rPr lang="zh-CN" altLang="en-US" sz="2400" dirty="0">
                <a:latin typeface="楷体_GB2312"/>
              </a:rPr>
              <a:t>中断请求从</a:t>
            </a:r>
            <a:r>
              <a:rPr lang="en-GB" altLang="en-US" sz="2400" dirty="0">
                <a:latin typeface="楷体_GB2312"/>
              </a:rPr>
              <a:t>IR</a:t>
            </a:r>
            <a:r>
              <a:rPr lang="en-GB" altLang="en-US" sz="2400" baseline="-20000" dirty="0">
                <a:latin typeface="楷体_GB2312"/>
              </a:rPr>
              <a:t>6</a:t>
            </a:r>
            <a:r>
              <a:rPr lang="zh-CN" altLang="en-US" sz="2400" dirty="0">
                <a:latin typeface="楷体_GB2312"/>
              </a:rPr>
              <a:t>引入，故中断类型号为</a:t>
            </a:r>
            <a:r>
              <a:rPr lang="en-GB" altLang="en-US" sz="2400" dirty="0">
                <a:latin typeface="楷体_GB2312"/>
              </a:rPr>
              <a:t>0EH</a:t>
            </a:r>
            <a:r>
              <a:rPr lang="zh-CN" altLang="en-US" sz="2400" dirty="0">
                <a:latin typeface="楷体_GB2312"/>
              </a:rPr>
              <a:t>；</a:t>
            </a:r>
            <a:endParaRPr lang="zh-CN" altLang="en-US" sz="2400" dirty="0">
              <a:latin typeface="楷体_GB2312"/>
            </a:endParaRPr>
          </a:p>
          <a:p>
            <a:pPr eaLnBrk="1" hangingPunct="1"/>
            <a:r>
              <a:rPr lang="zh-CN" altLang="en-US" sz="2400" dirty="0">
                <a:latin typeface="楷体_GB2312"/>
              </a:rPr>
              <a:t>主程序如下：</a:t>
            </a:r>
            <a:endParaRPr lang="zh-CN" altLang="en-US" sz="2400" dirty="0">
              <a:latin typeface="楷体_GB2312"/>
            </a:endParaRPr>
          </a:p>
          <a:p>
            <a:pPr eaLnBrk="1" hangingPunct="1">
              <a:buNone/>
            </a:pPr>
            <a:r>
              <a:rPr lang="zh-CN" altLang="en-US" sz="1800" dirty="0"/>
              <a:t>		</a:t>
            </a:r>
            <a:r>
              <a:rPr lang="en-US" altLang="zh-CN" sz="1800" dirty="0"/>
              <a:t>;</a:t>
            </a:r>
            <a:r>
              <a:rPr lang="zh-CN" altLang="en-US" sz="1800" dirty="0"/>
              <a:t>保存原来的中断向量</a:t>
            </a:r>
            <a:endParaRPr lang="zh-CN" altLang="en-US" sz="1800" dirty="0"/>
          </a:p>
          <a:p>
            <a:pPr eaLnBrk="1" hangingPunct="1">
              <a:buNone/>
            </a:pPr>
            <a:r>
              <a:rPr lang="zh-CN" altLang="en-US" sz="1800" dirty="0"/>
              <a:t>		</a:t>
            </a:r>
            <a:r>
              <a:rPr lang="en-US" altLang="zh-CN" sz="1800" dirty="0"/>
              <a:t>mov	ah</a:t>
            </a:r>
            <a:r>
              <a:rPr lang="zh-CN" altLang="en-US" sz="1800" dirty="0"/>
              <a:t>，</a:t>
            </a:r>
            <a:r>
              <a:rPr lang="en-US" altLang="zh-CN" sz="1800" dirty="0"/>
              <a:t>35h</a:t>
            </a:r>
            <a:endParaRPr lang="en-US" altLang="zh-CN" sz="1800" dirty="0"/>
          </a:p>
          <a:p>
            <a:pPr eaLnBrk="1" hangingPunct="1">
              <a:buNone/>
            </a:pPr>
            <a:r>
              <a:rPr lang="en-US" altLang="zh-CN" sz="1800" dirty="0"/>
              <a:t>		mov	al</a:t>
            </a:r>
            <a:r>
              <a:rPr lang="zh-CN" altLang="en-US" sz="1800" dirty="0"/>
              <a:t>，</a:t>
            </a:r>
            <a:r>
              <a:rPr lang="en-US" altLang="zh-CN" sz="1800" dirty="0"/>
              <a:t>0eh		</a:t>
            </a:r>
            <a:r>
              <a:rPr lang="zh-CN" altLang="en-US" sz="1800" dirty="0"/>
              <a:t>；中断类型码</a:t>
            </a:r>
            <a:endParaRPr lang="zh-CN" altLang="en-US" sz="1800" dirty="0"/>
          </a:p>
          <a:p>
            <a:pPr eaLnBrk="1" hangingPunct="1">
              <a:buNone/>
            </a:pPr>
            <a:r>
              <a:rPr lang="zh-CN" altLang="en-US" sz="1800" dirty="0"/>
              <a:t>		</a:t>
            </a:r>
            <a:r>
              <a:rPr lang="en-US" altLang="zh-CN" sz="1800" dirty="0"/>
              <a:t>int	21h		</a:t>
            </a:r>
            <a:r>
              <a:rPr lang="zh-CN" altLang="en-US" sz="1800" dirty="0"/>
              <a:t>；取原中断向量（在</a:t>
            </a:r>
            <a:r>
              <a:rPr lang="en-US" altLang="zh-CN" sz="1800" dirty="0"/>
              <a:t>es:bx</a:t>
            </a:r>
            <a:r>
              <a:rPr lang="zh-CN" altLang="en-US" sz="1800" dirty="0"/>
              <a:t>中）</a:t>
            </a:r>
            <a:endParaRPr lang="zh-CN" altLang="en-US" sz="1800" dirty="0"/>
          </a:p>
          <a:p>
            <a:pPr eaLnBrk="1" hangingPunct="1">
              <a:buNone/>
            </a:pPr>
            <a:r>
              <a:rPr lang="zh-CN" altLang="en-US" sz="1800" dirty="0"/>
              <a:t>		</a:t>
            </a:r>
            <a:r>
              <a:rPr lang="en-US" altLang="zh-CN" sz="1800" dirty="0"/>
              <a:t>mov	save_ip</a:t>
            </a:r>
            <a:r>
              <a:rPr lang="zh-CN" altLang="en-US" sz="1800" dirty="0"/>
              <a:t>，</a:t>
            </a:r>
            <a:r>
              <a:rPr lang="en-US" altLang="zh-CN" sz="1800" dirty="0"/>
              <a:t>bx	</a:t>
            </a:r>
            <a:r>
              <a:rPr lang="zh-CN" altLang="en-US" sz="1800" dirty="0"/>
              <a:t>；保存原来的中断向量</a:t>
            </a:r>
            <a:endParaRPr lang="zh-CN" altLang="en-US" sz="1800" dirty="0"/>
          </a:p>
          <a:p>
            <a:pPr eaLnBrk="1" hangingPunct="1">
              <a:buNone/>
            </a:pPr>
            <a:r>
              <a:rPr lang="zh-CN" altLang="en-US" sz="1800" dirty="0"/>
              <a:t>		</a:t>
            </a:r>
            <a:r>
              <a:rPr lang="en-US" altLang="zh-CN" sz="1800" dirty="0"/>
              <a:t>mov	save_cs</a:t>
            </a:r>
            <a:r>
              <a:rPr lang="zh-CN" altLang="en-US" sz="1800" dirty="0"/>
              <a:t>，</a:t>
            </a:r>
            <a:r>
              <a:rPr lang="en-US" altLang="zh-CN" sz="1800" dirty="0"/>
              <a:t>es</a:t>
            </a:r>
            <a:endParaRPr lang="en-US" altLang="zh-CN" sz="1800" dirty="0"/>
          </a:p>
        </p:txBody>
      </p:sp>
    </p:spTree>
  </p:cSld>
  <p:clrMapOvr>
    <a:masterClrMapping/>
  </p:clrMapOvr>
  <p:transition spd="slow">
    <p:zoom/>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9314"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69315" name="Rectangle 2"/>
          <p:cNvSpPr/>
          <p:nvPr/>
        </p:nvSpPr>
        <p:spPr>
          <a:xfrm>
            <a:off x="395288" y="476250"/>
            <a:ext cx="8497887" cy="6218238"/>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Aft>
                <a:spcPct val="0"/>
              </a:spcAft>
              <a:buClr>
                <a:srgbClr val="0000CC"/>
              </a:buClr>
              <a:buSzPct val="75000"/>
              <a:buNone/>
            </a:pPr>
            <a:r>
              <a:rPr lang="en-US" altLang="zh-CN" sz="1800" dirty="0">
                <a:solidFill>
                  <a:schemeClr val="bg2"/>
                </a:solidFill>
                <a:ea typeface="楷体_GB2312"/>
              </a:rPr>
              <a:t>		</a:t>
            </a:r>
            <a:r>
              <a:rPr lang="en-US" altLang="zh-CN" sz="1800" dirty="0">
                <a:ea typeface="楷体_GB2312"/>
              </a:rPr>
              <a:t>;</a:t>
            </a:r>
            <a:r>
              <a:rPr lang="zh-CN" altLang="en-US" sz="1800" dirty="0">
                <a:ea typeface="楷体_GB2312"/>
              </a:rPr>
              <a:t>设置自己的中断向量</a:t>
            </a:r>
            <a:endParaRPr lang="zh-CN" altLang="en-US" sz="1800" dirty="0">
              <a:ea typeface="楷体_GB2312"/>
            </a:endParaRPr>
          </a:p>
          <a:p>
            <a:pPr marL="342900" lvl="0" indent="-342900">
              <a:lnSpc>
                <a:spcPct val="100000"/>
              </a:lnSpc>
              <a:spcAft>
                <a:spcPct val="0"/>
              </a:spcAft>
              <a:buClr>
                <a:srgbClr val="0000CC"/>
              </a:buClr>
              <a:buSzPct val="75000"/>
              <a:buNone/>
            </a:pPr>
            <a:r>
              <a:rPr lang="zh-CN" altLang="en-US" sz="1800" dirty="0">
                <a:ea typeface="楷体_GB2312"/>
              </a:rPr>
              <a:t>		</a:t>
            </a:r>
            <a:r>
              <a:rPr lang="en-US" altLang="zh-CN" sz="1800" dirty="0">
                <a:ea typeface="楷体_GB2312"/>
              </a:rPr>
              <a:t>push	ds</a:t>
            </a:r>
            <a:endParaRPr lang="en-US" altLang="zh-CN" sz="1800" dirty="0">
              <a:ea typeface="楷体_GB2312"/>
            </a:endParaRPr>
          </a:p>
          <a:p>
            <a:pPr marL="342900" lvl="0" indent="-342900">
              <a:lnSpc>
                <a:spcPct val="100000"/>
              </a:lnSpc>
              <a:spcAft>
                <a:spcPct val="0"/>
              </a:spcAft>
              <a:buClr>
                <a:srgbClr val="0000CC"/>
              </a:buClr>
              <a:buSzPct val="75000"/>
              <a:buNone/>
            </a:pPr>
            <a:r>
              <a:rPr lang="en-US" altLang="zh-CN" sz="1800" dirty="0">
                <a:ea typeface="楷体_GB2312"/>
              </a:rPr>
              <a:t>		mov	dx</a:t>
            </a:r>
            <a:r>
              <a:rPr lang="zh-CN" altLang="en-US" sz="1800" dirty="0">
                <a:ea typeface="楷体_GB2312"/>
              </a:rPr>
              <a:t>，</a:t>
            </a:r>
            <a:r>
              <a:rPr lang="en-US" altLang="zh-CN" sz="1800" dirty="0">
                <a:ea typeface="楷体_GB2312"/>
              </a:rPr>
              <a:t>offset  my_int</a:t>
            </a:r>
            <a:endParaRPr lang="en-US" altLang="zh-CN" sz="1800" dirty="0">
              <a:ea typeface="楷体_GB2312"/>
            </a:endParaRPr>
          </a:p>
          <a:p>
            <a:pPr marL="342900" lvl="0" indent="-342900">
              <a:lnSpc>
                <a:spcPct val="100000"/>
              </a:lnSpc>
              <a:spcAft>
                <a:spcPct val="0"/>
              </a:spcAft>
              <a:buClr>
                <a:srgbClr val="0000CC"/>
              </a:buClr>
              <a:buSzPct val="75000"/>
              <a:buNone/>
            </a:pPr>
            <a:r>
              <a:rPr lang="en-US" altLang="zh-CN" sz="1800" dirty="0">
                <a:ea typeface="楷体_GB2312"/>
              </a:rPr>
              <a:t>		mov	ax</a:t>
            </a:r>
            <a:r>
              <a:rPr lang="zh-CN" altLang="en-US" sz="1800" dirty="0">
                <a:ea typeface="楷体_GB2312"/>
              </a:rPr>
              <a:t>，</a:t>
            </a:r>
            <a:r>
              <a:rPr lang="en-US" altLang="zh-CN" sz="1800" dirty="0">
                <a:ea typeface="楷体_GB2312"/>
              </a:rPr>
              <a:t>seg my_int</a:t>
            </a:r>
            <a:endParaRPr lang="en-US" altLang="zh-CN" sz="1800" dirty="0">
              <a:ea typeface="楷体_GB2312"/>
            </a:endParaRPr>
          </a:p>
          <a:p>
            <a:pPr marL="342900" lvl="0" indent="-342900">
              <a:lnSpc>
                <a:spcPct val="100000"/>
              </a:lnSpc>
              <a:spcAft>
                <a:spcPct val="0"/>
              </a:spcAft>
              <a:buClr>
                <a:srgbClr val="0000CC"/>
              </a:buClr>
              <a:buSzPct val="75000"/>
              <a:buNone/>
            </a:pPr>
            <a:r>
              <a:rPr lang="en-US" altLang="zh-CN" sz="1800" dirty="0">
                <a:ea typeface="楷体_GB2312"/>
              </a:rPr>
              <a:t>		mov	ds</a:t>
            </a:r>
            <a:r>
              <a:rPr lang="zh-CN" altLang="en-US" sz="1800" dirty="0">
                <a:ea typeface="楷体_GB2312"/>
              </a:rPr>
              <a:t>，</a:t>
            </a:r>
            <a:r>
              <a:rPr lang="en-US" altLang="zh-CN" sz="1800" dirty="0">
                <a:ea typeface="楷体_GB2312"/>
              </a:rPr>
              <a:t>ax		</a:t>
            </a:r>
            <a:r>
              <a:rPr lang="zh-CN" altLang="en-US" sz="1800" dirty="0">
                <a:ea typeface="楷体_GB2312"/>
              </a:rPr>
              <a:t>；</a:t>
            </a:r>
            <a:r>
              <a:rPr lang="en-US" altLang="zh-CN" sz="1800" dirty="0">
                <a:ea typeface="楷体_GB2312"/>
              </a:rPr>
              <a:t>DS:DX</a:t>
            </a:r>
            <a:r>
              <a:rPr lang="zh-CN" altLang="en-US" sz="1800" dirty="0">
                <a:ea typeface="楷体_GB2312"/>
              </a:rPr>
              <a:t>的内容为</a:t>
            </a:r>
            <a:r>
              <a:rPr lang="en-US" altLang="zh-CN" sz="1800" dirty="0">
                <a:ea typeface="楷体_GB2312"/>
              </a:rPr>
              <a:t>my_int</a:t>
            </a:r>
            <a:r>
              <a:rPr lang="zh-CN" altLang="en-US" sz="1800" dirty="0">
                <a:ea typeface="楷体_GB2312"/>
              </a:rPr>
              <a:t>的首地址</a:t>
            </a:r>
            <a:endParaRPr lang="zh-CN" altLang="en-US" sz="1800" dirty="0">
              <a:ea typeface="楷体_GB2312"/>
            </a:endParaRPr>
          </a:p>
          <a:p>
            <a:pPr marL="342900" lvl="0" indent="-342900">
              <a:lnSpc>
                <a:spcPct val="100000"/>
              </a:lnSpc>
              <a:spcAft>
                <a:spcPct val="0"/>
              </a:spcAft>
              <a:buClr>
                <a:srgbClr val="0000CC"/>
              </a:buClr>
              <a:buSzPct val="75000"/>
              <a:buNone/>
            </a:pPr>
            <a:r>
              <a:rPr lang="zh-CN" altLang="en-US" sz="1800" dirty="0">
                <a:ea typeface="楷体_GB2312"/>
              </a:rPr>
              <a:t>		</a:t>
            </a:r>
            <a:r>
              <a:rPr lang="en-US" altLang="zh-CN" sz="1800" dirty="0">
                <a:ea typeface="楷体_GB2312"/>
              </a:rPr>
              <a:t>mov	ah</a:t>
            </a:r>
            <a:r>
              <a:rPr lang="zh-CN" altLang="en-US" sz="1800" dirty="0">
                <a:ea typeface="楷体_GB2312"/>
              </a:rPr>
              <a:t>，</a:t>
            </a:r>
            <a:r>
              <a:rPr lang="en-US" altLang="zh-CN" sz="1800" dirty="0">
                <a:ea typeface="楷体_GB2312"/>
              </a:rPr>
              <a:t>25h</a:t>
            </a:r>
            <a:endParaRPr lang="en-US" altLang="zh-CN" sz="1800" dirty="0">
              <a:ea typeface="楷体_GB2312"/>
            </a:endParaRPr>
          </a:p>
          <a:p>
            <a:pPr marL="342900" lvl="0" indent="-342900">
              <a:lnSpc>
                <a:spcPct val="100000"/>
              </a:lnSpc>
              <a:spcAft>
                <a:spcPct val="0"/>
              </a:spcAft>
              <a:buClr>
                <a:srgbClr val="0000CC"/>
              </a:buClr>
              <a:buSzPct val="75000"/>
              <a:buNone/>
            </a:pPr>
            <a:r>
              <a:rPr lang="en-US" altLang="zh-CN" sz="1800" dirty="0">
                <a:ea typeface="楷体_GB2312"/>
              </a:rPr>
              <a:t>		mov	al</a:t>
            </a:r>
            <a:r>
              <a:rPr lang="zh-CN" altLang="en-US" sz="1800" dirty="0">
                <a:ea typeface="楷体_GB2312"/>
              </a:rPr>
              <a:t>，</a:t>
            </a:r>
            <a:r>
              <a:rPr lang="en-US" altLang="zh-CN" sz="1800" dirty="0">
                <a:ea typeface="楷体_GB2312"/>
              </a:rPr>
              <a:t>0eh</a:t>
            </a:r>
            <a:endParaRPr lang="en-US" altLang="zh-CN" sz="1800" dirty="0">
              <a:ea typeface="楷体_GB2312"/>
            </a:endParaRPr>
          </a:p>
          <a:p>
            <a:pPr marL="342900" lvl="0" indent="-342900">
              <a:lnSpc>
                <a:spcPct val="100000"/>
              </a:lnSpc>
              <a:spcAft>
                <a:spcPct val="0"/>
              </a:spcAft>
              <a:buClr>
                <a:srgbClr val="0000CC"/>
              </a:buClr>
              <a:buSzPct val="75000"/>
              <a:buNone/>
            </a:pPr>
            <a:r>
              <a:rPr lang="en-US" altLang="zh-CN" sz="1800" dirty="0">
                <a:ea typeface="楷体_GB2312"/>
              </a:rPr>
              <a:t>		int	21h	  	</a:t>
            </a:r>
            <a:r>
              <a:rPr lang="zh-CN" altLang="en-US" sz="1800" dirty="0">
                <a:ea typeface="楷体_GB2312"/>
              </a:rPr>
              <a:t>；设置自己的中断向量</a:t>
            </a:r>
            <a:endParaRPr lang="zh-CN" altLang="en-US" sz="1800" dirty="0">
              <a:ea typeface="楷体_GB2312"/>
            </a:endParaRPr>
          </a:p>
          <a:p>
            <a:pPr marL="342900" lvl="0" indent="-342900">
              <a:lnSpc>
                <a:spcPct val="100000"/>
              </a:lnSpc>
              <a:spcAft>
                <a:spcPct val="0"/>
              </a:spcAft>
              <a:buClr>
                <a:srgbClr val="0000CC"/>
              </a:buClr>
              <a:buSzPct val="75000"/>
              <a:buNone/>
            </a:pPr>
            <a:r>
              <a:rPr lang="zh-CN" altLang="en-US" sz="1800" dirty="0">
                <a:ea typeface="楷体_GB2312"/>
              </a:rPr>
              <a:t>		</a:t>
            </a:r>
            <a:r>
              <a:rPr lang="en-US" altLang="zh-CN" sz="1800" dirty="0">
                <a:ea typeface="楷体_GB2312"/>
              </a:rPr>
              <a:t>pop	ds	</a:t>
            </a:r>
            <a:endParaRPr lang="en-US" altLang="zh-CN" sz="1800" dirty="0">
              <a:ea typeface="楷体_GB2312"/>
            </a:endParaRPr>
          </a:p>
          <a:p>
            <a:pPr marL="342900" lvl="0" indent="-342900">
              <a:lnSpc>
                <a:spcPct val="100000"/>
              </a:lnSpc>
              <a:spcAft>
                <a:spcPct val="0"/>
              </a:spcAft>
              <a:buClr>
                <a:srgbClr val="0000CC"/>
              </a:buClr>
              <a:buSzPct val="75000"/>
              <a:buNone/>
            </a:pPr>
            <a:r>
              <a:rPr lang="en-US" altLang="zh-CN" sz="1800" dirty="0">
                <a:ea typeface="楷体_GB2312"/>
              </a:rPr>
              <a:t>		;</a:t>
            </a:r>
            <a:r>
              <a:rPr lang="zh-CN" altLang="en-US" sz="1800" dirty="0">
                <a:ea typeface="楷体_GB2312"/>
              </a:rPr>
              <a:t>初始化堆栈指针</a:t>
            </a:r>
            <a:endParaRPr lang="zh-CN" altLang="en-US" sz="1800" dirty="0">
              <a:ea typeface="楷体_GB2312"/>
            </a:endParaRPr>
          </a:p>
          <a:p>
            <a:pPr marL="342900" lvl="0" indent="-342900">
              <a:lnSpc>
                <a:spcPct val="100000"/>
              </a:lnSpc>
              <a:spcAft>
                <a:spcPct val="0"/>
              </a:spcAft>
              <a:buClr>
                <a:srgbClr val="0000CC"/>
              </a:buClr>
              <a:buSzPct val="75000"/>
              <a:buNone/>
            </a:pPr>
            <a:r>
              <a:rPr lang="zh-CN" altLang="en-US" sz="1800" dirty="0">
                <a:ea typeface="楷体_GB2312"/>
              </a:rPr>
              <a:t>		</a:t>
            </a:r>
            <a:r>
              <a:rPr lang="en-US" altLang="zh-CN" sz="1800" dirty="0">
                <a:ea typeface="楷体_GB2312"/>
              </a:rPr>
              <a:t>mov	sp</a:t>
            </a:r>
            <a:r>
              <a:rPr lang="zh-CN" altLang="en-US" sz="1800" dirty="0">
                <a:ea typeface="楷体_GB2312"/>
              </a:rPr>
              <a:t>，</a:t>
            </a:r>
            <a:r>
              <a:rPr lang="en-US" altLang="zh-CN" sz="1800" dirty="0">
                <a:ea typeface="楷体_GB2312"/>
              </a:rPr>
              <a:t>my_stack_top</a:t>
            </a:r>
            <a:endParaRPr lang="en-US" altLang="zh-CN" sz="1800" dirty="0">
              <a:ea typeface="楷体_GB2312"/>
            </a:endParaRPr>
          </a:p>
          <a:p>
            <a:pPr marL="342900" lvl="0" indent="-342900">
              <a:lnSpc>
                <a:spcPct val="100000"/>
              </a:lnSpc>
              <a:spcAft>
                <a:spcPct val="0"/>
              </a:spcAft>
              <a:buClr>
                <a:srgbClr val="0000CC"/>
              </a:buClr>
              <a:buSzPct val="75000"/>
              <a:buNone/>
            </a:pPr>
            <a:r>
              <a:rPr lang="en-US" altLang="zh-CN" sz="1800" dirty="0">
                <a:ea typeface="楷体_GB2312"/>
              </a:rPr>
              <a:t>     		;</a:t>
            </a:r>
            <a:r>
              <a:rPr lang="zh-CN" altLang="en-US" sz="1800" dirty="0">
                <a:ea typeface="楷体_GB2312"/>
              </a:rPr>
              <a:t>设置</a:t>
            </a:r>
            <a:r>
              <a:rPr lang="en-US" altLang="zh-CN" sz="1800" dirty="0">
                <a:ea typeface="楷体_GB2312"/>
              </a:rPr>
              <a:t>8259A</a:t>
            </a:r>
            <a:r>
              <a:rPr lang="zh-CN" altLang="en-US" sz="1800" dirty="0">
                <a:ea typeface="楷体_GB2312"/>
              </a:rPr>
              <a:t>的中断屏蔽字</a:t>
            </a:r>
            <a:endParaRPr lang="zh-CN" altLang="en-US" sz="1800" dirty="0">
              <a:ea typeface="楷体_GB2312"/>
            </a:endParaRPr>
          </a:p>
          <a:p>
            <a:pPr marL="342900" lvl="0" indent="-342900">
              <a:lnSpc>
                <a:spcPct val="100000"/>
              </a:lnSpc>
              <a:spcAft>
                <a:spcPct val="0"/>
              </a:spcAft>
              <a:buClr>
                <a:srgbClr val="0000CC"/>
              </a:buClr>
              <a:buSzPct val="75000"/>
              <a:buNone/>
            </a:pPr>
            <a:r>
              <a:rPr lang="zh-CN" altLang="en-US" sz="1800" dirty="0">
                <a:ea typeface="楷体_GB2312"/>
              </a:rPr>
              <a:t>		</a:t>
            </a:r>
            <a:r>
              <a:rPr lang="en-US" altLang="zh-CN" sz="1800" dirty="0">
                <a:ea typeface="楷体_GB2312"/>
              </a:rPr>
              <a:t>in	al</a:t>
            </a:r>
            <a:r>
              <a:rPr lang="zh-CN" altLang="en-US" sz="1800" dirty="0">
                <a:ea typeface="楷体_GB2312"/>
              </a:rPr>
              <a:t>，</a:t>
            </a:r>
            <a:r>
              <a:rPr lang="en-US" altLang="zh-CN" sz="1800" dirty="0">
                <a:ea typeface="楷体_GB2312"/>
              </a:rPr>
              <a:t>21h</a:t>
            </a:r>
            <a:endParaRPr lang="en-US" altLang="zh-CN" sz="1800" dirty="0">
              <a:ea typeface="楷体_GB2312"/>
            </a:endParaRPr>
          </a:p>
          <a:p>
            <a:pPr marL="342900" lvl="0" indent="-342900">
              <a:lnSpc>
                <a:spcPct val="100000"/>
              </a:lnSpc>
              <a:spcAft>
                <a:spcPct val="0"/>
              </a:spcAft>
              <a:buClr>
                <a:srgbClr val="0000CC"/>
              </a:buClr>
              <a:buSzPct val="75000"/>
              <a:buNone/>
            </a:pPr>
            <a:r>
              <a:rPr lang="en-US" altLang="zh-CN" sz="1800" dirty="0">
                <a:ea typeface="楷体_GB2312"/>
              </a:rPr>
              <a:t>		and	al</a:t>
            </a:r>
            <a:r>
              <a:rPr lang="zh-CN" altLang="en-US" sz="1800" dirty="0">
                <a:ea typeface="楷体_GB2312"/>
              </a:rPr>
              <a:t>，</a:t>
            </a:r>
            <a:r>
              <a:rPr lang="en-US" altLang="zh-CN" sz="1800" dirty="0">
                <a:ea typeface="楷体_GB2312"/>
              </a:rPr>
              <a:t>10111111b	</a:t>
            </a:r>
            <a:r>
              <a:rPr lang="zh-CN" altLang="en-US" sz="1800" dirty="0">
                <a:ea typeface="楷体_GB2312"/>
              </a:rPr>
              <a:t>；开放</a:t>
            </a:r>
            <a:r>
              <a:rPr lang="en-US" altLang="zh-CN" sz="1800" dirty="0">
                <a:ea typeface="楷体_GB2312"/>
              </a:rPr>
              <a:t>IR6</a:t>
            </a:r>
            <a:r>
              <a:rPr lang="zh-CN" altLang="en-US" sz="1800" dirty="0">
                <a:ea typeface="楷体_GB2312"/>
              </a:rPr>
              <a:t>中断</a:t>
            </a:r>
            <a:endParaRPr lang="zh-CN" altLang="en-US" sz="1800" dirty="0">
              <a:ea typeface="楷体_GB2312"/>
            </a:endParaRPr>
          </a:p>
          <a:p>
            <a:pPr marL="342900" lvl="0" indent="-342900">
              <a:lnSpc>
                <a:spcPct val="100000"/>
              </a:lnSpc>
              <a:spcAft>
                <a:spcPct val="0"/>
              </a:spcAft>
              <a:buClr>
                <a:srgbClr val="0000CC"/>
              </a:buClr>
              <a:buSzPct val="75000"/>
              <a:buNone/>
            </a:pPr>
            <a:r>
              <a:rPr lang="zh-CN" altLang="en-US" sz="1800" dirty="0">
                <a:ea typeface="楷体_GB2312"/>
              </a:rPr>
              <a:t>		</a:t>
            </a:r>
            <a:r>
              <a:rPr lang="en-US" altLang="zh-CN" sz="1800" dirty="0">
                <a:ea typeface="楷体_GB2312"/>
              </a:rPr>
              <a:t>out	21h</a:t>
            </a:r>
            <a:r>
              <a:rPr lang="zh-CN" altLang="en-US" sz="1800" dirty="0">
                <a:ea typeface="楷体_GB2312"/>
              </a:rPr>
              <a:t>，</a:t>
            </a:r>
            <a:r>
              <a:rPr lang="en-US" altLang="zh-CN" sz="1800" dirty="0">
                <a:ea typeface="楷体_GB2312"/>
              </a:rPr>
              <a:t>al</a:t>
            </a:r>
            <a:endParaRPr lang="en-US" altLang="zh-CN" sz="1800" dirty="0">
              <a:ea typeface="楷体_GB2312"/>
            </a:endParaRPr>
          </a:p>
          <a:p>
            <a:pPr marL="342900" lvl="0" indent="-342900">
              <a:lnSpc>
                <a:spcPct val="100000"/>
              </a:lnSpc>
              <a:spcAft>
                <a:spcPct val="0"/>
              </a:spcAft>
              <a:buClr>
                <a:srgbClr val="0000CC"/>
              </a:buClr>
              <a:buSzPct val="75000"/>
              <a:buNone/>
            </a:pPr>
            <a:r>
              <a:rPr lang="en-US" altLang="zh-CN" sz="1800" dirty="0">
                <a:ea typeface="楷体_GB2312"/>
              </a:rPr>
              <a:t>		sti</a:t>
            </a:r>
            <a:endParaRPr lang="en-US" altLang="zh-CN" sz="1800" dirty="0">
              <a:ea typeface="楷体_GB2312"/>
            </a:endParaRPr>
          </a:p>
          <a:p>
            <a:pPr marL="342900" lvl="0" indent="-342900">
              <a:lnSpc>
                <a:spcPct val="100000"/>
              </a:lnSpc>
              <a:spcAft>
                <a:spcPct val="0"/>
              </a:spcAft>
              <a:buClr>
                <a:srgbClr val="0000CC"/>
              </a:buClr>
              <a:buSzPct val="75000"/>
              <a:buNone/>
            </a:pPr>
            <a:r>
              <a:rPr lang="en-US" altLang="zh-CN" sz="1800" dirty="0">
                <a:ea typeface="楷体_GB2312"/>
              </a:rPr>
              <a:t>		……</a:t>
            </a:r>
            <a:endParaRPr lang="en-US" altLang="zh-CN" sz="1800" dirty="0">
              <a:ea typeface="楷体_GB2312"/>
            </a:endParaRPr>
          </a:p>
          <a:p>
            <a:pPr marL="342900" lvl="0" indent="-342900">
              <a:lnSpc>
                <a:spcPct val="100000"/>
              </a:lnSpc>
              <a:spcAft>
                <a:spcPct val="0"/>
              </a:spcAft>
              <a:buClr>
                <a:srgbClr val="0000CC"/>
              </a:buClr>
              <a:buSzPct val="75000"/>
              <a:buNone/>
            </a:pPr>
            <a:r>
              <a:rPr lang="en-US" altLang="zh-CN" sz="1800" dirty="0">
                <a:ea typeface="楷体_GB2312"/>
              </a:rPr>
              <a:t>     		&lt;</a:t>
            </a:r>
            <a:r>
              <a:rPr lang="zh-CN" altLang="en-US" sz="1800" dirty="0">
                <a:ea typeface="楷体_GB2312"/>
              </a:rPr>
              <a:t>其他代码放在这里</a:t>
            </a:r>
            <a:r>
              <a:rPr lang="en-US" altLang="zh-CN" sz="1800" dirty="0">
                <a:ea typeface="楷体_GB2312"/>
              </a:rPr>
              <a:t>&gt;</a:t>
            </a:r>
            <a:endParaRPr lang="en-US" altLang="zh-CN" sz="1800" dirty="0">
              <a:ea typeface="楷体_GB2312"/>
            </a:endParaRPr>
          </a:p>
          <a:p>
            <a:pPr marL="342900" lvl="0" indent="-342900">
              <a:lnSpc>
                <a:spcPct val="100000"/>
              </a:lnSpc>
              <a:spcAft>
                <a:spcPct val="0"/>
              </a:spcAft>
              <a:buClr>
                <a:srgbClr val="0000CC"/>
              </a:buClr>
              <a:buSzPct val="75000"/>
              <a:buNone/>
            </a:pPr>
            <a:r>
              <a:rPr lang="en-US" altLang="zh-CN" sz="1800" dirty="0">
                <a:ea typeface="楷体_GB2312"/>
              </a:rPr>
              <a:t>     		……</a:t>
            </a:r>
            <a:endParaRPr lang="en-US" altLang="zh-CN" sz="1800" dirty="0">
              <a:ea typeface="楷体_GB2312"/>
            </a:endParaRPr>
          </a:p>
        </p:txBody>
      </p:sp>
    </p:spTree>
  </p:cSld>
  <p:clrMapOvr>
    <a:masterClrMapping/>
  </p:clrMapOvr>
  <p:transition spd="slow">
    <p:zoom/>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0338"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en-US" altLang="zh-CN" sz="1400" b="0" dirty="0">
                <a:solidFill>
                  <a:schemeClr val="tx1"/>
                </a:solidFill>
                <a:ea typeface="楷体_GB2312"/>
              </a:rPr>
            </a:fld>
            <a:endParaRPr lang="en-US" altLang="zh-CN" sz="1400" b="0" dirty="0">
              <a:solidFill>
                <a:schemeClr val="tx1"/>
              </a:solidFill>
              <a:ea typeface="楷体_GB2312"/>
            </a:endParaRPr>
          </a:p>
        </p:txBody>
      </p:sp>
      <p:sp>
        <p:nvSpPr>
          <p:cNvPr id="270339" name="Rectangle 2"/>
          <p:cNvSpPr>
            <a:spLocks noGrp="1" noRot="1"/>
          </p:cNvSpPr>
          <p:nvPr>
            <p:ph type="body" idx="4294967295"/>
          </p:nvPr>
        </p:nvSpPr>
        <p:spPr>
          <a:xfrm>
            <a:off x="914400" y="1341438"/>
            <a:ext cx="8229600" cy="5516562"/>
          </a:xfrm>
        </p:spPr>
        <p:txBody>
          <a:bodyPr vert="horz" wrap="square" lIns="91440" tIns="45720" rIns="91440" bIns="45720" anchor="t" anchorCtr="0"/>
          <a:p>
            <a:pPr eaLnBrk="1" hangingPunct="1"/>
            <a:r>
              <a:rPr lang="zh-CN" altLang="en-US" dirty="0"/>
              <a:t>子程序如下：</a:t>
            </a:r>
            <a:endParaRPr lang="zh-CN" altLang="en-US" dirty="0"/>
          </a:p>
          <a:p>
            <a:pPr eaLnBrk="1" hangingPunct="1">
              <a:buNone/>
            </a:pPr>
            <a:r>
              <a:rPr lang="en-GB" altLang="en-US" sz="2000" dirty="0"/>
              <a:t>	my_int 	proc 	</a:t>
            </a:r>
            <a:r>
              <a:rPr lang="en-GB" altLang="en-US" sz="2000" u="sng" dirty="0"/>
              <a:t>far</a:t>
            </a:r>
            <a:endParaRPr lang="en-GB" altLang="en-US" sz="2000" dirty="0"/>
          </a:p>
          <a:p>
            <a:pPr eaLnBrk="1" hangingPunct="1">
              <a:buNone/>
            </a:pPr>
            <a:r>
              <a:rPr lang="en-GB" altLang="en-US" sz="2000" dirty="0"/>
              <a:t>			pusha</a:t>
            </a:r>
            <a:endParaRPr lang="en-GB" altLang="en-US" sz="2000" dirty="0"/>
          </a:p>
          <a:p>
            <a:pPr eaLnBrk="1" hangingPunct="1">
              <a:buNone/>
            </a:pPr>
            <a:r>
              <a:rPr lang="en-GB" altLang="en-US" sz="2000" dirty="0"/>
              <a:t>			…</a:t>
            </a:r>
            <a:endParaRPr lang="en-GB" altLang="en-US" sz="2000" dirty="0"/>
          </a:p>
          <a:p>
            <a:pPr eaLnBrk="1" hangingPunct="1">
              <a:buNone/>
            </a:pPr>
            <a:r>
              <a:rPr lang="en-GB" altLang="en-US" sz="2000" dirty="0"/>
              <a:t>   	 		&lt;</a:t>
            </a:r>
            <a:r>
              <a:rPr lang="zh-CN" altLang="en-US" sz="2000" dirty="0"/>
              <a:t>中断服务程序主体</a:t>
            </a:r>
            <a:r>
              <a:rPr lang="en-GB" altLang="en-US" sz="2000" dirty="0"/>
              <a:t>&gt;</a:t>
            </a:r>
            <a:endParaRPr lang="en-GB" altLang="en-US" sz="2000" dirty="0"/>
          </a:p>
          <a:p>
            <a:pPr eaLnBrk="1" hangingPunct="1">
              <a:buNone/>
            </a:pPr>
            <a:r>
              <a:rPr lang="en-GB" altLang="en-US" sz="2000" dirty="0"/>
              <a:t>			…</a:t>
            </a:r>
            <a:endParaRPr lang="en-GB" altLang="en-US" sz="2000" dirty="0"/>
          </a:p>
          <a:p>
            <a:pPr eaLnBrk="1" hangingPunct="1">
              <a:buNone/>
            </a:pPr>
            <a:r>
              <a:rPr lang="en-GB" altLang="en-US" sz="2000" dirty="0"/>
              <a:t>			popa</a:t>
            </a:r>
            <a:endParaRPr lang="en-GB" altLang="en-US" sz="2000" dirty="0"/>
          </a:p>
          <a:p>
            <a:pPr eaLnBrk="1" hangingPunct="1">
              <a:buNone/>
            </a:pPr>
            <a:r>
              <a:rPr lang="en-GB" altLang="en-US" sz="2000" dirty="0"/>
              <a:t>			mov	al</a:t>
            </a:r>
            <a:r>
              <a:rPr lang="zh-CN" altLang="en-US" sz="2000" dirty="0"/>
              <a:t>，</a:t>
            </a:r>
            <a:r>
              <a:rPr lang="en-GB" altLang="en-US" sz="2000" dirty="0"/>
              <a:t>20h	</a:t>
            </a:r>
            <a:r>
              <a:rPr lang="zh-CN" altLang="en-US" sz="2000" dirty="0"/>
              <a:t>；</a:t>
            </a:r>
            <a:r>
              <a:rPr lang="en-GB" altLang="en-US" sz="2000" dirty="0"/>
              <a:t>EOI</a:t>
            </a:r>
            <a:r>
              <a:rPr lang="zh-CN" altLang="en-US" sz="2000" dirty="0"/>
              <a:t>命令，</a:t>
            </a:r>
            <a:r>
              <a:rPr lang="en-GB" altLang="en-US" sz="2000" dirty="0"/>
              <a:t>00100000B</a:t>
            </a:r>
            <a:endParaRPr lang="en-GB" altLang="en-US" sz="2000" dirty="0"/>
          </a:p>
          <a:p>
            <a:pPr eaLnBrk="1" hangingPunct="1">
              <a:buNone/>
            </a:pPr>
            <a:r>
              <a:rPr lang="en-GB" altLang="en-US" sz="2000" dirty="0"/>
              <a:t>		  	out	20h</a:t>
            </a:r>
            <a:r>
              <a:rPr lang="zh-CN" altLang="en-US" sz="2000" dirty="0"/>
              <a:t>，</a:t>
            </a:r>
            <a:r>
              <a:rPr lang="en-GB" altLang="en-US" sz="2000" dirty="0"/>
              <a:t>al	</a:t>
            </a:r>
            <a:r>
              <a:rPr lang="zh-CN" altLang="en-US" sz="2000" dirty="0"/>
              <a:t>；写</a:t>
            </a:r>
            <a:r>
              <a:rPr lang="en-GB" altLang="en-US" sz="2000" dirty="0"/>
              <a:t>OCW2</a:t>
            </a:r>
            <a:endParaRPr lang="en-GB" altLang="en-US" sz="2000" dirty="0"/>
          </a:p>
          <a:p>
            <a:pPr eaLnBrk="1" hangingPunct="1">
              <a:buNone/>
            </a:pPr>
            <a:r>
              <a:rPr lang="en-GB" altLang="en-US" sz="2000" dirty="0"/>
              <a:t>			sti</a:t>
            </a:r>
            <a:endParaRPr lang="en-GB" altLang="en-US" sz="2000" dirty="0"/>
          </a:p>
          <a:p>
            <a:pPr eaLnBrk="1" hangingPunct="1">
              <a:buNone/>
            </a:pPr>
            <a:r>
              <a:rPr lang="en-GB" altLang="en-US" sz="2000" dirty="0"/>
              <a:t>			iret</a:t>
            </a:r>
            <a:endParaRPr lang="en-GB" altLang="en-US" sz="2000" dirty="0"/>
          </a:p>
          <a:p>
            <a:pPr eaLnBrk="1" hangingPunct="1">
              <a:buNone/>
            </a:pPr>
            <a:r>
              <a:rPr lang="en-GB" altLang="en-US" sz="2000" dirty="0"/>
              <a:t>	my_int 	endp</a:t>
            </a:r>
            <a:endParaRPr lang="en-US" altLang="zh-CN" sz="2000" dirty="0"/>
          </a:p>
        </p:txBody>
      </p:sp>
    </p:spTree>
  </p:cSld>
  <p:clrMapOvr>
    <a:masterClrMapping/>
  </p:clrMapOvr>
  <p:transition spd="slow">
    <p:zoom/>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1362" name="Rectangle 3"/>
          <p:cNvSpPr>
            <a:spLocks noGrp="1" noChangeAspect="1"/>
          </p:cNvSpPr>
          <p:nvPr>
            <p:ph type="body" idx="4294967295"/>
          </p:nvPr>
        </p:nvSpPr>
        <p:spPr>
          <a:xfrm>
            <a:off x="-250825" y="1058863"/>
            <a:ext cx="9283700" cy="5610225"/>
          </a:xfrm>
        </p:spPr>
        <p:txBody>
          <a:bodyPr vert="horz" wrap="square" lIns="91440" tIns="45720" rIns="91440" bIns="45720" anchor="t" anchorCtr="0"/>
          <a:p>
            <a:pPr>
              <a:buNone/>
            </a:pPr>
            <a:r>
              <a:rPr lang="en-US" altLang="zh-CN" sz="2000" dirty="0">
                <a:solidFill>
                  <a:schemeClr val="tx1"/>
                </a:solidFill>
              </a:rPr>
              <a:t>               </a:t>
            </a:r>
            <a:endParaRPr lang="en-US" altLang="zh-CN" sz="2000" dirty="0">
              <a:solidFill>
                <a:schemeClr val="tx1"/>
              </a:solidFill>
            </a:endParaRPr>
          </a:p>
          <a:p>
            <a:pPr>
              <a:buNone/>
            </a:pPr>
            <a:r>
              <a:rPr lang="en-US" altLang="zh-CN" sz="2000" dirty="0">
                <a:solidFill>
                  <a:schemeClr val="tx1"/>
                </a:solidFill>
              </a:rPr>
              <a:t>     </a:t>
            </a:r>
            <a:endParaRPr lang="en-US" altLang="zh-CN" sz="2000" dirty="0">
              <a:solidFill>
                <a:schemeClr val="tx1"/>
              </a:solidFill>
            </a:endParaRPr>
          </a:p>
          <a:p>
            <a:pPr>
              <a:buNone/>
            </a:pPr>
            <a:r>
              <a:rPr lang="en-US" altLang="zh-CN" sz="2000" dirty="0">
                <a:solidFill>
                  <a:schemeClr val="tx1"/>
                </a:solidFill>
              </a:rPr>
              <a:t>    8259A</a:t>
            </a:r>
            <a:r>
              <a:rPr lang="zh-CN" altLang="en-US" sz="2000" dirty="0">
                <a:solidFill>
                  <a:schemeClr val="tx1"/>
                </a:solidFill>
              </a:rPr>
              <a:t>的</a:t>
            </a:r>
            <a:r>
              <a:rPr lang="en-US" altLang="zh-CN" sz="2000" dirty="0">
                <a:solidFill>
                  <a:schemeClr val="tx1"/>
                </a:solidFill>
              </a:rPr>
              <a:t>IRQ0(</a:t>
            </a:r>
            <a:r>
              <a:rPr lang="zh-CN" altLang="en-US" sz="2000" dirty="0">
                <a:solidFill>
                  <a:schemeClr val="tx1"/>
                </a:solidFill>
              </a:rPr>
              <a:t>中断类型码为</a:t>
            </a:r>
            <a:r>
              <a:rPr lang="en-US" altLang="zh-CN" sz="2000" dirty="0">
                <a:solidFill>
                  <a:schemeClr val="tx1"/>
                </a:solidFill>
              </a:rPr>
              <a:t>08H)</a:t>
            </a:r>
            <a:r>
              <a:rPr lang="zh-CN" altLang="en-US" sz="2000" dirty="0">
                <a:solidFill>
                  <a:schemeClr val="tx1"/>
                </a:solidFill>
              </a:rPr>
              <a:t>的中断请求来自定时器</a:t>
            </a:r>
            <a:r>
              <a:rPr lang="en-US" altLang="zh-CN" sz="2000" dirty="0">
                <a:solidFill>
                  <a:schemeClr val="tx1"/>
                </a:solidFill>
              </a:rPr>
              <a:t>8253</a:t>
            </a:r>
            <a:r>
              <a:rPr lang="zh-CN" altLang="en-US" sz="2000" dirty="0">
                <a:solidFill>
                  <a:schemeClr val="tx1"/>
                </a:solidFill>
              </a:rPr>
              <a:t>，每隔</a:t>
            </a:r>
            <a:r>
              <a:rPr lang="en-US" altLang="zh-CN" sz="2000" dirty="0">
                <a:solidFill>
                  <a:schemeClr val="tx1"/>
                </a:solidFill>
              </a:rPr>
              <a:t>55ms</a:t>
            </a:r>
            <a:r>
              <a:rPr lang="zh-CN" altLang="en-US" sz="2000" dirty="0">
                <a:solidFill>
                  <a:schemeClr val="tx1"/>
                </a:solidFill>
              </a:rPr>
              <a:t>产生一次。</a:t>
            </a:r>
            <a:r>
              <a:rPr lang="en-US" altLang="zh-CN" sz="2000" dirty="0">
                <a:solidFill>
                  <a:schemeClr val="tx1"/>
                </a:solidFill>
              </a:rPr>
              <a:t>DOS</a:t>
            </a:r>
            <a:r>
              <a:rPr lang="zh-CN" altLang="en-US" sz="2000" dirty="0">
                <a:solidFill>
                  <a:schemeClr val="tx1"/>
                </a:solidFill>
              </a:rPr>
              <a:t>系统利用它来实现时钟计时功能。本程序用新的</a:t>
            </a:r>
            <a:r>
              <a:rPr lang="en-US" altLang="zh-CN" sz="2000" dirty="0">
                <a:solidFill>
                  <a:schemeClr val="tx1"/>
                </a:solidFill>
              </a:rPr>
              <a:t>08H</a:t>
            </a:r>
            <a:r>
              <a:rPr lang="zh-CN" altLang="en-US" sz="2000" dirty="0">
                <a:solidFill>
                  <a:schemeClr val="tx1"/>
                </a:solidFill>
              </a:rPr>
              <a:t>中断服务程序暂时替代计时程序，使得每次中断显示一串信息，即显示“</a:t>
            </a:r>
            <a:r>
              <a:rPr lang="zh-CN" altLang="en-US" sz="2000" dirty="0">
                <a:solidFill>
                  <a:srgbClr val="FF0000"/>
                </a:solidFill>
              </a:rPr>
              <a:t>A 8259A Interrupt !</a:t>
            </a:r>
            <a:r>
              <a:rPr lang="en-US" altLang="zh-CN" sz="2000" dirty="0">
                <a:solidFill>
                  <a:schemeClr val="tx1"/>
                </a:solidFill>
              </a:rPr>
              <a:t>”</a:t>
            </a:r>
            <a:r>
              <a:rPr lang="zh-CN" altLang="en-US" sz="2000" dirty="0">
                <a:solidFill>
                  <a:schemeClr val="tx1"/>
                </a:solidFill>
              </a:rPr>
              <a:t>，显示</a:t>
            </a:r>
            <a:r>
              <a:rPr lang="en-US" altLang="zh-CN" sz="2000" dirty="0">
                <a:solidFill>
                  <a:schemeClr val="tx1"/>
                </a:solidFill>
              </a:rPr>
              <a:t>20</a:t>
            </a:r>
            <a:r>
              <a:rPr lang="zh-CN" altLang="en-US" sz="2000" dirty="0">
                <a:solidFill>
                  <a:schemeClr val="tx1"/>
                </a:solidFill>
              </a:rPr>
              <a:t>次后，恢复中断服务程序，返回</a:t>
            </a:r>
            <a:r>
              <a:rPr lang="en-US" altLang="zh-CN" sz="2000" dirty="0">
                <a:solidFill>
                  <a:schemeClr val="tx1"/>
                </a:solidFill>
              </a:rPr>
              <a:t>DOS</a:t>
            </a:r>
            <a:r>
              <a:rPr lang="zh-CN" altLang="en-US" sz="2000" dirty="0">
                <a:solidFill>
                  <a:schemeClr val="tx1"/>
                </a:solidFill>
              </a:rPr>
              <a:t>。</a:t>
            </a:r>
            <a:endParaRPr lang="zh-CN" altLang="en-US" sz="2000" dirty="0">
              <a:solidFill>
                <a:schemeClr val="tx1"/>
              </a:solidFill>
            </a:endParaRPr>
          </a:p>
        </p:txBody>
      </p:sp>
      <p:sp>
        <p:nvSpPr>
          <p:cNvPr id="271363" name="Rectangle 5"/>
          <p:cNvSpPr/>
          <p:nvPr/>
        </p:nvSpPr>
        <p:spPr>
          <a:xfrm>
            <a:off x="-60325" y="3975100"/>
            <a:ext cx="6407150" cy="25304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100000"/>
              </a:lnSpc>
              <a:spcBef>
                <a:spcPct val="0"/>
              </a:spcBef>
              <a:spcAft>
                <a:spcPct val="0"/>
              </a:spcAft>
              <a:buClrTx/>
              <a:buSzTx/>
              <a:buNone/>
            </a:pPr>
            <a:r>
              <a:rPr lang="zh-CN" altLang="en-US" sz="2000" b="0" dirty="0">
                <a:solidFill>
                  <a:srgbClr val="000000"/>
                </a:solidFill>
                <a:latin typeface="Times New Roman" panose="02020603050405020304" pitchFamily="18" charset="0"/>
                <a:ea typeface="楷体_GB2312"/>
              </a:rPr>
              <a:t>获得中断向量</a:t>
            </a:r>
            <a:r>
              <a:rPr lang="en-US" altLang="zh-CN" sz="2000" b="0" dirty="0">
                <a:solidFill>
                  <a:srgbClr val="000000"/>
                </a:solidFill>
                <a:latin typeface="Times New Roman" panose="02020603050405020304" pitchFamily="18" charset="0"/>
                <a:ea typeface="楷体_GB2312"/>
              </a:rPr>
              <a:t>—— </a:t>
            </a:r>
            <a:r>
              <a:rPr lang="zh-CN" altLang="en-US" sz="2000" b="0" dirty="0">
                <a:solidFill>
                  <a:srgbClr val="FF0000"/>
                </a:solidFill>
                <a:latin typeface="Times New Roman" panose="02020603050405020304" pitchFamily="18" charset="0"/>
                <a:ea typeface="楷体_GB2312"/>
              </a:rPr>
              <a:t>利用</a:t>
            </a:r>
            <a:r>
              <a:rPr lang="en-US" altLang="zh-CN" sz="2000" b="0" dirty="0">
                <a:solidFill>
                  <a:srgbClr val="FF0000"/>
                </a:solidFill>
                <a:latin typeface="Times New Roman" panose="02020603050405020304" pitchFamily="18" charset="0"/>
                <a:ea typeface="楷体_GB2312"/>
              </a:rPr>
              <a:t>DOS</a:t>
            </a:r>
            <a:r>
              <a:rPr lang="zh-CN" altLang="en-US" sz="2000" b="0" dirty="0">
                <a:solidFill>
                  <a:srgbClr val="FF0000"/>
                </a:solidFill>
                <a:latin typeface="Times New Roman" panose="02020603050405020304" pitchFamily="18" charset="0"/>
                <a:ea typeface="楷体_GB2312"/>
              </a:rPr>
              <a:t>功能调用</a:t>
            </a:r>
            <a:r>
              <a:rPr lang="en-US" altLang="zh-CN" sz="2000" b="0" dirty="0">
                <a:solidFill>
                  <a:srgbClr val="FF0000"/>
                </a:solidFill>
                <a:latin typeface="Times New Roman" panose="02020603050405020304" pitchFamily="18" charset="0"/>
                <a:ea typeface="楷体_GB2312"/>
              </a:rPr>
              <a:t>35H</a:t>
            </a:r>
            <a:r>
              <a:rPr lang="zh-CN" altLang="en-US" sz="2000" b="0" dirty="0">
                <a:solidFill>
                  <a:srgbClr val="FF0000"/>
                </a:solidFill>
                <a:latin typeface="Times New Roman" panose="02020603050405020304" pitchFamily="18" charset="0"/>
                <a:ea typeface="楷体_GB2312"/>
              </a:rPr>
              <a:t>号子功能</a:t>
            </a:r>
            <a:endParaRPr lang="zh-CN" altLang="en-US" sz="2000" b="0" dirty="0">
              <a:solidFill>
                <a:srgbClr val="FF0000"/>
              </a:solidFill>
              <a:latin typeface="Times New Roman" panose="02020603050405020304" pitchFamily="18" charset="0"/>
              <a:ea typeface="楷体_GB2312"/>
            </a:endParaRPr>
          </a:p>
          <a:p>
            <a:pPr marL="1257300" lvl="2" indent="-342900">
              <a:lnSpc>
                <a:spcPct val="100000"/>
              </a:lnSpc>
              <a:spcBef>
                <a:spcPct val="0"/>
              </a:spcBef>
              <a:spcAft>
                <a:spcPct val="0"/>
              </a:spcAft>
              <a:buClrTx/>
              <a:buSzTx/>
              <a:buNone/>
            </a:pPr>
            <a:r>
              <a:rPr lang="zh-CN" altLang="en-US" i="1" dirty="0">
                <a:solidFill>
                  <a:srgbClr val="000000"/>
                </a:solidFill>
                <a:latin typeface="Times New Roman" panose="02020603050405020304" pitchFamily="18" charset="0"/>
                <a:ea typeface="楷体_GB2312"/>
              </a:rPr>
              <a:t>入口参数     </a:t>
            </a:r>
            <a:r>
              <a:rPr lang="en-US" altLang="zh-CN" i="1" dirty="0">
                <a:solidFill>
                  <a:srgbClr val="000000"/>
                </a:solidFill>
                <a:latin typeface="Times New Roman" panose="02020603050405020304" pitchFamily="18" charset="0"/>
                <a:ea typeface="楷体_GB2312"/>
              </a:rPr>
              <a:t>AH=35H</a:t>
            </a:r>
            <a:r>
              <a:rPr lang="zh-CN" altLang="en-US" i="1" dirty="0">
                <a:solidFill>
                  <a:srgbClr val="000000"/>
                </a:solidFill>
                <a:latin typeface="Times New Roman" panose="02020603050405020304" pitchFamily="18" charset="0"/>
                <a:ea typeface="楷体_GB2312"/>
              </a:rPr>
              <a:t>，</a:t>
            </a:r>
            <a:r>
              <a:rPr lang="en-US" altLang="zh-CN" i="1" dirty="0">
                <a:solidFill>
                  <a:srgbClr val="000000"/>
                </a:solidFill>
                <a:latin typeface="Times New Roman" panose="02020603050405020304" pitchFamily="18" charset="0"/>
                <a:ea typeface="楷体_GB2312"/>
              </a:rPr>
              <a:t>AL=</a:t>
            </a:r>
            <a:r>
              <a:rPr lang="zh-CN" altLang="en-US" i="1" dirty="0">
                <a:solidFill>
                  <a:srgbClr val="000000"/>
                </a:solidFill>
                <a:latin typeface="Times New Roman" panose="02020603050405020304" pitchFamily="18" charset="0"/>
                <a:ea typeface="楷体_GB2312"/>
              </a:rPr>
              <a:t>中断类型码</a:t>
            </a:r>
            <a:endParaRPr lang="zh-CN" altLang="en-US" i="1" dirty="0">
              <a:solidFill>
                <a:srgbClr val="000000"/>
              </a:solidFill>
              <a:latin typeface="Times New Roman" panose="02020603050405020304" pitchFamily="18" charset="0"/>
              <a:ea typeface="楷体_GB2312"/>
            </a:endParaRPr>
          </a:p>
          <a:p>
            <a:pPr marL="1257300" lvl="2" indent="-342900">
              <a:lnSpc>
                <a:spcPct val="100000"/>
              </a:lnSpc>
              <a:spcBef>
                <a:spcPct val="0"/>
              </a:spcBef>
              <a:spcAft>
                <a:spcPct val="0"/>
              </a:spcAft>
              <a:buClrTx/>
              <a:buSzTx/>
              <a:buNone/>
            </a:pPr>
            <a:r>
              <a:rPr lang="zh-CN" altLang="en-US" i="1" dirty="0">
                <a:solidFill>
                  <a:srgbClr val="000000"/>
                </a:solidFill>
                <a:latin typeface="Times New Roman" panose="02020603050405020304" pitchFamily="18" charset="0"/>
                <a:ea typeface="楷体_GB2312"/>
              </a:rPr>
              <a:t>返回参数      </a:t>
            </a:r>
            <a:r>
              <a:rPr lang="en-US" altLang="zh-CN" i="1" dirty="0">
                <a:solidFill>
                  <a:srgbClr val="000000"/>
                </a:solidFill>
                <a:latin typeface="Times New Roman" panose="02020603050405020304" pitchFamily="18" charset="0"/>
                <a:ea typeface="楷体_GB2312"/>
              </a:rPr>
              <a:t>ES:BX </a:t>
            </a:r>
            <a:r>
              <a:rPr lang="zh-CN" altLang="en-US" i="1" dirty="0">
                <a:solidFill>
                  <a:srgbClr val="000000"/>
                </a:solidFill>
                <a:latin typeface="Times New Roman" panose="02020603050405020304" pitchFamily="18" charset="0"/>
                <a:ea typeface="楷体_GB2312"/>
              </a:rPr>
              <a:t>中断服务程序入口地址</a:t>
            </a:r>
            <a:endParaRPr lang="zh-CN" altLang="en-US" i="1" dirty="0">
              <a:solidFill>
                <a:srgbClr val="000000"/>
              </a:solidFill>
              <a:latin typeface="Times New Roman" panose="02020603050405020304" pitchFamily="18" charset="0"/>
              <a:ea typeface="楷体_GB2312"/>
            </a:endParaRPr>
          </a:p>
          <a:p>
            <a:pPr marL="342900" lvl="0" indent="-342900">
              <a:lnSpc>
                <a:spcPct val="100000"/>
              </a:lnSpc>
              <a:spcBef>
                <a:spcPct val="0"/>
              </a:spcBef>
              <a:spcAft>
                <a:spcPct val="0"/>
              </a:spcAft>
              <a:buClrTx/>
              <a:buSzTx/>
              <a:buNone/>
            </a:pPr>
            <a:endParaRPr lang="zh-CN" altLang="en-US" sz="2000" b="0" dirty="0">
              <a:solidFill>
                <a:srgbClr val="000000"/>
              </a:solidFill>
              <a:latin typeface="Times New Roman" panose="02020603050405020304" pitchFamily="18" charset="0"/>
              <a:ea typeface="楷体_GB2312"/>
            </a:endParaRPr>
          </a:p>
          <a:p>
            <a:pPr marL="342900" lvl="0" indent="-342900">
              <a:lnSpc>
                <a:spcPct val="100000"/>
              </a:lnSpc>
              <a:spcBef>
                <a:spcPct val="0"/>
              </a:spcBef>
              <a:spcAft>
                <a:spcPct val="0"/>
              </a:spcAft>
              <a:buClrTx/>
              <a:buSzTx/>
              <a:buNone/>
            </a:pPr>
            <a:r>
              <a:rPr lang="zh-CN" altLang="en-US" sz="2000" b="0" dirty="0">
                <a:solidFill>
                  <a:srgbClr val="000000"/>
                </a:solidFill>
                <a:latin typeface="Times New Roman" panose="02020603050405020304" pitchFamily="18" charset="0"/>
                <a:ea typeface="楷体_GB2312"/>
              </a:rPr>
              <a:t>中断向量安装 </a:t>
            </a:r>
            <a:r>
              <a:rPr lang="en-US" altLang="zh-CN" sz="2000" b="0" dirty="0">
                <a:solidFill>
                  <a:srgbClr val="000000"/>
                </a:solidFill>
                <a:latin typeface="Times New Roman" panose="02020603050405020304" pitchFamily="18" charset="0"/>
                <a:ea typeface="楷体_GB2312"/>
              </a:rPr>
              <a:t>—— </a:t>
            </a:r>
            <a:r>
              <a:rPr lang="zh-CN" altLang="en-US" sz="2000" b="0" dirty="0">
                <a:solidFill>
                  <a:srgbClr val="FF0000"/>
                </a:solidFill>
                <a:latin typeface="Times New Roman" panose="02020603050405020304" pitchFamily="18" charset="0"/>
                <a:ea typeface="楷体_GB2312"/>
              </a:rPr>
              <a:t>利用</a:t>
            </a:r>
            <a:r>
              <a:rPr lang="en-US" altLang="zh-CN" sz="2000" b="0" dirty="0">
                <a:solidFill>
                  <a:srgbClr val="FF0000"/>
                </a:solidFill>
                <a:latin typeface="Times New Roman" panose="02020603050405020304" pitchFamily="18" charset="0"/>
                <a:ea typeface="楷体_GB2312"/>
              </a:rPr>
              <a:t>DOS</a:t>
            </a:r>
            <a:r>
              <a:rPr lang="zh-CN" altLang="en-US" sz="2000" b="0" dirty="0">
                <a:solidFill>
                  <a:srgbClr val="FF0000"/>
                </a:solidFill>
                <a:latin typeface="Times New Roman" panose="02020603050405020304" pitchFamily="18" charset="0"/>
                <a:ea typeface="楷体_GB2312"/>
              </a:rPr>
              <a:t>功能调用25</a:t>
            </a:r>
            <a:r>
              <a:rPr lang="en-US" altLang="zh-CN" sz="2000" b="0" dirty="0">
                <a:solidFill>
                  <a:srgbClr val="FF0000"/>
                </a:solidFill>
                <a:latin typeface="Times New Roman" panose="02020603050405020304" pitchFamily="18" charset="0"/>
                <a:ea typeface="楷体_GB2312"/>
              </a:rPr>
              <a:t>H</a:t>
            </a:r>
            <a:r>
              <a:rPr lang="zh-CN" altLang="en-US" sz="2000" b="0" dirty="0">
                <a:solidFill>
                  <a:srgbClr val="FF0000"/>
                </a:solidFill>
                <a:latin typeface="Times New Roman" panose="02020603050405020304" pitchFamily="18" charset="0"/>
                <a:ea typeface="楷体_GB2312"/>
              </a:rPr>
              <a:t>号子功能</a:t>
            </a:r>
            <a:endParaRPr lang="zh-CN" altLang="en-US" sz="2000" b="0" dirty="0">
              <a:solidFill>
                <a:srgbClr val="FF0000"/>
              </a:solidFill>
              <a:latin typeface="Times New Roman" panose="02020603050405020304" pitchFamily="18" charset="0"/>
              <a:ea typeface="楷体_GB2312"/>
            </a:endParaRPr>
          </a:p>
          <a:p>
            <a:pPr marL="1257300" lvl="2" indent="-342900">
              <a:lnSpc>
                <a:spcPct val="100000"/>
              </a:lnSpc>
              <a:spcBef>
                <a:spcPct val="0"/>
              </a:spcBef>
              <a:spcAft>
                <a:spcPct val="0"/>
              </a:spcAft>
              <a:buClrTx/>
              <a:buSzTx/>
              <a:buNone/>
            </a:pPr>
            <a:r>
              <a:rPr lang="zh-CN" altLang="en-US" i="1" dirty="0">
                <a:solidFill>
                  <a:srgbClr val="000000"/>
                </a:solidFill>
                <a:latin typeface="Times New Roman" panose="02020603050405020304" pitchFamily="18" charset="0"/>
                <a:ea typeface="楷体_GB2312"/>
              </a:rPr>
              <a:t>入口参数     </a:t>
            </a:r>
            <a:r>
              <a:rPr lang="en-US" altLang="zh-CN" i="1" dirty="0">
                <a:solidFill>
                  <a:srgbClr val="000000"/>
                </a:solidFill>
                <a:latin typeface="Times New Roman" panose="02020603050405020304" pitchFamily="18" charset="0"/>
                <a:ea typeface="楷体_GB2312"/>
              </a:rPr>
              <a:t>AH=25H</a:t>
            </a:r>
            <a:r>
              <a:rPr lang="zh-CN" altLang="en-US" i="1" dirty="0">
                <a:solidFill>
                  <a:srgbClr val="000000"/>
                </a:solidFill>
                <a:latin typeface="Times New Roman" panose="02020603050405020304" pitchFamily="18" charset="0"/>
                <a:ea typeface="楷体_GB2312"/>
              </a:rPr>
              <a:t>，</a:t>
            </a:r>
            <a:r>
              <a:rPr lang="en-US" altLang="zh-CN" i="1" dirty="0">
                <a:solidFill>
                  <a:srgbClr val="000000"/>
                </a:solidFill>
                <a:latin typeface="Times New Roman" panose="02020603050405020304" pitchFamily="18" charset="0"/>
                <a:ea typeface="楷体_GB2312"/>
              </a:rPr>
              <a:t>AL=</a:t>
            </a:r>
            <a:r>
              <a:rPr lang="zh-CN" altLang="en-US" i="1" dirty="0">
                <a:solidFill>
                  <a:srgbClr val="000000"/>
                </a:solidFill>
                <a:latin typeface="Times New Roman" panose="02020603050405020304" pitchFamily="18" charset="0"/>
                <a:ea typeface="楷体_GB2312"/>
              </a:rPr>
              <a:t>中断类型码</a:t>
            </a:r>
            <a:endParaRPr lang="zh-CN" altLang="en-US" i="1" dirty="0">
              <a:solidFill>
                <a:srgbClr val="000000"/>
              </a:solidFill>
              <a:latin typeface="Times New Roman" panose="02020603050405020304" pitchFamily="18" charset="0"/>
              <a:ea typeface="楷体_GB2312"/>
            </a:endParaRPr>
          </a:p>
          <a:p>
            <a:pPr marL="2171700" lvl="4" indent="-342900">
              <a:lnSpc>
                <a:spcPct val="100000"/>
              </a:lnSpc>
              <a:spcBef>
                <a:spcPct val="0"/>
              </a:spcBef>
              <a:buClrTx/>
              <a:buSzTx/>
              <a:buNone/>
            </a:pPr>
            <a:r>
              <a:rPr lang="zh-CN" altLang="en-US" b="1" i="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DS:DX  </a:t>
            </a:r>
            <a:r>
              <a:rPr lang="zh-CN" altLang="en-US" b="1" i="1" dirty="0">
                <a:solidFill>
                  <a:srgbClr val="000000"/>
                </a:solidFill>
                <a:latin typeface="Times New Roman" panose="02020603050405020304" pitchFamily="18" charset="0"/>
                <a:ea typeface="楷体_GB2312"/>
              </a:rPr>
              <a:t>中断服务程序入口地址</a:t>
            </a:r>
            <a:endParaRPr lang="zh-CN" altLang="en-US" b="1" i="1" dirty="0">
              <a:solidFill>
                <a:srgbClr val="000000"/>
              </a:solidFill>
              <a:latin typeface="Times New Roman" panose="02020603050405020304" pitchFamily="18" charset="0"/>
              <a:ea typeface="楷体_GB2312"/>
            </a:endParaRPr>
          </a:p>
          <a:p>
            <a:pPr marL="1257300" lvl="2" indent="-342900">
              <a:lnSpc>
                <a:spcPct val="100000"/>
              </a:lnSpc>
              <a:spcBef>
                <a:spcPct val="0"/>
              </a:spcBef>
              <a:spcAft>
                <a:spcPct val="0"/>
              </a:spcAft>
              <a:buClrTx/>
              <a:buSzTx/>
              <a:buNone/>
            </a:pPr>
            <a:r>
              <a:rPr lang="zh-CN" altLang="en-US" i="1" dirty="0">
                <a:solidFill>
                  <a:srgbClr val="000000"/>
                </a:solidFill>
                <a:latin typeface="Times New Roman" panose="02020603050405020304" pitchFamily="18" charset="0"/>
                <a:ea typeface="楷体_GB2312"/>
              </a:rPr>
              <a:t>返回参数： 无</a:t>
            </a:r>
            <a:endParaRPr lang="zh-CN" altLang="en-US" i="1" dirty="0">
              <a:solidFill>
                <a:srgbClr val="000000"/>
              </a:solidFill>
              <a:latin typeface="Times New Roman" panose="02020603050405020304" pitchFamily="18" charset="0"/>
              <a:ea typeface="楷体_GB2312"/>
            </a:endParaRPr>
          </a:p>
        </p:txBody>
      </p:sp>
      <p:sp>
        <p:nvSpPr>
          <p:cNvPr id="271364" name="Rectangle 6"/>
          <p:cNvSpPr/>
          <p:nvPr/>
        </p:nvSpPr>
        <p:spPr>
          <a:xfrm>
            <a:off x="49213" y="3443288"/>
            <a:ext cx="5051425" cy="3667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1" indent="457200">
              <a:lnSpc>
                <a:spcPct val="100000"/>
              </a:lnSpc>
              <a:spcBef>
                <a:spcPct val="0"/>
              </a:spcBef>
              <a:spcAft>
                <a:spcPct val="0"/>
              </a:spcAft>
              <a:buClrTx/>
              <a:buSzTx/>
              <a:buNone/>
            </a:pPr>
            <a:r>
              <a:rPr lang="en-US" altLang="zh-CN" sz="1800" i="1" dirty="0">
                <a:solidFill>
                  <a:srgbClr val="FF0000"/>
                </a:solidFill>
                <a:ea typeface="楷体_GB2312"/>
              </a:rPr>
              <a:t>DOS</a:t>
            </a:r>
            <a:r>
              <a:rPr lang="zh-CN" altLang="en-US" sz="1800" i="1" dirty="0">
                <a:solidFill>
                  <a:srgbClr val="FF0000"/>
                </a:solidFill>
                <a:ea typeface="楷体_GB2312"/>
              </a:rPr>
              <a:t>系统提供中断信息处理功能  </a:t>
            </a:r>
            <a:r>
              <a:rPr lang="en-US" altLang="zh-CN" sz="1800" i="1" dirty="0">
                <a:solidFill>
                  <a:srgbClr val="FF0000"/>
                </a:solidFill>
                <a:ea typeface="楷体_GB2312"/>
              </a:rPr>
              <a:t>int 21H</a:t>
            </a:r>
            <a:endParaRPr lang="en-US" altLang="zh-CN" sz="1800" i="1" dirty="0">
              <a:solidFill>
                <a:srgbClr val="FF0000"/>
              </a:solidFill>
              <a:ea typeface="楷体_GB2312"/>
            </a:endParaRPr>
          </a:p>
        </p:txBody>
      </p:sp>
      <p:sp>
        <p:nvSpPr>
          <p:cNvPr id="271365" name="Rectangle 8"/>
          <p:cNvSpPr/>
          <p:nvPr/>
        </p:nvSpPr>
        <p:spPr>
          <a:xfrm>
            <a:off x="6780213" y="4005263"/>
            <a:ext cx="1652587" cy="485775"/>
          </a:xfrm>
          <a:prstGeom prst="rect">
            <a:avLst/>
          </a:prstGeom>
          <a:solidFill>
            <a:srgbClr val="CCFF99"/>
          </a:solidFill>
          <a:ln w="25400" cap="flat" cmpd="sng">
            <a:solidFill>
              <a:schemeClr val="tx1"/>
            </a:solidFill>
            <a:prstDash val="solid"/>
            <a:miter/>
            <a:headEnd type="none" w="med" len="med"/>
            <a:tailEnd type="none" w="med" len="med"/>
          </a:ln>
        </p:spPr>
        <p:txBody>
          <a:bodyPr wrap="none" lIns="93600" tIns="46800" rIns="93600" bIns="4680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71366" name="Rectangle 9"/>
          <p:cNvSpPr/>
          <p:nvPr/>
        </p:nvSpPr>
        <p:spPr>
          <a:xfrm>
            <a:off x="6789738" y="4500563"/>
            <a:ext cx="1652587" cy="485775"/>
          </a:xfrm>
          <a:prstGeom prst="rect">
            <a:avLst/>
          </a:prstGeom>
          <a:solidFill>
            <a:srgbClr val="CCFF99"/>
          </a:solidFill>
          <a:ln w="25400" cap="flat" cmpd="sng">
            <a:solidFill>
              <a:schemeClr val="tx1"/>
            </a:solidFill>
            <a:prstDash val="solid"/>
            <a:miter/>
            <a:headEnd type="none" w="med" len="med"/>
            <a:tailEnd type="none" w="med" len="med"/>
          </a:ln>
        </p:spPr>
        <p:txBody>
          <a:bodyPr wrap="none" lIns="93600" tIns="46800" rIns="93600" bIns="4680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71367" name="Rectangle 10"/>
          <p:cNvSpPr/>
          <p:nvPr/>
        </p:nvSpPr>
        <p:spPr>
          <a:xfrm>
            <a:off x="6789738" y="4986338"/>
            <a:ext cx="1652587" cy="485775"/>
          </a:xfrm>
          <a:prstGeom prst="rect">
            <a:avLst/>
          </a:prstGeom>
          <a:solidFill>
            <a:srgbClr val="CCFF99"/>
          </a:solidFill>
          <a:ln w="25400" cap="flat" cmpd="sng">
            <a:solidFill>
              <a:schemeClr val="tx1"/>
            </a:solidFill>
            <a:prstDash val="solid"/>
            <a:miter/>
            <a:headEnd type="none" w="med" len="med"/>
            <a:tailEnd type="none" w="med" len="med"/>
          </a:ln>
        </p:spPr>
        <p:txBody>
          <a:bodyPr wrap="none" lIns="93600" tIns="46800" rIns="93600" bIns="4680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71368" name="Rectangle 11"/>
          <p:cNvSpPr/>
          <p:nvPr/>
        </p:nvSpPr>
        <p:spPr>
          <a:xfrm>
            <a:off x="6784975" y="5470525"/>
            <a:ext cx="1652588" cy="485775"/>
          </a:xfrm>
          <a:prstGeom prst="rect">
            <a:avLst/>
          </a:prstGeom>
          <a:solidFill>
            <a:srgbClr val="CCFF99"/>
          </a:solidFill>
          <a:ln w="25400" cap="flat" cmpd="sng">
            <a:solidFill>
              <a:schemeClr val="tx1"/>
            </a:solidFill>
            <a:prstDash val="solid"/>
            <a:miter/>
            <a:headEnd type="none" w="med" len="med"/>
            <a:tailEnd type="none" w="med" len="med"/>
          </a:ln>
        </p:spPr>
        <p:txBody>
          <a:bodyPr wrap="none" lIns="93600" tIns="46800" rIns="93600" bIns="4680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71369" name="Text Box 12"/>
          <p:cNvSpPr txBox="1"/>
          <p:nvPr/>
        </p:nvSpPr>
        <p:spPr>
          <a:xfrm>
            <a:off x="6805613" y="5516563"/>
            <a:ext cx="1606550" cy="396875"/>
          </a:xfrm>
          <a:prstGeom prst="rect">
            <a:avLst/>
          </a:prstGeom>
          <a:noFill/>
          <a:ln w="9525">
            <a:noFill/>
          </a:ln>
        </p:spPr>
        <p:txBody>
          <a:bodyPr wrap="none" lIns="93600" tIns="46800" rIns="93600" bIns="46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偏移量低</a:t>
            </a:r>
            <a:r>
              <a:rPr lang="en-US" altLang="zh-CN" sz="2000" b="0" dirty="0">
                <a:solidFill>
                  <a:schemeClr val="tx1"/>
                </a:solidFill>
                <a:ea typeface="楷体_GB2312"/>
              </a:rPr>
              <a:t>8</a:t>
            </a:r>
            <a:r>
              <a:rPr lang="zh-CN" altLang="en-US" sz="2000" b="0" dirty="0">
                <a:solidFill>
                  <a:schemeClr val="tx1"/>
                </a:solidFill>
                <a:ea typeface="楷体_GB2312"/>
              </a:rPr>
              <a:t>位</a:t>
            </a:r>
            <a:endParaRPr lang="zh-CN" altLang="en-US" sz="2000" b="0" dirty="0">
              <a:solidFill>
                <a:schemeClr val="tx1"/>
              </a:solidFill>
              <a:ea typeface="楷体_GB2312"/>
            </a:endParaRPr>
          </a:p>
        </p:txBody>
      </p:sp>
      <p:sp>
        <p:nvSpPr>
          <p:cNvPr id="271370" name="Text Box 13"/>
          <p:cNvSpPr txBox="1"/>
          <p:nvPr/>
        </p:nvSpPr>
        <p:spPr>
          <a:xfrm>
            <a:off x="6797675" y="5048250"/>
            <a:ext cx="1606550" cy="396875"/>
          </a:xfrm>
          <a:prstGeom prst="rect">
            <a:avLst/>
          </a:prstGeom>
          <a:solidFill>
            <a:srgbClr val="CCFF99"/>
          </a:solidFill>
          <a:ln w="9525">
            <a:noFill/>
          </a:ln>
        </p:spPr>
        <p:txBody>
          <a:bodyPr wrap="none" lIns="93600" tIns="46800" rIns="93600" bIns="46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偏移量高</a:t>
            </a:r>
            <a:r>
              <a:rPr lang="en-US" altLang="zh-CN" sz="2000" b="0" dirty="0">
                <a:solidFill>
                  <a:schemeClr val="tx1"/>
                </a:solidFill>
                <a:ea typeface="楷体_GB2312"/>
              </a:rPr>
              <a:t>8</a:t>
            </a:r>
            <a:r>
              <a:rPr lang="zh-CN" altLang="en-US" sz="2000" b="0" dirty="0">
                <a:solidFill>
                  <a:schemeClr val="tx1"/>
                </a:solidFill>
                <a:ea typeface="楷体_GB2312"/>
              </a:rPr>
              <a:t>位</a:t>
            </a:r>
            <a:endParaRPr lang="zh-CN" altLang="en-US" sz="2000" b="0" dirty="0">
              <a:solidFill>
                <a:schemeClr val="tx1"/>
              </a:solidFill>
              <a:ea typeface="楷体_GB2312"/>
            </a:endParaRPr>
          </a:p>
        </p:txBody>
      </p:sp>
      <p:sp>
        <p:nvSpPr>
          <p:cNvPr id="271371" name="Text Box 14"/>
          <p:cNvSpPr txBox="1"/>
          <p:nvPr/>
        </p:nvSpPr>
        <p:spPr>
          <a:xfrm>
            <a:off x="6853238" y="4545013"/>
            <a:ext cx="1606550" cy="396875"/>
          </a:xfrm>
          <a:prstGeom prst="rect">
            <a:avLst/>
          </a:prstGeom>
          <a:noFill/>
          <a:ln w="9525">
            <a:noFill/>
          </a:ln>
        </p:spPr>
        <p:txBody>
          <a:bodyPr wrap="none" lIns="93600" tIns="46800" rIns="93600" bIns="46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段地址低</a:t>
            </a:r>
            <a:r>
              <a:rPr lang="en-US" altLang="zh-CN" sz="2000" b="0" dirty="0">
                <a:solidFill>
                  <a:schemeClr val="tx1"/>
                </a:solidFill>
                <a:ea typeface="楷体_GB2312"/>
              </a:rPr>
              <a:t>8</a:t>
            </a:r>
            <a:r>
              <a:rPr lang="zh-CN" altLang="en-US" sz="2000" b="0" dirty="0">
                <a:solidFill>
                  <a:schemeClr val="tx1"/>
                </a:solidFill>
                <a:ea typeface="楷体_GB2312"/>
              </a:rPr>
              <a:t>位</a:t>
            </a:r>
            <a:endParaRPr lang="zh-CN" altLang="en-US" sz="2000" b="0" dirty="0">
              <a:solidFill>
                <a:schemeClr val="tx1"/>
              </a:solidFill>
              <a:ea typeface="楷体_GB2312"/>
            </a:endParaRPr>
          </a:p>
        </p:txBody>
      </p:sp>
      <p:sp>
        <p:nvSpPr>
          <p:cNvPr id="271372" name="Text Box 15"/>
          <p:cNvSpPr txBox="1"/>
          <p:nvPr/>
        </p:nvSpPr>
        <p:spPr>
          <a:xfrm>
            <a:off x="6854825" y="4040188"/>
            <a:ext cx="1606550" cy="396875"/>
          </a:xfrm>
          <a:prstGeom prst="rect">
            <a:avLst/>
          </a:prstGeom>
          <a:noFill/>
          <a:ln w="9525">
            <a:noFill/>
          </a:ln>
        </p:spPr>
        <p:txBody>
          <a:bodyPr wrap="none" lIns="93600" tIns="46800" rIns="93600" bIns="46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zh-CN" altLang="en-US" sz="2000" b="0" dirty="0">
                <a:solidFill>
                  <a:schemeClr val="tx1"/>
                </a:solidFill>
                <a:ea typeface="楷体_GB2312"/>
              </a:rPr>
              <a:t>段地址高</a:t>
            </a:r>
            <a:r>
              <a:rPr lang="en-US" altLang="zh-CN" sz="2000" b="0" dirty="0">
                <a:solidFill>
                  <a:schemeClr val="tx1"/>
                </a:solidFill>
                <a:ea typeface="楷体_GB2312"/>
              </a:rPr>
              <a:t>8</a:t>
            </a:r>
            <a:r>
              <a:rPr lang="zh-CN" altLang="en-US" sz="2000" b="0" dirty="0">
                <a:solidFill>
                  <a:schemeClr val="tx1"/>
                </a:solidFill>
                <a:ea typeface="楷体_GB2312"/>
              </a:rPr>
              <a:t>位</a:t>
            </a:r>
            <a:endParaRPr lang="zh-CN" altLang="en-US" sz="2000" b="0" dirty="0">
              <a:solidFill>
                <a:schemeClr val="tx1"/>
              </a:solidFill>
              <a:ea typeface="楷体_GB2312"/>
            </a:endParaRPr>
          </a:p>
        </p:txBody>
      </p:sp>
      <p:sp>
        <p:nvSpPr>
          <p:cNvPr id="271373" name="Text Box 16"/>
          <p:cNvSpPr txBox="1"/>
          <p:nvPr/>
        </p:nvSpPr>
        <p:spPr>
          <a:xfrm>
            <a:off x="5795963" y="4052888"/>
            <a:ext cx="1158875" cy="396875"/>
          </a:xfrm>
          <a:prstGeom prst="rect">
            <a:avLst/>
          </a:prstGeom>
          <a:noFill/>
          <a:ln w="9525">
            <a:noFill/>
          </a:ln>
        </p:spPr>
        <p:txBody>
          <a:bodyPr lIns="93600" tIns="46800" rIns="93600" bIns="46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chemeClr val="tx1"/>
                </a:solidFill>
                <a:ea typeface="楷体_GB2312"/>
              </a:rPr>
              <a:t>0023H</a:t>
            </a:r>
            <a:endParaRPr lang="en-US" altLang="zh-CN" sz="2000" b="0" dirty="0">
              <a:solidFill>
                <a:schemeClr val="tx1"/>
              </a:solidFill>
              <a:ea typeface="楷体_GB2312"/>
            </a:endParaRPr>
          </a:p>
        </p:txBody>
      </p:sp>
      <p:sp>
        <p:nvSpPr>
          <p:cNvPr id="271374" name="Text Box 17"/>
          <p:cNvSpPr txBox="1"/>
          <p:nvPr/>
        </p:nvSpPr>
        <p:spPr>
          <a:xfrm>
            <a:off x="5778500" y="4537075"/>
            <a:ext cx="1087438" cy="396875"/>
          </a:xfrm>
          <a:prstGeom prst="rect">
            <a:avLst/>
          </a:prstGeom>
          <a:noFill/>
          <a:ln w="9525">
            <a:noFill/>
          </a:ln>
        </p:spPr>
        <p:txBody>
          <a:bodyPr lIns="93600" tIns="46800" rIns="93600" bIns="46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chemeClr val="tx1"/>
                </a:solidFill>
                <a:ea typeface="楷体_GB2312"/>
              </a:rPr>
              <a:t>0022H</a:t>
            </a:r>
            <a:endParaRPr lang="en-US" altLang="zh-CN" sz="2000" b="0" dirty="0">
              <a:solidFill>
                <a:schemeClr val="tx1"/>
              </a:solidFill>
              <a:ea typeface="楷体_GB2312"/>
            </a:endParaRPr>
          </a:p>
        </p:txBody>
      </p:sp>
      <p:sp>
        <p:nvSpPr>
          <p:cNvPr id="271375" name="Text Box 18"/>
          <p:cNvSpPr txBox="1"/>
          <p:nvPr/>
        </p:nvSpPr>
        <p:spPr>
          <a:xfrm>
            <a:off x="5791200" y="5013325"/>
            <a:ext cx="1087438" cy="396875"/>
          </a:xfrm>
          <a:prstGeom prst="rect">
            <a:avLst/>
          </a:prstGeom>
          <a:noFill/>
          <a:ln w="9525">
            <a:noFill/>
          </a:ln>
        </p:spPr>
        <p:txBody>
          <a:bodyPr lIns="93600" tIns="46800" rIns="93600" bIns="46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chemeClr val="tx1"/>
                </a:solidFill>
                <a:ea typeface="楷体_GB2312"/>
              </a:rPr>
              <a:t>0021H</a:t>
            </a:r>
            <a:endParaRPr lang="en-US" altLang="zh-CN" sz="2000" b="0" dirty="0">
              <a:solidFill>
                <a:schemeClr val="tx1"/>
              </a:solidFill>
              <a:ea typeface="楷体_GB2312"/>
            </a:endParaRPr>
          </a:p>
        </p:txBody>
      </p:sp>
      <p:sp>
        <p:nvSpPr>
          <p:cNvPr id="271376" name="Text Box 19"/>
          <p:cNvSpPr txBox="1"/>
          <p:nvPr/>
        </p:nvSpPr>
        <p:spPr>
          <a:xfrm>
            <a:off x="5788025" y="5497513"/>
            <a:ext cx="936625" cy="396875"/>
          </a:xfrm>
          <a:prstGeom prst="rect">
            <a:avLst/>
          </a:prstGeom>
          <a:noFill/>
          <a:ln w="9525">
            <a:noFill/>
          </a:ln>
        </p:spPr>
        <p:txBody>
          <a:bodyPr lIns="93600" tIns="46800" rIns="93600" bIns="46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chemeClr val="tx1"/>
                </a:solidFill>
                <a:ea typeface="楷体_GB2312"/>
              </a:rPr>
              <a:t>0020H</a:t>
            </a:r>
            <a:endParaRPr lang="en-US" altLang="zh-CN" sz="2000" b="0" dirty="0">
              <a:solidFill>
                <a:schemeClr val="tx1"/>
              </a:solidFill>
              <a:ea typeface="楷体_GB2312"/>
            </a:endParaRPr>
          </a:p>
        </p:txBody>
      </p:sp>
      <p:sp>
        <p:nvSpPr>
          <p:cNvPr id="271377" name="AutoShape 20"/>
          <p:cNvSpPr/>
          <p:nvPr/>
        </p:nvSpPr>
        <p:spPr>
          <a:xfrm>
            <a:off x="8493125" y="4006850"/>
            <a:ext cx="147638" cy="958850"/>
          </a:xfrm>
          <a:prstGeom prst="rightBrace">
            <a:avLst>
              <a:gd name="adj1" fmla="val 53760"/>
              <a:gd name="adj2" fmla="val 50000"/>
            </a:avLst>
          </a:prstGeom>
          <a:noFill/>
          <a:ln w="25400" cap="flat" cmpd="sng">
            <a:solidFill>
              <a:schemeClr val="tx1"/>
            </a:solidFill>
            <a:prstDash val="solid"/>
            <a:bevel/>
            <a:headEnd type="none" w="med" len="med"/>
            <a:tailEnd type="none" w="med" len="med"/>
          </a:ln>
        </p:spPr>
        <p:txBody>
          <a:bodyPr wrap="none" lIns="93600" tIns="46800" rIns="93600" bIns="4680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71378" name="Text Box 21"/>
          <p:cNvSpPr txBox="1"/>
          <p:nvPr/>
        </p:nvSpPr>
        <p:spPr>
          <a:xfrm>
            <a:off x="8605838" y="5264150"/>
            <a:ext cx="427037" cy="396875"/>
          </a:xfrm>
          <a:prstGeom prst="rect">
            <a:avLst/>
          </a:prstGeom>
          <a:noFill/>
          <a:ln w="9525">
            <a:noFill/>
          </a:ln>
        </p:spPr>
        <p:txBody>
          <a:bodyPr wrap="none" lIns="93600" tIns="46800" rIns="93600" bIns="46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chemeClr val="tx1"/>
                </a:solidFill>
                <a:ea typeface="楷体_GB2312"/>
              </a:rPr>
              <a:t>IP</a:t>
            </a:r>
            <a:endParaRPr lang="en-US" altLang="zh-CN" sz="2000" b="0" dirty="0">
              <a:solidFill>
                <a:schemeClr val="tx1"/>
              </a:solidFill>
              <a:ea typeface="楷体_GB2312"/>
            </a:endParaRPr>
          </a:p>
        </p:txBody>
      </p:sp>
      <p:sp>
        <p:nvSpPr>
          <p:cNvPr id="271379" name="AutoShape 22"/>
          <p:cNvSpPr/>
          <p:nvPr/>
        </p:nvSpPr>
        <p:spPr>
          <a:xfrm>
            <a:off x="8509000" y="4981575"/>
            <a:ext cx="88900" cy="942975"/>
          </a:xfrm>
          <a:prstGeom prst="rightBrace">
            <a:avLst>
              <a:gd name="adj1" fmla="val 88000"/>
              <a:gd name="adj2" fmla="val 50000"/>
            </a:avLst>
          </a:prstGeom>
          <a:noFill/>
          <a:ln w="25400" cap="flat" cmpd="sng">
            <a:solidFill>
              <a:schemeClr val="tx1"/>
            </a:solidFill>
            <a:prstDash val="solid"/>
            <a:bevel/>
            <a:headEnd type="none" w="med" len="med"/>
            <a:tailEnd type="none" w="med" len="med"/>
          </a:ln>
        </p:spPr>
        <p:txBody>
          <a:bodyPr wrap="none" lIns="93600" tIns="46800" rIns="93600" bIns="46800"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71380" name="Text Box 23"/>
          <p:cNvSpPr txBox="1"/>
          <p:nvPr/>
        </p:nvSpPr>
        <p:spPr>
          <a:xfrm>
            <a:off x="8605838" y="4292600"/>
            <a:ext cx="541337" cy="396875"/>
          </a:xfrm>
          <a:prstGeom prst="rect">
            <a:avLst/>
          </a:prstGeom>
          <a:noFill/>
          <a:ln w="9525">
            <a:noFill/>
          </a:ln>
        </p:spPr>
        <p:txBody>
          <a:bodyPr wrap="none" lIns="93600" tIns="46800" rIns="93600" bIns="4680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2000" b="0" dirty="0">
                <a:solidFill>
                  <a:schemeClr val="tx1"/>
                </a:solidFill>
                <a:ea typeface="楷体_GB2312"/>
              </a:rPr>
              <a:t>CS</a:t>
            </a:r>
            <a:endParaRPr lang="en-US" altLang="zh-CN" sz="2000" b="0" dirty="0">
              <a:solidFill>
                <a:schemeClr val="tx1"/>
              </a:solidFill>
              <a:ea typeface="楷体_GB2312"/>
            </a:endParaRPr>
          </a:p>
        </p:txBody>
      </p:sp>
      <p:sp>
        <p:nvSpPr>
          <p:cNvPr id="271381" name="Text Box 25"/>
          <p:cNvSpPr txBox="1"/>
          <p:nvPr/>
        </p:nvSpPr>
        <p:spPr>
          <a:xfrm>
            <a:off x="5668963" y="3525838"/>
            <a:ext cx="2359025" cy="3667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zh-CN" altLang="en-US" sz="1800" b="0" dirty="0">
                <a:solidFill>
                  <a:schemeClr val="tx1"/>
                </a:solidFill>
                <a:ea typeface="楷体_GB2312"/>
              </a:rPr>
              <a:t>中断向量</a:t>
            </a:r>
            <a:r>
              <a:rPr lang="en-US" altLang="zh-CN" sz="1800" b="0" dirty="0">
                <a:solidFill>
                  <a:schemeClr val="tx1"/>
                </a:solidFill>
                <a:ea typeface="楷体_GB2312"/>
              </a:rPr>
              <a:t>(</a:t>
            </a:r>
            <a:r>
              <a:rPr lang="zh-CN" altLang="en-US" sz="1800" b="0" dirty="0">
                <a:solidFill>
                  <a:schemeClr val="tx1"/>
                </a:solidFill>
                <a:ea typeface="楷体_GB2312"/>
              </a:rPr>
              <a:t>类型码</a:t>
            </a:r>
            <a:r>
              <a:rPr lang="en-US" altLang="zh-CN" sz="1800" b="0" dirty="0">
                <a:solidFill>
                  <a:schemeClr val="tx1"/>
                </a:solidFill>
                <a:ea typeface="楷体_GB2312"/>
              </a:rPr>
              <a:t>08H)</a:t>
            </a:r>
            <a:endParaRPr lang="en-US" altLang="zh-CN" sz="1800" b="0" dirty="0">
              <a:solidFill>
                <a:schemeClr val="tx1"/>
              </a:solidFill>
              <a:ea typeface="楷体_GB2312"/>
            </a:endParaRPr>
          </a:p>
        </p:txBody>
      </p:sp>
      <p:sp>
        <p:nvSpPr>
          <p:cNvPr id="271382" name="标题 1"/>
          <p:cNvSpPr>
            <a:spLocks noGrp="1"/>
          </p:cNvSpPr>
          <p:nvPr>
            <p:ph type="title" idx="4294967295"/>
          </p:nvPr>
        </p:nvSpPr>
        <p:spPr/>
        <p:txBody>
          <a:bodyPr vert="horz" wrap="square" lIns="91440" tIns="45720" rIns="91440" bIns="45720" anchor="b" anchorCtr="0"/>
          <a:p>
            <a:r>
              <a:rPr lang="zh-CN" altLang="en-US" sz="2800" b="1" dirty="0">
                <a:solidFill>
                  <a:srgbClr val="002060"/>
                </a:solidFill>
                <a:latin typeface="楷体_GB2312"/>
                <a:ea typeface="楷体_GB2312"/>
              </a:rPr>
              <a:t>例</a:t>
            </a:r>
            <a:r>
              <a:rPr lang="en-US" altLang="zh-CN" sz="2800" b="1" dirty="0">
                <a:solidFill>
                  <a:srgbClr val="002060"/>
                </a:solidFill>
                <a:latin typeface="楷体_GB2312"/>
                <a:ea typeface="楷体_GB2312"/>
              </a:rPr>
              <a:t>2</a:t>
            </a:r>
            <a:endParaRPr lang="zh-CN" altLang="en-US" sz="2800" b="1" dirty="0">
              <a:solidFill>
                <a:srgbClr val="002060"/>
              </a:solidFill>
              <a:latin typeface="楷体_GB2312"/>
              <a:ea typeface="楷体_GB2312"/>
            </a:endParaRPr>
          </a:p>
        </p:txBody>
      </p:sp>
    </p:spTree>
  </p:cSld>
  <p:clrMapOvr>
    <a:masterClrMapping/>
  </p:clrMapOvr>
  <p:transition spd="slow">
    <p:zoom/>
  </p:transition>
</p:sld>
</file>

<file path=ppt/slides/slide1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72386" name="Rectangle 5"/>
          <p:cNvSpPr>
            <a:spLocks noChangeAspect="1"/>
          </p:cNvSpPr>
          <p:nvPr/>
        </p:nvSpPr>
        <p:spPr>
          <a:xfrm>
            <a:off x="2166938" y="833438"/>
            <a:ext cx="1008062" cy="290512"/>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Tx/>
              <a:buSzTx/>
              <a:buNone/>
            </a:pPr>
            <a:r>
              <a:rPr lang="zh-CN" altLang="en-US" sz="1800" b="0" dirty="0">
                <a:solidFill>
                  <a:srgbClr val="003366"/>
                </a:solidFill>
                <a:ea typeface="仿宋_GB2312" pitchFamily="1" charset="-122"/>
              </a:rPr>
              <a:t>主程序</a:t>
            </a:r>
            <a:endParaRPr lang="zh-CN" altLang="en-US" sz="1800" b="0" dirty="0">
              <a:solidFill>
                <a:srgbClr val="003366"/>
              </a:solidFill>
              <a:ea typeface="仿宋_GB2312" pitchFamily="1" charset="-122"/>
            </a:endParaRPr>
          </a:p>
        </p:txBody>
      </p:sp>
      <p:sp>
        <p:nvSpPr>
          <p:cNvPr id="272387" name="Rectangle 8"/>
          <p:cNvSpPr>
            <a:spLocks noChangeAspect="1"/>
          </p:cNvSpPr>
          <p:nvPr/>
        </p:nvSpPr>
        <p:spPr>
          <a:xfrm>
            <a:off x="1895475" y="1366838"/>
            <a:ext cx="1584325" cy="509587"/>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zh-CN" altLang="en-US" sz="1800" b="0" dirty="0">
                <a:solidFill>
                  <a:srgbClr val="003366"/>
                </a:solidFill>
                <a:ea typeface="仿宋_GB2312" pitchFamily="1" charset="-122"/>
              </a:rPr>
              <a:t>保存原有</a:t>
            </a:r>
            <a:endParaRPr lang="zh-CN" altLang="en-US" sz="1800" b="0" dirty="0">
              <a:solidFill>
                <a:srgbClr val="003366"/>
              </a:solidFill>
              <a:ea typeface="仿宋_GB2312" pitchFamily="1" charset="-122"/>
            </a:endParaRPr>
          </a:p>
          <a:p>
            <a:pPr marL="342900" lvl="0" indent="-342900" algn="ctr">
              <a:lnSpc>
                <a:spcPct val="80000"/>
              </a:lnSpc>
              <a:spcAft>
                <a:spcPct val="0"/>
              </a:spcAft>
              <a:buClrTx/>
              <a:buSzTx/>
              <a:buNone/>
            </a:pPr>
            <a:r>
              <a:rPr lang="en-US" altLang="zh-CN" sz="1800" b="0" dirty="0">
                <a:solidFill>
                  <a:srgbClr val="003366"/>
                </a:solidFill>
                <a:ea typeface="仿宋_GB2312" pitchFamily="1" charset="-122"/>
              </a:rPr>
              <a:t>08H</a:t>
            </a:r>
            <a:r>
              <a:rPr lang="zh-CN" altLang="en-US" sz="1800" b="0" dirty="0">
                <a:solidFill>
                  <a:srgbClr val="003366"/>
                </a:solidFill>
                <a:ea typeface="仿宋_GB2312" pitchFamily="1" charset="-122"/>
              </a:rPr>
              <a:t>中断向量</a:t>
            </a:r>
            <a:endParaRPr lang="zh-CN" altLang="en-US" sz="1800" b="0" dirty="0">
              <a:solidFill>
                <a:srgbClr val="003366"/>
              </a:solidFill>
              <a:ea typeface="仿宋_GB2312" pitchFamily="1" charset="-122"/>
            </a:endParaRPr>
          </a:p>
        </p:txBody>
      </p:sp>
      <p:sp>
        <p:nvSpPr>
          <p:cNvPr id="272388" name="Rectangle 9"/>
          <p:cNvSpPr>
            <a:spLocks noChangeAspect="1"/>
          </p:cNvSpPr>
          <p:nvPr/>
        </p:nvSpPr>
        <p:spPr>
          <a:xfrm>
            <a:off x="1873250" y="2111375"/>
            <a:ext cx="1584325" cy="509588"/>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zh-CN" altLang="en-US" sz="1800" b="0" dirty="0">
                <a:solidFill>
                  <a:srgbClr val="003366"/>
                </a:solidFill>
                <a:ea typeface="仿宋_GB2312" pitchFamily="1" charset="-122"/>
              </a:rPr>
              <a:t>设置新的</a:t>
            </a:r>
            <a:endParaRPr lang="zh-CN" altLang="en-US" sz="1800" b="0" dirty="0">
              <a:solidFill>
                <a:srgbClr val="003366"/>
              </a:solidFill>
              <a:ea typeface="仿宋_GB2312" pitchFamily="1" charset="-122"/>
            </a:endParaRPr>
          </a:p>
          <a:p>
            <a:pPr marL="342900" lvl="0" indent="-342900" algn="ctr">
              <a:lnSpc>
                <a:spcPct val="80000"/>
              </a:lnSpc>
              <a:spcAft>
                <a:spcPct val="0"/>
              </a:spcAft>
              <a:buClrTx/>
              <a:buSzTx/>
              <a:buNone/>
            </a:pPr>
            <a:r>
              <a:rPr lang="en-US" altLang="zh-CN" sz="1800" b="0" dirty="0">
                <a:solidFill>
                  <a:srgbClr val="003366"/>
                </a:solidFill>
                <a:ea typeface="仿宋_GB2312" pitchFamily="1" charset="-122"/>
              </a:rPr>
              <a:t>08H</a:t>
            </a:r>
            <a:r>
              <a:rPr lang="zh-CN" altLang="en-US" sz="1800" b="0" dirty="0">
                <a:solidFill>
                  <a:srgbClr val="003366"/>
                </a:solidFill>
                <a:ea typeface="仿宋_GB2312" pitchFamily="1" charset="-122"/>
              </a:rPr>
              <a:t>中断向量</a:t>
            </a:r>
            <a:endParaRPr lang="zh-CN" altLang="en-US" sz="1800" b="0" dirty="0">
              <a:solidFill>
                <a:srgbClr val="003366"/>
              </a:solidFill>
              <a:ea typeface="仿宋_GB2312" pitchFamily="1" charset="-122"/>
            </a:endParaRPr>
          </a:p>
        </p:txBody>
      </p:sp>
      <p:sp>
        <p:nvSpPr>
          <p:cNvPr id="272389" name="Rectangle 10"/>
          <p:cNvSpPr>
            <a:spLocks noChangeAspect="1"/>
          </p:cNvSpPr>
          <p:nvPr/>
        </p:nvSpPr>
        <p:spPr>
          <a:xfrm>
            <a:off x="1916113" y="3717925"/>
            <a:ext cx="1584325" cy="234950"/>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zh-CN" altLang="en-US" sz="1800" b="0" dirty="0">
                <a:solidFill>
                  <a:srgbClr val="003366"/>
                </a:solidFill>
                <a:ea typeface="仿宋_GB2312" pitchFamily="1" charset="-122"/>
              </a:rPr>
              <a:t>开中断</a:t>
            </a:r>
            <a:endParaRPr lang="zh-CN" altLang="en-US" sz="1800" b="0" dirty="0">
              <a:solidFill>
                <a:srgbClr val="003366"/>
              </a:solidFill>
              <a:ea typeface="仿宋_GB2312" pitchFamily="1" charset="-122"/>
            </a:endParaRPr>
          </a:p>
        </p:txBody>
      </p:sp>
      <p:sp>
        <p:nvSpPr>
          <p:cNvPr id="272390" name="AutoShape 12"/>
          <p:cNvSpPr/>
          <p:nvPr/>
        </p:nvSpPr>
        <p:spPr>
          <a:xfrm>
            <a:off x="4005263" y="1109663"/>
            <a:ext cx="1511300" cy="779462"/>
          </a:xfrm>
          <a:prstGeom prst="flowChartDecision">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72391" name="Rectangle 13"/>
          <p:cNvSpPr>
            <a:spLocks noChangeAspect="1"/>
          </p:cNvSpPr>
          <p:nvPr/>
        </p:nvSpPr>
        <p:spPr>
          <a:xfrm>
            <a:off x="4297363" y="1404938"/>
            <a:ext cx="1104900" cy="631825"/>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70000"/>
              </a:lnSpc>
              <a:spcAft>
                <a:spcPct val="0"/>
              </a:spcAft>
              <a:buClrTx/>
              <a:buSzTx/>
              <a:buNone/>
            </a:pPr>
            <a:r>
              <a:rPr lang="en-US" altLang="zh-CN" sz="1800" b="0" dirty="0">
                <a:solidFill>
                  <a:srgbClr val="003366"/>
                </a:solidFill>
                <a:ea typeface="仿宋_GB2312" pitchFamily="1" charset="-122"/>
              </a:rPr>
              <a:t>Count = 20</a:t>
            </a:r>
            <a:endParaRPr lang="en-US" altLang="zh-CN" sz="1800" b="0" dirty="0">
              <a:solidFill>
                <a:srgbClr val="003366"/>
              </a:solidFill>
              <a:ea typeface="仿宋_GB2312" pitchFamily="1" charset="-122"/>
            </a:endParaRPr>
          </a:p>
          <a:p>
            <a:pPr marL="342900" lvl="0" indent="-342900">
              <a:lnSpc>
                <a:spcPct val="70000"/>
              </a:lnSpc>
              <a:spcAft>
                <a:spcPct val="0"/>
              </a:spcAft>
              <a:buClrTx/>
              <a:buSzTx/>
              <a:buNone/>
            </a:pPr>
            <a:endParaRPr lang="en-US" altLang="zh-CN" sz="1800" b="0" dirty="0">
              <a:solidFill>
                <a:srgbClr val="003366"/>
              </a:solidFill>
              <a:ea typeface="仿宋_GB2312" pitchFamily="1" charset="-122"/>
            </a:endParaRPr>
          </a:p>
        </p:txBody>
      </p:sp>
      <p:sp>
        <p:nvSpPr>
          <p:cNvPr id="272392" name="Rectangle 14"/>
          <p:cNvSpPr>
            <a:spLocks noChangeAspect="1"/>
          </p:cNvSpPr>
          <p:nvPr/>
        </p:nvSpPr>
        <p:spPr>
          <a:xfrm>
            <a:off x="1920875" y="2806700"/>
            <a:ext cx="1511300" cy="673100"/>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nSpc>
                <a:spcPct val="80000"/>
              </a:lnSpc>
              <a:spcAft>
                <a:spcPct val="0"/>
              </a:spcAft>
              <a:buClrTx/>
              <a:buSzTx/>
              <a:buNone/>
            </a:pPr>
            <a:r>
              <a:rPr lang="zh-CN" altLang="en-US" sz="1800" b="0" dirty="0">
                <a:solidFill>
                  <a:srgbClr val="003366"/>
                </a:solidFill>
                <a:ea typeface="仿宋_GB2312" pitchFamily="1" charset="-122"/>
              </a:rPr>
              <a:t>设置屏蔽寄存器，只允许</a:t>
            </a:r>
            <a:r>
              <a:rPr lang="en-US" altLang="zh-CN" sz="1800" b="0" dirty="0">
                <a:solidFill>
                  <a:srgbClr val="003366"/>
                </a:solidFill>
                <a:ea typeface="仿宋_GB2312" pitchFamily="1" charset="-122"/>
              </a:rPr>
              <a:t>IR0</a:t>
            </a:r>
            <a:r>
              <a:rPr lang="zh-CN" altLang="en-US" sz="1800" b="0" dirty="0">
                <a:solidFill>
                  <a:srgbClr val="003366"/>
                </a:solidFill>
                <a:ea typeface="仿宋_GB2312" pitchFamily="1" charset="-122"/>
              </a:rPr>
              <a:t>中断</a:t>
            </a:r>
            <a:endParaRPr lang="zh-CN" altLang="en-US" sz="1800" b="0" dirty="0">
              <a:solidFill>
                <a:srgbClr val="003366"/>
              </a:solidFill>
              <a:ea typeface="仿宋_GB2312" pitchFamily="1" charset="-122"/>
            </a:endParaRPr>
          </a:p>
        </p:txBody>
      </p:sp>
      <p:sp>
        <p:nvSpPr>
          <p:cNvPr id="272393" name="Rectangle 17"/>
          <p:cNvSpPr>
            <a:spLocks noChangeAspect="1"/>
          </p:cNvSpPr>
          <p:nvPr/>
        </p:nvSpPr>
        <p:spPr>
          <a:xfrm>
            <a:off x="4000500" y="3344863"/>
            <a:ext cx="1511300" cy="509587"/>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zh-CN" altLang="en-US" sz="1800" b="0" dirty="0">
                <a:solidFill>
                  <a:srgbClr val="003366"/>
                </a:solidFill>
                <a:ea typeface="仿宋_GB2312" pitchFamily="1" charset="-122"/>
              </a:rPr>
              <a:t>程序结束</a:t>
            </a:r>
            <a:endParaRPr lang="zh-CN" altLang="en-US" sz="1800" b="0" dirty="0">
              <a:solidFill>
                <a:srgbClr val="003366"/>
              </a:solidFill>
              <a:ea typeface="仿宋_GB2312" pitchFamily="1" charset="-122"/>
            </a:endParaRPr>
          </a:p>
          <a:p>
            <a:pPr marL="342900" lvl="0" indent="-342900" algn="ctr">
              <a:lnSpc>
                <a:spcPct val="80000"/>
              </a:lnSpc>
              <a:spcAft>
                <a:spcPct val="0"/>
              </a:spcAft>
              <a:buClrTx/>
              <a:buSzTx/>
              <a:buNone/>
            </a:pPr>
            <a:r>
              <a:rPr lang="zh-CN" altLang="en-US" sz="1800" b="0" dirty="0">
                <a:solidFill>
                  <a:srgbClr val="003366"/>
                </a:solidFill>
                <a:ea typeface="仿宋_GB2312" pitchFamily="1" charset="-122"/>
              </a:rPr>
              <a:t>返回操作系统</a:t>
            </a:r>
            <a:endParaRPr lang="zh-CN" altLang="en-US" sz="1800" b="0" dirty="0">
              <a:solidFill>
                <a:srgbClr val="003366"/>
              </a:solidFill>
              <a:ea typeface="仿宋_GB2312" pitchFamily="1" charset="-122"/>
            </a:endParaRPr>
          </a:p>
        </p:txBody>
      </p:sp>
      <p:sp>
        <p:nvSpPr>
          <p:cNvPr id="272394" name="Rectangle 18"/>
          <p:cNvSpPr>
            <a:spLocks noChangeAspect="1"/>
          </p:cNvSpPr>
          <p:nvPr/>
        </p:nvSpPr>
        <p:spPr>
          <a:xfrm>
            <a:off x="1243013" y="1198563"/>
            <a:ext cx="431800" cy="950912"/>
          </a:xfrm>
          <a:prstGeom prst="rect">
            <a:avLst/>
          </a:prstGeom>
          <a:noFill/>
          <a:ln w="15875" cap="flat" cmpd="sng">
            <a:solidFill>
              <a:schemeClr val="bg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Tx/>
              <a:buSzTx/>
              <a:buNone/>
            </a:pPr>
            <a:r>
              <a:rPr lang="zh-CN" altLang="en-US" sz="1800" b="0" dirty="0">
                <a:solidFill>
                  <a:srgbClr val="003366"/>
                </a:solidFill>
                <a:ea typeface="仿宋_GB2312" pitchFamily="1" charset="-122"/>
              </a:rPr>
              <a:t>流</a:t>
            </a:r>
            <a:endParaRPr lang="zh-CN" altLang="en-US" sz="1800" b="0" dirty="0">
              <a:solidFill>
                <a:srgbClr val="003366"/>
              </a:solidFill>
              <a:ea typeface="仿宋_GB2312" pitchFamily="1" charset="-122"/>
            </a:endParaRPr>
          </a:p>
          <a:p>
            <a:pPr marL="342900" lvl="0" indent="-342900" algn="ctr">
              <a:lnSpc>
                <a:spcPct val="100000"/>
              </a:lnSpc>
              <a:spcAft>
                <a:spcPct val="0"/>
              </a:spcAft>
              <a:buClrTx/>
              <a:buSzTx/>
              <a:buNone/>
            </a:pPr>
            <a:r>
              <a:rPr lang="zh-CN" altLang="en-US" sz="1800" b="0" dirty="0">
                <a:solidFill>
                  <a:srgbClr val="003366"/>
                </a:solidFill>
                <a:ea typeface="仿宋_GB2312" pitchFamily="1" charset="-122"/>
              </a:rPr>
              <a:t>程</a:t>
            </a:r>
            <a:endParaRPr lang="zh-CN" altLang="en-US" sz="1800" b="0" dirty="0">
              <a:solidFill>
                <a:srgbClr val="003366"/>
              </a:solidFill>
              <a:ea typeface="仿宋_GB2312" pitchFamily="1" charset="-122"/>
            </a:endParaRPr>
          </a:p>
          <a:p>
            <a:pPr marL="342900" lvl="0" indent="-342900" algn="ctr">
              <a:lnSpc>
                <a:spcPct val="100000"/>
              </a:lnSpc>
              <a:spcAft>
                <a:spcPct val="0"/>
              </a:spcAft>
              <a:buClrTx/>
              <a:buSzTx/>
              <a:buNone/>
            </a:pPr>
            <a:r>
              <a:rPr lang="zh-CN" altLang="en-US" sz="1800" b="0" dirty="0">
                <a:solidFill>
                  <a:srgbClr val="003366"/>
                </a:solidFill>
                <a:ea typeface="仿宋_GB2312" pitchFamily="1" charset="-122"/>
              </a:rPr>
              <a:t>图</a:t>
            </a:r>
            <a:endParaRPr lang="zh-CN" altLang="en-US" sz="1800" b="0" dirty="0">
              <a:solidFill>
                <a:srgbClr val="003366"/>
              </a:solidFill>
              <a:ea typeface="仿宋_GB2312" pitchFamily="1" charset="-122"/>
            </a:endParaRPr>
          </a:p>
        </p:txBody>
      </p:sp>
      <p:sp>
        <p:nvSpPr>
          <p:cNvPr id="272395" name="Line 19"/>
          <p:cNvSpPr/>
          <p:nvPr/>
        </p:nvSpPr>
        <p:spPr>
          <a:xfrm>
            <a:off x="2682875" y="1135063"/>
            <a:ext cx="0" cy="215900"/>
          </a:xfrm>
          <a:prstGeom prst="line">
            <a:avLst/>
          </a:prstGeom>
          <a:ln w="25400" cap="flat" cmpd="sng">
            <a:solidFill>
              <a:schemeClr val="tx1"/>
            </a:solidFill>
            <a:prstDash val="solid"/>
            <a:bevel/>
            <a:headEnd type="none" w="med" len="med"/>
            <a:tailEnd type="triangle" w="lg" len="lg"/>
          </a:ln>
        </p:spPr>
      </p:sp>
      <p:sp>
        <p:nvSpPr>
          <p:cNvPr id="272396" name="Line 21"/>
          <p:cNvSpPr/>
          <p:nvPr/>
        </p:nvSpPr>
        <p:spPr>
          <a:xfrm>
            <a:off x="2665413" y="1882775"/>
            <a:ext cx="0" cy="215900"/>
          </a:xfrm>
          <a:prstGeom prst="line">
            <a:avLst/>
          </a:prstGeom>
          <a:ln w="25400" cap="flat" cmpd="sng">
            <a:solidFill>
              <a:schemeClr val="tx1"/>
            </a:solidFill>
            <a:prstDash val="solid"/>
            <a:bevel/>
            <a:headEnd type="none" w="med" len="med"/>
            <a:tailEnd type="triangle" w="lg" len="lg"/>
          </a:ln>
        </p:spPr>
      </p:sp>
      <p:sp>
        <p:nvSpPr>
          <p:cNvPr id="272397" name="Line 22"/>
          <p:cNvSpPr/>
          <p:nvPr/>
        </p:nvSpPr>
        <p:spPr>
          <a:xfrm>
            <a:off x="2652713" y="2616200"/>
            <a:ext cx="0" cy="215900"/>
          </a:xfrm>
          <a:prstGeom prst="line">
            <a:avLst/>
          </a:prstGeom>
          <a:ln w="25400" cap="flat" cmpd="sng">
            <a:solidFill>
              <a:schemeClr val="tx1"/>
            </a:solidFill>
            <a:prstDash val="solid"/>
            <a:bevel/>
            <a:headEnd type="none" w="med" len="med"/>
            <a:tailEnd type="triangle" w="lg" len="lg"/>
          </a:ln>
        </p:spPr>
      </p:sp>
      <p:sp>
        <p:nvSpPr>
          <p:cNvPr id="272398" name="Line 23"/>
          <p:cNvSpPr/>
          <p:nvPr/>
        </p:nvSpPr>
        <p:spPr>
          <a:xfrm>
            <a:off x="2695575" y="3497263"/>
            <a:ext cx="0" cy="215900"/>
          </a:xfrm>
          <a:prstGeom prst="line">
            <a:avLst/>
          </a:prstGeom>
          <a:ln w="25400" cap="flat" cmpd="sng">
            <a:solidFill>
              <a:schemeClr val="tx1"/>
            </a:solidFill>
            <a:prstDash val="solid"/>
            <a:bevel/>
            <a:headEnd type="none" w="med" len="med"/>
            <a:tailEnd type="triangle" w="lg" len="lg"/>
          </a:ln>
        </p:spPr>
      </p:sp>
      <p:sp>
        <p:nvSpPr>
          <p:cNvPr id="272399" name="Line 24"/>
          <p:cNvSpPr/>
          <p:nvPr/>
        </p:nvSpPr>
        <p:spPr>
          <a:xfrm>
            <a:off x="2708275" y="3941763"/>
            <a:ext cx="0" cy="215900"/>
          </a:xfrm>
          <a:prstGeom prst="line">
            <a:avLst/>
          </a:prstGeom>
          <a:ln w="25400" cap="flat" cmpd="sng">
            <a:solidFill>
              <a:schemeClr val="tx1"/>
            </a:solidFill>
            <a:prstDash val="solid"/>
            <a:bevel/>
            <a:headEnd type="none" w="med" len="med"/>
            <a:tailEnd type="triangle" w="lg" len="lg"/>
          </a:ln>
        </p:spPr>
      </p:sp>
      <p:sp>
        <p:nvSpPr>
          <p:cNvPr id="272400" name="Line 25"/>
          <p:cNvSpPr/>
          <p:nvPr/>
        </p:nvSpPr>
        <p:spPr>
          <a:xfrm>
            <a:off x="2713038" y="4124325"/>
            <a:ext cx="0" cy="188913"/>
          </a:xfrm>
          <a:prstGeom prst="line">
            <a:avLst/>
          </a:prstGeom>
          <a:ln w="25400" cap="flat" cmpd="sng">
            <a:solidFill>
              <a:schemeClr val="tx1"/>
            </a:solidFill>
            <a:prstDash val="solid"/>
            <a:bevel/>
            <a:headEnd type="none" w="med" len="med"/>
            <a:tailEnd type="none" w="med" len="med"/>
          </a:ln>
        </p:spPr>
      </p:sp>
      <p:sp>
        <p:nvSpPr>
          <p:cNvPr id="272401" name="Line 26"/>
          <p:cNvSpPr/>
          <p:nvPr/>
        </p:nvSpPr>
        <p:spPr>
          <a:xfrm>
            <a:off x="2725738" y="4292600"/>
            <a:ext cx="1150937" cy="0"/>
          </a:xfrm>
          <a:prstGeom prst="line">
            <a:avLst/>
          </a:prstGeom>
          <a:ln w="25400" cap="flat" cmpd="sng">
            <a:solidFill>
              <a:schemeClr val="tx1"/>
            </a:solidFill>
            <a:prstDash val="solid"/>
            <a:bevel/>
            <a:headEnd type="none" w="med" len="med"/>
            <a:tailEnd type="none" w="med" len="med"/>
          </a:ln>
        </p:spPr>
      </p:sp>
      <p:sp>
        <p:nvSpPr>
          <p:cNvPr id="272402" name="Line 27"/>
          <p:cNvSpPr/>
          <p:nvPr/>
        </p:nvSpPr>
        <p:spPr>
          <a:xfrm flipV="1">
            <a:off x="3894138" y="889000"/>
            <a:ext cx="0" cy="3405188"/>
          </a:xfrm>
          <a:prstGeom prst="line">
            <a:avLst/>
          </a:prstGeom>
          <a:ln w="25400" cap="flat" cmpd="sng">
            <a:solidFill>
              <a:schemeClr val="tx1"/>
            </a:solidFill>
            <a:prstDash val="solid"/>
            <a:bevel/>
            <a:headEnd type="none" w="med" len="med"/>
            <a:tailEnd type="none" w="med" len="med"/>
          </a:ln>
        </p:spPr>
      </p:sp>
      <p:sp>
        <p:nvSpPr>
          <p:cNvPr id="272403" name="Line 28"/>
          <p:cNvSpPr/>
          <p:nvPr/>
        </p:nvSpPr>
        <p:spPr>
          <a:xfrm>
            <a:off x="3906838" y="901700"/>
            <a:ext cx="865187" cy="0"/>
          </a:xfrm>
          <a:prstGeom prst="line">
            <a:avLst/>
          </a:prstGeom>
          <a:ln w="25400" cap="flat" cmpd="sng">
            <a:solidFill>
              <a:schemeClr val="tx1"/>
            </a:solidFill>
            <a:prstDash val="solid"/>
            <a:bevel/>
            <a:headEnd type="none" w="med" len="med"/>
            <a:tailEnd type="none" w="med" len="med"/>
          </a:ln>
        </p:spPr>
      </p:sp>
      <p:sp>
        <p:nvSpPr>
          <p:cNvPr id="272404" name="Line 29"/>
          <p:cNvSpPr/>
          <p:nvPr/>
        </p:nvSpPr>
        <p:spPr>
          <a:xfrm>
            <a:off x="4762500" y="901700"/>
            <a:ext cx="0" cy="215900"/>
          </a:xfrm>
          <a:prstGeom prst="line">
            <a:avLst/>
          </a:prstGeom>
          <a:ln w="25400" cap="flat" cmpd="sng">
            <a:solidFill>
              <a:schemeClr val="tx1"/>
            </a:solidFill>
            <a:prstDash val="solid"/>
            <a:bevel/>
            <a:headEnd type="none" w="med" len="med"/>
            <a:tailEnd type="triangle" w="lg" len="lg"/>
          </a:ln>
        </p:spPr>
      </p:sp>
      <p:sp>
        <p:nvSpPr>
          <p:cNvPr id="272405" name="Line 30"/>
          <p:cNvSpPr/>
          <p:nvPr/>
        </p:nvSpPr>
        <p:spPr>
          <a:xfrm>
            <a:off x="4759325" y="1901825"/>
            <a:ext cx="0" cy="215900"/>
          </a:xfrm>
          <a:prstGeom prst="line">
            <a:avLst/>
          </a:prstGeom>
          <a:ln w="25400" cap="flat" cmpd="sng">
            <a:solidFill>
              <a:schemeClr val="tx1"/>
            </a:solidFill>
            <a:prstDash val="solid"/>
            <a:bevel/>
            <a:headEnd type="none" w="med" len="med"/>
            <a:tailEnd type="triangle" w="lg" len="lg"/>
          </a:ln>
        </p:spPr>
      </p:sp>
      <p:sp>
        <p:nvSpPr>
          <p:cNvPr id="272406" name="Line 31"/>
          <p:cNvSpPr/>
          <p:nvPr/>
        </p:nvSpPr>
        <p:spPr>
          <a:xfrm>
            <a:off x="4741863" y="2339975"/>
            <a:ext cx="0" cy="215900"/>
          </a:xfrm>
          <a:prstGeom prst="line">
            <a:avLst/>
          </a:prstGeom>
          <a:ln w="25400" cap="flat" cmpd="sng">
            <a:solidFill>
              <a:schemeClr val="tx1"/>
            </a:solidFill>
            <a:prstDash val="solid"/>
            <a:bevel/>
            <a:headEnd type="none" w="med" len="med"/>
            <a:tailEnd type="triangle" w="lg" len="lg"/>
          </a:ln>
        </p:spPr>
      </p:sp>
      <p:sp>
        <p:nvSpPr>
          <p:cNvPr id="272407" name="Line 33"/>
          <p:cNvSpPr/>
          <p:nvPr/>
        </p:nvSpPr>
        <p:spPr>
          <a:xfrm>
            <a:off x="4754563" y="3055938"/>
            <a:ext cx="0" cy="284162"/>
          </a:xfrm>
          <a:prstGeom prst="line">
            <a:avLst/>
          </a:prstGeom>
          <a:ln w="25400" cap="flat" cmpd="sng">
            <a:solidFill>
              <a:schemeClr val="tx1"/>
            </a:solidFill>
            <a:prstDash val="solid"/>
            <a:bevel/>
            <a:headEnd type="none" w="med" len="med"/>
            <a:tailEnd type="triangle" w="lg" len="lg"/>
          </a:ln>
        </p:spPr>
      </p:sp>
      <p:sp>
        <p:nvSpPr>
          <p:cNvPr id="272408" name="Line 39"/>
          <p:cNvSpPr/>
          <p:nvPr/>
        </p:nvSpPr>
        <p:spPr>
          <a:xfrm>
            <a:off x="5500688" y="1484313"/>
            <a:ext cx="215900" cy="0"/>
          </a:xfrm>
          <a:prstGeom prst="line">
            <a:avLst/>
          </a:prstGeom>
          <a:ln w="25400" cap="flat" cmpd="sng">
            <a:solidFill>
              <a:schemeClr val="tx1"/>
            </a:solidFill>
            <a:prstDash val="solid"/>
            <a:bevel/>
            <a:headEnd type="none" w="med" len="med"/>
            <a:tailEnd type="none" w="med" len="med"/>
          </a:ln>
        </p:spPr>
      </p:sp>
      <p:sp>
        <p:nvSpPr>
          <p:cNvPr id="272409" name="Line 40"/>
          <p:cNvSpPr/>
          <p:nvPr/>
        </p:nvSpPr>
        <p:spPr>
          <a:xfrm flipV="1">
            <a:off x="5703888" y="1049338"/>
            <a:ext cx="0" cy="446087"/>
          </a:xfrm>
          <a:prstGeom prst="line">
            <a:avLst/>
          </a:prstGeom>
          <a:ln w="25400" cap="flat" cmpd="sng">
            <a:solidFill>
              <a:schemeClr val="tx1"/>
            </a:solidFill>
            <a:prstDash val="solid"/>
            <a:bevel/>
            <a:headEnd type="none" w="med" len="med"/>
            <a:tailEnd type="none" w="med" len="med"/>
          </a:ln>
        </p:spPr>
      </p:sp>
      <p:sp>
        <p:nvSpPr>
          <p:cNvPr id="272410" name="Line 41"/>
          <p:cNvSpPr/>
          <p:nvPr/>
        </p:nvSpPr>
        <p:spPr>
          <a:xfrm flipH="1">
            <a:off x="4754563" y="1062038"/>
            <a:ext cx="936625" cy="0"/>
          </a:xfrm>
          <a:prstGeom prst="line">
            <a:avLst/>
          </a:prstGeom>
          <a:ln w="25400" cap="flat" cmpd="sng">
            <a:solidFill>
              <a:schemeClr val="tx1"/>
            </a:solidFill>
            <a:prstDash val="solid"/>
            <a:bevel/>
            <a:headEnd type="none" w="med" len="med"/>
            <a:tailEnd type="triangle" w="lg" len="lg"/>
          </a:ln>
        </p:spPr>
      </p:sp>
      <p:sp>
        <p:nvSpPr>
          <p:cNvPr id="272411" name="Text Box 42"/>
          <p:cNvSpPr txBox="1"/>
          <p:nvPr/>
        </p:nvSpPr>
        <p:spPr>
          <a:xfrm>
            <a:off x="4856163" y="1770063"/>
            <a:ext cx="288925" cy="366712"/>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800" b="0" dirty="0">
                <a:solidFill>
                  <a:schemeClr val="tx1"/>
                </a:solidFill>
                <a:ea typeface="楷体_GB2312"/>
              </a:rPr>
              <a:t>Y</a:t>
            </a:r>
            <a:endParaRPr lang="en-US" altLang="zh-CN" sz="1800" b="0" dirty="0">
              <a:solidFill>
                <a:schemeClr val="tx1"/>
              </a:solidFill>
              <a:ea typeface="楷体_GB2312"/>
            </a:endParaRPr>
          </a:p>
        </p:txBody>
      </p:sp>
      <p:sp>
        <p:nvSpPr>
          <p:cNvPr id="272412" name="Text Box 43"/>
          <p:cNvSpPr txBox="1"/>
          <p:nvPr/>
        </p:nvSpPr>
        <p:spPr>
          <a:xfrm>
            <a:off x="5291138" y="1555750"/>
            <a:ext cx="288925" cy="36671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None/>
            </a:pPr>
            <a:r>
              <a:rPr lang="en-US" altLang="zh-CN" sz="1800" b="0" dirty="0">
                <a:solidFill>
                  <a:schemeClr val="tx1"/>
                </a:solidFill>
                <a:ea typeface="楷体_GB2312"/>
              </a:rPr>
              <a:t>N</a:t>
            </a:r>
            <a:endParaRPr lang="en-US" altLang="zh-CN" sz="1800" b="0" dirty="0">
              <a:solidFill>
                <a:schemeClr val="tx1"/>
              </a:solidFill>
              <a:ea typeface="楷体_GB2312"/>
            </a:endParaRPr>
          </a:p>
        </p:txBody>
      </p:sp>
      <p:sp>
        <p:nvSpPr>
          <p:cNvPr id="272413" name="Rectangle 46"/>
          <p:cNvSpPr>
            <a:spLocks noChangeAspect="1"/>
          </p:cNvSpPr>
          <p:nvPr/>
        </p:nvSpPr>
        <p:spPr>
          <a:xfrm>
            <a:off x="3965575" y="2555875"/>
            <a:ext cx="1584325" cy="509588"/>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zh-CN" altLang="en-US" sz="1800" b="0" dirty="0">
                <a:solidFill>
                  <a:srgbClr val="003366"/>
                </a:solidFill>
                <a:ea typeface="仿宋_GB2312" pitchFamily="1" charset="-122"/>
              </a:rPr>
              <a:t>恢复原来的</a:t>
            </a:r>
            <a:endParaRPr lang="zh-CN" altLang="en-US" sz="1800" b="0" dirty="0">
              <a:solidFill>
                <a:srgbClr val="003366"/>
              </a:solidFill>
              <a:ea typeface="仿宋_GB2312" pitchFamily="1" charset="-122"/>
            </a:endParaRPr>
          </a:p>
          <a:p>
            <a:pPr marL="342900" lvl="0" indent="-342900" algn="ctr">
              <a:lnSpc>
                <a:spcPct val="80000"/>
              </a:lnSpc>
              <a:spcAft>
                <a:spcPct val="0"/>
              </a:spcAft>
              <a:buClrTx/>
              <a:buSzTx/>
              <a:buNone/>
            </a:pPr>
            <a:r>
              <a:rPr lang="en-US" altLang="zh-CN" sz="1800" b="0" dirty="0">
                <a:solidFill>
                  <a:srgbClr val="003366"/>
                </a:solidFill>
                <a:ea typeface="仿宋_GB2312" pitchFamily="1" charset="-122"/>
              </a:rPr>
              <a:t>08H</a:t>
            </a:r>
            <a:r>
              <a:rPr lang="zh-CN" altLang="en-US" sz="1800" b="0" dirty="0">
                <a:solidFill>
                  <a:srgbClr val="003366"/>
                </a:solidFill>
                <a:ea typeface="仿宋_GB2312" pitchFamily="1" charset="-122"/>
              </a:rPr>
              <a:t>中断向量</a:t>
            </a:r>
            <a:endParaRPr lang="zh-CN" altLang="en-US" sz="1800" b="0" dirty="0">
              <a:solidFill>
                <a:srgbClr val="003366"/>
              </a:solidFill>
              <a:ea typeface="仿宋_GB2312" pitchFamily="1" charset="-122"/>
            </a:endParaRPr>
          </a:p>
        </p:txBody>
      </p:sp>
      <p:sp>
        <p:nvSpPr>
          <p:cNvPr id="272414" name="Rectangle 47"/>
          <p:cNvSpPr>
            <a:spLocks noChangeAspect="1"/>
          </p:cNvSpPr>
          <p:nvPr/>
        </p:nvSpPr>
        <p:spPr>
          <a:xfrm>
            <a:off x="3983038" y="2124075"/>
            <a:ext cx="1584325" cy="234950"/>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zh-CN" altLang="en-US" sz="1800" b="0" dirty="0">
                <a:solidFill>
                  <a:srgbClr val="003366"/>
                </a:solidFill>
                <a:ea typeface="仿宋_GB2312" pitchFamily="1" charset="-122"/>
              </a:rPr>
              <a:t>关中断</a:t>
            </a:r>
            <a:endParaRPr lang="zh-CN" altLang="en-US" sz="1800" b="0" dirty="0">
              <a:solidFill>
                <a:srgbClr val="003366"/>
              </a:solidFill>
              <a:ea typeface="仿宋_GB2312" pitchFamily="1" charset="-122"/>
            </a:endParaRPr>
          </a:p>
        </p:txBody>
      </p:sp>
      <p:sp>
        <p:nvSpPr>
          <p:cNvPr id="272415" name="Rectangle 48"/>
          <p:cNvSpPr/>
          <p:nvPr/>
        </p:nvSpPr>
        <p:spPr>
          <a:xfrm>
            <a:off x="6443663" y="833438"/>
            <a:ext cx="2160587" cy="252412"/>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100000"/>
              </a:lnSpc>
              <a:spcAft>
                <a:spcPct val="0"/>
              </a:spcAft>
              <a:buClrTx/>
              <a:buSzTx/>
              <a:buNone/>
            </a:pPr>
            <a:r>
              <a:rPr lang="zh-CN" altLang="en-US" sz="2000" b="0" dirty="0">
                <a:solidFill>
                  <a:srgbClr val="003366"/>
                </a:solidFill>
                <a:latin typeface="楷体_GB2312"/>
                <a:ea typeface="楷体_GB2312"/>
              </a:rPr>
              <a:t>中断服务程序</a:t>
            </a:r>
            <a:endParaRPr lang="zh-CN" altLang="en-US" sz="2000" b="0" dirty="0">
              <a:solidFill>
                <a:srgbClr val="003366"/>
              </a:solidFill>
              <a:latin typeface="楷体_GB2312"/>
              <a:ea typeface="楷体_GB2312"/>
            </a:endParaRPr>
          </a:p>
        </p:txBody>
      </p:sp>
      <p:sp>
        <p:nvSpPr>
          <p:cNvPr id="272416" name="Line 49"/>
          <p:cNvSpPr/>
          <p:nvPr/>
        </p:nvSpPr>
        <p:spPr>
          <a:xfrm>
            <a:off x="7516813" y="1114425"/>
            <a:ext cx="0" cy="252413"/>
          </a:xfrm>
          <a:prstGeom prst="line">
            <a:avLst/>
          </a:prstGeom>
          <a:ln w="25400" cap="flat" cmpd="sng">
            <a:solidFill>
              <a:schemeClr val="tx1"/>
            </a:solidFill>
            <a:prstDash val="solid"/>
            <a:bevel/>
            <a:headEnd type="none" w="med" len="med"/>
            <a:tailEnd type="triangle" w="lg" len="lg"/>
          </a:ln>
        </p:spPr>
      </p:sp>
      <p:sp>
        <p:nvSpPr>
          <p:cNvPr id="272417" name="Rectangle 50"/>
          <p:cNvSpPr/>
          <p:nvPr/>
        </p:nvSpPr>
        <p:spPr>
          <a:xfrm>
            <a:off x="6443663" y="1420813"/>
            <a:ext cx="2160587" cy="252412"/>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zh-CN" altLang="en-US" sz="2000" b="0" dirty="0">
                <a:solidFill>
                  <a:srgbClr val="003366"/>
                </a:solidFill>
                <a:latin typeface="楷体_GB2312"/>
                <a:ea typeface="楷体_GB2312"/>
              </a:rPr>
              <a:t>保护现场</a:t>
            </a:r>
            <a:endParaRPr lang="zh-CN" altLang="en-US" sz="2000" b="0" dirty="0">
              <a:solidFill>
                <a:srgbClr val="003366"/>
              </a:solidFill>
              <a:latin typeface="楷体_GB2312"/>
              <a:ea typeface="楷体_GB2312"/>
            </a:endParaRPr>
          </a:p>
        </p:txBody>
      </p:sp>
      <p:sp>
        <p:nvSpPr>
          <p:cNvPr id="272418" name="Line 51"/>
          <p:cNvSpPr/>
          <p:nvPr/>
        </p:nvSpPr>
        <p:spPr>
          <a:xfrm>
            <a:off x="7516813" y="1701800"/>
            <a:ext cx="0" cy="252413"/>
          </a:xfrm>
          <a:prstGeom prst="line">
            <a:avLst/>
          </a:prstGeom>
          <a:ln w="25400" cap="flat" cmpd="sng">
            <a:solidFill>
              <a:schemeClr val="tx1"/>
            </a:solidFill>
            <a:prstDash val="solid"/>
            <a:bevel/>
            <a:headEnd type="none" w="med" len="med"/>
            <a:tailEnd type="triangle" w="lg" len="lg"/>
          </a:ln>
        </p:spPr>
      </p:sp>
      <p:sp>
        <p:nvSpPr>
          <p:cNvPr id="272419" name="Rectangle 52"/>
          <p:cNvSpPr/>
          <p:nvPr/>
        </p:nvSpPr>
        <p:spPr>
          <a:xfrm>
            <a:off x="6443663" y="2008188"/>
            <a:ext cx="2160587" cy="252412"/>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zh-CN" altLang="en-US" sz="2000" b="0" dirty="0">
                <a:solidFill>
                  <a:srgbClr val="003366"/>
                </a:solidFill>
                <a:latin typeface="楷体_GB2312"/>
                <a:ea typeface="楷体_GB2312"/>
              </a:rPr>
              <a:t>取数据段段地址</a:t>
            </a:r>
            <a:endParaRPr lang="zh-CN" altLang="en-US" sz="2000" b="0" dirty="0">
              <a:solidFill>
                <a:srgbClr val="003366"/>
              </a:solidFill>
              <a:latin typeface="楷体_GB2312"/>
              <a:ea typeface="楷体_GB2312"/>
            </a:endParaRPr>
          </a:p>
        </p:txBody>
      </p:sp>
      <p:sp>
        <p:nvSpPr>
          <p:cNvPr id="272420" name="Rectangle 53"/>
          <p:cNvSpPr/>
          <p:nvPr/>
        </p:nvSpPr>
        <p:spPr>
          <a:xfrm>
            <a:off x="6443663" y="3182938"/>
            <a:ext cx="2160587" cy="250825"/>
          </a:xfrm>
          <a:prstGeom prst="rect">
            <a:avLst/>
          </a:prstGeom>
          <a:noFill/>
          <a:ln w="15875" cap="flat" cmpd="sng">
            <a:solidFill>
              <a:schemeClr val="tx1"/>
            </a:solidFill>
            <a:prstDash val="solid"/>
            <a:miter/>
            <a:headEnd type="none" w="med" len="med"/>
            <a:tailEnd type="none" w="med" len="med"/>
          </a:ln>
        </p:spPr>
        <p:txBody>
          <a:bodyPr lIns="0" tIns="0" rIns="0" bIns="0" anchor="ctr" anchorCtr="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en-US" altLang="zh-CN" sz="2000" b="0" dirty="0">
                <a:solidFill>
                  <a:srgbClr val="003366"/>
                </a:solidFill>
                <a:latin typeface="楷体_GB2312"/>
                <a:ea typeface="楷体_GB2312"/>
              </a:rPr>
              <a:t>Count=Count+1</a:t>
            </a:r>
            <a:endParaRPr lang="en-US" altLang="zh-CN" sz="2000" b="0" dirty="0">
              <a:solidFill>
                <a:srgbClr val="003366"/>
              </a:solidFill>
              <a:latin typeface="楷体_GB2312"/>
              <a:ea typeface="楷体_GB2312"/>
            </a:endParaRPr>
          </a:p>
        </p:txBody>
      </p:sp>
      <p:sp>
        <p:nvSpPr>
          <p:cNvPr id="272421" name="Line 54"/>
          <p:cNvSpPr/>
          <p:nvPr/>
        </p:nvSpPr>
        <p:spPr>
          <a:xfrm>
            <a:off x="7516813" y="2312988"/>
            <a:ext cx="0" cy="252412"/>
          </a:xfrm>
          <a:prstGeom prst="line">
            <a:avLst/>
          </a:prstGeom>
          <a:ln w="25400" cap="flat" cmpd="sng">
            <a:solidFill>
              <a:schemeClr val="tx1"/>
            </a:solidFill>
            <a:prstDash val="solid"/>
            <a:bevel/>
            <a:headEnd type="none" w="med" len="med"/>
            <a:tailEnd type="triangle" w="lg" len="lg"/>
          </a:ln>
        </p:spPr>
      </p:sp>
      <p:sp>
        <p:nvSpPr>
          <p:cNvPr id="272422" name="Rectangle 55"/>
          <p:cNvSpPr/>
          <p:nvPr/>
        </p:nvSpPr>
        <p:spPr>
          <a:xfrm>
            <a:off x="6443663" y="2595563"/>
            <a:ext cx="2160587" cy="250825"/>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zh-CN" altLang="en-US" sz="2000" b="0" dirty="0">
                <a:solidFill>
                  <a:srgbClr val="003366"/>
                </a:solidFill>
                <a:latin typeface="楷体_GB2312"/>
                <a:ea typeface="楷体_GB2312"/>
              </a:rPr>
              <a:t>取数据段偏移地址</a:t>
            </a:r>
            <a:endParaRPr lang="zh-CN" altLang="en-US" sz="2000" b="0" dirty="0">
              <a:solidFill>
                <a:srgbClr val="003366"/>
              </a:solidFill>
              <a:latin typeface="楷体_GB2312"/>
              <a:ea typeface="楷体_GB2312"/>
            </a:endParaRPr>
          </a:p>
        </p:txBody>
      </p:sp>
      <p:sp>
        <p:nvSpPr>
          <p:cNvPr id="272423" name="Rectangle 56"/>
          <p:cNvSpPr/>
          <p:nvPr/>
        </p:nvSpPr>
        <p:spPr>
          <a:xfrm>
            <a:off x="6443663" y="3768725"/>
            <a:ext cx="2160587" cy="252413"/>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zh-CN" altLang="en-US" sz="2000" b="0" dirty="0">
                <a:solidFill>
                  <a:srgbClr val="003366"/>
                </a:solidFill>
                <a:latin typeface="楷体_GB2312"/>
                <a:ea typeface="楷体_GB2312"/>
              </a:rPr>
              <a:t>调用显示子程序</a:t>
            </a:r>
            <a:endParaRPr lang="zh-CN" altLang="en-US" sz="2000" b="0" dirty="0">
              <a:solidFill>
                <a:srgbClr val="003366"/>
              </a:solidFill>
              <a:latin typeface="楷体_GB2312"/>
              <a:ea typeface="楷体_GB2312"/>
            </a:endParaRPr>
          </a:p>
        </p:txBody>
      </p:sp>
      <p:sp>
        <p:nvSpPr>
          <p:cNvPr id="272424" name="Rectangle 57"/>
          <p:cNvSpPr/>
          <p:nvPr/>
        </p:nvSpPr>
        <p:spPr>
          <a:xfrm>
            <a:off x="6443663" y="4943475"/>
            <a:ext cx="2160587" cy="252413"/>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zh-CN" altLang="en-US" sz="2000" b="0" dirty="0">
                <a:solidFill>
                  <a:srgbClr val="003366"/>
                </a:solidFill>
                <a:latin typeface="楷体_GB2312"/>
                <a:ea typeface="楷体_GB2312"/>
              </a:rPr>
              <a:t>恢复现场</a:t>
            </a:r>
            <a:endParaRPr lang="zh-CN" altLang="en-US" sz="2000" b="0" dirty="0">
              <a:solidFill>
                <a:srgbClr val="003366"/>
              </a:solidFill>
              <a:latin typeface="楷体_GB2312"/>
              <a:ea typeface="楷体_GB2312"/>
            </a:endParaRPr>
          </a:p>
        </p:txBody>
      </p:sp>
      <p:sp>
        <p:nvSpPr>
          <p:cNvPr id="272425" name="Rectangle 58"/>
          <p:cNvSpPr/>
          <p:nvPr/>
        </p:nvSpPr>
        <p:spPr>
          <a:xfrm>
            <a:off x="6443663" y="5530850"/>
            <a:ext cx="2160587" cy="252413"/>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zh-CN" altLang="en-US" sz="2000" b="0" dirty="0">
                <a:solidFill>
                  <a:srgbClr val="003366"/>
                </a:solidFill>
                <a:latin typeface="楷体_GB2312"/>
                <a:ea typeface="楷体_GB2312"/>
              </a:rPr>
              <a:t>中断返回</a:t>
            </a:r>
            <a:endParaRPr lang="zh-CN" altLang="en-US" sz="2000" b="0" dirty="0">
              <a:solidFill>
                <a:srgbClr val="003366"/>
              </a:solidFill>
              <a:latin typeface="楷体_GB2312"/>
              <a:ea typeface="楷体_GB2312"/>
            </a:endParaRPr>
          </a:p>
        </p:txBody>
      </p:sp>
      <p:sp>
        <p:nvSpPr>
          <p:cNvPr id="272426" name="Line 59"/>
          <p:cNvSpPr/>
          <p:nvPr/>
        </p:nvSpPr>
        <p:spPr>
          <a:xfrm>
            <a:off x="7524750" y="2927350"/>
            <a:ext cx="0" cy="252413"/>
          </a:xfrm>
          <a:prstGeom prst="line">
            <a:avLst/>
          </a:prstGeom>
          <a:ln w="25400" cap="flat" cmpd="sng">
            <a:solidFill>
              <a:schemeClr val="tx1"/>
            </a:solidFill>
            <a:prstDash val="solid"/>
            <a:bevel/>
            <a:headEnd type="none" w="med" len="med"/>
            <a:tailEnd type="triangle" w="lg" len="lg"/>
          </a:ln>
        </p:spPr>
      </p:sp>
      <p:sp>
        <p:nvSpPr>
          <p:cNvPr id="272427" name="Line 60"/>
          <p:cNvSpPr/>
          <p:nvPr/>
        </p:nvSpPr>
        <p:spPr>
          <a:xfrm>
            <a:off x="7516813" y="3517900"/>
            <a:ext cx="0" cy="250825"/>
          </a:xfrm>
          <a:prstGeom prst="line">
            <a:avLst/>
          </a:prstGeom>
          <a:ln w="25400" cap="flat" cmpd="sng">
            <a:solidFill>
              <a:schemeClr val="tx1"/>
            </a:solidFill>
            <a:prstDash val="solid"/>
            <a:bevel/>
            <a:headEnd type="none" w="med" len="med"/>
            <a:tailEnd type="triangle" w="lg" len="lg"/>
          </a:ln>
        </p:spPr>
      </p:sp>
      <p:sp>
        <p:nvSpPr>
          <p:cNvPr id="272428" name="Line 61"/>
          <p:cNvSpPr/>
          <p:nvPr/>
        </p:nvSpPr>
        <p:spPr>
          <a:xfrm>
            <a:off x="7516813" y="4021138"/>
            <a:ext cx="0" cy="252412"/>
          </a:xfrm>
          <a:prstGeom prst="line">
            <a:avLst/>
          </a:prstGeom>
          <a:ln w="25400" cap="flat" cmpd="sng">
            <a:solidFill>
              <a:schemeClr val="tx1"/>
            </a:solidFill>
            <a:prstDash val="solid"/>
            <a:bevel/>
            <a:headEnd type="none" w="med" len="med"/>
            <a:tailEnd type="triangle" w="lg" len="lg"/>
          </a:ln>
        </p:spPr>
      </p:sp>
      <p:sp>
        <p:nvSpPr>
          <p:cNvPr id="272429" name="Line 62"/>
          <p:cNvSpPr/>
          <p:nvPr/>
        </p:nvSpPr>
        <p:spPr>
          <a:xfrm>
            <a:off x="7516813" y="4689475"/>
            <a:ext cx="0" cy="252413"/>
          </a:xfrm>
          <a:prstGeom prst="line">
            <a:avLst/>
          </a:prstGeom>
          <a:ln w="25400" cap="flat" cmpd="sng">
            <a:solidFill>
              <a:schemeClr val="tx1"/>
            </a:solidFill>
            <a:prstDash val="solid"/>
            <a:bevel/>
            <a:headEnd type="none" w="med" len="med"/>
            <a:tailEnd type="triangle" w="lg" len="lg"/>
          </a:ln>
        </p:spPr>
      </p:sp>
      <p:sp>
        <p:nvSpPr>
          <p:cNvPr id="272430" name="Rectangle 63"/>
          <p:cNvSpPr/>
          <p:nvPr/>
        </p:nvSpPr>
        <p:spPr>
          <a:xfrm>
            <a:off x="6443663" y="4356100"/>
            <a:ext cx="2160587" cy="252413"/>
          </a:xfrm>
          <a:prstGeom prst="rect">
            <a:avLst/>
          </a:prstGeom>
          <a:noFill/>
          <a:ln w="1587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zh-CN" altLang="en-US" sz="2000" b="0" dirty="0">
                <a:solidFill>
                  <a:srgbClr val="003366"/>
                </a:solidFill>
                <a:latin typeface="楷体_GB2312"/>
                <a:ea typeface="楷体_GB2312"/>
              </a:rPr>
              <a:t>发</a:t>
            </a:r>
            <a:r>
              <a:rPr lang="en-US" altLang="zh-CN" sz="2000" b="0" dirty="0">
                <a:solidFill>
                  <a:srgbClr val="003366"/>
                </a:solidFill>
                <a:latin typeface="楷体_GB2312"/>
                <a:ea typeface="楷体_GB2312"/>
              </a:rPr>
              <a:t>EOI</a:t>
            </a:r>
            <a:r>
              <a:rPr lang="zh-CN" altLang="en-US" sz="2000" b="0" dirty="0">
                <a:solidFill>
                  <a:srgbClr val="003366"/>
                </a:solidFill>
                <a:latin typeface="楷体_GB2312"/>
                <a:ea typeface="楷体_GB2312"/>
              </a:rPr>
              <a:t>命令</a:t>
            </a:r>
            <a:endParaRPr lang="zh-CN" altLang="en-US" sz="2000" b="0" dirty="0">
              <a:solidFill>
                <a:srgbClr val="003366"/>
              </a:solidFill>
              <a:latin typeface="楷体_GB2312"/>
              <a:ea typeface="楷体_GB2312"/>
            </a:endParaRPr>
          </a:p>
        </p:txBody>
      </p:sp>
      <p:sp>
        <p:nvSpPr>
          <p:cNvPr id="272431" name="Line 64"/>
          <p:cNvSpPr/>
          <p:nvPr/>
        </p:nvSpPr>
        <p:spPr>
          <a:xfrm>
            <a:off x="7516813" y="5195888"/>
            <a:ext cx="0" cy="252412"/>
          </a:xfrm>
          <a:prstGeom prst="line">
            <a:avLst/>
          </a:prstGeom>
          <a:ln w="25400" cap="flat" cmpd="sng">
            <a:solidFill>
              <a:schemeClr val="tx1"/>
            </a:solidFill>
            <a:prstDash val="solid"/>
            <a:bevel/>
            <a:headEnd type="none" w="med" len="med"/>
            <a:tailEnd type="triangle" w="lg" len="lg"/>
          </a:ln>
        </p:spPr>
      </p:sp>
      <p:pic>
        <p:nvPicPr>
          <p:cNvPr id="272432" name="Picture 65" descr="截图04"/>
          <p:cNvPicPr>
            <a:picLocks noGrp="1" noChangeAspect="1"/>
          </p:cNvPicPr>
          <p:nvPr>
            <p:ph sz="quarter" idx="4294967295"/>
          </p:nvPr>
        </p:nvPicPr>
        <p:blipFill>
          <a:blip r:embed="rId1"/>
          <a:srcRect/>
          <a:stretch>
            <a:fillRect/>
          </a:stretch>
        </p:blipFill>
        <p:spPr>
          <a:xfrm>
            <a:off x="889000" y="4733925"/>
            <a:ext cx="2376488" cy="714375"/>
          </a:xfrm>
        </p:spPr>
      </p:pic>
      <p:pic>
        <p:nvPicPr>
          <p:cNvPr id="272433" name="Picture 67" descr="截图06"/>
          <p:cNvPicPr>
            <a:picLocks noGrp="1" noChangeAspect="1"/>
          </p:cNvPicPr>
          <p:nvPr>
            <p:ph sz="quarter" idx="4294967295"/>
          </p:nvPr>
        </p:nvPicPr>
        <p:blipFill>
          <a:blip r:embed="rId2"/>
          <a:srcRect/>
          <a:stretch>
            <a:fillRect/>
          </a:stretch>
        </p:blipFill>
        <p:spPr>
          <a:xfrm>
            <a:off x="865188" y="5886450"/>
            <a:ext cx="2395537" cy="714375"/>
          </a:xfrm>
        </p:spPr>
      </p:pic>
      <p:pic>
        <p:nvPicPr>
          <p:cNvPr id="272434" name="Picture 70" descr="截图07"/>
          <p:cNvPicPr>
            <a:picLocks noGrp="1" noChangeAspect="1"/>
          </p:cNvPicPr>
          <p:nvPr>
            <p:ph sz="quarter" idx="4294967295"/>
          </p:nvPr>
        </p:nvPicPr>
        <p:blipFill>
          <a:blip r:embed="rId3"/>
          <a:srcRect/>
          <a:stretch>
            <a:fillRect/>
          </a:stretch>
        </p:blipFill>
        <p:spPr>
          <a:xfrm>
            <a:off x="3429000" y="5548313"/>
            <a:ext cx="3014663" cy="1250950"/>
          </a:xfrm>
        </p:spPr>
      </p:pic>
      <p:sp>
        <p:nvSpPr>
          <p:cNvPr id="272435" name="AutoShape 74"/>
          <p:cNvSpPr/>
          <p:nvPr/>
        </p:nvSpPr>
        <p:spPr>
          <a:xfrm>
            <a:off x="3251200" y="5707063"/>
            <a:ext cx="73025" cy="935037"/>
          </a:xfrm>
          <a:prstGeom prst="leftBrace">
            <a:avLst>
              <a:gd name="adj1" fmla="val 105991"/>
              <a:gd name="adj2" fmla="val 50000"/>
            </a:avLst>
          </a:prstGeom>
          <a:noFill/>
          <a:ln w="25400"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pic>
        <p:nvPicPr>
          <p:cNvPr id="272436" name="Picture 75" descr="截图08"/>
          <p:cNvPicPr>
            <a:picLocks noGrp="1" noChangeAspect="1"/>
          </p:cNvPicPr>
          <p:nvPr>
            <p:ph sz="quarter" idx="4294967295"/>
          </p:nvPr>
        </p:nvPicPr>
        <p:blipFill>
          <a:blip r:embed="rId4"/>
          <a:srcRect/>
          <a:stretch>
            <a:fillRect/>
          </a:stretch>
        </p:blipFill>
        <p:spPr>
          <a:xfrm>
            <a:off x="3389313" y="4508500"/>
            <a:ext cx="2209800" cy="936625"/>
          </a:xfrm>
        </p:spPr>
      </p:pic>
      <p:sp>
        <p:nvSpPr>
          <p:cNvPr id="272437" name="Rectangle 78"/>
          <p:cNvSpPr>
            <a:spLocks noChangeAspect="1"/>
          </p:cNvSpPr>
          <p:nvPr/>
        </p:nvSpPr>
        <p:spPr>
          <a:xfrm>
            <a:off x="1258888" y="4513263"/>
            <a:ext cx="1584325" cy="195262"/>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zh-CN" altLang="en-US" sz="1600" b="0" dirty="0">
                <a:solidFill>
                  <a:srgbClr val="003366"/>
                </a:solidFill>
                <a:ea typeface="仿宋_GB2312" pitchFamily="1" charset="-122"/>
              </a:rPr>
              <a:t>保存原有</a:t>
            </a:r>
            <a:r>
              <a:rPr lang="en-US" altLang="zh-CN" sz="1600" b="0" dirty="0">
                <a:solidFill>
                  <a:srgbClr val="003366"/>
                </a:solidFill>
                <a:ea typeface="仿宋_GB2312" pitchFamily="1" charset="-122"/>
              </a:rPr>
              <a:t>08H</a:t>
            </a:r>
            <a:endParaRPr lang="en-US" altLang="zh-CN" sz="1600" b="0" dirty="0">
              <a:solidFill>
                <a:srgbClr val="003366"/>
              </a:solidFill>
              <a:ea typeface="仿宋_GB2312" pitchFamily="1" charset="-122"/>
            </a:endParaRPr>
          </a:p>
        </p:txBody>
      </p:sp>
      <p:sp>
        <p:nvSpPr>
          <p:cNvPr id="272438" name="AutoShape 79"/>
          <p:cNvSpPr/>
          <p:nvPr/>
        </p:nvSpPr>
        <p:spPr>
          <a:xfrm>
            <a:off x="3287713" y="4568825"/>
            <a:ext cx="73025" cy="935038"/>
          </a:xfrm>
          <a:prstGeom prst="leftBrace">
            <a:avLst>
              <a:gd name="adj1" fmla="val 105991"/>
              <a:gd name="adj2" fmla="val 50000"/>
            </a:avLst>
          </a:prstGeom>
          <a:noFill/>
          <a:ln w="25400" cap="flat" cmpd="sng">
            <a:solidFill>
              <a:schemeClr val="tx1"/>
            </a:solidFill>
            <a:prstDash val="solid"/>
            <a:bevel/>
            <a:headEnd type="none" w="med" len="med"/>
            <a:tailEnd type="none" w="med" len="med"/>
          </a:ln>
        </p:spPr>
        <p:txBody>
          <a:bodyPr wrap="none" anchor="ctr"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endParaRPr lang="zh-CN" altLang="zh-CN" sz="1800" b="0" dirty="0">
              <a:solidFill>
                <a:schemeClr val="tx1"/>
              </a:solidFill>
              <a:ea typeface="楷体_GB2312"/>
            </a:endParaRPr>
          </a:p>
        </p:txBody>
      </p:sp>
      <p:sp>
        <p:nvSpPr>
          <p:cNvPr id="272439" name="Rectangle 80"/>
          <p:cNvSpPr>
            <a:spLocks noChangeAspect="1"/>
          </p:cNvSpPr>
          <p:nvPr/>
        </p:nvSpPr>
        <p:spPr>
          <a:xfrm>
            <a:off x="1179513" y="5546725"/>
            <a:ext cx="1584325" cy="195263"/>
          </a:xfrm>
          <a:prstGeom prst="rect">
            <a:avLst/>
          </a:prstGeom>
          <a:noFill/>
          <a:ln w="9525">
            <a:noFill/>
          </a:ln>
        </p:spPr>
        <p:txBody>
          <a:bodyPr lIns="0" tIns="0" rIns="0" b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ctr">
              <a:lnSpc>
                <a:spcPct val="80000"/>
              </a:lnSpc>
              <a:spcAft>
                <a:spcPct val="0"/>
              </a:spcAft>
              <a:buClrTx/>
              <a:buSzTx/>
              <a:buNone/>
            </a:pPr>
            <a:r>
              <a:rPr lang="zh-CN" altLang="en-US" sz="1600" b="0" dirty="0">
                <a:solidFill>
                  <a:srgbClr val="003366"/>
                </a:solidFill>
                <a:ea typeface="仿宋_GB2312" pitchFamily="1" charset="-122"/>
              </a:rPr>
              <a:t>设置新的</a:t>
            </a:r>
            <a:r>
              <a:rPr lang="en-US" altLang="zh-CN" sz="1600" b="0" dirty="0">
                <a:solidFill>
                  <a:srgbClr val="003366"/>
                </a:solidFill>
                <a:ea typeface="仿宋_GB2312" pitchFamily="1" charset="-122"/>
              </a:rPr>
              <a:t>08H</a:t>
            </a:r>
            <a:endParaRPr lang="en-US" altLang="zh-CN" sz="1600" b="0" dirty="0">
              <a:solidFill>
                <a:srgbClr val="003366"/>
              </a:solidFill>
              <a:ea typeface="仿宋_GB2312" pitchFamily="1" charset="-122"/>
            </a:endParaRPr>
          </a:p>
        </p:txBody>
      </p:sp>
    </p:spTree>
  </p:cSld>
  <p:clrMapOvr>
    <a:masterClrMapping/>
  </p:clrMapOvr>
  <p:transition spd="slow">
    <p:zoom/>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3410" name="Rectangle 3"/>
          <p:cNvSpPr>
            <a:spLocks noGrp="1" noChangeAspect="1"/>
          </p:cNvSpPr>
          <p:nvPr>
            <p:ph type="body" idx="4294967295"/>
          </p:nvPr>
        </p:nvSpPr>
        <p:spPr>
          <a:xfrm>
            <a:off x="-30162" y="200025"/>
            <a:ext cx="5610225" cy="6469063"/>
          </a:xfrm>
          <a:solidFill>
            <a:schemeClr val="bg1">
              <a:alpha val="100000"/>
            </a:schemeClr>
          </a:solidFill>
        </p:spPr>
        <p:txBody>
          <a:bodyPr vert="horz" wrap="square" lIns="91440" tIns="45720" rIns="91440" bIns="45720" anchor="t" anchorCtr="0"/>
          <a:p>
            <a:pPr>
              <a:lnSpc>
                <a:spcPct val="70000"/>
              </a:lnSpc>
            </a:pPr>
            <a:r>
              <a:rPr lang="en-US" altLang="zh-CN" sz="1600" dirty="0">
                <a:solidFill>
                  <a:schemeClr val="tx1"/>
                </a:solidFill>
                <a:latin typeface="楷体_GB2312"/>
              </a:rPr>
              <a:t>data        segment  para</a:t>
            </a:r>
            <a:endParaRPr lang="en-US" altLang="zh-CN" sz="1600" dirty="0">
              <a:solidFill>
                <a:schemeClr val="tx1"/>
              </a:solidFill>
              <a:latin typeface="楷体_GB2312"/>
            </a:endParaRPr>
          </a:p>
          <a:p>
            <a:pPr>
              <a:lnSpc>
                <a:spcPct val="70000"/>
              </a:lnSpc>
            </a:pPr>
            <a:r>
              <a:rPr lang="en-US" altLang="zh-CN" sz="1600" dirty="0">
                <a:solidFill>
                  <a:schemeClr val="tx1"/>
                </a:solidFill>
                <a:latin typeface="楷体_GB2312"/>
              </a:rPr>
              <a:t>intmsg      db 'A 8259A Interrupt !', 0dh,0ah,0</a:t>
            </a:r>
            <a:endParaRPr lang="en-US" altLang="zh-CN" sz="1600" dirty="0">
              <a:solidFill>
                <a:schemeClr val="tx1"/>
              </a:solidFill>
              <a:latin typeface="楷体_GB2312"/>
            </a:endParaRPr>
          </a:p>
          <a:p>
            <a:pPr>
              <a:lnSpc>
                <a:spcPct val="70000"/>
              </a:lnSpc>
            </a:pPr>
            <a:r>
              <a:rPr lang="en-US" altLang="zh-CN" sz="1600" dirty="0">
                <a:solidFill>
                  <a:schemeClr val="tx1"/>
                </a:solidFill>
                <a:latin typeface="楷体_GB2312"/>
              </a:rPr>
              <a:t>counter     db 0</a:t>
            </a:r>
            <a:endParaRPr lang="en-US" altLang="zh-CN" sz="1600" dirty="0">
              <a:solidFill>
                <a:schemeClr val="tx1"/>
              </a:solidFill>
              <a:latin typeface="楷体_GB2312"/>
            </a:endParaRPr>
          </a:p>
          <a:p>
            <a:pPr>
              <a:lnSpc>
                <a:spcPct val="70000"/>
              </a:lnSpc>
            </a:pPr>
            <a:r>
              <a:rPr lang="en-US" altLang="zh-CN" sz="1600" dirty="0">
                <a:solidFill>
                  <a:schemeClr val="tx1"/>
                </a:solidFill>
                <a:latin typeface="楷体_GB2312"/>
              </a:rPr>
              <a:t>data        ends</a:t>
            </a:r>
            <a:endParaRPr lang="en-US" altLang="zh-CN" sz="1600" dirty="0">
              <a:solidFill>
                <a:schemeClr val="tx1"/>
              </a:solidFill>
              <a:latin typeface="楷体_GB2312"/>
            </a:endParaRPr>
          </a:p>
          <a:p>
            <a:pPr>
              <a:lnSpc>
                <a:spcPct val="70000"/>
              </a:lnSpc>
            </a:pPr>
            <a:r>
              <a:rPr lang="en-US" altLang="zh-CN" sz="1600" dirty="0">
                <a:solidFill>
                  <a:schemeClr val="tx1"/>
                </a:solidFill>
                <a:latin typeface="楷体_GB2312"/>
              </a:rPr>
              <a:t>st_seg      segment stack</a:t>
            </a:r>
            <a:endParaRPr lang="en-US" altLang="zh-CN" sz="1600" dirty="0">
              <a:solidFill>
                <a:schemeClr val="tx1"/>
              </a:solidFill>
              <a:latin typeface="楷体_GB2312"/>
            </a:endParaRPr>
          </a:p>
          <a:p>
            <a:pPr>
              <a:lnSpc>
                <a:spcPct val="70000"/>
              </a:lnSpc>
            </a:pPr>
            <a:r>
              <a:rPr lang="en-US" altLang="zh-CN" sz="1600" dirty="0">
                <a:solidFill>
                  <a:schemeClr val="tx1"/>
                </a:solidFill>
                <a:latin typeface="楷体_GB2312"/>
              </a:rPr>
              <a:t>            db 256 dup (?)</a:t>
            </a:r>
            <a:endParaRPr lang="en-US" altLang="zh-CN" sz="1600" dirty="0">
              <a:solidFill>
                <a:schemeClr val="tx1"/>
              </a:solidFill>
              <a:latin typeface="楷体_GB2312"/>
            </a:endParaRPr>
          </a:p>
          <a:p>
            <a:pPr>
              <a:lnSpc>
                <a:spcPct val="70000"/>
              </a:lnSpc>
            </a:pPr>
            <a:r>
              <a:rPr lang="zh-CN" altLang="en-US" sz="1600" dirty="0">
                <a:solidFill>
                  <a:schemeClr val="tx1"/>
                </a:solidFill>
                <a:latin typeface="楷体_GB2312"/>
              </a:rPr>
              <a:t>st_seg      ends</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code        segment</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assume cs:code,ds:data,ss:st_seg</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main    proc far</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mov ax,data</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mov ds,ax</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mov ax,3508h;获取原中断向量</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int 21h</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push es</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push bx            </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cli</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push ds；设置新中断向量</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mov ax,seg int08h</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mov ds,ax；设置新中断向量的段地址</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mov dx,offset int08h；设新中断向量</a:t>
            </a:r>
            <a:endParaRPr lang="en-US" altLang="zh-CN" sz="1600" dirty="0">
              <a:solidFill>
                <a:schemeClr val="tx1"/>
              </a:solidFill>
              <a:latin typeface="楷体_GB2312"/>
            </a:endParaRPr>
          </a:p>
          <a:p>
            <a:pPr>
              <a:lnSpc>
                <a:spcPct val="70000"/>
              </a:lnSpc>
            </a:pPr>
            <a:r>
              <a:rPr lang="en-US" altLang="zh-CN" sz="1600" dirty="0">
                <a:solidFill>
                  <a:schemeClr val="tx1"/>
                </a:solidFill>
                <a:latin typeface="楷体_GB2312"/>
              </a:rPr>
              <a:t>                                    </a:t>
            </a:r>
            <a:r>
              <a:rPr lang="zh-CN" altLang="en-US" sz="1600" dirty="0">
                <a:solidFill>
                  <a:schemeClr val="tx1"/>
                </a:solidFill>
                <a:latin typeface="楷体_GB2312"/>
              </a:rPr>
              <a:t>；偏移地址</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mov ax,2508h</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int 21h</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pop ds</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in al, 21h；读出IMR</a:t>
            </a:r>
            <a:endParaRPr lang="zh-CN" altLang="en-US" sz="1600" dirty="0">
              <a:solidFill>
                <a:schemeClr val="tx1"/>
              </a:solidFill>
              <a:latin typeface="楷体_GB2312"/>
            </a:endParaRPr>
          </a:p>
          <a:p>
            <a:pPr>
              <a:lnSpc>
                <a:spcPct val="70000"/>
              </a:lnSpc>
            </a:pPr>
            <a:r>
              <a:rPr lang="zh-CN" altLang="en-US" sz="1600" dirty="0">
                <a:solidFill>
                  <a:schemeClr val="tx1"/>
                </a:solidFill>
                <a:latin typeface="楷体_GB2312"/>
              </a:rPr>
              <a:t>            </a:t>
            </a:r>
            <a:r>
              <a:rPr lang="zh-CN" altLang="en-US" sz="1600" dirty="0">
                <a:solidFill>
                  <a:schemeClr val="hlink"/>
                </a:solidFill>
                <a:latin typeface="楷体_GB2312"/>
              </a:rPr>
              <a:t>push ax；保存IMR内容</a:t>
            </a:r>
            <a:endParaRPr lang="zh-CN" altLang="en-US" sz="1600" dirty="0">
              <a:solidFill>
                <a:schemeClr val="hlink"/>
              </a:solidFill>
              <a:latin typeface="楷体_GB2312"/>
            </a:endParaRPr>
          </a:p>
          <a:p>
            <a:pPr>
              <a:lnSpc>
                <a:spcPct val="70000"/>
              </a:lnSpc>
            </a:pPr>
            <a:r>
              <a:rPr lang="zh-CN" altLang="en-US" sz="1600" dirty="0">
                <a:solidFill>
                  <a:schemeClr val="tx1"/>
                </a:solidFill>
                <a:latin typeface="楷体_GB2312"/>
              </a:rPr>
              <a:t>            and al,0feh；允许IRO中断，其他屏蔽</a:t>
            </a:r>
            <a:endParaRPr lang="zh-CN" altLang="en-US" sz="1600" dirty="0">
              <a:solidFill>
                <a:schemeClr val="tx1"/>
              </a:solidFill>
              <a:latin typeface="楷体_GB2312"/>
            </a:endParaRPr>
          </a:p>
        </p:txBody>
      </p:sp>
      <p:sp>
        <p:nvSpPr>
          <p:cNvPr id="273411" name="Rectangle 4"/>
          <p:cNvSpPr/>
          <p:nvPr/>
        </p:nvSpPr>
        <p:spPr>
          <a:xfrm>
            <a:off x="5389563" y="144463"/>
            <a:ext cx="3779837" cy="430847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None/>
            </a:pPr>
            <a:r>
              <a:rPr lang="en-US" altLang="zh-CN" sz="1800" b="0" dirty="0">
                <a:solidFill>
                  <a:schemeClr val="tx1"/>
                </a:solidFill>
                <a:ea typeface="楷体_GB2312"/>
              </a:rPr>
              <a:t>                     </a:t>
            </a:r>
            <a:r>
              <a:rPr lang="zh-CN" altLang="en-US" sz="1600" dirty="0">
                <a:solidFill>
                  <a:schemeClr val="tx1"/>
                </a:solidFill>
                <a:latin typeface="楷体_GB2312"/>
                <a:ea typeface="楷体_GB2312"/>
              </a:rPr>
              <a:t>out 21h,al;</a:t>
            </a:r>
            <a:endParaRPr lang="zh-CN" altLang="en-US" sz="1600" dirty="0">
              <a:solidFill>
                <a:schemeClr val="tx1"/>
              </a:solidFill>
              <a:latin typeface="楷体_GB2312"/>
              <a:ea typeface="楷体_GB2312"/>
            </a:endParaRPr>
          </a:p>
          <a:p>
            <a:pPr marL="0" lvl="0" indent="0">
              <a:lnSpc>
                <a:spcPct val="100000"/>
              </a:lnSpc>
              <a:spcBef>
                <a:spcPct val="0"/>
              </a:spcBef>
              <a:spcAft>
                <a:spcPct val="0"/>
              </a:spcAft>
              <a:buClrTx/>
              <a:buSzTx/>
              <a:buNone/>
            </a:pPr>
            <a:r>
              <a:rPr lang="en-US" altLang="zh-CN" sz="1600" dirty="0">
                <a:solidFill>
                  <a:schemeClr val="tx1"/>
                </a:solidFill>
                <a:latin typeface="楷体_GB2312"/>
                <a:ea typeface="楷体_GB2312"/>
              </a:rPr>
              <a:t>             </a:t>
            </a:r>
            <a:r>
              <a:rPr lang="zh-CN" altLang="en-US" sz="1600" dirty="0">
                <a:solidFill>
                  <a:schemeClr val="tx1"/>
                </a:solidFill>
                <a:latin typeface="楷体_GB2312"/>
                <a:ea typeface="楷体_GB2312"/>
              </a:rPr>
              <a:t>mov counter,0；设置中</a:t>
            </a:r>
            <a:r>
              <a:rPr lang="en-US" altLang="zh-CN" sz="1600" dirty="0">
                <a:solidFill>
                  <a:schemeClr val="tx1"/>
                </a:solidFill>
                <a:latin typeface="楷体_GB2312"/>
                <a:ea typeface="楷体_GB2312"/>
              </a:rPr>
              <a:t>  </a:t>
            </a:r>
            <a:endParaRPr lang="en-US" altLang="zh-CN" sz="1600" dirty="0">
              <a:solidFill>
                <a:schemeClr val="tx1"/>
              </a:solidFill>
              <a:latin typeface="楷体_GB2312"/>
              <a:ea typeface="楷体_GB2312"/>
            </a:endParaRPr>
          </a:p>
          <a:p>
            <a:pPr marL="0" lvl="0" indent="0">
              <a:lnSpc>
                <a:spcPct val="100000"/>
              </a:lnSpc>
              <a:spcBef>
                <a:spcPct val="0"/>
              </a:spcBef>
              <a:spcAft>
                <a:spcPct val="0"/>
              </a:spcAft>
              <a:buClrTx/>
              <a:buSzTx/>
              <a:buNone/>
            </a:pPr>
            <a:r>
              <a:rPr lang="zh-CN" altLang="en-US" sz="1600" dirty="0">
                <a:solidFill>
                  <a:schemeClr val="tx1"/>
                </a:solidFill>
                <a:latin typeface="楷体_GB2312"/>
                <a:ea typeface="楷体_GB2312"/>
              </a:rPr>
              <a:t>                      ；断次数初值</a:t>
            </a:r>
            <a:endParaRPr lang="zh-CN" altLang="en-US" sz="1600" dirty="0">
              <a:solidFill>
                <a:schemeClr val="tx1"/>
              </a:solidFill>
              <a:latin typeface="楷体_GB2312"/>
              <a:ea typeface="楷体_GB2312"/>
            </a:endParaRPr>
          </a:p>
          <a:p>
            <a:pPr marL="0" lvl="0" indent="0">
              <a:lnSpc>
                <a:spcPct val="100000"/>
              </a:lnSpc>
              <a:spcBef>
                <a:spcPct val="0"/>
              </a:spcBef>
              <a:spcAft>
                <a:spcPct val="0"/>
              </a:spcAft>
              <a:buClrTx/>
              <a:buSzTx/>
              <a:buNone/>
            </a:pPr>
            <a:r>
              <a:rPr lang="zh-CN" altLang="en-US" sz="1600" dirty="0">
                <a:solidFill>
                  <a:schemeClr val="tx1"/>
                </a:solidFill>
                <a:latin typeface="楷体_GB2312"/>
                <a:ea typeface="楷体_GB2312"/>
              </a:rPr>
              <a:t>             sti</a:t>
            </a:r>
            <a:endParaRPr lang="zh-CN" altLang="en-US" sz="1600" dirty="0">
              <a:solidFill>
                <a:schemeClr val="tx1"/>
              </a:solidFill>
              <a:latin typeface="楷体_GB2312"/>
              <a:ea typeface="楷体_GB2312"/>
            </a:endParaRPr>
          </a:p>
          <a:p>
            <a:pPr marL="457200" lvl="1" indent="0">
              <a:lnSpc>
                <a:spcPct val="100000"/>
              </a:lnSpc>
              <a:spcBef>
                <a:spcPct val="0"/>
              </a:spcBef>
              <a:spcAft>
                <a:spcPct val="0"/>
              </a:spcAft>
              <a:buClrTx/>
              <a:buSzTx/>
              <a:buNone/>
            </a:pPr>
            <a:r>
              <a:rPr lang="en-US" altLang="zh-CN" sz="1600" i="1" dirty="0">
                <a:latin typeface="楷体_GB2312"/>
                <a:ea typeface="楷体_GB2312"/>
              </a:rPr>
              <a:t>start1: cmp counter,20</a:t>
            </a:r>
            <a:r>
              <a:rPr lang="zh-CN" altLang="en-US" sz="1600" i="1" dirty="0">
                <a:latin typeface="楷体_GB2312"/>
                <a:ea typeface="楷体_GB2312"/>
              </a:rPr>
              <a:t>；主程序   </a:t>
            </a:r>
            <a:endParaRPr lang="en-US" altLang="zh-CN" sz="1600" i="1" dirty="0">
              <a:latin typeface="楷体_GB2312"/>
              <a:ea typeface="楷体_GB2312"/>
            </a:endParaRPr>
          </a:p>
          <a:p>
            <a:pPr marL="457200" lvl="1" indent="0">
              <a:lnSpc>
                <a:spcPct val="100000"/>
              </a:lnSpc>
              <a:spcBef>
                <a:spcPct val="0"/>
              </a:spcBef>
              <a:spcAft>
                <a:spcPct val="0"/>
              </a:spcAft>
              <a:buClrTx/>
              <a:buSzTx/>
              <a:buNone/>
            </a:pPr>
            <a:r>
              <a:rPr lang="en-US" altLang="zh-CN" sz="1600" i="1" dirty="0">
                <a:latin typeface="楷体_GB2312"/>
                <a:ea typeface="楷体_GB2312"/>
              </a:rPr>
              <a:t>              </a:t>
            </a:r>
            <a:r>
              <a:rPr lang="zh-CN" altLang="en-US" sz="1600" i="1" dirty="0">
                <a:latin typeface="楷体_GB2312"/>
                <a:ea typeface="楷体_GB2312"/>
              </a:rPr>
              <a:t>；仅循环等待中断</a:t>
            </a:r>
            <a:endParaRPr lang="zh-CN" altLang="en-US" sz="1600" i="1" dirty="0">
              <a:latin typeface="楷体_GB2312"/>
              <a:ea typeface="楷体_GB2312"/>
            </a:endParaRPr>
          </a:p>
          <a:p>
            <a:pPr marL="457200" lvl="1" indent="0">
              <a:lnSpc>
                <a:spcPct val="100000"/>
              </a:lnSpc>
              <a:spcBef>
                <a:spcPct val="0"/>
              </a:spcBef>
              <a:spcAft>
                <a:spcPct val="0"/>
              </a:spcAft>
              <a:buClrTx/>
              <a:buSzTx/>
              <a:buNone/>
            </a:pPr>
            <a:r>
              <a:rPr lang="zh-CN" altLang="en-US" sz="1600" i="1" dirty="0">
                <a:latin typeface="楷体_GB2312"/>
                <a:ea typeface="楷体_GB2312"/>
              </a:rPr>
              <a:t>        </a:t>
            </a:r>
            <a:r>
              <a:rPr lang="en-US" altLang="zh-CN" sz="1600" i="1" dirty="0">
                <a:latin typeface="楷体_GB2312"/>
                <a:ea typeface="楷体_GB2312"/>
              </a:rPr>
              <a:t>jb start1;</a:t>
            </a:r>
            <a:r>
              <a:rPr lang="zh-CN" altLang="en-US" sz="1600" i="1" dirty="0">
                <a:latin typeface="楷体_GB2312"/>
                <a:ea typeface="楷体_GB2312"/>
              </a:rPr>
              <a:t>中断</a:t>
            </a:r>
            <a:r>
              <a:rPr lang="en-US" altLang="zh-CN" sz="1600" i="1" dirty="0">
                <a:latin typeface="楷体_GB2312"/>
                <a:ea typeface="楷体_GB2312"/>
              </a:rPr>
              <a:t>20</a:t>
            </a:r>
            <a:r>
              <a:rPr lang="zh-CN" altLang="en-US" sz="1600" i="1" dirty="0">
                <a:latin typeface="楷体_GB2312"/>
                <a:ea typeface="楷体_GB2312"/>
              </a:rPr>
              <a:t>次退出</a:t>
            </a:r>
            <a:endParaRPr lang="zh-CN" altLang="en-US" sz="1600" i="1" dirty="0">
              <a:latin typeface="楷体_GB2312"/>
              <a:ea typeface="楷体_GB2312"/>
            </a:endParaRPr>
          </a:p>
          <a:p>
            <a:pPr marL="457200" lvl="1" indent="0">
              <a:lnSpc>
                <a:spcPct val="100000"/>
              </a:lnSpc>
              <a:spcBef>
                <a:spcPct val="0"/>
              </a:spcBef>
              <a:spcAft>
                <a:spcPct val="0"/>
              </a:spcAft>
              <a:buClrTx/>
              <a:buSzTx/>
              <a:buNone/>
            </a:pPr>
            <a:r>
              <a:rPr lang="zh-CN" altLang="en-US" sz="1600" i="1" dirty="0">
                <a:latin typeface="楷体_GB2312"/>
                <a:ea typeface="楷体_GB2312"/>
              </a:rPr>
              <a:t>        </a:t>
            </a:r>
            <a:r>
              <a:rPr lang="en-US" altLang="zh-CN" sz="1600" i="1" dirty="0">
                <a:solidFill>
                  <a:schemeClr val="hlink"/>
                </a:solidFill>
                <a:latin typeface="楷体_GB2312"/>
                <a:ea typeface="楷体_GB2312"/>
              </a:rPr>
              <a:t>cli</a:t>
            </a:r>
            <a:endParaRPr lang="en-US" altLang="zh-CN" sz="1600" i="1" dirty="0">
              <a:solidFill>
                <a:schemeClr val="hlink"/>
              </a:solidFill>
              <a:latin typeface="楷体_GB2312"/>
              <a:ea typeface="楷体_GB2312"/>
            </a:endParaRPr>
          </a:p>
          <a:p>
            <a:pPr marL="457200" lvl="1" indent="0">
              <a:lnSpc>
                <a:spcPct val="100000"/>
              </a:lnSpc>
              <a:spcBef>
                <a:spcPct val="0"/>
              </a:spcBef>
              <a:spcAft>
                <a:spcPct val="0"/>
              </a:spcAft>
              <a:buClrTx/>
              <a:buSzTx/>
              <a:buNone/>
            </a:pPr>
            <a:r>
              <a:rPr lang="en-US" altLang="zh-CN" sz="1600" i="1" dirty="0">
                <a:latin typeface="楷体_GB2312"/>
                <a:ea typeface="楷体_GB2312"/>
              </a:rPr>
              <a:t>        pop ax</a:t>
            </a:r>
            <a:endParaRPr lang="en-US" altLang="zh-CN" sz="1600" i="1" dirty="0">
              <a:latin typeface="楷体_GB2312"/>
              <a:ea typeface="楷体_GB2312"/>
            </a:endParaRPr>
          </a:p>
          <a:p>
            <a:pPr marL="457200" lvl="1" indent="0">
              <a:lnSpc>
                <a:spcPct val="100000"/>
              </a:lnSpc>
              <a:spcBef>
                <a:spcPct val="0"/>
              </a:spcBef>
              <a:spcAft>
                <a:spcPct val="0"/>
              </a:spcAft>
              <a:buClrTx/>
              <a:buSzTx/>
              <a:buNone/>
            </a:pPr>
            <a:r>
              <a:rPr lang="en-US" altLang="zh-CN" sz="1600" i="1" dirty="0">
                <a:latin typeface="楷体_GB2312"/>
                <a:ea typeface="楷体_GB2312"/>
              </a:rPr>
              <a:t>        out 21h,al</a:t>
            </a:r>
            <a:endParaRPr lang="en-US" altLang="zh-CN" sz="1600" i="1" dirty="0">
              <a:latin typeface="楷体_GB2312"/>
              <a:ea typeface="楷体_GB2312"/>
            </a:endParaRPr>
          </a:p>
          <a:p>
            <a:pPr marL="457200" lvl="1" indent="0">
              <a:lnSpc>
                <a:spcPct val="100000"/>
              </a:lnSpc>
              <a:spcBef>
                <a:spcPct val="0"/>
              </a:spcBef>
              <a:spcAft>
                <a:spcPct val="0"/>
              </a:spcAft>
              <a:buClrTx/>
              <a:buSzTx/>
              <a:buNone/>
            </a:pPr>
            <a:r>
              <a:rPr lang="en-US" altLang="zh-CN" sz="1600" i="1" dirty="0">
                <a:latin typeface="楷体_GB2312"/>
                <a:ea typeface="楷体_GB2312"/>
              </a:rPr>
              <a:t>        pop dx</a:t>
            </a:r>
            <a:r>
              <a:rPr lang="zh-CN" altLang="en-US" sz="1600" i="1" dirty="0">
                <a:latin typeface="楷体_GB2312"/>
                <a:ea typeface="楷体_GB2312"/>
              </a:rPr>
              <a:t>；恢复原中断向量</a:t>
            </a:r>
            <a:endParaRPr lang="zh-CN" altLang="en-US" sz="1600" i="1" dirty="0">
              <a:latin typeface="楷体_GB2312"/>
              <a:ea typeface="楷体_GB2312"/>
            </a:endParaRPr>
          </a:p>
          <a:p>
            <a:pPr marL="457200" lvl="1" indent="0">
              <a:lnSpc>
                <a:spcPct val="100000"/>
              </a:lnSpc>
              <a:spcBef>
                <a:spcPct val="0"/>
              </a:spcBef>
              <a:spcAft>
                <a:spcPct val="0"/>
              </a:spcAft>
              <a:buClrTx/>
              <a:buSzTx/>
              <a:buNone/>
            </a:pPr>
            <a:r>
              <a:rPr lang="zh-CN" altLang="en-US" sz="1600" i="1" dirty="0">
                <a:latin typeface="楷体_GB2312"/>
                <a:ea typeface="楷体_GB2312"/>
              </a:rPr>
              <a:t>        </a:t>
            </a:r>
            <a:r>
              <a:rPr lang="en-US" altLang="zh-CN" sz="1600" i="1" dirty="0">
                <a:latin typeface="楷体_GB2312"/>
                <a:ea typeface="楷体_GB2312"/>
              </a:rPr>
              <a:t>pop ds</a:t>
            </a:r>
            <a:endParaRPr lang="en-US" altLang="zh-CN" sz="1600" i="1" dirty="0">
              <a:latin typeface="楷体_GB2312"/>
              <a:ea typeface="楷体_GB2312"/>
            </a:endParaRPr>
          </a:p>
          <a:p>
            <a:pPr marL="457200" lvl="1" indent="0">
              <a:lnSpc>
                <a:spcPct val="100000"/>
              </a:lnSpc>
              <a:spcBef>
                <a:spcPct val="0"/>
              </a:spcBef>
              <a:spcAft>
                <a:spcPct val="0"/>
              </a:spcAft>
              <a:buClrTx/>
              <a:buSzTx/>
              <a:buNone/>
            </a:pPr>
            <a:r>
              <a:rPr lang="en-US" altLang="zh-CN" sz="1600" i="1" dirty="0">
                <a:latin typeface="楷体_GB2312"/>
                <a:ea typeface="楷体_GB2312"/>
              </a:rPr>
              <a:t>        mov ax,2508h</a:t>
            </a:r>
            <a:endParaRPr lang="en-US" altLang="zh-CN" sz="1600" i="1" dirty="0">
              <a:latin typeface="楷体_GB2312"/>
              <a:ea typeface="楷体_GB2312"/>
            </a:endParaRPr>
          </a:p>
          <a:p>
            <a:pPr marL="457200" lvl="1" indent="0">
              <a:lnSpc>
                <a:spcPct val="100000"/>
              </a:lnSpc>
              <a:spcBef>
                <a:spcPct val="0"/>
              </a:spcBef>
              <a:spcAft>
                <a:spcPct val="0"/>
              </a:spcAft>
              <a:buClrTx/>
              <a:buSzTx/>
              <a:buNone/>
            </a:pPr>
            <a:r>
              <a:rPr lang="en-US" altLang="zh-CN" sz="1600" i="1" dirty="0">
                <a:latin typeface="楷体_GB2312"/>
                <a:ea typeface="楷体_GB2312"/>
              </a:rPr>
              <a:t>        int 21h</a:t>
            </a:r>
            <a:endParaRPr lang="en-US" altLang="zh-CN" sz="1600" i="1" dirty="0">
              <a:latin typeface="楷体_GB2312"/>
              <a:ea typeface="楷体_GB2312"/>
            </a:endParaRPr>
          </a:p>
          <a:p>
            <a:pPr marL="457200" lvl="1" indent="0">
              <a:lnSpc>
                <a:spcPct val="100000"/>
              </a:lnSpc>
              <a:spcBef>
                <a:spcPct val="0"/>
              </a:spcBef>
              <a:spcAft>
                <a:spcPct val="0"/>
              </a:spcAft>
              <a:buClrTx/>
              <a:buSzTx/>
              <a:buNone/>
            </a:pPr>
            <a:r>
              <a:rPr lang="en-US" altLang="zh-CN" sz="1600" i="1" dirty="0">
                <a:latin typeface="楷体_GB2312"/>
                <a:ea typeface="楷体_GB2312"/>
              </a:rPr>
              <a:t>        mov ax,4c00h</a:t>
            </a:r>
            <a:r>
              <a:rPr lang="zh-CN" altLang="en-US" sz="1600" i="1" dirty="0">
                <a:latin typeface="楷体_GB2312"/>
                <a:ea typeface="楷体_GB2312"/>
              </a:rPr>
              <a:t>；返回</a:t>
            </a:r>
            <a:r>
              <a:rPr lang="en-US" altLang="zh-CN" sz="1600" i="1" dirty="0">
                <a:latin typeface="楷体_GB2312"/>
                <a:ea typeface="楷体_GB2312"/>
              </a:rPr>
              <a:t>DOs</a:t>
            </a:r>
            <a:endParaRPr lang="en-US" altLang="zh-CN" sz="1600" i="1" dirty="0">
              <a:latin typeface="楷体_GB2312"/>
              <a:ea typeface="楷体_GB2312"/>
            </a:endParaRPr>
          </a:p>
          <a:p>
            <a:pPr marL="457200" lvl="1" indent="0">
              <a:lnSpc>
                <a:spcPct val="100000"/>
              </a:lnSpc>
              <a:spcBef>
                <a:spcPct val="0"/>
              </a:spcBef>
              <a:spcAft>
                <a:spcPct val="0"/>
              </a:spcAft>
              <a:buClrTx/>
              <a:buSzTx/>
              <a:buNone/>
            </a:pPr>
            <a:r>
              <a:rPr lang="en-US" altLang="zh-CN" sz="1600" i="1" dirty="0">
                <a:latin typeface="楷体_GB2312"/>
                <a:ea typeface="楷体_GB2312"/>
              </a:rPr>
              <a:t>        int 21h</a:t>
            </a:r>
            <a:r>
              <a:rPr lang="zh-CN" altLang="en-US" sz="1600" i="1" dirty="0">
                <a:latin typeface="楷体_GB2312"/>
                <a:ea typeface="楷体_GB2312"/>
              </a:rPr>
              <a:t>；主程序结束</a:t>
            </a:r>
            <a:endParaRPr lang="zh-CN" altLang="en-US" sz="1600" i="1" dirty="0">
              <a:latin typeface="楷体_GB2312"/>
              <a:ea typeface="楷体_GB2312"/>
            </a:endParaRPr>
          </a:p>
          <a:p>
            <a:pPr marL="457200" lvl="1" indent="0">
              <a:lnSpc>
                <a:spcPct val="100000"/>
              </a:lnSpc>
              <a:spcBef>
                <a:spcPct val="0"/>
              </a:spcBef>
              <a:spcAft>
                <a:spcPct val="0"/>
              </a:spcAft>
              <a:buClrTx/>
              <a:buSzTx/>
              <a:buNone/>
            </a:pPr>
            <a:r>
              <a:rPr lang="en-US" altLang="zh-CN" sz="1600" i="1" dirty="0">
                <a:latin typeface="楷体_GB2312"/>
                <a:ea typeface="楷体_GB2312"/>
              </a:rPr>
              <a:t> main   endp</a:t>
            </a:r>
            <a:endParaRPr lang="en-US" altLang="zh-CN" sz="1600" i="1" dirty="0">
              <a:latin typeface="楷体_GB2312"/>
              <a:ea typeface="楷体_GB2312"/>
            </a:endParaRPr>
          </a:p>
        </p:txBody>
      </p:sp>
      <p:cxnSp>
        <p:nvCxnSpPr>
          <p:cNvPr id="273412" name="直接连接符 2"/>
          <p:cNvCxnSpPr/>
          <p:nvPr/>
        </p:nvCxnSpPr>
        <p:spPr>
          <a:xfrm>
            <a:off x="5651500" y="200025"/>
            <a:ext cx="0" cy="6469063"/>
          </a:xfrm>
          <a:prstGeom prst="line">
            <a:avLst/>
          </a:prstGeom>
          <a:ln w="38100" cap="flat" cmpd="sng">
            <a:solidFill>
              <a:schemeClr val="tx1"/>
            </a:solidFill>
            <a:prstDash val="solid"/>
            <a:bevel/>
            <a:headEnd type="none" w="med" len="med"/>
            <a:tailEnd type="none" w="med" len="med"/>
          </a:ln>
        </p:spPr>
      </p:cxnSp>
    </p:spTree>
  </p:cSld>
  <p:clrMapOvr>
    <a:masterClrMapping/>
  </p:clrMapOvr>
  <p:transition spd="slow">
    <p:zoom/>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4434" name="Rectangle 3"/>
          <p:cNvSpPr/>
          <p:nvPr/>
        </p:nvSpPr>
        <p:spPr>
          <a:xfrm>
            <a:off x="4386263" y="1120775"/>
            <a:ext cx="4859337" cy="563245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dpstri  proc</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push ax</a:t>
            </a:r>
            <a:r>
              <a:rPr lang="zh-CN" altLang="en-US" sz="1800" i="1" dirty="0">
                <a:latin typeface="楷体_GB2312"/>
                <a:ea typeface="楷体_GB2312"/>
              </a:rPr>
              <a:t>；</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push bx</a:t>
            </a:r>
            <a:r>
              <a:rPr lang="zh-CN" altLang="en-US" sz="1800" i="1" dirty="0">
                <a:latin typeface="楷体_GB2312"/>
                <a:ea typeface="楷体_GB2312"/>
              </a:rPr>
              <a:t>；</a:t>
            </a:r>
            <a:r>
              <a:rPr lang="en-US" altLang="zh-CN" sz="1800" i="1" dirty="0">
                <a:latin typeface="楷体_GB2312"/>
                <a:ea typeface="楷体_GB2312"/>
              </a:rPr>
              <a:t> </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dps1: lodsb</a:t>
            </a:r>
            <a:r>
              <a:rPr lang="zh-CN" altLang="en-US" sz="1800" i="1" dirty="0">
                <a:latin typeface="楷体_GB2312"/>
                <a:ea typeface="楷体_GB2312"/>
              </a:rPr>
              <a:t>；</a:t>
            </a:r>
            <a:r>
              <a:rPr lang="en-US" altLang="zh-CN" sz="1800" i="1" dirty="0">
                <a:latin typeface="楷体_GB2312"/>
                <a:ea typeface="楷体_GB2312"/>
              </a:rPr>
              <a:t>AL ← DS : [SI]</a:t>
            </a:r>
            <a:r>
              <a:rPr lang="zh-CN" altLang="en-US" sz="1800" i="1" dirty="0">
                <a:latin typeface="楷体_GB2312"/>
                <a:ea typeface="楷体_GB2312"/>
              </a:rPr>
              <a:t>，   </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a:t>
            </a:r>
            <a:r>
              <a:rPr lang="zh-CN" altLang="en-US" sz="1800" i="1" dirty="0">
                <a:latin typeface="楷体_GB2312"/>
                <a:ea typeface="楷体_GB2312"/>
              </a:rPr>
              <a:t>；</a:t>
            </a:r>
            <a:r>
              <a:rPr lang="en-US" altLang="zh-CN" sz="1800" i="1" dirty="0">
                <a:latin typeface="楷体_GB2312"/>
                <a:ea typeface="楷体_GB2312"/>
              </a:rPr>
              <a:t>SI←SI±1</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cmp al,0</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jz dps2</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mov bx,0</a:t>
            </a:r>
            <a:r>
              <a:rPr lang="zh-CN" altLang="en-US" sz="1800" i="1" dirty="0">
                <a:latin typeface="楷体_GB2312"/>
                <a:ea typeface="楷体_GB2312"/>
              </a:rPr>
              <a:t>；字符颜色</a:t>
            </a:r>
            <a:endParaRPr lang="zh-CN" altLang="en-US"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zh-CN" altLang="en-US" sz="1800" i="1" dirty="0">
                <a:latin typeface="楷体_GB2312"/>
                <a:ea typeface="楷体_GB2312"/>
              </a:rPr>
              <a:t>           </a:t>
            </a:r>
            <a:r>
              <a:rPr lang="en-US" altLang="zh-CN" sz="1800" i="1" dirty="0">
                <a:latin typeface="楷体_GB2312"/>
                <a:ea typeface="楷体_GB2312"/>
              </a:rPr>
              <a:t>mov ah,0eh</a:t>
            </a:r>
            <a:r>
              <a:rPr lang="zh-CN" altLang="en-US" sz="1800" i="1" dirty="0">
                <a:latin typeface="楷体_GB2312"/>
                <a:ea typeface="楷体_GB2312"/>
              </a:rPr>
              <a:t>；调用</a:t>
            </a:r>
            <a:r>
              <a:rPr lang="en-US" altLang="zh-CN" sz="1800" i="1" dirty="0">
                <a:latin typeface="楷体_GB2312"/>
                <a:ea typeface="楷体_GB2312"/>
              </a:rPr>
              <a:t>int 10</a:t>
            </a:r>
            <a:r>
              <a:rPr lang="zh-CN" altLang="en-US" sz="1800" i="1" dirty="0">
                <a:latin typeface="楷体_GB2312"/>
                <a:ea typeface="楷体_GB2312"/>
              </a:rPr>
              <a:t>显</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a:t>
            </a:r>
            <a:r>
              <a:rPr lang="zh-CN" altLang="en-US" sz="1800" i="1" dirty="0">
                <a:latin typeface="楷体_GB2312"/>
                <a:ea typeface="楷体_GB2312"/>
              </a:rPr>
              <a:t>；示</a:t>
            </a:r>
            <a:r>
              <a:rPr lang="en-US" altLang="zh-CN" sz="1800" i="1" dirty="0">
                <a:latin typeface="楷体_GB2312"/>
                <a:ea typeface="楷体_GB2312"/>
              </a:rPr>
              <a:t>al</a:t>
            </a:r>
            <a:r>
              <a:rPr lang="zh-CN" altLang="en-US" sz="1800" i="1" dirty="0">
                <a:latin typeface="楷体_GB2312"/>
                <a:ea typeface="楷体_GB2312"/>
              </a:rPr>
              <a:t>的字符</a:t>
            </a:r>
            <a:endParaRPr lang="zh-CN" altLang="en-US"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zh-CN" altLang="en-US" sz="1800" i="1" dirty="0">
                <a:latin typeface="楷体_GB2312"/>
                <a:ea typeface="楷体_GB2312"/>
              </a:rPr>
              <a:t>           </a:t>
            </a:r>
            <a:r>
              <a:rPr lang="en-US" altLang="zh-CN" sz="1800" i="1" dirty="0">
                <a:latin typeface="楷体_GB2312"/>
                <a:ea typeface="楷体_GB2312"/>
              </a:rPr>
              <a:t>int 10h</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jmp dps1</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dps2: pop bx</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pop ax</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ret</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dpstri  endp</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code  ends</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r>
              <a:rPr lang="en-US" altLang="zh-CN" sz="1800" i="1" dirty="0">
                <a:latin typeface="楷体_GB2312"/>
                <a:ea typeface="楷体_GB2312"/>
              </a:rPr>
              <a:t>       end main</a:t>
            </a:r>
            <a:endParaRPr lang="en-US" altLang="zh-CN" sz="1800" i="1" dirty="0">
              <a:latin typeface="楷体_GB2312"/>
              <a:ea typeface="楷体_GB2312"/>
            </a:endParaRPr>
          </a:p>
          <a:p>
            <a:pPr marL="457200" lvl="1" indent="0">
              <a:lnSpc>
                <a:spcPct val="100000"/>
              </a:lnSpc>
              <a:spcBef>
                <a:spcPct val="0"/>
              </a:spcBef>
              <a:spcAft>
                <a:spcPct val="0"/>
              </a:spcAft>
              <a:buClrTx/>
              <a:buSzTx/>
              <a:buFont typeface="Arial" panose="020B0604020202020204" pitchFamily="34" charset="0"/>
              <a:buNone/>
            </a:pPr>
            <a:endParaRPr lang="en-US" altLang="zh-CN" sz="1800" i="1" dirty="0">
              <a:solidFill>
                <a:srgbClr val="FF0000"/>
              </a:solidFill>
              <a:ea typeface="楷体_GB2312"/>
            </a:endParaRPr>
          </a:p>
        </p:txBody>
      </p:sp>
      <p:sp>
        <p:nvSpPr>
          <p:cNvPr id="274435" name="Rectangle 4"/>
          <p:cNvSpPr>
            <a:spLocks noGrp="1" noChangeAspect="1"/>
          </p:cNvSpPr>
          <p:nvPr>
            <p:ph type="body" idx="4294967295"/>
          </p:nvPr>
        </p:nvSpPr>
        <p:spPr>
          <a:xfrm>
            <a:off x="107950" y="1196975"/>
            <a:ext cx="4751388" cy="5397500"/>
          </a:xfrm>
        </p:spPr>
        <p:txBody>
          <a:bodyPr vert="horz" wrap="square" lIns="91440" tIns="45720" rIns="91440" bIns="45720" anchor="t" anchorCtr="0"/>
          <a:p>
            <a:pPr lvl="1">
              <a:lnSpc>
                <a:spcPct val="80000"/>
              </a:lnSpc>
              <a:buNone/>
            </a:pPr>
            <a:r>
              <a:rPr lang="en-US" altLang="zh-CN" sz="1800" dirty="0">
                <a:latin typeface="楷体_GB2312"/>
              </a:rPr>
              <a:t>int08h  proc</a:t>
            </a:r>
            <a:r>
              <a:rPr lang="zh-CN" altLang="en-US" sz="1800" dirty="0">
                <a:latin typeface="楷体_GB2312"/>
              </a:rPr>
              <a:t>；中断服务程序</a:t>
            </a:r>
            <a:endParaRPr lang="zh-CN" altLang="en-US" sz="1800" dirty="0">
              <a:latin typeface="楷体_GB2312"/>
            </a:endParaRPr>
          </a:p>
          <a:p>
            <a:pPr lvl="1">
              <a:lnSpc>
                <a:spcPct val="80000"/>
              </a:lnSpc>
              <a:buNone/>
            </a:pPr>
            <a:r>
              <a:rPr lang="zh-CN" altLang="en-US" sz="1800" dirty="0">
                <a:latin typeface="楷体_GB2312"/>
              </a:rPr>
              <a:t>        </a:t>
            </a:r>
            <a:r>
              <a:rPr lang="en-US" altLang="zh-CN" sz="1800" dirty="0">
                <a:solidFill>
                  <a:srgbClr val="FF0000"/>
                </a:solidFill>
                <a:latin typeface="楷体_GB2312"/>
              </a:rPr>
              <a:t>sti</a:t>
            </a:r>
            <a:r>
              <a:rPr lang="zh-CN" altLang="en-US" sz="1800" dirty="0">
                <a:solidFill>
                  <a:srgbClr val="FF0000"/>
                </a:solidFill>
                <a:latin typeface="楷体_GB2312"/>
              </a:rPr>
              <a:t>；开中断</a:t>
            </a:r>
            <a:endParaRPr lang="zh-CN" altLang="en-US" sz="1800" dirty="0">
              <a:latin typeface="楷体_GB2312"/>
            </a:endParaRPr>
          </a:p>
          <a:p>
            <a:pPr lvl="1">
              <a:lnSpc>
                <a:spcPct val="80000"/>
              </a:lnSpc>
              <a:buNone/>
            </a:pPr>
            <a:r>
              <a:rPr lang="zh-CN" altLang="en-US" sz="1800" dirty="0">
                <a:latin typeface="楷体_GB2312"/>
              </a:rPr>
              <a:t>        </a:t>
            </a:r>
            <a:r>
              <a:rPr lang="en-US" altLang="zh-CN" sz="1800" dirty="0">
                <a:latin typeface="楷体_GB2312"/>
              </a:rPr>
              <a:t>push ax</a:t>
            </a:r>
            <a:endParaRPr lang="en-US" altLang="zh-CN" sz="1800" dirty="0">
              <a:latin typeface="楷体_GB2312"/>
            </a:endParaRPr>
          </a:p>
          <a:p>
            <a:pPr lvl="1">
              <a:lnSpc>
                <a:spcPct val="80000"/>
              </a:lnSpc>
              <a:buNone/>
            </a:pPr>
            <a:r>
              <a:rPr lang="en-US" altLang="zh-CN" sz="1800" dirty="0">
                <a:latin typeface="楷体_GB2312"/>
              </a:rPr>
              <a:t>        push bx</a:t>
            </a:r>
            <a:endParaRPr lang="en-US" altLang="zh-CN" sz="1800" dirty="0">
              <a:latin typeface="楷体_GB2312"/>
            </a:endParaRPr>
          </a:p>
          <a:p>
            <a:pPr lvl="1">
              <a:lnSpc>
                <a:spcPct val="80000"/>
              </a:lnSpc>
              <a:buNone/>
            </a:pPr>
            <a:r>
              <a:rPr lang="en-US" altLang="zh-CN" sz="1800" dirty="0">
                <a:latin typeface="楷体_GB2312"/>
              </a:rPr>
              <a:t>        push ds</a:t>
            </a:r>
            <a:endParaRPr lang="en-US" altLang="zh-CN" sz="1800" dirty="0">
              <a:latin typeface="楷体_GB2312"/>
            </a:endParaRPr>
          </a:p>
          <a:p>
            <a:pPr lvl="1">
              <a:lnSpc>
                <a:spcPct val="80000"/>
              </a:lnSpc>
              <a:buNone/>
            </a:pPr>
            <a:r>
              <a:rPr lang="en-US" altLang="zh-CN" sz="1800" dirty="0">
                <a:latin typeface="楷体_GB2312"/>
              </a:rPr>
              <a:t>        mov ax,data</a:t>
            </a:r>
            <a:r>
              <a:rPr lang="zh-CN" altLang="en-US" sz="1800" dirty="0">
                <a:latin typeface="楷体_GB2312"/>
              </a:rPr>
              <a:t>；取数据段的段地</a:t>
            </a:r>
            <a:endParaRPr lang="en-US" altLang="zh-CN" sz="1800" dirty="0">
              <a:latin typeface="楷体_GB2312"/>
            </a:endParaRPr>
          </a:p>
          <a:p>
            <a:pPr lvl="1">
              <a:lnSpc>
                <a:spcPct val="80000"/>
              </a:lnSpc>
              <a:buNone/>
            </a:pPr>
            <a:r>
              <a:rPr lang="en-US" altLang="zh-CN" sz="1800" dirty="0">
                <a:latin typeface="楷体_GB2312"/>
              </a:rPr>
              <a:t>                   </a:t>
            </a:r>
            <a:r>
              <a:rPr lang="zh-CN" altLang="en-US" sz="1800" dirty="0">
                <a:latin typeface="楷体_GB2312"/>
              </a:rPr>
              <a:t>；址</a:t>
            </a:r>
            <a:endParaRPr lang="zh-CN" altLang="en-US" sz="1800" dirty="0">
              <a:latin typeface="楷体_GB2312"/>
            </a:endParaRPr>
          </a:p>
          <a:p>
            <a:pPr lvl="1">
              <a:lnSpc>
                <a:spcPct val="80000"/>
              </a:lnSpc>
              <a:buNone/>
            </a:pPr>
            <a:r>
              <a:rPr lang="zh-CN" altLang="en-US" sz="1800" dirty="0">
                <a:latin typeface="楷体_GB2312"/>
              </a:rPr>
              <a:t>        </a:t>
            </a:r>
            <a:r>
              <a:rPr lang="en-US" altLang="zh-CN" sz="1800" dirty="0">
                <a:latin typeface="楷体_GB2312"/>
              </a:rPr>
              <a:t>mov ds,ax</a:t>
            </a:r>
            <a:endParaRPr lang="en-US" altLang="zh-CN" sz="1800" dirty="0">
              <a:latin typeface="楷体_GB2312"/>
            </a:endParaRPr>
          </a:p>
          <a:p>
            <a:pPr lvl="1">
              <a:lnSpc>
                <a:spcPct val="80000"/>
              </a:lnSpc>
              <a:buNone/>
            </a:pPr>
            <a:r>
              <a:rPr lang="en-US" altLang="zh-CN" sz="1800" dirty="0">
                <a:latin typeface="楷体_GB2312"/>
              </a:rPr>
              <a:t>        inc counter</a:t>
            </a:r>
            <a:r>
              <a:rPr lang="zh-CN" altLang="en-US" sz="1800" dirty="0">
                <a:latin typeface="楷体_GB2312"/>
              </a:rPr>
              <a:t>；中断次数加</a:t>
            </a:r>
            <a:r>
              <a:rPr lang="en-US" altLang="zh-CN" sz="1800" dirty="0">
                <a:latin typeface="楷体_GB2312"/>
              </a:rPr>
              <a:t>1</a:t>
            </a:r>
            <a:endParaRPr lang="en-US" altLang="zh-CN" sz="1800" dirty="0">
              <a:latin typeface="楷体_GB2312"/>
            </a:endParaRPr>
          </a:p>
          <a:p>
            <a:pPr lvl="1">
              <a:lnSpc>
                <a:spcPct val="80000"/>
              </a:lnSpc>
              <a:buNone/>
            </a:pPr>
            <a:r>
              <a:rPr lang="en-US" altLang="zh-CN" sz="1800" dirty="0">
                <a:latin typeface="楷体_GB2312"/>
              </a:rPr>
              <a:t>        mov si,offset intmsg</a:t>
            </a:r>
            <a:r>
              <a:rPr lang="zh-CN" altLang="en-US" sz="1800" dirty="0">
                <a:latin typeface="楷体_GB2312"/>
              </a:rPr>
              <a:t>；显示  </a:t>
            </a:r>
            <a:endParaRPr lang="en-US" altLang="zh-CN" sz="1800" dirty="0">
              <a:latin typeface="楷体_GB2312"/>
            </a:endParaRPr>
          </a:p>
          <a:p>
            <a:pPr lvl="1">
              <a:lnSpc>
                <a:spcPct val="80000"/>
              </a:lnSpc>
              <a:buNone/>
            </a:pPr>
            <a:r>
              <a:rPr lang="en-US" altLang="zh-CN" sz="1800" dirty="0">
                <a:latin typeface="楷体_GB2312"/>
              </a:rPr>
              <a:t>                   </a:t>
            </a:r>
            <a:r>
              <a:rPr lang="zh-CN" altLang="en-US" sz="1800" dirty="0">
                <a:latin typeface="楷体_GB2312"/>
              </a:rPr>
              <a:t>；信息</a:t>
            </a:r>
            <a:endParaRPr lang="zh-CN" altLang="en-US" sz="1800" dirty="0">
              <a:latin typeface="楷体_GB2312"/>
            </a:endParaRPr>
          </a:p>
          <a:p>
            <a:pPr lvl="1">
              <a:lnSpc>
                <a:spcPct val="80000"/>
              </a:lnSpc>
              <a:buNone/>
            </a:pPr>
            <a:r>
              <a:rPr lang="zh-CN" altLang="en-US" sz="1800" dirty="0">
                <a:latin typeface="楷体_GB2312"/>
              </a:rPr>
              <a:t>        </a:t>
            </a:r>
            <a:r>
              <a:rPr lang="en-US" altLang="zh-CN" sz="1800" dirty="0">
                <a:latin typeface="楷体_GB2312"/>
              </a:rPr>
              <a:t>call dpstri</a:t>
            </a:r>
            <a:r>
              <a:rPr lang="zh-CN" altLang="en-US" sz="1800" dirty="0">
                <a:latin typeface="楷体_GB2312"/>
              </a:rPr>
              <a:t>；进行显示</a:t>
            </a:r>
            <a:endParaRPr lang="zh-CN" altLang="en-US" sz="1800" dirty="0">
              <a:latin typeface="楷体_GB2312"/>
            </a:endParaRPr>
          </a:p>
          <a:p>
            <a:pPr lvl="1">
              <a:lnSpc>
                <a:spcPct val="80000"/>
              </a:lnSpc>
              <a:buNone/>
            </a:pPr>
            <a:r>
              <a:rPr lang="zh-CN" altLang="en-US" sz="1800" dirty="0">
                <a:latin typeface="楷体_GB2312"/>
              </a:rPr>
              <a:t>        </a:t>
            </a:r>
            <a:r>
              <a:rPr lang="en-US" altLang="zh-CN" sz="1800" dirty="0">
                <a:latin typeface="楷体_GB2312"/>
              </a:rPr>
              <a:t>mov al,20h </a:t>
            </a:r>
            <a:r>
              <a:rPr lang="zh-CN" altLang="en-US" sz="1800" dirty="0">
                <a:latin typeface="楷体_GB2312"/>
              </a:rPr>
              <a:t>；发送</a:t>
            </a:r>
            <a:r>
              <a:rPr lang="en-US" altLang="zh-CN" sz="1800" dirty="0">
                <a:latin typeface="楷体_GB2312"/>
              </a:rPr>
              <a:t>EOI</a:t>
            </a:r>
            <a:r>
              <a:rPr lang="zh-CN" altLang="en-US" sz="1800" dirty="0">
                <a:latin typeface="楷体_GB2312"/>
              </a:rPr>
              <a:t>命令</a:t>
            </a:r>
            <a:endParaRPr lang="zh-CN" altLang="en-US" sz="1800" dirty="0">
              <a:latin typeface="楷体_GB2312"/>
            </a:endParaRPr>
          </a:p>
          <a:p>
            <a:pPr lvl="1">
              <a:lnSpc>
                <a:spcPct val="80000"/>
              </a:lnSpc>
              <a:buNone/>
            </a:pPr>
            <a:r>
              <a:rPr lang="zh-CN" altLang="en-US" sz="1800" dirty="0">
                <a:latin typeface="楷体_GB2312"/>
              </a:rPr>
              <a:t>        </a:t>
            </a:r>
            <a:r>
              <a:rPr lang="en-US" altLang="zh-CN" sz="1800" dirty="0">
                <a:latin typeface="楷体_GB2312"/>
              </a:rPr>
              <a:t>out 20h,al</a:t>
            </a:r>
            <a:endParaRPr lang="en-US" altLang="zh-CN" sz="1800" dirty="0">
              <a:latin typeface="楷体_GB2312"/>
            </a:endParaRPr>
          </a:p>
          <a:p>
            <a:pPr lvl="1">
              <a:lnSpc>
                <a:spcPct val="80000"/>
              </a:lnSpc>
              <a:buNone/>
            </a:pPr>
            <a:r>
              <a:rPr lang="en-US" altLang="zh-CN" sz="1800" dirty="0">
                <a:latin typeface="楷体_GB2312"/>
              </a:rPr>
              <a:t>        pop ds     </a:t>
            </a:r>
            <a:r>
              <a:rPr lang="zh-CN" altLang="en-US" sz="1800" dirty="0">
                <a:latin typeface="楷体_GB2312"/>
              </a:rPr>
              <a:t>；恢复寄存器</a:t>
            </a:r>
            <a:endParaRPr lang="zh-CN" altLang="en-US" sz="1800" dirty="0">
              <a:latin typeface="楷体_GB2312"/>
            </a:endParaRPr>
          </a:p>
          <a:p>
            <a:pPr lvl="1">
              <a:lnSpc>
                <a:spcPct val="80000"/>
              </a:lnSpc>
              <a:buNone/>
            </a:pPr>
            <a:r>
              <a:rPr lang="zh-CN" altLang="en-US" sz="1800" dirty="0">
                <a:latin typeface="楷体_GB2312"/>
              </a:rPr>
              <a:t>        </a:t>
            </a:r>
            <a:r>
              <a:rPr lang="en-US" altLang="zh-CN" sz="1800" dirty="0">
                <a:latin typeface="楷体_GB2312"/>
              </a:rPr>
              <a:t>pop bx</a:t>
            </a:r>
            <a:endParaRPr lang="en-US" altLang="zh-CN" sz="1800" dirty="0">
              <a:latin typeface="楷体_GB2312"/>
            </a:endParaRPr>
          </a:p>
          <a:p>
            <a:pPr lvl="1">
              <a:lnSpc>
                <a:spcPct val="80000"/>
              </a:lnSpc>
              <a:buNone/>
            </a:pPr>
            <a:r>
              <a:rPr lang="en-US" altLang="zh-CN" sz="1800" dirty="0">
                <a:latin typeface="楷体_GB2312"/>
              </a:rPr>
              <a:t>        pop ax</a:t>
            </a:r>
            <a:endParaRPr lang="en-US" altLang="zh-CN" sz="1800" dirty="0">
              <a:latin typeface="楷体_GB2312"/>
            </a:endParaRPr>
          </a:p>
          <a:p>
            <a:pPr lvl="1">
              <a:lnSpc>
                <a:spcPct val="80000"/>
              </a:lnSpc>
              <a:buNone/>
            </a:pPr>
            <a:r>
              <a:rPr lang="en-US" altLang="zh-CN" sz="1800" dirty="0">
                <a:latin typeface="楷体_GB2312"/>
              </a:rPr>
              <a:t>        iret       </a:t>
            </a:r>
            <a:r>
              <a:rPr lang="zh-CN" altLang="en-US" sz="1800" dirty="0">
                <a:latin typeface="楷体_GB2312"/>
              </a:rPr>
              <a:t>；中断返回</a:t>
            </a:r>
            <a:endParaRPr lang="zh-CN" altLang="en-US" sz="1800" dirty="0">
              <a:latin typeface="楷体_GB2312"/>
            </a:endParaRPr>
          </a:p>
          <a:p>
            <a:pPr lvl="1">
              <a:lnSpc>
                <a:spcPct val="80000"/>
              </a:lnSpc>
              <a:buNone/>
            </a:pPr>
            <a:r>
              <a:rPr lang="en-US" altLang="zh-CN" sz="1800" dirty="0">
                <a:latin typeface="楷体_GB2312"/>
              </a:rPr>
              <a:t>int08h  endp</a:t>
            </a:r>
            <a:endParaRPr lang="en-US" altLang="zh-CN" sz="1800" dirty="0">
              <a:solidFill>
                <a:srgbClr val="FF0000"/>
              </a:solidFill>
              <a:latin typeface="楷体_GB2312"/>
            </a:endParaRPr>
          </a:p>
          <a:p>
            <a:pPr>
              <a:lnSpc>
                <a:spcPct val="80000"/>
              </a:lnSpc>
            </a:pPr>
            <a:endParaRPr lang="en-US" altLang="zh-CN" sz="1800" dirty="0"/>
          </a:p>
        </p:txBody>
      </p:sp>
      <p:cxnSp>
        <p:nvCxnSpPr>
          <p:cNvPr id="274436" name="直接连接符 2"/>
          <p:cNvCxnSpPr/>
          <p:nvPr/>
        </p:nvCxnSpPr>
        <p:spPr>
          <a:xfrm flipH="1">
            <a:off x="4787900" y="1196975"/>
            <a:ext cx="0" cy="5397500"/>
          </a:xfrm>
          <a:prstGeom prst="line">
            <a:avLst/>
          </a:prstGeom>
          <a:ln w="38100" cap="flat" cmpd="sng">
            <a:solidFill>
              <a:schemeClr val="tx1"/>
            </a:solidFill>
            <a:prstDash val="solid"/>
            <a:bevel/>
            <a:headEnd type="none" w="med" len="med"/>
            <a:tailEnd type="none" w="med" len="med"/>
          </a:ln>
        </p:spPr>
      </p:cxnSp>
    </p:spTree>
  </p:cSld>
  <p:clrMapOvr>
    <a:masterClrMapping/>
  </p:clrMapOvr>
  <p:transition spd="slow">
    <p:zoom/>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5458" name="Rectangle 8"/>
          <p:cNvSpPr>
            <a:spLocks noGrp="1" noChangeAspect="1"/>
          </p:cNvSpPr>
          <p:nvPr>
            <p:ph type="title" idx="4294967295"/>
          </p:nvPr>
        </p:nvSpPr>
        <p:spPr/>
        <p:txBody>
          <a:bodyPr vert="horz" wrap="square" lIns="91440" tIns="45720" rIns="91440" bIns="45720" anchor="b" anchorCtr="0"/>
          <a:p>
            <a:endParaRPr lang="zh-CN" altLang="zh-CN" dirty="0"/>
          </a:p>
        </p:txBody>
      </p:sp>
      <p:pic>
        <p:nvPicPr>
          <p:cNvPr id="275459" name="Picture 5" descr="截图03"/>
          <p:cNvPicPr>
            <a:picLocks noGrp="1" noChangeAspect="1"/>
          </p:cNvPicPr>
          <p:nvPr>
            <p:ph sz="half" idx="4294967295"/>
          </p:nvPr>
        </p:nvPicPr>
        <p:blipFill>
          <a:blip r:embed="rId1"/>
          <a:srcRect/>
          <a:stretch>
            <a:fillRect/>
          </a:stretch>
        </p:blipFill>
        <p:spPr>
          <a:xfrm>
            <a:off x="0" y="1125538"/>
            <a:ext cx="9144000" cy="5732462"/>
          </a:xfrm>
        </p:spPr>
      </p:pic>
      <p:pic>
        <p:nvPicPr>
          <p:cNvPr id="275460" name="Picture 7" descr="截图04"/>
          <p:cNvPicPr>
            <a:picLocks noGrp="1" noChangeAspect="1"/>
          </p:cNvPicPr>
          <p:nvPr>
            <p:ph sz="half" idx="4294967295"/>
          </p:nvPr>
        </p:nvPicPr>
        <p:blipFill>
          <a:blip r:embed="rId2"/>
          <a:srcRect/>
          <a:stretch>
            <a:fillRect/>
          </a:stretch>
        </p:blipFill>
        <p:spPr>
          <a:xfrm>
            <a:off x="0" y="0"/>
            <a:ext cx="9144000" cy="1065213"/>
          </a:xfrm>
        </p:spPr>
      </p:pic>
    </p:spTree>
  </p:cSld>
  <p:clrMapOvr>
    <a:masterClrMapping/>
  </p:clrMapOvr>
  <p:transition spd="slow">
    <p:zoom/>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8530" name="矩形 207873"/>
          <p:cNvSpPr/>
          <p:nvPr/>
        </p:nvSpPr>
        <p:spPr>
          <a:xfrm>
            <a:off x="611188" y="404813"/>
            <a:ext cx="7772400" cy="11430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742950" lvl="1" indent="-285750" algn="just"/>
            <a:r>
              <a:rPr lang="zh-CN" altLang="en-US" i="1" dirty="0">
                <a:ea typeface="楷体_GB2312"/>
              </a:rPr>
              <a:t>了解</a:t>
            </a:r>
            <a:r>
              <a:rPr lang="en-US" altLang="zh-CN" i="1" dirty="0">
                <a:ea typeface="楷体_GB2312"/>
              </a:rPr>
              <a:t>IBM PC/XT</a:t>
            </a:r>
            <a:r>
              <a:rPr lang="zh-CN" altLang="en-US" i="1" dirty="0">
                <a:ea typeface="楷体_GB2312"/>
              </a:rPr>
              <a:t>系统可屏蔽硬中断的响应过程</a:t>
            </a:r>
            <a:r>
              <a:rPr lang="en-US" altLang="zh-CN" i="1" dirty="0">
                <a:ea typeface="楷体_GB2312"/>
              </a:rPr>
              <a:t>,</a:t>
            </a:r>
            <a:endParaRPr lang="en-US" altLang="zh-CN" i="1" dirty="0">
              <a:ea typeface="楷体_GB2312"/>
            </a:endParaRPr>
          </a:p>
          <a:p>
            <a:pPr marL="742950" lvl="1" indent="-285750" algn="just"/>
            <a:r>
              <a:rPr lang="zh-CN" altLang="en-US" i="1" dirty="0">
                <a:ea typeface="楷体_GB2312"/>
              </a:rPr>
              <a:t>根据连线确定外设中断申请对应的中断类型号。</a:t>
            </a:r>
            <a:endParaRPr lang="zh-CN" altLang="en-US" i="1" dirty="0">
              <a:solidFill>
                <a:srgbClr val="FF0000"/>
              </a:solidFill>
              <a:ea typeface="楷体_GB2312"/>
            </a:endParaRPr>
          </a:p>
        </p:txBody>
      </p:sp>
      <p:sp>
        <p:nvSpPr>
          <p:cNvPr id="207875" name="文本框 207874"/>
          <p:cNvSpPr txBox="1"/>
          <p:nvPr/>
        </p:nvSpPr>
        <p:spPr>
          <a:xfrm>
            <a:off x="323850" y="5445125"/>
            <a:ext cx="8229600" cy="822325"/>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457200" lvl="1" indent="0">
              <a:lnSpc>
                <a:spcPct val="120000"/>
              </a:lnSpc>
              <a:spcBef>
                <a:spcPct val="0"/>
              </a:spcBef>
              <a:spcAft>
                <a:spcPct val="0"/>
              </a:spcAft>
              <a:buClrTx/>
              <a:buSzTx/>
              <a:buFont typeface="Arial" panose="020B0604020202020204" pitchFamily="34" charset="0"/>
              <a:buNone/>
            </a:pPr>
            <a:r>
              <a:rPr lang="zh-CN" altLang="en-US" sz="2000" i="1" dirty="0">
                <a:solidFill>
                  <a:srgbClr val="0000FF"/>
                </a:solidFill>
                <a:latin typeface="Times New Roman" panose="02020603050405020304" pitchFamily="18" charset="0"/>
                <a:ea typeface="楷体_GB2312"/>
              </a:rPr>
              <a:t>例</a:t>
            </a:r>
            <a:r>
              <a:rPr lang="zh-CN" altLang="en-US" sz="2000" b="0" dirty="0">
                <a:solidFill>
                  <a:srgbClr val="FF0000"/>
                </a:solidFill>
                <a:latin typeface="Times New Roman" panose="02020603050405020304" pitchFamily="18" charset="0"/>
                <a:ea typeface="楷体_GB2312"/>
              </a:rPr>
              <a:t> </a:t>
            </a:r>
            <a:r>
              <a:rPr lang="zh-CN" altLang="en-US" sz="2000" b="0" dirty="0">
                <a:latin typeface="Times New Roman" panose="02020603050405020304" pitchFamily="18" charset="0"/>
                <a:ea typeface="楷体_GB2312"/>
              </a:rPr>
              <a:t>        </a:t>
            </a:r>
            <a:r>
              <a:rPr lang="zh-CN" altLang="en-US" sz="2000" dirty="0">
                <a:latin typeface="Times New Roman" panose="02020603050405020304" pitchFamily="18" charset="0"/>
                <a:ea typeface="楷体_GB2312"/>
              </a:rPr>
              <a:t>接口的中断申请连 </a:t>
            </a:r>
            <a:r>
              <a:rPr lang="en-US" altLang="zh-CN" sz="2000" dirty="0">
                <a:solidFill>
                  <a:srgbClr val="0000FF"/>
                </a:solidFill>
                <a:latin typeface="Times New Roman" panose="02020603050405020304" pitchFamily="18" charset="0"/>
                <a:ea typeface="楷体_GB2312"/>
              </a:rPr>
              <a:t>IRQ3</a:t>
            </a:r>
            <a:r>
              <a:rPr lang="en-US" altLang="zh-CN" sz="2000" dirty="0">
                <a:latin typeface="Times New Roman" panose="02020603050405020304" pitchFamily="18" charset="0"/>
                <a:ea typeface="楷体_GB2312"/>
              </a:rPr>
              <a:t>        </a:t>
            </a:r>
            <a:r>
              <a:rPr lang="zh-CN" altLang="en-US" sz="2000" dirty="0">
                <a:latin typeface="Times New Roman" panose="02020603050405020304" pitchFamily="18" charset="0"/>
                <a:ea typeface="楷体_GB2312"/>
              </a:rPr>
              <a:t>类型号</a:t>
            </a:r>
            <a:r>
              <a:rPr lang="en-US" altLang="zh-CN" sz="2000" dirty="0">
                <a:solidFill>
                  <a:srgbClr val="FF0000"/>
                </a:solidFill>
                <a:latin typeface="Times New Roman" panose="02020603050405020304" pitchFamily="18" charset="0"/>
                <a:ea typeface="楷体_GB2312"/>
              </a:rPr>
              <a:t>0BH</a:t>
            </a:r>
            <a:endParaRPr lang="en-US" altLang="zh-CN" sz="2000" dirty="0">
              <a:latin typeface="Times New Roman" panose="02020603050405020304" pitchFamily="18" charset="0"/>
              <a:ea typeface="楷体_GB2312"/>
            </a:endParaRPr>
          </a:p>
          <a:p>
            <a:pPr marL="1371600" lvl="3" indent="0">
              <a:lnSpc>
                <a:spcPct val="120000"/>
              </a:lnSpc>
              <a:spcBef>
                <a:spcPct val="0"/>
              </a:spcBef>
              <a:buClrTx/>
              <a:buSzTx/>
              <a:buFont typeface="Arial" panose="020B0604020202020204" pitchFamily="34" charset="0"/>
              <a:buNone/>
            </a:pPr>
            <a:r>
              <a:rPr lang="en-US" altLang="zh-CN" b="1" dirty="0">
                <a:latin typeface="Times New Roman" panose="02020603050405020304" pitchFamily="18" charset="0"/>
                <a:ea typeface="楷体_GB2312"/>
              </a:rPr>
              <a:t>  </a:t>
            </a:r>
            <a:r>
              <a:rPr lang="zh-CN" altLang="en-US" b="1" dirty="0">
                <a:latin typeface="Times New Roman" panose="02020603050405020304" pitchFamily="18" charset="0"/>
                <a:ea typeface="楷体_GB2312"/>
              </a:rPr>
              <a:t>接口的中断申请连 </a:t>
            </a:r>
            <a:r>
              <a:rPr lang="en-US" altLang="zh-CN" b="1" dirty="0">
                <a:solidFill>
                  <a:srgbClr val="0000FF"/>
                </a:solidFill>
                <a:latin typeface="Times New Roman" panose="02020603050405020304" pitchFamily="18" charset="0"/>
                <a:ea typeface="楷体_GB2312"/>
              </a:rPr>
              <a:t>IRQ5 </a:t>
            </a:r>
            <a:r>
              <a:rPr lang="en-US" altLang="zh-CN" b="1" dirty="0">
                <a:latin typeface="Times New Roman" panose="02020603050405020304" pitchFamily="18" charset="0"/>
                <a:ea typeface="楷体_GB2312"/>
              </a:rPr>
              <a:t>       </a:t>
            </a:r>
            <a:r>
              <a:rPr lang="zh-CN" altLang="en-US" b="1" dirty="0">
                <a:latin typeface="Times New Roman" panose="02020603050405020304" pitchFamily="18" charset="0"/>
                <a:ea typeface="楷体_GB2312"/>
              </a:rPr>
              <a:t>类型号</a:t>
            </a:r>
            <a:r>
              <a:rPr lang="en-US" altLang="zh-CN" b="1" dirty="0">
                <a:solidFill>
                  <a:srgbClr val="FF0000"/>
                </a:solidFill>
                <a:latin typeface="Times New Roman" panose="02020603050405020304" pitchFamily="18" charset="0"/>
                <a:ea typeface="楷体_GB2312"/>
              </a:rPr>
              <a:t>0DH</a:t>
            </a:r>
            <a:endParaRPr lang="en-US" altLang="zh-CN" dirty="0">
              <a:latin typeface="Times New Roman" panose="02020603050405020304" pitchFamily="18" charset="0"/>
              <a:ea typeface="楷体_GB2312"/>
            </a:endParaRPr>
          </a:p>
        </p:txBody>
      </p:sp>
      <p:sp>
        <p:nvSpPr>
          <p:cNvPr id="207876" name="直接连接符 207875"/>
          <p:cNvSpPr/>
          <p:nvPr/>
        </p:nvSpPr>
        <p:spPr>
          <a:xfrm flipH="1">
            <a:off x="8153400" y="3241675"/>
            <a:ext cx="914400" cy="0"/>
          </a:xfrm>
          <a:prstGeom prst="line">
            <a:avLst/>
          </a:prstGeom>
          <a:ln w="38100" cap="flat" cmpd="sng">
            <a:solidFill>
              <a:srgbClr val="FF00FF"/>
            </a:solidFill>
            <a:prstDash val="solid"/>
            <a:bevel/>
            <a:headEnd type="none" w="med" len="med"/>
            <a:tailEnd type="triangle" w="med" len="med"/>
          </a:ln>
        </p:spPr>
      </p:sp>
      <p:sp>
        <p:nvSpPr>
          <p:cNvPr id="207877" name="直接连接符 207876"/>
          <p:cNvSpPr/>
          <p:nvPr/>
        </p:nvSpPr>
        <p:spPr>
          <a:xfrm flipH="1">
            <a:off x="8153400" y="2708275"/>
            <a:ext cx="914400" cy="0"/>
          </a:xfrm>
          <a:prstGeom prst="line">
            <a:avLst/>
          </a:prstGeom>
          <a:ln w="38100" cap="flat" cmpd="sng">
            <a:solidFill>
              <a:srgbClr val="FF0000"/>
            </a:solidFill>
            <a:prstDash val="solid"/>
            <a:bevel/>
            <a:headEnd type="none" w="med" len="med"/>
            <a:tailEnd type="triangle" w="med" len="med"/>
          </a:ln>
        </p:spPr>
      </p:sp>
      <p:grpSp>
        <p:nvGrpSpPr>
          <p:cNvPr id="207878" name="组合 207877"/>
          <p:cNvGrpSpPr/>
          <p:nvPr/>
        </p:nvGrpSpPr>
        <p:grpSpPr>
          <a:xfrm>
            <a:off x="304800" y="1557338"/>
            <a:ext cx="8839200" cy="3706812"/>
            <a:chOff x="0" y="0"/>
            <a:chExt cx="5568" cy="2335"/>
          </a:xfrm>
        </p:grpSpPr>
        <p:sp>
          <p:nvSpPr>
            <p:cNvPr id="278535" name="文本框 207878"/>
            <p:cNvSpPr txBox="1"/>
            <p:nvPr/>
          </p:nvSpPr>
          <p:spPr>
            <a:xfrm>
              <a:off x="4975" y="451"/>
              <a:ext cx="593" cy="248"/>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p:txBody>
        </p:sp>
        <p:sp>
          <p:nvSpPr>
            <p:cNvPr id="278536" name="文本框 207879"/>
            <p:cNvSpPr txBox="1"/>
            <p:nvPr/>
          </p:nvSpPr>
          <p:spPr>
            <a:xfrm>
              <a:off x="4512" y="367"/>
              <a:ext cx="432" cy="1536"/>
            </a:xfrm>
            <a:prstGeom prst="rect">
              <a:avLst/>
            </a:prstGeom>
            <a:solidFill>
              <a:srgbClr val="FFFF99"/>
            </a:solidFill>
            <a:ln w="25400" cap="flat" cmpd="sng">
              <a:solidFill>
                <a:schemeClr val="tx1"/>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8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IRQ2</a:t>
              </a:r>
              <a:endParaRPr lang="en-US" altLang="zh-CN" sz="2000" dirty="0">
                <a:solidFill>
                  <a:schemeClr val="tx1"/>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IRQ3</a:t>
              </a:r>
              <a:endParaRPr lang="en-US" altLang="zh-CN" sz="2000" dirty="0">
                <a:solidFill>
                  <a:schemeClr val="tx1"/>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IRQ4</a:t>
              </a:r>
              <a:endParaRPr lang="en-US" altLang="zh-CN" sz="2000" dirty="0">
                <a:solidFill>
                  <a:schemeClr val="tx1"/>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IRQ5</a:t>
              </a:r>
              <a:endParaRPr lang="en-US" altLang="zh-CN" sz="2000" dirty="0">
                <a:solidFill>
                  <a:schemeClr val="tx1"/>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IRQ6</a:t>
              </a:r>
              <a:endParaRPr lang="en-US" altLang="zh-CN" sz="2000" dirty="0">
                <a:solidFill>
                  <a:schemeClr val="tx1"/>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IRQ7</a:t>
              </a:r>
              <a:endParaRPr lang="en-US" altLang="zh-CN" sz="20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p:txBody>
        </p:sp>
        <p:sp>
          <p:nvSpPr>
            <p:cNvPr id="278537" name="矩形 207880"/>
            <p:cNvSpPr/>
            <p:nvPr/>
          </p:nvSpPr>
          <p:spPr>
            <a:xfrm>
              <a:off x="1563" y="0"/>
              <a:ext cx="1450" cy="2335"/>
            </a:xfrm>
            <a:prstGeom prst="rect">
              <a:avLst/>
            </a:prstGeom>
            <a:solidFill>
              <a:srgbClr val="CCFFCC"/>
            </a:solidFill>
            <a:ln w="254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en-US" sz="1800" b="0" dirty="0">
                <a:solidFill>
                  <a:schemeClr val="tx1"/>
                </a:solidFill>
                <a:ea typeface="楷体_GB2312"/>
              </a:endParaRPr>
            </a:p>
          </p:txBody>
        </p:sp>
        <p:sp>
          <p:nvSpPr>
            <p:cNvPr id="278538" name="文本框 207881"/>
            <p:cNvSpPr txBox="1"/>
            <p:nvPr/>
          </p:nvSpPr>
          <p:spPr>
            <a:xfrm>
              <a:off x="1587" y="1460"/>
              <a:ext cx="335" cy="13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CS</a:t>
              </a:r>
              <a:endParaRPr lang="en-US" altLang="zh-CN" sz="2000" dirty="0">
                <a:solidFill>
                  <a:schemeClr val="tx1"/>
                </a:solidFill>
                <a:latin typeface="Times New Roman" panose="02020603050405020304" pitchFamily="18" charset="0"/>
                <a:ea typeface="楷体_GB2312"/>
              </a:endParaRPr>
            </a:p>
          </p:txBody>
        </p:sp>
        <p:sp>
          <p:nvSpPr>
            <p:cNvPr id="278539" name="直接连接符 207882"/>
            <p:cNvSpPr/>
            <p:nvPr/>
          </p:nvSpPr>
          <p:spPr>
            <a:xfrm>
              <a:off x="1595" y="1459"/>
              <a:ext cx="200" cy="0"/>
            </a:xfrm>
            <a:prstGeom prst="line">
              <a:avLst/>
            </a:prstGeom>
            <a:ln w="25400" cap="flat" cmpd="sng">
              <a:solidFill>
                <a:schemeClr val="tx1"/>
              </a:solidFill>
              <a:prstDash val="solid"/>
              <a:bevel/>
              <a:headEnd type="none" w="med" len="med"/>
              <a:tailEnd type="none" w="med" len="med"/>
            </a:ln>
          </p:spPr>
        </p:sp>
        <p:sp>
          <p:nvSpPr>
            <p:cNvPr id="278540" name="文本框 207883"/>
            <p:cNvSpPr txBox="1"/>
            <p:nvPr/>
          </p:nvSpPr>
          <p:spPr>
            <a:xfrm>
              <a:off x="1584" y="31"/>
              <a:ext cx="675" cy="24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8259A</a:t>
              </a:r>
              <a:endParaRPr lang="en-US" altLang="zh-CN" sz="2000" b="0" dirty="0">
                <a:solidFill>
                  <a:schemeClr val="tx1"/>
                </a:solidFill>
                <a:latin typeface="Times New Roman" panose="02020603050405020304" pitchFamily="18" charset="0"/>
                <a:ea typeface="楷体_GB2312"/>
              </a:endParaRPr>
            </a:p>
          </p:txBody>
        </p:sp>
        <p:sp>
          <p:nvSpPr>
            <p:cNvPr id="278541" name="文本框 207884"/>
            <p:cNvSpPr txBox="1"/>
            <p:nvPr/>
          </p:nvSpPr>
          <p:spPr>
            <a:xfrm>
              <a:off x="1602" y="1102"/>
              <a:ext cx="263" cy="13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A0</a:t>
              </a:r>
              <a:endParaRPr lang="en-US" altLang="zh-CN" sz="2000" dirty="0">
                <a:solidFill>
                  <a:schemeClr val="tx1"/>
                </a:solidFill>
                <a:latin typeface="Times New Roman" panose="02020603050405020304" pitchFamily="18" charset="0"/>
                <a:ea typeface="楷体_GB2312"/>
              </a:endParaRPr>
            </a:p>
          </p:txBody>
        </p:sp>
        <p:sp>
          <p:nvSpPr>
            <p:cNvPr id="278542" name="文本框 207885"/>
            <p:cNvSpPr txBox="1"/>
            <p:nvPr/>
          </p:nvSpPr>
          <p:spPr>
            <a:xfrm>
              <a:off x="1587" y="777"/>
              <a:ext cx="267" cy="13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RD</a:t>
              </a:r>
              <a:endParaRPr lang="en-US" altLang="zh-CN" sz="2000" dirty="0">
                <a:solidFill>
                  <a:schemeClr val="tx1"/>
                </a:solidFill>
                <a:latin typeface="Times New Roman" panose="02020603050405020304" pitchFamily="18" charset="0"/>
                <a:ea typeface="楷体_GB2312"/>
              </a:endParaRPr>
            </a:p>
          </p:txBody>
        </p:sp>
        <p:sp>
          <p:nvSpPr>
            <p:cNvPr id="278543" name="文本框 207886"/>
            <p:cNvSpPr txBox="1"/>
            <p:nvPr/>
          </p:nvSpPr>
          <p:spPr>
            <a:xfrm>
              <a:off x="1577" y="942"/>
              <a:ext cx="337" cy="13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WR</a:t>
              </a:r>
              <a:endParaRPr lang="en-US" altLang="zh-CN" sz="2000" dirty="0">
                <a:solidFill>
                  <a:schemeClr val="tx1"/>
                </a:solidFill>
                <a:latin typeface="Times New Roman" panose="02020603050405020304" pitchFamily="18" charset="0"/>
                <a:ea typeface="楷体_GB2312"/>
              </a:endParaRPr>
            </a:p>
          </p:txBody>
        </p:sp>
        <p:sp>
          <p:nvSpPr>
            <p:cNvPr id="278544" name="直接连接符 207887"/>
            <p:cNvSpPr/>
            <p:nvPr/>
          </p:nvSpPr>
          <p:spPr>
            <a:xfrm>
              <a:off x="1595" y="960"/>
              <a:ext cx="203" cy="0"/>
            </a:xfrm>
            <a:prstGeom prst="line">
              <a:avLst/>
            </a:prstGeom>
            <a:ln w="25400" cap="flat" cmpd="sng">
              <a:solidFill>
                <a:schemeClr val="tx1"/>
              </a:solidFill>
              <a:prstDash val="solid"/>
              <a:bevel/>
              <a:headEnd type="none" w="med" len="med"/>
              <a:tailEnd type="none" w="med" len="med"/>
            </a:ln>
          </p:spPr>
        </p:sp>
        <p:sp>
          <p:nvSpPr>
            <p:cNvPr id="278545" name="直接连接符 207888"/>
            <p:cNvSpPr/>
            <p:nvPr/>
          </p:nvSpPr>
          <p:spPr>
            <a:xfrm>
              <a:off x="1604" y="797"/>
              <a:ext cx="198" cy="0"/>
            </a:xfrm>
            <a:prstGeom prst="line">
              <a:avLst/>
            </a:prstGeom>
            <a:ln w="25400" cap="flat" cmpd="sng">
              <a:solidFill>
                <a:schemeClr val="tx1"/>
              </a:solidFill>
              <a:prstDash val="solid"/>
              <a:bevel/>
              <a:headEnd type="none" w="med" len="med"/>
              <a:tailEnd type="none" w="med" len="med"/>
            </a:ln>
          </p:spPr>
        </p:sp>
        <p:sp>
          <p:nvSpPr>
            <p:cNvPr id="278546" name="文本框 207889"/>
            <p:cNvSpPr txBox="1"/>
            <p:nvPr/>
          </p:nvSpPr>
          <p:spPr>
            <a:xfrm>
              <a:off x="1579" y="375"/>
              <a:ext cx="243" cy="400"/>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7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D0</a:t>
              </a:r>
              <a:endParaRPr lang="en-US" altLang="zh-CN" sz="1800" dirty="0">
                <a:solidFill>
                  <a:schemeClr val="tx1"/>
                </a:solidFill>
                <a:latin typeface="Times New Roman" panose="02020603050405020304" pitchFamily="18" charset="0"/>
                <a:ea typeface="楷体_GB2312"/>
              </a:endParaRPr>
            </a:p>
            <a:p>
              <a:pPr marL="0" lvl="0" indent="0" algn="ctr">
                <a:lnSpc>
                  <a:spcPct val="7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a:t>
              </a:r>
              <a:endParaRPr lang="en-US" altLang="zh-CN" sz="1800" dirty="0">
                <a:solidFill>
                  <a:schemeClr val="tx1"/>
                </a:solidFill>
                <a:latin typeface="Times New Roman" panose="02020603050405020304" pitchFamily="18" charset="0"/>
                <a:ea typeface="楷体_GB2312"/>
              </a:endParaRPr>
            </a:p>
            <a:p>
              <a:pPr marL="0" lvl="0" indent="0" algn="ctr">
                <a:lnSpc>
                  <a:spcPct val="7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D7</a:t>
              </a:r>
              <a:endParaRPr lang="en-US" altLang="zh-CN" sz="2000" dirty="0">
                <a:solidFill>
                  <a:schemeClr val="tx1"/>
                </a:solidFill>
                <a:latin typeface="Times New Roman" panose="02020603050405020304" pitchFamily="18" charset="0"/>
                <a:ea typeface="楷体_GB2312"/>
              </a:endParaRPr>
            </a:p>
          </p:txBody>
        </p:sp>
        <p:sp>
          <p:nvSpPr>
            <p:cNvPr id="278547" name="文本框 207890"/>
            <p:cNvSpPr txBox="1"/>
            <p:nvPr/>
          </p:nvSpPr>
          <p:spPr>
            <a:xfrm>
              <a:off x="2300" y="1526"/>
              <a:ext cx="661" cy="710"/>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7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SP/EN</a:t>
              </a:r>
              <a:endParaRPr lang="en-US" altLang="zh-CN" sz="2000" dirty="0">
                <a:solidFill>
                  <a:schemeClr val="tx1"/>
                </a:solidFill>
                <a:latin typeface="Times New Roman" panose="02020603050405020304" pitchFamily="18" charset="0"/>
                <a:ea typeface="楷体_GB2312"/>
              </a:endParaRPr>
            </a:p>
            <a:p>
              <a:pPr marL="0" lvl="0" indent="0" algn="r">
                <a:lnSpc>
                  <a:spcPct val="7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CA0</a:t>
              </a:r>
              <a:endParaRPr lang="en-US" altLang="zh-CN" sz="2000" dirty="0">
                <a:solidFill>
                  <a:schemeClr val="tx1"/>
                </a:solidFill>
                <a:latin typeface="Times New Roman" panose="02020603050405020304" pitchFamily="18" charset="0"/>
                <a:ea typeface="楷体_GB2312"/>
              </a:endParaRPr>
            </a:p>
            <a:p>
              <a:pPr marL="0" lvl="0" indent="0" algn="r">
                <a:lnSpc>
                  <a:spcPct val="7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CA1</a:t>
              </a:r>
              <a:endParaRPr lang="en-US" altLang="zh-CN" sz="2000" dirty="0">
                <a:solidFill>
                  <a:schemeClr val="tx1"/>
                </a:solidFill>
                <a:latin typeface="Times New Roman" panose="02020603050405020304" pitchFamily="18" charset="0"/>
                <a:ea typeface="楷体_GB2312"/>
              </a:endParaRPr>
            </a:p>
            <a:p>
              <a:pPr marL="0" lvl="0" indent="0" algn="r">
                <a:lnSpc>
                  <a:spcPct val="7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CA2</a:t>
              </a:r>
              <a:endParaRPr lang="en-US" altLang="zh-CN" sz="2000" dirty="0">
                <a:solidFill>
                  <a:schemeClr val="tx1"/>
                </a:solidFill>
                <a:latin typeface="Times New Roman" panose="02020603050405020304" pitchFamily="18" charset="0"/>
                <a:ea typeface="楷体_GB2312"/>
              </a:endParaRPr>
            </a:p>
            <a:p>
              <a:pPr marL="0" lvl="0" indent="0" algn="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GND</a:t>
              </a:r>
              <a:endParaRPr lang="en-US" altLang="zh-CN" sz="2000" dirty="0">
                <a:solidFill>
                  <a:schemeClr val="tx1"/>
                </a:solidFill>
                <a:latin typeface="Times New Roman" panose="02020603050405020304" pitchFamily="18" charset="0"/>
                <a:ea typeface="楷体_GB2312"/>
              </a:endParaRPr>
            </a:p>
          </p:txBody>
        </p:sp>
        <p:sp>
          <p:nvSpPr>
            <p:cNvPr id="278548" name="直接连接符 207891"/>
            <p:cNvSpPr/>
            <p:nvPr/>
          </p:nvSpPr>
          <p:spPr>
            <a:xfrm>
              <a:off x="2994" y="650"/>
              <a:ext cx="1518" cy="5"/>
            </a:xfrm>
            <a:prstGeom prst="line">
              <a:avLst/>
            </a:prstGeom>
            <a:ln w="25400" cap="flat" cmpd="sng">
              <a:solidFill>
                <a:srgbClr val="000000"/>
              </a:solidFill>
              <a:prstDash val="solid"/>
              <a:bevel/>
              <a:headEnd type="triangle" w="med" len="med"/>
              <a:tailEnd type="none" w="med" len="med"/>
            </a:ln>
          </p:spPr>
        </p:sp>
        <p:sp>
          <p:nvSpPr>
            <p:cNvPr id="278549" name="直接连接符 207892"/>
            <p:cNvSpPr/>
            <p:nvPr/>
          </p:nvSpPr>
          <p:spPr>
            <a:xfrm flipV="1">
              <a:off x="3003" y="799"/>
              <a:ext cx="1509" cy="2"/>
            </a:xfrm>
            <a:prstGeom prst="line">
              <a:avLst/>
            </a:prstGeom>
            <a:ln w="25400" cap="flat" cmpd="sng">
              <a:solidFill>
                <a:srgbClr val="000000"/>
              </a:solidFill>
              <a:prstDash val="solid"/>
              <a:bevel/>
              <a:headEnd type="triangle" w="med" len="med"/>
              <a:tailEnd type="none" w="med" len="med"/>
            </a:ln>
          </p:spPr>
        </p:sp>
        <p:sp>
          <p:nvSpPr>
            <p:cNvPr id="278550" name="直接连接符 207893"/>
            <p:cNvSpPr/>
            <p:nvPr/>
          </p:nvSpPr>
          <p:spPr>
            <a:xfrm flipV="1">
              <a:off x="3003" y="943"/>
              <a:ext cx="1509" cy="8"/>
            </a:xfrm>
            <a:prstGeom prst="line">
              <a:avLst/>
            </a:prstGeom>
            <a:ln w="25400" cap="flat" cmpd="sng">
              <a:solidFill>
                <a:srgbClr val="000000"/>
              </a:solidFill>
              <a:prstDash val="solid"/>
              <a:bevel/>
              <a:headEnd type="triangle" w="med" len="med"/>
              <a:tailEnd type="none" w="med" len="med"/>
            </a:ln>
          </p:spPr>
        </p:sp>
        <p:sp>
          <p:nvSpPr>
            <p:cNvPr id="278551" name="直接连接符 207894"/>
            <p:cNvSpPr/>
            <p:nvPr/>
          </p:nvSpPr>
          <p:spPr>
            <a:xfrm flipV="1">
              <a:off x="3003" y="1087"/>
              <a:ext cx="1509" cy="5"/>
            </a:xfrm>
            <a:prstGeom prst="line">
              <a:avLst/>
            </a:prstGeom>
            <a:ln w="25400" cap="flat" cmpd="sng">
              <a:solidFill>
                <a:srgbClr val="000000"/>
              </a:solidFill>
              <a:prstDash val="solid"/>
              <a:bevel/>
              <a:headEnd type="triangle" w="med" len="med"/>
              <a:tailEnd type="none" w="med" len="med"/>
            </a:ln>
          </p:spPr>
        </p:sp>
        <p:sp>
          <p:nvSpPr>
            <p:cNvPr id="278552" name="直接连接符 207895"/>
            <p:cNvSpPr/>
            <p:nvPr/>
          </p:nvSpPr>
          <p:spPr>
            <a:xfrm flipV="1">
              <a:off x="3003" y="1231"/>
              <a:ext cx="1509" cy="0"/>
            </a:xfrm>
            <a:prstGeom prst="line">
              <a:avLst/>
            </a:prstGeom>
            <a:ln w="25400" cap="flat" cmpd="sng">
              <a:solidFill>
                <a:srgbClr val="000000"/>
              </a:solidFill>
              <a:prstDash val="solid"/>
              <a:bevel/>
              <a:headEnd type="triangle" w="med" len="med"/>
              <a:tailEnd type="none" w="med" len="med"/>
            </a:ln>
          </p:spPr>
        </p:sp>
        <p:sp>
          <p:nvSpPr>
            <p:cNvPr id="278553" name="直接连接符 207896"/>
            <p:cNvSpPr/>
            <p:nvPr/>
          </p:nvSpPr>
          <p:spPr>
            <a:xfrm flipV="1">
              <a:off x="3010" y="1375"/>
              <a:ext cx="1502" cy="0"/>
            </a:xfrm>
            <a:prstGeom prst="line">
              <a:avLst/>
            </a:prstGeom>
            <a:ln w="25400" cap="flat" cmpd="sng">
              <a:solidFill>
                <a:srgbClr val="000000"/>
              </a:solidFill>
              <a:prstDash val="solid"/>
              <a:bevel/>
              <a:headEnd type="triangle" w="med" len="med"/>
              <a:tailEnd type="none" w="med" len="med"/>
            </a:ln>
          </p:spPr>
        </p:sp>
        <p:sp>
          <p:nvSpPr>
            <p:cNvPr id="278554" name="文本框 207897"/>
            <p:cNvSpPr txBox="1"/>
            <p:nvPr/>
          </p:nvSpPr>
          <p:spPr>
            <a:xfrm>
              <a:off x="2651" y="233"/>
              <a:ext cx="343" cy="1207"/>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IR0</a:t>
              </a:r>
              <a:endParaRPr lang="en-US" altLang="zh-CN" sz="2000" dirty="0">
                <a:solidFill>
                  <a:schemeClr val="tx1"/>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IR1</a:t>
              </a:r>
              <a:endParaRPr lang="en-US" altLang="zh-CN" sz="2000" dirty="0">
                <a:solidFill>
                  <a:schemeClr val="tx1"/>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IR2</a:t>
              </a:r>
              <a:endParaRPr lang="en-US" altLang="zh-CN" sz="2000" dirty="0">
                <a:solidFill>
                  <a:schemeClr val="tx1"/>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IR3</a:t>
              </a:r>
              <a:endParaRPr lang="en-US" altLang="zh-CN" sz="2000" dirty="0">
                <a:solidFill>
                  <a:schemeClr val="tx1"/>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IR4</a:t>
              </a:r>
              <a:endParaRPr lang="en-US" altLang="zh-CN" sz="2000" dirty="0">
                <a:solidFill>
                  <a:schemeClr val="tx1"/>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IR5</a:t>
              </a:r>
              <a:endParaRPr lang="en-US" altLang="zh-CN" sz="2000" dirty="0">
                <a:solidFill>
                  <a:schemeClr val="tx1"/>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IR6</a:t>
              </a:r>
              <a:endParaRPr lang="en-US" altLang="zh-CN" sz="2000" dirty="0">
                <a:solidFill>
                  <a:schemeClr val="tx1"/>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IR7</a:t>
              </a:r>
              <a:endParaRPr lang="en-US" altLang="zh-CN" sz="20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p:txBody>
        </p:sp>
        <p:sp>
          <p:nvSpPr>
            <p:cNvPr id="278555" name="文本框 207898"/>
            <p:cNvSpPr txBox="1"/>
            <p:nvPr/>
          </p:nvSpPr>
          <p:spPr>
            <a:xfrm>
              <a:off x="2660" y="24"/>
              <a:ext cx="343" cy="123"/>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Vcc</a:t>
              </a:r>
              <a:endParaRPr lang="en-US" altLang="zh-CN" sz="20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p:txBody>
        </p:sp>
        <p:sp>
          <p:nvSpPr>
            <p:cNvPr id="278556" name="直接连接符 207899"/>
            <p:cNvSpPr/>
            <p:nvPr/>
          </p:nvSpPr>
          <p:spPr>
            <a:xfrm>
              <a:off x="3003" y="103"/>
              <a:ext cx="435" cy="0"/>
            </a:xfrm>
            <a:prstGeom prst="line">
              <a:avLst/>
            </a:prstGeom>
            <a:ln w="25400" cap="flat" cmpd="sng">
              <a:solidFill>
                <a:srgbClr val="000000"/>
              </a:solidFill>
              <a:prstDash val="solid"/>
              <a:bevel/>
              <a:headEnd type="none" w="med" len="med"/>
              <a:tailEnd type="none" w="med" len="med"/>
            </a:ln>
          </p:spPr>
        </p:sp>
        <p:sp>
          <p:nvSpPr>
            <p:cNvPr id="278557" name="文本框 207900"/>
            <p:cNvSpPr txBox="1"/>
            <p:nvPr/>
          </p:nvSpPr>
          <p:spPr>
            <a:xfrm>
              <a:off x="3481" y="33"/>
              <a:ext cx="427" cy="122"/>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+ 5V</a:t>
              </a:r>
              <a:endParaRPr lang="en-US" altLang="zh-CN" sz="20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p:txBody>
        </p:sp>
        <p:sp>
          <p:nvSpPr>
            <p:cNvPr id="278558" name="直接连接符 207901"/>
            <p:cNvSpPr/>
            <p:nvPr/>
          </p:nvSpPr>
          <p:spPr>
            <a:xfrm>
              <a:off x="2994" y="335"/>
              <a:ext cx="715" cy="0"/>
            </a:xfrm>
            <a:prstGeom prst="line">
              <a:avLst/>
            </a:prstGeom>
            <a:ln w="25400" cap="flat" cmpd="sng">
              <a:solidFill>
                <a:srgbClr val="000000"/>
              </a:solidFill>
              <a:prstDash val="solid"/>
              <a:bevel/>
              <a:headEnd type="triangle" w="med" len="med"/>
              <a:tailEnd type="none" w="med" len="med"/>
            </a:ln>
          </p:spPr>
        </p:sp>
        <p:sp>
          <p:nvSpPr>
            <p:cNvPr id="278559" name="直接连接符 207902"/>
            <p:cNvSpPr/>
            <p:nvPr/>
          </p:nvSpPr>
          <p:spPr>
            <a:xfrm>
              <a:off x="2994" y="509"/>
              <a:ext cx="715" cy="0"/>
            </a:xfrm>
            <a:prstGeom prst="line">
              <a:avLst/>
            </a:prstGeom>
            <a:ln w="25400" cap="flat" cmpd="sng">
              <a:solidFill>
                <a:srgbClr val="000000"/>
              </a:solidFill>
              <a:prstDash val="solid"/>
              <a:bevel/>
              <a:headEnd type="triangle" w="med" len="med"/>
              <a:tailEnd type="none" w="med" len="med"/>
            </a:ln>
          </p:spPr>
        </p:sp>
        <p:sp>
          <p:nvSpPr>
            <p:cNvPr id="278560" name="直接连接符 207903"/>
            <p:cNvSpPr/>
            <p:nvPr/>
          </p:nvSpPr>
          <p:spPr>
            <a:xfrm>
              <a:off x="2986" y="2160"/>
              <a:ext cx="384" cy="0"/>
            </a:xfrm>
            <a:prstGeom prst="line">
              <a:avLst/>
            </a:prstGeom>
            <a:ln w="25400" cap="flat" cmpd="sng">
              <a:solidFill>
                <a:srgbClr val="000000"/>
              </a:solidFill>
              <a:prstDash val="solid"/>
              <a:bevel/>
              <a:headEnd type="none" w="med" len="med"/>
              <a:tailEnd type="none" w="med" len="med"/>
            </a:ln>
          </p:spPr>
        </p:sp>
        <p:sp>
          <p:nvSpPr>
            <p:cNvPr id="278561" name="直接连接符 207904"/>
            <p:cNvSpPr/>
            <p:nvPr/>
          </p:nvSpPr>
          <p:spPr>
            <a:xfrm>
              <a:off x="3370" y="2170"/>
              <a:ext cx="0" cy="61"/>
            </a:xfrm>
            <a:prstGeom prst="line">
              <a:avLst/>
            </a:prstGeom>
            <a:ln w="25400" cap="flat" cmpd="sng">
              <a:solidFill>
                <a:srgbClr val="000000"/>
              </a:solidFill>
              <a:prstDash val="solid"/>
              <a:bevel/>
              <a:headEnd type="none" w="med" len="med"/>
              <a:tailEnd type="none" w="med" len="med"/>
            </a:ln>
          </p:spPr>
        </p:sp>
        <p:sp>
          <p:nvSpPr>
            <p:cNvPr id="278562" name="直接连接符 207905"/>
            <p:cNvSpPr/>
            <p:nvPr/>
          </p:nvSpPr>
          <p:spPr>
            <a:xfrm>
              <a:off x="3270" y="2231"/>
              <a:ext cx="184" cy="0"/>
            </a:xfrm>
            <a:prstGeom prst="line">
              <a:avLst/>
            </a:prstGeom>
            <a:ln w="25400" cap="flat" cmpd="sng">
              <a:solidFill>
                <a:srgbClr val="000000"/>
              </a:solidFill>
              <a:prstDash val="solid"/>
              <a:bevel/>
              <a:headEnd type="none" w="med" len="med"/>
              <a:tailEnd type="none" w="med" len="med"/>
            </a:ln>
          </p:spPr>
        </p:sp>
        <p:sp>
          <p:nvSpPr>
            <p:cNvPr id="278563" name="直接连接符 207906"/>
            <p:cNvSpPr/>
            <p:nvPr/>
          </p:nvSpPr>
          <p:spPr>
            <a:xfrm>
              <a:off x="3304" y="2259"/>
              <a:ext cx="117" cy="0"/>
            </a:xfrm>
            <a:prstGeom prst="line">
              <a:avLst/>
            </a:prstGeom>
            <a:ln w="25400" cap="flat" cmpd="sng">
              <a:solidFill>
                <a:srgbClr val="000000"/>
              </a:solidFill>
              <a:prstDash val="solid"/>
              <a:bevel/>
              <a:headEnd type="none" w="med" len="med"/>
              <a:tailEnd type="none" w="med" len="med"/>
            </a:ln>
          </p:spPr>
        </p:sp>
        <p:sp>
          <p:nvSpPr>
            <p:cNvPr id="278564" name="直接连接符 207907"/>
            <p:cNvSpPr/>
            <p:nvPr/>
          </p:nvSpPr>
          <p:spPr>
            <a:xfrm>
              <a:off x="3329" y="2282"/>
              <a:ext cx="66" cy="5"/>
            </a:xfrm>
            <a:prstGeom prst="line">
              <a:avLst/>
            </a:prstGeom>
            <a:ln w="25400" cap="flat" cmpd="sng">
              <a:solidFill>
                <a:srgbClr val="000000"/>
              </a:solidFill>
              <a:prstDash val="solid"/>
              <a:bevel/>
              <a:headEnd type="none" w="med" len="med"/>
              <a:tailEnd type="none" w="med" len="med"/>
            </a:ln>
          </p:spPr>
        </p:sp>
        <p:sp>
          <p:nvSpPr>
            <p:cNvPr id="278565" name="直接连接符 207908"/>
            <p:cNvSpPr/>
            <p:nvPr/>
          </p:nvSpPr>
          <p:spPr>
            <a:xfrm>
              <a:off x="2994" y="1600"/>
              <a:ext cx="385" cy="0"/>
            </a:xfrm>
            <a:prstGeom prst="line">
              <a:avLst/>
            </a:prstGeom>
            <a:ln w="25400" cap="flat" cmpd="sng">
              <a:solidFill>
                <a:srgbClr val="000000"/>
              </a:solidFill>
              <a:prstDash val="solid"/>
              <a:bevel/>
              <a:headEnd type="none" w="med" len="med"/>
              <a:tailEnd type="none" w="med" len="med"/>
            </a:ln>
          </p:spPr>
        </p:sp>
        <p:sp>
          <p:nvSpPr>
            <p:cNvPr id="278566" name="直接连接符 207909"/>
            <p:cNvSpPr/>
            <p:nvPr/>
          </p:nvSpPr>
          <p:spPr>
            <a:xfrm>
              <a:off x="2994" y="1726"/>
              <a:ext cx="385" cy="0"/>
            </a:xfrm>
            <a:prstGeom prst="line">
              <a:avLst/>
            </a:prstGeom>
            <a:ln w="25400" cap="flat" cmpd="sng">
              <a:solidFill>
                <a:srgbClr val="000000"/>
              </a:solidFill>
              <a:prstDash val="solid"/>
              <a:bevel/>
              <a:headEnd type="none" w="med" len="med"/>
              <a:tailEnd type="none" w="med" len="med"/>
            </a:ln>
          </p:spPr>
        </p:sp>
        <p:sp>
          <p:nvSpPr>
            <p:cNvPr id="278567" name="直接连接符 207910"/>
            <p:cNvSpPr/>
            <p:nvPr/>
          </p:nvSpPr>
          <p:spPr>
            <a:xfrm>
              <a:off x="2994" y="1840"/>
              <a:ext cx="385" cy="0"/>
            </a:xfrm>
            <a:prstGeom prst="line">
              <a:avLst/>
            </a:prstGeom>
            <a:ln w="25400" cap="flat" cmpd="sng">
              <a:solidFill>
                <a:srgbClr val="000000"/>
              </a:solidFill>
              <a:prstDash val="solid"/>
              <a:bevel/>
              <a:headEnd type="none" w="med" len="med"/>
              <a:tailEnd type="none" w="med" len="med"/>
            </a:ln>
          </p:spPr>
        </p:sp>
        <p:sp>
          <p:nvSpPr>
            <p:cNvPr id="278568" name="直接连接符 207911"/>
            <p:cNvSpPr/>
            <p:nvPr/>
          </p:nvSpPr>
          <p:spPr>
            <a:xfrm>
              <a:off x="2986" y="1958"/>
              <a:ext cx="384" cy="0"/>
            </a:xfrm>
            <a:prstGeom prst="line">
              <a:avLst/>
            </a:prstGeom>
            <a:ln w="25400" cap="flat" cmpd="sng">
              <a:solidFill>
                <a:srgbClr val="000000"/>
              </a:solidFill>
              <a:prstDash val="solid"/>
              <a:bevel/>
              <a:headEnd type="none" w="med" len="med"/>
              <a:tailEnd type="none" w="med" len="med"/>
            </a:ln>
          </p:spPr>
        </p:sp>
        <p:sp>
          <p:nvSpPr>
            <p:cNvPr id="278569" name="文本框 207912"/>
            <p:cNvSpPr txBox="1"/>
            <p:nvPr/>
          </p:nvSpPr>
          <p:spPr>
            <a:xfrm>
              <a:off x="3529" y="1553"/>
              <a:ext cx="737" cy="562"/>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zh-CN" altLang="en-US" sz="2000" dirty="0">
                  <a:solidFill>
                    <a:schemeClr val="tx1"/>
                  </a:solidFill>
                  <a:latin typeface="Times New Roman" panose="02020603050405020304" pitchFamily="18" charset="0"/>
                  <a:ea typeface="楷体_GB2312"/>
                </a:rPr>
                <a:t>用于多片</a:t>
              </a:r>
              <a:endParaRPr lang="zh-CN" altLang="en-US" sz="20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8259A</a:t>
              </a:r>
              <a:endParaRPr lang="en-US" altLang="zh-CN" sz="20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zh-CN" altLang="en-US" sz="2000" dirty="0">
                  <a:solidFill>
                    <a:schemeClr val="tx1"/>
                  </a:solidFill>
                  <a:latin typeface="Times New Roman" panose="02020603050405020304" pitchFamily="18" charset="0"/>
                  <a:ea typeface="楷体_GB2312"/>
                </a:rPr>
                <a:t>级连情况</a:t>
              </a:r>
              <a:endParaRPr lang="zh-CN" altLang="en-US" sz="2000" b="0" dirty="0">
                <a:solidFill>
                  <a:schemeClr val="tx1"/>
                </a:solidFill>
                <a:latin typeface="Times New Roman" panose="02020603050405020304" pitchFamily="18" charset="0"/>
                <a:ea typeface="楷体_GB2312"/>
              </a:endParaRPr>
            </a:p>
          </p:txBody>
        </p:sp>
        <p:sp>
          <p:nvSpPr>
            <p:cNvPr id="278570" name="右大括号 207913"/>
            <p:cNvSpPr/>
            <p:nvPr/>
          </p:nvSpPr>
          <p:spPr>
            <a:xfrm>
              <a:off x="3404" y="1595"/>
              <a:ext cx="109" cy="363"/>
            </a:xfrm>
            <a:prstGeom prst="rightBrace">
              <a:avLst>
                <a:gd name="adj1" fmla="val 27567"/>
                <a:gd name="adj2" fmla="val 50000"/>
              </a:avLst>
            </a:prstGeom>
            <a:noFill/>
            <a:ln w="25400" cap="flat" cmpd="sng">
              <a:solidFill>
                <a:srgbClr val="000000"/>
              </a:solidFill>
              <a:prstDash val="solid"/>
              <a:bevel/>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en-US" sz="1800" b="0" dirty="0">
                <a:solidFill>
                  <a:schemeClr val="tx1"/>
                </a:solidFill>
                <a:ea typeface="楷体_GB2312"/>
              </a:endParaRPr>
            </a:p>
          </p:txBody>
        </p:sp>
        <p:sp>
          <p:nvSpPr>
            <p:cNvPr id="278571" name="文本框 207914"/>
            <p:cNvSpPr txBox="1"/>
            <p:nvPr/>
          </p:nvSpPr>
          <p:spPr>
            <a:xfrm>
              <a:off x="1604" y="1915"/>
              <a:ext cx="468" cy="131"/>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INTA</a:t>
              </a:r>
              <a:endParaRPr lang="en-US" altLang="zh-CN" sz="2000" dirty="0">
                <a:solidFill>
                  <a:schemeClr val="tx1"/>
                </a:solidFill>
                <a:latin typeface="Times New Roman" panose="02020603050405020304" pitchFamily="18" charset="0"/>
                <a:ea typeface="楷体_GB2312"/>
              </a:endParaRPr>
            </a:p>
          </p:txBody>
        </p:sp>
        <p:sp>
          <p:nvSpPr>
            <p:cNvPr id="278572" name="直接连接符 207915"/>
            <p:cNvSpPr/>
            <p:nvPr/>
          </p:nvSpPr>
          <p:spPr>
            <a:xfrm flipV="1">
              <a:off x="1606" y="1920"/>
              <a:ext cx="289" cy="0"/>
            </a:xfrm>
            <a:prstGeom prst="line">
              <a:avLst/>
            </a:prstGeom>
            <a:ln w="25400" cap="flat" cmpd="sng">
              <a:solidFill>
                <a:schemeClr val="tx1"/>
              </a:solidFill>
              <a:prstDash val="solid"/>
              <a:bevel/>
              <a:headEnd type="none" w="med" len="med"/>
              <a:tailEnd type="none" w="med" len="med"/>
            </a:ln>
          </p:spPr>
        </p:sp>
        <p:sp>
          <p:nvSpPr>
            <p:cNvPr id="278573" name="文本框 207916"/>
            <p:cNvSpPr txBox="1"/>
            <p:nvPr/>
          </p:nvSpPr>
          <p:spPr>
            <a:xfrm>
              <a:off x="1613" y="2056"/>
              <a:ext cx="393" cy="13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INT</a:t>
              </a:r>
              <a:endParaRPr lang="en-US" altLang="zh-CN" sz="2000" dirty="0">
                <a:solidFill>
                  <a:schemeClr val="tx1"/>
                </a:solidFill>
                <a:latin typeface="Times New Roman" panose="02020603050405020304" pitchFamily="18" charset="0"/>
                <a:ea typeface="楷体_GB2312"/>
              </a:endParaRPr>
            </a:p>
          </p:txBody>
        </p:sp>
        <p:sp>
          <p:nvSpPr>
            <p:cNvPr id="278574" name="直接连接符 207917"/>
            <p:cNvSpPr/>
            <p:nvPr/>
          </p:nvSpPr>
          <p:spPr>
            <a:xfrm>
              <a:off x="930" y="1525"/>
              <a:ext cx="622" cy="0"/>
            </a:xfrm>
            <a:prstGeom prst="line">
              <a:avLst/>
            </a:prstGeom>
            <a:ln w="25400" cap="flat" cmpd="sng">
              <a:solidFill>
                <a:srgbClr val="000000"/>
              </a:solidFill>
              <a:prstDash val="solid"/>
              <a:bevel/>
              <a:headEnd type="none" w="med" len="med"/>
              <a:tailEnd type="triangle" w="med" len="med"/>
            </a:ln>
          </p:spPr>
        </p:sp>
        <p:sp>
          <p:nvSpPr>
            <p:cNvPr id="278575" name="直接连接符 207918"/>
            <p:cNvSpPr>
              <a:spLocks noChangeAspect="1"/>
            </p:cNvSpPr>
            <p:nvPr/>
          </p:nvSpPr>
          <p:spPr>
            <a:xfrm>
              <a:off x="429" y="1182"/>
              <a:ext cx="1142" cy="0"/>
            </a:xfrm>
            <a:prstGeom prst="line">
              <a:avLst/>
            </a:prstGeom>
            <a:ln w="25400" cap="flat" cmpd="sng">
              <a:solidFill>
                <a:srgbClr val="000000"/>
              </a:solidFill>
              <a:prstDash val="solid"/>
              <a:bevel/>
              <a:headEnd type="none" w="med" len="med"/>
              <a:tailEnd type="triangle" w="med" len="med"/>
            </a:ln>
          </p:spPr>
        </p:sp>
        <p:sp>
          <p:nvSpPr>
            <p:cNvPr id="278576" name="左右箭头 207919"/>
            <p:cNvSpPr/>
            <p:nvPr/>
          </p:nvSpPr>
          <p:spPr>
            <a:xfrm>
              <a:off x="428" y="433"/>
              <a:ext cx="1131" cy="180"/>
            </a:xfrm>
            <a:prstGeom prst="leftRightArrow">
              <a:avLst>
                <a:gd name="adj1" fmla="val 63416"/>
                <a:gd name="adj2" fmla="val 50383"/>
              </a:avLst>
            </a:prstGeom>
            <a:solidFill>
              <a:srgbClr val="339966"/>
            </a:solid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en-US" sz="1800" b="0" dirty="0">
                <a:solidFill>
                  <a:schemeClr val="tx1"/>
                </a:solidFill>
                <a:ea typeface="楷体_GB2312"/>
              </a:endParaRPr>
            </a:p>
          </p:txBody>
        </p:sp>
        <p:sp>
          <p:nvSpPr>
            <p:cNvPr id="278577" name="文本框 207920"/>
            <p:cNvSpPr txBox="1"/>
            <p:nvPr/>
          </p:nvSpPr>
          <p:spPr>
            <a:xfrm>
              <a:off x="720" y="239"/>
              <a:ext cx="581" cy="176"/>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zh-CN" altLang="en-US" sz="2000" dirty="0">
                  <a:solidFill>
                    <a:schemeClr val="tx1"/>
                  </a:solidFill>
                  <a:latin typeface="Times New Roman" panose="02020603050405020304" pitchFamily="18" charset="0"/>
                  <a:ea typeface="楷体_GB2312"/>
                </a:rPr>
                <a:t>数 据 线</a:t>
              </a:r>
              <a:endParaRPr lang="zh-CN" altLang="en-US" sz="2000" dirty="0">
                <a:solidFill>
                  <a:schemeClr val="tx1"/>
                </a:solidFill>
                <a:latin typeface="Times New Roman" panose="02020603050405020304" pitchFamily="18" charset="0"/>
                <a:ea typeface="楷体_GB2312"/>
              </a:endParaRPr>
            </a:p>
          </p:txBody>
        </p:sp>
        <p:sp>
          <p:nvSpPr>
            <p:cNvPr id="278578" name="直接连接符 207921"/>
            <p:cNvSpPr/>
            <p:nvPr/>
          </p:nvSpPr>
          <p:spPr>
            <a:xfrm>
              <a:off x="433" y="843"/>
              <a:ext cx="1132" cy="0"/>
            </a:xfrm>
            <a:prstGeom prst="line">
              <a:avLst/>
            </a:prstGeom>
            <a:ln w="25400" cap="flat" cmpd="sng">
              <a:solidFill>
                <a:srgbClr val="000000"/>
              </a:solidFill>
              <a:prstDash val="solid"/>
              <a:bevel/>
              <a:headEnd type="none" w="med" len="med"/>
              <a:tailEnd type="triangle" w="med" len="med"/>
            </a:ln>
          </p:spPr>
        </p:sp>
        <p:sp>
          <p:nvSpPr>
            <p:cNvPr id="278579" name="直接连接符 207922"/>
            <p:cNvSpPr/>
            <p:nvPr/>
          </p:nvSpPr>
          <p:spPr>
            <a:xfrm>
              <a:off x="428" y="1003"/>
              <a:ext cx="1131" cy="0"/>
            </a:xfrm>
            <a:prstGeom prst="line">
              <a:avLst/>
            </a:prstGeom>
            <a:ln w="25400" cap="flat" cmpd="sng">
              <a:solidFill>
                <a:srgbClr val="000000"/>
              </a:solidFill>
              <a:prstDash val="solid"/>
              <a:bevel/>
              <a:headEnd type="none" w="med" len="med"/>
              <a:tailEnd type="triangle" w="med" len="med"/>
            </a:ln>
          </p:spPr>
        </p:sp>
        <p:sp>
          <p:nvSpPr>
            <p:cNvPr id="278580" name="文本框 207923"/>
            <p:cNvSpPr txBox="1"/>
            <p:nvPr/>
          </p:nvSpPr>
          <p:spPr>
            <a:xfrm>
              <a:off x="673" y="1279"/>
              <a:ext cx="263" cy="676"/>
            </a:xfrm>
            <a:prstGeom prst="rect">
              <a:avLst/>
            </a:prstGeom>
            <a:solidFill>
              <a:srgbClr val="CCFFFF"/>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9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片</a:t>
              </a:r>
              <a:endParaRPr lang="zh-CN" altLang="en-US" sz="1800" dirty="0">
                <a:solidFill>
                  <a:schemeClr val="tx1"/>
                </a:solidFill>
                <a:latin typeface="Times New Roman" panose="02020603050405020304" pitchFamily="18" charset="0"/>
                <a:ea typeface="楷体_GB2312"/>
              </a:endParaRPr>
            </a:p>
            <a:p>
              <a:pPr marL="0" lvl="0" indent="0" algn="ctr">
                <a:lnSpc>
                  <a:spcPct val="9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选</a:t>
              </a:r>
              <a:endParaRPr lang="zh-CN" altLang="en-US" sz="1800" dirty="0">
                <a:solidFill>
                  <a:schemeClr val="tx1"/>
                </a:solidFill>
                <a:latin typeface="Times New Roman" panose="02020603050405020304" pitchFamily="18" charset="0"/>
                <a:ea typeface="楷体_GB2312"/>
              </a:endParaRPr>
            </a:p>
            <a:p>
              <a:pPr marL="0" lvl="0" indent="0" algn="ctr">
                <a:lnSpc>
                  <a:spcPct val="9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译</a:t>
              </a:r>
              <a:endParaRPr lang="zh-CN" altLang="en-US" sz="1800" dirty="0">
                <a:solidFill>
                  <a:schemeClr val="tx1"/>
                </a:solidFill>
                <a:latin typeface="Times New Roman" panose="02020603050405020304" pitchFamily="18" charset="0"/>
                <a:ea typeface="楷体_GB2312"/>
              </a:endParaRPr>
            </a:p>
            <a:p>
              <a:pPr marL="0" lvl="0" indent="0" algn="ctr">
                <a:lnSpc>
                  <a:spcPct val="9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码</a:t>
              </a:r>
              <a:endParaRPr lang="zh-CN" altLang="en-US" sz="2400" dirty="0">
                <a:solidFill>
                  <a:schemeClr val="tx1"/>
                </a:solidFill>
                <a:latin typeface="Times New Roman" panose="02020603050405020304" pitchFamily="18" charset="0"/>
                <a:ea typeface="楷体_GB2312"/>
              </a:endParaRPr>
            </a:p>
          </p:txBody>
        </p:sp>
        <p:sp>
          <p:nvSpPr>
            <p:cNvPr id="278581" name="文本框 207924"/>
            <p:cNvSpPr txBox="1"/>
            <p:nvPr/>
          </p:nvSpPr>
          <p:spPr>
            <a:xfrm>
              <a:off x="966" y="1554"/>
              <a:ext cx="474" cy="205"/>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600" dirty="0">
                  <a:solidFill>
                    <a:schemeClr val="tx1"/>
                  </a:solidFill>
                  <a:latin typeface="Times New Roman" panose="02020603050405020304" pitchFamily="18" charset="0"/>
                  <a:ea typeface="楷体_GB2312"/>
                </a:rPr>
                <a:t>20~3FH</a:t>
              </a:r>
              <a:endParaRPr lang="en-US" altLang="zh-CN" sz="20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p:txBody>
        </p:sp>
        <p:sp>
          <p:nvSpPr>
            <p:cNvPr id="278582" name="直接连接符 207925"/>
            <p:cNvSpPr/>
            <p:nvPr/>
          </p:nvSpPr>
          <p:spPr>
            <a:xfrm>
              <a:off x="428" y="2000"/>
              <a:ext cx="1137" cy="0"/>
            </a:xfrm>
            <a:prstGeom prst="line">
              <a:avLst/>
            </a:prstGeom>
            <a:ln w="25400" cap="flat" cmpd="sng">
              <a:solidFill>
                <a:srgbClr val="000000"/>
              </a:solidFill>
              <a:prstDash val="solid"/>
              <a:bevel/>
              <a:headEnd type="none" w="med" len="med"/>
              <a:tailEnd type="triangle" w="med" len="med"/>
            </a:ln>
          </p:spPr>
        </p:sp>
        <p:sp>
          <p:nvSpPr>
            <p:cNvPr id="278583" name="直接连接符 207926"/>
            <p:cNvSpPr/>
            <p:nvPr/>
          </p:nvSpPr>
          <p:spPr>
            <a:xfrm rot="10800000">
              <a:off x="423" y="2141"/>
              <a:ext cx="1131" cy="0"/>
            </a:xfrm>
            <a:prstGeom prst="line">
              <a:avLst/>
            </a:prstGeom>
            <a:ln w="25400" cap="flat" cmpd="sng">
              <a:solidFill>
                <a:srgbClr val="000000"/>
              </a:solidFill>
              <a:prstDash val="solid"/>
              <a:bevel/>
              <a:headEnd type="none" w="med" len="med"/>
              <a:tailEnd type="triangle" w="med" len="med"/>
            </a:ln>
          </p:spPr>
        </p:sp>
        <p:sp>
          <p:nvSpPr>
            <p:cNvPr id="278584" name="矩形 207927"/>
            <p:cNvSpPr/>
            <p:nvPr/>
          </p:nvSpPr>
          <p:spPr>
            <a:xfrm>
              <a:off x="0" y="321"/>
              <a:ext cx="417" cy="1928"/>
            </a:xfrm>
            <a:prstGeom prst="rect">
              <a:avLst/>
            </a:prstGeom>
            <a:solidFill>
              <a:schemeClr val="hlink"/>
            </a:solidFill>
            <a:ln w="254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en-US" sz="1800" b="0" dirty="0">
                <a:solidFill>
                  <a:schemeClr val="tx1"/>
                </a:solidFill>
                <a:ea typeface="楷体_GB2312"/>
              </a:endParaRPr>
            </a:p>
          </p:txBody>
        </p:sp>
        <p:sp>
          <p:nvSpPr>
            <p:cNvPr id="278585" name="文本框 207928"/>
            <p:cNvSpPr txBox="1"/>
            <p:nvPr/>
          </p:nvSpPr>
          <p:spPr>
            <a:xfrm>
              <a:off x="21" y="930"/>
              <a:ext cx="373" cy="126"/>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Font typeface="Arial" panose="020B0604020202020204" pitchFamily="34" charset="0"/>
                <a:buNone/>
              </a:pPr>
              <a:r>
                <a:rPr lang="en-US" altLang="zh-CN" sz="1600" dirty="0">
                  <a:solidFill>
                    <a:schemeClr val="tx1"/>
                  </a:solidFill>
                  <a:latin typeface="Times New Roman" panose="02020603050405020304" pitchFamily="18" charset="0"/>
                  <a:ea typeface="楷体_GB2312"/>
                </a:rPr>
                <a:t>IOW</a:t>
              </a:r>
              <a:endParaRPr lang="en-US" altLang="zh-CN" sz="1600" dirty="0">
                <a:solidFill>
                  <a:schemeClr val="tx1"/>
                </a:solidFill>
                <a:latin typeface="Times New Roman" panose="02020603050405020304" pitchFamily="18" charset="0"/>
                <a:ea typeface="楷体_GB2312"/>
              </a:endParaRPr>
            </a:p>
          </p:txBody>
        </p:sp>
        <p:sp>
          <p:nvSpPr>
            <p:cNvPr id="278586" name="文本框 207929"/>
            <p:cNvSpPr txBox="1"/>
            <p:nvPr/>
          </p:nvSpPr>
          <p:spPr>
            <a:xfrm>
              <a:off x="198" y="1112"/>
              <a:ext cx="214" cy="131"/>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A0</a:t>
              </a:r>
              <a:endParaRPr lang="en-US" altLang="zh-CN" sz="2000" dirty="0">
                <a:solidFill>
                  <a:schemeClr val="tx1"/>
                </a:solidFill>
                <a:latin typeface="Times New Roman" panose="02020603050405020304" pitchFamily="18" charset="0"/>
                <a:ea typeface="楷体_GB2312"/>
              </a:endParaRPr>
            </a:p>
          </p:txBody>
        </p:sp>
        <p:sp>
          <p:nvSpPr>
            <p:cNvPr id="278587" name="文本框 207930"/>
            <p:cNvSpPr txBox="1"/>
            <p:nvPr/>
          </p:nvSpPr>
          <p:spPr>
            <a:xfrm>
              <a:off x="48" y="127"/>
              <a:ext cx="384" cy="163"/>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zh-CN" altLang="en-US" sz="2000" dirty="0">
                  <a:solidFill>
                    <a:schemeClr val="tx1"/>
                  </a:solidFill>
                  <a:latin typeface="Times New Roman" panose="02020603050405020304" pitchFamily="18" charset="0"/>
                  <a:ea typeface="楷体_GB2312"/>
                </a:rPr>
                <a:t>总线</a:t>
              </a:r>
              <a:endParaRPr lang="zh-CN" altLang="en-US" sz="20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zh-CN" altLang="en-US" sz="2000" dirty="0">
                <a:solidFill>
                  <a:schemeClr val="tx1"/>
                </a:solidFill>
                <a:latin typeface="Times New Roman" panose="02020603050405020304" pitchFamily="18" charset="0"/>
                <a:ea typeface="楷体_GB2312"/>
              </a:endParaRPr>
            </a:p>
          </p:txBody>
        </p:sp>
        <p:sp>
          <p:nvSpPr>
            <p:cNvPr id="278588" name="文本框 207931"/>
            <p:cNvSpPr txBox="1"/>
            <p:nvPr/>
          </p:nvSpPr>
          <p:spPr>
            <a:xfrm>
              <a:off x="8" y="773"/>
              <a:ext cx="372" cy="113"/>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  </a:t>
              </a:r>
              <a:r>
                <a:rPr lang="en-US" altLang="zh-CN" sz="1600" dirty="0">
                  <a:solidFill>
                    <a:schemeClr val="tx1"/>
                  </a:solidFill>
                  <a:latin typeface="Times New Roman" panose="02020603050405020304" pitchFamily="18" charset="0"/>
                  <a:ea typeface="楷体_GB2312"/>
                </a:rPr>
                <a:t>IOR</a:t>
              </a:r>
              <a:endParaRPr lang="en-US" altLang="zh-CN" sz="1600" dirty="0">
                <a:solidFill>
                  <a:schemeClr val="tx1"/>
                </a:solidFill>
                <a:latin typeface="Times New Roman" panose="02020603050405020304" pitchFamily="18" charset="0"/>
                <a:ea typeface="楷体_GB2312"/>
              </a:endParaRPr>
            </a:p>
          </p:txBody>
        </p:sp>
        <p:sp>
          <p:nvSpPr>
            <p:cNvPr id="278589" name="直接连接符 207932"/>
            <p:cNvSpPr/>
            <p:nvPr/>
          </p:nvSpPr>
          <p:spPr>
            <a:xfrm>
              <a:off x="139" y="787"/>
              <a:ext cx="222" cy="0"/>
            </a:xfrm>
            <a:prstGeom prst="line">
              <a:avLst/>
            </a:prstGeom>
            <a:ln w="12700" cap="flat" cmpd="sng">
              <a:solidFill>
                <a:srgbClr val="000000"/>
              </a:solidFill>
              <a:prstDash val="solid"/>
              <a:bevel/>
              <a:headEnd type="none" w="med" len="med"/>
              <a:tailEnd type="none" w="med" len="med"/>
            </a:ln>
          </p:spPr>
        </p:sp>
        <p:sp>
          <p:nvSpPr>
            <p:cNvPr id="278590" name="直接连接符 207933"/>
            <p:cNvSpPr/>
            <p:nvPr/>
          </p:nvSpPr>
          <p:spPr>
            <a:xfrm>
              <a:off x="96" y="943"/>
              <a:ext cx="288" cy="0"/>
            </a:xfrm>
            <a:prstGeom prst="line">
              <a:avLst/>
            </a:prstGeom>
            <a:ln w="12700" cap="flat" cmpd="sng">
              <a:solidFill>
                <a:srgbClr val="000000"/>
              </a:solidFill>
              <a:prstDash val="solid"/>
              <a:bevel/>
              <a:headEnd type="none" w="med" len="med"/>
              <a:tailEnd type="none" w="med" len="med"/>
            </a:ln>
          </p:spPr>
        </p:sp>
        <p:sp>
          <p:nvSpPr>
            <p:cNvPr id="278591" name="右箭头 207934"/>
            <p:cNvSpPr/>
            <p:nvPr/>
          </p:nvSpPr>
          <p:spPr>
            <a:xfrm>
              <a:off x="432" y="1564"/>
              <a:ext cx="229" cy="147"/>
            </a:xfrm>
            <a:prstGeom prst="rightArrow">
              <a:avLst>
                <a:gd name="adj1" fmla="val 50000"/>
                <a:gd name="adj2" fmla="val 42753"/>
              </a:avLst>
            </a:prstGeom>
            <a:solidFill>
              <a:srgbClr val="FF9900"/>
            </a:solid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en-US" sz="1800" b="0" dirty="0">
                <a:solidFill>
                  <a:schemeClr val="tx1"/>
                </a:solidFill>
                <a:ea typeface="楷体_GB2312"/>
              </a:endParaRPr>
            </a:p>
          </p:txBody>
        </p:sp>
        <p:sp>
          <p:nvSpPr>
            <p:cNvPr id="278592" name="文本框 207935"/>
            <p:cNvSpPr txBox="1"/>
            <p:nvPr/>
          </p:nvSpPr>
          <p:spPr>
            <a:xfrm>
              <a:off x="191" y="1465"/>
              <a:ext cx="197" cy="406"/>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7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A5</a:t>
              </a:r>
              <a:endParaRPr lang="en-US" altLang="zh-CN" sz="1800" dirty="0">
                <a:solidFill>
                  <a:schemeClr val="tx1"/>
                </a:solidFill>
                <a:latin typeface="Times New Roman" panose="02020603050405020304" pitchFamily="18" charset="0"/>
                <a:ea typeface="楷体_GB2312"/>
              </a:endParaRPr>
            </a:p>
            <a:p>
              <a:pPr marL="0" lvl="0" indent="0" algn="ctr">
                <a:lnSpc>
                  <a:spcPct val="7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a:t>
              </a:r>
              <a:endParaRPr lang="en-US" altLang="zh-CN" sz="1800" dirty="0">
                <a:solidFill>
                  <a:schemeClr val="tx1"/>
                </a:solidFill>
                <a:latin typeface="Times New Roman" panose="02020603050405020304" pitchFamily="18" charset="0"/>
                <a:ea typeface="楷体_GB2312"/>
              </a:endParaRPr>
            </a:p>
            <a:p>
              <a:pPr marL="0" lvl="0" indent="0" algn="ctr">
                <a:lnSpc>
                  <a:spcPct val="7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A9</a:t>
              </a:r>
              <a:endParaRPr lang="en-US" altLang="zh-CN" sz="2000" dirty="0">
                <a:solidFill>
                  <a:schemeClr val="tx1"/>
                </a:solidFill>
                <a:latin typeface="Times New Roman" panose="02020603050405020304" pitchFamily="18" charset="0"/>
                <a:ea typeface="楷体_GB2312"/>
              </a:endParaRPr>
            </a:p>
          </p:txBody>
        </p:sp>
        <p:sp>
          <p:nvSpPr>
            <p:cNvPr id="278593" name="文本框 207936"/>
            <p:cNvSpPr txBox="1"/>
            <p:nvPr/>
          </p:nvSpPr>
          <p:spPr>
            <a:xfrm>
              <a:off x="207" y="351"/>
              <a:ext cx="213" cy="400"/>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70000"/>
                </a:lnSpc>
                <a:spcBef>
                  <a:spcPct val="0"/>
                </a:spcBef>
                <a:spcAft>
                  <a:spcPct val="0"/>
                </a:spcAft>
                <a:buClrTx/>
                <a:buSzTx/>
                <a:buFont typeface="Arial" panose="020B0604020202020204" pitchFamily="34" charset="0"/>
                <a:buNone/>
              </a:pPr>
              <a:r>
                <a:rPr lang="en-US" altLang="zh-CN" sz="1600" dirty="0">
                  <a:solidFill>
                    <a:schemeClr val="tx1"/>
                  </a:solidFill>
                  <a:latin typeface="Times New Roman" panose="02020603050405020304" pitchFamily="18" charset="0"/>
                  <a:ea typeface="楷体_GB2312"/>
                </a:rPr>
                <a:t>D0</a:t>
              </a:r>
              <a:endParaRPr lang="en-US" altLang="zh-CN" sz="1600" dirty="0">
                <a:solidFill>
                  <a:schemeClr val="tx1"/>
                </a:solidFill>
                <a:latin typeface="Times New Roman" panose="02020603050405020304" pitchFamily="18" charset="0"/>
                <a:ea typeface="楷体_GB2312"/>
              </a:endParaRPr>
            </a:p>
            <a:p>
              <a:pPr marL="0" lvl="0" indent="0" algn="ctr">
                <a:lnSpc>
                  <a:spcPct val="70000"/>
                </a:lnSpc>
                <a:spcBef>
                  <a:spcPct val="0"/>
                </a:spcBef>
                <a:spcAft>
                  <a:spcPct val="0"/>
                </a:spcAft>
                <a:buClrTx/>
                <a:buSzTx/>
                <a:buFont typeface="Arial" panose="020B0604020202020204" pitchFamily="34" charset="0"/>
                <a:buNone/>
              </a:pPr>
              <a:r>
                <a:rPr lang="en-US" altLang="zh-CN" sz="1600" dirty="0">
                  <a:solidFill>
                    <a:schemeClr val="tx1"/>
                  </a:solidFill>
                  <a:latin typeface="Times New Roman" panose="02020603050405020304" pitchFamily="18" charset="0"/>
                  <a:ea typeface="楷体_GB2312"/>
                </a:rPr>
                <a:t>~</a:t>
              </a:r>
              <a:endParaRPr lang="en-US" altLang="zh-CN" sz="1600" dirty="0">
                <a:solidFill>
                  <a:schemeClr val="tx1"/>
                </a:solidFill>
                <a:latin typeface="Times New Roman" panose="02020603050405020304" pitchFamily="18" charset="0"/>
                <a:ea typeface="楷体_GB2312"/>
              </a:endParaRPr>
            </a:p>
            <a:p>
              <a:pPr marL="0" lvl="0" indent="0" algn="ctr">
                <a:lnSpc>
                  <a:spcPct val="70000"/>
                </a:lnSpc>
                <a:spcBef>
                  <a:spcPct val="0"/>
                </a:spcBef>
                <a:spcAft>
                  <a:spcPct val="0"/>
                </a:spcAft>
                <a:buClrTx/>
                <a:buSzTx/>
                <a:buFont typeface="Arial" panose="020B0604020202020204" pitchFamily="34" charset="0"/>
                <a:buNone/>
              </a:pPr>
              <a:r>
                <a:rPr lang="en-US" altLang="zh-CN" sz="1600" dirty="0">
                  <a:solidFill>
                    <a:schemeClr val="tx1"/>
                  </a:solidFill>
                  <a:latin typeface="Times New Roman" panose="02020603050405020304" pitchFamily="18" charset="0"/>
                  <a:ea typeface="楷体_GB2312"/>
                </a:rPr>
                <a:t>D7</a:t>
              </a:r>
              <a:endParaRPr lang="en-US" altLang="zh-CN" sz="1600" dirty="0">
                <a:solidFill>
                  <a:schemeClr val="tx1"/>
                </a:solidFill>
                <a:latin typeface="Times New Roman" panose="02020603050405020304" pitchFamily="18" charset="0"/>
                <a:ea typeface="楷体_GB2312"/>
              </a:endParaRPr>
            </a:p>
          </p:txBody>
        </p:sp>
        <p:sp>
          <p:nvSpPr>
            <p:cNvPr id="278594" name="文本框 207937"/>
            <p:cNvSpPr txBox="1"/>
            <p:nvPr/>
          </p:nvSpPr>
          <p:spPr>
            <a:xfrm>
              <a:off x="14" y="1924"/>
              <a:ext cx="410" cy="13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 I</a:t>
              </a:r>
              <a:r>
                <a:rPr lang="en-US" altLang="zh-CN" sz="1800" dirty="0">
                  <a:solidFill>
                    <a:schemeClr val="tx1"/>
                  </a:solidFill>
                  <a:latin typeface="Times New Roman" panose="02020603050405020304" pitchFamily="18" charset="0"/>
                  <a:ea typeface="楷体_GB2312"/>
                </a:rPr>
                <a:t>NTA</a:t>
              </a:r>
              <a:endParaRPr lang="en-US" altLang="zh-CN" sz="2000" dirty="0">
                <a:solidFill>
                  <a:schemeClr val="tx1"/>
                </a:solidFill>
                <a:latin typeface="Times New Roman" panose="02020603050405020304" pitchFamily="18" charset="0"/>
                <a:ea typeface="楷体_GB2312"/>
              </a:endParaRPr>
            </a:p>
          </p:txBody>
        </p:sp>
        <p:sp>
          <p:nvSpPr>
            <p:cNvPr id="278595" name="直接连接符 207938"/>
            <p:cNvSpPr/>
            <p:nvPr/>
          </p:nvSpPr>
          <p:spPr>
            <a:xfrm>
              <a:off x="40" y="1936"/>
              <a:ext cx="319" cy="3"/>
            </a:xfrm>
            <a:prstGeom prst="line">
              <a:avLst/>
            </a:prstGeom>
            <a:ln w="25400" cap="flat" cmpd="sng">
              <a:solidFill>
                <a:srgbClr val="000000"/>
              </a:solidFill>
              <a:prstDash val="solid"/>
              <a:bevel/>
              <a:headEnd type="none" w="med" len="med"/>
              <a:tailEnd type="none" w="med" len="med"/>
            </a:ln>
          </p:spPr>
        </p:sp>
        <p:sp>
          <p:nvSpPr>
            <p:cNvPr id="278596" name="文本框 207939"/>
            <p:cNvSpPr txBox="1"/>
            <p:nvPr/>
          </p:nvSpPr>
          <p:spPr>
            <a:xfrm>
              <a:off x="8" y="2066"/>
              <a:ext cx="555" cy="131"/>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 </a:t>
              </a:r>
              <a:r>
                <a:rPr lang="en-US" altLang="zh-CN" sz="1800" dirty="0">
                  <a:solidFill>
                    <a:schemeClr val="tx1"/>
                  </a:solidFill>
                  <a:latin typeface="Times New Roman" panose="02020603050405020304" pitchFamily="18" charset="0"/>
                  <a:ea typeface="楷体_GB2312"/>
                </a:rPr>
                <a:t>INTR</a:t>
              </a:r>
              <a:endParaRPr lang="en-US" altLang="zh-CN" sz="1800" dirty="0">
                <a:solidFill>
                  <a:schemeClr val="tx1"/>
                </a:solidFill>
                <a:latin typeface="Times New Roman" panose="02020603050405020304" pitchFamily="18" charset="0"/>
                <a:ea typeface="楷体_GB2312"/>
              </a:endParaRPr>
            </a:p>
          </p:txBody>
        </p:sp>
        <p:sp>
          <p:nvSpPr>
            <p:cNvPr id="278597" name="文本框 207940"/>
            <p:cNvSpPr txBox="1"/>
            <p:nvPr/>
          </p:nvSpPr>
          <p:spPr>
            <a:xfrm>
              <a:off x="2239" y="223"/>
              <a:ext cx="343" cy="1207"/>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rgbClr val="FF3300"/>
                  </a:solidFill>
                  <a:latin typeface="Times New Roman" panose="02020603050405020304" pitchFamily="18" charset="0"/>
                  <a:ea typeface="楷体_GB2312"/>
                </a:rPr>
                <a:t>08H</a:t>
              </a:r>
              <a:endParaRPr lang="en-US" altLang="zh-CN" sz="2000" dirty="0">
                <a:solidFill>
                  <a:srgbClr val="FF3300"/>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rgbClr val="FF3300"/>
                  </a:solidFill>
                  <a:latin typeface="Times New Roman" panose="02020603050405020304" pitchFamily="18" charset="0"/>
                  <a:ea typeface="楷体_GB2312"/>
                </a:rPr>
                <a:t>09H</a:t>
              </a:r>
              <a:endParaRPr lang="en-US" altLang="zh-CN" sz="2000" dirty="0">
                <a:solidFill>
                  <a:srgbClr val="FF3300"/>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rgbClr val="FF3300"/>
                  </a:solidFill>
                  <a:latin typeface="Times New Roman" panose="02020603050405020304" pitchFamily="18" charset="0"/>
                  <a:ea typeface="楷体_GB2312"/>
                </a:rPr>
                <a:t>0AH</a:t>
              </a:r>
              <a:endParaRPr lang="en-US" altLang="zh-CN" sz="2000" dirty="0">
                <a:solidFill>
                  <a:srgbClr val="FF3300"/>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rgbClr val="FF3300"/>
                  </a:solidFill>
                  <a:latin typeface="Times New Roman" panose="02020603050405020304" pitchFamily="18" charset="0"/>
                  <a:ea typeface="楷体_GB2312"/>
                </a:rPr>
                <a:t>0BH</a:t>
              </a:r>
              <a:endParaRPr lang="en-US" altLang="zh-CN" sz="2000" dirty="0">
                <a:solidFill>
                  <a:srgbClr val="FF3300"/>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rgbClr val="FF3300"/>
                  </a:solidFill>
                  <a:latin typeface="Times New Roman" panose="02020603050405020304" pitchFamily="18" charset="0"/>
                  <a:ea typeface="楷体_GB2312"/>
                </a:rPr>
                <a:t>0CH</a:t>
              </a:r>
              <a:endParaRPr lang="en-US" altLang="zh-CN" sz="2000" dirty="0">
                <a:solidFill>
                  <a:srgbClr val="FF3300"/>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rgbClr val="FF3300"/>
                  </a:solidFill>
                  <a:latin typeface="Times New Roman" panose="02020603050405020304" pitchFamily="18" charset="0"/>
                  <a:ea typeface="楷体_GB2312"/>
                </a:rPr>
                <a:t>0DH</a:t>
              </a:r>
              <a:endParaRPr lang="en-US" altLang="zh-CN" sz="2000" dirty="0">
                <a:solidFill>
                  <a:srgbClr val="FF3300"/>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rgbClr val="FF3300"/>
                  </a:solidFill>
                  <a:latin typeface="Times New Roman" panose="02020603050405020304" pitchFamily="18" charset="0"/>
                  <a:ea typeface="楷体_GB2312"/>
                </a:rPr>
                <a:t>0EH</a:t>
              </a:r>
              <a:endParaRPr lang="en-US" altLang="zh-CN" sz="2000" dirty="0">
                <a:solidFill>
                  <a:srgbClr val="FF3300"/>
                </a:solidFill>
                <a:latin typeface="Times New Roman" panose="02020603050405020304" pitchFamily="18" charset="0"/>
                <a:ea typeface="楷体_GB2312"/>
              </a:endParaRPr>
            </a:p>
            <a:p>
              <a:pPr marL="0" lvl="0" indent="0" algn="just">
                <a:lnSpc>
                  <a:spcPct val="80000"/>
                </a:lnSpc>
                <a:spcBef>
                  <a:spcPct val="0"/>
                </a:spcBef>
                <a:spcAft>
                  <a:spcPct val="0"/>
                </a:spcAft>
                <a:buClrTx/>
                <a:buSzTx/>
                <a:buFont typeface="Arial" panose="020B0604020202020204" pitchFamily="34" charset="0"/>
                <a:buNone/>
              </a:pPr>
              <a:r>
                <a:rPr lang="en-US" altLang="zh-CN" sz="2000" dirty="0">
                  <a:solidFill>
                    <a:srgbClr val="FF3300"/>
                  </a:solidFill>
                  <a:latin typeface="Times New Roman" panose="02020603050405020304" pitchFamily="18" charset="0"/>
                  <a:ea typeface="楷体_GB2312"/>
                </a:rPr>
                <a:t>0FH</a:t>
              </a:r>
              <a:endParaRPr lang="en-US" altLang="zh-CN" sz="2000" dirty="0">
                <a:solidFill>
                  <a:srgbClr val="FF3300"/>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p:txBody>
        </p:sp>
        <p:sp>
          <p:nvSpPr>
            <p:cNvPr id="278598" name="文本框 207941"/>
            <p:cNvSpPr txBox="1"/>
            <p:nvPr/>
          </p:nvSpPr>
          <p:spPr>
            <a:xfrm>
              <a:off x="3727" y="223"/>
              <a:ext cx="833" cy="1200"/>
            </a:xfrm>
            <a:prstGeom prst="rect">
              <a:avLst/>
            </a:prstGeom>
            <a:noFill/>
            <a:ln w="9525">
              <a:noFill/>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90000"/>
                </a:lnSpc>
                <a:spcBef>
                  <a:spcPct val="0"/>
                </a:spcBef>
                <a:spcAft>
                  <a:spcPct val="0"/>
                </a:spcAft>
                <a:buClrTx/>
                <a:buSzTx/>
                <a:buFont typeface="Arial" panose="020B0604020202020204" pitchFamily="34" charset="0"/>
                <a:buNone/>
              </a:pPr>
              <a:r>
                <a:rPr lang="en-US" altLang="zh-CN" sz="1800" dirty="0">
                  <a:solidFill>
                    <a:srgbClr val="0000FF"/>
                  </a:solidFill>
                  <a:latin typeface="楷体_GB2312"/>
                  <a:ea typeface="楷体_GB2312"/>
                </a:rPr>
                <a:t>18.2Hz</a:t>
              </a:r>
              <a:r>
                <a:rPr lang="zh-CN" altLang="en-US" sz="1800" dirty="0">
                  <a:solidFill>
                    <a:srgbClr val="0000FF"/>
                  </a:solidFill>
                  <a:latin typeface="楷体_GB2312"/>
                  <a:ea typeface="楷体_GB2312"/>
                </a:rPr>
                <a:t>方波</a:t>
              </a:r>
              <a:endParaRPr lang="zh-CN" altLang="en-US" sz="1800" dirty="0">
                <a:solidFill>
                  <a:srgbClr val="FF3300"/>
                </a:solidFill>
                <a:latin typeface="楷体_GB2312"/>
                <a:ea typeface="楷体_GB2312"/>
              </a:endParaRPr>
            </a:p>
            <a:p>
              <a:pPr marL="0" lvl="0" indent="0" algn="just">
                <a:lnSpc>
                  <a:spcPct val="90000"/>
                </a:lnSpc>
                <a:spcBef>
                  <a:spcPct val="0"/>
                </a:spcBef>
                <a:spcAft>
                  <a:spcPct val="0"/>
                </a:spcAft>
                <a:buClrTx/>
                <a:buSzTx/>
                <a:buFont typeface="Arial" panose="020B0604020202020204" pitchFamily="34" charset="0"/>
                <a:buNone/>
              </a:pPr>
              <a:r>
                <a:rPr lang="zh-CN" altLang="en-US" sz="1800" dirty="0">
                  <a:solidFill>
                    <a:srgbClr val="0000FF"/>
                  </a:solidFill>
                  <a:latin typeface="楷体_GB2312"/>
                  <a:ea typeface="楷体_GB2312"/>
                </a:rPr>
                <a:t>键 盘</a:t>
              </a:r>
              <a:endParaRPr lang="zh-CN" altLang="en-US" sz="1800" dirty="0">
                <a:solidFill>
                  <a:srgbClr val="0000FF"/>
                </a:solidFill>
                <a:latin typeface="楷体_GB2312"/>
                <a:ea typeface="楷体_GB2312"/>
              </a:endParaRPr>
            </a:p>
            <a:p>
              <a:pPr marL="0" lvl="0" indent="0" algn="just">
                <a:lnSpc>
                  <a:spcPct val="90000"/>
                </a:lnSpc>
                <a:spcBef>
                  <a:spcPct val="0"/>
                </a:spcBef>
                <a:spcAft>
                  <a:spcPct val="0"/>
                </a:spcAft>
                <a:buClrTx/>
                <a:buSzTx/>
                <a:buFont typeface="Arial" panose="020B0604020202020204" pitchFamily="34" charset="0"/>
                <a:buNone/>
              </a:pPr>
              <a:endParaRPr lang="zh-CN" altLang="en-US" sz="1800" dirty="0">
                <a:solidFill>
                  <a:srgbClr val="FF3300"/>
                </a:solidFill>
                <a:latin typeface="楷体_GB2312"/>
                <a:ea typeface="楷体_GB2312"/>
              </a:endParaRPr>
            </a:p>
            <a:p>
              <a:pPr marL="0" lvl="0" indent="0" algn="just">
                <a:lnSpc>
                  <a:spcPct val="80000"/>
                </a:lnSpc>
                <a:spcBef>
                  <a:spcPct val="0"/>
                </a:spcBef>
                <a:spcAft>
                  <a:spcPct val="0"/>
                </a:spcAft>
                <a:buClrTx/>
                <a:buSzTx/>
                <a:buFont typeface="Arial" panose="020B0604020202020204" pitchFamily="34" charset="0"/>
                <a:buNone/>
              </a:pPr>
              <a:endParaRPr lang="zh-CN" altLang="en-US" sz="1800" dirty="0">
                <a:solidFill>
                  <a:srgbClr val="FF3300"/>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zh-CN" altLang="en-US" sz="2000" dirty="0">
                <a:solidFill>
                  <a:schemeClr val="tx1"/>
                </a:solidFill>
                <a:latin typeface="Times New Roman" panose="02020603050405020304" pitchFamily="18" charset="0"/>
                <a:ea typeface="楷体_GB2312"/>
              </a:endParaRPr>
            </a:p>
          </p:txBody>
        </p:sp>
        <p:sp>
          <p:nvSpPr>
            <p:cNvPr id="278599" name="文本框 207942"/>
            <p:cNvSpPr txBox="1"/>
            <p:nvPr/>
          </p:nvSpPr>
          <p:spPr>
            <a:xfrm>
              <a:off x="4512" y="2095"/>
              <a:ext cx="864" cy="19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PC/XT</a:t>
              </a:r>
              <a:r>
                <a:rPr lang="zh-CN" altLang="en-US" sz="2000" dirty="0">
                  <a:solidFill>
                    <a:schemeClr val="tx1"/>
                  </a:solidFill>
                  <a:latin typeface="Times New Roman" panose="02020603050405020304" pitchFamily="18" charset="0"/>
                  <a:ea typeface="楷体_GB2312"/>
                </a:rPr>
                <a:t>总线</a:t>
              </a:r>
              <a:endParaRPr lang="zh-CN" altLang="en-US" sz="20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zh-CN" altLang="en-US" sz="2000" dirty="0">
                <a:solidFill>
                  <a:schemeClr val="tx1"/>
                </a:solidFill>
                <a:latin typeface="Times New Roman" panose="02020603050405020304" pitchFamily="18" charset="0"/>
                <a:ea typeface="楷体_GB2312"/>
              </a:endParaRPr>
            </a:p>
          </p:txBody>
        </p:sp>
      </p:gr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207878"/>
                                        </p:tgtEl>
                                        <p:attrNameLst>
                                          <p:attrName>style.visibility</p:attrName>
                                        </p:attrNameLst>
                                      </p:cBhvr>
                                      <p:to>
                                        <p:strVal val="visible"/>
                                      </p:to>
                                    </p:set>
                                    <p:animEffect transition="in" filter="blinds(vertical)">
                                      <p:cBhvr>
                                        <p:cTn id="7" dur="500"/>
                                        <p:tgtEl>
                                          <p:spTgt spid="20787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207877"/>
                                        </p:tgtEl>
                                        <p:attrNameLst>
                                          <p:attrName>style.visibility</p:attrName>
                                        </p:attrNameLst>
                                      </p:cBhvr>
                                      <p:to>
                                        <p:strVal val="visible"/>
                                      </p:to>
                                    </p:set>
                                    <p:anim calcmode="lin" valueType="num">
                                      <p:cBhvr>
                                        <p:cTn id="12" dur="500" fill="hold"/>
                                        <p:tgtEl>
                                          <p:spTgt spid="207877"/>
                                        </p:tgtEl>
                                        <p:attrNameLst>
                                          <p:attrName>ppt_x</p:attrName>
                                        </p:attrNameLst>
                                      </p:cBhvr>
                                      <p:tavLst>
                                        <p:tav tm="0">
                                          <p:val>
                                            <p:strVal val="1+#ppt_w/2"/>
                                          </p:val>
                                        </p:tav>
                                        <p:tav tm="100000">
                                          <p:val>
                                            <p:strVal val="#ppt_x"/>
                                          </p:val>
                                        </p:tav>
                                      </p:tavLst>
                                    </p:anim>
                                    <p:anim calcmode="lin" valueType="num">
                                      <p:cBhvr>
                                        <p:cTn id="13" dur="500" fill="hold"/>
                                        <p:tgtEl>
                                          <p:spTgt spid="20787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207876"/>
                                        </p:tgtEl>
                                        <p:attrNameLst>
                                          <p:attrName>style.visibility</p:attrName>
                                        </p:attrNameLst>
                                      </p:cBhvr>
                                      <p:to>
                                        <p:strVal val="visible"/>
                                      </p:to>
                                    </p:set>
                                    <p:anim calcmode="lin" valueType="num">
                                      <p:cBhvr>
                                        <p:cTn id="18" dur="500" fill="hold"/>
                                        <p:tgtEl>
                                          <p:spTgt spid="207876"/>
                                        </p:tgtEl>
                                        <p:attrNameLst>
                                          <p:attrName>ppt_x</p:attrName>
                                        </p:attrNameLst>
                                      </p:cBhvr>
                                      <p:tavLst>
                                        <p:tav tm="0">
                                          <p:val>
                                            <p:strVal val="1+#ppt_w/2"/>
                                          </p:val>
                                        </p:tav>
                                        <p:tav tm="100000">
                                          <p:val>
                                            <p:strVal val="#ppt_x"/>
                                          </p:val>
                                        </p:tav>
                                      </p:tavLst>
                                    </p:anim>
                                    <p:anim calcmode="lin" valueType="num">
                                      <p:cBhvr>
                                        <p:cTn id="19" dur="500" fill="hold"/>
                                        <p:tgtEl>
                                          <p:spTgt spid="20787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5" fill="hold" grpId="0" nodeType="clickEffect">
                                  <p:stCondLst>
                                    <p:cond delay="0"/>
                                  </p:stCondLst>
                                  <p:childTnLst>
                                    <p:set>
                                      <p:cBhvr>
                                        <p:cTn id="23" dur="1" fill="hold">
                                          <p:stCondLst>
                                            <p:cond delay="0"/>
                                          </p:stCondLst>
                                        </p:cTn>
                                        <p:tgtEl>
                                          <p:spTgt spid="207875"/>
                                        </p:tgtEl>
                                        <p:attrNameLst>
                                          <p:attrName>style.visibility</p:attrName>
                                        </p:attrNameLst>
                                      </p:cBhvr>
                                      <p:to>
                                        <p:strVal val="visible"/>
                                      </p:to>
                                    </p:set>
                                    <p:animEffect transition="in" filter="blinds(vertical)">
                                      <p:cBhvr>
                                        <p:cTn id="24" dur="500"/>
                                        <p:tgtEl>
                                          <p:spTgt spid="207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5" grpId="0"/>
    </p:bldLst>
  </p:timing>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8898" name="文本占位符 208897"/>
          <p:cNvSpPr>
            <a:spLocks noGrp="1"/>
          </p:cNvSpPr>
          <p:nvPr>
            <p:ph type="body" idx="4294967295"/>
          </p:nvPr>
        </p:nvSpPr>
        <p:spPr>
          <a:xfrm>
            <a:off x="-106362" y="836613"/>
            <a:ext cx="9288462" cy="5472112"/>
          </a:xfrm>
        </p:spPr>
        <p:txBody>
          <a:bodyPr vert="horz" wrap="square" lIns="91440" tIns="45720" rIns="91440" bIns="45720" anchor="t" anchorCtr="0"/>
          <a:p>
            <a:pPr>
              <a:lnSpc>
                <a:spcPct val="120000"/>
              </a:lnSpc>
              <a:buClr>
                <a:srgbClr val="0000FF"/>
              </a:buClr>
              <a:buFont typeface="Wingdings" panose="05000000000000000000" pitchFamily="2" charset="2"/>
              <a:buChar char="þ"/>
            </a:pPr>
            <a:r>
              <a:rPr lang="zh-CN" altLang="en-US" sz="2400" dirty="0">
                <a:solidFill>
                  <a:srgbClr val="006600"/>
                </a:solidFill>
              </a:rPr>
              <a:t>主程中做好外设发出中断申请，</a:t>
            </a:r>
            <a:r>
              <a:rPr lang="en-US" altLang="zh-CN" sz="2400" dirty="0">
                <a:solidFill>
                  <a:srgbClr val="006600"/>
                </a:solidFill>
              </a:rPr>
              <a:t>CPU</a:t>
            </a:r>
            <a:r>
              <a:rPr lang="zh-CN" altLang="en-US" sz="2400" dirty="0">
                <a:solidFill>
                  <a:srgbClr val="006600"/>
                </a:solidFill>
              </a:rPr>
              <a:t>能够响应的准备工作</a:t>
            </a:r>
            <a:endParaRPr lang="zh-CN" altLang="en-US" sz="2400" dirty="0">
              <a:solidFill>
                <a:srgbClr val="006600"/>
              </a:solidFill>
            </a:endParaRPr>
          </a:p>
          <a:p>
            <a:pPr lvl="1" algn="just">
              <a:lnSpc>
                <a:spcPct val="120000"/>
              </a:lnSpc>
            </a:pPr>
            <a:r>
              <a:rPr lang="zh-CN" altLang="en-US" sz="2200" dirty="0"/>
              <a:t>在主程序中应做的工作：</a:t>
            </a:r>
            <a:endParaRPr lang="zh-CN" altLang="en-US" sz="2200" dirty="0">
              <a:solidFill>
                <a:srgbClr val="FF3300"/>
              </a:solidFill>
            </a:endParaRPr>
          </a:p>
          <a:p>
            <a:pPr lvl="2" algn="just">
              <a:lnSpc>
                <a:spcPct val="120000"/>
              </a:lnSpc>
              <a:buNone/>
            </a:pPr>
            <a:r>
              <a:rPr lang="en-US" altLang="zh-CN" sz="2200" dirty="0">
                <a:solidFill>
                  <a:srgbClr val="0033CC"/>
                </a:solidFill>
                <a:latin typeface="宋体" panose="02010600030101010101" pitchFamily="2" charset="-122"/>
              </a:rPr>
              <a:t>① </a:t>
            </a:r>
            <a:r>
              <a:rPr lang="en-US" altLang="zh-CN" sz="2200" dirty="0">
                <a:solidFill>
                  <a:srgbClr val="0033CC"/>
                </a:solidFill>
              </a:rPr>
              <a:t>CPU</a:t>
            </a:r>
            <a:r>
              <a:rPr lang="zh-CN" altLang="en-US" sz="2200" dirty="0">
                <a:solidFill>
                  <a:srgbClr val="0033CC"/>
                </a:solidFill>
                <a:latin typeface="宋体" panose="02010600030101010101" pitchFamily="2" charset="-122"/>
              </a:rPr>
              <a:t>关中断    </a:t>
            </a:r>
            <a:r>
              <a:rPr lang="en-US" altLang="zh-CN" sz="2200" dirty="0">
                <a:solidFill>
                  <a:srgbClr val="0033CC"/>
                </a:solidFill>
                <a:latin typeface="宋体" panose="02010600030101010101" pitchFamily="2" charset="-122"/>
              </a:rPr>
              <a:t>( </a:t>
            </a:r>
            <a:r>
              <a:rPr lang="zh-CN" altLang="en-US" sz="2200" dirty="0">
                <a:solidFill>
                  <a:srgbClr val="0033CC"/>
                </a:solidFill>
                <a:latin typeface="宋体" panose="02010600030101010101" pitchFamily="2" charset="-122"/>
              </a:rPr>
              <a:t>用</a:t>
            </a:r>
            <a:r>
              <a:rPr lang="en-US" altLang="zh-CN" sz="2200" dirty="0">
                <a:solidFill>
                  <a:srgbClr val="0033CC"/>
                </a:solidFill>
              </a:rPr>
              <a:t>CLI</a:t>
            </a:r>
            <a:r>
              <a:rPr lang="zh-CN" altLang="en-US" sz="2200" dirty="0">
                <a:solidFill>
                  <a:srgbClr val="0033CC"/>
                </a:solidFill>
              </a:rPr>
              <a:t>置 </a:t>
            </a:r>
            <a:r>
              <a:rPr lang="en-US" altLang="zh-CN" sz="2200" dirty="0">
                <a:solidFill>
                  <a:srgbClr val="0033CC"/>
                </a:solidFill>
              </a:rPr>
              <a:t>IF=0 </a:t>
            </a:r>
            <a:r>
              <a:rPr lang="en-US" altLang="zh-CN" sz="2200" dirty="0">
                <a:solidFill>
                  <a:srgbClr val="0033CC"/>
                </a:solidFill>
                <a:latin typeface="宋体" panose="02010600030101010101" pitchFamily="2" charset="-122"/>
              </a:rPr>
              <a:t>) </a:t>
            </a:r>
            <a:endParaRPr lang="en-US" altLang="zh-CN" sz="2200" dirty="0">
              <a:solidFill>
                <a:srgbClr val="0033CC"/>
              </a:solidFill>
              <a:latin typeface="宋体" panose="02010600030101010101" pitchFamily="2" charset="-122"/>
            </a:endParaRPr>
          </a:p>
          <a:p>
            <a:pPr lvl="2" algn="just">
              <a:lnSpc>
                <a:spcPct val="120000"/>
              </a:lnSpc>
              <a:buNone/>
            </a:pPr>
            <a:r>
              <a:rPr lang="en-US" altLang="zh-CN" sz="2200" dirty="0">
                <a:solidFill>
                  <a:srgbClr val="0033CC"/>
                </a:solidFill>
                <a:latin typeface="宋体" panose="02010600030101010101" pitchFamily="2" charset="-122"/>
              </a:rPr>
              <a:t>② </a:t>
            </a:r>
            <a:r>
              <a:rPr lang="zh-CN" altLang="en-US" sz="2200" dirty="0">
                <a:solidFill>
                  <a:srgbClr val="0033CC"/>
                </a:solidFill>
              </a:rPr>
              <a:t>保存原中断向量 </a:t>
            </a:r>
            <a:r>
              <a:rPr lang="en-US" altLang="zh-CN" sz="2200" dirty="0">
                <a:solidFill>
                  <a:srgbClr val="0033CC"/>
                </a:solidFill>
              </a:rPr>
              <a:t>( </a:t>
            </a:r>
            <a:r>
              <a:rPr lang="zh-CN" altLang="en-US" sz="2200" dirty="0">
                <a:solidFill>
                  <a:srgbClr val="0033CC"/>
                </a:solidFill>
              </a:rPr>
              <a:t>用</a:t>
            </a:r>
            <a:r>
              <a:rPr lang="en-US" altLang="zh-CN" sz="2200" dirty="0">
                <a:solidFill>
                  <a:srgbClr val="0033CC"/>
                </a:solidFill>
              </a:rPr>
              <a:t>35H</a:t>
            </a:r>
            <a:r>
              <a:rPr lang="zh-CN" altLang="en-US" sz="2200" dirty="0">
                <a:solidFill>
                  <a:srgbClr val="0033CC"/>
                </a:solidFill>
              </a:rPr>
              <a:t>系统功能 </a:t>
            </a:r>
            <a:r>
              <a:rPr lang="en-US" altLang="zh-CN" sz="2200" dirty="0">
                <a:solidFill>
                  <a:srgbClr val="0033CC"/>
                </a:solidFill>
              </a:rPr>
              <a:t>)</a:t>
            </a:r>
            <a:endParaRPr lang="en-US" altLang="zh-CN" sz="2200" dirty="0">
              <a:solidFill>
                <a:srgbClr val="0033CC"/>
              </a:solidFill>
            </a:endParaRPr>
          </a:p>
          <a:p>
            <a:pPr lvl="2" algn="just">
              <a:lnSpc>
                <a:spcPct val="120000"/>
              </a:lnSpc>
              <a:buNone/>
            </a:pPr>
            <a:r>
              <a:rPr lang="en-US" altLang="zh-CN" sz="2200" dirty="0">
                <a:solidFill>
                  <a:srgbClr val="0033CC"/>
                </a:solidFill>
                <a:latin typeface="宋体" panose="02010600030101010101" pitchFamily="2" charset="-122"/>
              </a:rPr>
              <a:t>③ </a:t>
            </a:r>
            <a:r>
              <a:rPr lang="zh-CN" altLang="en-US" sz="2200" dirty="0">
                <a:solidFill>
                  <a:srgbClr val="0033CC"/>
                </a:solidFill>
              </a:rPr>
              <a:t>设置中断向量    </a:t>
            </a:r>
            <a:r>
              <a:rPr lang="en-US" altLang="zh-CN" sz="2200" dirty="0">
                <a:solidFill>
                  <a:srgbClr val="0033CC"/>
                </a:solidFill>
              </a:rPr>
              <a:t>( </a:t>
            </a:r>
            <a:r>
              <a:rPr lang="zh-CN" altLang="en-US" sz="2200" dirty="0">
                <a:solidFill>
                  <a:srgbClr val="0033CC"/>
                </a:solidFill>
              </a:rPr>
              <a:t>用</a:t>
            </a:r>
            <a:r>
              <a:rPr lang="en-US" altLang="zh-CN" sz="2200" dirty="0">
                <a:solidFill>
                  <a:srgbClr val="0033CC"/>
                </a:solidFill>
              </a:rPr>
              <a:t>25H</a:t>
            </a:r>
            <a:r>
              <a:rPr lang="zh-CN" altLang="en-US" sz="2200" dirty="0">
                <a:solidFill>
                  <a:srgbClr val="0033CC"/>
                </a:solidFill>
              </a:rPr>
              <a:t>系统功能 </a:t>
            </a:r>
            <a:r>
              <a:rPr lang="en-US" altLang="zh-CN" sz="2200" dirty="0">
                <a:solidFill>
                  <a:srgbClr val="0033CC"/>
                </a:solidFill>
              </a:rPr>
              <a:t>)</a:t>
            </a:r>
            <a:endParaRPr lang="en-US" altLang="zh-CN" sz="2200" dirty="0">
              <a:solidFill>
                <a:srgbClr val="0033CC"/>
              </a:solidFill>
            </a:endParaRPr>
          </a:p>
          <a:p>
            <a:pPr lvl="2" algn="just">
              <a:lnSpc>
                <a:spcPct val="120000"/>
              </a:lnSpc>
              <a:buNone/>
            </a:pPr>
            <a:r>
              <a:rPr lang="en-US" altLang="zh-CN" sz="2200" dirty="0">
                <a:solidFill>
                  <a:srgbClr val="FF3300"/>
                </a:solidFill>
                <a:latin typeface="宋体" panose="02010600030101010101" pitchFamily="2" charset="-122"/>
              </a:rPr>
              <a:t>④ </a:t>
            </a:r>
            <a:r>
              <a:rPr lang="zh-CN" altLang="en-US" sz="2200" dirty="0">
                <a:solidFill>
                  <a:srgbClr val="FF3300"/>
                </a:solidFill>
              </a:rPr>
              <a:t>设置</a:t>
            </a:r>
            <a:r>
              <a:rPr lang="en-US" altLang="zh-CN" sz="2200" dirty="0">
                <a:solidFill>
                  <a:srgbClr val="FF3300"/>
                </a:solidFill>
              </a:rPr>
              <a:t>8259A</a:t>
            </a:r>
            <a:r>
              <a:rPr lang="zh-CN" altLang="en-US" sz="2200" dirty="0">
                <a:solidFill>
                  <a:srgbClr val="FF3300"/>
                </a:solidFill>
              </a:rPr>
              <a:t>的中断屏蔽字</a:t>
            </a:r>
            <a:r>
              <a:rPr lang="en-US" altLang="zh-CN" sz="2200" dirty="0">
                <a:solidFill>
                  <a:srgbClr val="FF3300"/>
                </a:solidFill>
              </a:rPr>
              <a:t>, </a:t>
            </a:r>
            <a:r>
              <a:rPr lang="zh-CN" altLang="en-US" sz="2200" dirty="0">
                <a:solidFill>
                  <a:srgbClr val="FF3300"/>
                </a:solidFill>
              </a:rPr>
              <a:t>使</a:t>
            </a:r>
            <a:r>
              <a:rPr lang="en-US" altLang="zh-CN" sz="2200" dirty="0">
                <a:solidFill>
                  <a:srgbClr val="FF3300"/>
                </a:solidFill>
              </a:rPr>
              <a:t>21H</a:t>
            </a:r>
            <a:r>
              <a:rPr lang="zh-CN" altLang="en-US" sz="2200" dirty="0">
                <a:solidFill>
                  <a:srgbClr val="FF3300"/>
                </a:solidFill>
              </a:rPr>
              <a:t>端口对应位为</a:t>
            </a:r>
            <a:r>
              <a:rPr lang="en-US" altLang="zh-CN" sz="2200" dirty="0">
                <a:solidFill>
                  <a:srgbClr val="FF3300"/>
                </a:solidFill>
              </a:rPr>
              <a:t>0</a:t>
            </a:r>
            <a:r>
              <a:rPr lang="zh-CN" altLang="en-US" sz="2200" dirty="0">
                <a:solidFill>
                  <a:srgbClr val="FF3300"/>
                </a:solidFill>
              </a:rPr>
              <a:t>，允许中断申请进入优先级裁决器           </a:t>
            </a:r>
            <a:endParaRPr lang="zh-CN" altLang="en-US" sz="2200" dirty="0">
              <a:solidFill>
                <a:srgbClr val="FF3300"/>
              </a:solidFill>
            </a:endParaRPr>
          </a:p>
          <a:p>
            <a:pPr lvl="2">
              <a:lnSpc>
                <a:spcPct val="120000"/>
              </a:lnSpc>
              <a:buNone/>
            </a:pPr>
            <a:r>
              <a:rPr lang="en-US" altLang="zh-CN" sz="2200" dirty="0">
                <a:solidFill>
                  <a:srgbClr val="0033CC"/>
                </a:solidFill>
                <a:latin typeface="宋体" panose="02010600030101010101" pitchFamily="2" charset="-122"/>
              </a:rPr>
              <a:t>⑤ </a:t>
            </a:r>
            <a:r>
              <a:rPr lang="en-US" altLang="zh-CN" sz="2200" dirty="0">
                <a:solidFill>
                  <a:srgbClr val="0033CC"/>
                </a:solidFill>
              </a:rPr>
              <a:t>CPU</a:t>
            </a:r>
            <a:r>
              <a:rPr lang="zh-CN" altLang="en-US" sz="2200" dirty="0">
                <a:solidFill>
                  <a:srgbClr val="0033CC"/>
                </a:solidFill>
              </a:rPr>
              <a:t>开中断       </a:t>
            </a:r>
            <a:r>
              <a:rPr lang="en-US" altLang="zh-CN" sz="2200" dirty="0">
                <a:solidFill>
                  <a:srgbClr val="0033CC"/>
                </a:solidFill>
              </a:rPr>
              <a:t>(</a:t>
            </a:r>
            <a:r>
              <a:rPr lang="zh-CN" altLang="en-US" sz="2200" dirty="0">
                <a:solidFill>
                  <a:srgbClr val="0033CC"/>
                </a:solidFill>
              </a:rPr>
              <a:t>用</a:t>
            </a:r>
            <a:r>
              <a:rPr lang="en-US" altLang="zh-CN" sz="2200" dirty="0">
                <a:solidFill>
                  <a:srgbClr val="0033CC"/>
                </a:solidFill>
              </a:rPr>
              <a:t>STI</a:t>
            </a:r>
            <a:r>
              <a:rPr lang="zh-CN" altLang="en-US" sz="2200" dirty="0">
                <a:solidFill>
                  <a:srgbClr val="0033CC"/>
                </a:solidFill>
              </a:rPr>
              <a:t>置</a:t>
            </a:r>
            <a:r>
              <a:rPr lang="en-US" altLang="zh-CN" sz="2200" dirty="0">
                <a:solidFill>
                  <a:srgbClr val="0033CC"/>
                </a:solidFill>
              </a:rPr>
              <a:t>IF=1 )</a:t>
            </a:r>
            <a:endParaRPr lang="en-US" altLang="zh-CN" sz="2200" dirty="0">
              <a:solidFill>
                <a:srgbClr val="0033CC"/>
              </a:solidFill>
            </a:endParaRPr>
          </a:p>
          <a:p>
            <a:pPr lvl="1">
              <a:lnSpc>
                <a:spcPct val="120000"/>
              </a:lnSpc>
            </a:pPr>
            <a:r>
              <a:rPr lang="zh-CN" altLang="en-US" sz="2200" dirty="0"/>
              <a:t>准备工作做好后，此后若该级有中断申请，则</a:t>
            </a:r>
            <a:r>
              <a:rPr lang="en-US" altLang="zh-CN" sz="2200" dirty="0"/>
              <a:t>CPU</a:t>
            </a:r>
            <a:r>
              <a:rPr lang="zh-CN" altLang="en-US" sz="2200" dirty="0"/>
              <a:t>响应中断，执行相应类型的中断子程序。</a:t>
            </a:r>
            <a:endParaRPr lang="zh-CN" altLang="en-US" sz="2200" dirty="0"/>
          </a:p>
          <a:p>
            <a:pPr lvl="1">
              <a:lnSpc>
                <a:spcPct val="120000"/>
              </a:lnSpc>
            </a:pPr>
            <a:r>
              <a:rPr lang="zh-CN" altLang="en-US" sz="2200" dirty="0"/>
              <a:t>主程在返回</a:t>
            </a:r>
            <a:r>
              <a:rPr lang="en-US" altLang="zh-CN" sz="2200" dirty="0"/>
              <a:t>DOS</a:t>
            </a:r>
            <a:r>
              <a:rPr lang="zh-CN" altLang="en-US" sz="2200" dirty="0"/>
              <a:t>前，应恢复原中断向量。</a:t>
            </a:r>
            <a:r>
              <a:rPr lang="en-US" altLang="zh-CN" sz="2200" dirty="0"/>
              <a:t>( </a:t>
            </a:r>
            <a:r>
              <a:rPr lang="zh-CN" altLang="en-US" sz="2200" dirty="0"/>
              <a:t>用</a:t>
            </a:r>
            <a:r>
              <a:rPr lang="en-US" altLang="zh-CN" sz="2200" dirty="0"/>
              <a:t>25H</a:t>
            </a:r>
            <a:r>
              <a:rPr lang="zh-CN" altLang="en-US" sz="2200" dirty="0"/>
              <a:t>系统功能 </a:t>
            </a:r>
            <a:r>
              <a:rPr lang="en-US" altLang="zh-CN" sz="2200" dirty="0"/>
              <a:t>)</a:t>
            </a:r>
            <a:endParaRPr lang="en-US" altLang="zh-CN" sz="2200"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08898">
                                            <p:txEl>
                                              <p:charRg st="0" end="27"/>
                                            </p:txEl>
                                          </p:spTgt>
                                        </p:tgtEl>
                                        <p:attrNameLst>
                                          <p:attrName>style.visibility</p:attrName>
                                        </p:attrNameLst>
                                      </p:cBhvr>
                                      <p:to>
                                        <p:strVal val="visible"/>
                                      </p:to>
                                    </p:set>
                                    <p:animEffect transition="in" filter="blinds(vertical)">
                                      <p:cBhvr>
                                        <p:cTn id="7" dur="500"/>
                                        <p:tgtEl>
                                          <p:spTgt spid="208898">
                                            <p:txEl>
                                              <p:charRg st="0" end="27"/>
                                            </p:txEl>
                                          </p:spTgt>
                                        </p:tgtEl>
                                      </p:cBhvr>
                                    </p:animEffect>
                                  </p:childTnLst>
                                </p:cTn>
                              </p:par>
                              <p:par>
                                <p:cTn id="8" presetID="3" presetClass="entr" presetSubtype="5" fill="hold" grpId="0" nodeType="withEffect">
                                  <p:stCondLst>
                                    <p:cond delay="0"/>
                                  </p:stCondLst>
                                  <p:childTnLst>
                                    <p:set>
                                      <p:cBhvr>
                                        <p:cTn id="9" dur="1" fill="hold">
                                          <p:stCondLst>
                                            <p:cond delay="0"/>
                                          </p:stCondLst>
                                        </p:cTn>
                                        <p:tgtEl>
                                          <p:spTgt spid="208898">
                                            <p:txEl>
                                              <p:charRg st="27" end="39"/>
                                            </p:txEl>
                                          </p:spTgt>
                                        </p:tgtEl>
                                        <p:attrNameLst>
                                          <p:attrName>style.visibility</p:attrName>
                                        </p:attrNameLst>
                                      </p:cBhvr>
                                      <p:to>
                                        <p:strVal val="visible"/>
                                      </p:to>
                                    </p:set>
                                    <p:animEffect transition="in" filter="blinds(vertical)">
                                      <p:cBhvr>
                                        <p:cTn id="10" dur="500"/>
                                        <p:tgtEl>
                                          <p:spTgt spid="208898">
                                            <p:txEl>
                                              <p:charRg st="27" end="39"/>
                                            </p:txEl>
                                          </p:spTgt>
                                        </p:tgtEl>
                                      </p:cBhvr>
                                    </p:animEffect>
                                  </p:childTnLst>
                                </p:cTn>
                              </p:par>
                              <p:par>
                                <p:cTn id="11" presetID="3" presetClass="entr" presetSubtype="5" fill="hold" grpId="0" nodeType="withEffect">
                                  <p:stCondLst>
                                    <p:cond delay="0"/>
                                  </p:stCondLst>
                                  <p:childTnLst>
                                    <p:set>
                                      <p:cBhvr>
                                        <p:cTn id="12" dur="1" fill="hold">
                                          <p:stCondLst>
                                            <p:cond delay="0"/>
                                          </p:stCondLst>
                                        </p:cTn>
                                        <p:tgtEl>
                                          <p:spTgt spid="208898">
                                            <p:txEl>
                                              <p:charRg st="39" end="67"/>
                                            </p:txEl>
                                          </p:spTgt>
                                        </p:tgtEl>
                                        <p:attrNameLst>
                                          <p:attrName>style.visibility</p:attrName>
                                        </p:attrNameLst>
                                      </p:cBhvr>
                                      <p:to>
                                        <p:strVal val="visible"/>
                                      </p:to>
                                    </p:set>
                                    <p:animEffect transition="in" filter="blinds(vertical)">
                                      <p:cBhvr>
                                        <p:cTn id="13" dur="500"/>
                                        <p:tgtEl>
                                          <p:spTgt spid="208898">
                                            <p:txEl>
                                              <p:charRg st="39" end="67"/>
                                            </p:txEl>
                                          </p:spTgt>
                                        </p:tgtEl>
                                      </p:cBhvr>
                                    </p:animEffect>
                                  </p:childTnLst>
                                </p:cTn>
                              </p:par>
                              <p:par>
                                <p:cTn id="14" presetID="3" presetClass="entr" presetSubtype="5" fill="hold" grpId="0" nodeType="withEffect">
                                  <p:stCondLst>
                                    <p:cond delay="0"/>
                                  </p:stCondLst>
                                  <p:childTnLst>
                                    <p:set>
                                      <p:cBhvr>
                                        <p:cTn id="15" dur="1" fill="hold">
                                          <p:stCondLst>
                                            <p:cond delay="0"/>
                                          </p:stCondLst>
                                        </p:cTn>
                                        <p:tgtEl>
                                          <p:spTgt spid="208898">
                                            <p:txEl>
                                              <p:charRg st="67" end="90"/>
                                            </p:txEl>
                                          </p:spTgt>
                                        </p:tgtEl>
                                        <p:attrNameLst>
                                          <p:attrName>style.visibility</p:attrName>
                                        </p:attrNameLst>
                                      </p:cBhvr>
                                      <p:to>
                                        <p:strVal val="visible"/>
                                      </p:to>
                                    </p:set>
                                    <p:animEffect transition="in" filter="blinds(vertical)">
                                      <p:cBhvr>
                                        <p:cTn id="16" dur="500"/>
                                        <p:tgtEl>
                                          <p:spTgt spid="208898">
                                            <p:txEl>
                                              <p:charRg st="67" end="90"/>
                                            </p:txEl>
                                          </p:spTgt>
                                        </p:tgtEl>
                                      </p:cBhvr>
                                    </p:animEffect>
                                  </p:childTnLst>
                                </p:cTn>
                              </p:par>
                              <p:par>
                                <p:cTn id="17" presetID="3" presetClass="entr" presetSubtype="5" fill="hold" grpId="0" nodeType="withEffect">
                                  <p:stCondLst>
                                    <p:cond delay="0"/>
                                  </p:stCondLst>
                                  <p:childTnLst>
                                    <p:set>
                                      <p:cBhvr>
                                        <p:cTn id="18" dur="1" fill="hold">
                                          <p:stCondLst>
                                            <p:cond delay="0"/>
                                          </p:stCondLst>
                                        </p:cTn>
                                        <p:tgtEl>
                                          <p:spTgt spid="208898">
                                            <p:txEl>
                                              <p:charRg st="90" end="115"/>
                                            </p:txEl>
                                          </p:spTgt>
                                        </p:tgtEl>
                                        <p:attrNameLst>
                                          <p:attrName>style.visibility</p:attrName>
                                        </p:attrNameLst>
                                      </p:cBhvr>
                                      <p:to>
                                        <p:strVal val="visible"/>
                                      </p:to>
                                    </p:set>
                                    <p:animEffect transition="in" filter="blinds(vertical)">
                                      <p:cBhvr>
                                        <p:cTn id="19" dur="500"/>
                                        <p:tgtEl>
                                          <p:spTgt spid="208898">
                                            <p:txEl>
                                              <p:charRg st="90" end="115"/>
                                            </p:txEl>
                                          </p:spTgt>
                                        </p:tgtEl>
                                      </p:cBhvr>
                                    </p:animEffect>
                                  </p:childTnLst>
                                </p:cTn>
                              </p:par>
                              <p:par>
                                <p:cTn id="20" presetID="3" presetClass="entr" presetSubtype="5" fill="hold" grpId="0" nodeType="withEffect">
                                  <p:stCondLst>
                                    <p:cond delay="0"/>
                                  </p:stCondLst>
                                  <p:childTnLst>
                                    <p:set>
                                      <p:cBhvr>
                                        <p:cTn id="21" dur="1" fill="hold">
                                          <p:stCondLst>
                                            <p:cond delay="0"/>
                                          </p:stCondLst>
                                        </p:cTn>
                                        <p:tgtEl>
                                          <p:spTgt spid="208898">
                                            <p:txEl>
                                              <p:charRg st="115" end="170"/>
                                            </p:txEl>
                                          </p:spTgt>
                                        </p:tgtEl>
                                        <p:attrNameLst>
                                          <p:attrName>style.visibility</p:attrName>
                                        </p:attrNameLst>
                                      </p:cBhvr>
                                      <p:to>
                                        <p:strVal val="visible"/>
                                      </p:to>
                                    </p:set>
                                    <p:animEffect transition="in" filter="blinds(vertical)">
                                      <p:cBhvr>
                                        <p:cTn id="22" dur="500"/>
                                        <p:tgtEl>
                                          <p:spTgt spid="208898">
                                            <p:txEl>
                                              <p:charRg st="115" end="170"/>
                                            </p:txEl>
                                          </p:spTgt>
                                        </p:tgtEl>
                                      </p:cBhvr>
                                    </p:animEffect>
                                  </p:childTnLst>
                                </p:cTn>
                              </p:par>
                              <p:par>
                                <p:cTn id="23" presetID="3" presetClass="entr" presetSubtype="5" fill="hold" grpId="0" nodeType="withEffect">
                                  <p:stCondLst>
                                    <p:cond delay="0"/>
                                  </p:stCondLst>
                                  <p:childTnLst>
                                    <p:set>
                                      <p:cBhvr>
                                        <p:cTn id="24" dur="1" fill="hold">
                                          <p:stCondLst>
                                            <p:cond delay="0"/>
                                          </p:stCondLst>
                                        </p:cTn>
                                        <p:tgtEl>
                                          <p:spTgt spid="208898">
                                            <p:txEl>
                                              <p:charRg st="170" end="198"/>
                                            </p:txEl>
                                          </p:spTgt>
                                        </p:tgtEl>
                                        <p:attrNameLst>
                                          <p:attrName>style.visibility</p:attrName>
                                        </p:attrNameLst>
                                      </p:cBhvr>
                                      <p:to>
                                        <p:strVal val="visible"/>
                                      </p:to>
                                    </p:set>
                                    <p:animEffect transition="in" filter="blinds(vertical)">
                                      <p:cBhvr>
                                        <p:cTn id="25" dur="500"/>
                                        <p:tgtEl>
                                          <p:spTgt spid="208898">
                                            <p:txEl>
                                              <p:charRg st="170" end="198"/>
                                            </p:txEl>
                                          </p:spTgt>
                                        </p:tgtEl>
                                      </p:cBhvr>
                                    </p:animEffect>
                                  </p:childTnLst>
                                </p:cTn>
                              </p:par>
                              <p:par>
                                <p:cTn id="26" presetID="3" presetClass="entr" presetSubtype="5" fill="hold" grpId="0" nodeType="withEffect">
                                  <p:stCondLst>
                                    <p:cond delay="0"/>
                                  </p:stCondLst>
                                  <p:childTnLst>
                                    <p:set>
                                      <p:cBhvr>
                                        <p:cTn id="27" dur="1" fill="hold">
                                          <p:stCondLst>
                                            <p:cond delay="0"/>
                                          </p:stCondLst>
                                        </p:cTn>
                                        <p:tgtEl>
                                          <p:spTgt spid="208898">
                                            <p:txEl>
                                              <p:charRg st="198" end="240"/>
                                            </p:txEl>
                                          </p:spTgt>
                                        </p:tgtEl>
                                        <p:attrNameLst>
                                          <p:attrName>style.visibility</p:attrName>
                                        </p:attrNameLst>
                                      </p:cBhvr>
                                      <p:to>
                                        <p:strVal val="visible"/>
                                      </p:to>
                                    </p:set>
                                    <p:animEffect transition="in" filter="blinds(vertical)">
                                      <p:cBhvr>
                                        <p:cTn id="28" dur="500"/>
                                        <p:tgtEl>
                                          <p:spTgt spid="208898">
                                            <p:txEl>
                                              <p:charRg st="198" end="240"/>
                                            </p:txEl>
                                          </p:spTgt>
                                        </p:tgtEl>
                                      </p:cBhvr>
                                    </p:animEffect>
                                  </p:childTnLst>
                                </p:cTn>
                              </p:par>
                              <p:par>
                                <p:cTn id="29" presetID="3" presetClass="entr" presetSubtype="5" fill="hold" grpId="0" nodeType="withEffect">
                                  <p:stCondLst>
                                    <p:cond delay="0"/>
                                  </p:stCondLst>
                                  <p:childTnLst>
                                    <p:set>
                                      <p:cBhvr>
                                        <p:cTn id="30" dur="1" fill="hold">
                                          <p:stCondLst>
                                            <p:cond delay="0"/>
                                          </p:stCondLst>
                                        </p:cTn>
                                        <p:tgtEl>
                                          <p:spTgt spid="208898">
                                            <p:txEl>
                                              <p:charRg st="240" end="272"/>
                                            </p:txEl>
                                          </p:spTgt>
                                        </p:tgtEl>
                                        <p:attrNameLst>
                                          <p:attrName>style.visibility</p:attrName>
                                        </p:attrNameLst>
                                      </p:cBhvr>
                                      <p:to>
                                        <p:strVal val="visible"/>
                                      </p:to>
                                    </p:set>
                                    <p:animEffect transition="in" filter="blinds(vertical)">
                                      <p:cBhvr>
                                        <p:cTn id="31" dur="500"/>
                                        <p:tgtEl>
                                          <p:spTgt spid="208898">
                                            <p:txEl>
                                              <p:charRg st="240" end="27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8" grpId="0" build="p"/>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0578" name="文本占位符 209921"/>
          <p:cNvSpPr>
            <a:spLocks noGrp="1"/>
          </p:cNvSpPr>
          <p:nvPr>
            <p:ph type="body" idx="4294967295"/>
          </p:nvPr>
        </p:nvSpPr>
        <p:spPr>
          <a:xfrm>
            <a:off x="684213" y="1125538"/>
            <a:ext cx="7704137" cy="4392612"/>
          </a:xfrm>
        </p:spPr>
        <p:txBody>
          <a:bodyPr vert="horz" wrap="square" lIns="91440" tIns="45720" rIns="91440" bIns="45720" anchor="t" anchorCtr="0"/>
          <a:p>
            <a:pPr>
              <a:lnSpc>
                <a:spcPct val="120000"/>
              </a:lnSpc>
              <a:buClr>
                <a:srgbClr val="0000FF"/>
              </a:buClr>
              <a:buFont typeface="Wingdings" panose="05000000000000000000" pitchFamily="2" charset="2"/>
              <a:buChar char="þ"/>
            </a:pPr>
            <a:r>
              <a:rPr lang="zh-CN" altLang="en-US" dirty="0">
                <a:solidFill>
                  <a:srgbClr val="006600"/>
                </a:solidFill>
              </a:rPr>
              <a:t>编写硬中断子程序，完成中断源请求的任务</a:t>
            </a:r>
            <a:endParaRPr lang="zh-CN" altLang="en-US" dirty="0">
              <a:solidFill>
                <a:srgbClr val="006600"/>
              </a:solidFill>
            </a:endParaRPr>
          </a:p>
          <a:p>
            <a:pPr lvl="1">
              <a:lnSpc>
                <a:spcPct val="120000"/>
              </a:lnSpc>
              <a:buNone/>
            </a:pPr>
            <a:r>
              <a:rPr lang="en-US" altLang="zh-CN" sz="2600" dirty="0">
                <a:solidFill>
                  <a:srgbClr val="FF0000"/>
                </a:solidFill>
              </a:rPr>
              <a:t>①</a:t>
            </a:r>
            <a:r>
              <a:rPr lang="en-US" altLang="zh-CN" sz="2600" dirty="0"/>
              <a:t> </a:t>
            </a:r>
            <a:r>
              <a:rPr lang="zh-CN" altLang="en-US" sz="2600" dirty="0"/>
              <a:t>处理中断源申请任务部分的编写与普通子程类似</a:t>
            </a:r>
            <a:endParaRPr lang="zh-CN" altLang="en-US" sz="2600" dirty="0"/>
          </a:p>
          <a:p>
            <a:pPr lvl="1" algn="just">
              <a:lnSpc>
                <a:spcPct val="120000"/>
              </a:lnSpc>
              <a:buNone/>
            </a:pPr>
            <a:r>
              <a:rPr lang="en-US" altLang="zh-CN" sz="2600" dirty="0">
                <a:solidFill>
                  <a:srgbClr val="FF0000"/>
                </a:solidFill>
              </a:rPr>
              <a:t>②</a:t>
            </a:r>
            <a:r>
              <a:rPr lang="en-US" altLang="zh-CN" sz="2600" dirty="0"/>
              <a:t> </a:t>
            </a:r>
            <a:r>
              <a:rPr lang="zh-CN" altLang="en-US" sz="2600" dirty="0">
                <a:solidFill>
                  <a:srgbClr val="CC00CC"/>
                </a:solidFill>
              </a:rPr>
              <a:t>在中断子程结束前，</a:t>
            </a:r>
            <a:endParaRPr lang="zh-CN" altLang="en-US" sz="2600" dirty="0">
              <a:solidFill>
                <a:srgbClr val="CC00CC"/>
              </a:solidFill>
            </a:endParaRPr>
          </a:p>
          <a:p>
            <a:pPr lvl="2" algn="just">
              <a:lnSpc>
                <a:spcPct val="120000"/>
              </a:lnSpc>
            </a:pPr>
            <a:r>
              <a:rPr lang="zh-CN" altLang="en-US" sz="2500" dirty="0">
                <a:solidFill>
                  <a:srgbClr val="CC00CC"/>
                </a:solidFill>
              </a:rPr>
              <a:t>发中断结束命令清除 </a:t>
            </a:r>
            <a:r>
              <a:rPr lang="en-US" altLang="zh-CN" sz="2500" dirty="0">
                <a:solidFill>
                  <a:srgbClr val="CC00CC"/>
                </a:solidFill>
              </a:rPr>
              <a:t>8259A </a:t>
            </a:r>
            <a:r>
              <a:rPr lang="zh-CN" altLang="en-US" sz="2500" dirty="0">
                <a:solidFill>
                  <a:srgbClr val="CC00CC"/>
                </a:solidFill>
              </a:rPr>
              <a:t>中</a:t>
            </a:r>
            <a:r>
              <a:rPr lang="en-US" altLang="zh-CN" sz="2500" dirty="0">
                <a:solidFill>
                  <a:srgbClr val="CC00CC"/>
                </a:solidFill>
              </a:rPr>
              <a:t>ISR</a:t>
            </a:r>
            <a:r>
              <a:rPr lang="zh-CN" altLang="en-US" sz="2500" dirty="0">
                <a:solidFill>
                  <a:srgbClr val="CC00CC"/>
                </a:solidFill>
              </a:rPr>
              <a:t>的记录；</a:t>
            </a:r>
            <a:endParaRPr lang="zh-CN" altLang="en-US" sz="2500" dirty="0">
              <a:solidFill>
                <a:srgbClr val="CC00CC"/>
              </a:solidFill>
            </a:endParaRPr>
          </a:p>
          <a:p>
            <a:pPr lvl="2" algn="just">
              <a:lnSpc>
                <a:spcPct val="120000"/>
              </a:lnSpc>
            </a:pPr>
            <a:r>
              <a:rPr lang="zh-CN" altLang="en-US" sz="2500" dirty="0">
                <a:solidFill>
                  <a:srgbClr val="CC00CC"/>
                </a:solidFill>
              </a:rPr>
              <a:t>否则，响应一次中断后</a:t>
            </a:r>
            <a:r>
              <a:rPr lang="en-US" altLang="zh-CN" sz="2500" dirty="0">
                <a:solidFill>
                  <a:srgbClr val="CC00CC"/>
                </a:solidFill>
              </a:rPr>
              <a:t>,</a:t>
            </a:r>
            <a:r>
              <a:rPr lang="zh-CN" altLang="en-US" sz="2500" dirty="0">
                <a:solidFill>
                  <a:srgbClr val="CC00CC"/>
                </a:solidFill>
              </a:rPr>
              <a:t>同级中断和低级中断将被优先级裁决器屏蔽</a:t>
            </a:r>
            <a:endParaRPr lang="zh-CN" altLang="en-US" sz="2500" dirty="0">
              <a:solidFill>
                <a:srgbClr val="CC00CC"/>
              </a:solidFill>
            </a:endParaRPr>
          </a:p>
          <a:p>
            <a:pPr lvl="1" algn="just">
              <a:lnSpc>
                <a:spcPct val="120000"/>
              </a:lnSpc>
              <a:buNone/>
            </a:pPr>
            <a:r>
              <a:rPr lang="en-US" altLang="zh-CN" sz="2600" dirty="0">
                <a:solidFill>
                  <a:srgbClr val="FF0000"/>
                </a:solidFill>
              </a:rPr>
              <a:t>③</a:t>
            </a:r>
            <a:r>
              <a:rPr lang="en-US" altLang="zh-CN" sz="2600" dirty="0"/>
              <a:t> </a:t>
            </a:r>
            <a:r>
              <a:rPr lang="zh-CN" altLang="en-US" sz="2600" dirty="0"/>
              <a:t>用</a:t>
            </a:r>
            <a:r>
              <a:rPr lang="en-US" altLang="zh-CN" sz="2600" dirty="0"/>
              <a:t>IRET</a:t>
            </a:r>
            <a:r>
              <a:rPr lang="zh-CN" altLang="en-US" sz="2600" dirty="0"/>
              <a:t>中断返回指令返回主程被中断处</a:t>
            </a:r>
            <a:endParaRPr lang="zh-CN" altLang="en-US" sz="2600" dirty="0"/>
          </a:p>
        </p:txBody>
      </p:sp>
    </p:spTree>
  </p:cSld>
  <p:clrMapOvr>
    <a:masterClrMapping/>
  </p:clrMapOvr>
  <p:transition spd="slow">
    <p:zoom/>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81602" name="组合 210945"/>
          <p:cNvGrpSpPr/>
          <p:nvPr/>
        </p:nvGrpSpPr>
        <p:grpSpPr>
          <a:xfrm>
            <a:off x="1763713" y="188913"/>
            <a:ext cx="3657600" cy="5976937"/>
            <a:chOff x="0" y="0"/>
            <a:chExt cx="2304" cy="3408"/>
          </a:xfrm>
        </p:grpSpPr>
        <p:grpSp>
          <p:nvGrpSpPr>
            <p:cNvPr id="281618" name="组合 210946"/>
            <p:cNvGrpSpPr/>
            <p:nvPr/>
          </p:nvGrpSpPr>
          <p:grpSpPr>
            <a:xfrm>
              <a:off x="0" y="0"/>
              <a:ext cx="1968" cy="3408"/>
              <a:chOff x="0" y="0"/>
              <a:chExt cx="1968" cy="3936"/>
            </a:xfrm>
          </p:grpSpPr>
          <p:sp>
            <p:nvSpPr>
              <p:cNvPr id="281620" name="流程图: 过程 210947"/>
              <p:cNvSpPr/>
              <p:nvPr/>
            </p:nvSpPr>
            <p:spPr>
              <a:xfrm>
                <a:off x="405" y="3718"/>
                <a:ext cx="1064" cy="218"/>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返回</a:t>
                </a:r>
                <a:r>
                  <a:rPr lang="en-US" altLang="zh-CN" sz="1800" dirty="0">
                    <a:solidFill>
                      <a:schemeClr val="tx1"/>
                    </a:solidFill>
                    <a:latin typeface="Times New Roman" panose="02020603050405020304" pitchFamily="18" charset="0"/>
                    <a:ea typeface="楷体_GB2312"/>
                  </a:rPr>
                  <a:t>DOS</a:t>
                </a:r>
                <a:endParaRPr lang="en-US" altLang="zh-CN" sz="1800" dirty="0">
                  <a:solidFill>
                    <a:schemeClr val="tx1"/>
                  </a:solidFill>
                  <a:latin typeface="Times New Roman" panose="02020603050405020304" pitchFamily="18" charset="0"/>
                  <a:ea typeface="楷体_GB2312"/>
                </a:endParaRPr>
              </a:p>
            </p:txBody>
          </p:sp>
          <p:grpSp>
            <p:nvGrpSpPr>
              <p:cNvPr id="281621" name="组合 210948"/>
              <p:cNvGrpSpPr/>
              <p:nvPr/>
            </p:nvGrpSpPr>
            <p:grpSpPr>
              <a:xfrm>
                <a:off x="0" y="0"/>
                <a:ext cx="1968" cy="3689"/>
                <a:chOff x="0" y="0"/>
                <a:chExt cx="1968" cy="3689"/>
              </a:xfrm>
            </p:grpSpPr>
            <p:sp>
              <p:nvSpPr>
                <p:cNvPr id="281622" name="流程图: 过程 210949"/>
                <p:cNvSpPr/>
                <p:nvPr/>
              </p:nvSpPr>
              <p:spPr>
                <a:xfrm>
                  <a:off x="374" y="361"/>
                  <a:ext cx="1281" cy="219"/>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CLI</a:t>
                  </a:r>
                  <a:r>
                    <a:rPr lang="zh-CN" altLang="en-US" sz="1800" dirty="0">
                      <a:solidFill>
                        <a:schemeClr val="tx1"/>
                      </a:solidFill>
                      <a:latin typeface="Times New Roman" panose="02020603050405020304" pitchFamily="18" charset="0"/>
                      <a:ea typeface="楷体_GB2312"/>
                    </a:rPr>
                    <a:t>关中断</a:t>
                  </a:r>
                  <a:endParaRPr lang="zh-CN" altLang="en-US" sz="1800" dirty="0">
                    <a:solidFill>
                      <a:schemeClr val="tx1"/>
                    </a:solidFill>
                    <a:latin typeface="Times New Roman" panose="02020603050405020304" pitchFamily="18" charset="0"/>
                    <a:ea typeface="楷体_GB2312"/>
                  </a:endParaRPr>
                </a:p>
              </p:txBody>
            </p:sp>
            <p:sp>
              <p:nvSpPr>
                <p:cNvPr id="281623" name="直接连接符 210950"/>
                <p:cNvSpPr/>
                <p:nvPr/>
              </p:nvSpPr>
              <p:spPr>
                <a:xfrm flipH="1">
                  <a:off x="1025" y="242"/>
                  <a:ext cx="0" cy="118"/>
                </a:xfrm>
                <a:prstGeom prst="line">
                  <a:avLst/>
                </a:prstGeom>
                <a:ln w="12700" cap="flat" cmpd="sng">
                  <a:solidFill>
                    <a:srgbClr val="000000"/>
                  </a:solidFill>
                  <a:prstDash val="solid"/>
                  <a:bevel/>
                  <a:headEnd type="none" w="med" len="med"/>
                  <a:tailEnd type="triangle" w="sm" len="sm"/>
                </a:ln>
              </p:spPr>
            </p:sp>
            <p:sp>
              <p:nvSpPr>
                <p:cNvPr id="281624" name="直接连接符 210951"/>
                <p:cNvSpPr/>
                <p:nvPr/>
              </p:nvSpPr>
              <p:spPr>
                <a:xfrm>
                  <a:off x="1014" y="580"/>
                  <a:ext cx="0" cy="129"/>
                </a:xfrm>
                <a:prstGeom prst="line">
                  <a:avLst/>
                </a:prstGeom>
                <a:ln w="12700" cap="flat" cmpd="sng">
                  <a:solidFill>
                    <a:srgbClr val="000000"/>
                  </a:solidFill>
                  <a:prstDash val="solid"/>
                  <a:bevel/>
                  <a:headEnd type="none" w="med" len="med"/>
                  <a:tailEnd type="triangle" w="sm" len="sm"/>
                </a:ln>
              </p:spPr>
            </p:sp>
            <p:sp>
              <p:nvSpPr>
                <p:cNvPr id="281625" name="直接连接符 210952"/>
                <p:cNvSpPr/>
                <p:nvPr/>
              </p:nvSpPr>
              <p:spPr>
                <a:xfrm>
                  <a:off x="1004" y="934"/>
                  <a:ext cx="0" cy="130"/>
                </a:xfrm>
                <a:prstGeom prst="line">
                  <a:avLst/>
                </a:prstGeom>
                <a:ln w="12700" cap="flat" cmpd="sng">
                  <a:solidFill>
                    <a:srgbClr val="000000"/>
                  </a:solidFill>
                  <a:prstDash val="solid"/>
                  <a:bevel/>
                  <a:headEnd type="none" w="med" len="med"/>
                  <a:tailEnd type="triangle" w="sm" len="sm"/>
                </a:ln>
              </p:spPr>
            </p:sp>
            <p:sp>
              <p:nvSpPr>
                <p:cNvPr id="281626" name="直接连接符 210953"/>
                <p:cNvSpPr/>
                <p:nvPr/>
              </p:nvSpPr>
              <p:spPr>
                <a:xfrm>
                  <a:off x="1004" y="1289"/>
                  <a:ext cx="0" cy="129"/>
                </a:xfrm>
                <a:prstGeom prst="line">
                  <a:avLst/>
                </a:prstGeom>
                <a:ln w="12700" cap="flat" cmpd="sng">
                  <a:solidFill>
                    <a:srgbClr val="000000"/>
                  </a:solidFill>
                  <a:prstDash val="solid"/>
                  <a:bevel/>
                  <a:headEnd type="none" w="med" len="med"/>
                  <a:tailEnd type="triangle" w="sm" len="sm"/>
                </a:ln>
              </p:spPr>
            </p:sp>
            <p:sp>
              <p:nvSpPr>
                <p:cNvPr id="281627" name="直接连接符 210954"/>
                <p:cNvSpPr/>
                <p:nvPr/>
              </p:nvSpPr>
              <p:spPr>
                <a:xfrm>
                  <a:off x="983" y="2230"/>
                  <a:ext cx="0" cy="129"/>
                </a:xfrm>
                <a:prstGeom prst="line">
                  <a:avLst/>
                </a:prstGeom>
                <a:ln w="12700" cap="flat" cmpd="sng">
                  <a:solidFill>
                    <a:srgbClr val="000000"/>
                  </a:solidFill>
                  <a:prstDash val="solid"/>
                  <a:bevel/>
                  <a:headEnd type="none" w="med" len="med"/>
                  <a:tailEnd type="triangle" w="sm" len="sm"/>
                </a:ln>
              </p:spPr>
            </p:sp>
            <p:sp>
              <p:nvSpPr>
                <p:cNvPr id="281628" name="直接连接符 210955"/>
                <p:cNvSpPr/>
                <p:nvPr/>
              </p:nvSpPr>
              <p:spPr>
                <a:xfrm>
                  <a:off x="963" y="3178"/>
                  <a:ext cx="0" cy="129"/>
                </a:xfrm>
                <a:prstGeom prst="line">
                  <a:avLst/>
                </a:prstGeom>
                <a:ln w="12700" cap="flat" cmpd="sng">
                  <a:solidFill>
                    <a:srgbClr val="000000"/>
                  </a:solidFill>
                  <a:prstDash val="solid"/>
                  <a:bevel/>
                  <a:headEnd type="none" w="med" len="med"/>
                  <a:tailEnd type="triangle" w="sm" len="sm"/>
                </a:ln>
              </p:spPr>
            </p:sp>
            <p:sp>
              <p:nvSpPr>
                <p:cNvPr id="281629" name="直接连接符 210956"/>
                <p:cNvSpPr/>
                <p:nvPr/>
              </p:nvSpPr>
              <p:spPr>
                <a:xfrm>
                  <a:off x="942" y="3559"/>
                  <a:ext cx="0" cy="130"/>
                </a:xfrm>
                <a:prstGeom prst="line">
                  <a:avLst/>
                </a:prstGeom>
                <a:ln w="12700" cap="flat" cmpd="sng">
                  <a:solidFill>
                    <a:srgbClr val="000000"/>
                  </a:solidFill>
                  <a:prstDash val="solid"/>
                  <a:bevel/>
                  <a:headEnd type="none" w="med" len="med"/>
                  <a:tailEnd type="triangle" w="sm" len="sm"/>
                </a:ln>
              </p:spPr>
            </p:sp>
            <p:sp>
              <p:nvSpPr>
                <p:cNvPr id="281630" name="直接连接符 210957"/>
                <p:cNvSpPr/>
                <p:nvPr/>
              </p:nvSpPr>
              <p:spPr>
                <a:xfrm>
                  <a:off x="973" y="2584"/>
                  <a:ext cx="0" cy="130"/>
                </a:xfrm>
                <a:prstGeom prst="line">
                  <a:avLst/>
                </a:prstGeom>
                <a:ln w="12700" cap="flat" cmpd="sng">
                  <a:solidFill>
                    <a:srgbClr val="000000"/>
                  </a:solidFill>
                  <a:prstDash val="solid"/>
                  <a:bevel/>
                  <a:headEnd type="none" w="med" len="med"/>
                  <a:tailEnd type="triangle" w="sm" len="sm"/>
                </a:ln>
              </p:spPr>
            </p:sp>
            <p:sp>
              <p:nvSpPr>
                <p:cNvPr id="281631" name="流程图: 过程 210958"/>
                <p:cNvSpPr/>
                <p:nvPr/>
              </p:nvSpPr>
              <p:spPr>
                <a:xfrm>
                  <a:off x="177" y="723"/>
                  <a:ext cx="1664" cy="218"/>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保存原中断向量</a:t>
                  </a:r>
                  <a:endParaRPr lang="zh-CN" altLang="en-US" sz="1800" dirty="0">
                    <a:solidFill>
                      <a:schemeClr val="tx1"/>
                    </a:solidFill>
                    <a:latin typeface="Times New Roman" panose="02020603050405020304" pitchFamily="18" charset="0"/>
                    <a:ea typeface="楷体_GB2312"/>
                  </a:endParaRPr>
                </a:p>
              </p:txBody>
            </p:sp>
            <p:sp>
              <p:nvSpPr>
                <p:cNvPr id="281632" name="流程图: 过程 210959"/>
                <p:cNvSpPr/>
                <p:nvPr/>
              </p:nvSpPr>
              <p:spPr>
                <a:xfrm>
                  <a:off x="177" y="1064"/>
                  <a:ext cx="1664" cy="218"/>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设置新中断向量</a:t>
                  </a:r>
                  <a:endParaRPr lang="zh-CN" altLang="en-US" sz="1800" dirty="0">
                    <a:solidFill>
                      <a:schemeClr val="tx1"/>
                    </a:solidFill>
                    <a:latin typeface="Times New Roman" panose="02020603050405020304" pitchFamily="18" charset="0"/>
                    <a:ea typeface="楷体_GB2312"/>
                  </a:endParaRPr>
                </a:p>
              </p:txBody>
            </p:sp>
            <p:sp>
              <p:nvSpPr>
                <p:cNvPr id="281633" name="流程图: 过程 210960"/>
                <p:cNvSpPr/>
                <p:nvPr/>
              </p:nvSpPr>
              <p:spPr>
                <a:xfrm>
                  <a:off x="0" y="1432"/>
                  <a:ext cx="1968" cy="202"/>
                </a:xfrm>
                <a:prstGeom prst="flowChartProcess">
                  <a:avLst/>
                </a:prstGeom>
                <a:solidFill>
                  <a:srgbClr val="9999FF">
                    <a:alpha val="50195"/>
                  </a:srgbClr>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rgbClr val="0033CC"/>
                      </a:solidFill>
                      <a:latin typeface="Times New Roman" panose="02020603050405020304" pitchFamily="18" charset="0"/>
                      <a:ea typeface="楷体_GB2312"/>
                    </a:rPr>
                    <a:t>设置</a:t>
                  </a:r>
                  <a:r>
                    <a:rPr lang="en-US" altLang="zh-CN" sz="1800" dirty="0">
                      <a:solidFill>
                        <a:srgbClr val="0033CC"/>
                      </a:solidFill>
                      <a:latin typeface="Times New Roman" panose="02020603050405020304" pitchFamily="18" charset="0"/>
                      <a:ea typeface="楷体_GB2312"/>
                    </a:rPr>
                    <a:t>8259A</a:t>
                  </a:r>
                  <a:r>
                    <a:rPr lang="zh-CN" altLang="en-US" sz="1800" dirty="0">
                      <a:solidFill>
                        <a:srgbClr val="0033CC"/>
                      </a:solidFill>
                      <a:latin typeface="Times New Roman" panose="02020603050405020304" pitchFamily="18" charset="0"/>
                      <a:ea typeface="楷体_GB2312"/>
                    </a:rPr>
                    <a:t>的中断屏蔽字</a:t>
                  </a:r>
                  <a:endParaRPr lang="zh-CN" altLang="en-US" sz="1800" dirty="0">
                    <a:solidFill>
                      <a:srgbClr val="0033CC"/>
                    </a:solidFill>
                    <a:latin typeface="Times New Roman" panose="02020603050405020304" pitchFamily="18" charset="0"/>
                    <a:ea typeface="楷体_GB2312"/>
                  </a:endParaRPr>
                </a:p>
              </p:txBody>
            </p:sp>
            <p:sp>
              <p:nvSpPr>
                <p:cNvPr id="281634" name="流程图: 过程 210961"/>
                <p:cNvSpPr/>
                <p:nvPr/>
              </p:nvSpPr>
              <p:spPr>
                <a:xfrm>
                  <a:off x="288" y="1787"/>
                  <a:ext cx="1428" cy="436"/>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9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中断子程</a:t>
                  </a:r>
                  <a:endParaRPr lang="zh-CN" altLang="en-US" sz="1800" dirty="0">
                    <a:solidFill>
                      <a:schemeClr val="tx1"/>
                    </a:solidFill>
                    <a:latin typeface="Times New Roman" panose="02020603050405020304" pitchFamily="18" charset="0"/>
                    <a:ea typeface="楷体_GB2312"/>
                  </a:endParaRPr>
                </a:p>
                <a:p>
                  <a:pPr marL="0" lvl="0" indent="0" algn="ctr">
                    <a:lnSpc>
                      <a:spcPct val="9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有关量的初始化</a:t>
                  </a:r>
                  <a:endParaRPr lang="zh-CN" altLang="en-US" sz="1800" dirty="0">
                    <a:solidFill>
                      <a:schemeClr val="tx1"/>
                    </a:solidFill>
                    <a:latin typeface="Times New Roman" panose="02020603050405020304" pitchFamily="18" charset="0"/>
                    <a:ea typeface="楷体_GB2312"/>
                  </a:endParaRPr>
                </a:p>
              </p:txBody>
            </p:sp>
            <p:sp>
              <p:nvSpPr>
                <p:cNvPr id="281635" name="流程图: 过程 210962"/>
                <p:cNvSpPr/>
                <p:nvPr/>
              </p:nvSpPr>
              <p:spPr>
                <a:xfrm>
                  <a:off x="342" y="2366"/>
                  <a:ext cx="1282" cy="218"/>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STI</a:t>
                  </a:r>
                  <a:r>
                    <a:rPr lang="zh-CN" altLang="en-US" sz="1800" dirty="0">
                      <a:solidFill>
                        <a:schemeClr val="tx1"/>
                      </a:solidFill>
                      <a:latin typeface="Times New Roman" panose="02020603050405020304" pitchFamily="18" charset="0"/>
                      <a:ea typeface="楷体_GB2312"/>
                    </a:rPr>
                    <a:t>开中断</a:t>
                  </a:r>
                  <a:endParaRPr lang="zh-CN" altLang="en-US" sz="1800" dirty="0">
                    <a:solidFill>
                      <a:schemeClr val="tx1"/>
                    </a:solidFill>
                    <a:latin typeface="Times New Roman" panose="02020603050405020304" pitchFamily="18" charset="0"/>
                    <a:ea typeface="楷体_GB2312"/>
                  </a:endParaRPr>
                </a:p>
              </p:txBody>
            </p:sp>
            <p:sp>
              <p:nvSpPr>
                <p:cNvPr id="281636" name="流程图: 过程 210963"/>
                <p:cNvSpPr/>
                <p:nvPr/>
              </p:nvSpPr>
              <p:spPr>
                <a:xfrm>
                  <a:off x="31" y="2728"/>
                  <a:ext cx="1889" cy="436"/>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主程其它工作处理</a:t>
                  </a:r>
                  <a:endParaRPr lang="zh-CN" altLang="en-US" sz="18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a:t>
                  </a:r>
                  <a:r>
                    <a:rPr lang="zh-CN" altLang="en-US" sz="1800" dirty="0">
                      <a:solidFill>
                        <a:schemeClr val="tx1"/>
                      </a:solidFill>
                      <a:latin typeface="Times New Roman" panose="02020603050405020304" pitchFamily="18" charset="0"/>
                      <a:ea typeface="楷体_GB2312"/>
                    </a:rPr>
                    <a:t>可用双重循环延时代替</a:t>
                  </a:r>
                  <a:r>
                    <a:rPr lang="en-US" altLang="zh-CN" sz="1800" dirty="0">
                      <a:solidFill>
                        <a:schemeClr val="tx1"/>
                      </a:solidFill>
                      <a:latin typeface="Times New Roman" panose="02020603050405020304" pitchFamily="18" charset="0"/>
                      <a:ea typeface="楷体_GB2312"/>
                    </a:rPr>
                    <a:t>)</a:t>
                  </a:r>
                  <a:endParaRPr lang="en-US" altLang="zh-CN" sz="1800" b="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1800" b="0" dirty="0">
                    <a:solidFill>
                      <a:schemeClr val="tx1"/>
                    </a:solidFill>
                    <a:latin typeface="Times New Roman" panose="02020603050405020304" pitchFamily="18" charset="0"/>
                    <a:ea typeface="楷体_GB2312"/>
                  </a:endParaRPr>
                </a:p>
              </p:txBody>
            </p:sp>
            <p:sp>
              <p:nvSpPr>
                <p:cNvPr id="281637" name="流程图: 过程 210964"/>
                <p:cNvSpPr/>
                <p:nvPr/>
              </p:nvSpPr>
              <p:spPr>
                <a:xfrm>
                  <a:off x="240" y="3314"/>
                  <a:ext cx="1411" cy="232"/>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恢复原中断向量</a:t>
                  </a:r>
                  <a:endParaRPr lang="zh-CN" altLang="en-US" sz="1800" dirty="0">
                    <a:solidFill>
                      <a:schemeClr val="tx1"/>
                    </a:solidFill>
                    <a:latin typeface="Times New Roman" panose="02020603050405020304" pitchFamily="18" charset="0"/>
                    <a:ea typeface="楷体_GB2312"/>
                  </a:endParaRPr>
                </a:p>
              </p:txBody>
            </p:sp>
            <p:sp>
              <p:nvSpPr>
                <p:cNvPr id="281638" name="流程图: 过程 210965"/>
                <p:cNvSpPr/>
                <p:nvPr/>
              </p:nvSpPr>
              <p:spPr>
                <a:xfrm>
                  <a:off x="673" y="0"/>
                  <a:ext cx="693" cy="218"/>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开始</a:t>
                  </a:r>
                  <a:endParaRPr lang="zh-CN" altLang="en-US" sz="1800" dirty="0">
                    <a:solidFill>
                      <a:schemeClr val="tx1"/>
                    </a:solidFill>
                    <a:latin typeface="Times New Roman" panose="02020603050405020304" pitchFamily="18" charset="0"/>
                    <a:ea typeface="楷体_GB2312"/>
                  </a:endParaRPr>
                </a:p>
              </p:txBody>
            </p:sp>
            <p:sp>
              <p:nvSpPr>
                <p:cNvPr id="281639" name="直接连接符 210966"/>
                <p:cNvSpPr/>
                <p:nvPr/>
              </p:nvSpPr>
              <p:spPr>
                <a:xfrm flipH="1">
                  <a:off x="1008" y="1634"/>
                  <a:ext cx="0" cy="144"/>
                </a:xfrm>
                <a:prstGeom prst="line">
                  <a:avLst/>
                </a:prstGeom>
                <a:ln w="12700" cap="flat" cmpd="sng">
                  <a:solidFill>
                    <a:srgbClr val="000000"/>
                  </a:solidFill>
                  <a:prstDash val="solid"/>
                  <a:bevel/>
                  <a:headEnd type="none" w="med" len="med"/>
                  <a:tailEnd type="triangle" w="sm" len="sm"/>
                </a:ln>
              </p:spPr>
            </p:sp>
          </p:grpSp>
        </p:grpSp>
        <p:sp>
          <p:nvSpPr>
            <p:cNvPr id="281619" name="流程图: 过程 210967"/>
            <p:cNvSpPr/>
            <p:nvPr/>
          </p:nvSpPr>
          <p:spPr>
            <a:xfrm>
              <a:off x="1872" y="48"/>
              <a:ext cx="432" cy="816"/>
            </a:xfrm>
            <a:prstGeom prst="flowChartProcess">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rgbClr val="FF0000"/>
                  </a:solidFill>
                  <a:latin typeface="Times New Roman" panose="02020603050405020304" pitchFamily="18" charset="0"/>
                  <a:ea typeface="楷体_GB2312"/>
                </a:rPr>
                <a:t>主</a:t>
              </a:r>
              <a:endParaRPr lang="zh-CN" altLang="en-US" sz="1800" dirty="0">
                <a:solidFill>
                  <a:srgbClr val="FF0000"/>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rgbClr val="FF0000"/>
                  </a:solidFill>
                  <a:latin typeface="Times New Roman" panose="02020603050405020304" pitchFamily="18" charset="0"/>
                  <a:ea typeface="楷体_GB2312"/>
                </a:rPr>
                <a:t>程</a:t>
              </a:r>
              <a:endParaRPr lang="zh-CN" altLang="en-US" sz="1800" dirty="0">
                <a:solidFill>
                  <a:srgbClr val="FF0000"/>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rgbClr val="FF0000"/>
                  </a:solidFill>
                  <a:latin typeface="Times New Roman" panose="02020603050405020304" pitchFamily="18" charset="0"/>
                  <a:ea typeface="楷体_GB2312"/>
                </a:rPr>
                <a:t>序</a:t>
              </a:r>
              <a:endParaRPr lang="zh-CN" altLang="en-US" sz="1800" dirty="0">
                <a:solidFill>
                  <a:srgbClr val="0000FF"/>
                </a:solidFill>
                <a:latin typeface="Times New Roman" panose="02020603050405020304" pitchFamily="18" charset="0"/>
                <a:ea typeface="楷体_GB2312"/>
              </a:endParaRPr>
            </a:p>
          </p:txBody>
        </p:sp>
      </p:grpSp>
      <p:grpSp>
        <p:nvGrpSpPr>
          <p:cNvPr id="281603" name="组合 210968"/>
          <p:cNvGrpSpPr/>
          <p:nvPr/>
        </p:nvGrpSpPr>
        <p:grpSpPr>
          <a:xfrm>
            <a:off x="5795963" y="765175"/>
            <a:ext cx="2667000" cy="4883150"/>
            <a:chOff x="0" y="0"/>
            <a:chExt cx="1680" cy="2784"/>
          </a:xfrm>
        </p:grpSpPr>
        <p:grpSp>
          <p:nvGrpSpPr>
            <p:cNvPr id="281605" name="组合 210969"/>
            <p:cNvGrpSpPr/>
            <p:nvPr/>
          </p:nvGrpSpPr>
          <p:grpSpPr>
            <a:xfrm>
              <a:off x="0" y="384"/>
              <a:ext cx="1680" cy="2400"/>
              <a:chOff x="0" y="0"/>
              <a:chExt cx="1680" cy="2377"/>
            </a:xfrm>
          </p:grpSpPr>
          <p:sp>
            <p:nvSpPr>
              <p:cNvPr id="281607" name="流程图: 过程 210970"/>
              <p:cNvSpPr/>
              <p:nvPr/>
            </p:nvSpPr>
            <p:spPr>
              <a:xfrm>
                <a:off x="384" y="411"/>
                <a:ext cx="948" cy="261"/>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保护现场</a:t>
                </a:r>
                <a:endParaRPr lang="zh-CN" altLang="en-US" sz="1800" dirty="0">
                  <a:solidFill>
                    <a:schemeClr val="tx1"/>
                  </a:solidFill>
                  <a:latin typeface="Times New Roman" panose="02020603050405020304" pitchFamily="18" charset="0"/>
                  <a:ea typeface="楷体_GB2312"/>
                </a:endParaRPr>
              </a:p>
            </p:txBody>
          </p:sp>
          <p:sp>
            <p:nvSpPr>
              <p:cNvPr id="281608" name="直接连接符 210971"/>
              <p:cNvSpPr/>
              <p:nvPr/>
            </p:nvSpPr>
            <p:spPr>
              <a:xfrm flipH="1">
                <a:off x="855" y="240"/>
                <a:ext cx="0" cy="170"/>
              </a:xfrm>
              <a:prstGeom prst="line">
                <a:avLst/>
              </a:prstGeom>
              <a:ln w="12700" cap="flat" cmpd="sng">
                <a:solidFill>
                  <a:srgbClr val="000000"/>
                </a:solidFill>
                <a:prstDash val="solid"/>
                <a:bevel/>
                <a:headEnd type="none" w="med" len="med"/>
                <a:tailEnd type="triangle" w="sm" len="sm"/>
              </a:ln>
            </p:spPr>
          </p:sp>
          <p:sp>
            <p:nvSpPr>
              <p:cNvPr id="281609" name="直接连接符 210972"/>
              <p:cNvSpPr/>
              <p:nvPr/>
            </p:nvSpPr>
            <p:spPr>
              <a:xfrm>
                <a:off x="855" y="1261"/>
                <a:ext cx="0" cy="130"/>
              </a:xfrm>
              <a:prstGeom prst="line">
                <a:avLst/>
              </a:prstGeom>
              <a:ln w="12700" cap="flat" cmpd="sng">
                <a:solidFill>
                  <a:srgbClr val="000000"/>
                </a:solidFill>
                <a:prstDash val="solid"/>
                <a:bevel/>
                <a:headEnd type="none" w="med" len="med"/>
                <a:tailEnd type="triangle" w="sm" len="sm"/>
              </a:ln>
            </p:spPr>
          </p:sp>
          <p:sp>
            <p:nvSpPr>
              <p:cNvPr id="281610" name="直接连接符 210973"/>
              <p:cNvSpPr/>
              <p:nvPr/>
            </p:nvSpPr>
            <p:spPr>
              <a:xfrm>
                <a:off x="855" y="1629"/>
                <a:ext cx="0" cy="130"/>
              </a:xfrm>
              <a:prstGeom prst="line">
                <a:avLst/>
              </a:prstGeom>
              <a:ln w="12700" cap="flat" cmpd="sng">
                <a:solidFill>
                  <a:srgbClr val="000000"/>
                </a:solidFill>
                <a:prstDash val="solid"/>
                <a:bevel/>
                <a:headEnd type="none" w="med" len="med"/>
                <a:tailEnd type="triangle" w="sm" len="sm"/>
              </a:ln>
            </p:spPr>
          </p:sp>
          <p:sp>
            <p:nvSpPr>
              <p:cNvPr id="281611" name="直接连接符 210974"/>
              <p:cNvSpPr/>
              <p:nvPr/>
            </p:nvSpPr>
            <p:spPr>
              <a:xfrm>
                <a:off x="845" y="2016"/>
                <a:ext cx="0" cy="129"/>
              </a:xfrm>
              <a:prstGeom prst="line">
                <a:avLst/>
              </a:prstGeom>
              <a:ln w="12700" cap="flat" cmpd="sng">
                <a:solidFill>
                  <a:srgbClr val="000000"/>
                </a:solidFill>
                <a:prstDash val="solid"/>
                <a:bevel/>
                <a:headEnd type="none" w="med" len="med"/>
                <a:tailEnd type="triangle" w="sm" len="sm"/>
              </a:ln>
            </p:spPr>
          </p:sp>
          <p:sp>
            <p:nvSpPr>
              <p:cNvPr id="281612" name="流程图: 过程 210975"/>
              <p:cNvSpPr/>
              <p:nvPr/>
            </p:nvSpPr>
            <p:spPr>
              <a:xfrm>
                <a:off x="0" y="1404"/>
                <a:ext cx="1680" cy="228"/>
              </a:xfrm>
              <a:prstGeom prst="flowChartProcess">
                <a:avLst/>
              </a:prstGeom>
              <a:solidFill>
                <a:srgbClr val="9999FF">
                  <a:alpha val="59999"/>
                </a:srgbClr>
              </a:solidFill>
              <a:ln w="12700"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rgbClr val="0033CC"/>
                    </a:solidFill>
                    <a:latin typeface="Times New Roman" panose="02020603050405020304" pitchFamily="18" charset="0"/>
                    <a:ea typeface="楷体_GB2312"/>
                  </a:rPr>
                  <a:t>发中断结束命令</a:t>
                </a:r>
                <a:r>
                  <a:rPr lang="en-US" altLang="zh-CN" sz="1800" dirty="0">
                    <a:solidFill>
                      <a:srgbClr val="0033CC"/>
                    </a:solidFill>
                    <a:latin typeface="Times New Roman" panose="02020603050405020304" pitchFamily="18" charset="0"/>
                    <a:ea typeface="楷体_GB2312"/>
                  </a:rPr>
                  <a:t>EOI</a:t>
                </a:r>
                <a:endParaRPr lang="en-US" altLang="zh-CN" sz="1800" dirty="0">
                  <a:solidFill>
                    <a:srgbClr val="0033CC"/>
                  </a:solidFill>
                  <a:latin typeface="Times New Roman" panose="02020603050405020304" pitchFamily="18" charset="0"/>
                  <a:ea typeface="楷体_GB2312"/>
                </a:endParaRPr>
              </a:p>
            </p:txBody>
          </p:sp>
          <p:sp>
            <p:nvSpPr>
              <p:cNvPr id="281613" name="流程图: 过程 210976"/>
              <p:cNvSpPr/>
              <p:nvPr/>
            </p:nvSpPr>
            <p:spPr>
              <a:xfrm>
                <a:off x="336" y="811"/>
                <a:ext cx="993" cy="437"/>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完成中断源</a:t>
                </a:r>
                <a:endParaRPr lang="zh-CN" altLang="en-US" sz="18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申请的任务</a:t>
                </a:r>
                <a:endParaRPr lang="zh-CN" altLang="en-US" sz="1800" b="0" dirty="0">
                  <a:solidFill>
                    <a:schemeClr val="tx1"/>
                  </a:solidFill>
                  <a:latin typeface="Times New Roman" panose="02020603050405020304" pitchFamily="18" charset="0"/>
                  <a:ea typeface="楷体_GB2312"/>
                </a:endParaRPr>
              </a:p>
            </p:txBody>
          </p:sp>
          <p:sp>
            <p:nvSpPr>
              <p:cNvPr id="281614" name="流程图: 过程 210977"/>
              <p:cNvSpPr/>
              <p:nvPr/>
            </p:nvSpPr>
            <p:spPr>
              <a:xfrm>
                <a:off x="204" y="1773"/>
                <a:ext cx="1282" cy="243"/>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恢复现场</a:t>
                </a:r>
                <a:endParaRPr lang="zh-CN" altLang="en-US" sz="1800" dirty="0">
                  <a:solidFill>
                    <a:schemeClr val="tx1"/>
                  </a:solidFill>
                  <a:latin typeface="Times New Roman" panose="02020603050405020304" pitchFamily="18" charset="0"/>
                  <a:ea typeface="楷体_GB2312"/>
                </a:endParaRPr>
              </a:p>
            </p:txBody>
          </p:sp>
          <p:sp>
            <p:nvSpPr>
              <p:cNvPr id="281615" name="流程图: 过程 210978"/>
              <p:cNvSpPr/>
              <p:nvPr/>
            </p:nvSpPr>
            <p:spPr>
              <a:xfrm>
                <a:off x="240" y="2159"/>
                <a:ext cx="1230" cy="218"/>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IRET</a:t>
                </a:r>
                <a:r>
                  <a:rPr lang="zh-CN" altLang="en-US" sz="1800" dirty="0">
                    <a:solidFill>
                      <a:schemeClr val="tx1"/>
                    </a:solidFill>
                    <a:latin typeface="Times New Roman" panose="02020603050405020304" pitchFamily="18" charset="0"/>
                    <a:ea typeface="楷体_GB2312"/>
                  </a:rPr>
                  <a:t>中断返回</a:t>
                </a:r>
                <a:endParaRPr lang="zh-CN" altLang="en-US" sz="1800" dirty="0">
                  <a:solidFill>
                    <a:schemeClr val="tx1"/>
                  </a:solidFill>
                  <a:latin typeface="Times New Roman" panose="02020603050405020304" pitchFamily="18" charset="0"/>
                  <a:ea typeface="楷体_GB2312"/>
                </a:endParaRPr>
              </a:p>
            </p:txBody>
          </p:sp>
          <p:sp>
            <p:nvSpPr>
              <p:cNvPr id="281616" name="流程图: 过程 210979"/>
              <p:cNvSpPr/>
              <p:nvPr/>
            </p:nvSpPr>
            <p:spPr>
              <a:xfrm>
                <a:off x="504" y="0"/>
                <a:ext cx="692" cy="268"/>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3600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开始</a:t>
                </a:r>
                <a:endParaRPr lang="zh-CN" altLang="en-US" sz="1800" dirty="0">
                  <a:solidFill>
                    <a:schemeClr val="tx1"/>
                  </a:solidFill>
                  <a:latin typeface="Times New Roman" panose="02020603050405020304" pitchFamily="18" charset="0"/>
                  <a:ea typeface="楷体_GB2312"/>
                </a:endParaRPr>
              </a:p>
            </p:txBody>
          </p:sp>
          <p:sp>
            <p:nvSpPr>
              <p:cNvPr id="281617" name="直接连接符 210980"/>
              <p:cNvSpPr/>
              <p:nvPr/>
            </p:nvSpPr>
            <p:spPr>
              <a:xfrm>
                <a:off x="864" y="675"/>
                <a:ext cx="0" cy="130"/>
              </a:xfrm>
              <a:prstGeom prst="line">
                <a:avLst/>
              </a:prstGeom>
              <a:ln w="12700" cap="flat" cmpd="sng">
                <a:solidFill>
                  <a:srgbClr val="000000"/>
                </a:solidFill>
                <a:prstDash val="solid"/>
                <a:bevel/>
                <a:headEnd type="none" w="med" len="med"/>
                <a:tailEnd type="triangle" w="sm" len="sm"/>
              </a:ln>
            </p:spPr>
          </p:sp>
        </p:grpSp>
        <p:sp>
          <p:nvSpPr>
            <p:cNvPr id="281606" name="流程图: 过程 210981"/>
            <p:cNvSpPr/>
            <p:nvPr/>
          </p:nvSpPr>
          <p:spPr>
            <a:xfrm>
              <a:off x="384" y="0"/>
              <a:ext cx="930" cy="204"/>
            </a:xfrm>
            <a:prstGeom prst="flowChartProcess">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rgbClr val="FF3300"/>
                  </a:solidFill>
                  <a:latin typeface="Times New Roman" panose="02020603050405020304" pitchFamily="18" charset="0"/>
                  <a:ea typeface="楷体_GB2312"/>
                </a:rPr>
                <a:t>中断子程</a:t>
              </a:r>
              <a:endParaRPr lang="zh-CN" altLang="en-US" sz="1800" dirty="0">
                <a:solidFill>
                  <a:srgbClr val="0000FF"/>
                </a:solidFill>
                <a:latin typeface="Times New Roman" panose="02020603050405020304" pitchFamily="18" charset="0"/>
                <a:ea typeface="楷体_GB2312"/>
              </a:endParaRPr>
            </a:p>
          </p:txBody>
        </p:sp>
      </p:grpSp>
      <p:sp>
        <p:nvSpPr>
          <p:cNvPr id="210983" name="流程图: 过程 210982"/>
          <p:cNvSpPr/>
          <p:nvPr/>
        </p:nvSpPr>
        <p:spPr>
          <a:xfrm>
            <a:off x="755650" y="692150"/>
            <a:ext cx="533400" cy="5303838"/>
          </a:xfrm>
          <a:prstGeom prst="flowChartProcess">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zh-CN" altLang="en-US" sz="2400" dirty="0">
                <a:latin typeface="Times New Roman" panose="02020603050405020304" pitchFamily="18" charset="0"/>
                <a:ea typeface="楷体_GB2312"/>
              </a:rPr>
              <a:t>可</a:t>
            </a:r>
            <a:endParaRPr lang="zh-CN" altLang="en-US" sz="2400" dirty="0">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zh-CN" altLang="en-US" sz="2400" dirty="0">
                <a:latin typeface="Times New Roman" panose="02020603050405020304" pitchFamily="18" charset="0"/>
                <a:ea typeface="楷体_GB2312"/>
              </a:rPr>
              <a:t>屏</a:t>
            </a:r>
            <a:endParaRPr lang="zh-CN" altLang="en-US" sz="2400" dirty="0">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zh-CN" altLang="en-US" sz="2400" dirty="0">
                <a:latin typeface="Times New Roman" panose="02020603050405020304" pitchFamily="18" charset="0"/>
                <a:ea typeface="楷体_GB2312"/>
              </a:rPr>
              <a:t>蔽</a:t>
            </a:r>
            <a:endParaRPr lang="zh-CN" altLang="en-US" sz="2400" dirty="0">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zh-CN" altLang="en-US" sz="2400" dirty="0">
                <a:latin typeface="Times New Roman" panose="02020603050405020304" pitchFamily="18" charset="0"/>
                <a:ea typeface="楷体_GB2312"/>
              </a:rPr>
              <a:t>硬</a:t>
            </a:r>
            <a:endParaRPr lang="zh-CN" altLang="en-US" sz="2400" dirty="0">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zh-CN" altLang="en-US" sz="2400" dirty="0">
                <a:latin typeface="Times New Roman" panose="02020603050405020304" pitchFamily="18" charset="0"/>
                <a:ea typeface="楷体_GB2312"/>
              </a:rPr>
              <a:t>中</a:t>
            </a:r>
            <a:endParaRPr lang="zh-CN" altLang="en-US" sz="2400" dirty="0">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zh-CN" altLang="en-US" sz="2400" dirty="0">
                <a:latin typeface="Times New Roman" panose="02020603050405020304" pitchFamily="18" charset="0"/>
                <a:ea typeface="楷体_GB2312"/>
              </a:rPr>
              <a:t>断</a:t>
            </a:r>
            <a:endParaRPr lang="zh-CN" altLang="en-US" sz="2400" dirty="0">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zh-CN" altLang="en-US" sz="2400" dirty="0">
                <a:latin typeface="Times New Roman" panose="02020603050405020304" pitchFamily="18" charset="0"/>
                <a:ea typeface="楷体_GB2312"/>
              </a:rPr>
              <a:t>程</a:t>
            </a:r>
            <a:endParaRPr lang="zh-CN" altLang="en-US" sz="2400" dirty="0">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zh-CN" altLang="en-US" sz="2400" dirty="0">
                <a:latin typeface="Times New Roman" panose="02020603050405020304" pitchFamily="18" charset="0"/>
                <a:ea typeface="楷体_GB2312"/>
              </a:rPr>
              <a:t>序</a:t>
            </a:r>
            <a:endParaRPr lang="zh-CN" altLang="en-US" sz="2400" dirty="0">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zh-CN" altLang="en-US" sz="2400" dirty="0">
                <a:latin typeface="Times New Roman" panose="02020603050405020304" pitchFamily="18" charset="0"/>
                <a:ea typeface="楷体_GB2312"/>
              </a:rPr>
              <a:t>流</a:t>
            </a:r>
            <a:endParaRPr lang="zh-CN" altLang="en-US" sz="2400" dirty="0">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zh-CN" altLang="en-US" sz="2400" dirty="0">
                <a:latin typeface="Times New Roman" panose="02020603050405020304" pitchFamily="18" charset="0"/>
                <a:ea typeface="楷体_GB2312"/>
              </a:rPr>
              <a:t>程</a:t>
            </a:r>
            <a:endParaRPr lang="zh-CN" altLang="en-US" sz="2400" dirty="0">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zh-CN" altLang="en-US" sz="2400" dirty="0">
                <a:latin typeface="Times New Roman" panose="02020603050405020304" pitchFamily="18" charset="0"/>
                <a:ea typeface="楷体_GB2312"/>
              </a:rPr>
              <a:t>图</a:t>
            </a:r>
            <a:endParaRPr lang="zh-CN" altLang="en-US" sz="2400" dirty="0">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10983"/>
                                        </p:tgtEl>
                                        <p:attrNameLst>
                                          <p:attrName>style.visibility</p:attrName>
                                        </p:attrNameLst>
                                      </p:cBhvr>
                                      <p:to>
                                        <p:strVal val="visible"/>
                                      </p:to>
                                    </p:set>
                                    <p:anim calcmode="lin" valueType="num">
                                      <p:cBhvr>
                                        <p:cTn id="7" dur="500" fill="hold"/>
                                        <p:tgtEl>
                                          <p:spTgt spid="210983"/>
                                        </p:tgtEl>
                                        <p:attrNameLst>
                                          <p:attrName>ppt_x</p:attrName>
                                        </p:attrNameLst>
                                      </p:cBhvr>
                                      <p:tavLst>
                                        <p:tav tm="0">
                                          <p:val>
                                            <p:strVal val="1+#ppt_w/2"/>
                                          </p:val>
                                        </p:tav>
                                        <p:tav tm="100000">
                                          <p:val>
                                            <p:strVal val="#ppt_x"/>
                                          </p:val>
                                        </p:tav>
                                      </p:tavLst>
                                    </p:anim>
                                    <p:anim calcmode="lin" valueType="num">
                                      <p:cBhvr>
                                        <p:cTn id="8" dur="500" fill="hold"/>
                                        <p:tgtEl>
                                          <p:spTgt spid="2109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83" grpId="0"/>
    </p:bldLst>
  </p:timing>
</p:sld>
</file>

<file path=ppt/slides/slide1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1970" name="文本框 211969"/>
          <p:cNvSpPr txBox="1"/>
          <p:nvPr/>
        </p:nvSpPr>
        <p:spPr>
          <a:xfrm>
            <a:off x="323850" y="333375"/>
            <a:ext cx="8299450" cy="1333500"/>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10000"/>
              </a:spcAft>
              <a:buClrTx/>
              <a:buSzTx/>
              <a:buFont typeface="Arial" panose="020B0604020202020204" pitchFamily="34" charset="0"/>
              <a:buNone/>
            </a:pPr>
            <a:r>
              <a:rPr lang="zh-CN" altLang="en-US" i="1" dirty="0">
                <a:latin typeface="宋体" panose="02010600030101010101" pitchFamily="2" charset="-122"/>
                <a:ea typeface="楷体_GB2312"/>
              </a:rPr>
              <a:t>例 </a:t>
            </a:r>
            <a:r>
              <a:rPr lang="zh-CN" altLang="en-US" sz="2400" dirty="0">
                <a:latin typeface="Times New Roman" panose="02020603050405020304" pitchFamily="18" charset="0"/>
                <a:ea typeface="楷体_GB2312"/>
              </a:rPr>
              <a:t>        利用连接在</a:t>
            </a:r>
            <a:r>
              <a:rPr lang="en-US" altLang="zh-CN" sz="2400" dirty="0">
                <a:latin typeface="Times New Roman" panose="02020603050405020304" pitchFamily="18" charset="0"/>
                <a:ea typeface="楷体_GB2312"/>
              </a:rPr>
              <a:t>8259A IR0</a:t>
            </a:r>
            <a:r>
              <a:rPr lang="zh-CN" altLang="en-US" sz="2400" dirty="0">
                <a:latin typeface="Times New Roman" panose="02020603050405020304" pitchFamily="18" charset="0"/>
                <a:ea typeface="楷体_GB2312"/>
              </a:rPr>
              <a:t>上的时钟信号，</a:t>
            </a:r>
            <a:endParaRPr lang="zh-CN" altLang="en-US" sz="2400" dirty="0">
              <a:latin typeface="Times New Roman" panose="02020603050405020304" pitchFamily="18" charset="0"/>
              <a:ea typeface="楷体_GB2312"/>
            </a:endParaRPr>
          </a:p>
          <a:p>
            <a:pPr marL="0" lvl="0" indent="0" algn="just">
              <a:lnSpc>
                <a:spcPct val="100000"/>
              </a:lnSpc>
              <a:spcBef>
                <a:spcPct val="0"/>
              </a:spcBef>
              <a:spcAft>
                <a:spcPct val="10000"/>
              </a:spcAft>
              <a:buClrTx/>
              <a:buSzTx/>
              <a:buFont typeface="Arial" panose="020B0604020202020204" pitchFamily="34" charset="0"/>
              <a:buNone/>
            </a:pPr>
            <a:r>
              <a:rPr lang="zh-CN" altLang="en-US" sz="2400" dirty="0">
                <a:latin typeface="Times New Roman" panose="02020603050405020304" pitchFamily="18" charset="0"/>
                <a:ea typeface="楷体_GB2312"/>
              </a:rPr>
              <a:t>                编写具有定时功能程序，</a:t>
            </a:r>
            <a:endParaRPr lang="zh-CN" altLang="en-US" sz="2400" dirty="0">
              <a:latin typeface="Times New Roman" panose="02020603050405020304" pitchFamily="18" charset="0"/>
              <a:ea typeface="楷体_GB2312"/>
            </a:endParaRPr>
          </a:p>
          <a:p>
            <a:pPr marL="0" lvl="0" indent="0" algn="just">
              <a:lnSpc>
                <a:spcPct val="100000"/>
              </a:lnSpc>
              <a:spcBef>
                <a:spcPct val="0"/>
              </a:spcBef>
              <a:spcAft>
                <a:spcPct val="10000"/>
              </a:spcAft>
              <a:buClrTx/>
              <a:buSzTx/>
              <a:buFont typeface="Arial" panose="020B0604020202020204" pitchFamily="34" charset="0"/>
              <a:buNone/>
            </a:pPr>
            <a:r>
              <a:rPr lang="zh-CN" altLang="en-US" sz="2400" dirty="0">
                <a:latin typeface="Times New Roman" panose="02020603050405020304" pitchFamily="18" charset="0"/>
                <a:ea typeface="楷体_GB2312"/>
              </a:rPr>
              <a:t>                要求每隔</a:t>
            </a:r>
            <a:r>
              <a:rPr lang="en-US" altLang="zh-CN" sz="2400" dirty="0">
                <a:latin typeface="Times New Roman" panose="02020603050405020304" pitchFamily="18" charset="0"/>
                <a:ea typeface="楷体_GB2312"/>
              </a:rPr>
              <a:t>5</a:t>
            </a:r>
            <a:r>
              <a:rPr lang="zh-CN" altLang="en-US" sz="2400" dirty="0">
                <a:latin typeface="Times New Roman" panose="02020603050405020304" pitchFamily="18" charset="0"/>
                <a:ea typeface="楷体_GB2312"/>
              </a:rPr>
              <a:t>秒在屏幕上显示一个字符 ’</a:t>
            </a:r>
            <a:r>
              <a:rPr lang="en-US" altLang="zh-CN" sz="2400" dirty="0">
                <a:latin typeface="Times New Roman" panose="02020603050405020304" pitchFamily="18" charset="0"/>
                <a:ea typeface="楷体_GB2312"/>
              </a:rPr>
              <a:t>A’</a:t>
            </a:r>
            <a:r>
              <a:rPr lang="zh-CN" altLang="en-US" sz="2400" dirty="0">
                <a:latin typeface="Times New Roman" panose="02020603050405020304" pitchFamily="18" charset="0"/>
                <a:ea typeface="楷体_GB2312"/>
              </a:rPr>
              <a:t>。</a:t>
            </a:r>
            <a:endParaRPr lang="zh-CN" altLang="en-US" sz="2400" b="0" dirty="0">
              <a:latin typeface="Times New Roman" panose="02020603050405020304" pitchFamily="18" charset="0"/>
              <a:ea typeface="楷体_GB2312"/>
            </a:endParaRPr>
          </a:p>
        </p:txBody>
      </p:sp>
      <p:grpSp>
        <p:nvGrpSpPr>
          <p:cNvPr id="282627" name="组合 211970"/>
          <p:cNvGrpSpPr/>
          <p:nvPr/>
        </p:nvGrpSpPr>
        <p:grpSpPr>
          <a:xfrm>
            <a:off x="1042988" y="1916113"/>
            <a:ext cx="6934200" cy="4038600"/>
            <a:chOff x="0" y="0"/>
            <a:chExt cx="4368" cy="2544"/>
          </a:xfrm>
        </p:grpSpPr>
        <p:sp>
          <p:nvSpPr>
            <p:cNvPr id="282628" name="矩形 211971"/>
            <p:cNvSpPr/>
            <p:nvPr/>
          </p:nvSpPr>
          <p:spPr>
            <a:xfrm>
              <a:off x="0" y="0"/>
              <a:ext cx="4368" cy="2544"/>
            </a:xfrm>
            <a:prstGeom prst="rect">
              <a:avLst/>
            </a:prstGeom>
            <a:solidFill>
              <a:srgbClr val="CCFFFF"/>
            </a:solidFill>
            <a:ln w="127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en-US" sz="1800" b="0" dirty="0">
                <a:solidFill>
                  <a:schemeClr val="tx1"/>
                </a:solidFill>
                <a:ea typeface="楷体_GB2312"/>
              </a:endParaRPr>
            </a:p>
          </p:txBody>
        </p:sp>
        <p:sp>
          <p:nvSpPr>
            <p:cNvPr id="282629" name="文本框 211972"/>
            <p:cNvSpPr txBox="1"/>
            <p:nvPr/>
          </p:nvSpPr>
          <p:spPr>
            <a:xfrm>
              <a:off x="151" y="141"/>
              <a:ext cx="523" cy="2211"/>
            </a:xfrm>
            <a:prstGeom prst="rect">
              <a:avLst/>
            </a:prstGeom>
            <a:solidFill>
              <a:srgbClr val="FFFF99"/>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dirty="0">
                  <a:solidFill>
                    <a:schemeClr val="tx1"/>
                  </a:solidFill>
                  <a:latin typeface="Times New Roman" panose="02020603050405020304" pitchFamily="18" charset="0"/>
                  <a:ea typeface="楷体_GB2312"/>
                </a:rPr>
                <a:t>8088</a:t>
              </a:r>
              <a:endParaRPr lang="en-US" altLang="zh-CN"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宋体" panose="02010600030101010101" pitchFamily="2" charset="-122"/>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宋体" panose="02010600030101010101" pitchFamily="2" charset="-122"/>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2000" b="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endParaRPr lang="en-US" altLang="zh-CN" sz="2000" b="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p:txBody>
        </p:sp>
        <p:sp>
          <p:nvSpPr>
            <p:cNvPr id="282630" name="直接连接符 211973"/>
            <p:cNvSpPr/>
            <p:nvPr/>
          </p:nvSpPr>
          <p:spPr>
            <a:xfrm rot="-10800000" flipV="1">
              <a:off x="669" y="1776"/>
              <a:ext cx="723" cy="3"/>
            </a:xfrm>
            <a:prstGeom prst="line">
              <a:avLst/>
            </a:prstGeom>
            <a:ln w="25400" cap="flat" cmpd="sng">
              <a:solidFill>
                <a:srgbClr val="000000"/>
              </a:solidFill>
              <a:prstDash val="solid"/>
              <a:bevel/>
              <a:headEnd type="none" w="med" len="med"/>
              <a:tailEnd type="triangle" w="med" len="med"/>
            </a:ln>
          </p:spPr>
        </p:sp>
        <p:sp>
          <p:nvSpPr>
            <p:cNvPr id="282631" name="文本框 211974"/>
            <p:cNvSpPr txBox="1"/>
            <p:nvPr/>
          </p:nvSpPr>
          <p:spPr>
            <a:xfrm>
              <a:off x="244" y="1701"/>
              <a:ext cx="469" cy="219"/>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INTR</a:t>
              </a:r>
              <a:endParaRPr lang="en-US" altLang="zh-CN" sz="20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p:txBody>
        </p:sp>
        <p:sp>
          <p:nvSpPr>
            <p:cNvPr id="282632" name="文本框 211975"/>
            <p:cNvSpPr txBox="1"/>
            <p:nvPr/>
          </p:nvSpPr>
          <p:spPr>
            <a:xfrm>
              <a:off x="3408" y="1920"/>
              <a:ext cx="810" cy="274"/>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dirty="0">
                  <a:solidFill>
                    <a:srgbClr val="0000FF"/>
                  </a:solidFill>
                  <a:latin typeface="宋体" panose="02010600030101010101" pitchFamily="2" charset="-122"/>
                  <a:ea typeface="楷体_GB2312"/>
                </a:rPr>
                <a:t>主 板</a:t>
              </a:r>
              <a:endParaRPr lang="zh-CN" altLang="en-US" dirty="0">
                <a:solidFill>
                  <a:schemeClr val="accent1"/>
                </a:solidFill>
                <a:latin typeface="宋体" panose="02010600030101010101" pitchFamily="2" charset="-122"/>
                <a:ea typeface="楷体_GB2312"/>
              </a:endParaRPr>
            </a:p>
          </p:txBody>
        </p:sp>
        <p:sp>
          <p:nvSpPr>
            <p:cNvPr id="282633" name="左右箭头 211976"/>
            <p:cNvSpPr/>
            <p:nvPr/>
          </p:nvSpPr>
          <p:spPr>
            <a:xfrm>
              <a:off x="672" y="384"/>
              <a:ext cx="720" cy="305"/>
            </a:xfrm>
            <a:prstGeom prst="leftRightArrow">
              <a:avLst>
                <a:gd name="adj1" fmla="val 61388"/>
                <a:gd name="adj2" fmla="val 33180"/>
              </a:avLst>
            </a:prstGeom>
            <a:solidFill>
              <a:srgbClr val="00CCFF"/>
            </a:solidFill>
            <a:ln w="254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en-US" sz="1800" b="0" dirty="0">
                <a:solidFill>
                  <a:schemeClr val="tx1"/>
                </a:solidFill>
                <a:ea typeface="楷体_GB2312"/>
              </a:endParaRPr>
            </a:p>
          </p:txBody>
        </p:sp>
        <p:sp>
          <p:nvSpPr>
            <p:cNvPr id="282634" name="文本框 211977"/>
            <p:cNvSpPr txBox="1"/>
            <p:nvPr/>
          </p:nvSpPr>
          <p:spPr>
            <a:xfrm>
              <a:off x="240" y="1344"/>
              <a:ext cx="384" cy="327"/>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50000"/>
                </a:spcBef>
                <a:spcAft>
                  <a:spcPct val="0"/>
                </a:spcAft>
                <a:buClrTx/>
                <a:buSzTx/>
                <a:buFont typeface="Arial" panose="020B0604020202020204" pitchFamily="34" charset="0"/>
                <a:buNone/>
              </a:pPr>
              <a:r>
                <a:rPr lang="en-US" altLang="zh-CN" dirty="0">
                  <a:solidFill>
                    <a:srgbClr val="FF3300"/>
                  </a:solidFill>
                  <a:latin typeface="Times New Roman" panose="02020603050405020304" pitchFamily="18" charset="0"/>
                  <a:ea typeface="楷体_GB2312"/>
                </a:rPr>
                <a:t>IF</a:t>
              </a:r>
              <a:endParaRPr lang="en-US" altLang="zh-CN" sz="2400" b="0" dirty="0">
                <a:solidFill>
                  <a:schemeClr val="tx1"/>
                </a:solidFill>
                <a:latin typeface="Times New Roman" panose="02020603050405020304" pitchFamily="18" charset="0"/>
                <a:ea typeface="楷体_GB2312"/>
              </a:endParaRPr>
            </a:p>
          </p:txBody>
        </p:sp>
        <p:sp>
          <p:nvSpPr>
            <p:cNvPr id="282635" name="文本框 211978"/>
            <p:cNvSpPr txBox="1"/>
            <p:nvPr/>
          </p:nvSpPr>
          <p:spPr>
            <a:xfrm>
              <a:off x="3408" y="144"/>
              <a:ext cx="912" cy="240"/>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18.2Hz </a:t>
              </a:r>
              <a:r>
                <a:rPr lang="zh-CN" altLang="en-US" sz="2000" dirty="0">
                  <a:solidFill>
                    <a:schemeClr val="tx1"/>
                  </a:solidFill>
                  <a:latin typeface="Times New Roman" panose="02020603050405020304" pitchFamily="18" charset="0"/>
                  <a:ea typeface="楷体_GB2312"/>
                </a:rPr>
                <a:t>方波</a:t>
              </a:r>
              <a:endParaRPr lang="zh-CN" altLang="en-US" sz="2000" dirty="0">
                <a:solidFill>
                  <a:schemeClr val="tx1"/>
                </a:solidFill>
                <a:latin typeface="Times New Roman" panose="02020603050405020304" pitchFamily="18" charset="0"/>
                <a:ea typeface="楷体_GB2312"/>
              </a:endParaRPr>
            </a:p>
          </p:txBody>
        </p:sp>
        <p:sp>
          <p:nvSpPr>
            <p:cNvPr id="282636" name="文本框 211979"/>
            <p:cNvSpPr txBox="1"/>
            <p:nvPr/>
          </p:nvSpPr>
          <p:spPr>
            <a:xfrm>
              <a:off x="1392" y="144"/>
              <a:ext cx="1488" cy="2256"/>
            </a:xfrm>
            <a:prstGeom prst="rect">
              <a:avLst/>
            </a:prstGeom>
            <a:solidFill>
              <a:srgbClr val="00FFFF"/>
            </a:solidFill>
            <a:ln w="254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p:txBody>
        </p:sp>
        <p:sp>
          <p:nvSpPr>
            <p:cNvPr id="282637" name="文本框 211980"/>
            <p:cNvSpPr txBox="1"/>
            <p:nvPr/>
          </p:nvSpPr>
          <p:spPr>
            <a:xfrm>
              <a:off x="2195" y="1056"/>
              <a:ext cx="685" cy="251"/>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8259A</a:t>
              </a:r>
              <a:endParaRPr lang="en-US" altLang="zh-CN" sz="2000" dirty="0">
                <a:solidFill>
                  <a:schemeClr val="tx1"/>
                </a:solidFill>
                <a:latin typeface="Times New Roman" panose="02020603050405020304" pitchFamily="18" charset="0"/>
                <a:ea typeface="楷体_GB2312"/>
              </a:endParaRPr>
            </a:p>
          </p:txBody>
        </p:sp>
        <p:sp>
          <p:nvSpPr>
            <p:cNvPr id="282638" name="文本框 211981"/>
            <p:cNvSpPr txBox="1"/>
            <p:nvPr/>
          </p:nvSpPr>
          <p:spPr>
            <a:xfrm>
              <a:off x="1419" y="1680"/>
              <a:ext cx="367" cy="234"/>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INT</a:t>
              </a:r>
              <a:endParaRPr lang="en-US" altLang="zh-CN" sz="2000" dirty="0">
                <a:solidFill>
                  <a:schemeClr val="tx1"/>
                </a:solidFill>
                <a:latin typeface="宋体" panose="02010600030101010101" pitchFamily="2" charset="-122"/>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p:txBody>
        </p:sp>
        <p:sp>
          <p:nvSpPr>
            <p:cNvPr id="282639" name="文本框 211982"/>
            <p:cNvSpPr txBox="1"/>
            <p:nvPr/>
          </p:nvSpPr>
          <p:spPr>
            <a:xfrm>
              <a:off x="1584" y="1977"/>
              <a:ext cx="1056" cy="247"/>
            </a:xfrm>
            <a:prstGeom prst="rect">
              <a:avLst/>
            </a:prstGeom>
            <a:solidFill>
              <a:schemeClr val="bg1"/>
            </a:solidFill>
            <a:ln w="25400" cap="flat" cmpd="sng">
              <a:solidFill>
                <a:schemeClr val="tx1"/>
              </a:solidFill>
              <a:prstDash val="solid"/>
              <a:miter/>
              <a:headEnd type="none" w="med" len="med"/>
              <a:tailEnd type="none" w="med" len="med"/>
            </a:ln>
          </p:spPr>
          <p:txBody>
            <a:bodyPr lIns="0" r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5000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中断屏蔽寄存器</a:t>
              </a:r>
              <a:endParaRPr lang="zh-CN" altLang="en-US" sz="1800" dirty="0">
                <a:solidFill>
                  <a:schemeClr val="tx1"/>
                </a:solidFill>
                <a:latin typeface="Times New Roman" panose="02020603050405020304" pitchFamily="18" charset="0"/>
                <a:ea typeface="楷体_GB2312"/>
              </a:endParaRPr>
            </a:p>
          </p:txBody>
        </p:sp>
        <p:sp>
          <p:nvSpPr>
            <p:cNvPr id="282640" name="直接连接符 211983"/>
            <p:cNvSpPr/>
            <p:nvPr/>
          </p:nvSpPr>
          <p:spPr>
            <a:xfrm flipH="1" flipV="1">
              <a:off x="2880" y="240"/>
              <a:ext cx="528" cy="0"/>
            </a:xfrm>
            <a:prstGeom prst="line">
              <a:avLst/>
            </a:prstGeom>
            <a:ln w="25400" cap="flat" cmpd="sng">
              <a:solidFill>
                <a:srgbClr val="000000"/>
              </a:solidFill>
              <a:prstDash val="solid"/>
              <a:bevel/>
              <a:headEnd type="none" w="med" len="med"/>
              <a:tailEnd type="triangle" w="med" len="med"/>
            </a:ln>
          </p:spPr>
        </p:sp>
        <p:sp>
          <p:nvSpPr>
            <p:cNvPr id="282641" name="文本框 211984"/>
            <p:cNvSpPr txBox="1"/>
            <p:nvPr/>
          </p:nvSpPr>
          <p:spPr>
            <a:xfrm>
              <a:off x="2496" y="144"/>
              <a:ext cx="371" cy="26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400" dirty="0">
                  <a:solidFill>
                    <a:srgbClr val="FF3300"/>
                  </a:solidFill>
                  <a:latin typeface="Times New Roman" panose="02020603050405020304" pitchFamily="18" charset="0"/>
                  <a:ea typeface="楷体_GB2312"/>
                </a:rPr>
                <a:t>IR0</a:t>
              </a:r>
              <a:endParaRPr lang="en-US" altLang="zh-CN" sz="2000" dirty="0">
                <a:solidFill>
                  <a:schemeClr val="tx1"/>
                </a:solidFill>
                <a:latin typeface="宋体" panose="02010600030101010101" pitchFamily="2" charset="-122"/>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000" dirty="0">
                <a:solidFill>
                  <a:schemeClr val="tx1"/>
                </a:solidFill>
                <a:latin typeface="Times New Roman" panose="02020603050405020304" pitchFamily="18" charset="0"/>
                <a:ea typeface="楷体_GB2312"/>
              </a:endParaRPr>
            </a:p>
          </p:txBody>
        </p:sp>
        <p:sp>
          <p:nvSpPr>
            <p:cNvPr id="282642" name="文本框 211985"/>
            <p:cNvSpPr txBox="1"/>
            <p:nvPr/>
          </p:nvSpPr>
          <p:spPr>
            <a:xfrm>
              <a:off x="1488" y="678"/>
              <a:ext cx="480" cy="871"/>
            </a:xfrm>
            <a:prstGeom prst="rect">
              <a:avLst/>
            </a:prstGeom>
            <a:solidFill>
              <a:schemeClr val="bg1"/>
            </a:solidFill>
            <a:ln w="25400" cap="flat" cmpd="sng">
              <a:solidFill>
                <a:schemeClr val="tx1"/>
              </a:solidFill>
              <a:prstDash val="solid"/>
              <a:miter/>
              <a:headEnd type="none" w="med" len="med"/>
              <a:tailEnd type="none" w="med" len="med"/>
            </a:ln>
          </p:spPr>
          <p:txBody>
            <a:bodyPr lIns="0" rIns="0">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2000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当前</a:t>
              </a:r>
              <a:endParaRPr lang="zh-CN" altLang="en-US" sz="18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2000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中断</a:t>
              </a:r>
              <a:endParaRPr lang="zh-CN" altLang="en-US" sz="18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2000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服务</a:t>
              </a:r>
              <a:endParaRPr lang="zh-CN" altLang="en-US" sz="18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2000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寄存器</a:t>
              </a:r>
              <a:endParaRPr lang="zh-CN" altLang="en-US" sz="1800" dirty="0">
                <a:solidFill>
                  <a:schemeClr val="tx1"/>
                </a:solidFill>
                <a:latin typeface="Times New Roman" panose="02020603050405020304" pitchFamily="18" charset="0"/>
                <a:ea typeface="楷体_GB2312"/>
              </a:endParaRPr>
            </a:p>
          </p:txBody>
        </p:sp>
        <p:sp>
          <p:nvSpPr>
            <p:cNvPr id="282643" name="文本框 211986"/>
            <p:cNvSpPr txBox="1"/>
            <p:nvPr/>
          </p:nvSpPr>
          <p:spPr>
            <a:xfrm>
              <a:off x="2064" y="143"/>
              <a:ext cx="432" cy="783"/>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80000"/>
                </a:spcAft>
                <a:buClrTx/>
                <a:buSzTx/>
                <a:buFont typeface="Arial" panose="020B0604020202020204" pitchFamily="34" charset="0"/>
                <a:buNone/>
              </a:pPr>
              <a:r>
                <a:rPr lang="en-US" altLang="zh-CN" sz="2200" dirty="0">
                  <a:solidFill>
                    <a:schemeClr val="tx1"/>
                  </a:solidFill>
                  <a:latin typeface="Times New Roman" panose="02020603050405020304" pitchFamily="18" charset="0"/>
                  <a:ea typeface="楷体_GB2312"/>
                </a:rPr>
                <a:t>08h</a:t>
              </a:r>
              <a:endParaRPr lang="en-US" altLang="zh-CN" sz="2200" dirty="0">
                <a:solidFill>
                  <a:schemeClr val="tx1"/>
                </a:solidFill>
                <a:latin typeface="Times New Roman" panose="02020603050405020304" pitchFamily="18" charset="0"/>
                <a:ea typeface="楷体_GB2312"/>
              </a:endParaRPr>
            </a:p>
            <a:p>
              <a:pPr marL="0" lvl="0" indent="0" algn="ctr">
                <a:lnSpc>
                  <a:spcPct val="100000"/>
                </a:lnSpc>
                <a:spcBef>
                  <a:spcPct val="50000"/>
                </a:spcBef>
                <a:spcAft>
                  <a:spcPct val="130000"/>
                </a:spcAft>
                <a:buClrTx/>
                <a:buSzTx/>
                <a:buFont typeface="Arial" panose="020B0604020202020204" pitchFamily="34" charset="0"/>
                <a:buNone/>
              </a:pPr>
              <a:endParaRPr lang="en-US" altLang="zh-CN" sz="2400" b="0" dirty="0">
                <a:solidFill>
                  <a:schemeClr val="tx1"/>
                </a:solidFill>
                <a:latin typeface="Times New Roman" panose="02020603050405020304" pitchFamily="18" charset="0"/>
                <a:ea typeface="楷体_GB2312"/>
              </a:endParaRPr>
            </a:p>
          </p:txBody>
        </p:sp>
        <p:grpSp>
          <p:nvGrpSpPr>
            <p:cNvPr id="282644" name="组合 211987"/>
            <p:cNvGrpSpPr/>
            <p:nvPr/>
          </p:nvGrpSpPr>
          <p:grpSpPr>
            <a:xfrm>
              <a:off x="3168" y="384"/>
              <a:ext cx="1152" cy="240"/>
              <a:chOff x="0" y="0"/>
              <a:chExt cx="1424" cy="406"/>
            </a:xfrm>
          </p:grpSpPr>
          <p:sp>
            <p:nvSpPr>
              <p:cNvPr id="282645" name="直接连接符 211988"/>
              <p:cNvSpPr/>
              <p:nvPr/>
            </p:nvSpPr>
            <p:spPr>
              <a:xfrm>
                <a:off x="0" y="406"/>
                <a:ext cx="203" cy="0"/>
              </a:xfrm>
              <a:prstGeom prst="line">
                <a:avLst/>
              </a:prstGeom>
              <a:ln w="38100" cap="flat" cmpd="sng">
                <a:solidFill>
                  <a:srgbClr val="FF0000"/>
                </a:solidFill>
                <a:prstDash val="solid"/>
                <a:bevel/>
                <a:headEnd type="none" w="med" len="med"/>
                <a:tailEnd type="none" w="med" len="med"/>
              </a:ln>
            </p:spPr>
          </p:sp>
          <p:grpSp>
            <p:nvGrpSpPr>
              <p:cNvPr id="282646" name="组合 211989"/>
              <p:cNvGrpSpPr/>
              <p:nvPr/>
            </p:nvGrpSpPr>
            <p:grpSpPr>
              <a:xfrm>
                <a:off x="203" y="0"/>
                <a:ext cx="408" cy="406"/>
                <a:chOff x="0" y="0"/>
                <a:chExt cx="960" cy="740"/>
              </a:xfrm>
            </p:grpSpPr>
            <p:sp>
              <p:nvSpPr>
                <p:cNvPr id="282657" name="直接连接符 211990"/>
                <p:cNvSpPr/>
                <p:nvPr/>
              </p:nvSpPr>
              <p:spPr>
                <a:xfrm flipV="1">
                  <a:off x="0" y="0"/>
                  <a:ext cx="0" cy="740"/>
                </a:xfrm>
                <a:prstGeom prst="line">
                  <a:avLst/>
                </a:prstGeom>
                <a:ln w="38100" cap="flat" cmpd="sng">
                  <a:solidFill>
                    <a:srgbClr val="FF0000"/>
                  </a:solidFill>
                  <a:prstDash val="solid"/>
                  <a:bevel/>
                  <a:headEnd type="none" w="med" len="med"/>
                  <a:tailEnd type="triangle" w="med" len="med"/>
                </a:ln>
              </p:spPr>
            </p:sp>
            <p:sp>
              <p:nvSpPr>
                <p:cNvPr id="282658" name="直接连接符 211991"/>
                <p:cNvSpPr/>
                <p:nvPr/>
              </p:nvSpPr>
              <p:spPr>
                <a:xfrm>
                  <a:off x="0" y="0"/>
                  <a:ext cx="480" cy="0"/>
                </a:xfrm>
                <a:prstGeom prst="line">
                  <a:avLst/>
                </a:prstGeom>
                <a:ln w="38100" cap="flat" cmpd="sng">
                  <a:solidFill>
                    <a:srgbClr val="FF0000"/>
                  </a:solidFill>
                  <a:prstDash val="solid"/>
                  <a:bevel/>
                  <a:headEnd type="none" w="med" len="med"/>
                  <a:tailEnd type="none" w="med" len="med"/>
                </a:ln>
              </p:spPr>
            </p:sp>
            <p:sp>
              <p:nvSpPr>
                <p:cNvPr id="282659" name="直接连接符 211992"/>
                <p:cNvSpPr/>
                <p:nvPr/>
              </p:nvSpPr>
              <p:spPr>
                <a:xfrm>
                  <a:off x="480" y="0"/>
                  <a:ext cx="0" cy="740"/>
                </a:xfrm>
                <a:prstGeom prst="line">
                  <a:avLst/>
                </a:prstGeom>
                <a:ln w="38100" cap="flat" cmpd="sng">
                  <a:solidFill>
                    <a:srgbClr val="FF0000"/>
                  </a:solidFill>
                  <a:prstDash val="solid"/>
                  <a:bevel/>
                  <a:headEnd type="none" w="med" len="med"/>
                  <a:tailEnd type="none" w="med" len="med"/>
                </a:ln>
              </p:spPr>
            </p:sp>
            <p:sp>
              <p:nvSpPr>
                <p:cNvPr id="282660" name="直接连接符 211993"/>
                <p:cNvSpPr/>
                <p:nvPr/>
              </p:nvSpPr>
              <p:spPr>
                <a:xfrm>
                  <a:off x="480" y="740"/>
                  <a:ext cx="480" cy="0"/>
                </a:xfrm>
                <a:prstGeom prst="line">
                  <a:avLst/>
                </a:prstGeom>
                <a:ln w="38100" cap="flat" cmpd="sng">
                  <a:solidFill>
                    <a:srgbClr val="FF0000"/>
                  </a:solidFill>
                  <a:prstDash val="solid"/>
                  <a:bevel/>
                  <a:headEnd type="none" w="med" len="med"/>
                  <a:tailEnd type="none" w="med" len="med"/>
                </a:ln>
              </p:spPr>
            </p:sp>
          </p:grpSp>
          <p:grpSp>
            <p:nvGrpSpPr>
              <p:cNvPr id="282647" name="组合 211994"/>
              <p:cNvGrpSpPr/>
              <p:nvPr/>
            </p:nvGrpSpPr>
            <p:grpSpPr>
              <a:xfrm>
                <a:off x="602" y="0"/>
                <a:ext cx="407" cy="406"/>
                <a:chOff x="0" y="0"/>
                <a:chExt cx="960" cy="740"/>
              </a:xfrm>
            </p:grpSpPr>
            <p:sp>
              <p:nvSpPr>
                <p:cNvPr id="282653" name="直接连接符 211995"/>
                <p:cNvSpPr/>
                <p:nvPr/>
              </p:nvSpPr>
              <p:spPr>
                <a:xfrm flipV="1">
                  <a:off x="0" y="0"/>
                  <a:ext cx="0" cy="740"/>
                </a:xfrm>
                <a:prstGeom prst="line">
                  <a:avLst/>
                </a:prstGeom>
                <a:ln w="38100" cap="flat" cmpd="sng">
                  <a:solidFill>
                    <a:srgbClr val="FF0000"/>
                  </a:solidFill>
                  <a:prstDash val="solid"/>
                  <a:bevel/>
                  <a:headEnd type="none" w="med" len="med"/>
                  <a:tailEnd type="triangle" w="med" len="med"/>
                </a:ln>
              </p:spPr>
            </p:sp>
            <p:sp>
              <p:nvSpPr>
                <p:cNvPr id="282654" name="直接连接符 211996"/>
                <p:cNvSpPr/>
                <p:nvPr/>
              </p:nvSpPr>
              <p:spPr>
                <a:xfrm>
                  <a:off x="0" y="0"/>
                  <a:ext cx="480" cy="0"/>
                </a:xfrm>
                <a:prstGeom prst="line">
                  <a:avLst/>
                </a:prstGeom>
                <a:ln w="38100" cap="flat" cmpd="sng">
                  <a:solidFill>
                    <a:srgbClr val="FF0000"/>
                  </a:solidFill>
                  <a:prstDash val="solid"/>
                  <a:bevel/>
                  <a:headEnd type="none" w="med" len="med"/>
                  <a:tailEnd type="none" w="med" len="med"/>
                </a:ln>
              </p:spPr>
            </p:sp>
            <p:sp>
              <p:nvSpPr>
                <p:cNvPr id="282655" name="直接连接符 211997"/>
                <p:cNvSpPr/>
                <p:nvPr/>
              </p:nvSpPr>
              <p:spPr>
                <a:xfrm>
                  <a:off x="480" y="0"/>
                  <a:ext cx="0" cy="740"/>
                </a:xfrm>
                <a:prstGeom prst="line">
                  <a:avLst/>
                </a:prstGeom>
                <a:ln w="38100" cap="flat" cmpd="sng">
                  <a:solidFill>
                    <a:srgbClr val="FF0000"/>
                  </a:solidFill>
                  <a:prstDash val="solid"/>
                  <a:bevel/>
                  <a:headEnd type="none" w="med" len="med"/>
                  <a:tailEnd type="none" w="med" len="med"/>
                </a:ln>
              </p:spPr>
            </p:sp>
            <p:sp>
              <p:nvSpPr>
                <p:cNvPr id="282656" name="直接连接符 211998"/>
                <p:cNvSpPr/>
                <p:nvPr/>
              </p:nvSpPr>
              <p:spPr>
                <a:xfrm>
                  <a:off x="480" y="740"/>
                  <a:ext cx="480" cy="0"/>
                </a:xfrm>
                <a:prstGeom prst="line">
                  <a:avLst/>
                </a:prstGeom>
                <a:ln w="38100" cap="flat" cmpd="sng">
                  <a:solidFill>
                    <a:srgbClr val="FF0000"/>
                  </a:solidFill>
                  <a:prstDash val="solid"/>
                  <a:bevel/>
                  <a:headEnd type="none" w="med" len="med"/>
                  <a:tailEnd type="none" w="med" len="med"/>
                </a:ln>
              </p:spPr>
            </p:sp>
          </p:grpSp>
          <p:grpSp>
            <p:nvGrpSpPr>
              <p:cNvPr id="282648" name="组合 211999"/>
              <p:cNvGrpSpPr/>
              <p:nvPr/>
            </p:nvGrpSpPr>
            <p:grpSpPr>
              <a:xfrm>
                <a:off x="1018" y="0"/>
                <a:ext cx="406" cy="406"/>
                <a:chOff x="0" y="0"/>
                <a:chExt cx="960" cy="740"/>
              </a:xfrm>
            </p:grpSpPr>
            <p:sp>
              <p:nvSpPr>
                <p:cNvPr id="282649" name="直接连接符 212000"/>
                <p:cNvSpPr/>
                <p:nvPr/>
              </p:nvSpPr>
              <p:spPr>
                <a:xfrm flipV="1">
                  <a:off x="0" y="0"/>
                  <a:ext cx="0" cy="740"/>
                </a:xfrm>
                <a:prstGeom prst="line">
                  <a:avLst/>
                </a:prstGeom>
                <a:ln w="38100" cap="flat" cmpd="sng">
                  <a:solidFill>
                    <a:srgbClr val="FF0000"/>
                  </a:solidFill>
                  <a:prstDash val="solid"/>
                  <a:bevel/>
                  <a:headEnd type="none" w="med" len="med"/>
                  <a:tailEnd type="triangle" w="med" len="med"/>
                </a:ln>
              </p:spPr>
            </p:sp>
            <p:sp>
              <p:nvSpPr>
                <p:cNvPr id="282650" name="直接连接符 212001"/>
                <p:cNvSpPr/>
                <p:nvPr/>
              </p:nvSpPr>
              <p:spPr>
                <a:xfrm>
                  <a:off x="0" y="0"/>
                  <a:ext cx="480" cy="0"/>
                </a:xfrm>
                <a:prstGeom prst="line">
                  <a:avLst/>
                </a:prstGeom>
                <a:ln w="38100" cap="flat" cmpd="sng">
                  <a:solidFill>
                    <a:srgbClr val="FF0000"/>
                  </a:solidFill>
                  <a:prstDash val="solid"/>
                  <a:bevel/>
                  <a:headEnd type="none" w="med" len="med"/>
                  <a:tailEnd type="none" w="med" len="med"/>
                </a:ln>
              </p:spPr>
            </p:sp>
            <p:sp>
              <p:nvSpPr>
                <p:cNvPr id="282651" name="直接连接符 212002"/>
                <p:cNvSpPr/>
                <p:nvPr/>
              </p:nvSpPr>
              <p:spPr>
                <a:xfrm>
                  <a:off x="480" y="0"/>
                  <a:ext cx="0" cy="740"/>
                </a:xfrm>
                <a:prstGeom prst="line">
                  <a:avLst/>
                </a:prstGeom>
                <a:ln w="38100" cap="flat" cmpd="sng">
                  <a:solidFill>
                    <a:srgbClr val="FF0000"/>
                  </a:solidFill>
                  <a:prstDash val="solid"/>
                  <a:bevel/>
                  <a:headEnd type="none" w="med" len="med"/>
                  <a:tailEnd type="none" w="med" len="med"/>
                </a:ln>
              </p:spPr>
            </p:sp>
            <p:sp>
              <p:nvSpPr>
                <p:cNvPr id="282652" name="直接连接符 212003"/>
                <p:cNvSpPr/>
                <p:nvPr/>
              </p:nvSpPr>
              <p:spPr>
                <a:xfrm>
                  <a:off x="480" y="740"/>
                  <a:ext cx="480" cy="0"/>
                </a:xfrm>
                <a:prstGeom prst="line">
                  <a:avLst/>
                </a:prstGeom>
                <a:ln w="38100" cap="flat" cmpd="sng">
                  <a:solidFill>
                    <a:srgbClr val="FF0000"/>
                  </a:solidFill>
                  <a:prstDash val="solid"/>
                  <a:bevel/>
                  <a:headEnd type="none" w="med" len="med"/>
                  <a:tailEnd type="none" w="med" len="med"/>
                </a:ln>
              </p:spPr>
            </p:sp>
          </p:grpSp>
        </p:grpSp>
      </p:gr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11970"/>
                                        </p:tgtEl>
                                        <p:attrNameLst>
                                          <p:attrName>style.visibility</p:attrName>
                                        </p:attrNameLst>
                                      </p:cBhvr>
                                      <p:to>
                                        <p:strVal val="visible"/>
                                      </p:to>
                                    </p:set>
                                    <p:anim calcmode="lin" valueType="num">
                                      <p:cBhvr>
                                        <p:cTn id="7" dur="500" fill="hold"/>
                                        <p:tgtEl>
                                          <p:spTgt spid="211970"/>
                                        </p:tgtEl>
                                        <p:attrNameLst>
                                          <p:attrName>ppt_x</p:attrName>
                                        </p:attrNameLst>
                                      </p:cBhvr>
                                      <p:tavLst>
                                        <p:tav tm="0">
                                          <p:val>
                                            <p:strVal val="1+#ppt_w/2"/>
                                          </p:val>
                                        </p:tav>
                                        <p:tav tm="100000">
                                          <p:val>
                                            <p:strVal val="#ppt_x"/>
                                          </p:val>
                                        </p:tav>
                                      </p:tavLst>
                                    </p:anim>
                                    <p:anim calcmode="lin" valueType="num">
                                      <p:cBhvr>
                                        <p:cTn id="8" dur="500" fill="hold"/>
                                        <p:tgtEl>
                                          <p:spTgt spid="2119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0" grpId="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3650" name="文本占位符 212993"/>
          <p:cNvSpPr>
            <a:spLocks noGrp="1"/>
          </p:cNvSpPr>
          <p:nvPr>
            <p:ph type="body" idx="4294967295"/>
          </p:nvPr>
        </p:nvSpPr>
        <p:spPr>
          <a:xfrm>
            <a:off x="395288" y="476250"/>
            <a:ext cx="7921625" cy="2736850"/>
          </a:xfrm>
        </p:spPr>
        <p:txBody>
          <a:bodyPr vert="horz" wrap="square" lIns="91440" tIns="45720" rIns="91440" bIns="45720" anchor="t" anchorCtr="0"/>
          <a:p>
            <a:pPr algn="just">
              <a:lnSpc>
                <a:spcPct val="120000"/>
              </a:lnSpc>
              <a:spcBef>
                <a:spcPct val="10000"/>
              </a:spcBef>
            </a:pPr>
            <a:r>
              <a:rPr lang="zh-CN" altLang="en-US" sz="2600" dirty="0">
                <a:solidFill>
                  <a:srgbClr val="FF0000"/>
                </a:solidFill>
              </a:rPr>
              <a:t>分析</a:t>
            </a:r>
            <a:endParaRPr lang="zh-CN" altLang="en-US" sz="2600" dirty="0">
              <a:solidFill>
                <a:srgbClr val="FF0000"/>
              </a:solidFill>
            </a:endParaRPr>
          </a:p>
          <a:p>
            <a:pPr lvl="1" algn="just">
              <a:lnSpc>
                <a:spcPct val="120000"/>
              </a:lnSpc>
              <a:spcBef>
                <a:spcPct val="10000"/>
              </a:spcBef>
            </a:pPr>
            <a:r>
              <a:rPr lang="zh-CN" altLang="en-US" sz="2200" dirty="0"/>
              <a:t>时钟信号连接在</a:t>
            </a:r>
            <a:r>
              <a:rPr lang="en-US" altLang="zh-CN" sz="2200" dirty="0"/>
              <a:t>IR0</a:t>
            </a:r>
            <a:r>
              <a:rPr lang="zh-CN" altLang="en-US" sz="2200" dirty="0"/>
              <a:t>上，申请的中断类型号为</a:t>
            </a:r>
            <a:r>
              <a:rPr lang="en-US" altLang="zh-CN" sz="2200" dirty="0"/>
              <a:t>08H</a:t>
            </a:r>
            <a:r>
              <a:rPr lang="zh-CN" altLang="en-US" sz="2200" dirty="0"/>
              <a:t>。</a:t>
            </a:r>
            <a:endParaRPr lang="zh-CN" altLang="en-US" sz="2200" dirty="0"/>
          </a:p>
          <a:p>
            <a:pPr lvl="1" algn="just">
              <a:lnSpc>
                <a:spcPct val="120000"/>
              </a:lnSpc>
              <a:spcBef>
                <a:spcPct val="10000"/>
              </a:spcBef>
            </a:pPr>
            <a:r>
              <a:rPr lang="zh-CN" altLang="en-US" sz="2200" dirty="0"/>
              <a:t>时钟信号是一个频率为</a:t>
            </a:r>
            <a:r>
              <a:rPr lang="en-US" altLang="zh-CN" sz="2200" dirty="0"/>
              <a:t>18.2HZ</a:t>
            </a:r>
            <a:r>
              <a:rPr lang="zh-CN" altLang="en-US" sz="2200" dirty="0"/>
              <a:t>的方波信号</a:t>
            </a:r>
            <a:r>
              <a:rPr lang="en-US" altLang="zh-CN" sz="2200" dirty="0"/>
              <a:t>,</a:t>
            </a:r>
            <a:endParaRPr lang="en-US" altLang="zh-CN" sz="2200" dirty="0"/>
          </a:p>
          <a:p>
            <a:pPr lvl="2" algn="just">
              <a:lnSpc>
                <a:spcPct val="120000"/>
              </a:lnSpc>
              <a:spcBef>
                <a:spcPct val="10000"/>
              </a:spcBef>
            </a:pPr>
            <a:r>
              <a:rPr lang="zh-CN" altLang="en-US" dirty="0">
                <a:ea typeface="楷体_GB2312"/>
              </a:rPr>
              <a:t>即每秒向</a:t>
            </a:r>
            <a:r>
              <a:rPr lang="en-US" altLang="zh-CN" dirty="0">
                <a:ea typeface="楷体_GB2312"/>
              </a:rPr>
              <a:t>8259A</a:t>
            </a:r>
            <a:r>
              <a:rPr lang="zh-CN" altLang="en-US" dirty="0">
                <a:ea typeface="楷体_GB2312"/>
              </a:rPr>
              <a:t>发出</a:t>
            </a:r>
            <a:r>
              <a:rPr lang="en-US" altLang="zh-CN" dirty="0">
                <a:ea typeface="楷体_GB2312"/>
              </a:rPr>
              <a:t>18.2</a:t>
            </a:r>
            <a:r>
              <a:rPr lang="zh-CN" altLang="en-US" dirty="0">
                <a:ea typeface="楷体_GB2312"/>
              </a:rPr>
              <a:t>次的中断申请。</a:t>
            </a:r>
            <a:endParaRPr lang="zh-CN" altLang="en-US" dirty="0">
              <a:ea typeface="楷体_GB2312"/>
            </a:endParaRPr>
          </a:p>
          <a:p>
            <a:pPr lvl="2" algn="just">
              <a:lnSpc>
                <a:spcPct val="120000"/>
              </a:lnSpc>
              <a:spcBef>
                <a:spcPct val="10000"/>
              </a:spcBef>
            </a:pPr>
            <a:r>
              <a:rPr lang="zh-CN" altLang="en-US" dirty="0">
                <a:solidFill>
                  <a:srgbClr val="FF3300"/>
                </a:solidFill>
                <a:ea typeface="楷体_GB2312"/>
              </a:rPr>
              <a:t>如果</a:t>
            </a:r>
            <a:r>
              <a:rPr lang="en-US" altLang="zh-CN" dirty="0">
                <a:solidFill>
                  <a:srgbClr val="FF3300"/>
                </a:solidFill>
                <a:ea typeface="楷体_GB2312"/>
              </a:rPr>
              <a:t>CPU</a:t>
            </a:r>
            <a:r>
              <a:rPr lang="zh-CN" altLang="en-US" dirty="0">
                <a:solidFill>
                  <a:srgbClr val="FF3300"/>
                </a:solidFill>
                <a:ea typeface="楷体_GB2312"/>
              </a:rPr>
              <a:t>响应该中断申请，</a:t>
            </a:r>
            <a:endParaRPr lang="zh-CN" altLang="en-US" dirty="0">
              <a:ea typeface="楷体_GB2312"/>
            </a:endParaRPr>
          </a:p>
          <a:p>
            <a:pPr lvl="2" algn="just">
              <a:lnSpc>
                <a:spcPct val="120000"/>
              </a:lnSpc>
              <a:spcBef>
                <a:spcPct val="10000"/>
              </a:spcBef>
            </a:pPr>
            <a:r>
              <a:rPr lang="zh-CN" altLang="en-US" dirty="0">
                <a:ea typeface="楷体_GB2312"/>
              </a:rPr>
              <a:t>则以每秒</a:t>
            </a:r>
            <a:r>
              <a:rPr lang="en-US" altLang="zh-CN" dirty="0">
                <a:ea typeface="楷体_GB2312"/>
              </a:rPr>
              <a:t>18.2</a:t>
            </a:r>
            <a:r>
              <a:rPr lang="zh-CN" altLang="en-US" dirty="0">
                <a:ea typeface="楷体_GB2312"/>
              </a:rPr>
              <a:t>次的频率执行</a:t>
            </a:r>
            <a:r>
              <a:rPr lang="en-US" altLang="zh-CN" dirty="0">
                <a:ea typeface="楷体_GB2312"/>
              </a:rPr>
              <a:t>08H</a:t>
            </a:r>
            <a:r>
              <a:rPr lang="zh-CN" altLang="en-US" dirty="0">
                <a:ea typeface="楷体_GB2312"/>
              </a:rPr>
              <a:t>类型的中断子程</a:t>
            </a:r>
            <a:r>
              <a:rPr lang="zh-CN" altLang="en-US" sz="2500" dirty="0">
                <a:ea typeface="楷体_GB2312"/>
              </a:rPr>
              <a:t>。</a:t>
            </a:r>
            <a:endParaRPr lang="zh-CN" altLang="en-US" sz="2500" dirty="0">
              <a:ea typeface="楷体_GB2312"/>
            </a:endParaRPr>
          </a:p>
        </p:txBody>
      </p:sp>
      <p:grpSp>
        <p:nvGrpSpPr>
          <p:cNvPr id="283651" name="组合 212994"/>
          <p:cNvGrpSpPr/>
          <p:nvPr/>
        </p:nvGrpSpPr>
        <p:grpSpPr>
          <a:xfrm>
            <a:off x="1219200" y="3505200"/>
            <a:ext cx="6781800" cy="2235200"/>
            <a:chOff x="0" y="0"/>
            <a:chExt cx="4272" cy="1408"/>
          </a:xfrm>
        </p:grpSpPr>
        <p:sp>
          <p:nvSpPr>
            <p:cNvPr id="283652" name="矩形 212995"/>
            <p:cNvSpPr/>
            <p:nvPr/>
          </p:nvSpPr>
          <p:spPr>
            <a:xfrm>
              <a:off x="0" y="49"/>
              <a:ext cx="798" cy="1295"/>
            </a:xfrm>
            <a:prstGeom prst="rect">
              <a:avLst/>
            </a:prstGeom>
            <a:solidFill>
              <a:srgbClr val="FFFF99"/>
            </a:solidFill>
            <a:ln w="127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endParaRPr lang="en-US" altLang="zh-CN" sz="24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4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4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4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8088</a:t>
              </a:r>
              <a:endParaRPr lang="en-US" altLang="zh-CN" sz="2400" dirty="0">
                <a:solidFill>
                  <a:schemeClr val="tx1"/>
                </a:solidFill>
                <a:latin typeface="Times New Roman" panose="02020603050405020304" pitchFamily="18" charset="0"/>
                <a:ea typeface="楷体_GB2312"/>
              </a:endParaRPr>
            </a:p>
          </p:txBody>
        </p:sp>
        <p:sp>
          <p:nvSpPr>
            <p:cNvPr id="283653" name="矩形 212996"/>
            <p:cNvSpPr/>
            <p:nvPr/>
          </p:nvSpPr>
          <p:spPr>
            <a:xfrm>
              <a:off x="1632" y="48"/>
              <a:ext cx="670" cy="1360"/>
            </a:xfrm>
            <a:prstGeom prst="rect">
              <a:avLst/>
            </a:prstGeom>
            <a:solidFill>
              <a:srgbClr val="00FFFF"/>
            </a:solidFill>
            <a:ln w="12700" cap="flat" cmpd="sng">
              <a:solidFill>
                <a:srgbClr val="000000"/>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endParaRPr lang="en-US" altLang="zh-CN" sz="24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4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4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endParaRPr lang="en-US" altLang="zh-CN" sz="24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8259A</a:t>
              </a:r>
              <a:endParaRPr lang="en-US" altLang="zh-CN" sz="2400" b="0" dirty="0">
                <a:solidFill>
                  <a:schemeClr val="tx1"/>
                </a:solidFill>
                <a:latin typeface="Times New Roman" panose="02020603050405020304" pitchFamily="18" charset="0"/>
                <a:ea typeface="楷体_GB2312"/>
              </a:endParaRPr>
            </a:p>
          </p:txBody>
        </p:sp>
        <p:sp>
          <p:nvSpPr>
            <p:cNvPr id="283654" name="直接连接符 212997"/>
            <p:cNvSpPr/>
            <p:nvPr/>
          </p:nvSpPr>
          <p:spPr>
            <a:xfrm flipH="1">
              <a:off x="789" y="768"/>
              <a:ext cx="843" cy="0"/>
            </a:xfrm>
            <a:prstGeom prst="line">
              <a:avLst/>
            </a:prstGeom>
            <a:ln w="38100" cap="flat" cmpd="sng">
              <a:solidFill>
                <a:srgbClr val="000000"/>
              </a:solidFill>
              <a:prstDash val="solid"/>
              <a:bevel/>
              <a:headEnd type="none" w="med" len="med"/>
              <a:tailEnd type="triangle" w="med" len="med"/>
            </a:ln>
          </p:spPr>
        </p:sp>
        <p:sp>
          <p:nvSpPr>
            <p:cNvPr id="283655" name="直接连接符 212998"/>
            <p:cNvSpPr/>
            <p:nvPr/>
          </p:nvSpPr>
          <p:spPr>
            <a:xfrm flipH="1" flipV="1">
              <a:off x="2304" y="336"/>
              <a:ext cx="382" cy="0"/>
            </a:xfrm>
            <a:prstGeom prst="line">
              <a:avLst/>
            </a:prstGeom>
            <a:ln w="38100" cap="flat" cmpd="sng">
              <a:solidFill>
                <a:srgbClr val="000000"/>
              </a:solidFill>
              <a:prstDash val="solid"/>
              <a:bevel/>
              <a:headEnd type="none" w="med" len="med"/>
              <a:tailEnd type="triangle" w="med" len="med"/>
            </a:ln>
          </p:spPr>
        </p:sp>
        <p:sp>
          <p:nvSpPr>
            <p:cNvPr id="283656" name="矩形 212999"/>
            <p:cNvSpPr/>
            <p:nvPr/>
          </p:nvSpPr>
          <p:spPr>
            <a:xfrm>
              <a:off x="336" y="679"/>
              <a:ext cx="415" cy="18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INTR</a:t>
              </a:r>
              <a:r>
                <a:rPr lang="en-US" altLang="zh-CN" sz="2400" b="0" dirty="0">
                  <a:solidFill>
                    <a:schemeClr val="tx1"/>
                  </a:solidFill>
                  <a:latin typeface="Times New Roman" panose="02020603050405020304" pitchFamily="18" charset="0"/>
                  <a:ea typeface="楷体_GB2312"/>
                </a:rPr>
                <a:t>  </a:t>
              </a:r>
              <a:endParaRPr lang="en-US" altLang="zh-CN" sz="2400" b="0" dirty="0">
                <a:solidFill>
                  <a:schemeClr val="tx1"/>
                </a:solidFill>
                <a:latin typeface="Times New Roman" panose="02020603050405020304" pitchFamily="18" charset="0"/>
                <a:ea typeface="楷体_GB2312"/>
              </a:endParaRPr>
            </a:p>
          </p:txBody>
        </p:sp>
        <p:sp>
          <p:nvSpPr>
            <p:cNvPr id="283657" name="矩形 213000"/>
            <p:cNvSpPr/>
            <p:nvPr/>
          </p:nvSpPr>
          <p:spPr>
            <a:xfrm>
              <a:off x="1889" y="233"/>
              <a:ext cx="415" cy="247"/>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IR0</a:t>
              </a:r>
              <a:endParaRPr lang="en-US" altLang="zh-CN" sz="2400" b="0" dirty="0">
                <a:solidFill>
                  <a:schemeClr val="tx1"/>
                </a:solidFill>
                <a:latin typeface="Times New Roman" panose="02020603050405020304" pitchFamily="18" charset="0"/>
                <a:ea typeface="楷体_GB2312"/>
              </a:endParaRPr>
            </a:p>
          </p:txBody>
        </p:sp>
        <p:grpSp>
          <p:nvGrpSpPr>
            <p:cNvPr id="283658" name="组合 213001"/>
            <p:cNvGrpSpPr/>
            <p:nvPr/>
          </p:nvGrpSpPr>
          <p:grpSpPr>
            <a:xfrm>
              <a:off x="2787" y="0"/>
              <a:ext cx="1424" cy="240"/>
              <a:chOff x="0" y="0"/>
              <a:chExt cx="1424" cy="406"/>
            </a:xfrm>
          </p:grpSpPr>
          <p:sp>
            <p:nvSpPr>
              <p:cNvPr id="283661" name="直接连接符 213002"/>
              <p:cNvSpPr/>
              <p:nvPr/>
            </p:nvSpPr>
            <p:spPr>
              <a:xfrm>
                <a:off x="0" y="406"/>
                <a:ext cx="203" cy="0"/>
              </a:xfrm>
              <a:prstGeom prst="line">
                <a:avLst/>
              </a:prstGeom>
              <a:ln w="38100" cap="flat" cmpd="sng">
                <a:solidFill>
                  <a:srgbClr val="FF0000"/>
                </a:solidFill>
                <a:prstDash val="solid"/>
                <a:bevel/>
                <a:headEnd type="none" w="med" len="med"/>
                <a:tailEnd type="none" w="med" len="med"/>
              </a:ln>
            </p:spPr>
          </p:sp>
          <p:grpSp>
            <p:nvGrpSpPr>
              <p:cNvPr id="283662" name="组合 213003"/>
              <p:cNvGrpSpPr/>
              <p:nvPr/>
            </p:nvGrpSpPr>
            <p:grpSpPr>
              <a:xfrm>
                <a:off x="203" y="0"/>
                <a:ext cx="408" cy="406"/>
                <a:chOff x="0" y="0"/>
                <a:chExt cx="960" cy="740"/>
              </a:xfrm>
            </p:grpSpPr>
            <p:sp>
              <p:nvSpPr>
                <p:cNvPr id="283673" name="直接连接符 213004"/>
                <p:cNvSpPr/>
                <p:nvPr/>
              </p:nvSpPr>
              <p:spPr>
                <a:xfrm flipV="1">
                  <a:off x="0" y="0"/>
                  <a:ext cx="0" cy="740"/>
                </a:xfrm>
                <a:prstGeom prst="line">
                  <a:avLst/>
                </a:prstGeom>
                <a:ln w="38100" cap="flat" cmpd="sng">
                  <a:solidFill>
                    <a:srgbClr val="FF0000"/>
                  </a:solidFill>
                  <a:prstDash val="solid"/>
                  <a:bevel/>
                  <a:headEnd type="none" w="med" len="med"/>
                  <a:tailEnd type="triangle" w="med" len="med"/>
                </a:ln>
              </p:spPr>
            </p:sp>
            <p:sp>
              <p:nvSpPr>
                <p:cNvPr id="283674" name="直接连接符 213005"/>
                <p:cNvSpPr/>
                <p:nvPr/>
              </p:nvSpPr>
              <p:spPr>
                <a:xfrm>
                  <a:off x="0" y="0"/>
                  <a:ext cx="480" cy="0"/>
                </a:xfrm>
                <a:prstGeom prst="line">
                  <a:avLst/>
                </a:prstGeom>
                <a:ln w="38100" cap="flat" cmpd="sng">
                  <a:solidFill>
                    <a:srgbClr val="FF0000"/>
                  </a:solidFill>
                  <a:prstDash val="solid"/>
                  <a:bevel/>
                  <a:headEnd type="none" w="med" len="med"/>
                  <a:tailEnd type="none" w="med" len="med"/>
                </a:ln>
              </p:spPr>
            </p:sp>
            <p:sp>
              <p:nvSpPr>
                <p:cNvPr id="283675" name="直接连接符 213006"/>
                <p:cNvSpPr/>
                <p:nvPr/>
              </p:nvSpPr>
              <p:spPr>
                <a:xfrm>
                  <a:off x="480" y="0"/>
                  <a:ext cx="0" cy="740"/>
                </a:xfrm>
                <a:prstGeom prst="line">
                  <a:avLst/>
                </a:prstGeom>
                <a:ln w="38100" cap="flat" cmpd="sng">
                  <a:solidFill>
                    <a:srgbClr val="FF0000"/>
                  </a:solidFill>
                  <a:prstDash val="solid"/>
                  <a:bevel/>
                  <a:headEnd type="none" w="med" len="med"/>
                  <a:tailEnd type="none" w="med" len="med"/>
                </a:ln>
              </p:spPr>
            </p:sp>
            <p:sp>
              <p:nvSpPr>
                <p:cNvPr id="283676" name="直接连接符 213007"/>
                <p:cNvSpPr/>
                <p:nvPr/>
              </p:nvSpPr>
              <p:spPr>
                <a:xfrm>
                  <a:off x="480" y="740"/>
                  <a:ext cx="480" cy="0"/>
                </a:xfrm>
                <a:prstGeom prst="line">
                  <a:avLst/>
                </a:prstGeom>
                <a:ln w="38100" cap="flat" cmpd="sng">
                  <a:solidFill>
                    <a:srgbClr val="FF0000"/>
                  </a:solidFill>
                  <a:prstDash val="solid"/>
                  <a:bevel/>
                  <a:headEnd type="none" w="med" len="med"/>
                  <a:tailEnd type="none" w="med" len="med"/>
                </a:ln>
              </p:spPr>
            </p:sp>
          </p:grpSp>
          <p:grpSp>
            <p:nvGrpSpPr>
              <p:cNvPr id="283663" name="组合 213008"/>
              <p:cNvGrpSpPr/>
              <p:nvPr/>
            </p:nvGrpSpPr>
            <p:grpSpPr>
              <a:xfrm>
                <a:off x="602" y="0"/>
                <a:ext cx="407" cy="406"/>
                <a:chOff x="0" y="0"/>
                <a:chExt cx="960" cy="740"/>
              </a:xfrm>
            </p:grpSpPr>
            <p:sp>
              <p:nvSpPr>
                <p:cNvPr id="283669" name="直接连接符 213009"/>
                <p:cNvSpPr/>
                <p:nvPr/>
              </p:nvSpPr>
              <p:spPr>
                <a:xfrm flipV="1">
                  <a:off x="0" y="0"/>
                  <a:ext cx="0" cy="740"/>
                </a:xfrm>
                <a:prstGeom prst="line">
                  <a:avLst/>
                </a:prstGeom>
                <a:ln w="38100" cap="flat" cmpd="sng">
                  <a:solidFill>
                    <a:srgbClr val="FF0000"/>
                  </a:solidFill>
                  <a:prstDash val="solid"/>
                  <a:bevel/>
                  <a:headEnd type="none" w="med" len="med"/>
                  <a:tailEnd type="triangle" w="med" len="med"/>
                </a:ln>
              </p:spPr>
            </p:sp>
            <p:sp>
              <p:nvSpPr>
                <p:cNvPr id="283670" name="直接连接符 213010"/>
                <p:cNvSpPr/>
                <p:nvPr/>
              </p:nvSpPr>
              <p:spPr>
                <a:xfrm>
                  <a:off x="0" y="0"/>
                  <a:ext cx="480" cy="0"/>
                </a:xfrm>
                <a:prstGeom prst="line">
                  <a:avLst/>
                </a:prstGeom>
                <a:ln w="38100" cap="flat" cmpd="sng">
                  <a:solidFill>
                    <a:srgbClr val="FF0000"/>
                  </a:solidFill>
                  <a:prstDash val="solid"/>
                  <a:bevel/>
                  <a:headEnd type="none" w="med" len="med"/>
                  <a:tailEnd type="none" w="med" len="med"/>
                </a:ln>
              </p:spPr>
            </p:sp>
            <p:sp>
              <p:nvSpPr>
                <p:cNvPr id="283671" name="直接连接符 213011"/>
                <p:cNvSpPr/>
                <p:nvPr/>
              </p:nvSpPr>
              <p:spPr>
                <a:xfrm>
                  <a:off x="480" y="0"/>
                  <a:ext cx="0" cy="740"/>
                </a:xfrm>
                <a:prstGeom prst="line">
                  <a:avLst/>
                </a:prstGeom>
                <a:ln w="38100" cap="flat" cmpd="sng">
                  <a:solidFill>
                    <a:srgbClr val="FF0000"/>
                  </a:solidFill>
                  <a:prstDash val="solid"/>
                  <a:bevel/>
                  <a:headEnd type="none" w="med" len="med"/>
                  <a:tailEnd type="none" w="med" len="med"/>
                </a:ln>
              </p:spPr>
            </p:sp>
            <p:sp>
              <p:nvSpPr>
                <p:cNvPr id="283672" name="直接连接符 213012"/>
                <p:cNvSpPr/>
                <p:nvPr/>
              </p:nvSpPr>
              <p:spPr>
                <a:xfrm>
                  <a:off x="480" y="740"/>
                  <a:ext cx="480" cy="0"/>
                </a:xfrm>
                <a:prstGeom prst="line">
                  <a:avLst/>
                </a:prstGeom>
                <a:ln w="38100" cap="flat" cmpd="sng">
                  <a:solidFill>
                    <a:srgbClr val="FF0000"/>
                  </a:solidFill>
                  <a:prstDash val="solid"/>
                  <a:bevel/>
                  <a:headEnd type="none" w="med" len="med"/>
                  <a:tailEnd type="none" w="med" len="med"/>
                </a:ln>
              </p:spPr>
            </p:sp>
          </p:grpSp>
          <p:grpSp>
            <p:nvGrpSpPr>
              <p:cNvPr id="283664" name="组合 213013"/>
              <p:cNvGrpSpPr/>
              <p:nvPr/>
            </p:nvGrpSpPr>
            <p:grpSpPr>
              <a:xfrm>
                <a:off x="1018" y="0"/>
                <a:ext cx="406" cy="406"/>
                <a:chOff x="0" y="0"/>
                <a:chExt cx="960" cy="740"/>
              </a:xfrm>
            </p:grpSpPr>
            <p:sp>
              <p:nvSpPr>
                <p:cNvPr id="283665" name="直接连接符 213014"/>
                <p:cNvSpPr/>
                <p:nvPr/>
              </p:nvSpPr>
              <p:spPr>
                <a:xfrm flipV="1">
                  <a:off x="0" y="0"/>
                  <a:ext cx="0" cy="740"/>
                </a:xfrm>
                <a:prstGeom prst="line">
                  <a:avLst/>
                </a:prstGeom>
                <a:ln w="38100" cap="flat" cmpd="sng">
                  <a:solidFill>
                    <a:srgbClr val="FF0000"/>
                  </a:solidFill>
                  <a:prstDash val="solid"/>
                  <a:bevel/>
                  <a:headEnd type="none" w="med" len="med"/>
                  <a:tailEnd type="triangle" w="med" len="med"/>
                </a:ln>
              </p:spPr>
            </p:sp>
            <p:sp>
              <p:nvSpPr>
                <p:cNvPr id="283666" name="直接连接符 213015"/>
                <p:cNvSpPr/>
                <p:nvPr/>
              </p:nvSpPr>
              <p:spPr>
                <a:xfrm>
                  <a:off x="0" y="0"/>
                  <a:ext cx="480" cy="0"/>
                </a:xfrm>
                <a:prstGeom prst="line">
                  <a:avLst/>
                </a:prstGeom>
                <a:ln w="38100" cap="flat" cmpd="sng">
                  <a:solidFill>
                    <a:srgbClr val="FF0000"/>
                  </a:solidFill>
                  <a:prstDash val="solid"/>
                  <a:bevel/>
                  <a:headEnd type="none" w="med" len="med"/>
                  <a:tailEnd type="none" w="med" len="med"/>
                </a:ln>
              </p:spPr>
            </p:sp>
            <p:sp>
              <p:nvSpPr>
                <p:cNvPr id="283667" name="直接连接符 213016"/>
                <p:cNvSpPr/>
                <p:nvPr/>
              </p:nvSpPr>
              <p:spPr>
                <a:xfrm>
                  <a:off x="480" y="0"/>
                  <a:ext cx="0" cy="740"/>
                </a:xfrm>
                <a:prstGeom prst="line">
                  <a:avLst/>
                </a:prstGeom>
                <a:ln w="38100" cap="flat" cmpd="sng">
                  <a:solidFill>
                    <a:srgbClr val="FF0000"/>
                  </a:solidFill>
                  <a:prstDash val="solid"/>
                  <a:bevel/>
                  <a:headEnd type="none" w="med" len="med"/>
                  <a:tailEnd type="none" w="med" len="med"/>
                </a:ln>
              </p:spPr>
            </p:sp>
            <p:sp>
              <p:nvSpPr>
                <p:cNvPr id="283668" name="直接连接符 213017"/>
                <p:cNvSpPr/>
                <p:nvPr/>
              </p:nvSpPr>
              <p:spPr>
                <a:xfrm>
                  <a:off x="480" y="740"/>
                  <a:ext cx="480" cy="0"/>
                </a:xfrm>
                <a:prstGeom prst="line">
                  <a:avLst/>
                </a:prstGeom>
                <a:ln w="38100" cap="flat" cmpd="sng">
                  <a:solidFill>
                    <a:srgbClr val="FF0000"/>
                  </a:solidFill>
                  <a:prstDash val="solid"/>
                  <a:bevel/>
                  <a:headEnd type="none" w="med" len="med"/>
                  <a:tailEnd type="none" w="med" len="med"/>
                </a:ln>
              </p:spPr>
            </p:sp>
          </p:grpSp>
        </p:grpSp>
        <p:sp>
          <p:nvSpPr>
            <p:cNvPr id="283659" name="矩形 213018"/>
            <p:cNvSpPr/>
            <p:nvPr/>
          </p:nvSpPr>
          <p:spPr>
            <a:xfrm>
              <a:off x="2839" y="384"/>
              <a:ext cx="1433" cy="296"/>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18.2Hz</a:t>
              </a:r>
              <a:r>
                <a:rPr lang="zh-CN" altLang="en-US" sz="2400" dirty="0">
                  <a:solidFill>
                    <a:schemeClr val="tx1"/>
                  </a:solidFill>
                  <a:latin typeface="宋体" panose="02010600030101010101" pitchFamily="2" charset="-122"/>
                  <a:ea typeface="楷体_GB2312"/>
                </a:rPr>
                <a:t>方波信号</a:t>
              </a:r>
              <a:endParaRPr lang="zh-CN" altLang="en-US" sz="2400" b="0" dirty="0">
                <a:solidFill>
                  <a:schemeClr val="tx1"/>
                </a:solidFill>
                <a:latin typeface="Times New Roman" panose="02020603050405020304" pitchFamily="18" charset="0"/>
                <a:ea typeface="楷体_GB2312"/>
              </a:endParaRPr>
            </a:p>
          </p:txBody>
        </p:sp>
        <p:sp>
          <p:nvSpPr>
            <p:cNvPr id="283660" name="矩形 213019"/>
            <p:cNvSpPr/>
            <p:nvPr/>
          </p:nvSpPr>
          <p:spPr>
            <a:xfrm>
              <a:off x="1632" y="672"/>
              <a:ext cx="415" cy="185"/>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2000" dirty="0">
                  <a:solidFill>
                    <a:schemeClr val="tx1"/>
                  </a:solidFill>
                  <a:latin typeface="Times New Roman" panose="02020603050405020304" pitchFamily="18" charset="0"/>
                  <a:ea typeface="楷体_GB2312"/>
                </a:rPr>
                <a:t>INT</a:t>
              </a:r>
              <a:endParaRPr lang="en-US" altLang="zh-CN" sz="2400" b="0" dirty="0">
                <a:solidFill>
                  <a:schemeClr val="tx1"/>
                </a:solidFill>
                <a:latin typeface="Times New Roman" panose="02020603050405020304" pitchFamily="18" charset="0"/>
                <a:ea typeface="楷体_GB2312"/>
              </a:endParaRPr>
            </a:p>
          </p:txBody>
        </p:sp>
      </p:grpSp>
    </p:spTree>
  </p:cSld>
  <p:clrMapOvr>
    <a:masterClrMapping/>
  </p:clrMapOvr>
  <p:transition spd="slow">
    <p:zoom/>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4674" name="矩形 214017"/>
          <p:cNvSpPr/>
          <p:nvPr/>
        </p:nvSpPr>
        <p:spPr>
          <a:xfrm>
            <a:off x="395288" y="1125538"/>
            <a:ext cx="8458200" cy="411480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742950" lvl="1" indent="-285750" algn="just"/>
            <a:r>
              <a:rPr lang="zh-CN" altLang="en-US" i="1" dirty="0">
                <a:ea typeface="楷体_GB2312"/>
              </a:rPr>
              <a:t>中断申请的任务是每</a:t>
            </a:r>
            <a:r>
              <a:rPr lang="en-US" altLang="zh-CN" i="1" dirty="0">
                <a:ea typeface="楷体_GB2312"/>
              </a:rPr>
              <a:t>5</a:t>
            </a:r>
            <a:r>
              <a:rPr lang="zh-CN" altLang="en-US" i="1" dirty="0">
                <a:ea typeface="楷体_GB2312"/>
              </a:rPr>
              <a:t>秒显示一个字符’</a:t>
            </a:r>
            <a:r>
              <a:rPr lang="en-US" altLang="zh-CN" i="1" dirty="0">
                <a:ea typeface="楷体_GB2312"/>
              </a:rPr>
              <a:t>A’</a:t>
            </a:r>
            <a:endParaRPr lang="en-US" altLang="zh-CN" i="1" dirty="0">
              <a:ea typeface="楷体_GB2312"/>
            </a:endParaRPr>
          </a:p>
          <a:p>
            <a:pPr marL="1143000" lvl="2" indent="-228600" algn="just"/>
            <a:r>
              <a:rPr lang="en-US" altLang="zh-CN" i="1" dirty="0">
                <a:ea typeface="楷体_GB2312"/>
              </a:rPr>
              <a:t>1</a:t>
            </a:r>
            <a:r>
              <a:rPr lang="zh-CN" altLang="en-US" i="1" dirty="0">
                <a:ea typeface="楷体_GB2312"/>
              </a:rPr>
              <a:t>秒执行</a:t>
            </a:r>
            <a:r>
              <a:rPr lang="en-US" altLang="zh-CN" i="1" dirty="0">
                <a:ea typeface="楷体_GB2312"/>
              </a:rPr>
              <a:t>18.2</a:t>
            </a:r>
            <a:r>
              <a:rPr lang="zh-CN" altLang="en-US" i="1" dirty="0">
                <a:ea typeface="楷体_GB2312"/>
              </a:rPr>
              <a:t>次，则</a:t>
            </a:r>
            <a:r>
              <a:rPr lang="en-US" altLang="zh-CN" i="1" dirty="0">
                <a:ea typeface="楷体_GB2312"/>
              </a:rPr>
              <a:t>5</a:t>
            </a:r>
            <a:r>
              <a:rPr lang="zh-CN" altLang="en-US" i="1" dirty="0">
                <a:ea typeface="楷体_GB2312"/>
              </a:rPr>
              <a:t>秒执行</a:t>
            </a:r>
            <a:r>
              <a:rPr lang="en-US" altLang="zh-CN" i="1" dirty="0">
                <a:ea typeface="楷体_GB2312"/>
              </a:rPr>
              <a:t>18.2×5=91</a:t>
            </a:r>
            <a:r>
              <a:rPr lang="zh-CN" altLang="en-US" i="1" dirty="0">
                <a:ea typeface="楷体_GB2312"/>
              </a:rPr>
              <a:t>次，</a:t>
            </a:r>
            <a:endParaRPr lang="zh-CN" altLang="en-US" i="1" dirty="0">
              <a:ea typeface="楷体_GB2312"/>
            </a:endParaRPr>
          </a:p>
          <a:p>
            <a:pPr marL="1143000" lvl="2" indent="-228600" algn="just">
              <a:spcAft>
                <a:spcPct val="50000"/>
              </a:spcAft>
            </a:pPr>
            <a:r>
              <a:rPr lang="zh-CN" altLang="en-US" i="1" dirty="0">
                <a:ea typeface="楷体_GB2312"/>
              </a:rPr>
              <a:t>只在执行到第</a:t>
            </a:r>
            <a:r>
              <a:rPr lang="en-US" altLang="zh-CN" i="1" dirty="0">
                <a:ea typeface="楷体_GB2312"/>
              </a:rPr>
              <a:t>91</a:t>
            </a:r>
            <a:r>
              <a:rPr lang="zh-CN" altLang="en-US" i="1" dirty="0">
                <a:ea typeface="楷体_GB2312"/>
              </a:rPr>
              <a:t>次时显示’</a:t>
            </a:r>
            <a:r>
              <a:rPr lang="en-US" altLang="zh-CN" i="1" dirty="0">
                <a:ea typeface="楷体_GB2312"/>
              </a:rPr>
              <a:t>A’</a:t>
            </a:r>
            <a:r>
              <a:rPr lang="zh-CN" altLang="en-US" i="1" dirty="0">
                <a:ea typeface="楷体_GB2312"/>
              </a:rPr>
              <a:t>，其它不显示。</a:t>
            </a:r>
            <a:endParaRPr lang="zh-CN" altLang="en-US" i="1" dirty="0">
              <a:ea typeface="楷体_GB2312"/>
            </a:endParaRPr>
          </a:p>
          <a:p>
            <a:pPr marL="742950" lvl="1" indent="-285750" algn="just"/>
            <a:r>
              <a:rPr lang="zh-CN" altLang="en-US" i="1" dirty="0">
                <a:ea typeface="楷体_GB2312"/>
              </a:rPr>
              <a:t>在中断子程中用一个量来计数中断子程被执行的次数</a:t>
            </a:r>
            <a:r>
              <a:rPr lang="en-US" altLang="zh-CN" i="1" dirty="0">
                <a:ea typeface="楷体_GB2312"/>
              </a:rPr>
              <a:t>,</a:t>
            </a:r>
            <a:endParaRPr lang="en-US" altLang="zh-CN" i="1" dirty="0">
              <a:ea typeface="楷体_GB2312"/>
            </a:endParaRPr>
          </a:p>
          <a:p>
            <a:pPr marL="1143000" lvl="2" indent="-228600" algn="just"/>
            <a:r>
              <a:rPr lang="zh-CN" altLang="en-US" i="1" dirty="0">
                <a:ea typeface="楷体_GB2312"/>
              </a:rPr>
              <a:t>即</a:t>
            </a:r>
            <a:r>
              <a:rPr lang="en-US" altLang="zh-CN" i="1" dirty="0">
                <a:ea typeface="楷体_GB2312"/>
              </a:rPr>
              <a:t>CPU</a:t>
            </a:r>
            <a:r>
              <a:rPr lang="zh-CN" altLang="en-US" i="1" dirty="0">
                <a:ea typeface="楷体_GB2312"/>
              </a:rPr>
              <a:t>响应</a:t>
            </a:r>
            <a:r>
              <a:rPr lang="en-US" altLang="zh-CN" i="1" dirty="0">
                <a:ea typeface="楷体_GB2312"/>
              </a:rPr>
              <a:t>IR0</a:t>
            </a:r>
            <a:r>
              <a:rPr lang="zh-CN" altLang="en-US" i="1" dirty="0">
                <a:ea typeface="楷体_GB2312"/>
              </a:rPr>
              <a:t>中断申请的次数。</a:t>
            </a:r>
            <a:endParaRPr lang="zh-CN" altLang="en-US" i="1" dirty="0">
              <a:ea typeface="楷体_GB2312"/>
            </a:endParaRPr>
          </a:p>
          <a:p>
            <a:pPr marL="1143000" lvl="2" indent="-228600" algn="just"/>
            <a:r>
              <a:rPr lang="zh-CN" altLang="en-US" i="1" dirty="0">
                <a:ea typeface="楷体_GB2312"/>
              </a:rPr>
              <a:t>当达到</a:t>
            </a:r>
            <a:r>
              <a:rPr lang="en-US" altLang="zh-CN" i="1" dirty="0">
                <a:ea typeface="楷体_GB2312"/>
              </a:rPr>
              <a:t>91</a:t>
            </a:r>
            <a:r>
              <a:rPr lang="zh-CN" altLang="en-US" i="1" dirty="0">
                <a:ea typeface="楷体_GB2312"/>
              </a:rPr>
              <a:t>次，则显示’</a:t>
            </a:r>
            <a:r>
              <a:rPr lang="en-US" altLang="zh-CN" i="1" dirty="0">
                <a:ea typeface="楷体_GB2312"/>
              </a:rPr>
              <a:t>A’</a:t>
            </a:r>
            <a:r>
              <a:rPr lang="zh-CN" altLang="en-US" i="1" dirty="0">
                <a:ea typeface="楷体_GB2312"/>
              </a:rPr>
              <a:t>，并将计数值清</a:t>
            </a:r>
            <a:r>
              <a:rPr lang="en-US" altLang="zh-CN" i="1" dirty="0">
                <a:ea typeface="楷体_GB2312"/>
              </a:rPr>
              <a:t>0</a:t>
            </a:r>
            <a:r>
              <a:rPr lang="zh-CN" altLang="en-US" i="1" dirty="0">
                <a:ea typeface="楷体_GB2312"/>
              </a:rPr>
              <a:t>，重新计数</a:t>
            </a:r>
            <a:r>
              <a:rPr lang="en-US" altLang="zh-CN" i="1" dirty="0">
                <a:ea typeface="楷体_GB2312"/>
              </a:rPr>
              <a:t>;</a:t>
            </a:r>
            <a:endParaRPr lang="en-US" altLang="zh-CN" i="1" dirty="0">
              <a:ea typeface="楷体_GB2312"/>
            </a:endParaRPr>
          </a:p>
          <a:p>
            <a:pPr marL="1143000" lvl="2" indent="-228600" algn="just">
              <a:spcAft>
                <a:spcPct val="50000"/>
              </a:spcAft>
            </a:pPr>
            <a:r>
              <a:rPr lang="zh-CN" altLang="en-US" i="1" dirty="0">
                <a:ea typeface="楷体_GB2312"/>
              </a:rPr>
              <a:t>其它情况只计数，不显示’</a:t>
            </a:r>
            <a:r>
              <a:rPr lang="en-US" altLang="zh-CN" i="1" dirty="0">
                <a:ea typeface="楷体_GB2312"/>
              </a:rPr>
              <a:t>A’</a:t>
            </a:r>
            <a:r>
              <a:rPr lang="zh-CN" altLang="en-US" i="1" dirty="0">
                <a:ea typeface="楷体_GB2312"/>
              </a:rPr>
              <a:t>。</a:t>
            </a:r>
            <a:endParaRPr lang="zh-CN" altLang="en-US" i="1" dirty="0">
              <a:ea typeface="楷体_GB2312"/>
            </a:endParaRPr>
          </a:p>
          <a:p>
            <a:pPr marL="742950" lvl="1" indent="-285750" algn="just"/>
            <a:r>
              <a:rPr lang="zh-CN" altLang="en-US" i="1" dirty="0">
                <a:ea typeface="楷体_GB2312"/>
              </a:rPr>
              <a:t>中断子程的最后应发中断结束命令</a:t>
            </a:r>
            <a:r>
              <a:rPr lang="en-US" altLang="zh-CN" i="1" dirty="0">
                <a:ea typeface="楷体_GB2312"/>
              </a:rPr>
              <a:t>EOI</a:t>
            </a:r>
            <a:r>
              <a:rPr lang="zh-CN" altLang="en-US" i="1" dirty="0">
                <a:ea typeface="楷体_GB2312"/>
              </a:rPr>
              <a:t>。</a:t>
            </a:r>
            <a:endParaRPr lang="zh-CN" altLang="en-US" i="1" dirty="0">
              <a:ea typeface="楷体_GB2312"/>
            </a:endParaRPr>
          </a:p>
        </p:txBody>
      </p:sp>
    </p:spTree>
  </p:cSld>
  <p:clrMapOvr>
    <a:masterClrMapping/>
  </p:clrMapOvr>
  <p:transition spd="slow">
    <p:zoom/>
  </p:transition>
</p:sld>
</file>

<file path=ppt/slides/slide1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pSp>
        <p:nvGrpSpPr>
          <p:cNvPr id="285698" name="组合 215041"/>
          <p:cNvGrpSpPr/>
          <p:nvPr/>
        </p:nvGrpSpPr>
        <p:grpSpPr>
          <a:xfrm>
            <a:off x="468313" y="188913"/>
            <a:ext cx="8447087" cy="5729287"/>
            <a:chOff x="0" y="0"/>
            <a:chExt cx="5321" cy="3609"/>
          </a:xfrm>
        </p:grpSpPr>
        <p:sp>
          <p:nvSpPr>
            <p:cNvPr id="285699" name="流程图: 过程 215042"/>
            <p:cNvSpPr/>
            <p:nvPr/>
          </p:nvSpPr>
          <p:spPr>
            <a:xfrm>
              <a:off x="768" y="0"/>
              <a:ext cx="967" cy="240"/>
            </a:xfrm>
            <a:prstGeom prst="flowChartProcess">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2400" dirty="0">
                  <a:solidFill>
                    <a:srgbClr val="0000FF"/>
                  </a:solidFill>
                  <a:latin typeface="Times New Roman" panose="02020603050405020304" pitchFamily="18" charset="0"/>
                  <a:ea typeface="楷体_GB2312"/>
                </a:rPr>
                <a:t>主程序</a:t>
              </a:r>
              <a:endParaRPr lang="zh-CN" altLang="en-US" dirty="0">
                <a:solidFill>
                  <a:srgbClr val="0000FF"/>
                </a:solidFill>
                <a:latin typeface="Times New Roman" panose="02020603050405020304" pitchFamily="18" charset="0"/>
                <a:ea typeface="楷体_GB2312"/>
              </a:endParaRPr>
            </a:p>
          </p:txBody>
        </p:sp>
        <p:sp>
          <p:nvSpPr>
            <p:cNvPr id="285700" name="流程图: 过程 215043"/>
            <p:cNvSpPr/>
            <p:nvPr/>
          </p:nvSpPr>
          <p:spPr>
            <a:xfrm>
              <a:off x="3552" y="0"/>
              <a:ext cx="1247" cy="272"/>
            </a:xfrm>
            <a:prstGeom prst="flowChartProcess">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2400" dirty="0">
                  <a:solidFill>
                    <a:srgbClr val="0000FF"/>
                  </a:solidFill>
                  <a:latin typeface="Times New Roman" panose="02020603050405020304" pitchFamily="18" charset="0"/>
                  <a:ea typeface="楷体_GB2312"/>
                </a:rPr>
                <a:t>中断子程</a:t>
              </a:r>
              <a:endParaRPr lang="zh-CN" altLang="en-US" dirty="0">
                <a:solidFill>
                  <a:srgbClr val="0000FF"/>
                </a:solidFill>
                <a:latin typeface="Times New Roman" panose="02020603050405020304" pitchFamily="18" charset="0"/>
                <a:ea typeface="楷体_GB2312"/>
              </a:endParaRPr>
            </a:p>
          </p:txBody>
        </p:sp>
        <p:sp>
          <p:nvSpPr>
            <p:cNvPr id="285701" name="流程图: 过程 215044"/>
            <p:cNvSpPr/>
            <p:nvPr/>
          </p:nvSpPr>
          <p:spPr>
            <a:xfrm>
              <a:off x="623" y="550"/>
              <a:ext cx="1207" cy="187"/>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CLI</a:t>
              </a:r>
              <a:r>
                <a:rPr lang="zh-CN" altLang="en-US" sz="1800" dirty="0">
                  <a:solidFill>
                    <a:schemeClr val="tx1"/>
                  </a:solidFill>
                  <a:latin typeface="Times New Roman" panose="02020603050405020304" pitchFamily="18" charset="0"/>
                  <a:ea typeface="楷体_GB2312"/>
                </a:rPr>
                <a:t>关中断</a:t>
              </a:r>
              <a:endParaRPr lang="zh-CN" altLang="en-US" sz="1800" dirty="0">
                <a:solidFill>
                  <a:schemeClr val="tx1"/>
                </a:solidFill>
                <a:latin typeface="Times New Roman" panose="02020603050405020304" pitchFamily="18" charset="0"/>
                <a:ea typeface="楷体_GB2312"/>
              </a:endParaRPr>
            </a:p>
          </p:txBody>
        </p:sp>
        <p:sp>
          <p:nvSpPr>
            <p:cNvPr id="285702" name="直接连接符 215045"/>
            <p:cNvSpPr/>
            <p:nvPr/>
          </p:nvSpPr>
          <p:spPr>
            <a:xfrm>
              <a:off x="1236" y="438"/>
              <a:ext cx="0" cy="111"/>
            </a:xfrm>
            <a:prstGeom prst="line">
              <a:avLst/>
            </a:prstGeom>
            <a:ln w="12700" cap="flat" cmpd="sng">
              <a:solidFill>
                <a:srgbClr val="000000"/>
              </a:solidFill>
              <a:prstDash val="solid"/>
              <a:bevel/>
              <a:headEnd type="none" w="med" len="med"/>
              <a:tailEnd type="triangle" w="sm" len="sm"/>
            </a:ln>
          </p:spPr>
        </p:sp>
        <p:sp>
          <p:nvSpPr>
            <p:cNvPr id="285703" name="直接连接符 215046"/>
            <p:cNvSpPr/>
            <p:nvPr/>
          </p:nvSpPr>
          <p:spPr>
            <a:xfrm>
              <a:off x="1227" y="737"/>
              <a:ext cx="0" cy="111"/>
            </a:xfrm>
            <a:prstGeom prst="line">
              <a:avLst/>
            </a:prstGeom>
            <a:ln w="12700" cap="flat" cmpd="sng">
              <a:solidFill>
                <a:srgbClr val="000000"/>
              </a:solidFill>
              <a:prstDash val="solid"/>
              <a:bevel/>
              <a:headEnd type="none" w="med" len="med"/>
              <a:tailEnd type="triangle" w="sm" len="sm"/>
            </a:ln>
          </p:spPr>
        </p:sp>
        <p:sp>
          <p:nvSpPr>
            <p:cNvPr id="285704" name="直接连接符 215047"/>
            <p:cNvSpPr/>
            <p:nvPr/>
          </p:nvSpPr>
          <p:spPr>
            <a:xfrm>
              <a:off x="1217" y="1042"/>
              <a:ext cx="0" cy="111"/>
            </a:xfrm>
            <a:prstGeom prst="line">
              <a:avLst/>
            </a:prstGeom>
            <a:ln w="12700" cap="flat" cmpd="sng">
              <a:solidFill>
                <a:srgbClr val="000000"/>
              </a:solidFill>
              <a:prstDash val="solid"/>
              <a:bevel/>
              <a:headEnd type="none" w="med" len="med"/>
              <a:tailEnd type="triangle" w="sm" len="sm"/>
            </a:ln>
          </p:spPr>
        </p:sp>
        <p:sp>
          <p:nvSpPr>
            <p:cNvPr id="285705" name="直接连接符 215048"/>
            <p:cNvSpPr/>
            <p:nvPr/>
          </p:nvSpPr>
          <p:spPr>
            <a:xfrm>
              <a:off x="1217" y="1346"/>
              <a:ext cx="0" cy="112"/>
            </a:xfrm>
            <a:prstGeom prst="line">
              <a:avLst/>
            </a:prstGeom>
            <a:ln w="12700" cap="flat" cmpd="sng">
              <a:solidFill>
                <a:srgbClr val="000000"/>
              </a:solidFill>
              <a:prstDash val="solid"/>
              <a:bevel/>
              <a:headEnd type="none" w="med" len="med"/>
              <a:tailEnd type="triangle" w="sm" len="sm"/>
            </a:ln>
          </p:spPr>
        </p:sp>
        <p:sp>
          <p:nvSpPr>
            <p:cNvPr id="285706" name="直接连接符 215049"/>
            <p:cNvSpPr/>
            <p:nvPr/>
          </p:nvSpPr>
          <p:spPr>
            <a:xfrm>
              <a:off x="1198" y="2153"/>
              <a:ext cx="0" cy="112"/>
            </a:xfrm>
            <a:prstGeom prst="line">
              <a:avLst/>
            </a:prstGeom>
            <a:ln w="12700" cap="flat" cmpd="sng">
              <a:solidFill>
                <a:srgbClr val="000000"/>
              </a:solidFill>
              <a:prstDash val="solid"/>
              <a:bevel/>
              <a:headEnd type="none" w="med" len="med"/>
              <a:tailEnd type="triangle" w="sm" len="sm"/>
            </a:ln>
          </p:spPr>
        </p:sp>
        <p:sp>
          <p:nvSpPr>
            <p:cNvPr id="285707" name="直接连接符 215050"/>
            <p:cNvSpPr/>
            <p:nvPr/>
          </p:nvSpPr>
          <p:spPr>
            <a:xfrm flipH="1">
              <a:off x="1178" y="2979"/>
              <a:ext cx="0" cy="100"/>
            </a:xfrm>
            <a:prstGeom prst="line">
              <a:avLst/>
            </a:prstGeom>
            <a:ln w="12700" cap="flat" cmpd="sng">
              <a:solidFill>
                <a:srgbClr val="000000"/>
              </a:solidFill>
              <a:prstDash val="solid"/>
              <a:bevel/>
              <a:headEnd type="none" w="med" len="med"/>
              <a:tailEnd type="triangle" w="sm" len="sm"/>
            </a:ln>
          </p:spPr>
        </p:sp>
        <p:sp>
          <p:nvSpPr>
            <p:cNvPr id="285708" name="直接连接符 215051"/>
            <p:cNvSpPr/>
            <p:nvPr/>
          </p:nvSpPr>
          <p:spPr>
            <a:xfrm>
              <a:off x="1159" y="3295"/>
              <a:ext cx="0" cy="111"/>
            </a:xfrm>
            <a:prstGeom prst="line">
              <a:avLst/>
            </a:prstGeom>
            <a:ln w="12700" cap="flat" cmpd="sng">
              <a:solidFill>
                <a:srgbClr val="000000"/>
              </a:solidFill>
              <a:prstDash val="solid"/>
              <a:bevel/>
              <a:headEnd type="none" w="med" len="med"/>
              <a:tailEnd type="triangle" w="sm" len="sm"/>
            </a:ln>
          </p:spPr>
        </p:sp>
        <p:sp>
          <p:nvSpPr>
            <p:cNvPr id="285709" name="直接连接符 215052"/>
            <p:cNvSpPr/>
            <p:nvPr/>
          </p:nvSpPr>
          <p:spPr>
            <a:xfrm>
              <a:off x="1188" y="2458"/>
              <a:ext cx="0" cy="111"/>
            </a:xfrm>
            <a:prstGeom prst="line">
              <a:avLst/>
            </a:prstGeom>
            <a:ln w="12700" cap="flat" cmpd="sng">
              <a:solidFill>
                <a:srgbClr val="000000"/>
              </a:solidFill>
              <a:prstDash val="solid"/>
              <a:bevel/>
              <a:headEnd type="none" w="med" len="med"/>
              <a:tailEnd type="triangle" w="sm" len="sm"/>
            </a:ln>
          </p:spPr>
        </p:sp>
        <p:sp>
          <p:nvSpPr>
            <p:cNvPr id="285710" name="流程图: 过程 215053"/>
            <p:cNvSpPr/>
            <p:nvPr/>
          </p:nvSpPr>
          <p:spPr>
            <a:xfrm>
              <a:off x="438" y="861"/>
              <a:ext cx="1568" cy="187"/>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保存原</a:t>
              </a:r>
              <a:r>
                <a:rPr lang="en-US" altLang="zh-CN" sz="1800" dirty="0">
                  <a:solidFill>
                    <a:schemeClr val="tx1"/>
                  </a:solidFill>
                  <a:latin typeface="Times New Roman" panose="02020603050405020304" pitchFamily="18" charset="0"/>
                  <a:ea typeface="楷体_GB2312"/>
                </a:rPr>
                <a:t>08H</a:t>
              </a:r>
              <a:r>
                <a:rPr lang="zh-CN" altLang="en-US" sz="1800" dirty="0">
                  <a:solidFill>
                    <a:schemeClr val="tx1"/>
                  </a:solidFill>
                  <a:latin typeface="Times New Roman" panose="02020603050405020304" pitchFamily="18" charset="0"/>
                  <a:ea typeface="楷体_GB2312"/>
                </a:rPr>
                <a:t>中断向量</a:t>
              </a:r>
              <a:endParaRPr lang="zh-CN" altLang="en-US" sz="1800" dirty="0">
                <a:solidFill>
                  <a:schemeClr val="tx1"/>
                </a:solidFill>
                <a:latin typeface="Times New Roman" panose="02020603050405020304" pitchFamily="18" charset="0"/>
                <a:ea typeface="楷体_GB2312"/>
              </a:endParaRPr>
            </a:p>
          </p:txBody>
        </p:sp>
        <p:sp>
          <p:nvSpPr>
            <p:cNvPr id="285711" name="流程图: 过程 215054"/>
            <p:cNvSpPr/>
            <p:nvPr/>
          </p:nvSpPr>
          <p:spPr>
            <a:xfrm>
              <a:off x="438" y="1153"/>
              <a:ext cx="1568" cy="187"/>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设置新</a:t>
              </a:r>
              <a:r>
                <a:rPr lang="en-US" altLang="zh-CN" sz="1800" dirty="0">
                  <a:solidFill>
                    <a:schemeClr val="tx1"/>
                  </a:solidFill>
                  <a:latin typeface="Times New Roman" panose="02020603050405020304" pitchFamily="18" charset="0"/>
                  <a:ea typeface="楷体_GB2312"/>
                </a:rPr>
                <a:t>08H</a:t>
              </a:r>
              <a:r>
                <a:rPr lang="zh-CN" altLang="en-US" sz="1800" dirty="0">
                  <a:solidFill>
                    <a:schemeClr val="tx1"/>
                  </a:solidFill>
                  <a:latin typeface="Times New Roman" panose="02020603050405020304" pitchFamily="18" charset="0"/>
                  <a:ea typeface="楷体_GB2312"/>
                </a:rPr>
                <a:t>中断向量</a:t>
              </a:r>
              <a:endParaRPr lang="zh-CN" altLang="en-US" sz="1800" dirty="0">
                <a:solidFill>
                  <a:schemeClr val="tx1"/>
                </a:solidFill>
                <a:latin typeface="Times New Roman" panose="02020603050405020304" pitchFamily="18" charset="0"/>
                <a:ea typeface="楷体_GB2312"/>
              </a:endParaRPr>
            </a:p>
          </p:txBody>
        </p:sp>
        <p:sp>
          <p:nvSpPr>
            <p:cNvPr id="285712" name="流程图: 过程 215055"/>
            <p:cNvSpPr/>
            <p:nvPr/>
          </p:nvSpPr>
          <p:spPr>
            <a:xfrm>
              <a:off x="0" y="1469"/>
              <a:ext cx="2434" cy="187"/>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设置</a:t>
              </a:r>
              <a:r>
                <a:rPr lang="en-US" altLang="zh-CN" sz="1800" dirty="0">
                  <a:solidFill>
                    <a:schemeClr val="tx1"/>
                  </a:solidFill>
                  <a:latin typeface="Times New Roman" panose="02020603050405020304" pitchFamily="18" charset="0"/>
                  <a:ea typeface="楷体_GB2312"/>
                </a:rPr>
                <a:t>8259A</a:t>
              </a:r>
              <a:r>
                <a:rPr lang="zh-CN" altLang="en-US" sz="1800" dirty="0">
                  <a:solidFill>
                    <a:schemeClr val="tx1"/>
                  </a:solidFill>
                  <a:latin typeface="Times New Roman" panose="02020603050405020304" pitchFamily="18" charset="0"/>
                  <a:ea typeface="楷体_GB2312"/>
                </a:rPr>
                <a:t>的中断屏蔽字</a:t>
              </a:r>
              <a:r>
                <a:rPr lang="en-US" altLang="zh-CN" sz="1800" dirty="0">
                  <a:solidFill>
                    <a:schemeClr val="tx1"/>
                  </a:solidFill>
                  <a:latin typeface="Times New Roman" panose="02020603050405020304" pitchFamily="18" charset="0"/>
                  <a:ea typeface="楷体_GB2312"/>
                </a:rPr>
                <a:t>,</a:t>
              </a:r>
              <a:r>
                <a:rPr lang="zh-CN" altLang="en-US" sz="1800" dirty="0">
                  <a:solidFill>
                    <a:schemeClr val="tx1"/>
                  </a:solidFill>
                  <a:latin typeface="Times New Roman" panose="02020603050405020304" pitchFamily="18" charset="0"/>
                  <a:ea typeface="楷体_GB2312"/>
                </a:rPr>
                <a:t>允许</a:t>
              </a:r>
              <a:r>
                <a:rPr lang="en-US" altLang="zh-CN" sz="1800" dirty="0">
                  <a:solidFill>
                    <a:schemeClr val="tx1"/>
                  </a:solidFill>
                  <a:latin typeface="Times New Roman" panose="02020603050405020304" pitchFamily="18" charset="0"/>
                  <a:ea typeface="楷体_GB2312"/>
                </a:rPr>
                <a:t>IR0</a:t>
              </a:r>
              <a:r>
                <a:rPr lang="zh-CN" altLang="en-US" sz="1800" dirty="0">
                  <a:solidFill>
                    <a:schemeClr val="tx1"/>
                  </a:solidFill>
                  <a:latin typeface="Times New Roman" panose="02020603050405020304" pitchFamily="18" charset="0"/>
                  <a:ea typeface="楷体_GB2312"/>
                </a:rPr>
                <a:t>中断</a:t>
              </a:r>
              <a:endParaRPr lang="zh-CN" altLang="en-US" sz="1800" dirty="0">
                <a:solidFill>
                  <a:schemeClr val="tx1"/>
                </a:solidFill>
                <a:latin typeface="Times New Roman" panose="02020603050405020304" pitchFamily="18" charset="0"/>
                <a:ea typeface="楷体_GB2312"/>
              </a:endParaRPr>
            </a:p>
          </p:txBody>
        </p:sp>
        <p:sp>
          <p:nvSpPr>
            <p:cNvPr id="285713" name="流程图: 过程 215056"/>
            <p:cNvSpPr/>
            <p:nvPr/>
          </p:nvSpPr>
          <p:spPr>
            <a:xfrm>
              <a:off x="419" y="1774"/>
              <a:ext cx="1548" cy="374"/>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08H</a:t>
              </a:r>
              <a:r>
                <a:rPr lang="zh-CN" altLang="en-US" sz="1800" dirty="0">
                  <a:solidFill>
                    <a:schemeClr val="tx1"/>
                  </a:solidFill>
                  <a:latin typeface="Times New Roman" panose="02020603050405020304" pitchFamily="18" charset="0"/>
                  <a:ea typeface="楷体_GB2312"/>
                </a:rPr>
                <a:t>中断子程</a:t>
              </a:r>
              <a:endParaRPr lang="zh-CN" altLang="en-US" sz="18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      执行次数初值</a:t>
              </a:r>
              <a:r>
                <a:rPr lang="en-US" altLang="zh-CN" sz="1800" dirty="0">
                  <a:solidFill>
                    <a:schemeClr val="tx1"/>
                  </a:solidFill>
                  <a:latin typeface="Times New Roman" panose="02020603050405020304" pitchFamily="18" charset="0"/>
                  <a:ea typeface="楷体_GB2312"/>
                </a:rPr>
                <a:t>0</a:t>
              </a:r>
              <a:endParaRPr lang="en-US" altLang="zh-CN" sz="1800" dirty="0">
                <a:solidFill>
                  <a:schemeClr val="tx1"/>
                </a:solidFill>
                <a:latin typeface="Times New Roman" panose="02020603050405020304" pitchFamily="18" charset="0"/>
                <a:ea typeface="楷体_GB2312"/>
              </a:endParaRPr>
            </a:p>
          </p:txBody>
        </p:sp>
        <p:sp>
          <p:nvSpPr>
            <p:cNvPr id="285714" name="流程图: 过程 215057"/>
            <p:cNvSpPr/>
            <p:nvPr/>
          </p:nvSpPr>
          <p:spPr>
            <a:xfrm>
              <a:off x="594" y="2271"/>
              <a:ext cx="1207" cy="187"/>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STI</a:t>
              </a:r>
              <a:r>
                <a:rPr lang="zh-CN" altLang="en-US" sz="1800" dirty="0">
                  <a:solidFill>
                    <a:schemeClr val="tx1"/>
                  </a:solidFill>
                  <a:latin typeface="Times New Roman" panose="02020603050405020304" pitchFamily="18" charset="0"/>
                  <a:ea typeface="楷体_GB2312"/>
                </a:rPr>
                <a:t>开中断</a:t>
              </a:r>
              <a:endParaRPr lang="zh-CN" altLang="en-US" sz="1800" dirty="0">
                <a:solidFill>
                  <a:schemeClr val="tx1"/>
                </a:solidFill>
                <a:latin typeface="Times New Roman" panose="02020603050405020304" pitchFamily="18" charset="0"/>
                <a:ea typeface="楷体_GB2312"/>
              </a:endParaRPr>
            </a:p>
          </p:txBody>
        </p:sp>
        <p:sp>
          <p:nvSpPr>
            <p:cNvPr id="285715" name="流程图: 过程 215058"/>
            <p:cNvSpPr/>
            <p:nvPr/>
          </p:nvSpPr>
          <p:spPr>
            <a:xfrm>
              <a:off x="29" y="2581"/>
              <a:ext cx="2298" cy="374"/>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主程其它工作处理</a:t>
              </a:r>
              <a:endParaRPr lang="zh-CN" altLang="en-US" sz="18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a:t>
              </a:r>
              <a:r>
                <a:rPr lang="zh-CN" altLang="en-US" sz="1800" dirty="0">
                  <a:solidFill>
                    <a:schemeClr val="tx1"/>
                  </a:solidFill>
                  <a:latin typeface="Times New Roman" panose="02020603050405020304" pitchFamily="18" charset="0"/>
                  <a:ea typeface="楷体_GB2312"/>
                </a:rPr>
                <a:t>可用双重循环延时代替</a:t>
              </a:r>
              <a:r>
                <a:rPr lang="en-US" altLang="zh-CN" sz="1800" dirty="0">
                  <a:solidFill>
                    <a:schemeClr val="tx1"/>
                  </a:solidFill>
                  <a:latin typeface="Times New Roman" panose="02020603050405020304" pitchFamily="18" charset="0"/>
                  <a:ea typeface="楷体_GB2312"/>
                </a:rPr>
                <a:t>)</a:t>
              </a:r>
              <a:endParaRPr lang="en-US" altLang="zh-CN" sz="1800" b="0" dirty="0">
                <a:solidFill>
                  <a:schemeClr val="tx1"/>
                </a:solidFill>
                <a:latin typeface="Times New Roman" panose="02020603050405020304" pitchFamily="18" charset="0"/>
                <a:ea typeface="楷体_GB2312"/>
              </a:endParaRPr>
            </a:p>
          </p:txBody>
        </p:sp>
        <p:sp>
          <p:nvSpPr>
            <p:cNvPr id="285716" name="流程图: 过程 215059"/>
            <p:cNvSpPr/>
            <p:nvPr/>
          </p:nvSpPr>
          <p:spPr>
            <a:xfrm>
              <a:off x="389" y="3096"/>
              <a:ext cx="1568" cy="187"/>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恢复原</a:t>
              </a:r>
              <a:r>
                <a:rPr lang="en-US" altLang="zh-CN" sz="1800" dirty="0">
                  <a:solidFill>
                    <a:schemeClr val="tx1"/>
                  </a:solidFill>
                  <a:latin typeface="Times New Roman" panose="02020603050405020304" pitchFamily="18" charset="0"/>
                  <a:ea typeface="楷体_GB2312"/>
                </a:rPr>
                <a:t>08H</a:t>
              </a:r>
              <a:r>
                <a:rPr lang="zh-CN" altLang="en-US" sz="1800" dirty="0">
                  <a:solidFill>
                    <a:schemeClr val="tx1"/>
                  </a:solidFill>
                  <a:latin typeface="Times New Roman" panose="02020603050405020304" pitchFamily="18" charset="0"/>
                  <a:ea typeface="楷体_GB2312"/>
                </a:rPr>
                <a:t>中断向量</a:t>
              </a:r>
              <a:endParaRPr lang="zh-CN" altLang="en-US" sz="1800" dirty="0">
                <a:solidFill>
                  <a:schemeClr val="tx1"/>
                </a:solidFill>
                <a:latin typeface="Times New Roman" panose="02020603050405020304" pitchFamily="18" charset="0"/>
                <a:ea typeface="楷体_GB2312"/>
              </a:endParaRPr>
            </a:p>
          </p:txBody>
        </p:sp>
        <p:sp>
          <p:nvSpPr>
            <p:cNvPr id="285717" name="流程图: 过程 215060"/>
            <p:cNvSpPr/>
            <p:nvPr/>
          </p:nvSpPr>
          <p:spPr>
            <a:xfrm>
              <a:off x="652" y="3412"/>
              <a:ext cx="1003" cy="187"/>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返回</a:t>
              </a:r>
              <a:r>
                <a:rPr lang="en-US" altLang="zh-CN" sz="1800" dirty="0">
                  <a:solidFill>
                    <a:schemeClr val="tx1"/>
                  </a:solidFill>
                  <a:latin typeface="Times New Roman" panose="02020603050405020304" pitchFamily="18" charset="0"/>
                  <a:ea typeface="楷体_GB2312"/>
                </a:rPr>
                <a:t>DOS</a:t>
              </a:r>
              <a:endParaRPr lang="en-US" altLang="zh-CN" sz="1800" dirty="0">
                <a:solidFill>
                  <a:schemeClr val="tx1"/>
                </a:solidFill>
                <a:latin typeface="Times New Roman" panose="02020603050405020304" pitchFamily="18" charset="0"/>
                <a:ea typeface="楷体_GB2312"/>
              </a:endParaRPr>
            </a:p>
          </p:txBody>
        </p:sp>
        <p:sp>
          <p:nvSpPr>
            <p:cNvPr id="285718" name="流程图: 过程 215061"/>
            <p:cNvSpPr/>
            <p:nvPr/>
          </p:nvSpPr>
          <p:spPr>
            <a:xfrm>
              <a:off x="905" y="240"/>
              <a:ext cx="653" cy="187"/>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开始</a:t>
              </a:r>
              <a:endParaRPr lang="zh-CN" altLang="en-US" sz="1800" dirty="0">
                <a:solidFill>
                  <a:schemeClr val="tx1"/>
                </a:solidFill>
                <a:latin typeface="Times New Roman" panose="02020603050405020304" pitchFamily="18" charset="0"/>
                <a:ea typeface="楷体_GB2312"/>
              </a:endParaRPr>
            </a:p>
          </p:txBody>
        </p:sp>
        <p:sp>
          <p:nvSpPr>
            <p:cNvPr id="285719" name="直接连接符 215062"/>
            <p:cNvSpPr/>
            <p:nvPr/>
          </p:nvSpPr>
          <p:spPr>
            <a:xfrm>
              <a:off x="1198" y="1662"/>
              <a:ext cx="0" cy="112"/>
            </a:xfrm>
            <a:prstGeom prst="line">
              <a:avLst/>
            </a:prstGeom>
            <a:ln w="12700" cap="flat" cmpd="sng">
              <a:solidFill>
                <a:srgbClr val="000000"/>
              </a:solidFill>
              <a:prstDash val="solid"/>
              <a:bevel/>
              <a:headEnd type="none" w="med" len="med"/>
              <a:tailEnd type="triangle" w="sm" len="sm"/>
            </a:ln>
          </p:spPr>
        </p:sp>
        <p:sp>
          <p:nvSpPr>
            <p:cNvPr id="285720" name="文本框 215063"/>
            <p:cNvSpPr txBox="1"/>
            <p:nvPr/>
          </p:nvSpPr>
          <p:spPr>
            <a:xfrm>
              <a:off x="417" y="1837"/>
              <a:ext cx="355" cy="228"/>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CX</a:t>
              </a:r>
              <a:endParaRPr lang="en-US" altLang="zh-CN" sz="1800" b="0" dirty="0">
                <a:solidFill>
                  <a:schemeClr val="tx1"/>
                </a:solidFill>
                <a:latin typeface="Times New Roman" panose="02020603050405020304" pitchFamily="18" charset="0"/>
                <a:ea typeface="楷体_GB2312"/>
              </a:endParaRPr>
            </a:p>
          </p:txBody>
        </p:sp>
        <p:sp>
          <p:nvSpPr>
            <p:cNvPr id="285721" name="直接连接符 215064"/>
            <p:cNvSpPr/>
            <p:nvPr/>
          </p:nvSpPr>
          <p:spPr>
            <a:xfrm flipH="1">
              <a:off x="682" y="1927"/>
              <a:ext cx="157" cy="0"/>
            </a:xfrm>
            <a:prstGeom prst="line">
              <a:avLst/>
            </a:prstGeom>
            <a:ln w="12700" cap="flat" cmpd="sng">
              <a:solidFill>
                <a:srgbClr val="000000"/>
              </a:solidFill>
              <a:prstDash val="solid"/>
              <a:bevel/>
              <a:headEnd type="none" w="med" len="med"/>
              <a:tailEnd type="triangle" w="med" len="med"/>
            </a:ln>
          </p:spPr>
        </p:sp>
        <p:sp>
          <p:nvSpPr>
            <p:cNvPr id="285722" name="直接连接符 215065"/>
            <p:cNvSpPr/>
            <p:nvPr/>
          </p:nvSpPr>
          <p:spPr>
            <a:xfrm>
              <a:off x="4254" y="2523"/>
              <a:ext cx="0" cy="246"/>
            </a:xfrm>
            <a:prstGeom prst="line">
              <a:avLst/>
            </a:prstGeom>
            <a:ln w="12700" cap="flat" cmpd="sng">
              <a:solidFill>
                <a:srgbClr val="000000"/>
              </a:solidFill>
              <a:prstDash val="solid"/>
              <a:bevel/>
              <a:headEnd type="none" w="med" len="med"/>
              <a:tailEnd type="triangle" w="sm" len="sm"/>
            </a:ln>
          </p:spPr>
        </p:sp>
        <p:sp>
          <p:nvSpPr>
            <p:cNvPr id="285723" name="直接连接符 215066"/>
            <p:cNvSpPr/>
            <p:nvPr/>
          </p:nvSpPr>
          <p:spPr>
            <a:xfrm>
              <a:off x="4245" y="2988"/>
              <a:ext cx="0" cy="112"/>
            </a:xfrm>
            <a:prstGeom prst="line">
              <a:avLst/>
            </a:prstGeom>
            <a:ln w="12700" cap="flat" cmpd="sng">
              <a:solidFill>
                <a:srgbClr val="000000"/>
              </a:solidFill>
              <a:prstDash val="solid"/>
              <a:bevel/>
              <a:headEnd type="none" w="med" len="med"/>
              <a:tailEnd type="triangle" w="sm" len="sm"/>
            </a:ln>
          </p:spPr>
        </p:sp>
        <p:sp>
          <p:nvSpPr>
            <p:cNvPr id="285724" name="直接连接符 215067"/>
            <p:cNvSpPr/>
            <p:nvPr/>
          </p:nvSpPr>
          <p:spPr>
            <a:xfrm>
              <a:off x="4235" y="3299"/>
              <a:ext cx="0" cy="111"/>
            </a:xfrm>
            <a:prstGeom prst="line">
              <a:avLst/>
            </a:prstGeom>
            <a:ln w="12700" cap="flat" cmpd="sng">
              <a:solidFill>
                <a:srgbClr val="000000"/>
              </a:solidFill>
              <a:prstDash val="solid"/>
              <a:bevel/>
              <a:headEnd type="none" w="med" len="med"/>
              <a:tailEnd type="triangle" w="sm" len="sm"/>
            </a:ln>
          </p:spPr>
        </p:sp>
        <p:sp>
          <p:nvSpPr>
            <p:cNvPr id="285725" name="流程图: 过程 215068"/>
            <p:cNvSpPr/>
            <p:nvPr/>
          </p:nvSpPr>
          <p:spPr>
            <a:xfrm>
              <a:off x="3415" y="2811"/>
              <a:ext cx="1662" cy="201"/>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发中断结束命令</a:t>
              </a:r>
              <a:r>
                <a:rPr lang="en-US" altLang="zh-CN" sz="1800" dirty="0">
                  <a:solidFill>
                    <a:schemeClr val="tx1"/>
                  </a:solidFill>
                  <a:latin typeface="Times New Roman" panose="02020603050405020304" pitchFamily="18" charset="0"/>
                  <a:ea typeface="楷体_GB2312"/>
                </a:rPr>
                <a:t>EOI</a:t>
              </a:r>
              <a:endParaRPr lang="en-US" altLang="zh-CN" sz="1800" dirty="0">
                <a:solidFill>
                  <a:schemeClr val="tx1"/>
                </a:solidFill>
                <a:latin typeface="Times New Roman" panose="02020603050405020304" pitchFamily="18" charset="0"/>
                <a:ea typeface="楷体_GB2312"/>
              </a:endParaRPr>
            </a:p>
          </p:txBody>
        </p:sp>
        <p:sp>
          <p:nvSpPr>
            <p:cNvPr id="285726" name="流程图: 过程 215069"/>
            <p:cNvSpPr/>
            <p:nvPr/>
          </p:nvSpPr>
          <p:spPr>
            <a:xfrm>
              <a:off x="3631" y="3112"/>
              <a:ext cx="1208" cy="187"/>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恢复现场</a:t>
              </a:r>
              <a:endParaRPr lang="zh-CN" altLang="en-US" sz="1800" dirty="0">
                <a:solidFill>
                  <a:schemeClr val="tx1"/>
                </a:solidFill>
                <a:latin typeface="Times New Roman" panose="02020603050405020304" pitchFamily="18" charset="0"/>
                <a:ea typeface="楷体_GB2312"/>
              </a:endParaRPr>
            </a:p>
          </p:txBody>
        </p:sp>
        <p:sp>
          <p:nvSpPr>
            <p:cNvPr id="285727" name="流程图: 过程 215070"/>
            <p:cNvSpPr/>
            <p:nvPr/>
          </p:nvSpPr>
          <p:spPr>
            <a:xfrm>
              <a:off x="3456" y="3422"/>
              <a:ext cx="1568" cy="187"/>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IRET</a:t>
              </a:r>
              <a:r>
                <a:rPr lang="zh-CN" altLang="en-US" sz="1800" dirty="0">
                  <a:solidFill>
                    <a:schemeClr val="tx1"/>
                  </a:solidFill>
                  <a:latin typeface="Times New Roman" panose="02020603050405020304" pitchFamily="18" charset="0"/>
                  <a:ea typeface="楷体_GB2312"/>
                </a:rPr>
                <a:t>中断返回</a:t>
              </a:r>
              <a:endParaRPr lang="zh-CN" altLang="en-US" sz="1800" dirty="0">
                <a:solidFill>
                  <a:schemeClr val="tx1"/>
                </a:solidFill>
                <a:latin typeface="Times New Roman" panose="02020603050405020304" pitchFamily="18" charset="0"/>
                <a:ea typeface="楷体_GB2312"/>
              </a:endParaRPr>
            </a:p>
          </p:txBody>
        </p:sp>
        <p:sp>
          <p:nvSpPr>
            <p:cNvPr id="285728" name="直接连接符 215071"/>
            <p:cNvSpPr/>
            <p:nvPr/>
          </p:nvSpPr>
          <p:spPr>
            <a:xfrm>
              <a:off x="4238" y="749"/>
              <a:ext cx="0" cy="112"/>
            </a:xfrm>
            <a:prstGeom prst="line">
              <a:avLst/>
            </a:prstGeom>
            <a:ln w="12700" cap="flat" cmpd="sng">
              <a:solidFill>
                <a:srgbClr val="000000"/>
              </a:solidFill>
              <a:prstDash val="solid"/>
              <a:bevel/>
              <a:headEnd type="none" w="med" len="med"/>
              <a:tailEnd type="triangle" w="sm" len="sm"/>
            </a:ln>
          </p:spPr>
        </p:sp>
        <p:sp>
          <p:nvSpPr>
            <p:cNvPr id="285729" name="流程图: 过程 215072"/>
            <p:cNvSpPr/>
            <p:nvPr/>
          </p:nvSpPr>
          <p:spPr>
            <a:xfrm>
              <a:off x="3598" y="571"/>
              <a:ext cx="1207" cy="187"/>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保存现场</a:t>
              </a:r>
              <a:endParaRPr lang="zh-CN" altLang="en-US" sz="1800" dirty="0">
                <a:solidFill>
                  <a:schemeClr val="tx1"/>
                </a:solidFill>
                <a:latin typeface="Times New Roman" panose="02020603050405020304" pitchFamily="18" charset="0"/>
                <a:ea typeface="楷体_GB2312"/>
              </a:endParaRPr>
            </a:p>
          </p:txBody>
        </p:sp>
        <p:sp>
          <p:nvSpPr>
            <p:cNvPr id="285730" name="直接连接符 215073"/>
            <p:cNvSpPr/>
            <p:nvPr/>
          </p:nvSpPr>
          <p:spPr>
            <a:xfrm>
              <a:off x="4211" y="459"/>
              <a:ext cx="0" cy="111"/>
            </a:xfrm>
            <a:prstGeom prst="line">
              <a:avLst/>
            </a:prstGeom>
            <a:ln w="12700" cap="flat" cmpd="sng">
              <a:solidFill>
                <a:srgbClr val="000000"/>
              </a:solidFill>
              <a:prstDash val="solid"/>
              <a:bevel/>
              <a:headEnd type="none" w="med" len="med"/>
              <a:tailEnd type="triangle" w="sm" len="sm"/>
            </a:ln>
          </p:spPr>
        </p:sp>
        <p:sp>
          <p:nvSpPr>
            <p:cNvPr id="285731" name="流程图: 过程 215074"/>
            <p:cNvSpPr/>
            <p:nvPr/>
          </p:nvSpPr>
          <p:spPr>
            <a:xfrm>
              <a:off x="3880" y="260"/>
              <a:ext cx="652" cy="187"/>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开始</a:t>
              </a:r>
              <a:endParaRPr lang="zh-CN" altLang="en-US" sz="1800" dirty="0">
                <a:solidFill>
                  <a:schemeClr val="tx1"/>
                </a:solidFill>
                <a:latin typeface="Times New Roman" panose="02020603050405020304" pitchFamily="18" charset="0"/>
                <a:ea typeface="楷体_GB2312"/>
              </a:endParaRPr>
            </a:p>
          </p:txBody>
        </p:sp>
        <p:sp>
          <p:nvSpPr>
            <p:cNvPr id="285732" name="流程图: 过程 215075"/>
            <p:cNvSpPr/>
            <p:nvPr/>
          </p:nvSpPr>
          <p:spPr>
            <a:xfrm>
              <a:off x="3444" y="870"/>
              <a:ext cx="1548" cy="375"/>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9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中断子程被执行一次</a:t>
              </a:r>
              <a:endParaRPr lang="zh-CN" altLang="en-US" sz="1800" dirty="0">
                <a:solidFill>
                  <a:schemeClr val="tx1"/>
                </a:solidFill>
                <a:latin typeface="Times New Roman" panose="02020603050405020304" pitchFamily="18" charset="0"/>
                <a:ea typeface="楷体_GB2312"/>
              </a:endParaRPr>
            </a:p>
            <a:p>
              <a:pPr marL="0" lvl="0" indent="0" algn="ctr">
                <a:lnSpc>
                  <a:spcPct val="9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CX</a:t>
              </a:r>
              <a:r>
                <a:rPr lang="en-US" altLang="zh-CN" sz="2400" b="0" dirty="0">
                  <a:solidFill>
                    <a:schemeClr val="tx1"/>
                  </a:solidFill>
                  <a:latin typeface="宋体" panose="02010600030101010101" pitchFamily="2" charset="-122"/>
                  <a:ea typeface="楷体_GB2312"/>
                </a:rPr>
                <a:t>←</a:t>
              </a:r>
              <a:r>
                <a:rPr lang="en-US" altLang="zh-CN" sz="1800" dirty="0">
                  <a:solidFill>
                    <a:schemeClr val="tx1"/>
                  </a:solidFill>
                  <a:latin typeface="Times New Roman" panose="02020603050405020304" pitchFamily="18" charset="0"/>
                  <a:ea typeface="楷体_GB2312"/>
                </a:rPr>
                <a:t> CX+1 </a:t>
              </a:r>
              <a:endParaRPr lang="en-US" altLang="zh-CN" sz="1800" dirty="0">
                <a:solidFill>
                  <a:schemeClr val="tx1"/>
                </a:solidFill>
                <a:latin typeface="Times New Roman" panose="02020603050405020304" pitchFamily="18" charset="0"/>
                <a:ea typeface="楷体_GB2312"/>
              </a:endParaRPr>
            </a:p>
          </p:txBody>
        </p:sp>
        <p:sp>
          <p:nvSpPr>
            <p:cNvPr id="285733" name="直接连接符 215076"/>
            <p:cNvSpPr/>
            <p:nvPr/>
          </p:nvSpPr>
          <p:spPr>
            <a:xfrm flipH="1">
              <a:off x="4218" y="1254"/>
              <a:ext cx="0" cy="138"/>
            </a:xfrm>
            <a:prstGeom prst="line">
              <a:avLst/>
            </a:prstGeom>
            <a:ln w="12700" cap="flat" cmpd="sng">
              <a:solidFill>
                <a:srgbClr val="000000"/>
              </a:solidFill>
              <a:prstDash val="solid"/>
              <a:bevel/>
              <a:headEnd type="none" w="med" len="med"/>
              <a:tailEnd type="triangle" w="sm" len="sm"/>
            </a:ln>
          </p:spPr>
        </p:sp>
        <p:sp>
          <p:nvSpPr>
            <p:cNvPr id="285734" name="直接连接符 215077"/>
            <p:cNvSpPr>
              <a:spLocks noChangeAspect="1"/>
            </p:cNvSpPr>
            <p:nvPr/>
          </p:nvSpPr>
          <p:spPr>
            <a:xfrm>
              <a:off x="5040" y="1531"/>
              <a:ext cx="276" cy="0"/>
            </a:xfrm>
            <a:prstGeom prst="line">
              <a:avLst/>
            </a:prstGeom>
            <a:ln w="12700" cap="flat" cmpd="sng">
              <a:solidFill>
                <a:srgbClr val="000000"/>
              </a:solidFill>
              <a:prstDash val="solid"/>
              <a:bevel/>
              <a:headEnd type="none" w="med" len="med"/>
              <a:tailEnd type="none" w="med" len="med"/>
            </a:ln>
          </p:spPr>
        </p:sp>
        <p:sp>
          <p:nvSpPr>
            <p:cNvPr id="285735" name="文本框 215078"/>
            <p:cNvSpPr txBox="1"/>
            <p:nvPr/>
          </p:nvSpPr>
          <p:spPr>
            <a:xfrm>
              <a:off x="5088" y="1340"/>
              <a:ext cx="226" cy="193"/>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N</a:t>
              </a:r>
              <a:endParaRPr lang="en-US" altLang="zh-CN" sz="1800" dirty="0">
                <a:solidFill>
                  <a:schemeClr val="tx1"/>
                </a:solidFill>
                <a:latin typeface="Times New Roman" panose="02020603050405020304" pitchFamily="18" charset="0"/>
                <a:ea typeface="楷体_GB2312"/>
              </a:endParaRPr>
            </a:p>
          </p:txBody>
        </p:sp>
        <p:sp>
          <p:nvSpPr>
            <p:cNvPr id="285736" name="文本框 215079"/>
            <p:cNvSpPr txBox="1"/>
            <p:nvPr/>
          </p:nvSpPr>
          <p:spPr>
            <a:xfrm>
              <a:off x="3994" y="1674"/>
              <a:ext cx="226" cy="192"/>
            </a:xfrm>
            <a:prstGeom prst="rect">
              <a:avLst/>
            </a:prstGeom>
            <a:no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Y</a:t>
              </a:r>
              <a:endParaRPr lang="en-US" altLang="zh-CN" sz="1800" dirty="0">
                <a:solidFill>
                  <a:schemeClr val="tx1"/>
                </a:solidFill>
                <a:latin typeface="Times New Roman" panose="02020603050405020304" pitchFamily="18" charset="0"/>
                <a:ea typeface="楷体_GB2312"/>
              </a:endParaRPr>
            </a:p>
          </p:txBody>
        </p:sp>
        <p:sp>
          <p:nvSpPr>
            <p:cNvPr id="285737" name="流程图: 过程 215080"/>
            <p:cNvSpPr/>
            <p:nvPr/>
          </p:nvSpPr>
          <p:spPr>
            <a:xfrm>
              <a:off x="3705" y="1836"/>
              <a:ext cx="1270" cy="348"/>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调</a:t>
              </a:r>
              <a:r>
                <a:rPr lang="en-US" altLang="zh-CN" sz="1800" dirty="0">
                  <a:solidFill>
                    <a:schemeClr val="tx1"/>
                  </a:solidFill>
                  <a:latin typeface="Times New Roman" panose="02020603050405020304" pitchFamily="18" charset="0"/>
                  <a:ea typeface="楷体_GB2312"/>
                </a:rPr>
                <a:t>02HDOS</a:t>
              </a:r>
              <a:r>
                <a:rPr lang="zh-CN" altLang="en-US" sz="1800" dirty="0">
                  <a:solidFill>
                    <a:schemeClr val="tx1"/>
                  </a:solidFill>
                  <a:latin typeface="Times New Roman" panose="02020603050405020304" pitchFamily="18" charset="0"/>
                  <a:ea typeface="楷体_GB2312"/>
                </a:rPr>
                <a:t>功能</a:t>
              </a:r>
              <a:endParaRPr lang="zh-CN" altLang="en-US" sz="1800" dirty="0">
                <a:solidFill>
                  <a:schemeClr val="tx1"/>
                </a:solidFill>
                <a:latin typeface="Times New Roman" panose="02020603050405020304" pitchFamily="18" charset="0"/>
                <a:ea typeface="楷体_GB2312"/>
              </a:endParaRPr>
            </a:p>
            <a:p>
              <a:pPr marL="0" lvl="0" indent="0" algn="ctr">
                <a:lnSpc>
                  <a:spcPct val="10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显示字符‘</a:t>
              </a:r>
              <a:r>
                <a:rPr lang="en-US" altLang="zh-CN" sz="1800" dirty="0">
                  <a:solidFill>
                    <a:schemeClr val="tx1"/>
                  </a:solidFill>
                  <a:latin typeface="Times New Roman" panose="02020603050405020304" pitchFamily="18" charset="0"/>
                  <a:ea typeface="楷体_GB2312"/>
                </a:rPr>
                <a:t>A’</a:t>
              </a:r>
              <a:endParaRPr lang="en-US" altLang="zh-CN" sz="1800" dirty="0">
                <a:solidFill>
                  <a:schemeClr val="tx1"/>
                </a:solidFill>
                <a:latin typeface="Times New Roman" panose="02020603050405020304" pitchFamily="18" charset="0"/>
                <a:ea typeface="楷体_GB2312"/>
              </a:endParaRPr>
            </a:p>
          </p:txBody>
        </p:sp>
        <p:sp>
          <p:nvSpPr>
            <p:cNvPr id="285738" name="直接连接符 215081"/>
            <p:cNvSpPr/>
            <p:nvPr/>
          </p:nvSpPr>
          <p:spPr>
            <a:xfrm flipH="1">
              <a:off x="4218" y="1634"/>
              <a:ext cx="0" cy="168"/>
            </a:xfrm>
            <a:prstGeom prst="line">
              <a:avLst/>
            </a:prstGeom>
            <a:ln w="12700" cap="flat" cmpd="sng">
              <a:solidFill>
                <a:srgbClr val="000000"/>
              </a:solidFill>
              <a:prstDash val="solid"/>
              <a:bevel/>
              <a:headEnd type="none" w="med" len="med"/>
              <a:tailEnd type="triangle" w="sm" len="sm"/>
            </a:ln>
          </p:spPr>
        </p:sp>
        <p:sp>
          <p:nvSpPr>
            <p:cNvPr id="285739" name="直接连接符 215082"/>
            <p:cNvSpPr/>
            <p:nvPr/>
          </p:nvSpPr>
          <p:spPr>
            <a:xfrm>
              <a:off x="5310" y="1535"/>
              <a:ext cx="0" cy="1164"/>
            </a:xfrm>
            <a:prstGeom prst="line">
              <a:avLst/>
            </a:prstGeom>
            <a:ln w="12700" cap="flat" cmpd="sng">
              <a:solidFill>
                <a:srgbClr val="000000"/>
              </a:solidFill>
              <a:prstDash val="solid"/>
              <a:bevel/>
              <a:headEnd type="none" w="med" len="med"/>
              <a:tailEnd type="none" w="med" len="med"/>
            </a:ln>
          </p:spPr>
        </p:sp>
        <p:sp>
          <p:nvSpPr>
            <p:cNvPr id="285740" name="直接连接符 215083"/>
            <p:cNvSpPr/>
            <p:nvPr/>
          </p:nvSpPr>
          <p:spPr>
            <a:xfrm flipH="1">
              <a:off x="4259" y="2670"/>
              <a:ext cx="1062" cy="0"/>
            </a:xfrm>
            <a:prstGeom prst="line">
              <a:avLst/>
            </a:prstGeom>
            <a:ln w="12700" cap="flat" cmpd="sng">
              <a:solidFill>
                <a:srgbClr val="000000"/>
              </a:solidFill>
              <a:prstDash val="solid"/>
              <a:bevel/>
              <a:headEnd type="none" w="med" len="med"/>
              <a:tailEnd type="triangle" w="med" len="med"/>
            </a:ln>
          </p:spPr>
        </p:sp>
        <p:sp>
          <p:nvSpPr>
            <p:cNvPr id="285741" name="流程图: 过程 215084"/>
            <p:cNvSpPr/>
            <p:nvPr/>
          </p:nvSpPr>
          <p:spPr>
            <a:xfrm>
              <a:off x="3476" y="2304"/>
              <a:ext cx="1646" cy="215"/>
            </a:xfrm>
            <a:prstGeom prst="flowChartProcess">
              <a:avLst/>
            </a:prstGeom>
            <a:solidFill>
              <a:srgbClr val="FFFF99"/>
            </a:solidFill>
            <a:ln w="12700"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1800" dirty="0">
                  <a:solidFill>
                    <a:schemeClr val="tx1"/>
                  </a:solidFill>
                  <a:latin typeface="Times New Roman" panose="02020603050405020304" pitchFamily="18" charset="0"/>
                  <a:ea typeface="楷体_GB2312"/>
                </a:rPr>
                <a:t>  CX </a:t>
              </a:r>
              <a:r>
                <a:rPr lang="en-US" altLang="zh-CN" sz="1800" b="0" dirty="0">
                  <a:solidFill>
                    <a:schemeClr val="tx1"/>
                  </a:solidFill>
                  <a:latin typeface="宋体" panose="02010600030101010101" pitchFamily="2" charset="-122"/>
                  <a:ea typeface="楷体_GB2312"/>
                </a:rPr>
                <a:t>←</a:t>
              </a:r>
              <a:r>
                <a:rPr lang="en-US" altLang="zh-CN" sz="1800" dirty="0">
                  <a:solidFill>
                    <a:schemeClr val="tx1"/>
                  </a:solidFill>
                  <a:latin typeface="Times New Roman" panose="02020603050405020304" pitchFamily="18" charset="0"/>
                  <a:ea typeface="楷体_GB2312"/>
                </a:rPr>
                <a:t> 0     </a:t>
              </a:r>
              <a:r>
                <a:rPr lang="zh-CN" altLang="en-US" sz="1800" dirty="0">
                  <a:solidFill>
                    <a:schemeClr val="tx1"/>
                  </a:solidFill>
                  <a:latin typeface="Times New Roman" panose="02020603050405020304" pitchFamily="18" charset="0"/>
                  <a:ea typeface="楷体_GB2312"/>
                </a:rPr>
                <a:t>重新记数</a:t>
              </a:r>
              <a:endParaRPr lang="zh-CN" altLang="en-US" sz="1800" dirty="0">
                <a:solidFill>
                  <a:schemeClr val="tx1"/>
                </a:solidFill>
                <a:latin typeface="Times New Roman" panose="02020603050405020304" pitchFamily="18" charset="0"/>
                <a:ea typeface="楷体_GB2312"/>
              </a:endParaRPr>
            </a:p>
          </p:txBody>
        </p:sp>
        <p:sp>
          <p:nvSpPr>
            <p:cNvPr id="285742" name="直接连接符 215085"/>
            <p:cNvSpPr/>
            <p:nvPr/>
          </p:nvSpPr>
          <p:spPr>
            <a:xfrm flipH="1">
              <a:off x="4243" y="2179"/>
              <a:ext cx="0" cy="138"/>
            </a:xfrm>
            <a:prstGeom prst="line">
              <a:avLst/>
            </a:prstGeom>
            <a:ln w="12700" cap="flat" cmpd="sng">
              <a:solidFill>
                <a:srgbClr val="000000"/>
              </a:solidFill>
              <a:prstDash val="solid"/>
              <a:bevel/>
              <a:headEnd type="none" w="med" len="med"/>
              <a:tailEnd type="triangle" w="sm" len="sm"/>
            </a:ln>
          </p:spPr>
        </p:sp>
        <p:grpSp>
          <p:nvGrpSpPr>
            <p:cNvPr id="285743" name="组合 215086"/>
            <p:cNvGrpSpPr/>
            <p:nvPr/>
          </p:nvGrpSpPr>
          <p:grpSpPr>
            <a:xfrm>
              <a:off x="3360" y="1382"/>
              <a:ext cx="1680" cy="252"/>
              <a:chOff x="0" y="0"/>
              <a:chExt cx="1680" cy="288"/>
            </a:xfrm>
          </p:grpSpPr>
          <p:sp>
            <p:nvSpPr>
              <p:cNvPr id="285744" name="六边形 215087"/>
              <p:cNvSpPr/>
              <p:nvPr/>
            </p:nvSpPr>
            <p:spPr>
              <a:xfrm>
                <a:off x="0" y="0"/>
                <a:ext cx="1680" cy="288"/>
              </a:xfrm>
              <a:prstGeom prst="hexagon">
                <a:avLst>
                  <a:gd name="adj" fmla="val 34597"/>
                  <a:gd name="vf" fmla="val 115470"/>
                </a:avLst>
              </a:prstGeom>
              <a:solidFill>
                <a:srgbClr val="FFFF99"/>
              </a:solidFill>
              <a:ln w="12700" cap="flat" cmpd="sng">
                <a:solidFill>
                  <a:schemeClr val="tx1"/>
                </a:solidFill>
                <a:prstDash val="solid"/>
                <a:miter/>
                <a:headEnd type="none" w="med" len="med"/>
                <a:tailEnd type="none" w="med" len="med"/>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endParaRPr lang="zh-CN" altLang="en-US" sz="1800" b="0" dirty="0">
                  <a:solidFill>
                    <a:schemeClr val="tx1"/>
                  </a:solidFill>
                  <a:ea typeface="楷体_GB2312"/>
                </a:endParaRPr>
              </a:p>
            </p:txBody>
          </p:sp>
          <p:sp>
            <p:nvSpPr>
              <p:cNvPr id="285745" name="文本框 215088"/>
              <p:cNvSpPr txBox="1"/>
              <p:nvPr/>
            </p:nvSpPr>
            <p:spPr>
              <a:xfrm>
                <a:off x="96" y="48"/>
                <a:ext cx="1536" cy="240"/>
              </a:xfrm>
              <a:prstGeom prst="rect">
                <a:avLst/>
              </a:prstGeom>
              <a:solidFill>
                <a:srgbClr val="FFFF99"/>
              </a:solidFill>
              <a:ln w="9525">
                <a:noFill/>
              </a:ln>
            </p:spPr>
            <p:txBody>
              <a:bodyPr lIns="0" tIns="0" rIns="0" bIns="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ctr">
                  <a:lnSpc>
                    <a:spcPct val="120000"/>
                  </a:lnSpc>
                  <a:spcBef>
                    <a:spcPct val="0"/>
                  </a:spcBef>
                  <a:spcAft>
                    <a:spcPct val="0"/>
                  </a:spcAft>
                  <a:buClrTx/>
                  <a:buSzTx/>
                  <a:buFont typeface="Arial" panose="020B0604020202020204" pitchFamily="34" charset="0"/>
                  <a:buNone/>
                </a:pPr>
                <a:r>
                  <a:rPr lang="zh-CN" altLang="en-US" sz="1800" dirty="0">
                    <a:solidFill>
                      <a:schemeClr val="tx1"/>
                    </a:solidFill>
                    <a:latin typeface="Times New Roman" panose="02020603050405020304" pitchFamily="18" charset="0"/>
                    <a:ea typeface="楷体_GB2312"/>
                  </a:rPr>
                  <a:t>到</a:t>
                </a:r>
                <a:r>
                  <a:rPr lang="en-US" altLang="zh-CN" sz="1800" dirty="0">
                    <a:solidFill>
                      <a:schemeClr val="tx1"/>
                    </a:solidFill>
                    <a:latin typeface="Times New Roman" panose="02020603050405020304" pitchFamily="18" charset="0"/>
                    <a:ea typeface="楷体_GB2312"/>
                  </a:rPr>
                  <a:t>91</a:t>
                </a:r>
                <a:r>
                  <a:rPr lang="zh-CN" altLang="en-US" sz="1800" dirty="0">
                    <a:solidFill>
                      <a:schemeClr val="tx1"/>
                    </a:solidFill>
                    <a:latin typeface="Times New Roman" panose="02020603050405020304" pitchFamily="18" charset="0"/>
                    <a:ea typeface="楷体_GB2312"/>
                  </a:rPr>
                  <a:t>次，即</a:t>
                </a:r>
                <a:r>
                  <a:rPr lang="en-US" altLang="zh-CN" sz="1800" dirty="0">
                    <a:solidFill>
                      <a:schemeClr val="tx1"/>
                    </a:solidFill>
                    <a:latin typeface="Times New Roman" panose="02020603050405020304" pitchFamily="18" charset="0"/>
                    <a:ea typeface="楷体_GB2312"/>
                  </a:rPr>
                  <a:t>5</a:t>
                </a:r>
                <a:r>
                  <a:rPr lang="zh-CN" altLang="en-US" sz="1800" dirty="0">
                    <a:solidFill>
                      <a:schemeClr val="tx1"/>
                    </a:solidFill>
                    <a:latin typeface="Times New Roman" panose="02020603050405020304" pitchFamily="18" charset="0"/>
                    <a:ea typeface="楷体_GB2312"/>
                  </a:rPr>
                  <a:t>秒时间到</a:t>
                </a:r>
                <a:r>
                  <a:rPr lang="en-US" altLang="zh-CN" sz="1800" dirty="0">
                    <a:solidFill>
                      <a:schemeClr val="tx1"/>
                    </a:solidFill>
                    <a:latin typeface="Times New Roman" panose="02020603050405020304" pitchFamily="18" charset="0"/>
                    <a:ea typeface="楷体_GB2312"/>
                  </a:rPr>
                  <a:t>?</a:t>
                </a:r>
                <a:endParaRPr lang="en-US" altLang="zh-CN" sz="1800" b="0" dirty="0">
                  <a:solidFill>
                    <a:schemeClr val="tx1"/>
                  </a:solidFill>
                  <a:latin typeface="Times New Roman" panose="02020603050405020304" pitchFamily="18" charset="0"/>
                  <a:ea typeface="楷体_GB2312"/>
                </a:endParaRPr>
              </a:p>
            </p:txBody>
          </p:sp>
        </p:grpSp>
      </p:grpSp>
    </p:spTree>
  </p:cSld>
  <p:clrMapOvr>
    <a:masterClrMapping/>
  </p:clrMapOvr>
  <p:transition spd="slow">
    <p:zoom/>
  </p:transition>
</p:sld>
</file>

<file path=ppt/slides/slide1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86722" name="文本框 216065"/>
          <p:cNvSpPr txBox="1"/>
          <p:nvPr/>
        </p:nvSpPr>
        <p:spPr>
          <a:xfrm>
            <a:off x="468313" y="620713"/>
            <a:ext cx="8223250" cy="5451475"/>
          </a:xfrm>
          <a:prstGeom prst="rect">
            <a:avLst/>
          </a:prstGeom>
          <a:solidFill>
            <a:schemeClr val="bg1"/>
          </a:solid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200" dirty="0">
                <a:solidFill>
                  <a:schemeClr val="tx1"/>
                </a:solidFill>
                <a:latin typeface="Times New Roman" panose="02020603050405020304" pitchFamily="18" charset="0"/>
                <a:ea typeface="楷体_GB2312"/>
              </a:rPr>
              <a:t>code   </a:t>
            </a:r>
            <a:r>
              <a:rPr lang="en-US" altLang="zh-CN" sz="2200" b="0" dirty="0">
                <a:solidFill>
                  <a:schemeClr val="tx1"/>
                </a:solidFill>
                <a:latin typeface="Times New Roman" panose="02020603050405020304" pitchFamily="18" charset="0"/>
                <a:ea typeface="楷体_GB2312"/>
              </a:rPr>
              <a:t>  </a:t>
            </a:r>
            <a:r>
              <a:rPr lang="en-US" altLang="zh-CN" sz="2200" dirty="0">
                <a:solidFill>
                  <a:schemeClr val="tx1"/>
                </a:solidFill>
                <a:latin typeface="Times New Roman" panose="02020603050405020304" pitchFamily="18" charset="0"/>
                <a:ea typeface="楷体_GB2312"/>
              </a:rPr>
              <a:t>SEGMENT </a:t>
            </a:r>
            <a:endParaRPr lang="en-US" altLang="zh-CN" sz="22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en-US" altLang="zh-CN" sz="2200" dirty="0">
                <a:solidFill>
                  <a:schemeClr val="tx1"/>
                </a:solidFill>
                <a:latin typeface="Times New Roman" panose="02020603050405020304" pitchFamily="18" charset="0"/>
                <a:ea typeface="楷体_GB2312"/>
              </a:rPr>
              <a:t>             ASSUME   CS:code</a:t>
            </a:r>
            <a:endParaRPr lang="en-US" altLang="zh-CN" sz="22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en-US" altLang="zh-CN" sz="2200" dirty="0">
                <a:solidFill>
                  <a:schemeClr val="tx1"/>
                </a:solidFill>
                <a:latin typeface="Times New Roman" panose="02020603050405020304" pitchFamily="18" charset="0"/>
                <a:ea typeface="楷体_GB2312"/>
              </a:rPr>
              <a:t>start:    </a:t>
            </a:r>
            <a:r>
              <a:rPr lang="en-US" altLang="zh-CN" sz="2200" dirty="0">
                <a:solidFill>
                  <a:srgbClr val="CC0000"/>
                </a:solidFill>
                <a:latin typeface="Times New Roman" panose="02020603050405020304" pitchFamily="18" charset="0"/>
                <a:ea typeface="楷体_GB2312"/>
              </a:rPr>
              <a:t>CLI  </a:t>
            </a:r>
            <a:r>
              <a:rPr lang="en-US" altLang="zh-CN" sz="2200" dirty="0">
                <a:solidFill>
                  <a:schemeClr val="tx1"/>
                </a:solidFill>
                <a:latin typeface="Times New Roman" panose="02020603050405020304" pitchFamily="18" charset="0"/>
                <a:ea typeface="楷体_GB2312"/>
              </a:rPr>
              <a:t>                                             ;</a:t>
            </a:r>
            <a:r>
              <a:rPr lang="zh-CN" altLang="en-US" sz="2200" dirty="0">
                <a:solidFill>
                  <a:schemeClr val="tx1"/>
                </a:solidFill>
                <a:latin typeface="Times New Roman" panose="02020603050405020304" pitchFamily="18" charset="0"/>
                <a:ea typeface="楷体_GB2312"/>
              </a:rPr>
              <a:t>关中断</a:t>
            </a:r>
            <a:endParaRPr lang="zh-CN" altLang="en-US" sz="22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0"/>
              </a:spcAft>
              <a:buClrTx/>
              <a:buSzTx/>
              <a:buFont typeface="Arial" panose="020B0604020202020204" pitchFamily="34" charset="0"/>
              <a:buNone/>
            </a:pPr>
            <a:r>
              <a:rPr lang="en-US" altLang="zh-CN" sz="2200" dirty="0">
                <a:solidFill>
                  <a:srgbClr val="0000FF"/>
                </a:solidFill>
                <a:latin typeface="Times New Roman" panose="02020603050405020304" pitchFamily="18" charset="0"/>
                <a:ea typeface="楷体_GB2312"/>
              </a:rPr>
              <a:t>MOV   AL, 08H                 </a:t>
            </a:r>
            <a:endParaRPr lang="en-US" altLang="zh-CN" sz="2200" dirty="0">
              <a:solidFill>
                <a:srgbClr val="0000FF"/>
              </a:solidFill>
              <a:latin typeface="Times New Roman" panose="02020603050405020304" pitchFamily="18" charset="0"/>
              <a:ea typeface="楷体_GB2312"/>
            </a:endParaRPr>
          </a:p>
          <a:p>
            <a:pPr marL="914400" lvl="2" indent="0" algn="just">
              <a:lnSpc>
                <a:spcPct val="100000"/>
              </a:lnSpc>
              <a:spcBef>
                <a:spcPct val="0"/>
              </a:spcBef>
              <a:spcAft>
                <a:spcPct val="0"/>
              </a:spcAft>
              <a:buClrTx/>
              <a:buSzTx/>
              <a:buFont typeface="Arial" panose="020B0604020202020204" pitchFamily="34" charset="0"/>
              <a:buNone/>
            </a:pPr>
            <a:r>
              <a:rPr lang="en-US" altLang="zh-CN" sz="2200" dirty="0">
                <a:solidFill>
                  <a:srgbClr val="0000FF"/>
                </a:solidFill>
                <a:latin typeface="Times New Roman" panose="02020603050405020304" pitchFamily="18" charset="0"/>
                <a:ea typeface="楷体_GB2312"/>
              </a:rPr>
              <a:t>MOV   AH, 35H</a:t>
            </a:r>
            <a:endParaRPr lang="en-US" altLang="zh-CN" sz="22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0"/>
              </a:spcAft>
              <a:buClrTx/>
              <a:buSzTx/>
              <a:buFont typeface="Arial" panose="020B0604020202020204" pitchFamily="34" charset="0"/>
              <a:buNone/>
            </a:pPr>
            <a:r>
              <a:rPr lang="en-US" altLang="zh-CN" sz="2200" dirty="0">
                <a:solidFill>
                  <a:srgbClr val="0000FF"/>
                </a:solidFill>
                <a:latin typeface="Times New Roman" panose="02020603050405020304" pitchFamily="18" charset="0"/>
                <a:ea typeface="楷体_GB2312"/>
              </a:rPr>
              <a:t>INT      21H</a:t>
            </a:r>
            <a:r>
              <a:rPr lang="en-US" altLang="zh-CN" sz="2200" dirty="0">
                <a:solidFill>
                  <a:schemeClr val="tx1"/>
                </a:solidFill>
                <a:latin typeface="Times New Roman" panose="02020603050405020304" pitchFamily="18" charset="0"/>
                <a:ea typeface="楷体_GB2312"/>
              </a:rPr>
              <a:t>                                 ;</a:t>
            </a:r>
            <a:r>
              <a:rPr lang="zh-CN" altLang="en-US" sz="2200" dirty="0">
                <a:solidFill>
                  <a:schemeClr val="tx1"/>
                </a:solidFill>
                <a:latin typeface="Times New Roman" panose="02020603050405020304" pitchFamily="18" charset="0"/>
                <a:ea typeface="楷体_GB2312"/>
              </a:rPr>
              <a:t>取系统</a:t>
            </a:r>
            <a:r>
              <a:rPr lang="en-US" altLang="zh-CN" sz="2200" dirty="0">
                <a:solidFill>
                  <a:schemeClr val="tx1"/>
                </a:solidFill>
                <a:latin typeface="Times New Roman" panose="02020603050405020304" pitchFamily="18" charset="0"/>
                <a:ea typeface="楷体_GB2312"/>
              </a:rPr>
              <a:t>08H</a:t>
            </a:r>
            <a:r>
              <a:rPr lang="zh-CN" altLang="en-US" sz="2200" dirty="0">
                <a:solidFill>
                  <a:schemeClr val="tx1"/>
                </a:solidFill>
                <a:latin typeface="Times New Roman" panose="02020603050405020304" pitchFamily="18" charset="0"/>
                <a:ea typeface="楷体_GB2312"/>
              </a:rPr>
              <a:t>类型中断向量</a:t>
            </a:r>
            <a:endParaRPr lang="zh-CN" altLang="en-US" sz="22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0"/>
              </a:spcAft>
              <a:buClrTx/>
              <a:buSzTx/>
              <a:buFont typeface="Arial" panose="020B0604020202020204" pitchFamily="34" charset="0"/>
              <a:buNone/>
            </a:pPr>
            <a:r>
              <a:rPr lang="en-US" altLang="zh-CN" sz="2200" dirty="0">
                <a:solidFill>
                  <a:srgbClr val="0000FF"/>
                </a:solidFill>
                <a:latin typeface="Times New Roman" panose="02020603050405020304" pitchFamily="18" charset="0"/>
                <a:ea typeface="楷体_GB2312"/>
              </a:rPr>
              <a:t>PUSH    ES</a:t>
            </a:r>
            <a:r>
              <a:rPr lang="en-US" altLang="zh-CN" sz="2200" dirty="0">
                <a:solidFill>
                  <a:schemeClr val="tx1"/>
                </a:solidFill>
                <a:latin typeface="Times New Roman" panose="02020603050405020304" pitchFamily="18" charset="0"/>
                <a:ea typeface="楷体_GB2312"/>
              </a:rPr>
              <a:t>                                  ;</a:t>
            </a:r>
            <a:r>
              <a:rPr lang="zh-CN" altLang="en-US" sz="2200" dirty="0">
                <a:solidFill>
                  <a:schemeClr val="tx1"/>
                </a:solidFill>
                <a:latin typeface="Times New Roman" panose="02020603050405020304" pitchFamily="18" charset="0"/>
                <a:ea typeface="楷体_GB2312"/>
              </a:rPr>
              <a:t>用堆栈保存 </a:t>
            </a:r>
            <a:endParaRPr lang="zh-CN" altLang="en-US" sz="22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0"/>
              </a:spcAft>
              <a:buClrTx/>
              <a:buSzTx/>
              <a:buFont typeface="Arial" panose="020B0604020202020204" pitchFamily="34" charset="0"/>
              <a:buNone/>
            </a:pPr>
            <a:r>
              <a:rPr lang="en-US" altLang="zh-CN" sz="2200" dirty="0">
                <a:solidFill>
                  <a:srgbClr val="0000FF"/>
                </a:solidFill>
                <a:latin typeface="Times New Roman" panose="02020603050405020304" pitchFamily="18" charset="0"/>
                <a:ea typeface="楷体_GB2312"/>
              </a:rPr>
              <a:t>PUSH    BX</a:t>
            </a:r>
            <a:endParaRPr lang="en-US" altLang="zh-CN" sz="22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0"/>
              </a:spcAft>
              <a:buClrTx/>
              <a:buSzTx/>
              <a:buFont typeface="Arial" panose="020B0604020202020204" pitchFamily="34" charset="0"/>
              <a:buNone/>
            </a:pPr>
            <a:r>
              <a:rPr lang="en-US" altLang="zh-CN" sz="2200" dirty="0">
                <a:solidFill>
                  <a:schemeClr val="tx1"/>
                </a:solidFill>
                <a:latin typeface="Times New Roman" panose="02020603050405020304" pitchFamily="18" charset="0"/>
                <a:ea typeface="楷体_GB2312"/>
              </a:rPr>
              <a:t>PUSH    DS                  </a:t>
            </a:r>
            <a:endParaRPr lang="en-US" altLang="zh-CN" sz="22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0"/>
              </a:spcAft>
              <a:buClrTx/>
              <a:buSzTx/>
              <a:buFont typeface="Arial" panose="020B0604020202020204" pitchFamily="34" charset="0"/>
              <a:buNone/>
            </a:pPr>
            <a:r>
              <a:rPr lang="en-US" altLang="zh-CN" sz="2200" dirty="0">
                <a:latin typeface="Times New Roman" panose="02020603050405020304" pitchFamily="18" charset="0"/>
                <a:ea typeface="楷体_GB2312"/>
              </a:rPr>
              <a:t>MOV   DX, OFFSET  display</a:t>
            </a:r>
            <a:r>
              <a:rPr lang="en-US" altLang="zh-CN" sz="2200" dirty="0">
                <a:solidFill>
                  <a:schemeClr val="tx1"/>
                </a:solidFill>
                <a:latin typeface="Times New Roman" panose="02020603050405020304" pitchFamily="18" charset="0"/>
                <a:ea typeface="楷体_GB2312"/>
              </a:rPr>
              <a:t>   ;</a:t>
            </a:r>
            <a:r>
              <a:rPr lang="zh-CN" altLang="en-US" sz="2200" dirty="0">
                <a:solidFill>
                  <a:schemeClr val="tx1"/>
                </a:solidFill>
                <a:latin typeface="Times New Roman" panose="02020603050405020304" pitchFamily="18" charset="0"/>
                <a:ea typeface="楷体_GB2312"/>
              </a:rPr>
              <a:t>设置</a:t>
            </a:r>
            <a:r>
              <a:rPr lang="en-US" altLang="zh-CN" sz="2200" dirty="0">
                <a:solidFill>
                  <a:schemeClr val="tx1"/>
                </a:solidFill>
                <a:latin typeface="Times New Roman" panose="02020603050405020304" pitchFamily="18" charset="0"/>
                <a:ea typeface="楷体_GB2312"/>
              </a:rPr>
              <a:t>08H </a:t>
            </a:r>
            <a:r>
              <a:rPr lang="zh-CN" altLang="en-US" sz="2200" dirty="0">
                <a:solidFill>
                  <a:schemeClr val="tx1"/>
                </a:solidFill>
                <a:latin typeface="Times New Roman" panose="02020603050405020304" pitchFamily="18" charset="0"/>
                <a:ea typeface="楷体_GB2312"/>
              </a:rPr>
              <a:t>类型中断向量   </a:t>
            </a:r>
            <a:endParaRPr lang="zh-CN" altLang="en-US" sz="22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0"/>
              </a:spcAft>
              <a:buClrTx/>
              <a:buSzTx/>
              <a:buFont typeface="Arial" panose="020B0604020202020204" pitchFamily="34" charset="0"/>
              <a:buNone/>
            </a:pPr>
            <a:r>
              <a:rPr lang="en-US" altLang="zh-CN" sz="2200" dirty="0">
                <a:latin typeface="Times New Roman" panose="02020603050405020304" pitchFamily="18" charset="0"/>
                <a:ea typeface="楷体_GB2312"/>
              </a:rPr>
              <a:t>MOV   AX, SEG     display</a:t>
            </a:r>
            <a:endParaRPr lang="en-US" altLang="zh-CN" sz="22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0"/>
              </a:spcAft>
              <a:buClrTx/>
              <a:buSzTx/>
              <a:buFont typeface="Arial" panose="020B0604020202020204" pitchFamily="34" charset="0"/>
              <a:buNone/>
            </a:pPr>
            <a:r>
              <a:rPr lang="en-US" altLang="zh-CN" sz="2200" dirty="0">
                <a:latin typeface="Times New Roman" panose="02020603050405020304" pitchFamily="18" charset="0"/>
                <a:ea typeface="楷体_GB2312"/>
              </a:rPr>
              <a:t>MOV   DS, AX</a:t>
            </a:r>
            <a:endParaRPr lang="en-US" altLang="zh-CN" sz="22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0"/>
              </a:spcAft>
              <a:buClrTx/>
              <a:buSzTx/>
              <a:buFont typeface="Arial" panose="020B0604020202020204" pitchFamily="34" charset="0"/>
              <a:buNone/>
            </a:pPr>
            <a:r>
              <a:rPr lang="en-US" altLang="zh-CN" sz="2200" dirty="0">
                <a:latin typeface="Times New Roman" panose="02020603050405020304" pitchFamily="18" charset="0"/>
                <a:ea typeface="楷体_GB2312"/>
              </a:rPr>
              <a:t>MOV   AL, 08H</a:t>
            </a:r>
            <a:endParaRPr lang="en-US" altLang="zh-CN" sz="22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0"/>
              </a:spcAft>
              <a:buClrTx/>
              <a:buSzTx/>
              <a:buFont typeface="Arial" panose="020B0604020202020204" pitchFamily="34" charset="0"/>
              <a:buNone/>
            </a:pPr>
            <a:r>
              <a:rPr lang="en-US" altLang="zh-CN" sz="2200" dirty="0">
                <a:latin typeface="Times New Roman" panose="02020603050405020304" pitchFamily="18" charset="0"/>
                <a:ea typeface="楷体_GB2312"/>
              </a:rPr>
              <a:t>MOV   AH, 25H</a:t>
            </a:r>
            <a:endParaRPr lang="en-US" altLang="zh-CN" sz="22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0"/>
              </a:spcAft>
              <a:buClrTx/>
              <a:buSzTx/>
              <a:buFont typeface="Arial" panose="020B0604020202020204" pitchFamily="34" charset="0"/>
              <a:buNone/>
            </a:pPr>
            <a:r>
              <a:rPr lang="en-US" altLang="zh-CN" sz="2200" dirty="0">
                <a:latin typeface="Times New Roman" panose="02020603050405020304" pitchFamily="18" charset="0"/>
                <a:ea typeface="楷体_GB2312"/>
              </a:rPr>
              <a:t>INT      21H</a:t>
            </a:r>
            <a:endParaRPr lang="en-US" altLang="zh-CN" sz="22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0"/>
              </a:spcAft>
              <a:buClrTx/>
              <a:buSzTx/>
              <a:buFont typeface="Arial" panose="020B0604020202020204" pitchFamily="34" charset="0"/>
              <a:buNone/>
            </a:pPr>
            <a:r>
              <a:rPr lang="en-US" altLang="zh-CN" sz="2200" dirty="0">
                <a:solidFill>
                  <a:schemeClr val="tx1"/>
                </a:solidFill>
                <a:latin typeface="Times New Roman" panose="02020603050405020304" pitchFamily="18" charset="0"/>
                <a:ea typeface="楷体_GB2312"/>
              </a:rPr>
              <a:t>POP     DS</a:t>
            </a:r>
            <a:endParaRPr lang="en-US" altLang="zh-CN" sz="2200" b="0" dirty="0">
              <a:solidFill>
                <a:schemeClr val="tx1"/>
              </a:solidFill>
              <a:latin typeface="Times New Roman" panose="02020603050405020304" pitchFamily="18" charset="0"/>
              <a:ea typeface="楷体_GB2312"/>
            </a:endParaRPr>
          </a:p>
        </p:txBody>
      </p:sp>
    </p:spTree>
  </p:cSld>
  <p:clrMapOvr>
    <a:masterClrMapping/>
  </p:clrMapOvr>
  <p:transition spd="slow">
    <p:zoom/>
  </p:transition>
</p:sld>
</file>

<file path=ppt/slides/slide1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87746" name="文本框 217089"/>
          <p:cNvSpPr txBox="1"/>
          <p:nvPr/>
        </p:nvSpPr>
        <p:spPr>
          <a:xfrm>
            <a:off x="250825" y="333375"/>
            <a:ext cx="8610600" cy="5837238"/>
          </a:xfrm>
          <a:prstGeom prst="rect">
            <a:avLst/>
          </a:prstGeom>
          <a:solidFill>
            <a:schemeClr val="bg1"/>
          </a:solid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914400" lvl="2" indent="0" algn="just">
              <a:lnSpc>
                <a:spcPct val="95000"/>
              </a:lnSpc>
              <a:spcBef>
                <a:spcPct val="0"/>
              </a:spcBef>
              <a:spcAft>
                <a:spcPct val="0"/>
              </a:spcAft>
              <a:buClrTx/>
              <a:buSzTx/>
              <a:buFont typeface="Arial" panose="020B0604020202020204" pitchFamily="34" charset="0"/>
              <a:buNone/>
            </a:pPr>
            <a:r>
              <a:rPr lang="zh-CN" altLang="en-US" sz="2200" dirty="0">
                <a:solidFill>
                  <a:srgbClr val="0000FF"/>
                </a:solidFill>
                <a:latin typeface="Times New Roman" panose="02020603050405020304" pitchFamily="18" charset="0"/>
                <a:ea typeface="楷体_GB2312"/>
              </a:rPr>
              <a:t>IN        AL,   21H</a:t>
            </a:r>
            <a:r>
              <a:rPr lang="zh-CN" altLang="en-US" sz="2200" dirty="0">
                <a:solidFill>
                  <a:schemeClr val="tx1"/>
                </a:solidFill>
                <a:latin typeface="Times New Roman" panose="02020603050405020304" pitchFamily="18" charset="0"/>
                <a:ea typeface="楷体_GB2312"/>
              </a:rPr>
              <a:t>                  ;设置8259A中断屏蔽字</a:t>
            </a:r>
            <a:r>
              <a:rPr lang="zh-CN" altLang="en-US" sz="2200" dirty="0">
                <a:solidFill>
                  <a:schemeClr val="tx1"/>
                </a:solidFill>
                <a:latin typeface="楷体_GB2312"/>
                <a:ea typeface="楷体_GB2312"/>
              </a:rPr>
              <a:t>，</a:t>
            </a:r>
            <a:r>
              <a:rPr lang="zh-CN" altLang="en-US" sz="2200" dirty="0">
                <a:solidFill>
                  <a:schemeClr val="tx1"/>
                </a:solidFill>
                <a:latin typeface="Times New Roman" panose="02020603050405020304" pitchFamily="18" charset="0"/>
                <a:ea typeface="楷体_GB2312"/>
              </a:rPr>
              <a:t>   </a:t>
            </a:r>
            <a:endParaRPr lang="zh-CN" altLang="en-US" sz="2200" dirty="0">
              <a:solidFill>
                <a:schemeClr val="tx1"/>
              </a:solidFill>
              <a:latin typeface="Times New Roman" panose="02020603050405020304" pitchFamily="18" charset="0"/>
              <a:ea typeface="楷体_GB2312"/>
            </a:endParaRPr>
          </a:p>
          <a:p>
            <a:pPr marL="457200" lvl="1" indent="0" algn="just">
              <a:lnSpc>
                <a:spcPct val="95000"/>
              </a:lnSpc>
              <a:spcBef>
                <a:spcPct val="0"/>
              </a:spcBef>
              <a:spcAft>
                <a:spcPct val="0"/>
              </a:spcAft>
              <a:buClrTx/>
              <a:buSzTx/>
              <a:buFont typeface="Arial" panose="020B0604020202020204" pitchFamily="34" charset="0"/>
              <a:buNone/>
            </a:pPr>
            <a:r>
              <a:rPr lang="zh-CN" altLang="en-US" sz="2200" dirty="0">
                <a:latin typeface="Times New Roman" panose="02020603050405020304" pitchFamily="18" charset="0"/>
                <a:ea typeface="楷体_GB2312"/>
              </a:rPr>
              <a:t>      </a:t>
            </a:r>
            <a:r>
              <a:rPr lang="zh-CN" altLang="en-US" sz="2200" dirty="0">
                <a:solidFill>
                  <a:srgbClr val="0000FF"/>
                </a:solidFill>
                <a:latin typeface="Times New Roman" panose="02020603050405020304" pitchFamily="18" charset="0"/>
                <a:ea typeface="楷体_GB2312"/>
              </a:rPr>
              <a:t>AND    AL,   1111 111</a:t>
            </a:r>
            <a:r>
              <a:rPr lang="zh-CN" altLang="en-US" sz="2200" dirty="0">
                <a:solidFill>
                  <a:srgbClr val="FF0000"/>
                </a:solidFill>
                <a:latin typeface="Times New Roman" panose="02020603050405020304" pitchFamily="18" charset="0"/>
                <a:ea typeface="楷体_GB2312"/>
              </a:rPr>
              <a:t>0</a:t>
            </a:r>
            <a:r>
              <a:rPr lang="zh-CN" altLang="en-US" sz="2200" dirty="0">
                <a:solidFill>
                  <a:srgbClr val="0000FF"/>
                </a:solidFill>
                <a:latin typeface="Times New Roman" panose="02020603050405020304" pitchFamily="18" charset="0"/>
                <a:ea typeface="楷体_GB2312"/>
              </a:rPr>
              <a:t>B</a:t>
            </a:r>
            <a:r>
              <a:rPr lang="zh-CN" altLang="en-US" sz="2200" dirty="0">
                <a:latin typeface="Times New Roman" panose="02020603050405020304" pitchFamily="18" charset="0"/>
                <a:ea typeface="楷体_GB2312"/>
              </a:rPr>
              <a:t>      ;允许IR0中断</a:t>
            </a:r>
            <a:endParaRPr lang="zh-CN" altLang="en-US" sz="2200" dirty="0">
              <a:latin typeface="Times New Roman" panose="02020603050405020304" pitchFamily="18" charset="0"/>
              <a:ea typeface="楷体_GB2312"/>
            </a:endParaRPr>
          </a:p>
          <a:p>
            <a:pPr marL="457200" lvl="1" indent="0" algn="just">
              <a:lnSpc>
                <a:spcPct val="95000"/>
              </a:lnSpc>
              <a:spcBef>
                <a:spcPct val="0"/>
              </a:spcBef>
              <a:spcAft>
                <a:spcPct val="0"/>
              </a:spcAft>
              <a:buClrTx/>
              <a:buSzTx/>
              <a:buFont typeface="Arial" panose="020B0604020202020204" pitchFamily="34" charset="0"/>
              <a:buNone/>
            </a:pPr>
            <a:r>
              <a:rPr lang="zh-CN" altLang="en-US" sz="2200" dirty="0">
                <a:latin typeface="Times New Roman" panose="02020603050405020304" pitchFamily="18" charset="0"/>
                <a:ea typeface="楷体_GB2312"/>
              </a:rPr>
              <a:t>      </a:t>
            </a:r>
            <a:r>
              <a:rPr lang="zh-CN" altLang="en-US" sz="2200" dirty="0">
                <a:solidFill>
                  <a:srgbClr val="0000FF"/>
                </a:solidFill>
                <a:latin typeface="Times New Roman" panose="02020603050405020304" pitchFamily="18" charset="0"/>
                <a:ea typeface="楷体_GB2312"/>
              </a:rPr>
              <a:t>OUT     21H,  AL</a:t>
            </a:r>
            <a:endParaRPr lang="zh-CN" altLang="en-US" sz="2200" dirty="0">
              <a:latin typeface="Times New Roman" panose="02020603050405020304" pitchFamily="18" charset="0"/>
              <a:ea typeface="楷体_GB2312"/>
            </a:endParaRPr>
          </a:p>
          <a:p>
            <a:pPr marL="914400" lvl="2" indent="0" algn="just">
              <a:lnSpc>
                <a:spcPct val="95000"/>
              </a:lnSpc>
              <a:spcBef>
                <a:spcPct val="0"/>
              </a:spcBef>
              <a:spcAft>
                <a:spcPct val="0"/>
              </a:spcAft>
              <a:buClrTx/>
              <a:buSzTx/>
              <a:buFont typeface="Arial" panose="020B0604020202020204" pitchFamily="34" charset="0"/>
              <a:buNone/>
            </a:pPr>
            <a:r>
              <a:rPr lang="zh-CN" altLang="en-US" sz="2200" dirty="0">
                <a:solidFill>
                  <a:schemeClr val="accent2"/>
                </a:solidFill>
                <a:latin typeface="Times New Roman" panose="02020603050405020304" pitchFamily="18" charset="0"/>
                <a:ea typeface="楷体_GB2312"/>
              </a:rPr>
              <a:t>MOV   CX,   0                       ;置中断子程计数器初值为0</a:t>
            </a:r>
            <a:endParaRPr lang="zh-CN" altLang="en-US" sz="2200" dirty="0">
              <a:solidFill>
                <a:schemeClr val="accent2"/>
              </a:solidFill>
              <a:latin typeface="楷体_GB2312"/>
              <a:ea typeface="楷体_GB2312"/>
            </a:endParaRPr>
          </a:p>
          <a:p>
            <a:pPr marL="914400" lvl="2" indent="0" algn="just">
              <a:lnSpc>
                <a:spcPct val="95000"/>
              </a:lnSpc>
              <a:spcBef>
                <a:spcPct val="0"/>
              </a:spcBef>
              <a:spcAft>
                <a:spcPct val="0"/>
              </a:spcAft>
              <a:buClrTx/>
              <a:buSzTx/>
              <a:buFont typeface="Arial" panose="020B0604020202020204" pitchFamily="34" charset="0"/>
              <a:buNone/>
            </a:pPr>
            <a:r>
              <a:rPr lang="zh-CN" altLang="en-US" sz="2200" dirty="0">
                <a:latin typeface="Times New Roman" panose="02020603050405020304" pitchFamily="18" charset="0"/>
                <a:ea typeface="楷体_GB2312"/>
              </a:rPr>
              <a:t>STI</a:t>
            </a:r>
            <a:r>
              <a:rPr lang="zh-CN" altLang="en-US" sz="2200" dirty="0">
                <a:solidFill>
                  <a:schemeClr val="tx1"/>
                </a:solidFill>
                <a:latin typeface="Times New Roman" panose="02020603050405020304" pitchFamily="18" charset="0"/>
                <a:ea typeface="楷体_GB2312"/>
              </a:rPr>
              <a:t>                                         ;CPU开中断</a:t>
            </a:r>
            <a:endParaRPr lang="zh-CN" altLang="en-US" sz="2200" dirty="0">
              <a:solidFill>
                <a:schemeClr val="tx1"/>
              </a:solidFill>
              <a:latin typeface="Times New Roman" panose="02020603050405020304" pitchFamily="18" charset="0"/>
              <a:ea typeface="楷体_GB2312"/>
            </a:endParaRPr>
          </a:p>
          <a:p>
            <a:pPr marL="914400" lvl="2" indent="0" algn="just">
              <a:lnSpc>
                <a:spcPct val="95000"/>
              </a:lnSpc>
              <a:spcBef>
                <a:spcPct val="0"/>
              </a:spcBef>
              <a:spcAft>
                <a:spcPct val="0"/>
              </a:spcAft>
              <a:buClrTx/>
              <a:buSzTx/>
              <a:buFont typeface="Arial" panose="020B0604020202020204" pitchFamily="34" charset="0"/>
              <a:buNone/>
            </a:pPr>
            <a:r>
              <a:rPr lang="zh-CN" altLang="en-US" sz="2200" dirty="0">
                <a:solidFill>
                  <a:schemeClr val="tx1"/>
                </a:solidFill>
                <a:latin typeface="Times New Roman" panose="02020603050405020304" pitchFamily="18" charset="0"/>
                <a:ea typeface="楷体_GB2312"/>
              </a:rPr>
              <a:t>MOV   SI,    8000H              ;</a:t>
            </a:r>
            <a:r>
              <a:rPr lang="zh-CN" altLang="en-US" sz="2200" dirty="0">
                <a:solidFill>
                  <a:schemeClr val="tx1"/>
                </a:solidFill>
                <a:latin typeface="楷体_GB2312"/>
                <a:ea typeface="楷体_GB2312"/>
              </a:rPr>
              <a:t>用双重循环延时，</a:t>
            </a:r>
            <a:endParaRPr lang="zh-CN" altLang="en-US" sz="2200" dirty="0">
              <a:solidFill>
                <a:schemeClr val="tx1"/>
              </a:solidFill>
              <a:latin typeface="Times New Roman" panose="02020603050405020304" pitchFamily="18" charset="0"/>
              <a:ea typeface="楷体_GB2312"/>
            </a:endParaRPr>
          </a:p>
          <a:p>
            <a:pPr marL="0" lvl="0" indent="0" algn="just">
              <a:lnSpc>
                <a:spcPct val="95000"/>
              </a:lnSpc>
              <a:spcBef>
                <a:spcPct val="0"/>
              </a:spcBef>
              <a:spcAft>
                <a:spcPct val="0"/>
              </a:spcAft>
              <a:buClrTx/>
              <a:buSzTx/>
              <a:buFont typeface="Arial" panose="020B0604020202020204" pitchFamily="34" charset="0"/>
              <a:buNone/>
            </a:pPr>
            <a:r>
              <a:rPr lang="zh-CN" altLang="en-US" sz="2200" dirty="0">
                <a:solidFill>
                  <a:schemeClr val="tx1"/>
                </a:solidFill>
                <a:latin typeface="Times New Roman" panose="02020603050405020304" pitchFamily="18" charset="0"/>
                <a:ea typeface="楷体_GB2312"/>
              </a:rPr>
              <a:t>w2:</a:t>
            </a:r>
            <a:r>
              <a:rPr lang="zh-CN" altLang="en-US" sz="2200" dirty="0">
                <a:solidFill>
                  <a:srgbClr val="0000FF"/>
                </a:solidFill>
                <a:latin typeface="Times New Roman" panose="02020603050405020304" pitchFamily="18" charset="0"/>
                <a:ea typeface="楷体_GB2312"/>
              </a:rPr>
              <a:t>       </a:t>
            </a:r>
            <a:r>
              <a:rPr lang="zh-CN" altLang="en-US" sz="2200" dirty="0">
                <a:solidFill>
                  <a:schemeClr val="tx1"/>
                </a:solidFill>
                <a:latin typeface="Times New Roman" panose="02020603050405020304" pitchFamily="18" charset="0"/>
                <a:ea typeface="楷体_GB2312"/>
              </a:rPr>
              <a:t>MOV   DI,   8000H             ;模拟CPU对其他任务的处理           </a:t>
            </a:r>
            <a:endParaRPr lang="zh-CN" altLang="en-US" sz="2200" dirty="0">
              <a:solidFill>
                <a:schemeClr val="tx1"/>
              </a:solidFill>
              <a:latin typeface="Times New Roman" panose="02020603050405020304" pitchFamily="18" charset="0"/>
              <a:ea typeface="楷体_GB2312"/>
            </a:endParaRPr>
          </a:p>
          <a:p>
            <a:pPr marL="0" lvl="0" indent="0" algn="just">
              <a:lnSpc>
                <a:spcPct val="95000"/>
              </a:lnSpc>
              <a:spcBef>
                <a:spcPct val="0"/>
              </a:spcBef>
              <a:spcAft>
                <a:spcPct val="0"/>
              </a:spcAft>
              <a:buClrTx/>
              <a:buSzTx/>
              <a:buFont typeface="Arial" panose="020B0604020202020204" pitchFamily="34" charset="0"/>
              <a:buNone/>
            </a:pPr>
            <a:r>
              <a:rPr lang="zh-CN" altLang="en-US" sz="2200" dirty="0">
                <a:solidFill>
                  <a:schemeClr val="tx1"/>
                </a:solidFill>
                <a:latin typeface="Times New Roman" panose="02020603050405020304" pitchFamily="18" charset="0"/>
                <a:ea typeface="楷体_GB2312"/>
              </a:rPr>
              <a:t>w1:       DEC    DI                        ;DI,SI</a:t>
            </a:r>
            <a:r>
              <a:rPr lang="zh-CN" altLang="en-US" sz="2200" dirty="0">
                <a:solidFill>
                  <a:schemeClr val="tx1"/>
                </a:solidFill>
                <a:latin typeface="楷体_GB2312"/>
                <a:ea typeface="楷体_GB2312"/>
              </a:rPr>
              <a:t>的值可修改,控制主程执行时间</a:t>
            </a:r>
            <a:endParaRPr lang="zh-CN" altLang="en-US" sz="2200" dirty="0">
              <a:solidFill>
                <a:schemeClr val="tx1"/>
              </a:solidFill>
              <a:latin typeface="Times New Roman" panose="02020603050405020304" pitchFamily="18" charset="0"/>
              <a:ea typeface="楷体_GB2312"/>
            </a:endParaRPr>
          </a:p>
          <a:p>
            <a:pPr marL="914400" lvl="2" indent="0" algn="just">
              <a:lnSpc>
                <a:spcPct val="95000"/>
              </a:lnSpc>
              <a:spcBef>
                <a:spcPct val="0"/>
              </a:spcBef>
              <a:spcAft>
                <a:spcPct val="0"/>
              </a:spcAft>
              <a:buClrTx/>
              <a:buSzTx/>
              <a:buFont typeface="Arial" panose="020B0604020202020204" pitchFamily="34" charset="0"/>
              <a:buNone/>
            </a:pPr>
            <a:r>
              <a:rPr lang="zh-CN" altLang="en-US" sz="2200" dirty="0">
                <a:solidFill>
                  <a:schemeClr val="tx1"/>
                </a:solidFill>
                <a:latin typeface="Times New Roman" panose="02020603050405020304" pitchFamily="18" charset="0"/>
                <a:ea typeface="楷体_GB2312"/>
              </a:rPr>
              <a:t>JNZ     w1</a:t>
            </a:r>
            <a:endParaRPr lang="zh-CN" altLang="en-US" sz="2200" dirty="0">
              <a:solidFill>
                <a:schemeClr val="tx1"/>
              </a:solidFill>
              <a:latin typeface="Times New Roman" panose="02020603050405020304" pitchFamily="18" charset="0"/>
              <a:ea typeface="楷体_GB2312"/>
            </a:endParaRPr>
          </a:p>
          <a:p>
            <a:pPr marL="914400" lvl="2" indent="0" algn="just">
              <a:lnSpc>
                <a:spcPct val="95000"/>
              </a:lnSpc>
              <a:spcBef>
                <a:spcPct val="0"/>
              </a:spcBef>
              <a:spcAft>
                <a:spcPct val="0"/>
              </a:spcAft>
              <a:buClrTx/>
              <a:buSzTx/>
              <a:buFont typeface="Arial" panose="020B0604020202020204" pitchFamily="34" charset="0"/>
              <a:buNone/>
            </a:pPr>
            <a:r>
              <a:rPr lang="zh-CN" altLang="en-US" sz="2200" dirty="0">
                <a:solidFill>
                  <a:schemeClr val="tx1"/>
                </a:solidFill>
                <a:latin typeface="Times New Roman" panose="02020603050405020304" pitchFamily="18" charset="0"/>
                <a:ea typeface="楷体_GB2312"/>
              </a:rPr>
              <a:t>DEC     SI</a:t>
            </a:r>
            <a:endParaRPr lang="zh-CN" altLang="en-US" sz="2200" dirty="0">
              <a:solidFill>
                <a:srgbClr val="0000FF"/>
              </a:solidFill>
              <a:latin typeface="Times New Roman" panose="02020603050405020304" pitchFamily="18" charset="0"/>
              <a:ea typeface="楷体_GB2312"/>
            </a:endParaRPr>
          </a:p>
          <a:p>
            <a:pPr marL="914400" lvl="2" indent="0" algn="just">
              <a:lnSpc>
                <a:spcPct val="95000"/>
              </a:lnSpc>
              <a:spcBef>
                <a:spcPct val="0"/>
              </a:spcBef>
              <a:spcAft>
                <a:spcPct val="0"/>
              </a:spcAft>
              <a:buClrTx/>
              <a:buSzTx/>
              <a:buFont typeface="Arial" panose="020B0604020202020204" pitchFamily="34" charset="0"/>
              <a:buNone/>
            </a:pPr>
            <a:r>
              <a:rPr lang="zh-CN" altLang="en-US" sz="2200" dirty="0">
                <a:solidFill>
                  <a:schemeClr val="tx1"/>
                </a:solidFill>
                <a:latin typeface="Times New Roman" panose="02020603050405020304" pitchFamily="18" charset="0"/>
                <a:ea typeface="楷体_GB2312"/>
              </a:rPr>
              <a:t>JNZ      w2</a:t>
            </a:r>
            <a:endParaRPr lang="zh-CN" altLang="en-US" sz="2200" dirty="0">
              <a:solidFill>
                <a:schemeClr val="tx1"/>
              </a:solidFill>
              <a:latin typeface="Times New Roman" panose="02020603050405020304" pitchFamily="18" charset="0"/>
              <a:ea typeface="楷体_GB2312"/>
            </a:endParaRPr>
          </a:p>
          <a:p>
            <a:pPr marL="914400" lvl="2" indent="0" algn="just">
              <a:lnSpc>
                <a:spcPct val="95000"/>
              </a:lnSpc>
              <a:spcBef>
                <a:spcPct val="0"/>
              </a:spcBef>
              <a:spcAft>
                <a:spcPct val="0"/>
              </a:spcAft>
              <a:buClrTx/>
              <a:buSzTx/>
              <a:buFont typeface="Arial" panose="020B0604020202020204" pitchFamily="34" charset="0"/>
              <a:buNone/>
            </a:pPr>
            <a:r>
              <a:rPr lang="zh-CN" altLang="en-US" sz="2200" dirty="0">
                <a:latin typeface="Times New Roman" panose="02020603050405020304" pitchFamily="18" charset="0"/>
                <a:ea typeface="楷体_GB2312"/>
              </a:rPr>
              <a:t>POP     DX</a:t>
            </a:r>
            <a:r>
              <a:rPr lang="zh-CN" altLang="en-US" sz="2200" dirty="0">
                <a:solidFill>
                  <a:schemeClr val="tx1"/>
                </a:solidFill>
                <a:latin typeface="Times New Roman" panose="02020603050405020304" pitchFamily="18" charset="0"/>
                <a:ea typeface="楷体_GB2312"/>
              </a:rPr>
              <a:t>                             ;恢复系统08H类型中断向量</a:t>
            </a:r>
            <a:r>
              <a:rPr lang="zh-CN" altLang="en-US" sz="2200" dirty="0">
                <a:solidFill>
                  <a:schemeClr val="tx1"/>
                </a:solidFill>
                <a:latin typeface="楷体_GB2312"/>
                <a:ea typeface="楷体_GB2312"/>
              </a:rPr>
              <a:t>   </a:t>
            </a:r>
            <a:endParaRPr lang="zh-CN" altLang="en-US" sz="2200" dirty="0">
              <a:solidFill>
                <a:schemeClr val="tx1"/>
              </a:solidFill>
              <a:latin typeface="楷体_GB2312"/>
              <a:ea typeface="楷体_GB2312"/>
            </a:endParaRPr>
          </a:p>
          <a:p>
            <a:pPr marL="914400" lvl="2" indent="0" algn="just">
              <a:lnSpc>
                <a:spcPct val="95000"/>
              </a:lnSpc>
              <a:spcBef>
                <a:spcPct val="0"/>
              </a:spcBef>
              <a:spcAft>
                <a:spcPct val="0"/>
              </a:spcAft>
              <a:buClrTx/>
              <a:buSzTx/>
              <a:buFont typeface="Arial" panose="020B0604020202020204" pitchFamily="34" charset="0"/>
              <a:buNone/>
            </a:pPr>
            <a:r>
              <a:rPr lang="zh-CN" altLang="en-US" sz="2200" dirty="0">
                <a:latin typeface="Times New Roman" panose="02020603050405020304" pitchFamily="18" charset="0"/>
                <a:ea typeface="楷体_GB2312"/>
              </a:rPr>
              <a:t>POP     DS</a:t>
            </a:r>
            <a:endParaRPr lang="zh-CN" altLang="en-US" sz="2200" dirty="0">
              <a:solidFill>
                <a:schemeClr val="tx1"/>
              </a:solidFill>
              <a:latin typeface="楷体_GB2312"/>
              <a:ea typeface="楷体_GB2312"/>
            </a:endParaRPr>
          </a:p>
          <a:p>
            <a:pPr marL="914400" lvl="2" indent="0" algn="just">
              <a:lnSpc>
                <a:spcPct val="95000"/>
              </a:lnSpc>
              <a:spcBef>
                <a:spcPct val="0"/>
              </a:spcBef>
              <a:spcAft>
                <a:spcPct val="0"/>
              </a:spcAft>
              <a:buClrTx/>
              <a:buSzTx/>
              <a:buFont typeface="Arial" panose="020B0604020202020204" pitchFamily="34" charset="0"/>
              <a:buNone/>
            </a:pPr>
            <a:r>
              <a:rPr lang="zh-CN" altLang="en-US" sz="2200" dirty="0">
                <a:latin typeface="Times New Roman" panose="02020603050405020304" pitchFamily="18" charset="0"/>
                <a:ea typeface="楷体_GB2312"/>
              </a:rPr>
              <a:t>MOV   AL,  08H</a:t>
            </a:r>
            <a:endParaRPr lang="zh-CN" altLang="en-US" sz="2200" dirty="0">
              <a:latin typeface="Times New Roman" panose="02020603050405020304" pitchFamily="18" charset="0"/>
              <a:ea typeface="楷体_GB2312"/>
            </a:endParaRPr>
          </a:p>
          <a:p>
            <a:pPr marL="914400" lvl="2" indent="0" algn="just">
              <a:lnSpc>
                <a:spcPct val="95000"/>
              </a:lnSpc>
              <a:spcBef>
                <a:spcPct val="0"/>
              </a:spcBef>
              <a:spcAft>
                <a:spcPct val="0"/>
              </a:spcAft>
              <a:buClrTx/>
              <a:buSzTx/>
              <a:buFont typeface="Arial" panose="020B0604020202020204" pitchFamily="34" charset="0"/>
              <a:buNone/>
            </a:pPr>
            <a:r>
              <a:rPr lang="zh-CN" altLang="en-US" sz="2200" dirty="0">
                <a:latin typeface="Times New Roman" panose="02020603050405020304" pitchFamily="18" charset="0"/>
                <a:ea typeface="楷体_GB2312"/>
              </a:rPr>
              <a:t>MOV   AH,  25H</a:t>
            </a:r>
            <a:endParaRPr lang="zh-CN" altLang="en-US" sz="2200" dirty="0">
              <a:latin typeface="Times New Roman" panose="02020603050405020304" pitchFamily="18" charset="0"/>
              <a:ea typeface="楷体_GB2312"/>
            </a:endParaRPr>
          </a:p>
          <a:p>
            <a:pPr marL="914400" lvl="2" indent="0" algn="just">
              <a:lnSpc>
                <a:spcPct val="95000"/>
              </a:lnSpc>
              <a:spcBef>
                <a:spcPct val="0"/>
              </a:spcBef>
              <a:spcAft>
                <a:spcPct val="0"/>
              </a:spcAft>
              <a:buClrTx/>
              <a:buSzTx/>
              <a:buFont typeface="Arial" panose="020B0604020202020204" pitchFamily="34" charset="0"/>
              <a:buNone/>
            </a:pPr>
            <a:r>
              <a:rPr lang="zh-CN" altLang="en-US" sz="2200" dirty="0">
                <a:latin typeface="Times New Roman" panose="02020603050405020304" pitchFamily="18" charset="0"/>
                <a:ea typeface="楷体_GB2312"/>
              </a:rPr>
              <a:t>INT      21H</a:t>
            </a:r>
            <a:endParaRPr lang="zh-CN" altLang="en-US" sz="2200" dirty="0">
              <a:solidFill>
                <a:schemeClr val="tx1"/>
              </a:solidFill>
              <a:latin typeface="Times New Roman" panose="02020603050405020304" pitchFamily="18" charset="0"/>
              <a:ea typeface="楷体_GB2312"/>
            </a:endParaRPr>
          </a:p>
          <a:p>
            <a:pPr marL="914400" lvl="2" indent="0" algn="just">
              <a:lnSpc>
                <a:spcPct val="95000"/>
              </a:lnSpc>
              <a:spcBef>
                <a:spcPct val="0"/>
              </a:spcBef>
              <a:spcAft>
                <a:spcPct val="0"/>
              </a:spcAft>
              <a:buClrTx/>
              <a:buSzTx/>
              <a:buFont typeface="Arial" panose="020B0604020202020204" pitchFamily="34" charset="0"/>
              <a:buNone/>
            </a:pPr>
            <a:r>
              <a:rPr lang="zh-CN" altLang="en-US" sz="2200" dirty="0">
                <a:solidFill>
                  <a:schemeClr val="tx1"/>
                </a:solidFill>
                <a:latin typeface="Times New Roman" panose="02020603050405020304" pitchFamily="18" charset="0"/>
                <a:ea typeface="楷体_GB2312"/>
              </a:rPr>
              <a:t>MOV   AH,  4CH                   ;返回DOS</a:t>
            </a:r>
            <a:endParaRPr lang="zh-CN" altLang="en-US" sz="2200" dirty="0">
              <a:solidFill>
                <a:schemeClr val="tx1"/>
              </a:solidFill>
              <a:latin typeface="Times New Roman" panose="02020603050405020304" pitchFamily="18" charset="0"/>
              <a:ea typeface="楷体_GB2312"/>
            </a:endParaRPr>
          </a:p>
          <a:p>
            <a:pPr marL="914400" lvl="2" indent="0" algn="just">
              <a:lnSpc>
                <a:spcPct val="95000"/>
              </a:lnSpc>
              <a:spcBef>
                <a:spcPct val="0"/>
              </a:spcBef>
              <a:spcAft>
                <a:spcPct val="0"/>
              </a:spcAft>
              <a:buClrTx/>
              <a:buSzTx/>
              <a:buFont typeface="Arial" panose="020B0604020202020204" pitchFamily="34" charset="0"/>
              <a:buNone/>
            </a:pPr>
            <a:r>
              <a:rPr lang="zh-CN" altLang="en-US" sz="2200" dirty="0">
                <a:solidFill>
                  <a:schemeClr val="tx1"/>
                </a:solidFill>
                <a:latin typeface="Times New Roman" panose="02020603050405020304" pitchFamily="18" charset="0"/>
                <a:ea typeface="楷体_GB2312"/>
              </a:rPr>
              <a:t>INT      21H</a:t>
            </a:r>
            <a:r>
              <a:rPr lang="zh-CN" altLang="en-US" sz="2400" dirty="0">
                <a:solidFill>
                  <a:schemeClr val="tx1"/>
                </a:solidFill>
                <a:latin typeface="Times New Roman" panose="02020603050405020304" pitchFamily="18" charset="0"/>
                <a:ea typeface="楷体_GB2312"/>
              </a:rPr>
              <a:t>                       </a:t>
            </a:r>
            <a:endParaRPr lang="zh-CN" altLang="en-US" sz="2400" dirty="0">
              <a:solidFill>
                <a:schemeClr val="tx1"/>
              </a:solidFill>
              <a:latin typeface="Times New Roman" panose="02020603050405020304" pitchFamily="18" charset="0"/>
              <a:ea typeface="楷体_GB2312"/>
            </a:endParaRPr>
          </a:p>
        </p:txBody>
      </p:sp>
    </p:spTree>
  </p:cSld>
  <p:clrMapOvr>
    <a:masterClrMapping/>
  </p:clrMapOvr>
  <p:transition spd="slow">
    <p:zoom/>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8770" name="文本框 218113"/>
          <p:cNvSpPr txBox="1"/>
          <p:nvPr/>
        </p:nvSpPr>
        <p:spPr>
          <a:xfrm>
            <a:off x="323850" y="549275"/>
            <a:ext cx="8534400" cy="5451475"/>
          </a:xfrm>
          <a:prstGeom prst="rect">
            <a:avLst/>
          </a:prstGeom>
          <a:solidFill>
            <a:schemeClr val="bg1"/>
          </a:solid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0"/>
              </a:spcAft>
              <a:buClrTx/>
              <a:buSzTx/>
              <a:buFont typeface="Arial" panose="020B0604020202020204" pitchFamily="34" charset="0"/>
              <a:buNone/>
            </a:pPr>
            <a:r>
              <a:rPr lang="en-US" altLang="zh-CN" sz="2200" dirty="0">
                <a:solidFill>
                  <a:srgbClr val="FF00FF"/>
                </a:solidFill>
                <a:latin typeface="Times New Roman" panose="02020603050405020304" pitchFamily="18" charset="0"/>
                <a:ea typeface="楷体_GB2312"/>
              </a:rPr>
              <a:t>display      PROC</a:t>
            </a:r>
            <a:r>
              <a:rPr lang="en-US" altLang="zh-CN" sz="2200" dirty="0">
                <a:solidFill>
                  <a:schemeClr val="tx1"/>
                </a:solidFill>
                <a:latin typeface="Times New Roman" panose="02020603050405020304" pitchFamily="18" charset="0"/>
                <a:ea typeface="楷体_GB2312"/>
              </a:rPr>
              <a:t>                         </a:t>
            </a:r>
            <a:r>
              <a:rPr lang="en-US" altLang="zh-CN" sz="2200" dirty="0">
                <a:solidFill>
                  <a:srgbClr val="0000FF"/>
                </a:solidFill>
                <a:latin typeface="Times New Roman" panose="02020603050405020304" pitchFamily="18" charset="0"/>
                <a:ea typeface="楷体_GB2312"/>
              </a:rPr>
              <a:t>;</a:t>
            </a:r>
            <a:r>
              <a:rPr lang="zh-CN" altLang="en-US" sz="2200" dirty="0">
                <a:solidFill>
                  <a:srgbClr val="0000FF"/>
                </a:solidFill>
                <a:latin typeface="楷体_GB2312"/>
                <a:ea typeface="楷体_GB2312"/>
              </a:rPr>
              <a:t>自编的</a:t>
            </a:r>
            <a:r>
              <a:rPr lang="en-US" altLang="zh-CN" sz="2200" dirty="0">
                <a:solidFill>
                  <a:srgbClr val="0000FF"/>
                </a:solidFill>
                <a:latin typeface="Times New Roman" panose="02020603050405020304" pitchFamily="18" charset="0"/>
                <a:ea typeface="楷体_GB2312"/>
              </a:rPr>
              <a:t>08H</a:t>
            </a:r>
            <a:r>
              <a:rPr lang="zh-CN" altLang="en-US" sz="2200" dirty="0">
                <a:solidFill>
                  <a:srgbClr val="0000FF"/>
                </a:solidFill>
                <a:latin typeface="楷体_GB2312"/>
                <a:ea typeface="楷体_GB2312"/>
              </a:rPr>
              <a:t>类型中断子程</a:t>
            </a:r>
            <a:endParaRPr lang="zh-CN" altLang="en-US" sz="2200" dirty="0">
              <a:solidFill>
                <a:schemeClr val="tx1"/>
              </a:solidFill>
              <a:latin typeface="Times New Roman" panose="02020603050405020304" pitchFamily="18" charset="0"/>
              <a:ea typeface="楷体_GB2312"/>
            </a:endParaRPr>
          </a:p>
          <a:p>
            <a:pPr marL="457200" lvl="1" indent="0" algn="just">
              <a:lnSpc>
                <a:spcPct val="100000"/>
              </a:lnSpc>
              <a:spcBef>
                <a:spcPct val="0"/>
              </a:spcBef>
              <a:spcAft>
                <a:spcPct val="0"/>
              </a:spcAft>
              <a:buClrTx/>
              <a:buSzTx/>
              <a:buFont typeface="Arial" panose="020B0604020202020204" pitchFamily="34" charset="0"/>
              <a:buNone/>
            </a:pPr>
            <a:r>
              <a:rPr lang="zh-CN" altLang="en-US" sz="2200" dirty="0">
                <a:solidFill>
                  <a:srgbClr val="0000FF"/>
                </a:solidFill>
                <a:latin typeface="Times New Roman" panose="02020603050405020304" pitchFamily="18" charset="0"/>
                <a:ea typeface="楷体_GB2312"/>
              </a:rPr>
              <a:t>           </a:t>
            </a:r>
            <a:r>
              <a:rPr lang="en-US" altLang="zh-CN" sz="2200" dirty="0">
                <a:latin typeface="Times New Roman" panose="02020603050405020304" pitchFamily="18" charset="0"/>
                <a:ea typeface="楷体_GB2312"/>
              </a:rPr>
              <a:t>PUSH   AX</a:t>
            </a:r>
            <a:r>
              <a:rPr lang="en-US" altLang="zh-CN" sz="2200" dirty="0">
                <a:solidFill>
                  <a:srgbClr val="0000FF"/>
                </a:solidFill>
                <a:latin typeface="Times New Roman" panose="02020603050405020304" pitchFamily="18" charset="0"/>
                <a:ea typeface="楷体_GB2312"/>
              </a:rPr>
              <a:t>                  </a:t>
            </a:r>
            <a:r>
              <a:rPr lang="en-US" altLang="zh-CN" sz="2200" dirty="0">
                <a:latin typeface="楷体_GB2312"/>
                <a:ea typeface="楷体_GB2312"/>
              </a:rPr>
              <a:t>;</a:t>
            </a:r>
            <a:r>
              <a:rPr lang="zh-CN" altLang="en-US" sz="2200" dirty="0">
                <a:latin typeface="楷体_GB2312"/>
                <a:ea typeface="楷体_GB2312"/>
              </a:rPr>
              <a:t>保护现场</a:t>
            </a:r>
            <a:endParaRPr lang="zh-CN" altLang="en-US" sz="2200" dirty="0">
              <a:solidFill>
                <a:srgbClr val="0000FF"/>
              </a:solidFill>
              <a:latin typeface="Times New Roman" panose="02020603050405020304" pitchFamily="18" charset="0"/>
              <a:ea typeface="楷体_GB2312"/>
            </a:endParaRPr>
          </a:p>
          <a:p>
            <a:pPr marL="457200" lvl="1" indent="0" algn="just">
              <a:lnSpc>
                <a:spcPct val="100000"/>
              </a:lnSpc>
              <a:spcBef>
                <a:spcPct val="0"/>
              </a:spcBef>
              <a:spcAft>
                <a:spcPct val="0"/>
              </a:spcAft>
              <a:buClrTx/>
              <a:buSzTx/>
              <a:buFont typeface="Arial" panose="020B0604020202020204" pitchFamily="34" charset="0"/>
              <a:buNone/>
            </a:pPr>
            <a:r>
              <a:rPr lang="zh-CN" altLang="en-US" sz="2200" dirty="0">
                <a:solidFill>
                  <a:srgbClr val="0000FF"/>
                </a:solidFill>
                <a:latin typeface="Times New Roman" panose="02020603050405020304" pitchFamily="18" charset="0"/>
                <a:ea typeface="楷体_GB2312"/>
              </a:rPr>
              <a:t>           </a:t>
            </a:r>
            <a:r>
              <a:rPr lang="en-US" altLang="zh-CN" sz="2200" dirty="0">
                <a:solidFill>
                  <a:srgbClr val="FF0000"/>
                </a:solidFill>
                <a:latin typeface="Times New Roman" panose="02020603050405020304" pitchFamily="18" charset="0"/>
                <a:ea typeface="楷体_GB2312"/>
              </a:rPr>
              <a:t>INC      CX                  </a:t>
            </a:r>
            <a:r>
              <a:rPr lang="en-US" altLang="zh-CN" sz="2200" dirty="0">
                <a:latin typeface="Times New Roman" panose="02020603050405020304" pitchFamily="18" charset="0"/>
                <a:ea typeface="楷体_GB2312"/>
              </a:rPr>
              <a:t>;</a:t>
            </a:r>
            <a:r>
              <a:rPr lang="zh-CN" altLang="en-US" sz="2200" dirty="0">
                <a:latin typeface="Times New Roman" panose="02020603050405020304" pitchFamily="18" charset="0"/>
                <a:ea typeface="楷体_GB2312"/>
              </a:rPr>
              <a:t>执行中断子程一次，计数值加</a:t>
            </a:r>
            <a:r>
              <a:rPr lang="en-US" altLang="zh-CN" sz="2200" dirty="0">
                <a:latin typeface="Times New Roman" panose="02020603050405020304" pitchFamily="18" charset="0"/>
                <a:ea typeface="楷体_GB2312"/>
              </a:rPr>
              <a:t>1</a:t>
            </a:r>
            <a:endParaRPr lang="en-US" altLang="zh-CN" sz="2200" dirty="0">
              <a:solidFill>
                <a:srgbClr val="FF0000"/>
              </a:solidFill>
              <a:latin typeface="Times New Roman" panose="02020603050405020304" pitchFamily="18" charset="0"/>
              <a:ea typeface="楷体_GB2312"/>
            </a:endParaRPr>
          </a:p>
          <a:p>
            <a:pPr marL="457200" lvl="1" indent="0" algn="just">
              <a:lnSpc>
                <a:spcPct val="100000"/>
              </a:lnSpc>
              <a:spcBef>
                <a:spcPct val="0"/>
              </a:spcBef>
              <a:spcAft>
                <a:spcPct val="0"/>
              </a:spcAft>
              <a:buClrTx/>
              <a:buSzTx/>
              <a:buFont typeface="Arial" panose="020B0604020202020204" pitchFamily="34" charset="0"/>
              <a:buNone/>
            </a:pPr>
            <a:r>
              <a:rPr lang="en-US" altLang="zh-CN" sz="2200" dirty="0">
                <a:solidFill>
                  <a:srgbClr val="FF0000"/>
                </a:solidFill>
                <a:latin typeface="Times New Roman" panose="02020603050405020304" pitchFamily="18" charset="0"/>
                <a:ea typeface="楷体_GB2312"/>
              </a:rPr>
              <a:t>          CMP    CX,  91</a:t>
            </a:r>
            <a:endParaRPr lang="en-US" altLang="zh-CN" sz="2200" dirty="0">
              <a:solidFill>
                <a:srgbClr val="FF0000"/>
              </a:solidFill>
              <a:latin typeface="Times New Roman" panose="02020603050405020304" pitchFamily="18" charset="0"/>
              <a:ea typeface="楷体_GB2312"/>
            </a:endParaRPr>
          </a:p>
          <a:p>
            <a:pPr marL="457200" lvl="1" indent="0" algn="just">
              <a:lnSpc>
                <a:spcPct val="100000"/>
              </a:lnSpc>
              <a:spcBef>
                <a:spcPct val="0"/>
              </a:spcBef>
              <a:spcAft>
                <a:spcPct val="0"/>
              </a:spcAft>
              <a:buClrTx/>
              <a:buSzTx/>
              <a:buFont typeface="Arial" panose="020B0604020202020204" pitchFamily="34" charset="0"/>
              <a:buNone/>
            </a:pPr>
            <a:r>
              <a:rPr lang="en-US" altLang="zh-CN" sz="2200" dirty="0">
                <a:solidFill>
                  <a:srgbClr val="0000FF"/>
                </a:solidFill>
                <a:latin typeface="Times New Roman" panose="02020603050405020304" pitchFamily="18" charset="0"/>
                <a:ea typeface="楷体_GB2312"/>
              </a:rPr>
              <a:t>          </a:t>
            </a:r>
            <a:r>
              <a:rPr lang="en-US" altLang="zh-CN" sz="2200" dirty="0">
                <a:latin typeface="Times New Roman" panose="02020603050405020304" pitchFamily="18" charset="0"/>
                <a:ea typeface="楷体_GB2312"/>
              </a:rPr>
              <a:t>JNZ      exit</a:t>
            </a:r>
            <a:r>
              <a:rPr lang="en-US" altLang="zh-CN" sz="2200" dirty="0">
                <a:solidFill>
                  <a:srgbClr val="0000FF"/>
                </a:solidFill>
                <a:latin typeface="Times New Roman" panose="02020603050405020304" pitchFamily="18" charset="0"/>
                <a:ea typeface="楷体_GB2312"/>
              </a:rPr>
              <a:t>                  </a:t>
            </a:r>
            <a:r>
              <a:rPr lang="en-US" altLang="zh-CN" sz="2200" dirty="0">
                <a:latin typeface="Times New Roman" panose="02020603050405020304" pitchFamily="18" charset="0"/>
                <a:ea typeface="楷体_GB2312"/>
              </a:rPr>
              <a:t>;</a:t>
            </a:r>
            <a:r>
              <a:rPr lang="zh-CN" altLang="en-US" sz="2200" dirty="0">
                <a:latin typeface="Times New Roman" panose="02020603050405020304" pitchFamily="18" charset="0"/>
                <a:ea typeface="楷体_GB2312"/>
              </a:rPr>
              <a:t>到</a:t>
            </a:r>
            <a:r>
              <a:rPr lang="en-US" altLang="zh-CN" sz="2200" dirty="0">
                <a:latin typeface="Times New Roman" panose="02020603050405020304" pitchFamily="18" charset="0"/>
                <a:ea typeface="楷体_GB2312"/>
              </a:rPr>
              <a:t>91</a:t>
            </a:r>
            <a:r>
              <a:rPr lang="zh-CN" altLang="en-US" sz="2200" dirty="0">
                <a:latin typeface="Times New Roman" panose="02020603050405020304" pitchFamily="18" charset="0"/>
                <a:ea typeface="楷体_GB2312"/>
              </a:rPr>
              <a:t>次了吗？未到跳转至</a:t>
            </a:r>
            <a:r>
              <a:rPr lang="en-US" altLang="zh-CN" sz="2200" dirty="0">
                <a:latin typeface="Times New Roman" panose="02020603050405020304" pitchFamily="18" charset="0"/>
                <a:ea typeface="楷体_GB2312"/>
              </a:rPr>
              <a:t>exit</a:t>
            </a:r>
            <a:endParaRPr lang="en-US" altLang="zh-CN" sz="2200" dirty="0">
              <a:latin typeface="Times New Roman" panose="02020603050405020304" pitchFamily="18" charset="0"/>
              <a:ea typeface="楷体_GB2312"/>
            </a:endParaRPr>
          </a:p>
          <a:p>
            <a:pPr marL="457200" lvl="1" indent="0" algn="just">
              <a:lnSpc>
                <a:spcPct val="100000"/>
              </a:lnSpc>
              <a:spcBef>
                <a:spcPct val="0"/>
              </a:spcBef>
              <a:spcAft>
                <a:spcPct val="0"/>
              </a:spcAft>
              <a:buClrTx/>
              <a:buSzTx/>
              <a:buFont typeface="Arial" panose="020B0604020202020204" pitchFamily="34" charset="0"/>
              <a:buNone/>
            </a:pPr>
            <a:r>
              <a:rPr lang="en-US" altLang="zh-CN" sz="2200" dirty="0">
                <a:solidFill>
                  <a:srgbClr val="0000FF"/>
                </a:solidFill>
                <a:latin typeface="Times New Roman" panose="02020603050405020304" pitchFamily="18" charset="0"/>
                <a:ea typeface="楷体_GB2312"/>
              </a:rPr>
              <a:t>          </a:t>
            </a:r>
            <a:r>
              <a:rPr lang="en-US" altLang="zh-CN" sz="2200" dirty="0">
                <a:solidFill>
                  <a:srgbClr val="FF00FF"/>
                </a:solidFill>
                <a:latin typeface="Times New Roman" panose="02020603050405020304" pitchFamily="18" charset="0"/>
                <a:ea typeface="楷体_GB2312"/>
              </a:rPr>
              <a:t>MOV    DL,  ’A’</a:t>
            </a:r>
            <a:r>
              <a:rPr lang="en-US" altLang="zh-CN" sz="2200" dirty="0">
                <a:solidFill>
                  <a:srgbClr val="FF33CC"/>
                </a:solidFill>
                <a:latin typeface="Times New Roman" panose="02020603050405020304" pitchFamily="18" charset="0"/>
                <a:ea typeface="楷体_GB2312"/>
              </a:rPr>
              <a:t>          </a:t>
            </a:r>
            <a:r>
              <a:rPr lang="en-US" altLang="zh-CN" sz="2200" dirty="0">
                <a:latin typeface="Times New Roman" panose="02020603050405020304" pitchFamily="18" charset="0"/>
                <a:ea typeface="楷体_GB2312"/>
              </a:rPr>
              <a:t>;</a:t>
            </a:r>
            <a:r>
              <a:rPr lang="zh-CN" altLang="en-US" sz="2200" dirty="0">
                <a:latin typeface="Times New Roman" panose="02020603050405020304" pitchFamily="18" charset="0"/>
                <a:ea typeface="楷体_GB2312"/>
              </a:rPr>
              <a:t>到，显示 ‘</a:t>
            </a:r>
            <a:r>
              <a:rPr lang="en-US" altLang="zh-CN" sz="2200" dirty="0">
                <a:latin typeface="Times New Roman" panose="02020603050405020304" pitchFamily="18" charset="0"/>
                <a:ea typeface="楷体_GB2312"/>
              </a:rPr>
              <a:t>A’</a:t>
            </a:r>
            <a:endParaRPr lang="en-US" altLang="zh-CN" sz="2200" dirty="0">
              <a:solidFill>
                <a:srgbClr val="FF33CC"/>
              </a:solidFill>
              <a:latin typeface="Times New Roman" panose="02020603050405020304" pitchFamily="18" charset="0"/>
              <a:ea typeface="楷体_GB2312"/>
            </a:endParaRPr>
          </a:p>
          <a:p>
            <a:pPr marL="457200" lvl="1" indent="0" algn="just">
              <a:lnSpc>
                <a:spcPct val="100000"/>
              </a:lnSpc>
              <a:spcBef>
                <a:spcPct val="0"/>
              </a:spcBef>
              <a:spcAft>
                <a:spcPct val="0"/>
              </a:spcAft>
              <a:buClrTx/>
              <a:buSzTx/>
              <a:buFont typeface="Arial" panose="020B0604020202020204" pitchFamily="34" charset="0"/>
              <a:buNone/>
            </a:pPr>
            <a:r>
              <a:rPr lang="en-US" altLang="zh-CN" sz="2200" dirty="0">
                <a:solidFill>
                  <a:srgbClr val="FF33CC"/>
                </a:solidFill>
                <a:latin typeface="Times New Roman" panose="02020603050405020304" pitchFamily="18" charset="0"/>
                <a:ea typeface="楷体_GB2312"/>
              </a:rPr>
              <a:t>          </a:t>
            </a:r>
            <a:r>
              <a:rPr lang="en-US" altLang="zh-CN" sz="2200" dirty="0">
                <a:solidFill>
                  <a:srgbClr val="FF00FF"/>
                </a:solidFill>
                <a:latin typeface="Times New Roman" panose="02020603050405020304" pitchFamily="18" charset="0"/>
                <a:ea typeface="楷体_GB2312"/>
              </a:rPr>
              <a:t>MOV   AH,  02</a:t>
            </a:r>
            <a:endParaRPr lang="en-US" altLang="zh-CN" sz="2200" dirty="0">
              <a:solidFill>
                <a:srgbClr val="FF00FF"/>
              </a:solidFill>
              <a:latin typeface="Times New Roman" panose="02020603050405020304" pitchFamily="18" charset="0"/>
              <a:ea typeface="楷体_GB2312"/>
            </a:endParaRPr>
          </a:p>
          <a:p>
            <a:pPr marL="457200" lvl="1" indent="0" algn="just">
              <a:lnSpc>
                <a:spcPct val="100000"/>
              </a:lnSpc>
              <a:spcBef>
                <a:spcPct val="0"/>
              </a:spcBef>
              <a:spcAft>
                <a:spcPct val="0"/>
              </a:spcAft>
              <a:buClrTx/>
              <a:buSzTx/>
              <a:buFont typeface="Arial" panose="020B0604020202020204" pitchFamily="34" charset="0"/>
              <a:buNone/>
            </a:pPr>
            <a:r>
              <a:rPr lang="en-US" altLang="zh-CN" sz="2200" dirty="0">
                <a:solidFill>
                  <a:srgbClr val="FF00FF"/>
                </a:solidFill>
                <a:latin typeface="Times New Roman" panose="02020603050405020304" pitchFamily="18" charset="0"/>
                <a:ea typeface="楷体_GB2312"/>
              </a:rPr>
              <a:t>          INT      21H</a:t>
            </a:r>
            <a:endParaRPr lang="en-US" altLang="zh-CN" sz="2200" dirty="0">
              <a:solidFill>
                <a:srgbClr val="0000FF"/>
              </a:solidFill>
              <a:latin typeface="Times New Roman" panose="02020603050405020304" pitchFamily="18" charset="0"/>
              <a:ea typeface="楷体_GB2312"/>
            </a:endParaRPr>
          </a:p>
          <a:p>
            <a:pPr marL="457200" lvl="1" indent="0" algn="just">
              <a:lnSpc>
                <a:spcPct val="100000"/>
              </a:lnSpc>
              <a:spcBef>
                <a:spcPct val="0"/>
              </a:spcBef>
              <a:spcAft>
                <a:spcPct val="0"/>
              </a:spcAft>
              <a:buClrTx/>
              <a:buSzTx/>
              <a:buFont typeface="Arial" panose="020B0604020202020204" pitchFamily="34" charset="0"/>
              <a:buNone/>
            </a:pPr>
            <a:r>
              <a:rPr lang="en-US" altLang="zh-CN" sz="2200" dirty="0">
                <a:solidFill>
                  <a:srgbClr val="0000FF"/>
                </a:solidFill>
                <a:latin typeface="Times New Roman" panose="02020603050405020304" pitchFamily="18" charset="0"/>
                <a:ea typeface="楷体_GB2312"/>
              </a:rPr>
              <a:t>          </a:t>
            </a:r>
            <a:r>
              <a:rPr lang="en-US" altLang="zh-CN" sz="2200" dirty="0">
                <a:latin typeface="Times New Roman" panose="02020603050405020304" pitchFamily="18" charset="0"/>
                <a:ea typeface="楷体_GB2312"/>
              </a:rPr>
              <a:t>MOV   CX,  0</a:t>
            </a:r>
            <a:r>
              <a:rPr lang="en-US" altLang="zh-CN" sz="2200" dirty="0">
                <a:solidFill>
                  <a:srgbClr val="0000FF"/>
                </a:solidFill>
                <a:latin typeface="Times New Roman" panose="02020603050405020304" pitchFamily="18" charset="0"/>
                <a:ea typeface="楷体_GB2312"/>
              </a:rPr>
              <a:t>               </a:t>
            </a:r>
            <a:r>
              <a:rPr lang="en-US" altLang="zh-CN" sz="2200" dirty="0">
                <a:latin typeface="Times New Roman" panose="02020603050405020304" pitchFamily="18" charset="0"/>
                <a:ea typeface="楷体_GB2312"/>
              </a:rPr>
              <a:t>;</a:t>
            </a:r>
            <a:r>
              <a:rPr lang="zh-CN" altLang="en-US" sz="2200" dirty="0">
                <a:latin typeface="Times New Roman" panose="02020603050405020304" pitchFamily="18" charset="0"/>
                <a:ea typeface="楷体_GB2312"/>
              </a:rPr>
              <a:t>清计数值为</a:t>
            </a:r>
            <a:r>
              <a:rPr lang="en-US" altLang="zh-CN" sz="2200" dirty="0">
                <a:latin typeface="Times New Roman" panose="02020603050405020304" pitchFamily="18" charset="0"/>
                <a:ea typeface="楷体_GB2312"/>
              </a:rPr>
              <a:t>0</a:t>
            </a:r>
            <a:r>
              <a:rPr lang="zh-CN" altLang="en-US" sz="2200" dirty="0">
                <a:latin typeface="Times New Roman" panose="02020603050405020304" pitchFamily="18" charset="0"/>
                <a:ea typeface="楷体_GB2312"/>
              </a:rPr>
              <a:t>，重新计时</a:t>
            </a:r>
            <a:endParaRPr lang="zh-CN" altLang="en-US" sz="2200" dirty="0">
              <a:solidFill>
                <a:srgbClr val="0000FF"/>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en-US" altLang="zh-CN" sz="2200" dirty="0">
                <a:solidFill>
                  <a:srgbClr val="FF0000"/>
                </a:solidFill>
                <a:latin typeface="Times New Roman" panose="02020603050405020304" pitchFamily="18" charset="0"/>
                <a:ea typeface="楷体_GB2312"/>
              </a:rPr>
              <a:t>exit:         MOV    AL,  20H</a:t>
            </a:r>
            <a:r>
              <a:rPr lang="en-US" altLang="zh-CN" sz="2200" dirty="0">
                <a:solidFill>
                  <a:schemeClr val="tx1"/>
                </a:solidFill>
                <a:latin typeface="Times New Roman" panose="02020603050405020304" pitchFamily="18" charset="0"/>
                <a:ea typeface="楷体_GB2312"/>
              </a:rPr>
              <a:t>          ;</a:t>
            </a:r>
            <a:r>
              <a:rPr lang="zh-CN" altLang="en-US" sz="2200" dirty="0">
                <a:solidFill>
                  <a:schemeClr val="tx1"/>
                </a:solidFill>
                <a:latin typeface="Times New Roman" panose="02020603050405020304" pitchFamily="18" charset="0"/>
                <a:ea typeface="楷体_GB2312"/>
              </a:rPr>
              <a:t>发中断结束命令</a:t>
            </a:r>
            <a:r>
              <a:rPr lang="en-US" altLang="zh-CN" sz="2200" dirty="0">
                <a:solidFill>
                  <a:schemeClr val="tx1"/>
                </a:solidFill>
                <a:latin typeface="Times New Roman" panose="02020603050405020304" pitchFamily="18" charset="0"/>
                <a:ea typeface="楷体_GB2312"/>
              </a:rPr>
              <a:t>EOI</a:t>
            </a:r>
            <a:endParaRPr lang="en-US" altLang="zh-CN" sz="22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en-US" altLang="zh-CN" sz="2200" dirty="0">
                <a:solidFill>
                  <a:schemeClr val="tx1"/>
                </a:solidFill>
                <a:latin typeface="Times New Roman" panose="02020603050405020304" pitchFamily="18" charset="0"/>
                <a:ea typeface="楷体_GB2312"/>
              </a:rPr>
              <a:t>                 </a:t>
            </a:r>
            <a:r>
              <a:rPr lang="en-US" altLang="zh-CN" sz="2200" dirty="0">
                <a:solidFill>
                  <a:srgbClr val="FF0000"/>
                </a:solidFill>
                <a:latin typeface="Times New Roman" panose="02020603050405020304" pitchFamily="18" charset="0"/>
                <a:ea typeface="楷体_GB2312"/>
              </a:rPr>
              <a:t>OUT    20H,  AL</a:t>
            </a:r>
            <a:endParaRPr lang="en-US" altLang="zh-CN" sz="2200" dirty="0">
              <a:solidFill>
                <a:schemeClr val="tx1"/>
              </a:solidFill>
              <a:latin typeface="Times New Roman" panose="02020603050405020304" pitchFamily="18" charset="0"/>
              <a:ea typeface="楷体_GB2312"/>
            </a:endParaRPr>
          </a:p>
          <a:p>
            <a:pPr marL="457200" lvl="1" indent="0" algn="just">
              <a:lnSpc>
                <a:spcPct val="100000"/>
              </a:lnSpc>
              <a:spcBef>
                <a:spcPct val="0"/>
              </a:spcBef>
              <a:spcAft>
                <a:spcPct val="0"/>
              </a:spcAft>
              <a:buClrTx/>
              <a:buSzTx/>
              <a:buFont typeface="Arial" panose="020B0604020202020204" pitchFamily="34" charset="0"/>
              <a:buNone/>
            </a:pPr>
            <a:r>
              <a:rPr lang="en-US" altLang="zh-CN" sz="2200" dirty="0">
                <a:solidFill>
                  <a:srgbClr val="0000FF"/>
                </a:solidFill>
                <a:latin typeface="Times New Roman" panose="02020603050405020304" pitchFamily="18" charset="0"/>
                <a:ea typeface="楷体_GB2312"/>
              </a:rPr>
              <a:t>          </a:t>
            </a:r>
            <a:r>
              <a:rPr lang="en-US" altLang="zh-CN" sz="2200" dirty="0">
                <a:latin typeface="Times New Roman" panose="02020603050405020304" pitchFamily="18" charset="0"/>
                <a:ea typeface="楷体_GB2312"/>
              </a:rPr>
              <a:t>POP    AX</a:t>
            </a:r>
            <a:r>
              <a:rPr lang="en-US" altLang="zh-CN" sz="2200" dirty="0">
                <a:solidFill>
                  <a:srgbClr val="0000FF"/>
                </a:solidFill>
                <a:latin typeface="Times New Roman" panose="02020603050405020304" pitchFamily="18" charset="0"/>
                <a:ea typeface="楷体_GB2312"/>
              </a:rPr>
              <a:t>                     </a:t>
            </a:r>
            <a:r>
              <a:rPr lang="en-US" altLang="zh-CN" sz="2200" dirty="0">
                <a:latin typeface="楷体_GB2312"/>
                <a:ea typeface="楷体_GB2312"/>
              </a:rPr>
              <a:t>;</a:t>
            </a:r>
            <a:r>
              <a:rPr lang="zh-CN" altLang="en-US" sz="2200" dirty="0">
                <a:latin typeface="楷体_GB2312"/>
                <a:ea typeface="楷体_GB2312"/>
              </a:rPr>
              <a:t>恢复现场</a:t>
            </a:r>
            <a:endParaRPr lang="zh-CN" altLang="en-US" sz="2200" dirty="0">
              <a:solidFill>
                <a:srgbClr val="0000FF"/>
              </a:solidFill>
              <a:latin typeface="Times New Roman" panose="02020603050405020304" pitchFamily="18" charset="0"/>
              <a:ea typeface="楷体_GB2312"/>
            </a:endParaRPr>
          </a:p>
          <a:p>
            <a:pPr marL="457200" lvl="1" indent="0" algn="just">
              <a:lnSpc>
                <a:spcPct val="100000"/>
              </a:lnSpc>
              <a:spcBef>
                <a:spcPct val="0"/>
              </a:spcBef>
              <a:spcAft>
                <a:spcPct val="0"/>
              </a:spcAft>
              <a:buClrTx/>
              <a:buSzTx/>
              <a:buFont typeface="Arial" panose="020B0604020202020204" pitchFamily="34" charset="0"/>
              <a:buNone/>
            </a:pPr>
            <a:r>
              <a:rPr lang="zh-CN" altLang="en-US" sz="2200" dirty="0">
                <a:solidFill>
                  <a:srgbClr val="0000FF"/>
                </a:solidFill>
                <a:latin typeface="Times New Roman" panose="02020603050405020304" pitchFamily="18" charset="0"/>
                <a:ea typeface="楷体_GB2312"/>
              </a:rPr>
              <a:t>          </a:t>
            </a:r>
            <a:r>
              <a:rPr lang="en-US" altLang="zh-CN" sz="2200" dirty="0">
                <a:solidFill>
                  <a:srgbClr val="0000FF"/>
                </a:solidFill>
                <a:latin typeface="Times New Roman" panose="02020603050405020304" pitchFamily="18" charset="0"/>
                <a:ea typeface="楷体_GB2312"/>
              </a:rPr>
              <a:t>IRET                             </a:t>
            </a:r>
            <a:r>
              <a:rPr lang="en-US" altLang="zh-CN" sz="2200" dirty="0">
                <a:latin typeface="Times New Roman" panose="02020603050405020304" pitchFamily="18" charset="0"/>
                <a:ea typeface="楷体_GB2312"/>
              </a:rPr>
              <a:t>;</a:t>
            </a:r>
            <a:r>
              <a:rPr lang="zh-CN" altLang="en-US" sz="2200" dirty="0">
                <a:latin typeface="Times New Roman" panose="02020603050405020304" pitchFamily="18" charset="0"/>
                <a:ea typeface="楷体_GB2312"/>
              </a:rPr>
              <a:t>中断返回</a:t>
            </a:r>
            <a:endParaRPr lang="zh-CN" altLang="en-US" sz="2200" dirty="0">
              <a:solidFill>
                <a:srgbClr val="0000FF"/>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en-US" altLang="zh-CN" sz="2200" dirty="0">
                <a:solidFill>
                  <a:srgbClr val="FF00FF"/>
                </a:solidFill>
                <a:latin typeface="Times New Roman" panose="02020603050405020304" pitchFamily="18" charset="0"/>
                <a:ea typeface="楷体_GB2312"/>
              </a:rPr>
              <a:t>display    ENDP</a:t>
            </a:r>
            <a:endParaRPr lang="en-US" altLang="zh-CN" sz="22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en-US" altLang="zh-CN" sz="2200" dirty="0">
                <a:solidFill>
                  <a:schemeClr val="tx1"/>
                </a:solidFill>
                <a:latin typeface="Times New Roman" panose="02020603050405020304" pitchFamily="18" charset="0"/>
                <a:ea typeface="楷体_GB2312"/>
              </a:rPr>
              <a:t>code        ENDS</a:t>
            </a:r>
            <a:endParaRPr lang="en-US" altLang="zh-CN" sz="22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en-US" altLang="zh-CN" sz="2200" dirty="0">
                <a:solidFill>
                  <a:schemeClr val="tx1"/>
                </a:solidFill>
                <a:latin typeface="Times New Roman" panose="02020603050405020304" pitchFamily="18" charset="0"/>
                <a:ea typeface="楷体_GB2312"/>
              </a:rPr>
              <a:t>                END  start</a:t>
            </a:r>
            <a:endParaRPr lang="en-US" altLang="zh-CN" sz="2200" dirty="0">
              <a:solidFill>
                <a:schemeClr val="tx1"/>
              </a:solidFill>
              <a:latin typeface="Times New Roman" panose="02020603050405020304" pitchFamily="18" charset="0"/>
              <a:ea typeface="楷体_GB2312"/>
            </a:endParaRPr>
          </a:p>
        </p:txBody>
      </p:sp>
    </p:spTree>
  </p:cSld>
  <p:clrMapOvr>
    <a:masterClrMapping/>
  </p:clrMapOvr>
  <p:transition spd="slow">
    <p:zoom/>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89794" name="组合 219137"/>
          <p:cNvGrpSpPr/>
          <p:nvPr/>
        </p:nvGrpSpPr>
        <p:grpSpPr>
          <a:xfrm>
            <a:off x="611188" y="476250"/>
            <a:ext cx="8229600" cy="5168900"/>
            <a:chOff x="0" y="0"/>
            <a:chExt cx="5184" cy="3256"/>
          </a:xfrm>
        </p:grpSpPr>
        <p:sp>
          <p:nvSpPr>
            <p:cNvPr id="289795" name="文本框 219138"/>
            <p:cNvSpPr txBox="1"/>
            <p:nvPr/>
          </p:nvSpPr>
          <p:spPr>
            <a:xfrm>
              <a:off x="96" y="438"/>
              <a:ext cx="2400" cy="2818"/>
            </a:xfrm>
            <a:prstGeom prst="rect">
              <a:avLst/>
            </a:prstGeom>
            <a:blipFill rotWithShape="0">
              <a:blip r:embed="rId1"/>
            </a:blip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sys08     PROC</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MOV     AX, 0040H</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MOV     DS,  AX</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latin typeface="Times New Roman" panose="02020603050405020304" pitchFamily="18" charset="0"/>
                  <a:ea typeface="楷体_GB2312"/>
                </a:rPr>
                <a:t>INT       1CH</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MOV   AL,  20H</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OUT    20H,  AL</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rgbClr val="0000FF"/>
                  </a:solidFill>
                  <a:latin typeface="Times New Roman" panose="02020603050405020304" pitchFamily="18" charset="0"/>
                  <a:ea typeface="楷体_GB2312"/>
                </a:rPr>
                <a:t>IRET</a:t>
              </a:r>
              <a:endParaRPr lang="en-US" altLang="zh-CN" sz="24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sys08   ENDP</a:t>
              </a:r>
              <a:endParaRPr lang="en-US" altLang="zh-CN" sz="2400" b="0" dirty="0">
                <a:solidFill>
                  <a:schemeClr val="tx1"/>
                </a:solidFill>
                <a:latin typeface="Times New Roman" panose="02020603050405020304" pitchFamily="18" charset="0"/>
                <a:ea typeface="楷体_GB2312"/>
              </a:endParaRPr>
            </a:p>
          </p:txBody>
        </p:sp>
        <p:sp>
          <p:nvSpPr>
            <p:cNvPr id="289796" name="矩形 219139"/>
            <p:cNvSpPr/>
            <p:nvPr/>
          </p:nvSpPr>
          <p:spPr>
            <a:xfrm>
              <a:off x="0" y="0"/>
              <a:ext cx="3094" cy="288"/>
            </a:xfrm>
            <a:prstGeom prst="rect">
              <a:avLst/>
            </a:prstGeom>
            <a:no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DOS</a:t>
              </a:r>
              <a:r>
                <a:rPr lang="zh-CN" altLang="en-US" sz="2400" dirty="0">
                  <a:solidFill>
                    <a:schemeClr val="tx1"/>
                  </a:solidFill>
                  <a:latin typeface="Times New Roman" panose="02020603050405020304" pitchFamily="18" charset="0"/>
                  <a:ea typeface="楷体_GB2312"/>
                </a:rPr>
                <a:t>系统提供的</a:t>
              </a:r>
              <a:r>
                <a:rPr lang="en-US" altLang="zh-CN" sz="2400" dirty="0">
                  <a:solidFill>
                    <a:srgbClr val="FF00FF"/>
                  </a:solidFill>
                  <a:latin typeface="Times New Roman" panose="02020603050405020304" pitchFamily="18" charset="0"/>
                  <a:ea typeface="楷体_GB2312"/>
                </a:rPr>
                <a:t>08H</a:t>
              </a:r>
              <a:r>
                <a:rPr lang="zh-CN" altLang="en-US" sz="2400" dirty="0">
                  <a:solidFill>
                    <a:schemeClr val="tx1"/>
                  </a:solidFill>
                  <a:latin typeface="Times New Roman" panose="02020603050405020304" pitchFamily="18" charset="0"/>
                  <a:ea typeface="楷体_GB2312"/>
                </a:rPr>
                <a:t>类型中断子程</a:t>
              </a:r>
              <a:r>
                <a:rPr lang="en-US" altLang="zh-CN" sz="2400" dirty="0">
                  <a:solidFill>
                    <a:schemeClr val="tx1"/>
                  </a:solidFill>
                  <a:latin typeface="Times New Roman" panose="02020603050405020304" pitchFamily="18" charset="0"/>
                  <a:ea typeface="楷体_GB2312"/>
                </a:rPr>
                <a:t>:</a:t>
              </a:r>
              <a:endParaRPr lang="en-US" altLang="zh-CN" sz="2400" dirty="0">
                <a:solidFill>
                  <a:schemeClr val="tx1"/>
                </a:solidFill>
                <a:latin typeface="Times New Roman" panose="02020603050405020304" pitchFamily="18" charset="0"/>
                <a:ea typeface="楷体_GB2312"/>
              </a:endParaRPr>
            </a:p>
          </p:txBody>
        </p:sp>
        <p:grpSp>
          <p:nvGrpSpPr>
            <p:cNvPr id="289797" name="组合 219140"/>
            <p:cNvGrpSpPr/>
            <p:nvPr/>
          </p:nvGrpSpPr>
          <p:grpSpPr>
            <a:xfrm>
              <a:off x="3072" y="1405"/>
              <a:ext cx="2112" cy="1589"/>
              <a:chOff x="0" y="0"/>
              <a:chExt cx="2112" cy="1589"/>
            </a:xfrm>
          </p:grpSpPr>
          <p:sp>
            <p:nvSpPr>
              <p:cNvPr id="289798" name="文本框 219141"/>
              <p:cNvSpPr txBox="1"/>
              <p:nvPr/>
            </p:nvSpPr>
            <p:spPr>
              <a:xfrm>
                <a:off x="0" y="611"/>
                <a:ext cx="2112" cy="978"/>
              </a:xfrm>
              <a:prstGeom prst="rect">
                <a:avLst/>
              </a:prstGeom>
              <a:blipFill rotWithShape="0">
                <a:blip r:embed="rId2"/>
              </a:blip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5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sys1c     PROC</a:t>
                </a:r>
                <a:endParaRPr lang="en-US" altLang="zh-CN" sz="24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5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             </a:t>
                </a:r>
                <a:r>
                  <a:rPr lang="en-US" altLang="zh-CN" sz="2400" dirty="0">
                    <a:solidFill>
                      <a:srgbClr val="0000FF"/>
                    </a:solidFill>
                    <a:latin typeface="Times New Roman" panose="02020603050405020304" pitchFamily="18" charset="0"/>
                    <a:ea typeface="楷体_GB2312"/>
                  </a:rPr>
                  <a:t> IRET</a:t>
                </a:r>
                <a:endParaRPr lang="en-US" altLang="zh-CN" sz="24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5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sys1c     ENDP</a:t>
                </a:r>
                <a:endParaRPr lang="en-US" altLang="zh-CN" sz="2400" dirty="0">
                  <a:solidFill>
                    <a:schemeClr val="tx1"/>
                  </a:solidFill>
                  <a:latin typeface="Times New Roman" panose="02020603050405020304" pitchFamily="18" charset="0"/>
                  <a:ea typeface="楷体_GB2312"/>
                </a:endParaRPr>
              </a:p>
            </p:txBody>
          </p:sp>
          <p:sp>
            <p:nvSpPr>
              <p:cNvPr id="289799" name="矩形 219142"/>
              <p:cNvSpPr/>
              <p:nvPr/>
            </p:nvSpPr>
            <p:spPr>
              <a:xfrm>
                <a:off x="0" y="0"/>
                <a:ext cx="1915" cy="518"/>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00000"/>
                  </a:lnSpc>
                  <a:spcBef>
                    <a:spcPct val="0"/>
                  </a:spcBef>
                  <a:spcAft>
                    <a:spcPct val="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DOS</a:t>
                </a:r>
                <a:r>
                  <a:rPr lang="zh-CN" altLang="en-US" sz="2400" dirty="0">
                    <a:solidFill>
                      <a:schemeClr val="tx1"/>
                    </a:solidFill>
                    <a:latin typeface="Times New Roman" panose="02020603050405020304" pitchFamily="18" charset="0"/>
                    <a:ea typeface="楷体_GB2312"/>
                  </a:rPr>
                  <a:t>系统提供</a:t>
                </a:r>
                <a:endParaRPr lang="zh-CN" altLang="en-US" sz="2400" dirty="0">
                  <a:solidFill>
                    <a:schemeClr val="tx1"/>
                  </a:solidFill>
                  <a:latin typeface="Times New Roman" panose="02020603050405020304" pitchFamily="18" charset="0"/>
                  <a:ea typeface="楷体_GB2312"/>
                </a:endParaRPr>
              </a:p>
              <a:p>
                <a:pPr marL="0" lvl="0" indent="0">
                  <a:lnSpc>
                    <a:spcPct val="100000"/>
                  </a:lnSpc>
                  <a:spcBef>
                    <a:spcPct val="0"/>
                  </a:spcBef>
                  <a:spcAft>
                    <a:spcPct val="0"/>
                  </a:spcAft>
                  <a:buClrTx/>
                  <a:buSzTx/>
                  <a:buFont typeface="Arial" panose="020B0604020202020204" pitchFamily="34" charset="0"/>
                  <a:buNone/>
                </a:pPr>
                <a:r>
                  <a:rPr lang="zh-CN" altLang="en-US" sz="2400" dirty="0">
                    <a:solidFill>
                      <a:schemeClr val="tx1"/>
                    </a:solidFill>
                    <a:latin typeface="Times New Roman" panose="02020603050405020304" pitchFamily="18" charset="0"/>
                    <a:ea typeface="楷体_GB2312"/>
                  </a:rPr>
                  <a:t>的</a:t>
                </a:r>
                <a:r>
                  <a:rPr lang="en-US" altLang="zh-CN" sz="2400" dirty="0">
                    <a:solidFill>
                      <a:srgbClr val="FF00FF"/>
                    </a:solidFill>
                    <a:latin typeface="Times New Roman" panose="02020603050405020304" pitchFamily="18" charset="0"/>
                    <a:ea typeface="楷体_GB2312"/>
                  </a:rPr>
                  <a:t>1CH</a:t>
                </a:r>
                <a:r>
                  <a:rPr lang="zh-CN" altLang="en-US" sz="2400" dirty="0">
                    <a:solidFill>
                      <a:schemeClr val="tx1"/>
                    </a:solidFill>
                    <a:latin typeface="Times New Roman" panose="02020603050405020304" pitchFamily="18" charset="0"/>
                    <a:ea typeface="楷体_GB2312"/>
                  </a:rPr>
                  <a:t>类型中断子程</a:t>
                </a:r>
                <a:r>
                  <a:rPr lang="en-US" altLang="zh-CN" sz="2400" dirty="0">
                    <a:solidFill>
                      <a:schemeClr val="tx1"/>
                    </a:solidFill>
                    <a:latin typeface="Times New Roman" panose="02020603050405020304" pitchFamily="18" charset="0"/>
                    <a:ea typeface="楷体_GB2312"/>
                  </a:rPr>
                  <a:t>:</a:t>
                </a:r>
                <a:endParaRPr lang="en-US" altLang="zh-CN" sz="2400" dirty="0">
                  <a:solidFill>
                    <a:schemeClr val="tx1"/>
                  </a:solidFill>
                  <a:latin typeface="Times New Roman" panose="02020603050405020304" pitchFamily="18" charset="0"/>
                  <a:ea typeface="楷体_GB2312"/>
                </a:endParaRPr>
              </a:p>
            </p:txBody>
          </p:sp>
        </p:grpSp>
      </p:grpSp>
    </p:spTree>
  </p:cSld>
  <p:clrMapOvr>
    <a:masterClrMapping/>
  </p:clrMapOvr>
  <p:transition spd="slow">
    <p:zoom/>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0818" name="矩形 220161"/>
          <p:cNvSpPr/>
          <p:nvPr/>
        </p:nvSpPr>
        <p:spPr>
          <a:xfrm>
            <a:off x="468313" y="620713"/>
            <a:ext cx="4175125" cy="5256212"/>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30000"/>
              </a:lnSpc>
              <a:spcBef>
                <a:spcPct val="0"/>
              </a:spcBef>
            </a:pPr>
            <a:r>
              <a:rPr lang="en-US" altLang="zh-CN" sz="2600" dirty="0">
                <a:latin typeface="Tahoma" panose="020B0604030504040204" pitchFamily="34" charset="0"/>
                <a:ea typeface="楷体_GB2312"/>
              </a:rPr>
              <a:t> </a:t>
            </a:r>
            <a:r>
              <a:rPr lang="zh-CN" altLang="en-US" sz="2600" dirty="0">
                <a:latin typeface="Tahoma" panose="020B0604030504040204" pitchFamily="34" charset="0"/>
                <a:ea typeface="楷体_GB2312"/>
              </a:rPr>
              <a:t>系统</a:t>
            </a:r>
            <a:r>
              <a:rPr lang="en-US" altLang="zh-CN" sz="2600" dirty="0">
                <a:latin typeface="Tahoma" panose="020B0604030504040204" pitchFamily="34" charset="0"/>
                <a:ea typeface="楷体_GB2312"/>
              </a:rPr>
              <a:t>08H</a:t>
            </a:r>
            <a:r>
              <a:rPr lang="zh-CN" altLang="en-US" sz="2600" dirty="0">
                <a:latin typeface="Tahoma" panose="020B0604030504040204" pitchFamily="34" charset="0"/>
                <a:ea typeface="楷体_GB2312"/>
              </a:rPr>
              <a:t>类型中断子程要点</a:t>
            </a:r>
            <a:r>
              <a:rPr lang="en-US" altLang="zh-CN" sz="2600" dirty="0">
                <a:latin typeface="Tahoma" panose="020B0604030504040204" pitchFamily="34" charset="0"/>
                <a:ea typeface="楷体_GB2312"/>
              </a:rPr>
              <a:t>:</a:t>
            </a:r>
            <a:endParaRPr lang="en-US" altLang="zh-CN" sz="2600" dirty="0">
              <a:latin typeface="Tahoma" panose="020B0604030504040204" pitchFamily="34" charset="0"/>
              <a:ea typeface="楷体_GB2312"/>
            </a:endParaRPr>
          </a:p>
          <a:p>
            <a:pPr marL="742950" lvl="1" indent="-285750" algn="just">
              <a:lnSpc>
                <a:spcPct val="130000"/>
              </a:lnSpc>
              <a:spcBef>
                <a:spcPct val="0"/>
              </a:spcBef>
            </a:pPr>
            <a:r>
              <a:rPr lang="zh-CN" altLang="en-US" sz="2300" i="1" dirty="0">
                <a:ea typeface="楷体_GB2312"/>
              </a:rPr>
              <a:t>进入子程后，修改了</a:t>
            </a:r>
            <a:r>
              <a:rPr lang="en-US" altLang="zh-CN" sz="2300" i="1" dirty="0">
                <a:ea typeface="楷体_GB2312"/>
              </a:rPr>
              <a:t>DS</a:t>
            </a:r>
            <a:r>
              <a:rPr lang="zh-CN" altLang="en-US" sz="2300" i="1" dirty="0">
                <a:ea typeface="楷体_GB2312"/>
              </a:rPr>
              <a:t>段寄存器的值；</a:t>
            </a:r>
            <a:endParaRPr lang="zh-CN" altLang="en-US" sz="2300" i="1" dirty="0">
              <a:ea typeface="楷体_GB2312"/>
            </a:endParaRPr>
          </a:p>
          <a:p>
            <a:pPr marL="742950" lvl="1" indent="-285750" algn="just">
              <a:lnSpc>
                <a:spcPct val="130000"/>
              </a:lnSpc>
              <a:spcBef>
                <a:spcPct val="0"/>
              </a:spcBef>
            </a:pPr>
            <a:r>
              <a:rPr lang="zh-CN" altLang="en-US" sz="2300" i="1" dirty="0">
                <a:ea typeface="楷体_GB2312"/>
              </a:rPr>
              <a:t>程序中调用了</a:t>
            </a:r>
            <a:r>
              <a:rPr lang="en-US" altLang="zh-CN" sz="2300" i="1" dirty="0">
                <a:ea typeface="楷体_GB2312"/>
              </a:rPr>
              <a:t>1CH</a:t>
            </a:r>
            <a:r>
              <a:rPr lang="zh-CN" altLang="en-US" sz="2300" i="1" dirty="0">
                <a:ea typeface="楷体_GB2312"/>
              </a:rPr>
              <a:t>类型中断子程，每执行一次</a:t>
            </a:r>
            <a:r>
              <a:rPr lang="en-US" altLang="zh-CN" sz="2300" i="1" dirty="0">
                <a:ea typeface="楷体_GB2312"/>
              </a:rPr>
              <a:t>08H</a:t>
            </a:r>
            <a:r>
              <a:rPr lang="zh-CN" altLang="en-US" sz="2300" i="1" dirty="0">
                <a:ea typeface="楷体_GB2312"/>
              </a:rPr>
              <a:t>中断子程</a:t>
            </a:r>
            <a:r>
              <a:rPr lang="en-US" altLang="zh-CN" sz="2300" i="1" dirty="0">
                <a:ea typeface="楷体_GB2312"/>
              </a:rPr>
              <a:t>, </a:t>
            </a:r>
            <a:r>
              <a:rPr lang="zh-CN" altLang="en-US" sz="2300" i="1" dirty="0">
                <a:ea typeface="楷体_GB2312"/>
              </a:rPr>
              <a:t>执行一次</a:t>
            </a:r>
            <a:r>
              <a:rPr lang="en-US" altLang="zh-CN" sz="2300" i="1" dirty="0">
                <a:ea typeface="楷体_GB2312"/>
              </a:rPr>
              <a:t>1CH</a:t>
            </a:r>
            <a:r>
              <a:rPr lang="zh-CN" altLang="en-US" sz="2300" i="1" dirty="0">
                <a:ea typeface="楷体_GB2312"/>
              </a:rPr>
              <a:t>中断子程；</a:t>
            </a:r>
            <a:endParaRPr lang="zh-CN" altLang="en-US" sz="2300" i="1" dirty="0">
              <a:ea typeface="楷体_GB2312"/>
            </a:endParaRPr>
          </a:p>
          <a:p>
            <a:pPr marL="742950" lvl="1" indent="-285750" algn="just">
              <a:lnSpc>
                <a:spcPct val="130000"/>
              </a:lnSpc>
              <a:spcBef>
                <a:spcPct val="0"/>
              </a:spcBef>
            </a:pPr>
            <a:r>
              <a:rPr lang="zh-CN" altLang="en-US" sz="2300" i="1" dirty="0">
                <a:ea typeface="楷体_GB2312"/>
              </a:rPr>
              <a:t>程序最后发中断结束命令</a:t>
            </a:r>
            <a:r>
              <a:rPr lang="en-US" altLang="zh-CN" sz="2300" i="1" dirty="0">
                <a:ea typeface="楷体_GB2312"/>
              </a:rPr>
              <a:t>EOI</a:t>
            </a:r>
            <a:endParaRPr lang="en-US" altLang="zh-CN" sz="2300" i="1" dirty="0">
              <a:ea typeface="楷体_GB2312"/>
            </a:endParaRPr>
          </a:p>
        </p:txBody>
      </p:sp>
      <p:sp>
        <p:nvSpPr>
          <p:cNvPr id="220163" name="文本框 220162"/>
          <p:cNvSpPr txBox="1"/>
          <p:nvPr/>
        </p:nvSpPr>
        <p:spPr>
          <a:xfrm>
            <a:off x="4932363" y="1412875"/>
            <a:ext cx="3810000" cy="4473575"/>
          </a:xfrm>
          <a:prstGeom prst="rect">
            <a:avLst/>
          </a:prstGeom>
          <a:blipFill rotWithShape="0">
            <a:blip r:embed="rId1"/>
          </a:blip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sys08     PROC</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MOV     AX, 0040H</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MOV     DS,  AX</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latin typeface="Times New Roman" panose="02020603050405020304" pitchFamily="18" charset="0"/>
                <a:ea typeface="楷体_GB2312"/>
              </a:rPr>
              <a:t>INT       1CH</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MOV   AL,  20H</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OUT    20H,  AL</a:t>
            </a:r>
            <a:endParaRPr lang="en-US" altLang="zh-CN" sz="2400" dirty="0">
              <a:solidFill>
                <a:schemeClr val="tx1"/>
              </a:solidFill>
              <a:latin typeface="Times New Roman" panose="02020603050405020304" pitchFamily="18" charset="0"/>
              <a:ea typeface="楷体_GB2312"/>
            </a:endParaRPr>
          </a:p>
          <a:p>
            <a:pPr marL="914400" lvl="2" indent="0" algn="just">
              <a:lnSpc>
                <a:spcPct val="100000"/>
              </a:lnSpc>
              <a:spcBef>
                <a:spcPct val="0"/>
              </a:spcBef>
              <a:spcAft>
                <a:spcPct val="10000"/>
              </a:spcAft>
              <a:buClrTx/>
              <a:buSzTx/>
              <a:buFont typeface="Arial" panose="020B0604020202020204" pitchFamily="34" charset="0"/>
              <a:buNone/>
            </a:pPr>
            <a:r>
              <a:rPr lang="en-US" altLang="zh-CN" sz="2400" dirty="0">
                <a:solidFill>
                  <a:srgbClr val="0000FF"/>
                </a:solidFill>
                <a:latin typeface="Times New Roman" panose="02020603050405020304" pitchFamily="18" charset="0"/>
                <a:ea typeface="楷体_GB2312"/>
              </a:rPr>
              <a:t>IRET</a:t>
            </a:r>
            <a:endParaRPr lang="en-US" altLang="zh-CN" sz="24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1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sys08 ENDP</a:t>
            </a:r>
            <a:endParaRPr lang="en-US" altLang="zh-CN" sz="2400" b="0" dirty="0">
              <a:solidFill>
                <a:schemeClr val="tx1"/>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20163"/>
                                        </p:tgtEl>
                                        <p:attrNameLst>
                                          <p:attrName>style.visibility</p:attrName>
                                        </p:attrNameLst>
                                      </p:cBhvr>
                                      <p:to>
                                        <p:strVal val="visible"/>
                                      </p:to>
                                    </p:set>
                                    <p:anim calcmode="lin" valueType="num">
                                      <p:cBhvr>
                                        <p:cTn id="7" dur="500" fill="hold"/>
                                        <p:tgtEl>
                                          <p:spTgt spid="220163"/>
                                        </p:tgtEl>
                                        <p:attrNameLst>
                                          <p:attrName>ppt_x</p:attrName>
                                        </p:attrNameLst>
                                      </p:cBhvr>
                                      <p:tavLst>
                                        <p:tav tm="0">
                                          <p:val>
                                            <p:strVal val="#ppt_x"/>
                                          </p:val>
                                        </p:tav>
                                        <p:tav tm="100000">
                                          <p:val>
                                            <p:strVal val="#ppt_x"/>
                                          </p:val>
                                        </p:tav>
                                      </p:tavLst>
                                    </p:anim>
                                    <p:anim calcmode="lin" valueType="num">
                                      <p:cBhvr>
                                        <p:cTn id="8" dur="500" fill="hold"/>
                                        <p:tgtEl>
                                          <p:spTgt spid="2201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3" grpId="0" animBg="1"/>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6" name="矩形 221185"/>
          <p:cNvSpPr/>
          <p:nvPr/>
        </p:nvSpPr>
        <p:spPr>
          <a:xfrm>
            <a:off x="539750" y="4292600"/>
            <a:ext cx="8161338" cy="1871663"/>
          </a:xfrm>
          <a:prstGeom prst="rect">
            <a:avLst/>
          </a:prstGeom>
          <a:noFill/>
          <a:ln w="9525">
            <a:noFill/>
          </a:ln>
        </p:spPr>
        <p:txBody>
          <a:bodyPr wrap="none">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nSpc>
                <a:spcPct val="130000"/>
              </a:lnSpc>
              <a:spcBef>
                <a:spcPct val="0"/>
              </a:spcBef>
              <a:spcAft>
                <a:spcPct val="0"/>
              </a:spcAft>
              <a:buClrTx/>
              <a:buSzTx/>
              <a:buFont typeface="Arial" panose="020B0604020202020204" pitchFamily="34" charset="0"/>
              <a:buNone/>
            </a:pPr>
            <a:r>
              <a:rPr lang="en-US" altLang="zh-CN" sz="2400" dirty="0">
                <a:solidFill>
                  <a:srgbClr val="0000FF"/>
                </a:solidFill>
                <a:latin typeface="Times New Roman" panose="02020603050405020304" pitchFamily="18" charset="0"/>
                <a:ea typeface="楷体_GB2312"/>
              </a:rPr>
              <a:t>1CH</a:t>
            </a:r>
            <a:r>
              <a:rPr lang="zh-CN" altLang="en-US" sz="2400" dirty="0">
                <a:solidFill>
                  <a:srgbClr val="0000FF"/>
                </a:solidFill>
                <a:latin typeface="Times New Roman" panose="02020603050405020304" pitchFamily="18" charset="0"/>
                <a:ea typeface="楷体_GB2312"/>
              </a:rPr>
              <a:t>类型是软中断，按编写软中断子程方法编写：</a:t>
            </a:r>
            <a:endParaRPr lang="zh-CN" altLang="en-US" sz="2000" dirty="0">
              <a:solidFill>
                <a:schemeClr val="tx1"/>
              </a:solidFill>
              <a:latin typeface="Times New Roman" panose="02020603050405020304" pitchFamily="18" charset="0"/>
              <a:ea typeface="楷体_GB2312"/>
            </a:endParaRPr>
          </a:p>
          <a:p>
            <a:pPr marL="457200" lvl="1" indent="0">
              <a:lnSpc>
                <a:spcPct val="130000"/>
              </a:lnSpc>
              <a:spcBef>
                <a:spcPct val="0"/>
              </a:spcBef>
              <a:spcAft>
                <a:spcPct val="0"/>
              </a:spcAft>
              <a:buClrTx/>
              <a:buSzTx/>
              <a:buFont typeface="Arial" panose="020B0604020202020204" pitchFamily="34" charset="0"/>
              <a:buNone/>
            </a:pPr>
            <a:r>
              <a:rPr lang="en-US" altLang="zh-CN" sz="2000" dirty="0">
                <a:solidFill>
                  <a:srgbClr val="FF0000"/>
                </a:solidFill>
                <a:latin typeface="Times New Roman" panose="02020603050405020304" pitchFamily="18" charset="0"/>
                <a:ea typeface="楷体_GB2312"/>
              </a:rPr>
              <a:t>① </a:t>
            </a:r>
            <a:r>
              <a:rPr lang="zh-CN" altLang="en-US" sz="2200" dirty="0">
                <a:latin typeface="Times New Roman" panose="02020603050405020304" pitchFamily="18" charset="0"/>
                <a:ea typeface="楷体_GB2312"/>
              </a:rPr>
              <a:t>系统</a:t>
            </a:r>
            <a:r>
              <a:rPr lang="en-US" altLang="zh-CN" sz="2200" dirty="0">
                <a:latin typeface="Times New Roman" panose="02020603050405020304" pitchFamily="18" charset="0"/>
                <a:ea typeface="楷体_GB2312"/>
              </a:rPr>
              <a:t>08H</a:t>
            </a:r>
            <a:r>
              <a:rPr lang="zh-CN" altLang="en-US" sz="2200" dirty="0">
                <a:latin typeface="Times New Roman" panose="02020603050405020304" pitchFamily="18" charset="0"/>
                <a:ea typeface="楷体_GB2312"/>
              </a:rPr>
              <a:t>中断子程序改变</a:t>
            </a:r>
            <a:r>
              <a:rPr lang="en-US" altLang="zh-CN" sz="2200" dirty="0">
                <a:latin typeface="Times New Roman" panose="02020603050405020304" pitchFamily="18" charset="0"/>
                <a:ea typeface="楷体_GB2312"/>
              </a:rPr>
              <a:t>DS</a:t>
            </a:r>
            <a:r>
              <a:rPr lang="zh-CN" altLang="en-US" sz="2200" dirty="0">
                <a:latin typeface="Times New Roman" panose="02020603050405020304" pitchFamily="18" charset="0"/>
                <a:ea typeface="楷体_GB2312"/>
              </a:rPr>
              <a:t>值，故：</a:t>
            </a:r>
            <a:endParaRPr lang="zh-CN" altLang="en-US" sz="2200" dirty="0">
              <a:latin typeface="Times New Roman" panose="02020603050405020304" pitchFamily="18" charset="0"/>
              <a:ea typeface="楷体_GB2312"/>
            </a:endParaRPr>
          </a:p>
          <a:p>
            <a:pPr marL="914400" lvl="2" indent="0">
              <a:lnSpc>
                <a:spcPct val="130000"/>
              </a:lnSpc>
              <a:spcBef>
                <a:spcPct val="0"/>
              </a:spcBef>
              <a:spcAft>
                <a:spcPct val="0"/>
              </a:spcAft>
              <a:buClrTx/>
              <a:buSzTx/>
              <a:buFont typeface="Arial" panose="020B0604020202020204" pitchFamily="34" charset="0"/>
              <a:buNone/>
            </a:pPr>
            <a:r>
              <a:rPr lang="en-US" altLang="zh-CN" sz="2200" dirty="0">
                <a:solidFill>
                  <a:schemeClr val="tx1"/>
                </a:solidFill>
                <a:latin typeface="Times New Roman" panose="02020603050405020304" pitchFamily="18" charset="0"/>
                <a:ea typeface="楷体_GB2312"/>
              </a:rPr>
              <a:t>1CH</a:t>
            </a:r>
            <a:r>
              <a:rPr lang="zh-CN" altLang="en-US" sz="2200" dirty="0">
                <a:solidFill>
                  <a:schemeClr val="tx1"/>
                </a:solidFill>
                <a:latin typeface="Times New Roman" panose="02020603050405020304" pitchFamily="18" charset="0"/>
                <a:ea typeface="楷体_GB2312"/>
              </a:rPr>
              <a:t>中断子程用到定义的变量，须在子程序中给</a:t>
            </a:r>
            <a:r>
              <a:rPr lang="en-US" altLang="zh-CN" sz="2200" dirty="0">
                <a:solidFill>
                  <a:schemeClr val="tx1"/>
                </a:solidFill>
                <a:latin typeface="Times New Roman" panose="02020603050405020304" pitchFamily="18" charset="0"/>
                <a:ea typeface="楷体_GB2312"/>
              </a:rPr>
              <a:t>DS</a:t>
            </a:r>
            <a:r>
              <a:rPr lang="zh-CN" altLang="en-US" sz="2200" dirty="0">
                <a:solidFill>
                  <a:schemeClr val="tx1"/>
                </a:solidFill>
                <a:latin typeface="Times New Roman" panose="02020603050405020304" pitchFamily="18" charset="0"/>
                <a:ea typeface="楷体_GB2312"/>
              </a:rPr>
              <a:t>赋值。</a:t>
            </a:r>
            <a:endParaRPr lang="zh-CN" altLang="en-US" sz="2200" dirty="0">
              <a:solidFill>
                <a:schemeClr val="tx1"/>
              </a:solidFill>
              <a:latin typeface="Times New Roman" panose="02020603050405020304" pitchFamily="18" charset="0"/>
              <a:ea typeface="楷体_GB2312"/>
            </a:endParaRPr>
          </a:p>
          <a:p>
            <a:pPr marL="457200" lvl="1" indent="0">
              <a:lnSpc>
                <a:spcPct val="130000"/>
              </a:lnSpc>
              <a:spcBef>
                <a:spcPct val="0"/>
              </a:spcBef>
              <a:spcAft>
                <a:spcPct val="0"/>
              </a:spcAft>
              <a:buClrTx/>
              <a:buSzTx/>
              <a:buFont typeface="Arial" panose="020B0604020202020204" pitchFamily="34" charset="0"/>
              <a:buNone/>
            </a:pPr>
            <a:r>
              <a:rPr lang="en-US" altLang="zh-CN" sz="2000" dirty="0">
                <a:solidFill>
                  <a:srgbClr val="FF0000"/>
                </a:solidFill>
                <a:latin typeface="Times New Roman" panose="02020603050405020304" pitchFamily="18" charset="0"/>
                <a:ea typeface="楷体_GB2312"/>
              </a:rPr>
              <a:t>② </a:t>
            </a:r>
            <a:r>
              <a:rPr lang="en-US" altLang="zh-CN" sz="2000" dirty="0">
                <a:latin typeface="Times New Roman" panose="02020603050405020304" pitchFamily="18" charset="0"/>
                <a:ea typeface="楷体_GB2312"/>
              </a:rPr>
              <a:t> </a:t>
            </a:r>
            <a:r>
              <a:rPr lang="en-US" altLang="zh-CN" sz="2200" dirty="0">
                <a:latin typeface="Times New Roman" panose="02020603050405020304" pitchFamily="18" charset="0"/>
                <a:ea typeface="楷体_GB2312"/>
              </a:rPr>
              <a:t>1CH</a:t>
            </a:r>
            <a:r>
              <a:rPr lang="zh-CN" altLang="en-US" sz="2200" dirty="0">
                <a:latin typeface="Times New Roman" panose="02020603050405020304" pitchFamily="18" charset="0"/>
                <a:ea typeface="楷体_GB2312"/>
              </a:rPr>
              <a:t>类型是软中断，不需要发中断结束命令。</a:t>
            </a:r>
            <a:endParaRPr lang="zh-CN" altLang="en-US" sz="2200" dirty="0">
              <a:latin typeface="Times New Roman" panose="02020603050405020304" pitchFamily="18" charset="0"/>
              <a:ea typeface="楷体_GB2312"/>
            </a:endParaRPr>
          </a:p>
        </p:txBody>
      </p:sp>
      <p:sp>
        <p:nvSpPr>
          <p:cNvPr id="221187" name="矩形 221186"/>
          <p:cNvSpPr/>
          <p:nvPr/>
        </p:nvSpPr>
        <p:spPr>
          <a:xfrm>
            <a:off x="539750" y="549275"/>
            <a:ext cx="8208963" cy="2520950"/>
          </a:xfrm>
          <a:prstGeom prst="rect">
            <a:avLst/>
          </a:prstGeom>
          <a:noFill/>
          <a:ln w="9525">
            <a:noFill/>
          </a:ln>
        </p:spPr>
        <p:txBody>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342900" lvl="0" indent="-342900" algn="just">
              <a:lnSpc>
                <a:spcPct val="130000"/>
              </a:lnSpc>
              <a:spcBef>
                <a:spcPct val="0"/>
              </a:spcBef>
            </a:pPr>
            <a:r>
              <a:rPr lang="zh-CN" altLang="en-US" sz="2400" dirty="0">
                <a:latin typeface="Tahoma" panose="020B0604030504040204" pitchFamily="34" charset="0"/>
                <a:ea typeface="楷体_GB2312"/>
              </a:rPr>
              <a:t>1CH类型是系统为用户保留的定时中断子程。系统1CH中断子程只有一条中断返回语句，确保08H中断子程调用后能返回。</a:t>
            </a:r>
            <a:endParaRPr lang="zh-CN" altLang="en-US" sz="2400" dirty="0">
              <a:latin typeface="Tahoma" panose="020B0604030504040204" pitchFamily="34" charset="0"/>
              <a:ea typeface="楷体_GB2312"/>
            </a:endParaRPr>
          </a:p>
          <a:p>
            <a:pPr marL="342900" lvl="0" indent="-342900" algn="just">
              <a:lnSpc>
                <a:spcPct val="130000"/>
              </a:lnSpc>
              <a:spcBef>
                <a:spcPct val="0"/>
              </a:spcBef>
              <a:spcAft>
                <a:spcPct val="50000"/>
              </a:spcAft>
            </a:pPr>
            <a:r>
              <a:rPr lang="zh-CN" altLang="en-US" sz="2400" dirty="0">
                <a:latin typeface="Tahoma" panose="020B0604030504040204" pitchFamily="34" charset="0"/>
                <a:ea typeface="楷体_GB2312"/>
              </a:rPr>
              <a:t> </a:t>
            </a:r>
            <a:r>
              <a:rPr lang="zh-CN" altLang="en-US" sz="2400" dirty="0">
                <a:solidFill>
                  <a:srgbClr val="FF0000"/>
                </a:solidFill>
                <a:latin typeface="Tahoma" panose="020B0604030504040204" pitchFamily="34" charset="0"/>
                <a:ea typeface="楷体_GB2312"/>
              </a:rPr>
              <a:t>用户可通过编写1CH中断子程实现具有定时功能的任务</a:t>
            </a:r>
            <a:endParaRPr lang="zh-CN" altLang="en-US" sz="2400" dirty="0">
              <a:latin typeface="Tahoma" panose="020B0604030504040204" pitchFamily="34" charset="0"/>
              <a:ea typeface="楷体_GB2312"/>
            </a:endParaRPr>
          </a:p>
        </p:txBody>
      </p:sp>
      <p:sp>
        <p:nvSpPr>
          <p:cNvPr id="221188" name="文本框 221187"/>
          <p:cNvSpPr txBox="1"/>
          <p:nvPr/>
        </p:nvSpPr>
        <p:spPr>
          <a:xfrm>
            <a:off x="2124075" y="2565400"/>
            <a:ext cx="4319588" cy="1552575"/>
          </a:xfrm>
          <a:prstGeom prst="rect">
            <a:avLst/>
          </a:prstGeom>
          <a:blipFill rotWithShape="0">
            <a:blip r:embed="rId1"/>
          </a:blipFill>
          <a:ln w="9525">
            <a:noFill/>
          </a:ln>
        </p:spPr>
        <p:txBody>
          <a:bodyPr>
            <a:spAutoFit/>
          </a:bodyPr>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just">
              <a:lnSpc>
                <a:spcPct val="100000"/>
              </a:lnSpc>
              <a:spcBef>
                <a:spcPct val="0"/>
              </a:spcBef>
              <a:spcAft>
                <a:spcPct val="5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sys1c     PROC</a:t>
            </a:r>
            <a:endParaRPr lang="en-US" altLang="zh-CN" sz="2400" dirty="0">
              <a:solidFill>
                <a:schemeClr val="tx1"/>
              </a:solidFill>
              <a:latin typeface="Times New Roman" panose="02020603050405020304" pitchFamily="18" charset="0"/>
              <a:ea typeface="楷体_GB2312"/>
            </a:endParaRPr>
          </a:p>
          <a:p>
            <a:pPr marL="0" lvl="0" indent="0" algn="just">
              <a:lnSpc>
                <a:spcPct val="100000"/>
              </a:lnSpc>
              <a:spcBef>
                <a:spcPct val="0"/>
              </a:spcBef>
              <a:spcAft>
                <a:spcPct val="5000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             </a:t>
            </a:r>
            <a:r>
              <a:rPr lang="en-US" altLang="zh-CN" sz="2400" dirty="0">
                <a:solidFill>
                  <a:srgbClr val="0000FF"/>
                </a:solidFill>
                <a:latin typeface="Times New Roman" panose="02020603050405020304" pitchFamily="18" charset="0"/>
                <a:ea typeface="楷体_GB2312"/>
              </a:rPr>
              <a:t> </a:t>
            </a:r>
            <a:r>
              <a:rPr lang="en-US" altLang="zh-CN" sz="2400" dirty="0">
                <a:solidFill>
                  <a:srgbClr val="FF00FF"/>
                </a:solidFill>
                <a:latin typeface="Times New Roman" panose="02020603050405020304" pitchFamily="18" charset="0"/>
                <a:ea typeface="楷体_GB2312"/>
              </a:rPr>
              <a:t>IRET</a:t>
            </a:r>
            <a:endParaRPr lang="en-US" altLang="zh-CN" sz="2400" dirty="0">
              <a:solidFill>
                <a:srgbClr val="FF00FF"/>
              </a:solidFill>
              <a:latin typeface="Times New Roman" panose="02020603050405020304" pitchFamily="18" charset="0"/>
              <a:ea typeface="楷体_GB2312"/>
            </a:endParaRPr>
          </a:p>
          <a:p>
            <a:pPr marL="0" lvl="0" indent="0" algn="just">
              <a:lnSpc>
                <a:spcPct val="100000"/>
              </a:lnSpc>
              <a:spcBef>
                <a:spcPct val="0"/>
              </a:spcBef>
              <a:spcAft>
                <a:spcPct val="0"/>
              </a:spcAft>
              <a:buClrTx/>
              <a:buSzTx/>
              <a:buFont typeface="Arial" panose="020B0604020202020204" pitchFamily="34" charset="0"/>
              <a:buNone/>
            </a:pPr>
            <a:r>
              <a:rPr lang="en-US" altLang="zh-CN" sz="2400" dirty="0">
                <a:solidFill>
                  <a:schemeClr val="tx1"/>
                </a:solidFill>
                <a:latin typeface="Times New Roman" panose="02020603050405020304" pitchFamily="18" charset="0"/>
                <a:ea typeface="楷体_GB2312"/>
              </a:rPr>
              <a:t>sys1c     ENDP</a:t>
            </a:r>
            <a:endParaRPr lang="en-US" altLang="zh-CN" sz="2400" dirty="0">
              <a:solidFill>
                <a:schemeClr val="tx1"/>
              </a:solidFill>
              <a:latin typeface="Times New Roman" panose="02020603050405020304" pitchFamily="18" charset="0"/>
              <a:ea typeface="楷体_GB231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21187"/>
                                        </p:tgtEl>
                                        <p:attrNameLst>
                                          <p:attrName>style.visibility</p:attrName>
                                        </p:attrNameLst>
                                      </p:cBhvr>
                                      <p:to>
                                        <p:strVal val="visible"/>
                                      </p:to>
                                    </p:set>
                                    <p:animEffect transition="in" filter="blinds(vertical)">
                                      <p:cBhvr>
                                        <p:cTn id="7" dur="500"/>
                                        <p:tgtEl>
                                          <p:spTgt spid="221187"/>
                                        </p:tgtEl>
                                      </p:cBhvr>
                                    </p:animEffect>
                                  </p:childTnLst>
                                  <p:subTnLst>
                                    <p:set>
                                      <p:cBhvr override="childStyle">
                                        <p:cTn dur="1" fill="hold" display="0" masterRel="nextClick" afterEffect="1"/>
                                        <p:tgtEl>
                                          <p:spTgt spid="221187"/>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21186"/>
                                        </p:tgtEl>
                                        <p:attrNameLst>
                                          <p:attrName>style.visibility</p:attrName>
                                        </p:attrNameLst>
                                      </p:cBhvr>
                                      <p:to>
                                        <p:strVal val="visible"/>
                                      </p:to>
                                    </p:set>
                                    <p:animEffect transition="in" filter="blinds(vertical)">
                                      <p:cBhvr>
                                        <p:cTn id="12" dur="500"/>
                                        <p:tgtEl>
                                          <p:spTgt spid="221186"/>
                                        </p:tgtEl>
                                      </p:cBhvr>
                                    </p:animEffect>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221188"/>
                                        </p:tgtEl>
                                        <p:attrNameLst>
                                          <p:attrName>style.visibility</p:attrName>
                                        </p:attrNameLst>
                                      </p:cBhvr>
                                      <p:to>
                                        <p:strVal val="visible"/>
                                      </p:to>
                                    </p:set>
                                    <p:anim calcmode="lin" valueType="num">
                                      <p:cBhvr>
                                        <p:cTn id="16" dur="500" fill="hold"/>
                                        <p:tgtEl>
                                          <p:spTgt spid="221188"/>
                                        </p:tgtEl>
                                        <p:attrNameLst>
                                          <p:attrName>ppt_x</p:attrName>
                                        </p:attrNameLst>
                                      </p:cBhvr>
                                      <p:tavLst>
                                        <p:tav tm="0">
                                          <p:val>
                                            <p:strVal val="#ppt_x"/>
                                          </p:val>
                                        </p:tav>
                                        <p:tav tm="100000">
                                          <p:val>
                                            <p:strVal val="#ppt_x"/>
                                          </p:val>
                                        </p:tav>
                                      </p:tavLst>
                                    </p:anim>
                                    <p:anim calcmode="lin" valueType="num">
                                      <p:cBhvr>
                                        <p:cTn id="17" dur="500" fill="hold"/>
                                        <p:tgtEl>
                                          <p:spTgt spid="2211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6" grpId="0"/>
      <p:bldP spid="221187" grpId="0"/>
      <p:bldP spid="221188" grpId="0" animBg="1"/>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2866" name="灯片编号占位符 5"/>
          <p:cNvSpPr txBox="1">
            <a:spLocks noGrp="1"/>
          </p:cNvSpPr>
          <p:nvPr/>
        </p:nvSpPr>
        <p:spPr>
          <a:xfrm>
            <a:off x="7042150" y="6243638"/>
            <a:ext cx="1905000" cy="457200"/>
          </a:xfrm>
          <a:prstGeom prst="rect">
            <a:avLst/>
          </a:prstGeom>
          <a:noFill/>
          <a:ln w="9525">
            <a:noFill/>
          </a:ln>
        </p:spPr>
        <p:txBody>
          <a:bodyPr anchor="b" anchorCtr="0"/>
          <a:lstStyle>
            <a:lvl1pPr marL="342900" indent="-342900" algn="l" rtl="0" eaLnBrk="0" fontAlgn="base" hangingPunct="0">
              <a:lnSpc>
                <a:spcPct val="110000"/>
              </a:lnSpc>
              <a:spcBef>
                <a:spcPct val="20000"/>
              </a:spcBef>
              <a:spcAft>
                <a:spcPct val="5000"/>
              </a:spcAft>
              <a:buClr>
                <a:schemeClr val="folHlink"/>
              </a:buClr>
              <a:buSzPct val="60000"/>
              <a:buFont typeface="Wingdings" panose="05000000000000000000" pitchFamily="2" charset="2"/>
              <a:buChar char="n"/>
              <a:defRPr sz="2800" b="1" kern="1200">
                <a:solidFill>
                  <a:schemeClr val="tx2"/>
                </a:solidFill>
                <a:latin typeface="+mn-lt"/>
                <a:ea typeface="+mn-ea"/>
                <a:cs typeface="+mn-cs"/>
              </a:defRPr>
            </a:lvl1pPr>
            <a:lvl2pPr marL="742950" lvl="1" indent="-285750" algn="l" rtl="0" eaLnBrk="0" fontAlgn="base" hangingPunct="0">
              <a:lnSpc>
                <a:spcPct val="110000"/>
              </a:lnSpc>
              <a:spcBef>
                <a:spcPct val="20000"/>
              </a:spcBef>
              <a:spcAft>
                <a:spcPct val="5000"/>
              </a:spcAft>
              <a:buClr>
                <a:schemeClr val="hlink"/>
              </a:buClr>
              <a:buSzPct val="55000"/>
              <a:buFont typeface="Wingdings" panose="05000000000000000000" pitchFamily="2" charset="2"/>
              <a:buChar char="n"/>
              <a:defRPr sz="2400" b="1" kern="1200">
                <a:solidFill>
                  <a:schemeClr val="tx1"/>
                </a:solidFill>
                <a:latin typeface="+mn-lt"/>
                <a:ea typeface="+mn-ea"/>
                <a:cs typeface="+mn-cs"/>
              </a:defRPr>
            </a:lvl2pPr>
            <a:lvl3pPr marL="1143000" lvl="2" indent="-228600" algn="l" rtl="0" eaLnBrk="0" fontAlgn="base" hangingPunct="0">
              <a:lnSpc>
                <a:spcPct val="110000"/>
              </a:lnSpc>
              <a:spcBef>
                <a:spcPct val="20000"/>
              </a:spcBef>
              <a:spcAft>
                <a:spcPct val="5000"/>
              </a:spcAft>
              <a:buClr>
                <a:schemeClr val="folHlink"/>
              </a:buClr>
              <a:buSzPct val="50000"/>
              <a:buFont typeface="Wingdings" panose="05000000000000000000" pitchFamily="2" charset="2"/>
              <a:buChar char="n"/>
              <a:defRPr sz="2000" b="1" kern="1200">
                <a:solidFill>
                  <a:srgbClr val="FF0000"/>
                </a:solidFill>
                <a:latin typeface="+mn-lt"/>
                <a:ea typeface="+mn-ea"/>
                <a:cs typeface="+mn-cs"/>
              </a:defRPr>
            </a:lvl3pPr>
            <a:lvl4pPr marL="1600200" lvl="3" indent="-228600" algn="l" rtl="0" eaLnBrk="0" fontAlgn="base" hangingPunct="0">
              <a:lnSpc>
                <a:spcPct val="110000"/>
              </a:lnSpc>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lnSpc>
                <a:spcPct val="110000"/>
              </a:lnSpc>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stStyle>
          <a:p>
            <a:pPr marL="0" lvl="0" indent="0" algn="r">
              <a:lnSpc>
                <a:spcPct val="100000"/>
              </a:lnSpc>
              <a:spcBef>
                <a:spcPct val="0"/>
              </a:spcBef>
              <a:spcAft>
                <a:spcPct val="0"/>
              </a:spcAft>
              <a:buClrTx/>
              <a:buSzTx/>
              <a:buNone/>
            </a:pPr>
            <a:fld id="{9A0DB2DC-4C9A-4742-B13C-FB6460FD3503}" type="slidenum">
              <a:rPr lang="zh-CN" altLang="en-US" sz="1400" b="0" dirty="0">
                <a:solidFill>
                  <a:srgbClr val="000000"/>
                </a:solidFill>
                <a:latin typeface="Tahoma" panose="020B0604030504040204" pitchFamily="34" charset="0"/>
                <a:ea typeface="楷体_GB2312"/>
              </a:rPr>
            </a:fld>
            <a:endParaRPr lang="zh-CN" altLang="en-US" sz="1400" b="0" dirty="0">
              <a:solidFill>
                <a:srgbClr val="000000"/>
              </a:solidFill>
              <a:latin typeface="Tahoma" panose="020B0604030504040204" pitchFamily="34" charset="0"/>
              <a:ea typeface="楷体_GB2312"/>
            </a:endParaRPr>
          </a:p>
        </p:txBody>
      </p:sp>
      <p:pic>
        <p:nvPicPr>
          <p:cNvPr id="292867" name="WordArt 4"/>
          <p:cNvPicPr/>
          <p:nvPr/>
        </p:nvPicPr>
        <p:blipFill>
          <a:blip r:embed="rId1"/>
          <a:stretch>
            <a:fillRect/>
          </a:stretch>
        </p:blipFill>
        <p:spPr>
          <a:xfrm>
            <a:off x="3071813" y="2432050"/>
            <a:ext cx="2865437" cy="1493838"/>
          </a:xfrm>
          <a:prstGeom prst="rect">
            <a:avLst/>
          </a:prstGeom>
          <a:noFill/>
          <a:ln w="9525">
            <a:noFill/>
          </a:ln>
        </p:spPr>
      </p:pic>
    </p:spTree>
  </p:cSld>
  <p:clrMapOvr>
    <a:masterClrMapping/>
  </p:clrMapOvr>
  <p:transition spd="slow">
    <p:zoom/>
  </p:transition>
</p:sld>
</file>

<file path=ppt/tags/tag1.xml><?xml version="1.0" encoding="utf-8"?>
<p:tagLst xmlns:p="http://schemas.openxmlformats.org/presentationml/2006/main">
  <p:tag name="COMMONDATA" val="eyJoZGlkIjoiOTdhNWNjNzkyNjhlYTk0YzYzZDdhYzA5YzlmNTk1YTUifQ=="/>
</p:tagLst>
</file>

<file path=ppt/theme/theme1.xml><?xml version="1.0" encoding="utf-8"?>
<a:theme xmlns:a="http://schemas.openxmlformats.org/drawingml/2006/main" name="1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1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1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1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1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1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2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2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2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2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2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2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6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6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6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6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6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6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6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7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7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7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7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7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7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4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4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14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14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14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14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14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3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3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3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3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3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3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4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4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4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4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4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4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32890</Words>
  <Application>WPS 演示</Application>
  <PresentationFormat>全屏显示(4:3)</PresentationFormat>
  <Paragraphs>4377</Paragraphs>
  <Slides>188</Slides>
  <Notes>10</Notes>
  <HiddenSlides>0</HiddenSlides>
  <MMClips>0</MMClips>
  <ScaleCrop>false</ScaleCrop>
  <HeadingPairs>
    <vt:vector size="8" baseType="variant">
      <vt:variant>
        <vt:lpstr>已用的字体</vt:lpstr>
      </vt:variant>
      <vt:variant>
        <vt:i4>27</vt:i4>
      </vt:variant>
      <vt:variant>
        <vt:lpstr>主题</vt:lpstr>
      </vt:variant>
      <vt:variant>
        <vt:i4>7</vt:i4>
      </vt:variant>
      <vt:variant>
        <vt:lpstr>嵌入 OLE 服务器</vt:lpstr>
      </vt:variant>
      <vt:variant>
        <vt:i4>4</vt:i4>
      </vt:variant>
      <vt:variant>
        <vt:lpstr>幻灯片标题</vt:lpstr>
      </vt:variant>
      <vt:variant>
        <vt:i4>188</vt:i4>
      </vt:variant>
    </vt:vector>
  </HeadingPairs>
  <TitlesOfParts>
    <vt:vector size="226" baseType="lpstr">
      <vt:lpstr>Arial</vt:lpstr>
      <vt:lpstr>宋体</vt:lpstr>
      <vt:lpstr>Wingdings</vt:lpstr>
      <vt:lpstr>楷体_GB2312</vt:lpstr>
      <vt:lpstr>新宋体</vt:lpstr>
      <vt:lpstr>楷体_GB2312</vt:lpstr>
      <vt:lpstr>Times New Roman</vt:lpstr>
      <vt:lpstr>Tahoma</vt:lpstr>
      <vt:lpstr>隶书</vt:lpstr>
      <vt:lpstr>黑体</vt:lpstr>
      <vt:lpstr>华文行楷</vt:lpstr>
      <vt:lpstr>微软雅黑</vt:lpstr>
      <vt:lpstr>Arial Unicode MS</vt:lpstr>
      <vt:lpstr>幼圆</vt:lpstr>
      <vt:lpstr>Verdana</vt:lpstr>
      <vt:lpstr>Calibri</vt:lpstr>
      <vt:lpstr>Fixedsys</vt:lpstr>
      <vt:lpstr>仿宋_GB2312</vt:lpstr>
      <vt:lpstr>仿宋</vt:lpstr>
      <vt:lpstr>KSOF3FB35F8F</vt:lpstr>
      <vt:lpstr>SWAstro</vt:lpstr>
      <vt:lpstr>Fixedsys</vt:lpstr>
      <vt:lpstr>Wingdings</vt:lpstr>
      <vt:lpstr>仿宋_GB2312</vt:lpstr>
      <vt:lpstr>楷体_GB2312</vt:lpstr>
      <vt:lpstr>KSOF3FA5480E</vt:lpstr>
      <vt:lpstr>KSOF3FCF8E91</vt:lpstr>
      <vt:lpstr>1_Blends</vt:lpstr>
      <vt:lpstr>2_Blends</vt:lpstr>
      <vt:lpstr>6_Blends</vt:lpstr>
      <vt:lpstr>7_Blends</vt:lpstr>
      <vt:lpstr>14_Blends</vt:lpstr>
      <vt:lpstr>3_Blends</vt:lpstr>
      <vt:lpstr>4_Blends</vt:lpstr>
      <vt:lpstr>Word.Picture.8</vt:lpstr>
      <vt:lpstr>PBrush</vt:lpstr>
      <vt:lpstr>PBrush</vt:lpstr>
      <vt:lpstr>PBrush</vt:lpstr>
      <vt:lpstr>  第七章    输入输出及中断技术</vt:lpstr>
      <vt:lpstr>主要内容</vt:lpstr>
      <vt:lpstr>§6.1  输入输出系统</vt:lpstr>
      <vt:lpstr>了解和掌握：</vt:lpstr>
      <vt:lpstr>一、为什么要引入I/O接口</vt:lpstr>
      <vt:lpstr>接口的功能</vt:lpstr>
      <vt:lpstr>接口的功能</vt:lpstr>
      <vt:lpstr>接口的概念</vt:lpstr>
      <vt:lpstr>PowerPoint 演示文稿</vt:lpstr>
      <vt:lpstr>二、I/O端口</vt:lpstr>
      <vt:lpstr>PowerPoint 演示文稿</vt:lpstr>
      <vt:lpstr>数据信息</vt:lpstr>
      <vt:lpstr>状态信息</vt:lpstr>
      <vt:lpstr>控制信息</vt:lpstr>
      <vt:lpstr>I/O端口</vt:lpstr>
      <vt:lpstr>接口和端口</vt:lpstr>
      <vt:lpstr>三、I/O端口的编址方式</vt:lpstr>
      <vt:lpstr>端口与内存的统一编址</vt:lpstr>
      <vt:lpstr>端口的独立编址</vt:lpstr>
      <vt:lpstr>端口的寻址</vt:lpstr>
      <vt:lpstr>直接寻址</vt:lpstr>
      <vt:lpstr>   16/8位I/O端口地址号存入DX，在输入输出指令中写DX，表示从其指示的I/O端口中输入输出数据。</vt:lpstr>
      <vt:lpstr>输入输出指令</vt:lpstr>
      <vt:lpstr>8088/8086的I/O端口编址</vt:lpstr>
      <vt:lpstr>四、I/O地址的译码</vt:lpstr>
      <vt:lpstr>I/O译码的地址信号</vt:lpstr>
      <vt:lpstr>I/O地址译码例</vt:lpstr>
      <vt:lpstr>I/O地址译码例</vt:lpstr>
      <vt:lpstr>I/O地址译码例</vt:lpstr>
      <vt:lpstr>§6.2 简单接口电路</vt:lpstr>
      <vt:lpstr>掌握：</vt:lpstr>
      <vt:lpstr>一、接口的基本构成</vt:lpstr>
      <vt:lpstr>接口的基本构成</vt:lpstr>
      <vt:lpstr>二、接口的类型及特点</vt:lpstr>
      <vt:lpstr>接口特点</vt:lpstr>
      <vt:lpstr>三、三态门接口</vt:lpstr>
      <vt:lpstr>74LS244</vt:lpstr>
      <vt:lpstr>PowerPoint 演示文稿</vt:lpstr>
      <vt:lpstr>四、锁存器接口</vt:lpstr>
      <vt:lpstr>PowerPoint 演示文稿</vt:lpstr>
      <vt:lpstr>锁存器芯片74LS273</vt:lpstr>
      <vt:lpstr> 锁存器芯片74LS374</vt:lpstr>
      <vt:lpstr>I/O接口综合应用例</vt:lpstr>
      <vt:lpstr>PowerPoint 演示文稿</vt:lpstr>
      <vt:lpstr>PowerPoint 演示文稿</vt:lpstr>
      <vt:lpstr>PowerPoint 演示文稿</vt:lpstr>
      <vt:lpstr>PowerPoint 演示文稿</vt:lpstr>
      <vt:lpstr>§6.3 基本输入/输出方法</vt:lpstr>
      <vt:lpstr>基本输入/输出方法</vt:lpstr>
      <vt:lpstr>一、无条件传送</vt:lpstr>
      <vt:lpstr>无条件传送例</vt:lpstr>
      <vt:lpstr>PowerPoint 演示文稿</vt:lpstr>
      <vt:lpstr>二、查询工作方式</vt:lpstr>
      <vt:lpstr>PowerPoint 演示文稿</vt:lpstr>
      <vt:lpstr>PowerPoint 演示文稿</vt:lpstr>
      <vt:lpstr>查询工作方式例</vt:lpstr>
      <vt:lpstr>PowerPoint 演示文稿</vt:lpstr>
      <vt:lpstr>PowerPoint 演示文稿</vt:lpstr>
      <vt:lpstr>查询工作方式</vt:lpstr>
      <vt:lpstr>三、中断控制方式</vt:lpstr>
      <vt:lpstr>以上三种I/O方式的共性</vt:lpstr>
      <vt:lpstr>四、DMA控制方式</vt:lpstr>
      <vt:lpstr>DMA控制方式</vt:lpstr>
      <vt:lpstr>DMA控制方式的工作过程</vt:lpstr>
      <vt:lpstr>PowerPoint 演示文稿</vt:lpstr>
      <vt:lpstr>DMA控制方式工作过程例</vt:lpstr>
      <vt:lpstr>DMA工作方式</vt:lpstr>
      <vt:lpstr>§6.4 中断技术</vt:lpstr>
      <vt:lpstr>掌握：</vt:lpstr>
      <vt:lpstr>PowerPoint 演示文稿</vt:lpstr>
      <vt:lpstr>PowerPoint 演示文稿</vt:lpstr>
      <vt:lpstr>PowerPoint 演示文稿</vt:lpstr>
      <vt:lpstr>引入中断的原因</vt:lpstr>
      <vt:lpstr>二、外部中断响应的一般过程</vt:lpstr>
      <vt:lpstr>中断请求</vt:lpstr>
      <vt:lpstr>中断源的识别</vt:lpstr>
      <vt:lpstr>中断判优</vt:lpstr>
      <vt:lpstr>PowerPoint 演示文稿</vt:lpstr>
      <vt:lpstr>PowerPoint 演示文稿</vt:lpstr>
      <vt:lpstr>中断响应</vt:lpstr>
      <vt:lpstr>中断服务子程序（响应、处理、返回）</vt:lpstr>
      <vt:lpstr>8088/8086的中断响应和处理流程</vt:lpstr>
      <vt:lpstr>三、8086/8088的中断系统 </vt:lpstr>
      <vt:lpstr>PowerPoint 演示文稿</vt:lpstr>
      <vt:lpstr>PowerPoint 演示文稿</vt:lpstr>
      <vt:lpstr>除法出错中断</vt:lpstr>
      <vt:lpstr>溢出中断</vt:lpstr>
      <vt:lpstr>单步中断</vt:lpstr>
      <vt:lpstr>指令软中断（用户自定义的软件中断）</vt:lpstr>
      <vt:lpstr>不可屏蔽中断</vt:lpstr>
      <vt:lpstr>可屏蔽中断</vt:lpstr>
      <vt:lpstr>中断向量表</vt:lpstr>
      <vt:lpstr>PowerPoint 演示文稿</vt:lpstr>
      <vt:lpstr>PowerPoint 演示文稿</vt:lpstr>
      <vt:lpstr>PowerPoint 演示文稿</vt:lpstr>
      <vt:lpstr>8086中断矢量表的初始化</vt:lpstr>
      <vt:lpstr>方法二：直接将中断服务程序的入口地址装入中断矢量表中</vt:lpstr>
      <vt:lpstr>常用的BIOS中断调用：</vt:lpstr>
      <vt:lpstr>PowerPoint 演示文稿</vt:lpstr>
      <vt:lpstr>（2）设置光标位置</vt:lpstr>
      <vt:lpstr>（3）在当前光标处写字符和属性</vt:lpstr>
      <vt:lpstr>PowerPoint 演示文稿</vt:lpstr>
      <vt:lpstr>PowerPoint 演示文稿</vt:lpstr>
      <vt:lpstr>（4）设置图形方式显示的背景和彩色组</vt:lpstr>
      <vt:lpstr>PowerPoint 演示文稿</vt:lpstr>
      <vt:lpstr>PowerPoint 演示文稿</vt:lpstr>
      <vt:lpstr>四、可编程中断控制器8259A</vt:lpstr>
      <vt:lpstr>8259A的结构功能</vt:lpstr>
      <vt:lpstr>PowerPoint 演示文稿</vt:lpstr>
      <vt:lpstr>PowerPoint 演示文稿</vt:lpstr>
      <vt:lpstr>8259内部结构说明</vt:lpstr>
      <vt:lpstr>PowerPoint 演示文稿</vt:lpstr>
      <vt:lpstr>8259A的工作方式</vt:lpstr>
      <vt:lpstr>中断优先方式与中断嵌套</vt:lpstr>
      <vt:lpstr>PowerPoint 演示文稿</vt:lpstr>
      <vt:lpstr>PowerPoint 演示文稿</vt:lpstr>
      <vt:lpstr>PowerPoint 演示文稿</vt:lpstr>
      <vt:lpstr>PowerPoint 演示文稿</vt:lpstr>
      <vt:lpstr>中断结束处理方式</vt:lpstr>
      <vt:lpstr> </vt:lpstr>
      <vt:lpstr>PowerPoint 演示文稿</vt:lpstr>
      <vt:lpstr>屏蔽中断源的方式</vt:lpstr>
      <vt:lpstr>中断触发方式</vt:lpstr>
      <vt:lpstr>级联工作方式</vt:lpstr>
      <vt:lpstr>级连电路连接方法</vt:lpstr>
      <vt:lpstr>PowerPoint 演示文稿</vt:lpstr>
      <vt:lpstr>PowerPoint 演示文稿</vt:lpstr>
      <vt:lpstr>8259A的编程使用</vt:lpstr>
      <vt:lpstr>8259A内部寄存器的寻址方法</vt:lpstr>
      <vt:lpstr>8259A的初始化顺序 </vt:lpstr>
      <vt:lpstr>PowerPoint 演示文稿</vt:lpstr>
      <vt:lpstr>ICW1——初始化字</vt:lpstr>
      <vt:lpstr>ICW2——中断向量码</vt:lpstr>
      <vt:lpstr>ICW3——级连控制字 </vt:lpstr>
      <vt:lpstr>PowerPoint 演示文稿</vt:lpstr>
      <vt:lpstr>ICW4——中断结束方式字 </vt:lpstr>
      <vt:lpstr>PowerPoint 演示文稿</vt:lpstr>
      <vt:lpstr>图:  8259A缓冲方式下级连结构</vt:lpstr>
      <vt:lpstr>PowerPoint 演示文稿</vt:lpstr>
      <vt:lpstr>8259A的操作命令字OCW </vt:lpstr>
      <vt:lpstr>OCW1——中断屏蔽字 </vt:lpstr>
      <vt:lpstr>OCW2——中断结束和优先级循环 </vt:lpstr>
      <vt:lpstr>PowerPoint 演示文稿</vt:lpstr>
      <vt:lpstr>PowerPoint 演示文稿</vt:lpstr>
      <vt:lpstr>OCW3——屏蔽方式和读出控制字 </vt:lpstr>
      <vt:lpstr>PowerPoint 演示文稿</vt:lpstr>
      <vt:lpstr>PowerPoint 演示文稿</vt:lpstr>
      <vt:lpstr>PowerPoint 演示文稿</vt:lpstr>
      <vt:lpstr>PowerPoint 演示文稿</vt:lpstr>
      <vt:lpstr>PowerPoint 演示文稿</vt:lpstr>
      <vt:lpstr>8259A编程举例</vt:lpstr>
      <vt:lpstr>PowerPoint 演示文稿</vt:lpstr>
      <vt:lpstr>8259与计算机的连接</vt:lpstr>
      <vt:lpstr>两片8259级联管理15级中断</vt:lpstr>
      <vt:lpstr>8259与计算机的连接</vt:lpstr>
      <vt:lpstr>PowerPoint 演示文稿</vt:lpstr>
      <vt:lpstr>PowerPoint 演示文稿</vt:lpstr>
      <vt:lpstr>PowerPoint 演示文稿</vt:lpstr>
      <vt:lpstr>PowerPoint 演示文稿</vt:lpstr>
      <vt:lpstr>PowerPoint 演示文稿</vt:lpstr>
      <vt:lpstr>例4</vt:lpstr>
      <vt:lpstr>PowerPoint 演示文稿</vt:lpstr>
      <vt:lpstr>PowerPoint 演示文稿</vt:lpstr>
      <vt:lpstr>PowerPoint 演示文稿</vt:lpstr>
      <vt:lpstr>PC机中断程序设计</vt:lpstr>
      <vt:lpstr>例1</vt:lpstr>
      <vt:lpstr>PowerPoint 演示文稿</vt:lpstr>
      <vt:lpstr>PowerPoint 演示文稿</vt:lpstr>
      <vt:lpstr>例2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湖熟现代农业示范园农业物联网建设方案</dc:title>
  <dc:creator>a</dc:creator>
  <cp:lastModifiedBy>2017</cp:lastModifiedBy>
  <cp:revision>349</cp:revision>
  <dcterms:created xsi:type="dcterms:W3CDTF">2015-05-04T11:41:00Z</dcterms:created>
  <dcterms:modified xsi:type="dcterms:W3CDTF">2026-05-19T02:59:22Z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338F7D808A3F4CA0AC36D8462074EFAA</vt:lpwstr>
  </property>
</Properties>
</file>