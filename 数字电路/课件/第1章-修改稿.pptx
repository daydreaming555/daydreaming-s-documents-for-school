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xml" ContentType="application/inkml+xml"/>
  <Override PartName="/ppt/ink/ink80.xml" ContentType="application/inkml+xml"/>
  <Override PartName="/ppt/ink/ink81.xml" ContentType="application/inkml+xml"/>
  <Override PartName="/ppt/ink/ink9.xml" ContentType="application/inkml+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3"/>
  </p:sldMasterIdLst>
  <p:sldIdLst>
    <p:sldId id="257" r:id="rId4"/>
    <p:sldId id="256"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2" r:id="rId19"/>
    <p:sldId id="271" r:id="rId20"/>
    <p:sldId id="273" r:id="rId21"/>
    <p:sldId id="274" r:id="rId22"/>
    <p:sldId id="275" r:id="rId23"/>
    <p:sldId id="276" r:id="rId24"/>
    <p:sldId id="284" r:id="rId25"/>
    <p:sldId id="297" r:id="rId26"/>
    <p:sldId id="298" r:id="rId27"/>
    <p:sldId id="299" r:id="rId28"/>
    <p:sldId id="300" r:id="rId29"/>
    <p:sldId id="285" r:id="rId30"/>
    <p:sldId id="286" r:id="rId31"/>
    <p:sldId id="287" r:id="rId32"/>
    <p:sldId id="288" r:id="rId33"/>
    <p:sldId id="278" r:id="rId34"/>
    <p:sldId id="279" r:id="rId35"/>
    <p:sldId id="280" r:id="rId36"/>
    <p:sldId id="281" r:id="rId37"/>
    <p:sldId id="289" r:id="rId38"/>
    <p:sldId id="282" r:id="rId39"/>
    <p:sldId id="301" r:id="rId40"/>
    <p:sldId id="303" r:id="rId41"/>
    <p:sldId id="304" r:id="rId42"/>
    <p:sldId id="305" r:id="rId43"/>
    <p:sldId id="306" r:id="rId44"/>
    <p:sldId id="307" r:id="rId45"/>
    <p:sldId id="302" r:id="rId46"/>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3300"/>
    <a:srgbClr val="FFFFCC"/>
    <a:srgbClr val="00FF00"/>
    <a:srgbClr val="990000"/>
    <a:srgbClr val="CCCCFF"/>
    <a:srgbClr val="FFCC99"/>
    <a:srgbClr val="CC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00"/>
    <p:restoredTop sz="94600"/>
  </p:normalViewPr>
  <p:slideViewPr>
    <p:cSldViewPr showGuides="1">
      <p:cViewPr varScale="1">
        <p:scale>
          <a:sx n="68" d="100"/>
          <a:sy n="68" d="100"/>
        </p:scale>
        <p:origin x="-1146"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9" Type="http://schemas.openxmlformats.org/officeDocument/2006/relationships/tableStyles" Target="tableStyles.xml"/><Relationship Id="rId48" Type="http://schemas.openxmlformats.org/officeDocument/2006/relationships/viewProps" Target="viewProps.xml"/><Relationship Id="rId47" Type="http://schemas.openxmlformats.org/officeDocument/2006/relationships/presProps" Target="presProps.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5.emf"/></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111.000 290.000,'82.000'0.000,"-82.000"38.000,-82.000-38.000,82.000-38.000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9701" units="cm"/>
      <inkml:brushProperty name="height" value="0.09701" units="cm"/>
      <inkml:brushProperty name="color" value="#b178d0"/>
      <inkml:brushProperty name="ignorePressure" value="0"/>
    </inkml:brush>
  </inkml:definitions>
  <inkml:trace contextRef="#ctx0" brushRef="#br0">109.000 385.000,'87.000'0.000,"-87.000"36.000,-87.000-36.000,87.000-36.000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9701" units="cm"/>
      <inkml:brushProperty name="height" value="0.09701" units="cm"/>
      <inkml:brushProperty name="color" value="#b178d0"/>
      <inkml:brushProperty name="ignorePressure" value="0"/>
    </inkml:brush>
  </inkml:definitions>
  <inkml:trace contextRef="#ctx0" brushRef="#br0">208.000 417.000,'911.000'0.000,"-911.000"1.000,-911.000-1.000,911.000-1.000</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209.000 326.000,'727.000'0.000,"-727.000"4.000,-727.000-4.000,727.000-4.000</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9701" units="cm"/>
      <inkml:brushProperty name="height" value="0.09701" units="cm"/>
      <inkml:brushProperty name="color" value="#00d898"/>
      <inkml:brushProperty name="ignorePressure" value="0"/>
    </inkml:brush>
  </inkml:definitions>
  <inkml:trace contextRef="#ctx0" brushRef="#br0">61.000 240.000,'188.000'0.000,"-188.000"37.000,-188.000-37.000,188.000-37.000</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9701" units="cm"/>
      <inkml:brushProperty name="height" value="0.09701" units="cm"/>
      <inkml:brushProperty name="color" value="#00d898"/>
      <inkml:brushProperty name="ignorePressure" value="0"/>
    </inkml:brush>
  </inkml:definitions>
  <inkml:trace contextRef="#ctx0" brushRef="#br0">56.000 436.000,'195.000'0.000,"-195.000"34.000,-195.000-34.000,195.000-34.000</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9701" units="cm"/>
      <inkml:brushProperty name="height" value="0.09701" units="cm"/>
      <inkml:brushProperty name="color" value="#00d898"/>
      <inkml:brushProperty name="ignorePressure" value="0"/>
    </inkml:brush>
  </inkml:definitions>
  <inkml:trace contextRef="#ctx0" brushRef="#br0">63.000 586.000,'189.000'0.000,"-189.000"38.000,-189.000-38.000,189.000-38.000</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9701" units="cm"/>
      <inkml:brushProperty name="height" value="0.09701" units="cm"/>
      <inkml:brushProperty name="color" value="#b178d0"/>
      <inkml:brushProperty name="ignorePressure" value="0"/>
    </inkml:brush>
  </inkml:definitions>
  <inkml:trace contextRef="#ctx0" brushRef="#br0">117.000 667.000,'664.000'0.000,"-664.000"4.000,-664.000-4.000,664.000-4.000</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9701" units="cm"/>
      <inkml:brushProperty name="height" value="0.09701" units="cm"/>
      <inkml:brushProperty name="color" value="#ffff00"/>
      <inkml:brushProperty name="ignorePressure" value="0"/>
    </inkml:brush>
  </inkml:definitions>
  <inkml:trace contextRef="#ctx0" brushRef="#br0">113.000 568.000,'343.000'0.000,"-343.000"7.000,-343.000-7.000,343.000-7.000</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9701" units="cm"/>
      <inkml:brushProperty name="height" value="0.09701" units="cm"/>
      <inkml:brushProperty name="color" value="#00d8f8"/>
      <inkml:brushProperty name="ignorePressure" value="0"/>
    </inkml:brush>
  </inkml:definitions>
  <inkml:trace contextRef="#ctx0" brushRef="#br0">115.000 567.000,'341.000'0.000,"-341.000"9.000,-341.000-9.000,341.000-9.000</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234.000 454.000,'198.000'0.000,"-198.000"5.000,-198.000-5.000,198.000-5.000</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9701" units="cm"/>
      <inkml:brushProperty name="height" value="0.09701" units="cm"/>
      <inkml:brushProperty name="color" value="#b178d0"/>
      <inkml:brushProperty name="ignorePressure" value="0"/>
    </inkml:brush>
  </inkml:definitions>
  <inkml:trace contextRef="#ctx0" brushRef="#br0">452.000 456.000,'329.000'0.000,"-329.000"8.000,-329.000-8.000,329.000-8.000</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7030a0"/>
      <inkml:brushProperty name="ignorePressure" value="0"/>
    </inkml:brush>
  </inkml:definitions>
  <inkml:trace contextRef="#ctx0" brushRef="#br0">578.000 478.000,'0.000'0.004,"0.000"0.006,0.000 0.007,0.000 0.007,0.000 0.006,0.000 0.005,0.000 0.004,0.000 0.003,0.000 0.002,0.000 0.001,0.000 0.001,0.000 0.000,0.000 0.000,0.000 0.000,0.000-0.000,0.000-0.000,0.000-0.000,0.000-0.000,0.000-0.000,0.000-0.000,0.000-0.000,0.000-0.000,0.000-0.000,0.000-0.000,0.000-0.000,0.000-0.000,0.000 0.000,0.000 0.000,0.000 0.000,0.000 0.000,0.000 0.000,0.000 0.000,0.000 0.000,0.000 0.000,0.000 0.000,0.000 0.000,0.000 0.000,0.000 0.000,0.000 0.000,0.000-0.000,0.000 0.000,0.000 0.000,0.000 0.000,0.000-0.000,0.000 0.000,0.000 0.000,0.000 0.000,0.000 0.000,0.000 0.000,0.000 0.000,0.000-0.000,0.000 0.000,0.000-0.000,0.000 0.000,0.000 0.000,0.000 0.000,0.000 0.000,0.000-0.000,0.000 0.000,0.000 0.000,0.000 0.000,0.000-0.000,0.000 0.000,0.000 0.000,0.000 0.000,0.000-0.000,0.000 0.026,0.000 0.039,0.000 0.043,0.000 0.042,0.000 0.038,0.000 0.032,-0.017-0.023,-0.026 0.009,-0.031 0.006,-0.032 0.003,-0.033 0.002,-0.036 0.009,-0.034 0.010,-0.002-0.035,-0.016-0.020,-0.013-0.026,-0.009-0.029,-0.006-0.003,-0.004 0.016,-0.002 0.028,-0.001 0.034,0.000 0.024,0.001 0.015,0.001 0.009,0.001 0.004,-0.060 0.074,0.023-0.026,0.027-0.034,0.028-0.035,0.026-0.033,0.022-0.029,0.018-0.024,0.030-0.052,-0.037 0.008,-0.049 0.015,-0.120 0.087,0.004 0.027,0.031 0.021,0.039-0.019,0.012-0.010,0.006-0.016,0.002-0.018,-0.001-0.019,-0.002-0.017,-0.003-0.015,-0.026 0.014,-0.009 0.012,-0.008 0.018,0.005 0.009,0.004 0.009,0.007 0.006,0.007 0.003,0.022-0.021,0.009-0.015,0.008-0.017,0.007-0.018,0.006-0.017,0.004-0.015,0.003-0.013,0.002-0.010,0.002-0.008,-1.627 1.284</inkml:trace>
</inkml:ink>
</file>

<file path=ppt/ink/ink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7030a0"/>
      <inkml:brushProperty name="ignorePressure" value="0"/>
    </inkml:brush>
  </inkml:definitions>
  <inkml:trace contextRef="#ctx0" brushRef="#br0">572.000 493.000,'0.000'0.019,"0.000"0.028,0.000 0.032,0.000 0.031,0.000 0.028,0.000 0.024,0.000 0.019,0.000 0.014,0.000 0.011,0.000 0.007,0.000 0.004,0.000 0.003,0.000 0.001,0.000 0.000,0.000-0.013,0.000 0.021,0.000 0.025,0.000 0.027,0.000 0.025,0.000 0.085,0.000 0.054,0.000 0.052,0.000-0.401,0.000 0.409,0.000 0.049,0.000 0.275,0.000 0.067,0.000-0.011,0.000-0.058,0.000-0.241,0.000-0.043,0.000-0.041,0.000 0.130,0.000 0.023,0.000-0.009,0.000-0.029,0.000 0.258,0.000 0.071,0.000 0.021,0.000-0.784,0.000 0.687,0.000-0.021,0.000-0.047,0.000-0.630,0.000 0.707,0.000 0.005,0.000-0.006,0.000-0.013,0.000-0.013,0.000 0.018,0.000-0.001,0.000-0.058,0.000-0.016,0.000-0.040,0.000-0.055,0.000 0.172,0.000-0.049,0.000-0.071,0.000 0.031,0.000 0.017,0.000-0.023,0.000-0.964</inkml:trace>
</inkml:ink>
</file>

<file path=ppt/ink/ink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7030a0"/>
      <inkml:brushProperty name="ignorePressure" value="0"/>
    </inkml:brush>
  </inkml:definitions>
  <inkml:trace contextRef="#ctx0" brushRef="#br0">582.000 486.000,'0.005'0.000,"0.008"0.000,0.009 0.000,0.009 0.000,0.008 0.000,0.007 0.000,0.005 0.000,0.004 0.000,0.003 0.000,0.002 0.000,0.001 0.000,0.001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0.000,0.013-0.010,0.024-0.016,0.027-0.018,0.027-0.018,0.025-0.016,0.021-0.014,0.018-0.011,0.014-0.009,0.006-0.001,-0.016 0.012,-0.022 0.016,-0.024 0.017,-0.023 0.016,-0.020 0.014,-0.017 0.012,-0.013 0.009,-0.010 0.007,-0.007 0.005,-0.005 0.003,-0.003 0.002,-0.001 0.001,-0.000 0.000,0.000-0.000,0.000-0.000,0.001-0.001,0.001-0.001,0.001-0.000,0.001-0.000,0.000-0.000,0.000-0.000,0.000-0.000,0.000-0.000,0.000-0.000,-0.007 0.007,-0.011 0.011,-0.012 0.013,-0.012 0.012,-0.011 0.011,-0.009 0.009,-0.007 0.007,-0.005 0.006,-0.004 0.004,-0.003 0.003,-0.002 0.002,-0.001 0.001,-0.000 0.000,0.000-0.000,0.000-0.000,0.000-0.000,0.000-0.000,0.000-0.000,0.000-0.000,0.000-0.000,0.000-0.000,0.000-0.000,0.000-0.000,0.000-0.000,0.000-0.000,0.000 0.000,0.000-0.000,0.000 0.000,0.000 0.000,0.000 0.000,0.000 0.000,0.000 0.000,-0.000 0.000,0.000 0.000,0.000 0.000,0.000 0.000,0.000 0.010,0.000 0.041,0.000 0.050,0.000 0.052,0.000 0.117,0.000 0.071,0.000 0.041,0.000 0.091,0.000-0.004,0.000-0.021,0.000 0.002,0.000-0.004,0.000-0.030,0.000-0.043,0.000-0.049,0.000-0.049,0.000-0.037,0.000-0.001,0.000 0.011,0.000 0.019,0.000-0.014,0.000-0.002,0.000-0.006,0.000-0.009,0.000 0.048,0.000-0.032,0.000-0.034,0.000-0.033,0.000-0.029,0.000-0.024,0.000-0.043,0.000 0.022,0.000 0.031,0.000 0.036,0.000 0.114,0.000 0.045,0.000 0.014,0.000-0.008,0.000-0.022,0.000-0.030,0.000 0.011,0.000-0.033,0.000-0.029,0.000-0.024,0.000-0.029,0.000-0.008,0.000-0.004,0.000-0.000,0.000 0.002,0.000 0.003,0.000 0.004,0.000 0.034,0.000 0.038,0.000 0.020,0.000 0.007,0.000 0.044,0.000-0.003,0.000-0.008,0.000 0.013,0.000-0.038,0.000-0.042,0.000-0.040,0.000-0.035,0.000-0.030,-0.010-0.037,-0.016 0.000,-0.018 0.007,-0.019 0.010,-0.018 0.012,-0.016 0.012,-0.014 0.012,-0.040 0.041,-0.033 0.014,-0.033 0.012,-0.003-0.020,-0.000-0.018,0.007-0.023,0.011-0.024,0.013-0.023,0.013-0.021,0.012-0.017,0.011-0.014,-0.000-0.007,0.012-0.020,0.011-0.019,0.009-0.016,0.007-0.013,0.005-0.010,0.004-0.008,0.003-0.005,0.002-0.003,0.001-0.002,0.000-0.001,0.000-0.000,-0.000 0.000,-0.000 0.000,-0.000 0.001,-0.000 0.001,-0.000 0.001,-0.000 0.000,-0.000 0.000,-0.000 0.000,-1.241 1.121</inkml:trace>
</inkml:ink>
</file>

<file path=ppt/ink/ink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7030a0"/>
      <inkml:brushProperty name="ignorePressure" value="0"/>
    </inkml:brush>
  </inkml:definitions>
  <inkml:trace contextRef="#ctx0" brushRef="#br0">579.000 493.000,'0.012'0.012,"0.018"0.018,0.020 0.020,0.020 0.020,0.018 0.018,0.015 0.015,0.012 0.012,0.009 0.009,0.007 0.007,0.004 0.004,0.003 0.003,0.001 0.002,0.001 0.001,0.000 0.000,-0.000-0.000,-0.001-0.001,-0.001-0.001,-0.001-0.001,-0.001-0.001,-0.000-0.000,-0.000-0.000,-0.000-0.000,-0.052-0.039,0.018 0.042,0.078 0.150,0.007 0.052,-0.006 0.030,-0.015 0.013,-0.128-0.297,0.245 0.460,0.051 0.031,0.031-0.001,-0.033 0.019,-0.031 0.016,-0.042-0.010,-0.207-0.483,0.288 0.487,0.021-0.059,0.003-0.062,-0.009-0.058,-0.293-0.348,0.161 0.216,0.011 0.023,0.064 0.143,0.007 0.041,0.002 0.015,-0.002-0.004,-0.004-0.003,-0.006-0.003,-0.006-0.002,-0.007-0.002,0.115 0.050,0.031-0.066,0.007-0.078,-0.009-0.080,0.181 0.048,0.071 0.012,0.015 0.003,0.063 0.081,0.003 0.038,-0.034 0.008,-0.070-0.045,-0.069-0.062,-0.070-0.072,-0.065-0.072,0.007-0.073,0.009-0.053,-0.004-0.044,-0.029 0.013,0.018 0.013,0.002 0.003,-0.009-0.005,-0.004 0.011,-0.015 0.017,-0.015 0.022,0.050 0.042,-0.040-0.012,-0.043-0.023,-0.041-0.029,-0.036-0.030,-0.031-0.026,-0.037-0.026,-0.032-0.022,-0.027-0.017,-0.021-0.013,-0.016-0.009,-0.011-0.006,-0.008-0.004,-0.005-0.002,-0.002-0.001,-0.001 0.000,0.000 0.001,0.001 0.001,0.001 0.001,0.001 0.001,0.001 0.001,0.001 0.001,0.302 0.001</inkml:trace>
</inkml:ink>
</file>

<file path=ppt/ink/ink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7030a0"/>
      <inkml:brushProperty name="ignorePressure" value="0"/>
    </inkml:brush>
  </inkml:definitions>
  <inkml:trace contextRef="#ctx0" brushRef="#br0">607.000 480.000,'0.003'0.008,"0.004"0.012,0.005 0.014,0.005 0.014,0.004 0.012,0.003 0.010,0.003 0.008,0.002 0.006,0.002 0.005,0.001 0.003,0.001 0.002,0.000 0.001,0.000 0.000,0.000 0.000,-0.000-0.000,-0.000-0.000,-0.000-0.000,-0.000-0.000,-0.000-0.000,-0.000-0.000,-0.000-0.000,-0.000-0.000,0.000-0.000,-0.000-0.000,0.000-0.000,-0.000-0.000,0.000-0.000,0.000 0.000,0.000 0.000,0.000 0.000,0.000 0.000,0.000 0.000,-0.002 0.082,-0.004 0.122,0.007 0.037,0.016 0.021,0.019-0.002,0.020-0.016,0.019-0.023,0.017-0.026,0.024 0.004,0.011-0.005,0.008 0.001,0.005 0.005,0.003 0.006,0.001 0.007,-0.015-0.008,-0.023-0.017,-0.026-0.020,-0.026-0.021,-0.023-0.019,-0.019-0.016,-0.028 0.390</inkml:trace>
</inkml:ink>
</file>

<file path=ppt/ink/ink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7030a0"/>
      <inkml:brushProperty name="ignorePressure" value="0"/>
    </inkml:brush>
  </inkml:definitions>
  <inkml:trace contextRef="#ctx0" brushRef="#br0">620.000 477.000,'0.000'0.017,"0.000"0.025,0.000 0.028,0.000 0.028,0.000 0.025,0.000 0.021,0.000 0.016,0.000 0.012,0.000 0.009,0.000 0.006,0.000 0.004,0.000 0.002,0.000 0.001,0.000-0.000,0.000-0.001,0.000-0.001,0.000-0.007,0.000 0.017,0.000 0.021,0.000 0.021,0.000 0.020,0.000 0.018,-0.013-0.036,-0.022 0.005,-0.027 0.003,-0.028 0.002,-0.074 0.074,-0.046 0.005,-0.039 0.003,0.199-0.277,-0.228 0.213,-0.020-0.006,0.004-0.005,0.020-0.004,-0.064 0.022,-0.036-0.040,-0.047-0.045,0.051-0.024,0.028 0.020,0.041 0.034,0.047 0.040,-0.010 0.048,-0.027 0.023,-0.045 0.014,0.015-0.034,-0.008-0.003,-0.001-0.006,0.004-0.008,-0.082 0.029,0.000-0.003,0.030-0.001,0.300-0.263,-0.367 0.248,0.001-0.046,0.024-0.051,0.036-0.049,0.040-0.044,0.039-0.038,-0.493 0.943</inkml:trace>
</inkml:ink>
</file>

<file path=ppt/ink/ink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7030a0"/>
      <inkml:brushProperty name="ignorePressure" value="0"/>
    </inkml:brush>
  </inkml:definitions>
  <inkml:trace contextRef="#ctx0" brushRef="#br0">606.000 491.000,'0.007'0.000,"0.010"0.000,0.012 0.000,0.011 0.000,0.010 0.000,0.009 0.000,0.007 0.000,0.005 0.000,0.004 0.000,0.003 0.000,0.002 0.000,0.001 0.000,0.000 0.000,0.000 0.000,-0.000 0.000,-0.000 0.000,-0.000 0.000,-0.000 0.000,-0.000 0.000,-0.000 0.000,-0.000 0.000,-0.000 0.000,-0.000 0.000,-0.000 0.000,-0.000 0.000,0.000 0.000,-0.000 0.000,0.000 0.000,0.000 0.000,0.000 0.000,0.000 0.000,0.000 0.000,0.000 0.000,0.000 0.000,0.000 0.000,0.000 0.000,0.000 0.000,0.000 0.000,0.008 0.000,0.013 0.000,0.015 0.000,0.015 0.000,0.013 0.000,0.012 0.000,0.009 0.000,0.007 0.000,0.005 0.000,0.004 0.000,0.002 0.000,-0.006 0.000,0.003 0.000,0.004 0.000,0.004 0.000,0.003 0.000,0.003 0.000,0.002 0.000,0.002 0.000,0.001 0.000,0.001 0.000,0.003 0.000,-0.014 0.000,-0.017 0.000,-0.017 0.000,-0.015 0.000,-0.013 0.000,-0.011 0.000,-0.008 0.000,-0.006 0.000,-0.004 0.000,-0.003 0.000,-0.002 0.000,-0.001 0.000,-0.000 0.000,0.000 0.000,0.000 0.000,0.000 0.000,0.001 0.000,0.000 0.000,0.000 0.000,0.000 0.000,0.005 0.000,0.013 0.000,0.015 0.000,0.015 0.000,0.014 0.000,0.012 0.000,0.010 0.000,0.008 0.000,0.006 0.000,0.004 0.000,0.000 0.000,-0.004 0.000,-0.006 0.000,-0.006 0.000,-0.006 0.000,-0.006 0.000,-0.005 0.000,-0.004 0.000,-0.003 0.000,-0.002 0.000,-0.002 0.000,-0.001 0.000,-0.001 0.000,1.404 0.000</inkml:trace>
</inkml:ink>
</file>

<file path=ppt/ink/ink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7030a0"/>
      <inkml:brushProperty name="ignorePressure" value="0"/>
    </inkml:brush>
  </inkml:definitions>
  <inkml:trace contextRef="#ctx0" brushRef="#br0">611.000 474.000,'0.003'0.009,"0.005"0.014,0.005 0.015,0.005 0.015,0.005 0.014,0.004 0.011,0.003 0.009,0.002 0.007,0.002 0.005,0.001 0.003,0.001 0.002,0.000 0.001,0.000 0.000,0.000 0.000,-0.000-0.000,-0.000-0.000,-0.000-0.000,-0.000-0.000,-0.000-0.000,-0.000-0.000,-0.000-0.000,-0.000-0.000,-0.000-0.000,-0.000-0.000,0.000-0.000,-0.000-0.000,0.000 0.000,0.000 0.000,0.000 0.000,0.012 0.021,0.018 0.031,0.020 0.035,0.019 0.034,0.017 0.030,0.015 0.025,-0.007 0.010,-0.013 0.015,-0.018 0.012,-0.019-0.005,-0.018-0.015,-0.016-0.020,-0.014-0.022,-0.011-0.021,-0.008-0.018,0.022 0.027,0.039 0.052,0.046 0.063,0.005-0.014,0.001-0.003,-0.008-0.015,-0.013-0.023,-0.016-0.026,-0.016-0.026,-0.015-0.024,0.012 0.034,0.019 0.024,0.026 0.034,0.028 0.037,-0.036-0.086,-0.003 0.011,-0.007 0.010,0.015 0.197,-0.019 0.049,-0.019 0.013,-0.021-0.070,-0.013-0.037,-0.011-0.045,-0.009-0.047,-0.007-0.045,-0.005-0.040,-0.004-0.035,-0.002-0.009,-0.001 0.016,-0.001 0.028,-0.000 0.034,0.000 0.001,0.000 0.009,0.000 0.002,0.000-0.002,0.002-0.239,-0.002 0.380,0.001 0.036,0.000 0.009,0.025-0.038,0.039-0.014,0.045-0.017,0.011 0.084,0.004 0.064,-0.005 0.027,-0.004 0.037,-0.016-0.032,-0.018-0.047,-0.017-0.053,-0.014-0.019,-0.015-0.046,-0.012-0.037,-0.009-0.029,-0.007-0.021,-0.005-0.015,-0.002-0.005,-0.001 0.027,-0.001 0.012,-0.000 0.001,0.073 0.113,0.042 0.034,0.019 0.008,-0.011-0.065,-0.006-0.021,-0.011-0.026,-0.013-0.027,-0.008 0.010,-0.017-0.032,-0.016-0.029,-0.014-0.025,-0.019-0.315</inkml:trace>
</inkml:ink>
</file>

<file path=ppt/ink/ink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7030a0"/>
      <inkml:brushProperty name="ignorePressure" value="0"/>
    </inkml:brush>
  </inkml:definitions>
  <inkml:trace contextRef="#ctx0" brushRef="#br0">615.000 494.000,'-0.010'0.010,"-0.016"0.016,-0.018 0.018,-0.017 0.017,-0.015 0.015,-0.013 0.013,-0.010 0.010,-0.008 0.008,-0.005 0.005,-0.004 0.004,-0.002 0.002,-0.001 0.001,-0.000 0.000,0.000-0.000,0.000-0.000,0.000-0.000,0.000-0.001,0.000-0.001,0.000-0.000,0.000-0.000,0.000-0.000,0.000-0.000,0.000-0.000,0.000-0.000,0.000-0.000,0.000-0.000,-0.009-0.004,-0.027 0.007,-0.031 0.008,-0.031 0.008,-0.029 0.008,-0.025 0.007,-0.015 0.022,-0.042 0.024,-0.025 0.006,-0.012-0.006,-0.094 0.040,0.035-0.020,0.049-0.021,0.052-0.020,0.050-0.018,0.044-0.015,0.037-0.012,0.029-0.009,0.022-0.006,0.035-0.004,0.020 0.018,0.019 0.022,0.017 0.024,0.014 0.023,0.011 0.021,0.009 0.018,-0.001 0.009,-0.007-0.009,-0.010-0.016,-0.012-0.019,-0.012-0.020,-0.011-0.019,-0.010-0.017,-0.008-0.014,-0.007-0.012,-0.005-0.009,-0.008-0.017,0.007-0.037,0.010-0.039,0.010-0.037,0.010-0.032,0.009-0.026,0.007-0.021,0.006-0.015,0.004-0.011,0.003-0.007,0.002-0.004,0.001-0.002,0.001-0.001,0.000 0.000,-0.000 0.001,-0.000 0.001,-0.000 0.001,-0.000 0.001,-0.000 0.001,-0.000 0.001,-0.000 0.001,-0.000 0.000,-0.000 0.000,-0.000 0.000,-0.000 0.000,0.000 0.000,0.000 0.000,-0.000 0.000,0.000-0.000,0.000-0.000,0.000-0.000,-0.079-0.317</inkml:trace>
</inkml:ink>
</file>

<file path=ppt/ink/ink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7030a0"/>
      <inkml:brushProperty name="ignorePressure" value="0"/>
    </inkml:brush>
  </inkml:definitions>
  <inkml:trace contextRef="#ctx0" brushRef="#br0">608.000 489.000,'0.010'0.016,"0.016"0.024,0.018 0.027,0.018 0.027,0.016 0.024,0.014 0.021,0.011 0.017,0.009 0.013,0.006 0.010,0.005 0.007,0.003 0.004,0.002 0.003,0.001 0.001,0.000 0.000,-0.000-0.000,-0.000-0.001,-0.005-0.005,-0.006-0.003,-0.006-0.003,-0.006-0.003,-0.006-0.003,-0.005-0.003,-0.004-0.002,-0.003-0.002,-0.002-0.001,-0.002-0.001,-0.001-0.000,-0.001-0.000,0.004-0.007,0.005-0.013,0.006-0.015,0.006-0.015,0.005-0.014,0.005-0.012,0.004-0.010,0.003-0.007,0.002-0.005,0.002-0.004,0.001-0.002,0.001-0.001,0.000-0.001,0.000-0.000,0.000 0.000,-0.000 0.000,0.008 0.041,0.024 0.070,0.029 0.081,0.005 0.058,-0.011 0.039,-0.020 0.024,-0.008-0.022,0.007-0.032,0.013-0.043,0.017-0.047,0.018-0.047,0.017-0.043,0.015-0.038,0.045-0.005,0.005 0.003,-0.000 0.015,-0.004 0.021,-0.024 0.000,0.006 0.010,0.009 0.008,0.010 0.006,0.010 0.004,0.009 0.003,-0.242-0.135,0.328 0.125,0.023-0.021,-0.005-0.024,-0.022-0.024,-0.031-0.022,-0.035-0.019,-0.018-0.007,-0.035-0.003,-0.030 0.002,-0.025 0.005,-0.019 0.006,-0.014 0.007,-0.010 0.006,-0.006 0.005,-0.003 0.004,-0.002 0.003,-0.000 0.002,0.000 0.002,0.038 0.020,0.066 0.033,0.074 0.037,0.093 0.013,0.044 0.009,0.002 0.001,-0.025-0.003,-0.040-0.006,-0.046-0.007,-0.046-0.007,-0.034-0.010,-0.048-0.026,-0.042-0.028,-0.034-0.026,-0.026-0.023,-0.020-0.019,-0.014-0.015,-0.009-0.011,-0.005-0.008,-0.003-0.005,-0.001-0.003,0.001-0.002,0.001-0.001,0.002 0.000,0.002 0.001,0.002 0.001,0.001 0.001,0.001 0.001,0.001 0.001,0.001 0.001,0.000 0.000,0.241 1.001</inkml:trace>
</inkml:ink>
</file>

<file path=ppt/ink/ink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7030a0"/>
      <inkml:brushProperty name="ignorePressure" value="0"/>
    </inkml:brush>
  </inkml:definitions>
  <inkml:trace contextRef="#ctx0" brushRef="#br0">619.000 506.000,'0.000'0.007,"0.000"0.010,0.000 0.012,0.000 0.011,0.000 0.010,0.000 0.008,0.000 0.007,0.000 0.005,0.000 0.004,0.000 0.002,0.000 0.001,0.000 0.001,0.000 0.000,0.000-0.000,0.000-0.000,0.000-0.000,0.000-0.000,0.000-0.000,0.000-0.000,0.000-0.000,0.000-0.000,0.000-0.000,0.000-0.000,0.000-0.000,0.000-0.000,0.000 0.000,0.000-0.000,0.000 0.000,0.000 0.000,0.000 0.000,0.000 0.000,0.000 0.000,0.000 0.000,0.000 0.000,0.000 0.000,0.000 0.000,0.000 0.000,0.000 0.000,0.000 0.000,-0.025 0.037,-0.038 0.069,-0.044 0.080,0.049-0.140,-0.188 0.263,-0.071 0.024,-0.047-0.015,-0.028 0.010,0.031-0.016,0.049-0.014,0.074-0.072,0.016-0.012,0.009-0.011,0.004-0.009,-0.017 0.033,0.032-0.022,0.036-0.023,0.035-0.022,0.032-0.019,0.027-0.016,0.007 0.008,-0.005 0.012,-0.012 0.017,-0.016 0.019,-0.016 0.018,-0.015 0.016,0.005-0.032,-0.003-0.016,-0.000-0.020,0.001-0.022,0.002-0.022,0.003-0.020,0.003-0.017,0.002-0.014,0.002-0.011,0.002-0.008,0.010-0.006,0.030-0.019,0.033-0.019,0.032-0.017,0.029-0.015,0.024-0.012,0.019-0.009,0.015-0.007,0.011-0.005,0.007-0.003,0.004-0.002,0.002-0.001,0.001-0.000,0.000 0.000,-0.001 0.000,-0.001 0.001,-0.001 0.001,-0.001 0.000,-0.001 0.000,-0.001 0.000,-0.001 0.000,-0.000 0.000,-0.000 0.000,-0.000 0.000,-0.000 0.000,-0.000 0.000,0.000 0.000,0.000 0.000,0.044-0.000,0.072 0.000,0.082 0.000,0.069 0.000,0.059 0.000,0.027-0.000,0.004 0.000,0.050 0.000,0.027 0.000,0.005 0.000,0.064 0.000,-0.032 0.000,-0.040 0.000,-0.070 0.000,-0.033 0.000,-0.029 0.000,-0.079 0.000</inkml:trace>
</inkml:ink>
</file>

<file path=ppt/ink/ink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7030a0"/>
      <inkml:brushProperty name="ignorePressure" value="0"/>
    </inkml:brush>
  </inkml:definitions>
  <inkml:trace contextRef="#ctx0" brushRef="#br0">620.000 507.000,'0.004'0.013,"0.006"0.019,0.007 0.022,0.007 0.021,0.006 0.019,0.005 0.016,0.004 0.012,0.003 0.009,0.002 0.007,0.001 0.004,0.001 0.003,0.000 0.001,0.000 0.001,0.000-0.000,-0.000-0.000,-0.000-0.001,-0.000-0.001,-0.000-0.001,-0.000-0.001,-0.000-0.000,-0.000-0.000,-0.006 0.011,-0.006 0.025,-0.007 0.028,-0.007 0.028,-0.006 0.025,-0.005 0.022,-0.004-0.001,-0.003-0.003,-0.002-0.008,-0.002-0.011,-0.001-0.011,-0.001-0.013,-0.000 0.001,-0.000 0.004,0.000 0.006,0.000 0.007,0.000 0.007,0.000 0.006,0.000 0.009,0.000 0.010,0.000 0.010,-0.013-0.002,-0.022 0.014,-0.026-0.007,-0.028-0.021,-0.015-0.016,-0.005-0.012,0.003-0.008,0.008-0.005,-0.009 0.011,-0.011-0.002,-0.015-0.001,-0.017-0.001,-0.031 0.052,0.013 0.007,0.022 0.007,0.027-0.046,-0.000-0.006,-0.005-0.008,-0.008-0.008,-0.010-0.008,-0.021-0.007,-0.023-0.010,-0.025-0.010,-0.024-0.009,-0.022-0.008,-0.020-0.007,-0.043 0.014,0.016-0.014,0.026-0.015,0.030-0.014,0.030-0.012,0.028-0.010,0.024-0.008,0.019-0.006,0.015-0.004,0.009-0.008,-0.004-0.003,-0.008-0.002,-0.010-0.001,-0.010-0.001,-0.010-0.000,-0.009-0.000,-0.008 0.000,-0.006 0.000,-0.005 0.000,-0.005 0.001,0.016-0.009,0.019-0.010,0.020-0.010,0.019-0.009,0.016-0.008,0.013-0.006,0.010-0.005,0.008-0.004,0.005-0.003,0.004-0.002,0.002-0.001,0.001-0.000,0.000-0.000,-0.000 0.000,-0.000 0.000,-0.001 0.000,-0.001 0.000,-0.001 0.000,-0.000 0.000,-0.000 0.000,-0.000 0.000,-0.000 0.000,-0.000 0.000,-0.000 0.000,-0.000 0.000,-0.000 0.000,0.000 0.000,0.000 0.000,0.021-0.105,0.005-0.159,-0.020-0.274,-0.015-0.120,-0.019-0.057,-0.020-0.013,-0.019 0.015,-1.521-2.717</inkml:trace>
</inkml:ink>
</file>

<file path=ppt/ink/ink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7030a0"/>
      <inkml:brushProperty name="ignorePressure" value="0"/>
    </inkml:brush>
  </inkml:definitions>
  <inkml:trace contextRef="#ctx0" brushRef="#br0">609.000 511.000,'0.014'-0.005,"0.021"-0.007,0.024-0.008,0.023-0.008,0.021-0.007,0.017-0.006,0.014-0.005,0.010-0.003,0.007-0.002,0.005-0.002,0.003-0.001,0.002-0.001,0.001-0.000,-0.000 0.000,-0.000 0.000,-0.001 0.000,-0.001 0.000,-0.001 0.000,-0.001 0.000,0.000-0.006,0.037-0.021,0.045-0.025,0.047-0.026,0.065-0.022,0.023 0.006,0.011 0.015,0.003 0.020,-0.003 0.021,-0.006 0.021,0.116 0.017,0.078 0.017,0.056 0.013,-0.020-0.042,0.056-0.029,0.016-0.015,-0.012-0.005,-0.513 0.087,0.729-0.113,-0.055 0.017,-0.093 0.021,-0.107 0.022,-0.106 0.020,-0.096 0.018,-0.082 0.007,-0.066 0.000,-0.050-0.004,-0.036-0.006,-0.025-0.007,-0.015-0.007,-0.008-0.006,-0.004-0.005,-0.000-0.004,0.002-0.003,0.003-0.002,0.003-0.002,0.018 0.007,0.025 0.011,0.028 0.012,0.026 0.012,0.023 0.011,0.019 0.009,-0.062 0.009,0.004 0.004,0.004 0.003,0.003 0.002,0.951 0.021</inkml:trace>
</inkml:ink>
</file>

<file path=ppt/ink/ink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7030a0"/>
      <inkml:brushProperty name="ignorePressure" value="0"/>
    </inkml:brush>
  </inkml:definitions>
  <inkml:trace contextRef="#ctx0" brushRef="#br0">630.000 473.000,'0.004'0.013,"0.007"0.020,0.008 0.023,0.007 0.022,0.007 0.020,0.005 0.017,0.004 0.013,0.003 0.010,0.002 0.007,0.002 0.005,0.001 0.003,0.000 0.002,0.000 0.001,0.000-0.000,-0.000-0.000,-0.000-0.001,-0.000-0.001,-0.000-0.001,-0.000-0.001,-0.000-0.000,-0.001-0.016,0.018 0.032,0.022 0.040,0.024 0.043,0.035 0.086,-0.002 0.020,-0.012 0.005,-0.018-0.005,-0.031 0.004,-0.015 0.034,-0.014 0.020,-0.006 0.110,-0.016-0.007,-0.013-0.020,-0.018-0.403,0.007 0.503,-0.006 0.035,-0.004-0.014,-0.003-0.045,-0.001-0.060,-0.001-0.065,-0.000-0.039,0.000-0.039,0.001-0.027,0.001-0.071,0.001-0.013,0.000-0.009,0.000-0.006,0.000 0.047,0.000 0.005,0.000 0.006,0.000-0.019,0.000-0.003,0.000-0.004,0.000-0.004,-0.000-0.215,0.000 0.267,0.000 0.023,-0.000 0.003,0.000-0.011,0.000-0.019,-0.000-0.023,0.000 0.010,0.000-0.031,0.000-0.028,-0.000-0.024,0.000-0.020,0.000-0.015,0.000-0.011,0.000-0.008,0.000-0.005,0.000-0.003,0.000-0.001,0.000-0.000,0.000-0.008,0.000 0.011,0.000 0.014,0.000 0.014,0.000 0.013,0.000 0.012,0.000 0.010,0.000 0.008,-0.003 0.010,-0.005-0.025,-0.006-0.031,-0.006-0.032,-0.005-0.030,-0.004-0.026,-0.003-0.021,-0.003-0.017,-0.002-0.012,-0.001-0.009,-0.001-0.006,-0.000-0.003,-0.000-0.002,0.000-0.000,0.000 0.000,0.000 0.001,0.000 0.001,0.000 0.001,0.000 0.001,0.000 0.001,0.000 0.001,0.000 0.001,0.000 0.000,0.000 0.000,0.000 0.000,0.000 0.000,0.000 0.000,0.000 0.000,0.000-0.000,0.000 0.000,0.000-0.000,0.000-0.000,0.000-0.000,-0.000-0.000,0.000-0.000,0.000 0.000,0.000-0.000,0.000 0.000,0.000 0.000,0.000 0.000,-0.000 0.000,0.000 0.000,-0.000 0.000,0.000 0.000,0.000 0.000,0.000 0.000,-0.000 0.000,0.000 0.000,0.000 0.000,0.000 0.000,-0.000 0.000,-1.097 1.097</inkml:trace>
</inkml:ink>
</file>

<file path=ppt/ink/ink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7030a0"/>
      <inkml:brushProperty name="ignorePressure" value="0"/>
    </inkml:brush>
  </inkml:definitions>
  <inkml:trace contextRef="#ctx0" brushRef="#br0">632.000 492.000,'0.011'-0.007,"0.017"-0.011,0.019-0.013,0.018-0.012,0.016-0.011,0.014-0.009,0.011-0.007,0.008-0.006,0.006-0.004,0.004-0.003,0.002-0.002,0.001-0.001,0.000-0.000,-0.000 0.000,-0.000 0.000,-0.000 0.000,-0.001 0.000,-0.000 0.000,-0.000 0.000,-0.000 0.000,-0.000 0.000,-0.000 0.000,-0.000 0.000,-0.000 0.000,0.042-0.018,0.070-0.032,0.079-0.037,-0.037 0.016,0.018-0.018,0.010-0.017,0.004-0.015,0.085-0.051,-0.001 0.022,-0.006 0.033,-0.041 0.025,-0.034 0.007,-0.037 0.000,-0.036-0.004,-0.033-0.007,-0.028-0.008,-0.023-0.008,-0.018-0.007,-0.014-0.006,-0.002-0.005,-0.006 0.018,-0.003 0.022,-0.001 0.023,0.000 0.021,0.001 0.019,0.002 0.015,0.002 0.012,0.002 0.009,0.001 0.006,0.001 0.004,0.001 0.002,0.001 0.001,0.000 0.000,0.000-0.000,0.000-0.001,-1.686 0.850</inkml:trace>
</inkml:ink>
</file>

<file path=ppt/ink/ink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7030a0"/>
      <inkml:brushProperty name="ignorePressure" value="0"/>
    </inkml:brush>
  </inkml:definitions>
  <inkml:trace contextRef="#ctx0" brushRef="#br0">636.000 490.000,'2.000'0.000</inkml:trace>
</inkml:ink>
</file>

<file path=ppt/ink/ink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7030a0"/>
      <inkml:brushProperty name="ignorePressure" value="0"/>
    </inkml:brush>
  </inkml:definitions>
  <inkml:trace contextRef="#ctx0" brushRef="#br0">636.000 490.000,'1.000'0.000</inkml:trace>
</inkml:ink>
</file>

<file path=ppt/ink/ink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7030a0"/>
      <inkml:brushProperty name="ignorePressure" value="0"/>
    </inkml:brush>
  </inkml:definitions>
  <inkml:trace contextRef="#ctx0" brushRef="#br0">637.000 490.000,'0.004'0.004,"0.006"0.006,0.006 0.006,0.006 0.006,0.006 0.006,0.005 0.005,0.004 0.004,0.003 0.003,0.002 0.002,0.001 0.001,0.001 0.001,0.000 0.000,0.000 0.000,0.000 0.000,-0.000-0.000,-0.000-0.000,-0.000-0.000,-0.000-0.000,-0.000-0.000,-0.000-0.000,-0.000-0.000,-0.000-0.000,-0.000-0.000,-0.000-0.000,0.000 0.000,0.000-0.000,0.000 0.000,0.000 0.000,0.000 0.000,0.000 0.000,0.000 0.000,0.000 0.000,0.000 0.000,0.000 0.000,0.000 0.000,0.000 0.000,0.000 0.000,0.000 0.000,0.000-0.000,0.000 0.000,0.000-0.000,0.000 0.000,0.000 0.000,0.000-0.000,0.000 0.000,0.000 0.000,0.000-0.000,0.000 0.000,0.000 0.000,0.000-0.000,0.000 0.000,0.000 0.000,0.000-0.000,0.000 0.000,0.000-0.000,0.000 0.000,-0.000 0.000,0.000-0.000,0.000 0.000,0.000 0.000,0.000-0.000,0.000 0.000,-0.000 0.000,0.000-0.000,0.000 0.000,0.000 0.000,0.000-0.000,0.000 0.000,-0.000 0.000,0.000-0.000,-0.010 0.020,-0.004 0.045,-0.004 0.054,-0.004 0.056,-0.005 0.024,-0.003 0.025,-0.003 0.017,-0.003 0.010,-0.002 0.064,-0.002 0.006,-0.002 0.002,-0.001-0.290,-0.001 0.397,-0.001 0.033,-0.000 0.006,0.000-0.070,0.000-0.022,0.000-0.026,0.000-0.026,0.053-0.005,0.034 0.017,0.019 0.005,0.008-0.004,0.010 0.117,-0.009 0.064,-0.013 0.049,-0.018-0.013,-0.015-0.015,-0.014-0.030,-0.013-0.038,-0.011 0.018,-0.010-0.005,-0.008-0.020,-0.006-0.029,-0.005 0.019,-0.004-0.034,-0.003-0.032,-0.001-0.070,-0.001-0.025,-0.000-0.022,0.000-0.019,-0.000 0.008,0.001-0.026,0.001-0.025,0.001-0.022,0.001-0.019,0.000-0.015,0.000 0.041,0.000 0.053,0.000 0.064,0.000 0.005,0.000 0.009,0.000-0.003,0.000-0.010,-0.012-0.207,-0.068 0.226,-0.030 0.011,-0.013-0.004,-0.001-0.014,0.007-0.020,0.001-0.048,-0.028 0.007,-0.072 0.114,0.004-0.000,0.020-0.007,0.044-0.095,-0.002-0.012,-0.007-0.011,-0.009-0.010,-0.067 0.177,-0.023 0.082,-0.021 0.061,0.224-0.492,-0.271 0.440,-0.047 0.025,-0.029 0.022,0.312-0.472,-0.447 0.513,-0.020-0.049,0.016-0.062,0.037-0.065,0.047-0.062,0.042-0.081,0.009-0.066,0.012-0.046,0.041-0.044,0.045-0.032,0.044-0.022,0.040-0.014,0.034-0.008,0.027-0.003,0.021-0.000,0.016 0.002,0.013-0.009,0.020-0.022,0.018-0.025,0.015-0.025,0.012-0.023,0.009-0.019,0.007-0.015,0.005-0.012,0.003-0.008,0.002-0.006,0.001-0.004,0.000-0.002,-0.000-0.001,-0.001-0.000,-0.001 0.000,-0.001 0.001,-0.001 0.001,-0.000 0.001,-0.000 0.001,-0.000 0.001,-0.000 0.000,-0.000 0.000,-0.000 0.000,0.000 0.000,-0.000 0.000,0.000 0.000,0.000 0.000,0.000 0.000,0.000-0.000,0.000 0.000,0.000 0.000,0.000-0.000,0.000 0.000,0.000 0.000,0.000 0.000,0.000-0.000,0.000 0.000,0.000 0.000,0.000 0.000,-0.000 0.000,-0.061-0.183</inkml:trace>
</inkml:ink>
</file>

<file path=ppt/ink/ink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7030a0"/>
      <inkml:brushProperty name="ignorePressure" value="0"/>
    </inkml:brush>
  </inkml:definitions>
  <inkml:trace contextRef="#ctx0" brushRef="#br0">632.000 505.000,'0.009'0.003,"0.014"0.005,0.016 0.005,0.015 0.005,0.014 0.005,0.012 0.004,0.010 0.003,0.007 0.002,0.005 0.002,0.004 0.001,0.002 0.001,0.001 0.000,0.001 0.000,0.000 0.000,-0.000-0.000,-0.000-0.000,-0.000-0.000,-0.000-0.000,-0.000-0.000,-0.000-0.000,-0.000-0.000,-0.000-0.000,-0.000-0.000,-0.000-0.000,-0.000-0.000,-0.000 0.000,0.000-0.000,0.000 0.000,-0.081-0.023,0.340 0.367,0.162 0.212,-0.283-0.317,0.512 0.592,0.117 0.158,0.065 0.103,-0.736-0.883,0.713 0.855,0.014 0.010,-0.013-0.026,-0.031-0.049,-0.675-0.790,0.977 1.120,-0.031-0.021,-0.088-0.070,-0.254-0.291,-0.093-0.106,-0.091-0.109,-0.084-0.104,-0.035 0.011,-0.084-0.090,-0.070-0.101,-0.057-0.100,-0.044-0.092,0.002-0.054,0.013-0.042,0.027-0.022,0.033-0.007,-0.037-0.037,0.004-0.017,0.000-0.018,-0.003-0.018,0.107 0.062,0.042 0.024,0.019 0.003,0.019-0.004,-0.059-0.034,-0.073-0.039,-0.075-0.039,-0.070-0.036,-0.061-0.030,-0.049-0.024,-0.038-0.019,-0.028-0.014,-0.020-0.009,-0.013-0.006,-0.007-0.003,-0.003-0.001,-0.001-0.000,0.001 0.001,0.002 0.001,0.002 0.001,0.002 0.001,0.002 0.001,0.002 0.001,0.001 0.001,0.001 0.001,0.001 0.000,0.001 0.000,0.000 0.000,0.000 0.000,0.000 0.000,0.000 0.000,-0.000 0.000,-0.000 0.000,-0.000-0.000,-0.000 0.000,-0.000-0.000,-0.000 0.000,-0.000-0.000,0.000 0.000,-0.000 0.000,0.000 0.000,0.000-0.000,0.000 0.000,0.000 0.000,0.000 0.000,0.000 0.000,0.000 0.000,0.000 0.000,0.000-0.000,0.000 0.000,-0.000-0.209</inkml:trace>
</inkml:ink>
</file>

<file path=ppt/ink/ink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7030a0"/>
      <inkml:brushProperty name="ignorePressure" value="0"/>
    </inkml:brush>
  </inkml:definitions>
  <inkml:trace contextRef="#ctx0" brushRef="#br0">667.000 477.000,'-0.003'0.010,"-0.005"0.015,-0.006 0.017,-0.006 0.017,-0.005 0.015,-0.004 0.013,-0.003 0.010,-0.003 0.008,-0.002 0.006,-0.001 0.004,-0.001 0.003,-0.000 0.001,-0.000 0.001,-0.000 0.000,0.000-0.000,0.000-0.000,0.000-0.000,0.000-0.001,0.000-0.000,0.000-0.000,0.000-0.000,0.000-0.000,0.000-0.000,0.000-0.000,0.000-0.000,0.000-0.000,-0.052-0.011,-0.081-0.015,-0.091-0.017,0.017 0.007,-0.002 0.037,0.014 0.048,0.023 0.052,0.010 0.021,-0.017 0.024,-0.027 0.016,-0.032 0.009,-0.021 0.005,-0.012 0.001,-0.005-0.002,-0.000-0.003,0.003-0.018,0.006-0.027,0.007-0.031,0.007-0.033,-0.047 0.011,0.003-0.003,0.002 0.009,0.016-0.023,-0.007 0.009,0.012 0.010,0.025 0.010,-0.030 0.030,0.012-0.021,0.006-0.029,-0.045-0.021,-0.033-0.002,-0.013 0.005,0.001 0.009,-0.016 0.003,0.008-0.017,0.010-0.023,0.052-0.018,0.014 0.005,0.014 0.011,0.013 0.014,-0.024 0.041,0.051-0.002,0.055-0.009,0.052-0.012,0.046-0.013,0.038-0.013,0.030-0.011,0.022-0.009,0.016-0.007,0.010-0.006,0.006-0.004,0.003-0.003,0.001-0.002,-0.000-0.001,-0.001-0.000,-0.002 0.000,-0.002 0.000,-0.002 0.000,-0.001 0.000,-0.001 0.000,0.008-0.009,0.012-0.013,0.014-0.014,0.014-0.014,0.013-0.013,0.011-0.011,0.009-0.009,0.007-0.007,0.005-0.005,0.003-0.003,0.002-0.002,0.001-0.001,0.001-0.001,0.000-0.000,-0.000 0.000,-0.000 0.000,-0.000 0.000,-0.000 0.000,-0.000 0.000,-0.000 0.000,0.252 0.000</inkml:trace>
</inkml:ink>
</file>

<file path=ppt/ink/ink3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7030a0"/>
      <inkml:brushProperty name="ignorePressure" value="0"/>
    </inkml:brush>
  </inkml:definitions>
  <inkml:trace contextRef="#ctx0" brushRef="#br0">659.000 488.000,'0.004'0.005,"0.006"0.008,0.006 0.009,0.006 0.009,0.005 0.008,0.005 0.007,0.004 0.006,0.003 0.004,0.002 0.003,0.001 0.002,0.001 0.001,0.000 0.001,0.000 0.000,0.000 0.000,-0.000-0.000,-0.000-0.000,-0.000-0.000,-0.000-0.000,-0.000-0.000,-0.000-0.000,-0.000-0.000,-0.000-0.000,-0.000-0.000,0.000-0.000,-0.000-0.000,0.000 0.000,0.000-0.000,0.000 0.000,0.000 0.000,0.000 0.000,0.000 0.000,0.000 0.000,0.000 0.000,0.000 0.000,0.000 0.000,0.000 0.000,0.000 0.000,0.000 0.000,-0.000 0.000,0.000 0.000,-0.000 0.000,0.000 0.000,0.000 0.000,-0.000 0.000,0.000 0.000,0.000 0.000,0.000 0.000,-0.000 0.000,0.002 0.009,0.019 0.039,0.023 0.048,0.025 0.051,0.011 0.051,0.001 0.048,-0.006 0.044,-0.010 0.038,-0.013 0.072,-0.014 0.039,-0.014 0.013,-0.013-0.005,-0.006 0.175,-0.015-0.001,-0.012-0.036,-0.009-0.055,-0.006-0.141,-0.003-0.032,-0.002-0.027,0.000-0.208,-0.002 0.223,-0.001 0.003,-0.000-0.007,0.000-0.013,-0.000 0.151,0.000 0.061,0.001 0.044,0.000 0.049,0.001-0.027,0.001-0.045,0.001-0.032,0.000 0.018,0.000 0.004,0.000-0.005,0.000 0.082,0.000 0.005,0.000-0.023,0.000-0.016,0.000-0.001,0.000-0.022,-0.000-0.499,0.000 0.725,-0.000 0.012,0.000-0.048,-0.000-0.080,0.000 0.019,0.000-0.012,-0.000-0.119,0.000-0.069,0.000-0.075,0.000-0.073,0.000-0.067,0.000-0.058,0.000-0.048,0.000-0.011,0.000-0.008,0.000 0.004,0.000 0.011,0.000 0.015,0.000 0.016,0.000-0.025,0.000-0.010,0.000-0.014,0.000-0.016,0.000-0.016,0.000-0.015,0.000-0.013,0.000-0.011,0.000-0.012,0.000-0.042,0.000-0.044,0.000-0.041,0.000-0.035,0.000-0.029,0.000-0.022,0.000-0.016,0.000-0.011,0.000-0.007,0.000-0.004,0.000-0.002,0.000-0.000,0.000 0.001,0.000 0.001,0.000 0.001,0.000 0.001,0.000 0.001,0.000 0.001,0.000 0.001,0.000 0.001,0.000 0.000,0.000 0.000,0.000 0.000,0.000 0.000,0.000 0.000,0.000 0.000,0.000 0.000,0.000-0.000,0.000 0.000,0.000-0.000,0.000 0.000,0.000-0.000,0.000 0.000,0.000-0.000,0.000 0.000,0.000 0.000,0.000 0.000,0.000 0.000,0.000 0.000,0.000 0.000,0.000 0.000,0.000 0.000,0.000 0.000,0.000 0.000,0.000 0.000,0.000 0.000,0.000-0.252,0.000-0.190,0.000-0.131,0.000-3.097</inkml:trace>
</inkml:ink>
</file>

<file path=ppt/ink/ink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7030a0"/>
      <inkml:brushProperty name="ignorePressure" value="0"/>
    </inkml:brush>
  </inkml:definitions>
  <inkml:trace contextRef="#ctx0" brushRef="#br0">669.000 484.000,'0.009'0.000,"0.013"0.000,0.015 0.000,0.015 0.000,0.013 0.000,0.011 0.000,0.009 0.000,0.007 0.000,0.005 0.000,0.003 0.000,0.002 0.000,0.001 0.000,0.000 0.000,0.000 0.000,-0.000 0.000,-0.000 0.000,-0.000 0.000,-0.000 0.000,-0.000 0.000,-0.000 0.000,-0.000 0.000,-0.000 0.000,-0.000 0.000,-0.000 0.000,-0.000 0.000,-0.000 0.000,0.000 0.000,0.000 0.000,0.000 0.000,0.000 0.000,0.005 0.000,0.022 0.000,0.026 0.000,0.026 0.000,0.025 0.000,0.022 0.000,0.018 0.000,0.092 0.000,0.059 0.000,0.033 0.000,-0.036 0.000,-0.004 0.000,-0.011 0.000,-0.015 0.000,0.036 0.000,-0.038 0.000,-0.040 0.000,-0.037 0.000,-0.033 0.000,-0.027 0.000,0.020 0.000,0.048 0.000,0.061 0.000,-0.016 0.000,0.009 0.000,-0.000 0.000,-0.007 0.000,0.022 0.000,-0.029 0.000,-0.031 0.000,-0.031 0.000,-0.028 0.000,-0.023 0.000,1.395-1.000</inkml:trace>
</inkml:ink>
</file>

<file path=ppt/ink/ink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7030a0"/>
      <inkml:brushProperty name="ignorePressure" value="0"/>
    </inkml:brush>
  </inkml:definitions>
  <inkml:trace contextRef="#ctx0" brushRef="#br0">679.000 471.000,'0.000'0.023,"0.000"0.036,0.000 0.041,0.000 0.041,0.000 0.038,0.000 0.033,0.000 0.028,0.000 0.022,0.000 0.017,0.000 0.012,0.000 0.078,0.000 0.051,0.000 0.026,0.000-0.012,0.000 0.028,0.000 0.008,0.000-0.006,0.000 0.037,0.000 0.013,0.000-0.005,0.000-0.018,0.000 0.093,0.000-0.041,0.000-0.043,0.000-0.053,0.000 0.006,0.000-0.008,0.000-0.017,0.000-0.044,0.000-0.021,0.000-0.021,0.000-0.019,0.000 0.062,0.000-0.017,0.000-0.013,0.000-0.068,0.000-0.010,0.000-0.009,0.000-0.007,0.000 0.048,0.000 0.002,0.000 0.003,-0.013-0.026,-0.022 0.011,-0.027-0.008,-0.028-0.021,-0.055 0.107,-0.024 0.014,-0.015-0.009,-0.008-0.022,-0.003-0.029,0.000-0.031,0.007-0.008,0.027-0.014,0.030-0.008,0.030-0.003,0.027-0.000,0.023 0.002,0.018 0.003,0.001-0.007,-0.011 0.010,-0.017 0.011,-0.019 0.011,-0.019 0.010,-0.017 0.008,0.002-0.004,0.007 0.006,0.012 0.005,0.000-0.013,-0.008-0.023,-0.012-0.029,-0.014-0.030,-0.014-0.028,-0.014-0.025,-0.012-0.021,-0.010-0.017,-0.008-0.014,-0.006-0.010,-1.608-0.772</inkml:trace>
</inkml:ink>
</file>

<file path=ppt/ink/ink3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7030a0"/>
      <inkml:brushProperty name="ignorePressure" value="0"/>
    </inkml:brush>
  </inkml:definitions>
  <inkml:trace contextRef="#ctx0" brushRef="#br0">673.000 494.000,'0.002'0.007,"0.004"0.011,0.004 0.012,0.004 0.012,0.004 0.011,0.003 0.009,0.002 0.007,0.002 0.005,0.001 0.004,0.001 0.003,0.001 0.002,0.000 0.001,0.000 0.000,0.000-0.000,-0.000-0.000,-0.000-0.000,-0.000-0.000,-0.000-0.000,-0.000-0.000,-0.000-0.000,-0.000-0.000,-0.000-0.000,-0.000-0.000,0.000-0.000,0.000-0.000,-0.000-0.000,0.000-0.000,0.000 0.000,0.000 0.000,0.000 0.000,0.000 0.000,0.000 0.000,0.000 0.000,0.000 0.000,-0.000 0.000,0.000 0.000,0.000 0.000,-0.003 0.046,-0.003 0.075,-0.004 0.085,-0.005 0.007,-0.003 0.031,-0.002 0.021,-0.002 0.029,-0.001 0.035,-0.001 0.016,-0.001 0.001,-0.001 0.186,-0.001 0.024,-0.000-0.011,0.000-0.045,0.000 0.039,0.000 0.008,0.000-0.015,0.000 0.077,0.000 0.030,0.000-0.004,0.000-0.028,0.000-0.043,0.000-0.051,0.000-0.053,0.000-0.053,0.000 0.138,0.000-0.016,0.000-0.033,0.000-0.124,0.000-0.035,0.000-0.034,0.000-0.031,-0.000 0.010,0.000 0.014,0.000 0.003,0.000-0.005,0.000-0.192,0.000 0.285,0.000 0.018,0.000 0.002,0.000-0.382,0.000 0.521,0.000 0.013,0.000-0.018,0.000-0.100,0.000 0.004,0.000-0.012,0.000-0.022,0.000-0.003,0.000-0.036,0.000-0.036,0.000-0.034,0.000 0.010,0.000-0.025,0.000-0.019,0.000-0.010,0.000-0.040,0.000-0.040,0.000-0.037,0.000-0.032,0.000-0.026,0.000-0.021,0.000-0.015,0.000-0.011,0.000-0.024,0.000-0.032,0.000-0.033,0.000-0.031,0.000-0.027,0.000-0.022,0.000-0.018,0.000-0.013,0.000-0.009,0.000-0.006,0.000-0.004,0.000-0.002,0.000-0.001,0.000 0.000,0.000 0.001,0.000 0.001,0.000 0.001,0.000 0.001,0.000 0.001,0.000 0.001,0.000 0.001,0.000 0.000,0.000 0.000,0.000 0.000,0.000 0.000,0.000 0.000,0.000 0.000,0.000 0.000,0.000 0.000,0.000-0.000,0.000 0.000,0.000-0.005,0.000-0.031,0.000-0.038,0.000-0.039,0.000-0.038,0.000-5.232</inkml:trace>
</inkml:ink>
</file>

<file path=ppt/ink/ink3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7030a0"/>
      <inkml:brushProperty name="ignorePressure" value="0"/>
    </inkml:brush>
  </inkml:definitions>
  <inkml:trace contextRef="#ctx0" brushRef="#br0">675.000 496.000,'0.007'-0.002,"0.011"-0.004,0.012-0.004,0.012-0.004,0.010-0.003,0.009-0.003,0.007-0.002,0.005-0.002,0.004-0.001,0.002-0.001,0.002-0.000,0.001-0.000,0.000-0.000,-0.000 0.000,-0.000 0.000,-0.000 0.000,-0.000 0.000,-0.000 0.000,-0.000 0.000,-0.000 0.000,-0.000 0.000,-0.000 0.000,-0.000 0.000,-0.000 0.000,0.000 0.000,0.000 0.000,-0.000 0.000,0.000-0.000,0.000 0.000,0.000 0.000,0.000 0.000,0.000 0.000,0.000 0.000,0.000 0.000,0.000 0.000,0.000 0.000,0.000 0.000,0.000 0.000,0.007 0.003,0.012 0.004,0.013 0.004,0.013 0.004,0.012 0.003,0.010 0.003,0.008 0.002,0.006 0.002,0.004 0.001,0.003 0.001,0.002 0.001,0.001 0.000,-0.012 0.004,-0.021 0.006,-0.023 0.007,-0.023 0.007,-0.020 0.006,-0.017 0.005,-0.014 0.004,-0.010 0.003,-0.007 0.002,-0.005 0.001,-0.003 0.001,-0.002 0.000,-0.001 0.000,0.000-0.000,0.000-0.000,0.001-0.000,0.001-0.000,0.001-0.000,0.001-0.000,0.000-0.000,0.000-0.000,0.000-0.000,0.000-0.000,0.000-0.000,0.000-0.000,0.000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0.000,-0.004 0.018,-0.001 0.044,-0.002 0.053,-0.002 0.056,-0.001 0.056,-0.001 0.036,-0.001 0.025,-0.001 0.068,-0.001 0.047,-0.001 0.046,-0.000 0.137,-0.000 0.039,-0.000-0.005,0.000-0.539,-0.000 0.608,0.000 0.017,0.000-0.033,0.000-0.062,0.000-0.076,0.000-0.079,0.000-0.016,0.000 0.086,0.000 0.021,0.000-0.004,0.000-0.021,0.000 0.022,0.000-0.003,0.000-0.020,0.000-0.031,0.000 0.017,0.000-0.051,0.000-0.050,0.000-0.047,0.000 0.009,0.000-0.048,0.000-0.040,0.000-0.031,0.000-0.058,0.000 0.052,0.000 0.167,0.000 0.032,0.000 0.007,0.000 0.004,0.000 0.006,0.000-0.021,0.000-0.038,0.000-0.046,0.000-0.048,0.000-0.046,0.000-0.491</inkml:trace>
</inkml:ink>
</file>

<file path=ppt/ink/ink3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7030a0"/>
      <inkml:brushProperty name="ignorePressure" value="0"/>
    </inkml:brush>
  </inkml:definitions>
  <inkml:trace contextRef="#ctx0" brushRef="#br0">677.000 503.000,'0.005'0.003,"0.008"0.005,0.008 0.006,0.008 0.005,0.007 0.005,0.006 0.004,0.005 0.003,0.004 0.002,0.003 0.002,0.002 0.001,0.001 0.001,0.001 0.000,0.000 0.000,-0.000-0.000,-0.000-0.000,-0.000-0.000,-0.000-0.000,-0.000-0.000,-0.000-0.000,-0.000-0.000,-0.000-0.000,-0.000-0.000,-0.000-0.000,-0.000-0.000,0.000-0.000,0.000 0.000,-0.000 0.000,0.000 0.000,0.000 0.000,0.000 0.000,0.000 0.000,0.000 0.000,0.000 0.000,0.000 0.000,0.000 0.000,0.000 0.000,0.000 0.000,0.000 0.000,0.000 0.000,0.000 0.000,0.000 0.000,0.000-0.000,0.000 0.000,0.000 0.000,0.000-0.000,-0.000 0.000,0.000 0.000,0.000 0.000,0.000-0.000,-0.000 0.000,0.000 0.000,0.000 0.000,0.000 0.000,-0.000-0.000,1.134 0.089</inkml:trace>
</inkml:ink>
</file>

<file path=ppt/ink/ink3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7030a0"/>
      <inkml:brushProperty name="ignorePressure" value="0"/>
    </inkml:brush>
  </inkml:definitions>
  <inkml:trace contextRef="#ctx0" brushRef="#br0">675.000 511.000,'0.011'0.000,"0.017"0.000,0.019 0.000,0.019 0.000,0.017 0.000,0.014 0.000,0.012 0.000,0.009 0.000,0.006 0.000,0.004 0.000,0.003 0.000,0.001 0.000,0.001 0.000,0.000 0.000,-0.000 0.000,-0.000 0.000,-0.001 0.000,-0.001 0.000,-0.000 0.000,-0.000 0.000,-0.000 0.000,-0.000 0.000,-0.000 0.000,0.009 0.000,0.032 0.000,0.037 0.000,0.038 0.000,0.035 0.000,0.049 0.000,0.019 0.000,0.010 0.000,-0.075 0.000,-0.003 0.000,-0.004 0.000,-0.004 0.000,0.049 0.004,-0.038 0.006,-0.044 0.007,-0.043 0.007,-0.039 0.006,-0.034 0.005,-0.027 0.004,-0.021 0.003,-0.015 0.002,-0.011 0.002,-0.007 0.001,-0.004 0.001,-0.002 0.000,-0.000 0.000,0.001-0.000,0.001-0.000,0.001-0.000,0.001-0.000,0.001-0.000,0.001-0.000,0.001-0.000,0.123 0.121</inkml:trace>
</inkml:ink>
</file>

<file path=ppt/ink/ink4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7030a0"/>
      <inkml:brushProperty name="ignorePressure" value="0"/>
    </inkml:brush>
  </inkml:definitions>
  <inkml:trace contextRef="#ctx0" brushRef="#br0">668.000 518.000,'0.007'0.000,"0.010"0.000,0.012 0.000,0.011 0.000,0.010 0.000,0.009 0.000,0.007 0.000,0.005 0.000,0.004 0.000,0.003 0.000,0.002 0.000,0.001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0.000,0.011 0.000,0.041 0.000,0.050 0.000,0.053 0.000,0.053 0.000,0.033 0.000,0.023 0.000,0.054 0.020,-0.005 0.031,-0.015 0.036,-0.019 0.035,-0.030 0.005,-0.008-0.002,-0.004-0.011,-0.001 0.009,0.000 0.021,0.002 0.028,0.040-0.013,0.057-0.007,0.044-0.014,0.032-0.018,-0.021-0.024,-0.007-0.017,-0.016-0.016,-0.022-0.015,0.082-0.010,0.016-0.013,-0.002-0.010,-0.407-0.013,0.485 0.004,-0.012-0.006,-0.040-0.004,-0.055-0.002,-0.061-0.001,-0.060-0.000,-0.055 0.000,-0.034 0.000,-0.043 0.001,-0.034 0.001,-0.025 0.001,-0.017 0.001,-0.011 0.001,-0.007 0.000,-0.003 0.000,-0.001 0.000,0.001 0.000,0.002 0.000,0.002 0.000,0.002 0.000,0.017 0.000,0.019-0.000,0.021 0.000,0.020-0.000,0.018 0.000,0.015-0.000,0.012 0.000,-0.055-0.000,0.024 0.000,0.115 0.000,-0.000 0.000,-0.016 0.000,-0.025 0.000,-0.028 0.000,-0.027 0.000,-0.016 0.000,0.003 0.000,0.009 0.000,0.013 0.000,0.014 0.000,0.013 0.000,-0.016 0.000,-0.019 0.000,-0.025 0.000,-0.027 0.000,-0.026 0.000,-0.023 0.000,-0.019 0.000,-0.016 0.000,-0.012 0.000,-0.009 0.000,-0.006 0.000,-0.003 0.000,-0.006 0.000,-0.006 0.000,-0.005 0.000,-0.004 0.000,-0.003 0.000,-0.002 0.000,-0.001 0.000,-0.001 0.000,-0.000 0.000,-0.000 0.000,0.000 0.000,0.000 0.000,0.000 0.000,0.000 0.000,0.000 0.000,0.000 0.000,0.000 0.000,0.000 0.000,0.000 0.000,0.000 0.000,0.000 0.000,0.000 0.000,0.000 0.000,0.000 0.000,0.000 0.000,0.000 0.000,-0.000 0.000,0.000 0.000,0.000 0.000,0.000 0.000,0.000 0.000,-1.842 0.000</inkml:trace>
</inkml:ink>
</file>

<file path=ppt/ink/ink4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575.000 457.000,'0.009'0.000,"0.013"0.000,0.015 0.000,0.015 0.000,0.013 0.000,0.011 0.000,0.009 0.000,0.007 0.000,0.005 0.000,0.003 0.000,0.002 0.000,0.001 0.000,0.000 0.000,-0.000 0.000,-0.000 0.000,-0.000 0.000,-0.000 0.000,-0.000 0.000,-0.000 0.000,-0.000 0.000,-0.000 0.000,-0.000 0.000,-0.000 0.000,-0.000 0.000,-0.000 0.000,-0.000 0.000,0.000 0.000,0.000 0.000,0.000 0.000,0.000 0.000,0.008-0.011,0.023-0.017,0.026-0.020,0.027-0.020,0.025-0.018,0.022-0.016,0.018-0.013,0.112-0.004,0.061 0.010,0.030 0.016,0.053-0.053,0.039-0.027,0.010-0.004,-0.439 0.142,0.623-0.138,0.028 0.023,-0.033 0.027,-0.068 0.027,-0.084 0.025,-0.086 0.021,-0.397 0.042,0.487-0.020,0.068 0.010,0.024 0.008,0.084 0.006,0.030 0.004,0.000 0.003,-0.019 0.002,0.237 0.002,0.002 0.000,-0.067-0.001,-0.102-0.001,0.086-0.001,0.014-0.001,-0.161-0.001,-0.073-0.001,-0.085-0.000,-0.087-0.000,-0.082-0.000,-0.073-0.000,-0.029-0.000,-0.016-0.000,0.002-0.000,0.013 0.000,-0.278 0.000,0.306-0.000,0.028 0.000,0.010 0.000,-0.003 0.000,0.234 0.000,0.071 0.000,0.011 0.000,-0.591 0.000,0.590-0.000,-0.004 0.000,-0.031 0.000,-0.553 0.000,0.571 0.000,-0.017 0.000,-0.037 0.000,-0.007 0.000,-0.028 0.000,-0.051 0.000,-0.063 0.000,-0.066 0.000,-0.064 0.000,-0.058 0.000,-0.034 0.000,-0.038 0.000,-0.028 0.000,-0.019 0.000,-0.012 0.000,-0.007 0.000,-0.003 0.000,0.000 0.000,0.002 0.000,0.003 0.000,-0.001 0.000,0.033 0.000,0.039 0.000,0.041 0.000,0.025 0.000,0.013 0.000,0.004 0.000,-0.003 0.000,-0.025 0.000,-0.007 0.000,-0.008 0.000,-0.008 0.000,0.024 0.000,0.016 0.000,0.021 0.000,0.023 0.000,0.132 0.000,0.046 0.000,0.013 0.000,0.090 0.000,0.059 0.000,0.034 0.000,0.057 0.000,-0.060 0.000,-0.080 0.000,-0.085 0.000,-0.112 0.000,-0.000 0.000,-0.007 0.000,0.011 0.000,-0.036 0.000,-0.041 0.000,-0.041 0.000,-0.039 0.000,-0.035 0.000,0.042 0.000,0.031 0.000,0.046 0.000,-0.050 0.000,0.002 0.000,-0.004 0.000,-0.008 0.000,-0.004 0.000,-0.021 0.000,-0.023 0.000,-0.023 0.000,-0.021 0.000,-0.019 0.000,0.025 0.012,-0.003 0.019,0.002 0.021,0.005 0.021,0.006 0.019,0.006 0.016,0.006 0.013,0.001-0.002,-0.004-0.012,-0.006-0.017,-0.007-0.018,-0.007-0.017,-0.006-0.015,-0.005-0.013,-0.004-0.010,-0.003-0.008,-0.013-0.005,-0.020-0.004,-0.021-0.002,-0.021-0.001,-0.018-0.000,-0.015 0.000,-0.012 0.000,-0.009 0.001,-0.006 0.001,-0.004 0.001,-0.003 0.000,-0.001 0.000,-0.000 0.000,0.000 0.000,0.000 0.000,0.001 0.000,0.001 0.000,0.001 0.000,0.001 0.000,0.000 0.000,0.000-0.000,0.000 0.000,0.000-0.000,0.004-0.000,0.008 0.000,0.008 0.000,0.008-0.000,0.007 0.000,0.006 0.000,0.005 0.000,0.004 0.000,0.003 0.000,0.002 0.000,0.001 0.000,0.001 0.000,0.000 0.000,0.000 0.000,-0.007 0.002,-0.015 0.002,-0.017 0.003,-0.017 0.003,-0.015 0.002,-0.012 0.002,-0.010 0.002,-0.007 0.001,-0.005 0.001,-0.004 0.001,-0.002 0.000,-0.001 0.000,-0.000 0.000,0.000 0.000,0.000-0.000,0.000-0.000,0.000-0.000,0.000-0.000,0.000-0.000,0.000-0.000,0.000-0.000,0.000-0.000,0.000-0.000,0.000 0.000,0.000 0.000,0.000-0.000,0.000 0.000,0.000 0.000,0.000 0.000,0.000-0.000,0.000 0.000,0.000 0.000,-0.000 0.000,0.000 0.000,0.000 0.000,0.000 0.000,0.000 0.000,0.000 0.000,0.000 0.000,0.000-0.000,0.000 0.000,0.000 0.000,0.000 0.000,0.000 0.000,0.000 0.000,0.000 0.000,0.000 0.000,0.000-0.000,0.000 0.000,0.000 0.000,0.000 0.000,0.000 0.000,0.000 0.000,0.000 0.000,0.000 0.000,-0.000-0.000,0.000 0.000,0.012-0.002,0.021-0.002,0.024-0.002,0.024-0.002,0.022-0.002,0.019-0.002,0.015-0.001,0.012-0.001,0.009-0.001,0.006-0.001,0.007-0.000,0.026-0.000,0.029-0.000,0.029-0.000,0.027 0.000,-0.005 0.000,0.012 0.000,0.009 0.000,0.007 0.000,-0.011 0.000,-0.016 0.000,-0.018 0.000,-0.018 0.000,-0.029 0.000,0.015 0.000,0.023 0.000,0.028 0.000,0.016 0.000,0.007 0.000,0.000 0.000,-0.004 0.000,-0.007 0.000,-0.009-0.000,-0.010 0.000,-0.010 0.000,-0.009 0.000,-0.008 0.000,-0.007 0.000,-0.006 0.000,0.049 0.000,-0.045 0.000,-0.050 0.000,-0.049 0.000,-0.044 0.000,-0.037 0.000,-0.029 0.000,-0.022 0.000,-0.016 0.000,-0.010 0.000,-0.006 0.000,-0.003 0.000,-0.001 0.000,0.000 0.000,0.001 0.000,0.001 0.000,0.002 0.000,0.001 0.000,0.001 0.000,0.001 0.000,0.001 0.000,0.001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0.000,0.021 0.000,0.035 0.000,0.041 0.000,0.042 0.000,0.040 0.000,0.036 0.000,0.087 0.000,0.055 0.000,0.029 0.000,0.009 0.000,-0.035 0.000,-0.002 0.000,-0.003 0.000,0.056 0.000,-0.047 0.000,-0.055 0.000,-0.055 0.000,-0.051 0.000,-0.044 0.000,-0.036 0.000,-0.028 0.000,-0.021 0.000,-0.014 0.000,-0.009 0.000,-0.006 0.000,-0.003 0.000,-0.001 0.000,0.001 0.000,0.006 0.000,0.005 0.000,0.005 0.000,0.005 0.000,0.004 0.000,0.004 0.000,0.003 0.000,0.002 0.000,0.001 0.000,0.001 0.000,0.001 0.000,0.000 0.000,0.000 0.000,0.000 0.000,-0.000 0.000,-0.000 0.000,-0.000 0.000,-0.000 0.000,-0.000 0.000,-0.000 0.000,-0.000 0.000,-0.000 0.000,0.005 0.000,0.017 0.000,0.019 0.000,0.019 0.000,0.018 0.000,0.015 0.000,0.013 0.000,0.010 0.000,0.007 0.000,-0.000 0.000,-0.023 0.000,-0.028 0.000,-0.028 0.000,-0.026 0.000,-0.023 0.000,-0.018 0.000,-0.014 0.000,-0.010 0.000,-0.007 0.000,-0.005 0.000,-0.003 0.000,-0.001 0.000,-0.000 0.000,0.000 0.000,0.001 0.000,0.001 0.000,0.001 0.000,0.001 0.000,0.001 0.000,0.001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0.000,0.014 0.000,0.022 0.000,0.025 0.000,0.024 0.000,0.022 0.000,0.019 0.000,0.015 0.000,0.011 0.000,0.008 0.000,0.006 0.000,-0.006 0.000,-0.015 0.000,-0.018 0.000,-0.018 0.000,-0.017 0.000,-0.015 0.000,-0.012 0.000,-0.009 0.000,-0.007 0.000,-0.005 0.000,-0.003 0.000,-0.002 0.000,-0.001 0.000,-0.000 0.000,0.000 0.000,0.000 0.000,0.001 0.000,0.001 0.000,0.000 0.000,0.000 0.000,0.000 0.000,0.000 0.000,0.000 0.000,0.000 0.000,0.000 0.000,0.000 0.000,0.000 0.000,1.185 0.000</inkml:trace>
</inkml:ink>
</file>

<file path=ppt/ink/ink4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577.000 459.000,'0.008'0.000,"0.012"0.000,0.014 0.000,0.014 0.000,0.012 0.000,0.010 0.000,0.008 0.000,0.006 0.000,0.005 0.000,0.003 0.000,0.002 0.000,0.001 0.000,0.000 0.000,0.000 0.000,-0.000 0.000,-0.000 0.000,-0.000 0.000,-0.000 0.000,-0.000 0.000,-0.000 0.000,-0.000 0.000,-0.000 0.000,-0.000 0.000,-0.000 0.000,-0.000 0.000,0.000 0.000,0.000 0.000,0.000 0.000,0.000 0.000,0.000 0.000,0.000 0.000,0.000 0.000,0.007 0.000,0.023 0.000,0.027 0.000,0.027 0.000,0.025 0.000,0.022 0.000,0.019 0.000,0.065 0.000,0.060 0.000,0.062 0.000,0.036 0.000,0.029 0.000,0.019 0.000,0.010 0.000,-0.021 0.000,0.002 0.000,-0.403 0.000,0.505 0.000,0.014 0.000,-0.016 0.000,0.163 0.000,0.092 0.000,0.040 0.000,-0.087 0.000,0.018 0.000,-0.008 0.000,-0.025 0.000,0.031 0.000,0.035 0.000,0.005 0.000,-0.016 0.000,-0.653 0.000,0.903 0.000,-0.016 0.000,-0.045 0.000,-0.215 0.000,-0.055 0.000,-0.053 0.000,-0.049 0.000,0.273 0.000,0.096 0.000,0.056 0.000,0.012 0.000,0.092 0.000,0.048 0.000,-0.976 0.000,1.304 0.000,0.004 0.000,-0.074 0.000,-0.060 0.000,-0.130 0.000,-0.162 0.000,-0.293 0.000,-0.073 0.000,-0.079 0.000,-0.079 0.000,0.049 0.000,-0.098 0.000,-0.081 0.000,-0.128 0.000,-0.041 0.000,-0.033 0.000,-0.025 0.000,-0.018 0.000,0.011 0.000,0.020 0.000,0.025 0.000,0.014 0.000,0.006 0.000,-0.000 0.000,-0.004 0.000,0.163 0.000,0.036 0.000,0.006 0.000,-0.012 0.000,-0.049 0.000,-0.057 0.000,-0.056 0.000,-0.051 0.000,-0.043 0.000,-0.038 0.000,-0.009 0.000,-0.000 0.000,0.005 0.000,0.008 0.000,0.010 0.000,0.010 0.000,0.023 0.000,0.013 0.000,0.012 0.000,0.035 0.000,0.048 0.000,0.029 0.000,0.153 0.000,0.068 0.000,0.015 0.000,-0.020 0.000,-0.042 0.000,0.041 0.000,-0.038 0.000,-0.097 0.000,-0.046 0.000,-0.044 0.000,-0.039 0.000,-0.043 0.000,0.022 0.000,0.015 0.000,0.164 0.000,0.040 0.000,0.034 0.000,-0.024 0.000,0.042 0.000,0.022 0.000,0.007 0.000,0.183 0.000,-0.001 0.000,-0.042 0.000,-0.141 0.000,-0.063 0.000,-0.063 0.000,-0.059 0.000,0.119 0.025,0.043 0.038,0.007 0.045,-0.017 0.021,-0.031 0.004,-0.038-0.007,-0.427-0.100,0.437 0.069,0.051-0.012,0.030-0.013,0.014-0.012,0.237-0.004,-0.001-0.016,-0.046-0.013,-0.086-0.010,-0.030-0.006,-0.051-0.004,-0.061-0.003,0.010-0.003,-0.084-0.001,-0.076-0.000,-0.064 0.000,-0.047 0.001,0.016 0.001,0.033 0.001,0.074 0.000,0.024 0.001,-0.050 0.001,-0.018 0.000,-0.024 0.000,-0.026 0.000,0.068 0.000,-0.001 0.000,-0.028 0.000,-0.042 0.000,-0.048 0.000,-0.047-0.000,-0.042 0.000,-0.036-0.000,-0.029 0.000,0.001-0.000,0.012-0.000,0.021 0.000,0.025 0.000,0.025-0.000,0.022 0.000,-0.055 0.000,0.007 0.000,0.006 0.000,0.005 0.000,0.004 0.000,0.004 0.000,0.003 0.000,0.002 0.000,0.073 0.000,0.007 0.000,0.005 0.000,-0.024 0.000,-0.026 0.000,-0.031 0.000,-0.031 0.000,-0.029 0.000,-0.025 0.000,-0.021 0.000,-0.017 0.000,-0.013 0.000,-0.009 0.000,-0.003 0.000,-0.008 0.000,-0.006 0.000,-0.005 0.000,-0.003 0.000,-0.002 0.000,-0.002 0.000,-0.001 0.000,-0.000 0.000,-0.000 0.000,0.000 0.000,0.000 0.000,0.000 0.000,0.000 0.000,0.000 0.000,0.000 0.000,0.000 0.000,0.000 0.000,0.000 0.000,0.000 0.000,0.000 0.000,0.000 0.000,0.000 0.000,0.000 0.000,0.000 0.000,0.000 0.000,-0.809 1.000</inkml:trace>
</inkml:ink>
</file>

<file path=ppt/ink/ink4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576.000 465.000,'0.011'-0.007,"0.016"-0.011,0.018-0.012,0.018-0.012,0.016-0.011,0.014-0.009,0.011-0.007,0.009-0.006,0.006-0.004,0.004-0.003,0.003-0.002,0.002-0.001,0.001-0.000,0.000-0.000,-0.000 0.000,-0.000 0.000,-0.001 0.000,-0.001 0.000,-0.000 0.000,-0.000 0.000,-0.000 0.000,-0.000 0.000,-0.000 0.000,-0.000 0.000,0.031-0.013,0.063-0.029,0.073-0.034,0.194-0.117,0.101-0.037,-0.086 0.061,-0.001 0.018,-0.016 0.026,-0.024 0.030,0.275-0.073,0.139-0.004,0.096 0.019,-0.078 0.068,0.062 0.023,0.019 0.024,-0.012 0.023,0.375 0.008,0.024 0.028,-0.043 0.023,-1.071 0.033,0.778-0.012,-0.040 0.008,-0.053 0.006,-0.060 0.005,-0.667-0.000,0.723 0.005,-0.069 0.002,-0.086 0.001,-0.091 0.000,-0.092-0.001,-0.069-0.001,-0.058-0.001,0.078-0.025,0.038-0.040,0.031-0.046,0.320-0.031,0.150-0.004,0.058 0.009,0.012 0.011,0.063-0.011,0.011-0.015,-0.024-0.017,0.306-0.020,0.000 0.015,-0.098 0.023,-0.041 0.024,-0.158 0.028,-0.188 0.025,-0.189 0.021,-0.173 0.017,-0.148 0.013,-0.108 0.009,-0.020 0.005,0.008 0.004,-0.061 0.001,-0.006 0.001,-0.008 0.000,-0.009 0.000,0.127 0.000,0.063-0.000,0.028-0.001,0.003-0.001,0.071-0.000,0.014-0.001,0.013-0.001,-0.018-0.001,0.009-0.000,-0.016-0.000,-0.031-0.000,0.056-0.000,-0.054-0.000,-0.053-0.000,-0.417 0.000,0.382-0.000,-0.017 0.000,-0.033 0.000,-0.041 0.000,-0.044 0.000,-0.042 0.000,-0.039 0.000,-0.027 0.000,0.011 0.000,0.022 0.000,0.029 0.000,0.086 0.000,0.015 0.000,0.004 0.000,0.031 0.000,0.015 0.000,-0.013 0.000,-0.030 0.000,-0.038 0.000,-0.041 0.000,-0.040 0.000,-0.006 0.000,-0.011 0.000,-0.001 0.000,0.005 0.000,0.008 0.000,0.009 0.000,-0.029 0.000,0.009 0.000,0.010 0.000,0.137 0.000,0.053 0.000,0.021 0.000,-0.057 0.000,-0.029 0.000,-0.037 0.000,-0.040 0.000,-0.039 0.000,-0.035 0.000,-0.031 0.000,0.014 0.015,-0.001 0.022,0.008 0.025,0.013 0.024,0.015 0.022,0.014 0.018,-0.062-0.029,0.004-0.005,0.004-0.009,0.004-0.010,0.056-0.011,0.037-0.011,0.022-0.010,0.010-0.009,0.080 0.007,-0.029 0.008,-0.040 0.013,-0.044 0.015,-0.042 0.015,-0.038 0.014,-0.032 0.012,-0.025-0.006,-0.009-0.010,-0.002-0.014,0.002-0.015,0.004-0.015,0.006-0.014,0.006-0.012,0.006-0.010,0.005-0.008,0.002 0.002,0.001 0.008,-0.000 0.011,-0.001 0.012,-0.001 0.012,-0.001 0.011,-0.001 0.009,-0.001 0.008,-0.001 0.006,-0.001 0.005,1.556 0.303</inkml:trace>
</inkml:ink>
</file>

<file path=ppt/ink/ink4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00d8f8"/>
      <inkml:brushProperty name="ignorePressure" value="0"/>
    </inkml:brush>
  </inkml:definitions>
  <inkml:trace contextRef="#ctx0" brushRef="#br0">148.000 369.000,'75.000'0.000,"-75.000"42.000,-75.000-42.000,75.000-42.000</inkml:trace>
</inkml:ink>
</file>

<file path=ppt/ink/ink4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00d8f8"/>
      <inkml:brushProperty name="ignorePressure" value="0"/>
    </inkml:brush>
  </inkml:definitions>
  <inkml:trace contextRef="#ctx0" brushRef="#br0">151.000 427.000,'74.000'0.000,"-74.000"38.000,-74.000-38.000,74.000-38.000</inkml:trace>
</inkml:ink>
</file>

<file path=ppt/ink/ink4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147.000 577.000,'266.000'0.000,"-266.000"39.000,-266.000-39.000,266.000-39.000</inkml:trace>
</inkml:ink>
</file>

<file path=ppt/ink/ink4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1007.000 596.000,'1.000'0.000,"-1.000"3.000,-1.000-3.000,1.000-3.000</inkml:trace>
</inkml:ink>
</file>

<file path=ppt/ink/ink4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00d898"/>
      <inkml:brushProperty name="ignorePressure" value="0"/>
    </inkml:brush>
  </inkml:definitions>
  <inkml:trace contextRef="#ctx0" brushRef="#br0">317.000 659.000,'558.000'0.000,"-558.000"6.000,-558.000-6.000,558.000-6.000</inkml:trace>
</inkml:ink>
</file>

<file path=ppt/ink/ink4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00d898"/>
      <inkml:brushProperty name="ignorePressure" value="0"/>
    </inkml:brush>
  </inkml:definitions>
  <inkml:trace contextRef="#ctx0" brushRef="#br0">144.000 607.000,'810.000'0.000,"-810.000"58.000,-810.000-58.000,810.000-58.000</inkml:trace>
</inkml:ink>
</file>

<file path=ppt/ink/ink5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145.000 658.000,'805.000'0.000,"-805.000"5.000,-805.000-5.000,805.000-5.000</inkml:trace>
</inkml:ink>
</file>

<file path=ppt/ink/ink5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277.000 957.000,'892.000'0.000,"-892.000"9.000,-892.000-9.000,892.000-9.000</inkml:trace>
</inkml:ink>
</file>

<file path=ppt/ink/ink5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189.000 1028.000,'905.000'0.000,"-905.000"5.000,-905.000-5.000,905.000-5.000</inkml:trace>
</inkml:ink>
</file>

<file path=ppt/ink/ink5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94.000 884.000,'154.000'0.000,"-154.000"87.000,-154.000-87.000,154.000-87.000</inkml:trace>
</inkml:ink>
</file>

<file path=ppt/ink/ink5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b178d0"/>
      <inkml:brushProperty name="ignorePressure" value="0"/>
    </inkml:brush>
  </inkml:definitions>
  <inkml:trace contextRef="#ctx0" brushRef="#br0">635.000 1024.000,'443.000'0.000,"-443.000"13.000,-443.000-13.000,443.000-13.000</inkml:trace>
</inkml:ink>
</file>

<file path=ppt/ink/ink5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b178d0"/>
      <inkml:brushProperty name="ignorePressure" value="0"/>
    </inkml:brush>
  </inkml:definitions>
  <inkml:trace contextRef="#ctx0" brushRef="#br0">578.000 719.000,'91.000'0.000,"-91.000"92.000,-91.000-92.000,91.000-92.000</inkml:trace>
</inkml:ink>
</file>

<file path=ppt/ink/ink5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00d8f8"/>
      <inkml:brushProperty name="ignorePressure" value="0"/>
    </inkml:brush>
  </inkml:definitions>
  <inkml:trace contextRef="#ctx0" brushRef="#br0">835.000 530.000,'553.000'0.000,"-553.000"7.000,-553.000-7.000,553.000-7.000</inkml:trace>
</inkml:ink>
</file>

<file path=ppt/ink/ink5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00d8f8"/>
      <inkml:brushProperty name="ignorePressure" value="0"/>
    </inkml:brush>
  </inkml:definitions>
  <inkml:trace contextRef="#ctx0" brushRef="#br0">70.000 616.000,'107.000'0.000,"-107.000"5.000,-107.000-5.000,107.000-5.000</inkml:trace>
</inkml:ink>
</file>

<file path=ppt/ink/ink5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00d8f8"/>
      <inkml:brushProperty name="ignorePressure" value="0"/>
    </inkml:brush>
  </inkml:definitions>
  <inkml:trace contextRef="#ctx0" brushRef="#br0">51.000 785.000,'672.000'0.000,"-672.000"7.000,-672.000-7.000,672.000-7.000</inkml:trace>
</inkml:ink>
</file>

<file path=ppt/ink/ink5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00d8f8"/>
      <inkml:brushProperty name="ignorePressure" value="0"/>
    </inkml:brush>
  </inkml:definitions>
  <inkml:trace contextRef="#ctx0" brushRef="#br0">855.000 720.000,'126.000'0.000,"-126.000"74.000,-126.000-74.000,126.000-74.000</inkml:trace>
</inkml:ink>
</file>

<file path=ppt/ink/ink6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b178d0"/>
      <inkml:brushProperty name="ignorePressure" value="0"/>
    </inkml:brush>
  </inkml:definitions>
  <inkml:trace contextRef="#ctx0" brushRef="#br0">1043.000 791.000,'322.000'0.000,"-322.000"7.000,-322.000-7.000,322.000-7.000</inkml:trace>
</inkml:ink>
</file>

<file path=ppt/ink/ink6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b178d0"/>
      <inkml:brushProperty name="ignorePressure" value="0"/>
    </inkml:brush>
  </inkml:definitions>
  <inkml:trace contextRef="#ctx0" brushRef="#br0">54.000 914.000,'1223.000'0.000,"-1223.000"4.000,-1223.000-4.000,1223.000-4.000</inkml:trace>
</inkml:ink>
</file>

<file path=ppt/ink/ink6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88.000 329.000,'132.000'0.000,"-132.000"65.000,-132.000-65.000,132.000-65.000</inkml:trace>
</inkml:ink>
</file>

<file path=ppt/ink/ink6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240.000 390.000,'281.000'0.000,"-281.000"4.000,-281.000-4.000,281.000-4.000</inkml:trace>
</inkml:ink>
</file>

<file path=ppt/ink/ink6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b178d0"/>
      <inkml:brushProperty name="ignorePressure" value="0"/>
    </inkml:brush>
  </inkml:definitions>
  <inkml:trace contextRef="#ctx0" brushRef="#br0">286.000 162.000,'820.000'0.000,"-820.000"3.000,-820.000-3.000,820.000-3.000</inkml:trace>
</inkml:ink>
</file>

<file path=ppt/ink/ink6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b178d0"/>
      <inkml:brushProperty name="ignorePressure" value="0"/>
    </inkml:brush>
  </inkml:definitions>
  <inkml:trace contextRef="#ctx0" brushRef="#br0">725.000 172.000,'373.000'0.000,"-373.000"5.000,-373.000-5.000,373.000-5.000</inkml:trace>
</inkml:ink>
</file>

<file path=ppt/ink/ink6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00d8f8"/>
      <inkml:brushProperty name="ignorePressure" value="0"/>
    </inkml:brush>
  </inkml:definitions>
  <inkml:trace contextRef="#ctx0" brushRef="#br0">1166.000 243.000,'194.000'0.000,"-194.000"4.000,-194.000-4.000,194.000-4.000</inkml:trace>
</inkml:ink>
</file>

<file path=ppt/ink/ink6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00d8f8"/>
      <inkml:brushProperty name="ignorePressure" value="0"/>
    </inkml:brush>
  </inkml:definitions>
  <inkml:trace contextRef="#ctx0" brushRef="#br0">98.000 304.000,'387.000'0.000,"-387.000"5.000,-387.000-5.000,387.000-5.000</inkml:trace>
</inkml:ink>
</file>

<file path=ppt/ink/ink6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153.000 1055.000,'888.000'0.000,"-888.000"4.000,-888.000-4.000,888.000-4.000</inkml:trace>
</inkml:ink>
</file>

<file path=ppt/ink/ink6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153.000 916.000,'343.000'0.000,"-343.000"9.000,-343.000-9.000,343.000-9.000</inkml:trace>
</inkml:ink>
</file>

<file path=ppt/ink/ink7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139.000 572.000,'640.000'0.000,"-640.000"59.000,-640.000-59.000,640.000-59.000</inkml:trace>
</inkml:ink>
</file>

<file path=ppt/ink/ink7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144.000 625.000,'635.000'0.000,"-635.000"1.000,-635.000-1.000,635.000-1.000</inkml:trace>
</inkml:ink>
</file>

<file path=ppt/ink/ink7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141.000 520.000,'646.000'0.000,"-646.000"134.000,-646.000-134.000,646.000-134.000</inkml:trace>
</inkml:ink>
</file>

<file path=ppt/ink/ink7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00d8f8"/>
      <inkml:brushProperty name="ignorePressure" value="0"/>
    </inkml:brush>
  </inkml:definitions>
  <inkml:trace contextRef="#ctx0" brushRef="#br0">147.000 567.000,'631.000'0.000,"-631.000"5.000,-631.000-5.000,631.000-5.000</inkml:trace>
</inkml:ink>
</file>

<file path=ppt/ink/ink7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00d898"/>
      <inkml:brushProperty name="ignorePressure" value="0"/>
    </inkml:brush>
  </inkml:definitions>
  <inkml:trace contextRef="#ctx0" brushRef="#br0">150.000 643.000,'630.000'0.000,"-630.000"6.000,-630.000-6.000,630.000-6.000</inkml:trace>
</inkml:ink>
</file>

<file path=ppt/ink/ink7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00d898"/>
      <inkml:brushProperty name="ignorePressure" value="0"/>
    </inkml:brush>
  </inkml:definitions>
  <inkml:trace contextRef="#ctx0" brushRef="#br0">144.000 513.000,'935.000'0.000,"-935.000"132.000,-935.000-132.000,935.000-132.000</inkml:trace>
</inkml:ink>
</file>

<file path=ppt/ink/ink7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149.000 576.000,'369.000'0.000,"-369.000"65.000,-369.000-65.000,369.000-65.000</inkml:trace>
</inkml:ink>
</file>

<file path=ppt/ink/ink7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156.000 636.000,'360.000'0.000,"-360.000"3.000,-360.000-3.000,360.000-3.000</inkml:trace>
</inkml:ink>
</file>

<file path=ppt/ink/ink7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1083.000 677.000,'281.000'0.000,"-281.000"12.000,-281.000-12.000,281.000-12.000</inkml:trace>
</inkml:ink>
</file>

<file path=ppt/ink/ink7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1083.000 625.000,'282.000'0.000,"-282.000"59.000,-282.000-59.000,282.000-59.000</inkml:trace>
</inkml:ink>
</file>

<file path=ppt/ink/ink8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00d8f8"/>
      <inkml:brushProperty name="ignorePressure" value="0"/>
    </inkml:brush>
  </inkml:definitions>
  <inkml:trace contextRef="#ctx0" brushRef="#br0">154.000 726.000,'699.000'0.000,"-699.000"54.000,-699.000-54.000,699.000-54.000</inkml:trace>
</inkml:ink>
</file>

<file path=ppt/ink/ink8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3-19T00:40:46"/>
    </inkml:context>
    <inkml:brush xml:id="br0">
      <inkml:brushProperty name="width" value="0.05292" units="cm"/>
      <inkml:brushProperty name="height" value="0.05292" units="cm"/>
      <inkml:brushProperty name="color" value="#b178d0"/>
      <inkml:brushProperty name="ignorePressure" value="0"/>
    </inkml:brush>
  </inkml:definitions>
  <inkml:trace contextRef="#ctx0" brushRef="#br0">150.000 654.000,'403.000'0.000,"-403.000"52.000,-403.000-52.000,403.000-52.000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pPr lvl="0"/>
            <a:endParaRPr 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lvl="0"/>
            <a:endParaRPr 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2504"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4296" y="1600200"/>
            <a:ext cx="4032504"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endParaRPr 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a:endParaRPr lang="en-US">
              <a:latin typeface="Arial" panose="020B0604020202020204" pitchFamily="34" charset="0"/>
            </a:endParaRPr>
          </a:p>
        </p:txBody>
      </p:sp>
      <p:sp>
        <p:nvSpPr>
          <p:cNvPr id="8" name="页脚占位符 7"/>
          <p:cNvSpPr>
            <a:spLocks noGrp="1"/>
          </p:cNvSpPr>
          <p:nvPr>
            <p:ph type="ftr" sz="quarter" idx="11"/>
          </p:nvPr>
        </p:nvSpPr>
        <p:spPr/>
        <p:txBody>
          <a:bodyPr/>
          <a:lstStyle/>
          <a:p>
            <a:pPr lvl="0"/>
            <a:endParaRPr lang="en-US" dirty="0">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a:endParaRPr lang="en-US">
              <a:latin typeface="Arial" panose="020B0604020202020204" pitchFamily="34" charset="0"/>
            </a:endParaRPr>
          </a:p>
        </p:txBody>
      </p:sp>
      <p:sp>
        <p:nvSpPr>
          <p:cNvPr id="4" name="页脚占位符 3"/>
          <p:cNvSpPr>
            <a:spLocks noGrp="1"/>
          </p:cNvSpPr>
          <p:nvPr>
            <p:ph type="ftr" sz="quarter" idx="11"/>
          </p:nvPr>
        </p:nvSpPr>
        <p:spPr/>
        <p:txBody>
          <a:bodyPr/>
          <a:lstStyle/>
          <a:p>
            <a:pPr lvl="0"/>
            <a:endParaRPr lang="en-US" dirty="0">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fld id="{BB962C8B-B14F-4D97-AF65-F5344CB8AC3E}" type="datetime1">
              <a:rPr lang="en-US">
                <a:latin typeface="Arial" panose="020B0604020202020204" pitchFamily="34" charset="0"/>
              </a:rPr>
            </a:fld>
            <a:endParaRPr lang="en-US">
              <a:latin typeface="Arial" panose="020B0604020202020204" pitchFamily="34" charset="0"/>
            </a:endParaRPr>
          </a:p>
        </p:txBody>
      </p:sp>
      <p:sp>
        <p:nvSpPr>
          <p:cNvPr id="3" name="页脚占位符 2"/>
          <p:cNvSpPr>
            <a:spLocks noGrp="1"/>
          </p:cNvSpPr>
          <p:nvPr>
            <p:ph type="ftr" sz="quarter" idx="11"/>
          </p:nvPr>
        </p:nvSpPr>
        <p:spPr/>
        <p:txBody>
          <a:bodyPr/>
          <a:lstStyle/>
          <a:p>
            <a:pPr lvl="0"/>
            <a:endParaRPr lang="en-US" dirty="0">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pPr lvl="0"/>
            <a:fld id="{BB962C8B-B14F-4D97-AF65-F5344CB8AC3E}" type="datetime1">
              <a:rPr lang="en-US">
                <a:latin typeface="Arial" panose="020B0604020202020204" pitchFamily="34" charset="0"/>
              </a:rPr>
            </a:fld>
            <a:endParaRPr lang="en-US">
              <a:latin typeface="Arial" panose="020B0604020202020204" pitchFamily="34" charset="0"/>
            </a:endParaRPr>
          </a:p>
        </p:txBody>
      </p:sp>
      <p:sp>
        <p:nvSpPr>
          <p:cNvPr id="4" name="页脚占位符 3"/>
          <p:cNvSpPr>
            <a:spLocks noGrp="1"/>
          </p:cNvSpPr>
          <p:nvPr>
            <p:ph type="ftr" sz="quarter" idx="11"/>
          </p:nvPr>
        </p:nvSpPr>
        <p:spPr/>
        <p:txBody>
          <a:bodyPr/>
          <a:lstStyle/>
          <a:p>
            <a:pPr lvl="0"/>
            <a:endParaRPr lang="en-US" dirty="0">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286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fld id="{BB962C8B-B14F-4D97-AF65-F5344CB8AC3E}" type="datetime1">
              <a:rPr lang="en-US">
                <a:latin typeface="Arial" panose="020B0604020202020204" pitchFamily="34" charset="0"/>
              </a:rPr>
            </a:fld>
            <a:endParaRPr 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p:txBody>
          <a:bodyPr/>
          <a:lstStyle/>
          <a:p>
            <a:endParaRPr lang="zh-CN" altLang="en-US"/>
          </a:p>
        </p:txBody>
      </p:sp>
      <p:sp>
        <p:nvSpPr>
          <p:cNvPr id="4" name="日期占位符 3"/>
          <p:cNvSpPr>
            <a:spLocks noGrp="1"/>
          </p:cNvSpPr>
          <p:nvPr>
            <p:ph type="dt" sz="half" idx="10"/>
          </p:nvPr>
        </p:nvSpPr>
        <p:spPr/>
        <p:txBody>
          <a:bodyPr/>
          <a:lstStyle/>
          <a:p>
            <a:pPr lvl="0"/>
            <a:fld id="{BB962C8B-B14F-4D97-AF65-F5344CB8AC3E}" type="datetime1">
              <a:rPr lang="en-US">
                <a:latin typeface="Arial" panose="020B0604020202020204" pitchFamily="34" charset="0"/>
              </a:rPr>
            </a:fld>
            <a:endParaRPr 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pPr lvl="0"/>
            <a:endParaRPr 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lvl="0"/>
            <a:endParaRPr 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2504"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4296" y="1600200"/>
            <a:ext cx="4032504"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endParaRPr 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a:endParaRPr lang="en-US">
              <a:latin typeface="Arial" panose="020B0604020202020204" pitchFamily="34" charset="0"/>
            </a:endParaRPr>
          </a:p>
        </p:txBody>
      </p:sp>
      <p:sp>
        <p:nvSpPr>
          <p:cNvPr id="8" name="页脚占位符 7"/>
          <p:cNvSpPr>
            <a:spLocks noGrp="1"/>
          </p:cNvSpPr>
          <p:nvPr>
            <p:ph type="ftr" sz="quarter" idx="11"/>
          </p:nvPr>
        </p:nvSpPr>
        <p:spPr/>
        <p:txBody>
          <a:bodyPr/>
          <a:lstStyle/>
          <a:p>
            <a:pPr lvl="0"/>
            <a:endParaRPr lang="en-US" dirty="0">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a:endParaRPr lang="en-US">
              <a:latin typeface="Arial" panose="020B0604020202020204" pitchFamily="34" charset="0"/>
            </a:endParaRPr>
          </a:p>
        </p:txBody>
      </p:sp>
      <p:sp>
        <p:nvSpPr>
          <p:cNvPr id="4" name="页脚占位符 3"/>
          <p:cNvSpPr>
            <a:spLocks noGrp="1"/>
          </p:cNvSpPr>
          <p:nvPr>
            <p:ph type="ftr" sz="quarter" idx="11"/>
          </p:nvPr>
        </p:nvSpPr>
        <p:spPr/>
        <p:txBody>
          <a:bodyPr/>
          <a:lstStyle/>
          <a:p>
            <a:pPr lvl="0"/>
            <a:endParaRPr lang="en-US" dirty="0">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fld id="{BB962C8B-B14F-4D97-AF65-F5344CB8AC3E}" type="datetime1">
              <a:rPr lang="en-US">
                <a:latin typeface="Arial" panose="020B0604020202020204" pitchFamily="34" charset="0"/>
              </a:rPr>
            </a:fld>
            <a:endParaRPr lang="en-US">
              <a:latin typeface="Arial" panose="020B0604020202020204" pitchFamily="34" charset="0"/>
            </a:endParaRPr>
          </a:p>
        </p:txBody>
      </p:sp>
      <p:sp>
        <p:nvSpPr>
          <p:cNvPr id="3" name="页脚占位符 2"/>
          <p:cNvSpPr>
            <a:spLocks noGrp="1"/>
          </p:cNvSpPr>
          <p:nvPr>
            <p:ph type="ftr" sz="quarter" idx="11"/>
          </p:nvPr>
        </p:nvSpPr>
        <p:spPr/>
        <p:txBody>
          <a:bodyPr/>
          <a:lstStyle/>
          <a:p>
            <a:pPr lvl="0"/>
            <a:endParaRPr lang="en-US" dirty="0">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pPr lvl="0"/>
            <a:fld id="{BB962C8B-B14F-4D97-AF65-F5344CB8AC3E}" type="datetime1">
              <a:rPr lang="en-US">
                <a:latin typeface="Arial" panose="020B0604020202020204" pitchFamily="34" charset="0"/>
              </a:rPr>
            </a:fld>
            <a:endParaRPr lang="en-US">
              <a:latin typeface="Arial" panose="020B0604020202020204" pitchFamily="34" charset="0"/>
            </a:endParaRPr>
          </a:p>
        </p:txBody>
      </p:sp>
      <p:sp>
        <p:nvSpPr>
          <p:cNvPr id="4" name="页脚占位符 3"/>
          <p:cNvSpPr>
            <a:spLocks noGrp="1"/>
          </p:cNvSpPr>
          <p:nvPr>
            <p:ph type="ftr" sz="quarter" idx="11"/>
          </p:nvPr>
        </p:nvSpPr>
        <p:spPr/>
        <p:txBody>
          <a:bodyPr/>
          <a:lstStyle/>
          <a:p>
            <a:pPr lvl="0"/>
            <a:endParaRPr lang="en-US" dirty="0">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286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fld id="{BB962C8B-B14F-4D97-AF65-F5344CB8AC3E}" type="datetime1">
              <a:rPr lang="en-US">
                <a:latin typeface="Arial" panose="020B0604020202020204" pitchFamily="34" charset="0"/>
              </a:rPr>
            </a:fld>
            <a:endParaRPr lang="en-US">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p:txBody>
          <a:bodyPr/>
          <a:lstStyle/>
          <a:p>
            <a:endParaRPr lang="zh-CN" altLang="en-US"/>
          </a:p>
        </p:txBody>
      </p:sp>
      <p:sp>
        <p:nvSpPr>
          <p:cNvPr id="4" name="日期占位符 3"/>
          <p:cNvSpPr>
            <a:spLocks noGrp="1"/>
          </p:cNvSpPr>
          <p:nvPr>
            <p:ph type="dt" sz="half" idx="10"/>
          </p:nvPr>
        </p:nvSpPr>
        <p:spPr/>
        <p:txBody>
          <a:bodyPr/>
          <a:lstStyle/>
          <a:p>
            <a:pPr lvl="0"/>
            <a:fld id="{BB962C8B-B14F-4D97-AF65-F5344CB8AC3E}" type="datetime1">
              <a:rPr lang="en-US">
                <a:latin typeface="Arial" panose="020B0604020202020204" pitchFamily="34" charset="0"/>
              </a:rPr>
            </a:fld>
            <a:endParaRPr lang="en-US">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 Type="http://schemas.openxmlformats.org/officeDocument/2006/relationships/slideLayout" Target="../slideLayouts/slideLayout16.xml"/><Relationship Id="rId15" Type="http://schemas.openxmlformats.org/officeDocument/2006/relationships/theme" Target="../theme/theme2.xml"/><Relationship Id="rId14" Type="http://schemas.openxmlformats.org/officeDocument/2006/relationships/slideLayout" Target="../slideLayouts/slideLayout28.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1" Type="http://schemas.openxmlformats.org/officeDocument/2006/relationships/slideLayout" Target="../slideLayouts/slideLayout25.xml"/><Relationship Id="rId10" Type="http://schemas.openxmlformats.org/officeDocument/2006/relationships/slideLayout" Target="../slideLayouts/slideLayout24.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CCECFF"/>
            </a:gs>
            <a:gs pos="100000">
              <a:srgbClr val="FFFFCC"/>
            </a:gs>
          </a:gsLst>
          <a:path path="rect">
            <a:fillToRect r="100000" b="100000"/>
          </a:path>
          <a:tileRect/>
        </a:gradFill>
        <a:effectLst/>
      </p:bgPr>
    </p:bg>
    <p:spTree>
      <p:nvGrpSpPr>
        <p:cNvPr id="1" name=""/>
        <p:cNvGrpSpPr/>
        <p:nvPr/>
      </p:nvGrpSpPr>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文本占位符 1026"/>
          <p:cNvSpPr>
            <a:spLocks noGrp="1"/>
          </p:cNvSpPr>
          <p:nvPr>
            <p:ph type="body" idx="1"/>
          </p:nvPr>
        </p:nvSpPr>
        <p:spPr>
          <a:xfrm>
            <a:off x="457200" y="1600200"/>
            <a:ext cx="8229600" cy="4525963"/>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a:defRPr sz="1400" b="0"/>
            </a:lvl1pPr>
          </a:lstStyle>
          <a:p>
            <a:pPr lvl="0"/>
            <a:fld id="{BB962C8B-B14F-4D97-AF65-F5344CB8AC3E}" type="datetime1">
              <a:rPr lang="en-US">
                <a:latin typeface="Arial" panose="020B0604020202020204" pitchFamily="34" charset="0"/>
              </a:rPr>
            </a:fld>
            <a:endParaRPr lang="en-US">
              <a:latin typeface="Arial" panose="020B0604020202020204" pitchFamily="34" charset="0"/>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b="0"/>
            </a:lvl1pPr>
          </a:lstStyle>
          <a:p>
            <a:pPr lvl="0"/>
            <a:endParaRPr lang="en-US" dirty="0">
              <a:latin typeface="Arial" panose="020B0604020202020204" pitchFamily="34" charset="0"/>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b="0"/>
            </a:lvl1pPr>
          </a:lstStyle>
          <a:p>
            <a:pPr lvl="0"/>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marL="0" lvl="0" indent="0" algn="ctr"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CCECFF"/>
            </a:gs>
            <a:gs pos="100000">
              <a:srgbClr val="FFFFCC"/>
            </a:gs>
          </a:gsLst>
          <a:path path="rect">
            <a:fillToRect r="100000" b="100000"/>
          </a:path>
          <a:tileRect/>
        </a:gradFill>
        <a:effectLst/>
      </p:bgPr>
    </p:bg>
    <p:spTree>
      <p:nvGrpSpPr>
        <p:cNvPr id="1" name=""/>
        <p:cNvGrpSpPr/>
        <p:nvPr/>
      </p:nvGrpSpPr>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文本占位符 1026"/>
          <p:cNvSpPr>
            <a:spLocks noGrp="1"/>
          </p:cNvSpPr>
          <p:nvPr>
            <p:ph type="body" idx="1"/>
          </p:nvPr>
        </p:nvSpPr>
        <p:spPr>
          <a:xfrm>
            <a:off x="457200" y="1600200"/>
            <a:ext cx="8229600" cy="4525963"/>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a:defRPr sz="1400" b="0"/>
            </a:lvl1pPr>
          </a:lstStyle>
          <a:p>
            <a:pPr lvl="0"/>
            <a:fld id="{BB962C8B-B14F-4D97-AF65-F5344CB8AC3E}" type="datetime1">
              <a:rPr lang="en-US">
                <a:latin typeface="Arial" panose="020B0604020202020204" pitchFamily="34" charset="0"/>
              </a:rPr>
            </a:fld>
            <a:endParaRPr lang="en-US">
              <a:latin typeface="Arial" panose="020B0604020202020204" pitchFamily="34" charset="0"/>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b="0"/>
            </a:lvl1pPr>
          </a:lstStyle>
          <a:p>
            <a:pPr lvl="0"/>
            <a:endParaRPr lang="en-US" dirty="0">
              <a:latin typeface="Arial" panose="020B0604020202020204" pitchFamily="34" charset="0"/>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b="0"/>
            </a:lvl1pPr>
          </a:lstStyle>
          <a:p>
            <a:pPr lvl="0"/>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hf sldNum="0" hdr="0" ftr="0" dt="0"/>
  <p:txStyles>
    <p:titleStyle>
      <a:lvl1pPr marL="0" lvl="0" indent="0" algn="ctr"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1.wmf"/><Relationship Id="rId1"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7.xml"/><Relationship Id="rId4" Type="http://schemas.openxmlformats.org/officeDocument/2006/relationships/image" Target="../media/image3.wmf"/><Relationship Id="rId3" Type="http://schemas.openxmlformats.org/officeDocument/2006/relationships/oleObject" Target="../embeddings/oleObject3.bin"/><Relationship Id="rId2" Type="http://schemas.openxmlformats.org/officeDocument/2006/relationships/image" Target="../media/image2.wmf"/><Relationship Id="rId1" Type="http://schemas.openxmlformats.org/officeDocument/2006/relationships/oleObject" Target="../embeddings/oleObject2.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4.wmf"/><Relationship Id="rId1" Type="http://schemas.openxmlformats.org/officeDocument/2006/relationships/oleObject" Target="../embeddings/oleObject4.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customXml" Target="../ink/ink3.xml"/><Relationship Id="rId7" Type="http://schemas.openxmlformats.org/officeDocument/2006/relationships/image" Target="../media/image9.png"/><Relationship Id="rId6" Type="http://schemas.openxmlformats.org/officeDocument/2006/relationships/customXml" Target="../ink/ink2.xml"/><Relationship Id="rId5" Type="http://schemas.openxmlformats.org/officeDocument/2006/relationships/image" Target="../media/image8.png"/><Relationship Id="rId4" Type="http://schemas.openxmlformats.org/officeDocument/2006/relationships/customXml" Target="../ink/ink1.xml"/><Relationship Id="rId3" Type="http://schemas.openxmlformats.org/officeDocument/2006/relationships/image" Target="../media/image7.png"/><Relationship Id="rId24" Type="http://schemas.openxmlformats.org/officeDocument/2006/relationships/slideLayout" Target="../slideLayouts/slideLayout2.xml"/><Relationship Id="rId23" Type="http://schemas.openxmlformats.org/officeDocument/2006/relationships/image" Target="../media/image17.png"/><Relationship Id="rId22" Type="http://schemas.openxmlformats.org/officeDocument/2006/relationships/customXml" Target="../ink/ink10.xml"/><Relationship Id="rId21" Type="http://schemas.openxmlformats.org/officeDocument/2006/relationships/image" Target="../media/image16.png"/><Relationship Id="rId20" Type="http://schemas.openxmlformats.org/officeDocument/2006/relationships/customXml" Target="../ink/ink9.xml"/><Relationship Id="rId2" Type="http://schemas.openxmlformats.org/officeDocument/2006/relationships/image" Target="../media/image6.png"/><Relationship Id="rId19" Type="http://schemas.openxmlformats.org/officeDocument/2006/relationships/image" Target="../media/image15.png"/><Relationship Id="rId18" Type="http://schemas.openxmlformats.org/officeDocument/2006/relationships/customXml" Target="../ink/ink8.xml"/><Relationship Id="rId17" Type="http://schemas.openxmlformats.org/officeDocument/2006/relationships/image" Target="../media/image14.png"/><Relationship Id="rId16" Type="http://schemas.openxmlformats.org/officeDocument/2006/relationships/customXml" Target="../ink/ink7.xml"/><Relationship Id="rId15" Type="http://schemas.openxmlformats.org/officeDocument/2006/relationships/image" Target="../media/image13.png"/><Relationship Id="rId14" Type="http://schemas.openxmlformats.org/officeDocument/2006/relationships/customXml" Target="../ink/ink6.xml"/><Relationship Id="rId13" Type="http://schemas.openxmlformats.org/officeDocument/2006/relationships/image" Target="../media/image12.png"/><Relationship Id="rId12" Type="http://schemas.openxmlformats.org/officeDocument/2006/relationships/customXml" Target="../ink/ink5.xml"/><Relationship Id="rId11" Type="http://schemas.openxmlformats.org/officeDocument/2006/relationships/image" Target="../media/image11.png"/><Relationship Id="rId10" Type="http://schemas.openxmlformats.org/officeDocument/2006/relationships/customXml" Target="../ink/ink4.xml"/><Relationship Id="rId1" Type="http://schemas.openxmlformats.org/officeDocument/2006/relationships/image" Target="../media/image5.png"/></Relationships>
</file>

<file path=ppt/slides/_rels/slide24.xml.rels><?xml version="1.0" encoding="UTF-8" standalone="yes"?>
<Relationships xmlns="http://schemas.openxmlformats.org/package/2006/relationships"><Relationship Id="rId9" Type="http://schemas.openxmlformats.org/officeDocument/2006/relationships/customXml" Target="../ink/ink14.xml"/><Relationship Id="rId8" Type="http://schemas.openxmlformats.org/officeDocument/2006/relationships/image" Target="../media/image21.png"/><Relationship Id="rId79" Type="http://schemas.openxmlformats.org/officeDocument/2006/relationships/slideLayout" Target="../slideLayouts/slideLayout16.xml"/><Relationship Id="rId78" Type="http://schemas.openxmlformats.org/officeDocument/2006/relationships/image" Target="../media/image56.png"/><Relationship Id="rId77" Type="http://schemas.openxmlformats.org/officeDocument/2006/relationships/customXml" Target="../ink/ink48.xml"/><Relationship Id="rId76" Type="http://schemas.openxmlformats.org/officeDocument/2006/relationships/image" Target="../media/image55.png"/><Relationship Id="rId75" Type="http://schemas.openxmlformats.org/officeDocument/2006/relationships/customXml" Target="../ink/ink47.xml"/><Relationship Id="rId74" Type="http://schemas.openxmlformats.org/officeDocument/2006/relationships/image" Target="../media/image54.png"/><Relationship Id="rId73" Type="http://schemas.openxmlformats.org/officeDocument/2006/relationships/customXml" Target="../ink/ink46.xml"/><Relationship Id="rId72" Type="http://schemas.openxmlformats.org/officeDocument/2006/relationships/image" Target="../media/image53.png"/><Relationship Id="rId71" Type="http://schemas.openxmlformats.org/officeDocument/2006/relationships/customXml" Target="../ink/ink45.xml"/><Relationship Id="rId70" Type="http://schemas.openxmlformats.org/officeDocument/2006/relationships/image" Target="../media/image52.png"/><Relationship Id="rId7" Type="http://schemas.openxmlformats.org/officeDocument/2006/relationships/customXml" Target="../ink/ink13.xml"/><Relationship Id="rId69" Type="http://schemas.openxmlformats.org/officeDocument/2006/relationships/customXml" Target="../ink/ink44.xml"/><Relationship Id="rId68" Type="http://schemas.openxmlformats.org/officeDocument/2006/relationships/image" Target="../media/image51.png"/><Relationship Id="rId67" Type="http://schemas.openxmlformats.org/officeDocument/2006/relationships/customXml" Target="../ink/ink43.xml"/><Relationship Id="rId66" Type="http://schemas.openxmlformats.org/officeDocument/2006/relationships/image" Target="../media/image50.png"/><Relationship Id="rId65" Type="http://schemas.openxmlformats.org/officeDocument/2006/relationships/customXml" Target="../ink/ink42.xml"/><Relationship Id="rId64" Type="http://schemas.openxmlformats.org/officeDocument/2006/relationships/image" Target="../media/image49.png"/><Relationship Id="rId63" Type="http://schemas.openxmlformats.org/officeDocument/2006/relationships/customXml" Target="../ink/ink41.xml"/><Relationship Id="rId62" Type="http://schemas.openxmlformats.org/officeDocument/2006/relationships/image" Target="../media/image48.png"/><Relationship Id="rId61" Type="http://schemas.openxmlformats.org/officeDocument/2006/relationships/customXml" Target="../ink/ink40.xml"/><Relationship Id="rId60" Type="http://schemas.openxmlformats.org/officeDocument/2006/relationships/image" Target="../media/image47.png"/><Relationship Id="rId6" Type="http://schemas.openxmlformats.org/officeDocument/2006/relationships/image" Target="../media/image20.png"/><Relationship Id="rId59" Type="http://schemas.openxmlformats.org/officeDocument/2006/relationships/customXml" Target="../ink/ink39.xml"/><Relationship Id="rId58" Type="http://schemas.openxmlformats.org/officeDocument/2006/relationships/image" Target="../media/image46.png"/><Relationship Id="rId57" Type="http://schemas.openxmlformats.org/officeDocument/2006/relationships/customXml" Target="../ink/ink38.xml"/><Relationship Id="rId56" Type="http://schemas.openxmlformats.org/officeDocument/2006/relationships/image" Target="../media/image45.png"/><Relationship Id="rId55" Type="http://schemas.openxmlformats.org/officeDocument/2006/relationships/customXml" Target="../ink/ink37.xml"/><Relationship Id="rId54" Type="http://schemas.openxmlformats.org/officeDocument/2006/relationships/image" Target="../media/image44.png"/><Relationship Id="rId53" Type="http://schemas.openxmlformats.org/officeDocument/2006/relationships/customXml" Target="../ink/ink36.xml"/><Relationship Id="rId52" Type="http://schemas.openxmlformats.org/officeDocument/2006/relationships/image" Target="../media/image43.png"/><Relationship Id="rId51" Type="http://schemas.openxmlformats.org/officeDocument/2006/relationships/customXml" Target="../ink/ink35.xml"/><Relationship Id="rId50" Type="http://schemas.openxmlformats.org/officeDocument/2006/relationships/image" Target="../media/image42.png"/><Relationship Id="rId5" Type="http://schemas.openxmlformats.org/officeDocument/2006/relationships/customXml" Target="../ink/ink12.xml"/><Relationship Id="rId49" Type="http://schemas.openxmlformats.org/officeDocument/2006/relationships/customXml" Target="../ink/ink34.xml"/><Relationship Id="rId48" Type="http://schemas.openxmlformats.org/officeDocument/2006/relationships/image" Target="../media/image41.png"/><Relationship Id="rId47" Type="http://schemas.openxmlformats.org/officeDocument/2006/relationships/customXml" Target="../ink/ink33.xml"/><Relationship Id="rId46" Type="http://schemas.openxmlformats.org/officeDocument/2006/relationships/image" Target="../media/image40.png"/><Relationship Id="rId45" Type="http://schemas.openxmlformats.org/officeDocument/2006/relationships/customXml" Target="../ink/ink32.xml"/><Relationship Id="rId44" Type="http://schemas.openxmlformats.org/officeDocument/2006/relationships/image" Target="../media/image39.png"/><Relationship Id="rId43" Type="http://schemas.openxmlformats.org/officeDocument/2006/relationships/customXml" Target="../ink/ink31.xml"/><Relationship Id="rId42" Type="http://schemas.openxmlformats.org/officeDocument/2006/relationships/image" Target="../media/image38.png"/><Relationship Id="rId41" Type="http://schemas.openxmlformats.org/officeDocument/2006/relationships/customXml" Target="../ink/ink30.xml"/><Relationship Id="rId40" Type="http://schemas.openxmlformats.org/officeDocument/2006/relationships/image" Target="../media/image37.png"/><Relationship Id="rId4" Type="http://schemas.openxmlformats.org/officeDocument/2006/relationships/image" Target="../media/image19.png"/><Relationship Id="rId39" Type="http://schemas.openxmlformats.org/officeDocument/2006/relationships/customXml" Target="../ink/ink29.xml"/><Relationship Id="rId38" Type="http://schemas.openxmlformats.org/officeDocument/2006/relationships/image" Target="../media/image36.png"/><Relationship Id="rId37" Type="http://schemas.openxmlformats.org/officeDocument/2006/relationships/customXml" Target="../ink/ink28.xml"/><Relationship Id="rId36" Type="http://schemas.openxmlformats.org/officeDocument/2006/relationships/image" Target="../media/image35.png"/><Relationship Id="rId35" Type="http://schemas.openxmlformats.org/officeDocument/2006/relationships/customXml" Target="../ink/ink27.xml"/><Relationship Id="rId34" Type="http://schemas.openxmlformats.org/officeDocument/2006/relationships/image" Target="../media/image34.png"/><Relationship Id="rId33" Type="http://schemas.openxmlformats.org/officeDocument/2006/relationships/customXml" Target="../ink/ink26.xml"/><Relationship Id="rId32" Type="http://schemas.openxmlformats.org/officeDocument/2006/relationships/image" Target="../media/image33.png"/><Relationship Id="rId31" Type="http://schemas.openxmlformats.org/officeDocument/2006/relationships/customXml" Target="../ink/ink25.xml"/><Relationship Id="rId30" Type="http://schemas.openxmlformats.org/officeDocument/2006/relationships/image" Target="../media/image32.png"/><Relationship Id="rId3" Type="http://schemas.openxmlformats.org/officeDocument/2006/relationships/customXml" Target="../ink/ink11.xml"/><Relationship Id="rId29" Type="http://schemas.openxmlformats.org/officeDocument/2006/relationships/customXml" Target="../ink/ink24.xml"/><Relationship Id="rId28" Type="http://schemas.openxmlformats.org/officeDocument/2006/relationships/image" Target="../media/image31.png"/><Relationship Id="rId27" Type="http://schemas.openxmlformats.org/officeDocument/2006/relationships/customXml" Target="../ink/ink23.xml"/><Relationship Id="rId26" Type="http://schemas.openxmlformats.org/officeDocument/2006/relationships/image" Target="../media/image30.png"/><Relationship Id="rId25" Type="http://schemas.openxmlformats.org/officeDocument/2006/relationships/customXml" Target="../ink/ink22.xml"/><Relationship Id="rId24" Type="http://schemas.openxmlformats.org/officeDocument/2006/relationships/image" Target="../media/image29.png"/><Relationship Id="rId23" Type="http://schemas.openxmlformats.org/officeDocument/2006/relationships/customXml" Target="../ink/ink21.xml"/><Relationship Id="rId22" Type="http://schemas.openxmlformats.org/officeDocument/2006/relationships/image" Target="../media/image28.png"/><Relationship Id="rId21" Type="http://schemas.openxmlformats.org/officeDocument/2006/relationships/customXml" Target="../ink/ink20.xml"/><Relationship Id="rId20" Type="http://schemas.openxmlformats.org/officeDocument/2006/relationships/image" Target="../media/image27.png"/><Relationship Id="rId2" Type="http://schemas.openxmlformats.org/officeDocument/2006/relationships/image" Target="../media/image18.png"/><Relationship Id="rId19" Type="http://schemas.openxmlformats.org/officeDocument/2006/relationships/customXml" Target="../ink/ink19.xml"/><Relationship Id="rId18" Type="http://schemas.openxmlformats.org/officeDocument/2006/relationships/image" Target="../media/image26.png"/><Relationship Id="rId17" Type="http://schemas.openxmlformats.org/officeDocument/2006/relationships/customXml" Target="../ink/ink18.xml"/><Relationship Id="rId16" Type="http://schemas.openxmlformats.org/officeDocument/2006/relationships/image" Target="../media/image25.png"/><Relationship Id="rId15" Type="http://schemas.openxmlformats.org/officeDocument/2006/relationships/customXml" Target="../ink/ink17.xml"/><Relationship Id="rId14" Type="http://schemas.openxmlformats.org/officeDocument/2006/relationships/image" Target="../media/image24.png"/><Relationship Id="rId13" Type="http://schemas.openxmlformats.org/officeDocument/2006/relationships/customXml" Target="../ink/ink16.xml"/><Relationship Id="rId12" Type="http://schemas.openxmlformats.org/officeDocument/2006/relationships/image" Target="../media/image23.png"/><Relationship Id="rId11" Type="http://schemas.openxmlformats.org/officeDocument/2006/relationships/customXml" Target="../ink/ink15.xml"/><Relationship Id="rId10" Type="http://schemas.openxmlformats.org/officeDocument/2006/relationships/image" Target="../media/image22.png"/><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7" Type="http://schemas.openxmlformats.org/officeDocument/2006/relationships/slideLayout" Target="../slideLayouts/slideLayout16.xml"/><Relationship Id="rId6" Type="http://schemas.openxmlformats.org/officeDocument/2006/relationships/image" Target="../media/image59.png"/><Relationship Id="rId5" Type="http://schemas.openxmlformats.org/officeDocument/2006/relationships/customXml" Target="../ink/ink50.xml"/><Relationship Id="rId4" Type="http://schemas.openxmlformats.org/officeDocument/2006/relationships/image" Target="../media/image58.png"/><Relationship Id="rId3" Type="http://schemas.openxmlformats.org/officeDocument/2006/relationships/customXml" Target="../ink/ink49.xml"/><Relationship Id="rId2" Type="http://schemas.openxmlformats.org/officeDocument/2006/relationships/image" Target="../media/image57.png"/><Relationship Id="rId1"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image" Target="../media/image60.png"/><Relationship Id="rId1"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1.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62.png"/></Relationships>
</file>

<file path=ppt/slides/_rels/slide30.xml.rels><?xml version="1.0" encoding="UTF-8" standalone="yes"?>
<Relationships xmlns="http://schemas.openxmlformats.org/package/2006/relationships"><Relationship Id="rId9" Type="http://schemas.openxmlformats.org/officeDocument/2006/relationships/customXml" Target="../ink/ink54.xml"/><Relationship Id="rId8" Type="http://schemas.openxmlformats.org/officeDocument/2006/relationships/image" Target="../media/image66.png"/><Relationship Id="rId7" Type="http://schemas.openxmlformats.org/officeDocument/2006/relationships/customXml" Target="../ink/ink53.xml"/><Relationship Id="rId6" Type="http://schemas.openxmlformats.org/officeDocument/2006/relationships/image" Target="../media/image65.png"/><Relationship Id="rId5" Type="http://schemas.openxmlformats.org/officeDocument/2006/relationships/customXml" Target="../ink/ink52.xml"/><Relationship Id="rId4" Type="http://schemas.openxmlformats.org/officeDocument/2006/relationships/image" Target="../media/image64.png"/><Relationship Id="rId3" Type="http://schemas.openxmlformats.org/officeDocument/2006/relationships/customXml" Target="../ink/ink51.xml"/><Relationship Id="rId2" Type="http://schemas.openxmlformats.org/officeDocument/2006/relationships/image" Target="../media/image63.wmf"/><Relationship Id="rId12" Type="http://schemas.openxmlformats.org/officeDocument/2006/relationships/vmlDrawing" Target="../drawings/vmlDrawing4.vml"/><Relationship Id="rId11" Type="http://schemas.openxmlformats.org/officeDocument/2006/relationships/slideLayout" Target="../slideLayouts/slideLayout2.xml"/><Relationship Id="rId10" Type="http://schemas.openxmlformats.org/officeDocument/2006/relationships/image" Target="../media/image67.png"/><Relationship Id="rId1" Type="http://schemas.openxmlformats.org/officeDocument/2006/relationships/oleObject" Target="../embeddings/oleObject5.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70.png"/><Relationship Id="rId5" Type="http://schemas.openxmlformats.org/officeDocument/2006/relationships/customXml" Target="../ink/ink57.xml"/><Relationship Id="rId4" Type="http://schemas.openxmlformats.org/officeDocument/2006/relationships/image" Target="../media/image69.png"/><Relationship Id="rId3" Type="http://schemas.openxmlformats.org/officeDocument/2006/relationships/customXml" Target="../ink/ink56.xml"/><Relationship Id="rId2" Type="http://schemas.openxmlformats.org/officeDocument/2006/relationships/image" Target="../media/image68.png"/><Relationship Id="rId1" Type="http://schemas.openxmlformats.org/officeDocument/2006/relationships/customXml" Target="../ink/ink55.xml"/></Relationships>
</file>

<file path=ppt/slides/_rels/slide3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74.png"/><Relationship Id="rId7" Type="http://schemas.openxmlformats.org/officeDocument/2006/relationships/customXml" Target="../ink/ink61.xml"/><Relationship Id="rId6" Type="http://schemas.openxmlformats.org/officeDocument/2006/relationships/image" Target="../media/image73.png"/><Relationship Id="rId5" Type="http://schemas.openxmlformats.org/officeDocument/2006/relationships/customXml" Target="../ink/ink60.xml"/><Relationship Id="rId4" Type="http://schemas.openxmlformats.org/officeDocument/2006/relationships/image" Target="../media/image72.png"/><Relationship Id="rId3" Type="http://schemas.openxmlformats.org/officeDocument/2006/relationships/customXml" Target="../ink/ink59.xml"/><Relationship Id="rId2" Type="http://schemas.openxmlformats.org/officeDocument/2006/relationships/image" Target="../media/image71.png"/><Relationship Id="rId1" Type="http://schemas.openxmlformats.org/officeDocument/2006/relationships/customXml" Target="../ink/ink58.xml"/></Relationships>
</file>

<file path=ppt/slides/_rels/slide34.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75.emf"/><Relationship Id="rId1" Type="http://schemas.openxmlformats.org/officeDocument/2006/relationships/oleObject" Target="../embeddings/oleObject6.bin"/></Relationships>
</file>

<file path=ppt/slides/_rels/slide35.xml.rels><?xml version="1.0" encoding="UTF-8" standalone="yes"?>
<Relationships xmlns="http://schemas.openxmlformats.org/package/2006/relationships"><Relationship Id="rId9" Type="http://schemas.openxmlformats.org/officeDocument/2006/relationships/customXml" Target="../ink/ink66.xml"/><Relationship Id="rId8" Type="http://schemas.openxmlformats.org/officeDocument/2006/relationships/image" Target="../media/image79.png"/><Relationship Id="rId7" Type="http://schemas.openxmlformats.org/officeDocument/2006/relationships/customXml" Target="../ink/ink65.xml"/><Relationship Id="rId6" Type="http://schemas.openxmlformats.org/officeDocument/2006/relationships/image" Target="../media/image78.png"/><Relationship Id="rId5" Type="http://schemas.openxmlformats.org/officeDocument/2006/relationships/customXml" Target="../ink/ink64.xml"/><Relationship Id="rId4" Type="http://schemas.openxmlformats.org/officeDocument/2006/relationships/image" Target="../media/image77.png"/><Relationship Id="rId3" Type="http://schemas.openxmlformats.org/officeDocument/2006/relationships/customXml" Target="../ink/ink63.xml"/><Relationship Id="rId2" Type="http://schemas.openxmlformats.org/officeDocument/2006/relationships/image" Target="../media/image76.png"/><Relationship Id="rId13" Type="http://schemas.openxmlformats.org/officeDocument/2006/relationships/slideLayout" Target="../slideLayouts/slideLayout14.xml"/><Relationship Id="rId12" Type="http://schemas.openxmlformats.org/officeDocument/2006/relationships/image" Target="../media/image81.png"/><Relationship Id="rId11" Type="http://schemas.openxmlformats.org/officeDocument/2006/relationships/customXml" Target="../ink/ink67.xml"/><Relationship Id="rId10" Type="http://schemas.openxmlformats.org/officeDocument/2006/relationships/image" Target="../media/image80.png"/><Relationship Id="rId1" Type="http://schemas.openxmlformats.org/officeDocument/2006/relationships/customXml" Target="../ink/ink6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9" Type="http://schemas.openxmlformats.org/officeDocument/2006/relationships/customXml" Target="../ink/ink71.xml"/><Relationship Id="rId8" Type="http://schemas.openxmlformats.org/officeDocument/2006/relationships/image" Target="../media/image86.png"/><Relationship Id="rId7" Type="http://schemas.openxmlformats.org/officeDocument/2006/relationships/customXml" Target="../ink/ink70.xml"/><Relationship Id="rId6" Type="http://schemas.openxmlformats.org/officeDocument/2006/relationships/image" Target="../media/image85.png"/><Relationship Id="rId5" Type="http://schemas.openxmlformats.org/officeDocument/2006/relationships/customXml" Target="../ink/ink69.xml"/><Relationship Id="rId4" Type="http://schemas.openxmlformats.org/officeDocument/2006/relationships/image" Target="../media/image84.png"/><Relationship Id="rId3" Type="http://schemas.openxmlformats.org/officeDocument/2006/relationships/customXml" Target="../ink/ink68.xml"/><Relationship Id="rId2" Type="http://schemas.openxmlformats.org/officeDocument/2006/relationships/image" Target="../media/image83.png"/><Relationship Id="rId11" Type="http://schemas.openxmlformats.org/officeDocument/2006/relationships/slideLayout" Target="../slideLayouts/slideLayout14.xml"/><Relationship Id="rId10" Type="http://schemas.openxmlformats.org/officeDocument/2006/relationships/image" Target="../media/image87.png"/><Relationship Id="rId1" Type="http://schemas.openxmlformats.org/officeDocument/2006/relationships/image" Target="../media/image82.png"/></Relationships>
</file>

<file path=ppt/slides/_rels/slide3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92.png"/><Relationship Id="rId7" Type="http://schemas.openxmlformats.org/officeDocument/2006/relationships/customXml" Target="../ink/ink74.xml"/><Relationship Id="rId6" Type="http://schemas.openxmlformats.org/officeDocument/2006/relationships/image" Target="../media/image91.png"/><Relationship Id="rId5" Type="http://schemas.openxmlformats.org/officeDocument/2006/relationships/customXml" Target="../ink/ink73.xml"/><Relationship Id="rId4" Type="http://schemas.openxmlformats.org/officeDocument/2006/relationships/image" Target="../media/image90.png"/><Relationship Id="rId3" Type="http://schemas.openxmlformats.org/officeDocument/2006/relationships/customXml" Target="../ink/ink72.xml"/><Relationship Id="rId2" Type="http://schemas.openxmlformats.org/officeDocument/2006/relationships/image" Target="../media/image89.png"/><Relationship Id="rId1" Type="http://schemas.openxmlformats.org/officeDocument/2006/relationships/image" Target="../media/image88.png"/></Relationships>
</file>

<file path=ppt/slides/_rels/slide39.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96.png"/><Relationship Id="rId6" Type="http://schemas.openxmlformats.org/officeDocument/2006/relationships/customXml" Target="../ink/ink77.xml"/><Relationship Id="rId5" Type="http://schemas.openxmlformats.org/officeDocument/2006/relationships/image" Target="../media/image95.png"/><Relationship Id="rId4" Type="http://schemas.openxmlformats.org/officeDocument/2006/relationships/customXml" Target="../ink/ink76.xml"/><Relationship Id="rId3" Type="http://schemas.openxmlformats.org/officeDocument/2006/relationships/image" Target="../media/image94.png"/><Relationship Id="rId2" Type="http://schemas.openxmlformats.org/officeDocument/2006/relationships/customXml" Target="../ink/ink75.xml"/><Relationship Id="rId1" Type="http://schemas.openxmlformats.org/officeDocument/2006/relationships/image" Target="../media/image93.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7.png"/></Relationships>
</file>

<file path=ppt/slides/_rels/slide41.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00.png"/><Relationship Id="rId4" Type="http://schemas.openxmlformats.org/officeDocument/2006/relationships/customXml" Target="../ink/ink79.xml"/><Relationship Id="rId3" Type="http://schemas.openxmlformats.org/officeDocument/2006/relationships/image" Target="../media/image99.png"/><Relationship Id="rId2" Type="http://schemas.openxmlformats.org/officeDocument/2006/relationships/customXml" Target="../ink/ink78.xml"/><Relationship Id="rId1" Type="http://schemas.openxmlformats.org/officeDocument/2006/relationships/image" Target="../media/image98.png"/></Relationships>
</file>

<file path=ppt/slides/_rels/slide42.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03.png"/><Relationship Id="rId4" Type="http://schemas.openxmlformats.org/officeDocument/2006/relationships/customXml" Target="../ink/ink81.xml"/><Relationship Id="rId3" Type="http://schemas.openxmlformats.org/officeDocument/2006/relationships/image" Target="../media/image102.png"/><Relationship Id="rId2" Type="http://schemas.openxmlformats.org/officeDocument/2006/relationships/customXml" Target="../ink/ink80.xml"/><Relationship Id="rId1" Type="http://schemas.openxmlformats.org/officeDocument/2006/relationships/image" Target="../media/image101.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88" name="文本框 3087"/>
          <p:cNvSpPr txBox="1"/>
          <p:nvPr/>
        </p:nvSpPr>
        <p:spPr>
          <a:xfrm>
            <a:off x="2268538" y="1412875"/>
            <a:ext cx="4608512" cy="1433513"/>
          </a:xfrm>
          <a:prstGeom prst="rect">
            <a:avLst/>
          </a:prstGeom>
          <a:noFill/>
          <a:ln w="9525">
            <a:noFill/>
          </a:ln>
        </p:spPr>
        <p:txBody>
          <a:bodyPr>
            <a:spAutoFit/>
          </a:bodyPr>
          <a:p>
            <a:pPr>
              <a:spcBef>
                <a:spcPct val="50000"/>
              </a:spcBef>
            </a:pPr>
            <a:r>
              <a:rPr lang="zh-CN" altLang="en-US" sz="8800" b="0" dirty="0">
                <a:solidFill>
                  <a:srgbClr val="990000"/>
                </a:solidFill>
                <a:latin typeface="Arial" panose="020B0604020202020204" pitchFamily="34" charset="0"/>
                <a:ea typeface="楷体_GB2312" pitchFamily="49" charset="-122"/>
              </a:rPr>
              <a:t>第 一 章</a:t>
            </a:r>
            <a:endParaRPr lang="zh-CN" altLang="en-US" sz="8800" b="0" dirty="0">
              <a:solidFill>
                <a:srgbClr val="990000"/>
              </a:solidFill>
              <a:latin typeface="Arial" panose="020B0604020202020204" pitchFamily="34" charset="0"/>
              <a:ea typeface="楷体_GB2312" pitchFamily="49" charset="-122"/>
            </a:endParaRPr>
          </a:p>
        </p:txBody>
      </p:sp>
      <p:sp>
        <p:nvSpPr>
          <p:cNvPr id="3089" name="文本框 3088"/>
          <p:cNvSpPr txBox="1"/>
          <p:nvPr/>
        </p:nvSpPr>
        <p:spPr>
          <a:xfrm>
            <a:off x="1835150" y="3284538"/>
            <a:ext cx="6697663" cy="1433512"/>
          </a:xfrm>
          <a:prstGeom prst="rect">
            <a:avLst/>
          </a:prstGeom>
          <a:noFill/>
          <a:ln w="9525">
            <a:noFill/>
          </a:ln>
        </p:spPr>
        <p:txBody>
          <a:bodyPr>
            <a:spAutoFit/>
          </a:bodyPr>
          <a:p>
            <a:pPr>
              <a:spcBef>
                <a:spcPct val="50000"/>
              </a:spcBef>
            </a:pPr>
            <a:r>
              <a:rPr lang="zh-CN" altLang="en-US" sz="8800" dirty="0">
                <a:solidFill>
                  <a:srgbClr val="990000"/>
                </a:solidFill>
                <a:latin typeface="Arial" panose="020B0604020202020204" pitchFamily="34" charset="0"/>
                <a:ea typeface="楷体_GB2312" pitchFamily="49" charset="-122"/>
              </a:rPr>
              <a:t>数制和码制</a:t>
            </a:r>
            <a:endParaRPr lang="zh-CN" altLang="en-US" sz="8800" dirty="0">
              <a:solidFill>
                <a:srgbClr val="990000"/>
              </a:solidFill>
              <a:latin typeface="Arial" panose="020B0604020202020204" pitchFamily="34" charset="0"/>
              <a:ea typeface="楷体_GB2312"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4" name="文本框 2053"/>
          <p:cNvSpPr txBox="1"/>
          <p:nvPr/>
        </p:nvSpPr>
        <p:spPr>
          <a:xfrm>
            <a:off x="468313" y="620713"/>
            <a:ext cx="3240087" cy="641350"/>
          </a:xfrm>
          <a:prstGeom prst="rect">
            <a:avLst/>
          </a:prstGeom>
          <a:solidFill>
            <a:srgbClr val="FFFF66"/>
          </a:solidFill>
          <a:ln w="9525">
            <a:noFill/>
          </a:ln>
        </p:spPr>
        <p:txBody>
          <a:bodyPr>
            <a:spAutoFit/>
          </a:bodyPr>
          <a:p>
            <a:pPr>
              <a:spcBef>
                <a:spcPct val="50000"/>
              </a:spcBef>
            </a:pPr>
            <a:r>
              <a:rPr lang="zh-CN" altLang="en-US" sz="3600" b="0">
                <a:latin typeface="Verdana" panose="020B0604030504040204" pitchFamily="34" charset="0"/>
              </a:rPr>
              <a:t>§</a:t>
            </a:r>
            <a:r>
              <a:rPr lang="en-US" altLang="zh-CN" sz="3600" b="0">
                <a:latin typeface="Verdana" panose="020B0604030504040204" pitchFamily="34" charset="0"/>
              </a:rPr>
              <a:t>1.1  </a:t>
            </a:r>
            <a:r>
              <a:rPr lang="zh-CN" altLang="en-US" sz="3600" b="0" dirty="0">
                <a:latin typeface="Verdana" panose="020B0604030504040204" pitchFamily="34" charset="0"/>
              </a:rPr>
              <a:t>概述</a:t>
            </a:r>
            <a:endParaRPr lang="zh-CN" altLang="en-US" sz="3600" b="0" dirty="0">
              <a:latin typeface="Verdana" panose="020B0604030504040204" pitchFamily="34" charset="0"/>
            </a:endParaRPr>
          </a:p>
        </p:txBody>
      </p:sp>
      <p:sp>
        <p:nvSpPr>
          <p:cNvPr id="2055" name="文本框 2054"/>
          <p:cNvSpPr txBox="1"/>
          <p:nvPr/>
        </p:nvSpPr>
        <p:spPr>
          <a:xfrm>
            <a:off x="1038225" y="2209800"/>
            <a:ext cx="709613" cy="3546475"/>
          </a:xfrm>
          <a:prstGeom prst="rect">
            <a:avLst/>
          </a:prstGeom>
          <a:solidFill>
            <a:srgbClr val="33CCCC"/>
          </a:solidFill>
          <a:ln w="38100" cap="flat" cmpd="sng">
            <a:solidFill>
              <a:srgbClr val="FF5050"/>
            </a:solidFill>
            <a:prstDash val="solid"/>
            <a:miter/>
            <a:headEnd type="none" w="med" len="med"/>
            <a:tailEnd type="none" w="med" len="med"/>
          </a:ln>
        </p:spPr>
        <p:txBody>
          <a:bodyPr>
            <a:spAutoFit/>
          </a:bodyPr>
          <a:p>
            <a:pPr>
              <a:spcBef>
                <a:spcPct val="50000"/>
              </a:spcBef>
            </a:pPr>
            <a:r>
              <a:rPr lang="zh-CN" altLang="en-US" dirty="0">
                <a:solidFill>
                  <a:srgbClr val="800000"/>
                </a:solidFill>
                <a:latin typeface="Times New Roman" panose="02020603050405020304" pitchFamily="18" charset="0"/>
              </a:rPr>
              <a:t>电子电路中的信号</a:t>
            </a:r>
            <a:endParaRPr lang="zh-CN" altLang="en-US" dirty="0">
              <a:solidFill>
                <a:srgbClr val="800000"/>
              </a:solidFill>
              <a:latin typeface="Times New Roman" panose="02020603050405020304" pitchFamily="18" charset="0"/>
            </a:endParaRPr>
          </a:p>
        </p:txBody>
      </p:sp>
      <p:sp>
        <p:nvSpPr>
          <p:cNvPr id="2056" name="左大括号 2055"/>
          <p:cNvSpPr/>
          <p:nvPr/>
        </p:nvSpPr>
        <p:spPr>
          <a:xfrm>
            <a:off x="2051050" y="3068638"/>
            <a:ext cx="652463" cy="1670050"/>
          </a:xfrm>
          <a:prstGeom prst="leftBrace">
            <a:avLst>
              <a:gd name="adj1" fmla="val 21330"/>
              <a:gd name="adj2" fmla="val 50000"/>
            </a:avLst>
          </a:prstGeom>
          <a:noFill/>
          <a:ln w="63500" cap="flat" cmpd="sng">
            <a:solidFill>
              <a:srgbClr val="FF0066"/>
            </a:solidFill>
            <a:prstDash val="solid"/>
            <a:headEnd type="none" w="med" len="med"/>
            <a:tailEnd type="none" w="med" len="med"/>
          </a:ln>
        </p:spPr>
        <p:txBody>
          <a:bodyPr/>
          <a:p>
            <a:endParaRPr lang="zh-CN" altLang="en-US"/>
          </a:p>
        </p:txBody>
      </p:sp>
      <p:sp>
        <p:nvSpPr>
          <p:cNvPr id="2057" name="文本框 2056"/>
          <p:cNvSpPr txBox="1"/>
          <p:nvPr/>
        </p:nvSpPr>
        <p:spPr>
          <a:xfrm>
            <a:off x="2843213" y="2565400"/>
            <a:ext cx="1905000" cy="557213"/>
          </a:xfrm>
          <a:prstGeom prst="rect">
            <a:avLst/>
          </a:prstGeom>
          <a:solidFill>
            <a:srgbClr val="33CCCC"/>
          </a:solidFill>
          <a:ln w="38100" cap="flat" cmpd="sng">
            <a:solidFill>
              <a:srgbClr val="FF5050"/>
            </a:solidFill>
            <a:prstDash val="solid"/>
            <a:miter/>
            <a:headEnd type="none" w="med" len="med"/>
            <a:tailEnd type="none" w="med" len="med"/>
          </a:ln>
        </p:spPr>
        <p:txBody>
          <a:bodyPr>
            <a:spAutoFit/>
          </a:bodyPr>
          <a:p>
            <a:pPr>
              <a:spcBef>
                <a:spcPct val="50000"/>
              </a:spcBef>
            </a:pPr>
            <a:r>
              <a:rPr lang="zh-CN" altLang="en-US" dirty="0">
                <a:solidFill>
                  <a:srgbClr val="800000"/>
                </a:solidFill>
                <a:latin typeface="Times New Roman" panose="02020603050405020304" pitchFamily="18" charset="0"/>
              </a:rPr>
              <a:t>模拟信号</a:t>
            </a:r>
            <a:endParaRPr lang="zh-CN" altLang="en-US" dirty="0">
              <a:solidFill>
                <a:srgbClr val="800000"/>
              </a:solidFill>
              <a:latin typeface="Times New Roman" panose="02020603050405020304" pitchFamily="18" charset="0"/>
            </a:endParaRPr>
          </a:p>
        </p:txBody>
      </p:sp>
      <p:sp>
        <p:nvSpPr>
          <p:cNvPr id="2058" name="文本框 2057"/>
          <p:cNvSpPr txBox="1"/>
          <p:nvPr/>
        </p:nvSpPr>
        <p:spPr>
          <a:xfrm>
            <a:off x="2771775" y="4868863"/>
            <a:ext cx="1905000" cy="557212"/>
          </a:xfrm>
          <a:prstGeom prst="rect">
            <a:avLst/>
          </a:prstGeom>
          <a:solidFill>
            <a:srgbClr val="33CCCC"/>
          </a:solidFill>
          <a:ln w="38100" cap="flat" cmpd="sng">
            <a:solidFill>
              <a:srgbClr val="FF5050"/>
            </a:solidFill>
            <a:prstDash val="solid"/>
            <a:miter/>
            <a:headEnd type="none" w="med" len="med"/>
            <a:tailEnd type="none" w="med" len="med"/>
          </a:ln>
        </p:spPr>
        <p:txBody>
          <a:bodyPr>
            <a:spAutoFit/>
          </a:bodyPr>
          <a:p>
            <a:pPr>
              <a:spcBef>
                <a:spcPct val="50000"/>
              </a:spcBef>
            </a:pPr>
            <a:r>
              <a:rPr lang="zh-CN" altLang="en-US" dirty="0">
                <a:solidFill>
                  <a:srgbClr val="800000"/>
                </a:solidFill>
                <a:latin typeface="Times New Roman" panose="02020603050405020304" pitchFamily="18" charset="0"/>
              </a:rPr>
              <a:t>数字信号</a:t>
            </a:r>
            <a:endParaRPr lang="zh-CN" altLang="en-US" dirty="0">
              <a:solidFill>
                <a:srgbClr val="800000"/>
              </a:solidFill>
              <a:latin typeface="Times New Roman" panose="02020603050405020304" pitchFamily="18" charset="0"/>
            </a:endParaRPr>
          </a:p>
        </p:txBody>
      </p:sp>
      <p:sp>
        <p:nvSpPr>
          <p:cNvPr id="2059" name="文本框 2058"/>
          <p:cNvSpPr txBox="1"/>
          <p:nvPr/>
        </p:nvSpPr>
        <p:spPr>
          <a:xfrm>
            <a:off x="4932363" y="2420938"/>
            <a:ext cx="3752850" cy="1160462"/>
          </a:xfrm>
          <a:prstGeom prst="rect">
            <a:avLst/>
          </a:prstGeom>
          <a:noFill/>
          <a:ln w="9525">
            <a:noFill/>
          </a:ln>
        </p:spPr>
        <p:txBody>
          <a:bodyPr>
            <a:spAutoFit/>
          </a:bodyPr>
          <a:p>
            <a:pPr>
              <a:spcBef>
                <a:spcPct val="50000"/>
              </a:spcBef>
            </a:pPr>
            <a:r>
              <a:rPr lang="zh-CN" altLang="en-US" dirty="0">
                <a:latin typeface="Times New Roman" panose="02020603050405020304" pitchFamily="18" charset="0"/>
                <a:ea typeface="华文楷体" panose="02010600040101010101" pitchFamily="2" charset="-122"/>
              </a:rPr>
              <a:t>幅度随时间连续变化</a:t>
            </a:r>
            <a:endParaRPr lang="zh-CN" altLang="en-US" dirty="0">
              <a:latin typeface="Times New Roman" panose="02020603050405020304" pitchFamily="18" charset="0"/>
              <a:ea typeface="华文楷体" panose="02010600040101010101" pitchFamily="2" charset="-122"/>
            </a:endParaRPr>
          </a:p>
          <a:p>
            <a:pPr>
              <a:spcBef>
                <a:spcPct val="50000"/>
              </a:spcBef>
            </a:pPr>
            <a:r>
              <a:rPr lang="zh-CN" altLang="en-US" dirty="0">
                <a:latin typeface="Times New Roman" panose="02020603050405020304" pitchFamily="18" charset="0"/>
                <a:ea typeface="华文楷体" panose="02010600040101010101" pitchFamily="2" charset="-122"/>
              </a:rPr>
              <a:t>的信号</a:t>
            </a:r>
            <a:endParaRPr lang="zh-CN" altLang="en-US" dirty="0">
              <a:latin typeface="Times New Roman" panose="02020603050405020304" pitchFamily="18" charset="0"/>
              <a:ea typeface="华文楷体" panose="02010600040101010101" pitchFamily="2" charset="-122"/>
            </a:endParaRPr>
          </a:p>
        </p:txBody>
      </p:sp>
      <p:sp>
        <p:nvSpPr>
          <p:cNvPr id="2060" name="文本框 2059"/>
          <p:cNvSpPr txBox="1"/>
          <p:nvPr/>
        </p:nvSpPr>
        <p:spPr>
          <a:xfrm>
            <a:off x="3132138" y="4005263"/>
            <a:ext cx="5626100" cy="519112"/>
          </a:xfrm>
          <a:prstGeom prst="rect">
            <a:avLst/>
          </a:prstGeom>
          <a:noFill/>
          <a:ln w="38100">
            <a:noFill/>
          </a:ln>
        </p:spPr>
        <p:txBody>
          <a:bodyPr lIns="90000" tIns="46800" rIns="90000" bIns="46800">
            <a:spAutoFit/>
          </a:bodyPr>
          <a:p>
            <a:pPr>
              <a:spcBef>
                <a:spcPct val="50000"/>
              </a:spcBef>
            </a:pPr>
            <a:r>
              <a:rPr lang="zh-CN" altLang="en-US" dirty="0">
                <a:solidFill>
                  <a:schemeClr val="tx2"/>
                </a:solidFill>
                <a:latin typeface="Times New Roman" panose="02020603050405020304" pitchFamily="18" charset="0"/>
                <a:ea typeface="楷体_GB2312" pitchFamily="49" charset="-122"/>
              </a:rPr>
              <a:t>例：正弦波信号、锯齿波信号等。</a:t>
            </a:r>
            <a:endParaRPr lang="zh-CN" altLang="en-US" dirty="0">
              <a:solidFill>
                <a:schemeClr val="tx2"/>
              </a:solidFill>
              <a:latin typeface="Times New Roman" panose="02020603050405020304" pitchFamily="18" charset="0"/>
              <a:ea typeface="楷体_GB2312" pitchFamily="49" charset="-122"/>
            </a:endParaRPr>
          </a:p>
        </p:txBody>
      </p:sp>
      <p:sp>
        <p:nvSpPr>
          <p:cNvPr id="2061" name="文本框 2060"/>
          <p:cNvSpPr txBox="1"/>
          <p:nvPr/>
        </p:nvSpPr>
        <p:spPr>
          <a:xfrm>
            <a:off x="4859338" y="4941888"/>
            <a:ext cx="3905250" cy="519112"/>
          </a:xfrm>
          <a:prstGeom prst="rect">
            <a:avLst/>
          </a:prstGeom>
          <a:noFill/>
          <a:ln w="9525">
            <a:noFill/>
          </a:ln>
        </p:spPr>
        <p:txBody>
          <a:bodyPr>
            <a:spAutoFit/>
          </a:bodyPr>
          <a:p>
            <a:pPr>
              <a:spcBef>
                <a:spcPct val="50000"/>
              </a:spcBef>
            </a:pPr>
            <a:r>
              <a:rPr lang="zh-CN" altLang="en-US" dirty="0">
                <a:latin typeface="华文楷体" panose="02010600040101010101" pitchFamily="2" charset="-122"/>
                <a:ea typeface="华文楷体" panose="02010600040101010101" pitchFamily="2" charset="-122"/>
              </a:rPr>
              <a:t>幅度和时间都是离散的</a:t>
            </a:r>
            <a:r>
              <a:rPr lang="en-US" altLang="zh-CN">
                <a:latin typeface="华文楷体" panose="02010600040101010101" pitchFamily="2" charset="-122"/>
                <a:ea typeface="华文楷体" panose="02010600040101010101" pitchFamily="2" charset="-122"/>
              </a:rPr>
              <a:t>.</a:t>
            </a:r>
            <a:endParaRPr lang="en-US" altLang="zh-CN">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055"/>
                                        </p:tgtEl>
                                        <p:attrNameLst>
                                          <p:attrName>style.visibility</p:attrName>
                                        </p:attrNameLst>
                                      </p:cBhvr>
                                      <p:to>
                                        <p:strVal val="visible"/>
                                      </p:to>
                                    </p:set>
                                    <p:animEffect transition="in" filter="wipe(up)">
                                      <p:cBhvr>
                                        <p:cTn id="7" dur="500"/>
                                        <p:tgtEl>
                                          <p:spTgt spid="20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56"/>
                                        </p:tgtEl>
                                        <p:attrNameLst>
                                          <p:attrName>style.visibility</p:attrName>
                                        </p:attrNameLst>
                                      </p:cBhvr>
                                      <p:to>
                                        <p:strVal val="visible"/>
                                      </p:to>
                                    </p:set>
                                    <p:animEffect transition="in" filter="wipe(left)">
                                      <p:cBhvr>
                                        <p:cTn id="12" dur="500"/>
                                        <p:tgtEl>
                                          <p:spTgt spid="205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57"/>
                                        </p:tgtEl>
                                        <p:attrNameLst>
                                          <p:attrName>style.visibility</p:attrName>
                                        </p:attrNameLst>
                                      </p:cBhvr>
                                      <p:to>
                                        <p:strVal val="visible"/>
                                      </p:to>
                                    </p:set>
                                    <p:animEffect transition="in" filter="wipe(left)">
                                      <p:cBhvr>
                                        <p:cTn id="17" dur="500"/>
                                        <p:tgtEl>
                                          <p:spTgt spid="205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58"/>
                                        </p:tgtEl>
                                        <p:attrNameLst>
                                          <p:attrName>style.visibility</p:attrName>
                                        </p:attrNameLst>
                                      </p:cBhvr>
                                      <p:to>
                                        <p:strVal val="visible"/>
                                      </p:to>
                                    </p:set>
                                    <p:animEffect transition="in" filter="wipe(left)">
                                      <p:cBhvr>
                                        <p:cTn id="22" dur="500"/>
                                        <p:tgtEl>
                                          <p:spTgt spid="205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59"/>
                                        </p:tgtEl>
                                        <p:attrNameLst>
                                          <p:attrName>style.visibility</p:attrName>
                                        </p:attrNameLst>
                                      </p:cBhvr>
                                      <p:to>
                                        <p:strVal val="visible"/>
                                      </p:to>
                                    </p:set>
                                    <p:animEffect transition="in" filter="wipe(left)">
                                      <p:cBhvr>
                                        <p:cTn id="27" dur="500"/>
                                        <p:tgtEl>
                                          <p:spTgt spid="2059"/>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2060"/>
                                        </p:tgtEl>
                                        <p:attrNameLst>
                                          <p:attrName>style.visibility</p:attrName>
                                        </p:attrNameLst>
                                      </p:cBhvr>
                                      <p:to>
                                        <p:strVal val="visible"/>
                                      </p:to>
                                    </p:set>
                                    <p:animEffect transition="in" filter="box(in)">
                                      <p:cBhvr>
                                        <p:cTn id="32" dur="500"/>
                                        <p:tgtEl>
                                          <p:spTgt spid="206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061"/>
                                        </p:tgtEl>
                                        <p:attrNameLst>
                                          <p:attrName>style.visibility</p:attrName>
                                        </p:attrNameLst>
                                      </p:cBhvr>
                                      <p:to>
                                        <p:strVal val="visible"/>
                                      </p:to>
                                    </p:set>
                                    <p:animEffect transition="in" filter="wipe(left)">
                                      <p:cBhvr>
                                        <p:cTn id="37" dur="500"/>
                                        <p:tgtEl>
                                          <p:spTgt spid="20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5" grpId="0" animBg="1"/>
      <p:bldP spid="2057" grpId="0" animBg="1"/>
      <p:bldP spid="2058" grpId="0" animBg="1"/>
      <p:bldP spid="2059" grpId="0"/>
      <p:bldP spid="2060" grpId="0"/>
      <p:bldP spid="206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100" name="组合 4099"/>
          <p:cNvGrpSpPr/>
          <p:nvPr/>
        </p:nvGrpSpPr>
        <p:grpSpPr>
          <a:xfrm>
            <a:off x="3365500" y="1150938"/>
            <a:ext cx="3733800" cy="2184400"/>
            <a:chOff x="2120" y="160"/>
            <a:chExt cx="2352" cy="1376"/>
          </a:xfrm>
        </p:grpSpPr>
        <p:sp>
          <p:nvSpPr>
            <p:cNvPr id="4101" name="文本框 4100"/>
            <p:cNvSpPr txBox="1"/>
            <p:nvPr/>
          </p:nvSpPr>
          <p:spPr>
            <a:xfrm>
              <a:off x="4088" y="1152"/>
              <a:ext cx="384" cy="288"/>
            </a:xfrm>
            <a:prstGeom prst="rect">
              <a:avLst/>
            </a:prstGeom>
            <a:noFill/>
            <a:ln w="9525">
              <a:noFill/>
            </a:ln>
          </p:spPr>
          <p:txBody>
            <a:bodyPr>
              <a:spAutoFit/>
            </a:bodyPr>
            <a:p>
              <a:pPr>
                <a:spcBef>
                  <a:spcPct val="50000"/>
                </a:spcBef>
              </a:pPr>
              <a:r>
                <a:rPr lang="en-US" altLang="zh-CN" sz="2400">
                  <a:latin typeface="Times New Roman" panose="02020603050405020304" pitchFamily="18" charset="0"/>
                </a:rPr>
                <a:t>t</a:t>
              </a:r>
              <a:endParaRPr lang="en-US" altLang="zh-CN" sz="2400" b="0">
                <a:latin typeface="Times New Roman" panose="02020603050405020304" pitchFamily="18" charset="0"/>
              </a:endParaRPr>
            </a:p>
          </p:txBody>
        </p:sp>
        <p:sp>
          <p:nvSpPr>
            <p:cNvPr id="4102" name="直接连接符 4101"/>
            <p:cNvSpPr/>
            <p:nvPr/>
          </p:nvSpPr>
          <p:spPr>
            <a:xfrm>
              <a:off x="2120" y="1344"/>
              <a:ext cx="1968" cy="0"/>
            </a:xfrm>
            <a:prstGeom prst="line">
              <a:avLst/>
            </a:prstGeom>
            <a:ln w="38100" cap="flat" cmpd="sng">
              <a:solidFill>
                <a:schemeClr val="tx1"/>
              </a:solidFill>
              <a:prstDash val="solid"/>
              <a:headEnd type="none" w="med" len="med"/>
              <a:tailEnd type="triangle" w="med" len="med"/>
            </a:ln>
          </p:spPr>
        </p:sp>
        <p:sp>
          <p:nvSpPr>
            <p:cNvPr id="4103" name="直接连接符 4102"/>
            <p:cNvSpPr/>
            <p:nvPr/>
          </p:nvSpPr>
          <p:spPr>
            <a:xfrm flipV="1">
              <a:off x="2408" y="240"/>
              <a:ext cx="0" cy="1296"/>
            </a:xfrm>
            <a:prstGeom prst="line">
              <a:avLst/>
            </a:prstGeom>
            <a:ln w="38100" cap="flat" cmpd="sng">
              <a:solidFill>
                <a:schemeClr val="tx1"/>
              </a:solidFill>
              <a:prstDash val="solid"/>
              <a:headEnd type="none" w="med" len="med"/>
              <a:tailEnd type="triangle" w="med" len="med"/>
            </a:ln>
          </p:spPr>
        </p:sp>
        <p:sp>
          <p:nvSpPr>
            <p:cNvPr id="4104" name="文本框 4103"/>
            <p:cNvSpPr txBox="1"/>
            <p:nvPr/>
          </p:nvSpPr>
          <p:spPr>
            <a:xfrm>
              <a:off x="2560" y="160"/>
              <a:ext cx="632" cy="288"/>
            </a:xfrm>
            <a:prstGeom prst="rect">
              <a:avLst/>
            </a:prstGeom>
            <a:noFill/>
            <a:ln w="9525">
              <a:noFill/>
            </a:ln>
          </p:spPr>
          <p:txBody>
            <a:bodyPr>
              <a:spAutoFit/>
            </a:bodyPr>
            <a:p>
              <a:pPr>
                <a:spcBef>
                  <a:spcPct val="50000"/>
                </a:spcBef>
              </a:pPr>
              <a:r>
                <a:rPr lang="en-US" altLang="zh-CN" sz="2400" err="1">
                  <a:latin typeface="Times New Roman" panose="02020603050405020304" pitchFamily="18" charset="0"/>
                </a:rPr>
                <a:t>V(t</a:t>
              </a:r>
              <a:r>
                <a:rPr lang="en-US" altLang="zh-CN" sz="2400">
                  <a:latin typeface="Times New Roman" panose="02020603050405020304" pitchFamily="18" charset="0"/>
                </a:rPr>
                <a:t>)</a:t>
              </a:r>
              <a:endParaRPr lang="en-US" altLang="zh-CN" sz="2400" b="0">
                <a:latin typeface="Times New Roman" panose="02020603050405020304" pitchFamily="18" charset="0"/>
              </a:endParaRPr>
            </a:p>
          </p:txBody>
        </p:sp>
      </p:grpSp>
      <p:sp>
        <p:nvSpPr>
          <p:cNvPr id="4105" name="任意多边形 4104"/>
          <p:cNvSpPr/>
          <p:nvPr/>
        </p:nvSpPr>
        <p:spPr>
          <a:xfrm>
            <a:off x="3424238" y="1479550"/>
            <a:ext cx="2909887" cy="1004888"/>
          </a:xfrm>
          <a:custGeom>
            <a:avLst/>
            <a:gdLst/>
            <a:ahLst/>
            <a:cxnLst/>
            <a:pathLst>
              <a:path w="1833" h="633">
                <a:moveTo>
                  <a:pt x="17" y="616"/>
                </a:moveTo>
                <a:cubicBezTo>
                  <a:pt x="128" y="580"/>
                  <a:pt x="0" y="633"/>
                  <a:pt x="130" y="503"/>
                </a:cubicBezTo>
                <a:cubicBezTo>
                  <a:pt x="215" y="418"/>
                  <a:pt x="291" y="311"/>
                  <a:pt x="357" y="211"/>
                </a:cubicBezTo>
                <a:cubicBezTo>
                  <a:pt x="376" y="182"/>
                  <a:pt x="366" y="138"/>
                  <a:pt x="390" y="114"/>
                </a:cubicBezTo>
                <a:cubicBezTo>
                  <a:pt x="447" y="57"/>
                  <a:pt x="465" y="23"/>
                  <a:pt x="536" y="0"/>
                </a:cubicBezTo>
                <a:cubicBezTo>
                  <a:pt x="552" y="2"/>
                  <a:pt x="675" y="8"/>
                  <a:pt x="714" y="32"/>
                </a:cubicBezTo>
                <a:cubicBezTo>
                  <a:pt x="746" y="52"/>
                  <a:pt x="757" y="86"/>
                  <a:pt x="779" y="114"/>
                </a:cubicBezTo>
                <a:cubicBezTo>
                  <a:pt x="853" y="206"/>
                  <a:pt x="920" y="334"/>
                  <a:pt x="1039" y="373"/>
                </a:cubicBezTo>
                <a:cubicBezTo>
                  <a:pt x="1094" y="355"/>
                  <a:pt x="1120" y="324"/>
                  <a:pt x="1168" y="292"/>
                </a:cubicBezTo>
                <a:cubicBezTo>
                  <a:pt x="1199" y="246"/>
                  <a:pt x="1224" y="195"/>
                  <a:pt x="1249" y="146"/>
                </a:cubicBezTo>
                <a:cubicBezTo>
                  <a:pt x="1257" y="131"/>
                  <a:pt x="1255" y="110"/>
                  <a:pt x="1266" y="97"/>
                </a:cubicBezTo>
                <a:cubicBezTo>
                  <a:pt x="1289" y="68"/>
                  <a:pt x="1331" y="60"/>
                  <a:pt x="1363" y="49"/>
                </a:cubicBezTo>
                <a:cubicBezTo>
                  <a:pt x="1506" y="69"/>
                  <a:pt x="1459" y="63"/>
                  <a:pt x="1558" y="130"/>
                </a:cubicBezTo>
                <a:cubicBezTo>
                  <a:pt x="1577" y="159"/>
                  <a:pt x="1604" y="181"/>
                  <a:pt x="1622" y="211"/>
                </a:cubicBezTo>
                <a:cubicBezTo>
                  <a:pt x="1660" y="275"/>
                  <a:pt x="1610" y="294"/>
                  <a:pt x="1704" y="357"/>
                </a:cubicBezTo>
                <a:cubicBezTo>
                  <a:pt x="1733" y="376"/>
                  <a:pt x="1755" y="404"/>
                  <a:pt x="1785" y="422"/>
                </a:cubicBezTo>
                <a:cubicBezTo>
                  <a:pt x="1799" y="431"/>
                  <a:pt x="1833" y="438"/>
                  <a:pt x="1833" y="438"/>
                </a:cubicBezTo>
              </a:path>
            </a:pathLst>
          </a:custGeom>
          <a:noFill/>
          <a:ln w="38100" cap="flat" cmpd="sng">
            <a:solidFill>
              <a:srgbClr val="00FF00"/>
            </a:solidFill>
            <a:prstDash val="solid"/>
            <a:headEnd type="none" w="med" len="med"/>
            <a:tailEnd type="none" w="med" len="med"/>
          </a:ln>
        </p:spPr>
        <p:txBody>
          <a:bodyPr/>
          <a:p>
            <a:endParaRPr lang="zh-CN" altLang="en-US"/>
          </a:p>
        </p:txBody>
      </p:sp>
      <p:sp>
        <p:nvSpPr>
          <p:cNvPr id="4106" name="文本框 4105"/>
          <p:cNvSpPr txBox="1"/>
          <p:nvPr/>
        </p:nvSpPr>
        <p:spPr>
          <a:xfrm>
            <a:off x="611188" y="2276475"/>
            <a:ext cx="2316162" cy="579438"/>
          </a:xfrm>
          <a:prstGeom prst="rect">
            <a:avLst/>
          </a:prstGeom>
          <a:solidFill>
            <a:srgbClr val="CCFF66"/>
          </a:solidFill>
          <a:ln w="9525">
            <a:noFill/>
          </a:ln>
        </p:spPr>
        <p:txBody>
          <a:bodyPr>
            <a:spAutoFit/>
          </a:bodyPr>
          <a:p>
            <a:pPr>
              <a:spcBef>
                <a:spcPct val="50000"/>
              </a:spcBef>
            </a:pPr>
            <a:r>
              <a:rPr lang="zh-CN" altLang="en-US" sz="3200" dirty="0">
                <a:solidFill>
                  <a:schemeClr val="hlink"/>
                </a:solidFill>
                <a:latin typeface="Times New Roman" panose="02020603050405020304" pitchFamily="18" charset="0"/>
                <a:ea typeface="华文楷体" panose="02010600040101010101" pitchFamily="2" charset="-122"/>
              </a:rPr>
              <a:t>模拟信号</a:t>
            </a:r>
            <a:endParaRPr lang="zh-CN" altLang="en-US" sz="3200" dirty="0">
              <a:solidFill>
                <a:schemeClr val="hlink"/>
              </a:solidFill>
              <a:latin typeface="Times New Roman" panose="02020603050405020304" pitchFamily="18" charset="0"/>
              <a:ea typeface="华文楷体" panose="02010600040101010101" pitchFamily="2" charset="-122"/>
            </a:endParaRPr>
          </a:p>
        </p:txBody>
      </p:sp>
      <p:sp>
        <p:nvSpPr>
          <p:cNvPr id="4107" name="文本框 4106"/>
          <p:cNvSpPr txBox="1"/>
          <p:nvPr/>
        </p:nvSpPr>
        <p:spPr>
          <a:xfrm>
            <a:off x="571500" y="4792663"/>
            <a:ext cx="2400300" cy="579437"/>
          </a:xfrm>
          <a:prstGeom prst="rect">
            <a:avLst/>
          </a:prstGeom>
          <a:solidFill>
            <a:srgbClr val="CCFF66"/>
          </a:solidFill>
          <a:ln w="9525">
            <a:noFill/>
          </a:ln>
        </p:spPr>
        <p:txBody>
          <a:bodyPr>
            <a:spAutoFit/>
          </a:bodyPr>
          <a:p>
            <a:pPr>
              <a:spcBef>
                <a:spcPct val="50000"/>
              </a:spcBef>
            </a:pPr>
            <a:r>
              <a:rPr lang="zh-CN" altLang="en-US" sz="3200" dirty="0">
                <a:solidFill>
                  <a:schemeClr val="hlink"/>
                </a:solidFill>
                <a:latin typeface="Times New Roman" panose="02020603050405020304" pitchFamily="18" charset="0"/>
                <a:ea typeface="华文楷体" panose="02010600040101010101" pitchFamily="2" charset="-122"/>
              </a:rPr>
              <a:t>数字信号</a:t>
            </a:r>
            <a:endParaRPr lang="zh-CN" altLang="en-US" sz="3200" dirty="0">
              <a:solidFill>
                <a:schemeClr val="hlink"/>
              </a:solidFill>
              <a:latin typeface="Times New Roman" panose="02020603050405020304" pitchFamily="18" charset="0"/>
              <a:ea typeface="华文楷体" panose="02010600040101010101" pitchFamily="2" charset="-122"/>
            </a:endParaRPr>
          </a:p>
        </p:txBody>
      </p:sp>
      <p:grpSp>
        <p:nvGrpSpPr>
          <p:cNvPr id="4108" name="组合 4107"/>
          <p:cNvGrpSpPr/>
          <p:nvPr/>
        </p:nvGrpSpPr>
        <p:grpSpPr>
          <a:xfrm>
            <a:off x="3213100" y="4525963"/>
            <a:ext cx="4025900" cy="2057400"/>
            <a:chOff x="2024" y="2592"/>
            <a:chExt cx="2536" cy="1296"/>
          </a:xfrm>
        </p:grpSpPr>
        <p:sp>
          <p:nvSpPr>
            <p:cNvPr id="4109" name="文本框 4108"/>
            <p:cNvSpPr txBox="1"/>
            <p:nvPr/>
          </p:nvSpPr>
          <p:spPr>
            <a:xfrm>
              <a:off x="4176" y="3504"/>
              <a:ext cx="384" cy="288"/>
            </a:xfrm>
            <a:prstGeom prst="rect">
              <a:avLst/>
            </a:prstGeom>
            <a:noFill/>
            <a:ln w="9525">
              <a:noFill/>
            </a:ln>
          </p:spPr>
          <p:txBody>
            <a:bodyPr>
              <a:spAutoFit/>
            </a:bodyPr>
            <a:p>
              <a:pPr>
                <a:spcBef>
                  <a:spcPct val="50000"/>
                </a:spcBef>
              </a:pPr>
              <a:r>
                <a:rPr lang="en-US" altLang="zh-CN" sz="2400">
                  <a:latin typeface="Times New Roman" panose="02020603050405020304" pitchFamily="18" charset="0"/>
                </a:rPr>
                <a:t>t</a:t>
              </a:r>
              <a:endParaRPr lang="en-US" altLang="zh-CN" sz="2400" b="0">
                <a:latin typeface="Times New Roman" panose="02020603050405020304" pitchFamily="18" charset="0"/>
              </a:endParaRPr>
            </a:p>
          </p:txBody>
        </p:sp>
        <p:sp>
          <p:nvSpPr>
            <p:cNvPr id="4110" name="直接连接符 4109"/>
            <p:cNvSpPr/>
            <p:nvPr/>
          </p:nvSpPr>
          <p:spPr>
            <a:xfrm>
              <a:off x="2244" y="3672"/>
              <a:ext cx="1968" cy="0"/>
            </a:xfrm>
            <a:prstGeom prst="line">
              <a:avLst/>
            </a:prstGeom>
            <a:ln w="38100" cap="flat" cmpd="sng">
              <a:solidFill>
                <a:schemeClr val="tx1"/>
              </a:solidFill>
              <a:prstDash val="solid"/>
              <a:headEnd type="none" w="med" len="med"/>
              <a:tailEnd type="triangle" w="med" len="med"/>
            </a:ln>
          </p:spPr>
        </p:sp>
        <p:sp>
          <p:nvSpPr>
            <p:cNvPr id="4111" name="直接连接符 4110"/>
            <p:cNvSpPr/>
            <p:nvPr/>
          </p:nvSpPr>
          <p:spPr>
            <a:xfrm flipV="1">
              <a:off x="2496" y="2592"/>
              <a:ext cx="0" cy="1296"/>
            </a:xfrm>
            <a:prstGeom prst="line">
              <a:avLst/>
            </a:prstGeom>
            <a:ln w="38100" cap="flat" cmpd="sng">
              <a:solidFill>
                <a:schemeClr val="tx1"/>
              </a:solidFill>
              <a:prstDash val="solid"/>
              <a:headEnd type="none" w="med" len="med"/>
              <a:tailEnd type="triangle" w="med" len="med"/>
            </a:ln>
          </p:spPr>
        </p:sp>
        <p:sp>
          <p:nvSpPr>
            <p:cNvPr id="4112" name="文本框 4111"/>
            <p:cNvSpPr txBox="1"/>
            <p:nvPr/>
          </p:nvSpPr>
          <p:spPr>
            <a:xfrm>
              <a:off x="2024" y="2616"/>
              <a:ext cx="488" cy="288"/>
            </a:xfrm>
            <a:prstGeom prst="rect">
              <a:avLst/>
            </a:prstGeom>
            <a:noFill/>
            <a:ln w="9525">
              <a:noFill/>
            </a:ln>
          </p:spPr>
          <p:txBody>
            <a:bodyPr>
              <a:spAutoFit/>
            </a:bodyPr>
            <a:p>
              <a:pPr>
                <a:spcBef>
                  <a:spcPct val="50000"/>
                </a:spcBef>
              </a:pPr>
              <a:r>
                <a:rPr lang="en-US" altLang="zh-CN" sz="2400" err="1">
                  <a:latin typeface="Times New Roman" panose="02020603050405020304" pitchFamily="18" charset="0"/>
                </a:rPr>
                <a:t>V(t</a:t>
              </a:r>
              <a:r>
                <a:rPr lang="en-US" altLang="zh-CN" sz="2400">
                  <a:latin typeface="Times New Roman" panose="02020603050405020304" pitchFamily="18" charset="0"/>
                </a:rPr>
                <a:t>)</a:t>
              </a:r>
              <a:endParaRPr lang="en-US" altLang="zh-CN" sz="2400" b="0">
                <a:latin typeface="Times New Roman" panose="02020603050405020304" pitchFamily="18" charset="0"/>
              </a:endParaRPr>
            </a:p>
          </p:txBody>
        </p:sp>
      </p:grpSp>
      <p:grpSp>
        <p:nvGrpSpPr>
          <p:cNvPr id="4113" name="组合 4112"/>
          <p:cNvGrpSpPr/>
          <p:nvPr/>
        </p:nvGrpSpPr>
        <p:grpSpPr>
          <a:xfrm>
            <a:off x="3581400" y="5383213"/>
            <a:ext cx="3048000" cy="838200"/>
            <a:chOff x="2256" y="3168"/>
            <a:chExt cx="1920" cy="528"/>
          </a:xfrm>
        </p:grpSpPr>
        <p:sp>
          <p:nvSpPr>
            <p:cNvPr id="4114" name="直接连接符 4113"/>
            <p:cNvSpPr/>
            <p:nvPr/>
          </p:nvSpPr>
          <p:spPr>
            <a:xfrm>
              <a:off x="2496" y="3168"/>
              <a:ext cx="336" cy="0"/>
            </a:xfrm>
            <a:prstGeom prst="line">
              <a:avLst/>
            </a:prstGeom>
            <a:ln w="38100" cap="flat" cmpd="sng">
              <a:solidFill>
                <a:srgbClr val="00FF00"/>
              </a:solidFill>
              <a:prstDash val="solid"/>
              <a:headEnd type="none" w="med" len="med"/>
              <a:tailEnd type="none" w="med" len="med"/>
            </a:ln>
          </p:spPr>
        </p:sp>
        <p:sp>
          <p:nvSpPr>
            <p:cNvPr id="4115" name="直接连接符 4114"/>
            <p:cNvSpPr/>
            <p:nvPr/>
          </p:nvSpPr>
          <p:spPr>
            <a:xfrm>
              <a:off x="2832" y="3168"/>
              <a:ext cx="0" cy="528"/>
            </a:xfrm>
            <a:prstGeom prst="line">
              <a:avLst/>
            </a:prstGeom>
            <a:ln w="38100" cap="flat" cmpd="sng">
              <a:solidFill>
                <a:srgbClr val="00FF00"/>
              </a:solidFill>
              <a:prstDash val="solid"/>
              <a:headEnd type="none" w="med" len="med"/>
              <a:tailEnd type="none" w="med" len="med"/>
            </a:ln>
          </p:spPr>
        </p:sp>
        <p:sp>
          <p:nvSpPr>
            <p:cNvPr id="4116" name="直接连接符 4115"/>
            <p:cNvSpPr/>
            <p:nvPr/>
          </p:nvSpPr>
          <p:spPr>
            <a:xfrm>
              <a:off x="3216" y="3168"/>
              <a:ext cx="0" cy="528"/>
            </a:xfrm>
            <a:prstGeom prst="line">
              <a:avLst/>
            </a:prstGeom>
            <a:ln w="38100" cap="flat" cmpd="sng">
              <a:solidFill>
                <a:srgbClr val="00FF00"/>
              </a:solidFill>
              <a:prstDash val="solid"/>
              <a:headEnd type="none" w="med" len="med"/>
              <a:tailEnd type="none" w="med" len="med"/>
            </a:ln>
          </p:spPr>
        </p:sp>
        <p:sp>
          <p:nvSpPr>
            <p:cNvPr id="4117" name="直接连接符 4116"/>
            <p:cNvSpPr/>
            <p:nvPr/>
          </p:nvSpPr>
          <p:spPr>
            <a:xfrm>
              <a:off x="3216" y="3168"/>
              <a:ext cx="384" cy="0"/>
            </a:xfrm>
            <a:prstGeom prst="line">
              <a:avLst/>
            </a:prstGeom>
            <a:ln w="38100" cap="flat" cmpd="sng">
              <a:solidFill>
                <a:srgbClr val="00FF00"/>
              </a:solidFill>
              <a:prstDash val="solid"/>
              <a:headEnd type="none" w="med" len="med"/>
              <a:tailEnd type="none" w="med" len="med"/>
            </a:ln>
          </p:spPr>
        </p:sp>
        <p:sp>
          <p:nvSpPr>
            <p:cNvPr id="4118" name="直接连接符 4117"/>
            <p:cNvSpPr/>
            <p:nvPr/>
          </p:nvSpPr>
          <p:spPr>
            <a:xfrm>
              <a:off x="3600" y="3168"/>
              <a:ext cx="0" cy="528"/>
            </a:xfrm>
            <a:prstGeom prst="line">
              <a:avLst/>
            </a:prstGeom>
            <a:ln w="38100" cap="flat" cmpd="sng">
              <a:solidFill>
                <a:srgbClr val="00FF00"/>
              </a:solidFill>
              <a:prstDash val="solid"/>
              <a:headEnd type="none" w="med" len="med"/>
              <a:tailEnd type="none" w="med" len="med"/>
            </a:ln>
          </p:spPr>
        </p:sp>
        <p:sp>
          <p:nvSpPr>
            <p:cNvPr id="4119" name="直接连接符 4118"/>
            <p:cNvSpPr/>
            <p:nvPr/>
          </p:nvSpPr>
          <p:spPr>
            <a:xfrm flipV="1">
              <a:off x="3936" y="3168"/>
              <a:ext cx="0" cy="528"/>
            </a:xfrm>
            <a:prstGeom prst="line">
              <a:avLst/>
            </a:prstGeom>
            <a:ln w="38100" cap="flat" cmpd="sng">
              <a:solidFill>
                <a:srgbClr val="00FF00"/>
              </a:solidFill>
              <a:prstDash val="solid"/>
              <a:headEnd type="none" w="med" len="med"/>
              <a:tailEnd type="none" w="med" len="med"/>
            </a:ln>
          </p:spPr>
        </p:sp>
        <p:sp>
          <p:nvSpPr>
            <p:cNvPr id="4120" name="直接连接符 4119"/>
            <p:cNvSpPr/>
            <p:nvPr/>
          </p:nvSpPr>
          <p:spPr>
            <a:xfrm>
              <a:off x="3936" y="3168"/>
              <a:ext cx="240" cy="0"/>
            </a:xfrm>
            <a:prstGeom prst="line">
              <a:avLst/>
            </a:prstGeom>
            <a:ln w="38100" cap="flat" cmpd="sng">
              <a:solidFill>
                <a:srgbClr val="00FF00"/>
              </a:solidFill>
              <a:prstDash val="solid"/>
              <a:headEnd type="none" w="med" len="med"/>
              <a:tailEnd type="none" w="med" len="med"/>
            </a:ln>
          </p:spPr>
        </p:sp>
        <p:sp>
          <p:nvSpPr>
            <p:cNvPr id="4121" name="直接连接符 4120"/>
            <p:cNvSpPr/>
            <p:nvPr/>
          </p:nvSpPr>
          <p:spPr>
            <a:xfrm>
              <a:off x="2832" y="3696"/>
              <a:ext cx="384" cy="0"/>
            </a:xfrm>
            <a:prstGeom prst="line">
              <a:avLst/>
            </a:prstGeom>
            <a:ln w="38100" cap="flat" cmpd="sng">
              <a:solidFill>
                <a:srgbClr val="00FF00"/>
              </a:solidFill>
              <a:prstDash val="solid"/>
              <a:headEnd type="none" w="med" len="med"/>
              <a:tailEnd type="none" w="med" len="med"/>
            </a:ln>
          </p:spPr>
        </p:sp>
        <p:sp>
          <p:nvSpPr>
            <p:cNvPr id="4122" name="直接连接符 4121"/>
            <p:cNvSpPr/>
            <p:nvPr/>
          </p:nvSpPr>
          <p:spPr>
            <a:xfrm>
              <a:off x="3600" y="3696"/>
              <a:ext cx="336" cy="0"/>
            </a:xfrm>
            <a:prstGeom prst="line">
              <a:avLst/>
            </a:prstGeom>
            <a:ln w="38100" cap="flat" cmpd="sng">
              <a:solidFill>
                <a:srgbClr val="00FF00"/>
              </a:solidFill>
              <a:prstDash val="solid"/>
              <a:headEnd type="none" w="med" len="med"/>
              <a:tailEnd type="none" w="med" len="med"/>
            </a:ln>
          </p:spPr>
        </p:sp>
        <p:sp>
          <p:nvSpPr>
            <p:cNvPr id="4123" name="直接连接符 4122"/>
            <p:cNvSpPr/>
            <p:nvPr/>
          </p:nvSpPr>
          <p:spPr>
            <a:xfrm>
              <a:off x="2256" y="3696"/>
              <a:ext cx="240" cy="0"/>
            </a:xfrm>
            <a:prstGeom prst="line">
              <a:avLst/>
            </a:prstGeom>
            <a:ln w="38100" cap="flat" cmpd="sng">
              <a:solidFill>
                <a:srgbClr val="00FF00"/>
              </a:solidFill>
              <a:prstDash val="solid"/>
              <a:headEnd type="none" w="med" len="med"/>
              <a:tailEnd type="none" w="med" len="med"/>
            </a:ln>
          </p:spPr>
        </p:sp>
        <p:sp>
          <p:nvSpPr>
            <p:cNvPr id="4124" name="直接连接符 4123"/>
            <p:cNvSpPr/>
            <p:nvPr/>
          </p:nvSpPr>
          <p:spPr>
            <a:xfrm flipV="1">
              <a:off x="2496" y="3168"/>
              <a:ext cx="0" cy="528"/>
            </a:xfrm>
            <a:prstGeom prst="line">
              <a:avLst/>
            </a:prstGeom>
            <a:ln w="38100" cap="flat" cmpd="sng">
              <a:solidFill>
                <a:srgbClr val="00FF00"/>
              </a:solidFill>
              <a:prstDash val="solid"/>
              <a:headEnd type="none" w="med" len="med"/>
              <a:tailEnd type="none" w="med" len="med"/>
            </a:ln>
          </p:spPr>
        </p:sp>
      </p:grpSp>
      <p:grpSp>
        <p:nvGrpSpPr>
          <p:cNvPr id="4125" name="组合 4124"/>
          <p:cNvGrpSpPr/>
          <p:nvPr/>
        </p:nvGrpSpPr>
        <p:grpSpPr>
          <a:xfrm>
            <a:off x="4565650" y="4056063"/>
            <a:ext cx="1320800" cy="2146300"/>
            <a:chOff x="2816" y="2344"/>
            <a:chExt cx="832" cy="1352"/>
          </a:xfrm>
        </p:grpSpPr>
        <p:sp>
          <p:nvSpPr>
            <p:cNvPr id="4126" name="文本框 4125"/>
            <p:cNvSpPr txBox="1"/>
            <p:nvPr/>
          </p:nvSpPr>
          <p:spPr>
            <a:xfrm>
              <a:off x="2816" y="2344"/>
              <a:ext cx="832" cy="327"/>
            </a:xfrm>
            <a:prstGeom prst="rect">
              <a:avLst/>
            </a:prstGeom>
            <a:noFill/>
            <a:ln w="38100">
              <a:noFill/>
            </a:ln>
          </p:spPr>
          <p:txBody>
            <a:bodyPr>
              <a:spAutoFit/>
            </a:bodyPr>
            <a:p>
              <a:pPr>
                <a:spcBef>
                  <a:spcPct val="50000"/>
                </a:spcBef>
              </a:pPr>
              <a:r>
                <a:rPr lang="zh-CN" altLang="en-US" u="sng" dirty="0">
                  <a:latin typeface="Times New Roman" panose="02020603050405020304" pitchFamily="18" charset="0"/>
                  <a:ea typeface="楷体_GB2312" pitchFamily="49" charset="-122"/>
                </a:rPr>
                <a:t>低电平</a:t>
              </a:r>
              <a:endParaRPr lang="zh-CN" altLang="en-US" u="sng" dirty="0">
                <a:latin typeface="Times New Roman" panose="02020603050405020304" pitchFamily="18" charset="0"/>
                <a:ea typeface="楷体_GB2312" pitchFamily="49" charset="-122"/>
              </a:endParaRPr>
            </a:p>
          </p:txBody>
        </p:sp>
        <p:sp>
          <p:nvSpPr>
            <p:cNvPr id="4127" name="直接连接符 4126"/>
            <p:cNvSpPr/>
            <p:nvPr/>
          </p:nvSpPr>
          <p:spPr>
            <a:xfrm flipV="1">
              <a:off x="2976" y="2736"/>
              <a:ext cx="144" cy="960"/>
            </a:xfrm>
            <a:prstGeom prst="line">
              <a:avLst/>
            </a:prstGeom>
            <a:ln w="38100" cap="flat" cmpd="sng">
              <a:solidFill>
                <a:srgbClr val="FF0000"/>
              </a:solidFill>
              <a:prstDash val="solid"/>
              <a:headEnd type="triangle" w="med" len="med"/>
              <a:tailEnd type="none" w="med" len="med"/>
            </a:ln>
          </p:spPr>
        </p:sp>
      </p:grpSp>
      <p:grpSp>
        <p:nvGrpSpPr>
          <p:cNvPr id="4128" name="组合 4127"/>
          <p:cNvGrpSpPr/>
          <p:nvPr/>
        </p:nvGrpSpPr>
        <p:grpSpPr>
          <a:xfrm>
            <a:off x="5137150" y="4024313"/>
            <a:ext cx="2146300" cy="1790700"/>
            <a:chOff x="3224" y="2384"/>
            <a:chExt cx="1352" cy="1128"/>
          </a:xfrm>
        </p:grpSpPr>
        <p:sp>
          <p:nvSpPr>
            <p:cNvPr id="4129" name="文本框 4128"/>
            <p:cNvSpPr txBox="1"/>
            <p:nvPr/>
          </p:nvSpPr>
          <p:spPr>
            <a:xfrm>
              <a:off x="3760" y="2384"/>
              <a:ext cx="816" cy="327"/>
            </a:xfrm>
            <a:prstGeom prst="rect">
              <a:avLst/>
            </a:prstGeom>
            <a:noFill/>
            <a:ln w="9525">
              <a:noFill/>
            </a:ln>
          </p:spPr>
          <p:txBody>
            <a:bodyPr>
              <a:spAutoFit/>
            </a:bodyPr>
            <a:p>
              <a:pPr>
                <a:spcBef>
                  <a:spcPct val="50000"/>
                </a:spcBef>
              </a:pPr>
              <a:r>
                <a:rPr lang="zh-CN" altLang="en-US" u="sng" dirty="0">
                  <a:latin typeface="Times New Roman" panose="02020603050405020304" pitchFamily="18" charset="0"/>
                  <a:ea typeface="楷体_GB2312" pitchFamily="49" charset="-122"/>
                </a:rPr>
                <a:t>上跳沿</a:t>
              </a:r>
              <a:endParaRPr lang="zh-CN" altLang="en-US" u="sng" dirty="0">
                <a:latin typeface="Times New Roman" panose="02020603050405020304" pitchFamily="18" charset="0"/>
                <a:ea typeface="楷体_GB2312" pitchFamily="49" charset="-122"/>
              </a:endParaRPr>
            </a:p>
          </p:txBody>
        </p:sp>
        <p:sp>
          <p:nvSpPr>
            <p:cNvPr id="4130" name="直接连接符 4129"/>
            <p:cNvSpPr/>
            <p:nvPr/>
          </p:nvSpPr>
          <p:spPr>
            <a:xfrm flipH="1">
              <a:off x="3224" y="2608"/>
              <a:ext cx="528" cy="904"/>
            </a:xfrm>
            <a:prstGeom prst="line">
              <a:avLst/>
            </a:prstGeom>
            <a:ln w="38100" cap="flat" cmpd="sng">
              <a:solidFill>
                <a:srgbClr val="FF0000"/>
              </a:solidFill>
              <a:prstDash val="solid"/>
              <a:headEnd type="none" w="med" len="med"/>
              <a:tailEnd type="triangle" w="med" len="med"/>
            </a:ln>
          </p:spPr>
        </p:sp>
      </p:grpSp>
      <p:grpSp>
        <p:nvGrpSpPr>
          <p:cNvPr id="4131" name="组合 4130"/>
          <p:cNvGrpSpPr/>
          <p:nvPr/>
        </p:nvGrpSpPr>
        <p:grpSpPr>
          <a:xfrm>
            <a:off x="5727700" y="4691063"/>
            <a:ext cx="1866900" cy="1193800"/>
            <a:chOff x="3608" y="2696"/>
            <a:chExt cx="1176" cy="752"/>
          </a:xfrm>
        </p:grpSpPr>
        <p:sp>
          <p:nvSpPr>
            <p:cNvPr id="4132" name="文本框 4131"/>
            <p:cNvSpPr txBox="1"/>
            <p:nvPr/>
          </p:nvSpPr>
          <p:spPr>
            <a:xfrm>
              <a:off x="3920" y="2696"/>
              <a:ext cx="864" cy="327"/>
            </a:xfrm>
            <a:prstGeom prst="rect">
              <a:avLst/>
            </a:prstGeom>
            <a:noFill/>
            <a:ln w="9525">
              <a:noFill/>
            </a:ln>
          </p:spPr>
          <p:txBody>
            <a:bodyPr>
              <a:spAutoFit/>
            </a:bodyPr>
            <a:p>
              <a:pPr>
                <a:spcBef>
                  <a:spcPct val="50000"/>
                </a:spcBef>
              </a:pPr>
              <a:r>
                <a:rPr lang="zh-CN" altLang="en-US" u="sng" dirty="0">
                  <a:latin typeface="Times New Roman" panose="02020603050405020304" pitchFamily="18" charset="0"/>
                  <a:ea typeface="楷体_GB2312" pitchFamily="49" charset="-122"/>
                </a:rPr>
                <a:t>下跳沿</a:t>
              </a:r>
              <a:endParaRPr lang="zh-CN" altLang="en-US" u="sng" dirty="0">
                <a:latin typeface="Times New Roman" panose="02020603050405020304" pitchFamily="18" charset="0"/>
                <a:ea typeface="楷体_GB2312" pitchFamily="49" charset="-122"/>
              </a:endParaRPr>
            </a:p>
          </p:txBody>
        </p:sp>
        <p:sp>
          <p:nvSpPr>
            <p:cNvPr id="4133" name="直接连接符 4132"/>
            <p:cNvSpPr/>
            <p:nvPr/>
          </p:nvSpPr>
          <p:spPr>
            <a:xfrm flipV="1">
              <a:off x="3608" y="2936"/>
              <a:ext cx="352" cy="512"/>
            </a:xfrm>
            <a:prstGeom prst="line">
              <a:avLst/>
            </a:prstGeom>
            <a:ln w="38100" cap="flat" cmpd="sng">
              <a:solidFill>
                <a:srgbClr val="FF0000"/>
              </a:solidFill>
              <a:prstDash val="solid"/>
              <a:headEnd type="triangle" w="med" len="med"/>
              <a:tailEnd type="none" w="med" len="med"/>
            </a:ln>
          </p:spPr>
        </p:sp>
      </p:grpSp>
      <p:grpSp>
        <p:nvGrpSpPr>
          <p:cNvPr id="4134" name="组合 4133"/>
          <p:cNvGrpSpPr/>
          <p:nvPr/>
        </p:nvGrpSpPr>
        <p:grpSpPr>
          <a:xfrm>
            <a:off x="3937000" y="3351213"/>
            <a:ext cx="1447800" cy="2032000"/>
            <a:chOff x="2480" y="1888"/>
            <a:chExt cx="912" cy="1280"/>
          </a:xfrm>
        </p:grpSpPr>
        <p:sp>
          <p:nvSpPr>
            <p:cNvPr id="4135" name="文本框 4134"/>
            <p:cNvSpPr txBox="1"/>
            <p:nvPr/>
          </p:nvSpPr>
          <p:spPr>
            <a:xfrm>
              <a:off x="2480" y="1888"/>
              <a:ext cx="912" cy="327"/>
            </a:xfrm>
            <a:prstGeom prst="rect">
              <a:avLst/>
            </a:prstGeom>
            <a:noFill/>
            <a:ln w="9525">
              <a:noFill/>
            </a:ln>
          </p:spPr>
          <p:txBody>
            <a:bodyPr>
              <a:spAutoFit/>
            </a:bodyPr>
            <a:p>
              <a:pPr>
                <a:spcBef>
                  <a:spcPct val="50000"/>
                </a:spcBef>
              </a:pPr>
              <a:r>
                <a:rPr lang="zh-CN" altLang="en-US" u="sng" dirty="0">
                  <a:latin typeface="Times New Roman" panose="02020603050405020304" pitchFamily="18" charset="0"/>
                  <a:ea typeface="楷体_GB2312" pitchFamily="49" charset="-122"/>
                </a:rPr>
                <a:t>高电平</a:t>
              </a:r>
              <a:endParaRPr lang="zh-CN" altLang="en-US" u="sng" dirty="0">
                <a:latin typeface="Times New Roman" panose="02020603050405020304" pitchFamily="18" charset="0"/>
                <a:ea typeface="楷体_GB2312" pitchFamily="49" charset="-122"/>
              </a:endParaRPr>
            </a:p>
          </p:txBody>
        </p:sp>
        <p:sp>
          <p:nvSpPr>
            <p:cNvPr id="4136" name="直接连接符 4135"/>
            <p:cNvSpPr/>
            <p:nvPr/>
          </p:nvSpPr>
          <p:spPr>
            <a:xfrm flipV="1">
              <a:off x="2688" y="2288"/>
              <a:ext cx="48" cy="880"/>
            </a:xfrm>
            <a:prstGeom prst="line">
              <a:avLst/>
            </a:prstGeom>
            <a:ln w="38100" cap="flat" cmpd="sng">
              <a:solidFill>
                <a:srgbClr val="FF0000"/>
              </a:solidFill>
              <a:prstDash val="solid"/>
              <a:headEnd type="triangl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100"/>
                                        </p:tgtEl>
                                        <p:attrNameLst>
                                          <p:attrName>style.visibility</p:attrName>
                                        </p:attrNameLst>
                                      </p:cBhvr>
                                      <p:to>
                                        <p:strVal val="visible"/>
                                      </p:to>
                                    </p:set>
                                    <p:animEffect transition="in" filter="wipe(left)">
                                      <p:cBhvr>
                                        <p:cTn id="7" dur="500"/>
                                        <p:tgtEl>
                                          <p:spTgt spid="410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105"/>
                                        </p:tgtEl>
                                        <p:attrNameLst>
                                          <p:attrName>style.visibility</p:attrName>
                                        </p:attrNameLst>
                                      </p:cBhvr>
                                      <p:to>
                                        <p:strVal val="visible"/>
                                      </p:to>
                                    </p:set>
                                    <p:animEffect transition="in" filter="wipe(left)">
                                      <p:cBhvr>
                                        <p:cTn id="12" dur="500"/>
                                        <p:tgtEl>
                                          <p:spTgt spid="410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4107"/>
                                        </p:tgtEl>
                                        <p:attrNameLst>
                                          <p:attrName>style.visibility</p:attrName>
                                        </p:attrNameLst>
                                      </p:cBhvr>
                                      <p:to>
                                        <p:strVal val="visible"/>
                                      </p:to>
                                    </p:set>
                                    <p:anim calcmode="lin" valueType="num">
                                      <p:cBhvr additive="base">
                                        <p:cTn id="17" dur="500" fill="hold"/>
                                        <p:tgtEl>
                                          <p:spTgt spid="4107"/>
                                        </p:tgtEl>
                                        <p:attrNameLst>
                                          <p:attrName>ppt_x</p:attrName>
                                        </p:attrNameLst>
                                      </p:cBhvr>
                                      <p:tavLst>
                                        <p:tav tm="0">
                                          <p:val>
                                            <p:strVal val="0-#ppt_w/2"/>
                                          </p:val>
                                        </p:tav>
                                        <p:tav tm="100000">
                                          <p:val>
                                            <p:strVal val="#ppt_x"/>
                                          </p:val>
                                        </p:tav>
                                      </p:tavLst>
                                    </p:anim>
                                    <p:anim calcmode="lin" valueType="num">
                                      <p:cBhvr additive="base">
                                        <p:cTn id="18" dur="500" fill="hold"/>
                                        <p:tgtEl>
                                          <p:spTgt spid="4107"/>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4108"/>
                                        </p:tgtEl>
                                        <p:attrNameLst>
                                          <p:attrName>style.visibility</p:attrName>
                                        </p:attrNameLst>
                                      </p:cBhvr>
                                      <p:to>
                                        <p:strVal val="visible"/>
                                      </p:to>
                                    </p:set>
                                    <p:animEffect transition="in" filter="wipe(left)">
                                      <p:cBhvr>
                                        <p:cTn id="23" dur="500"/>
                                        <p:tgtEl>
                                          <p:spTgt spid="410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4113"/>
                                        </p:tgtEl>
                                        <p:attrNameLst>
                                          <p:attrName>style.visibility</p:attrName>
                                        </p:attrNameLst>
                                      </p:cBhvr>
                                      <p:to>
                                        <p:strVal val="visible"/>
                                      </p:to>
                                    </p:set>
                                    <p:animEffect transition="in" filter="wipe(left)">
                                      <p:cBhvr>
                                        <p:cTn id="28" dur="500"/>
                                        <p:tgtEl>
                                          <p:spTgt spid="411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4134"/>
                                        </p:tgtEl>
                                        <p:attrNameLst>
                                          <p:attrName>style.visibility</p:attrName>
                                        </p:attrNameLst>
                                      </p:cBhvr>
                                      <p:to>
                                        <p:strVal val="visible"/>
                                      </p:to>
                                    </p:set>
                                    <p:animEffect transition="in" filter="wipe(up)">
                                      <p:cBhvr>
                                        <p:cTn id="33" dur="500"/>
                                        <p:tgtEl>
                                          <p:spTgt spid="413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4125"/>
                                        </p:tgtEl>
                                        <p:attrNameLst>
                                          <p:attrName>style.visibility</p:attrName>
                                        </p:attrNameLst>
                                      </p:cBhvr>
                                      <p:to>
                                        <p:strVal val="visible"/>
                                      </p:to>
                                    </p:set>
                                    <p:animEffect transition="in" filter="wipe(up)">
                                      <p:cBhvr>
                                        <p:cTn id="38" dur="500"/>
                                        <p:tgtEl>
                                          <p:spTgt spid="4125"/>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4128"/>
                                        </p:tgtEl>
                                        <p:attrNameLst>
                                          <p:attrName>style.visibility</p:attrName>
                                        </p:attrNameLst>
                                      </p:cBhvr>
                                      <p:to>
                                        <p:strVal val="visible"/>
                                      </p:to>
                                    </p:set>
                                    <p:animEffect transition="in" filter="wipe(up)">
                                      <p:cBhvr>
                                        <p:cTn id="43" dur="500"/>
                                        <p:tgtEl>
                                          <p:spTgt spid="4128"/>
                                        </p:tgtEl>
                                      </p:cBhvr>
                                    </p:animEffect>
                                  </p:childTnLst>
                                </p:cTn>
                              </p:par>
                            </p:childTnLst>
                          </p:cTn>
                        </p:par>
                      </p:childTnLst>
                    </p:cTn>
                  </p:par>
                  <p:par>
                    <p:cTn id="44" fill="hold">
                      <p:stCondLst>
                        <p:cond delay="indefinite"/>
                      </p:stCondLst>
                      <p:childTnLst>
                        <p:par>
                          <p:cTn id="45" fill="hold">
                            <p:stCondLst>
                              <p:cond delay="0"/>
                            </p:stCondLst>
                            <p:childTnLst>
                              <p:par>
                                <p:cTn id="46" presetID="18" presetClass="entr" presetSubtype="12" fill="hold" nodeType="clickEffect">
                                  <p:stCondLst>
                                    <p:cond delay="0"/>
                                  </p:stCondLst>
                                  <p:childTnLst>
                                    <p:set>
                                      <p:cBhvr>
                                        <p:cTn id="47" dur="1" fill="hold">
                                          <p:stCondLst>
                                            <p:cond delay="0"/>
                                          </p:stCondLst>
                                        </p:cTn>
                                        <p:tgtEl>
                                          <p:spTgt spid="4131"/>
                                        </p:tgtEl>
                                        <p:attrNameLst>
                                          <p:attrName>style.visibility</p:attrName>
                                        </p:attrNameLst>
                                      </p:cBhvr>
                                      <p:to>
                                        <p:strVal val="visible"/>
                                      </p:to>
                                    </p:set>
                                    <p:animEffect transition="in" filter="strips(downLeft)">
                                      <p:cBhvr>
                                        <p:cTn id="48" dur="500"/>
                                        <p:tgtEl>
                                          <p:spTgt spid="4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4" name="文本框 5123"/>
          <p:cNvSpPr txBox="1"/>
          <p:nvPr/>
        </p:nvSpPr>
        <p:spPr>
          <a:xfrm>
            <a:off x="1042988" y="549275"/>
            <a:ext cx="4648200" cy="579438"/>
          </a:xfrm>
          <a:prstGeom prst="rect">
            <a:avLst/>
          </a:prstGeom>
          <a:solidFill>
            <a:srgbClr val="CCFFCC"/>
          </a:solidFill>
          <a:ln w="9525">
            <a:noFill/>
          </a:ln>
        </p:spPr>
        <p:txBody>
          <a:bodyPr>
            <a:spAutoFit/>
          </a:bodyPr>
          <a:p>
            <a:pPr>
              <a:spcBef>
                <a:spcPct val="50000"/>
              </a:spcBef>
            </a:pPr>
            <a:r>
              <a:rPr lang="zh-CN" altLang="en-US" sz="3200" dirty="0">
                <a:solidFill>
                  <a:srgbClr val="FF3300"/>
                </a:solidFill>
                <a:latin typeface="华文楷体" panose="02010600040101010101" pitchFamily="2" charset="-122"/>
                <a:ea typeface="华文楷体" panose="02010600040101010101" pitchFamily="2" charset="-122"/>
              </a:rPr>
              <a:t>数字信号的表示方式： </a:t>
            </a:r>
            <a:endParaRPr lang="zh-CN" altLang="en-US" sz="3200" dirty="0">
              <a:solidFill>
                <a:srgbClr val="FF3300"/>
              </a:solidFill>
              <a:latin typeface="华文楷体" panose="02010600040101010101" pitchFamily="2" charset="-122"/>
              <a:ea typeface="华文楷体" panose="02010600040101010101" pitchFamily="2" charset="-122"/>
            </a:endParaRPr>
          </a:p>
        </p:txBody>
      </p:sp>
      <p:sp>
        <p:nvSpPr>
          <p:cNvPr id="5125" name="文本框 5124"/>
          <p:cNvSpPr txBox="1"/>
          <p:nvPr/>
        </p:nvSpPr>
        <p:spPr>
          <a:xfrm>
            <a:off x="457200" y="1295400"/>
            <a:ext cx="8305800" cy="2774950"/>
          </a:xfrm>
          <a:prstGeom prst="rect">
            <a:avLst/>
          </a:prstGeom>
          <a:noFill/>
          <a:ln w="9525">
            <a:noFill/>
          </a:ln>
        </p:spPr>
        <p:txBody>
          <a:bodyPr>
            <a:spAutoFit/>
          </a:bodyPr>
          <a:p>
            <a:pPr algn="just">
              <a:spcBef>
                <a:spcPct val="50000"/>
              </a:spcBef>
            </a:pPr>
            <a:r>
              <a:rPr lang="en-US" altLang="zh-CN" sz="3200">
                <a:latin typeface="华文楷体" panose="02010600040101010101" pitchFamily="2" charset="-122"/>
                <a:ea typeface="华文楷体" panose="02010600040101010101" pitchFamily="2" charset="-122"/>
              </a:rPr>
              <a:t>1)  </a:t>
            </a:r>
            <a:r>
              <a:rPr lang="zh-CN" altLang="en-US" sz="3200" dirty="0">
                <a:latin typeface="华文楷体" panose="02010600040101010101" pitchFamily="2" charset="-122"/>
                <a:ea typeface="华文楷体" panose="02010600040101010101" pitchFamily="2" charset="-122"/>
              </a:rPr>
              <a:t>采用二值数字来表示，即</a:t>
            </a:r>
            <a:r>
              <a:rPr lang="en-US" altLang="zh-CN" sz="3200">
                <a:latin typeface="华文楷体" panose="02010600040101010101" pitchFamily="2" charset="-122"/>
                <a:ea typeface="华文楷体" panose="02010600040101010101" pitchFamily="2" charset="-122"/>
              </a:rPr>
              <a:t>0</a:t>
            </a:r>
            <a:r>
              <a:rPr lang="zh-CN" altLang="en-US" sz="3200" dirty="0">
                <a:latin typeface="华文楷体" panose="02010600040101010101" pitchFamily="2" charset="-122"/>
                <a:ea typeface="华文楷体" panose="02010600040101010101" pitchFamily="2" charset="-122"/>
              </a:rPr>
              <a:t>、</a:t>
            </a:r>
            <a:r>
              <a:rPr lang="en-US" altLang="zh-CN" sz="3200">
                <a:latin typeface="华文楷体" panose="02010600040101010101" pitchFamily="2" charset="-122"/>
                <a:ea typeface="华文楷体" panose="02010600040101010101" pitchFamily="2" charset="-122"/>
              </a:rPr>
              <a:t>1</a:t>
            </a:r>
            <a:r>
              <a:rPr lang="zh-CN" altLang="en-US" sz="3200" dirty="0">
                <a:latin typeface="华文楷体" panose="02010600040101010101" pitchFamily="2" charset="-122"/>
                <a:ea typeface="华文楷体" panose="02010600040101010101" pitchFamily="2" charset="-122"/>
              </a:rPr>
              <a:t>数字。</a:t>
            </a:r>
            <a:r>
              <a:rPr lang="en-US" altLang="zh-CN" sz="3200">
                <a:latin typeface="华文楷体" panose="02010600040101010101" pitchFamily="2" charset="-122"/>
                <a:ea typeface="华文楷体" panose="02010600040101010101" pitchFamily="2" charset="-122"/>
              </a:rPr>
              <a:t>0</a:t>
            </a:r>
            <a:r>
              <a:rPr lang="zh-CN" altLang="en-US" sz="3200" dirty="0">
                <a:latin typeface="华文楷体" panose="02010600040101010101" pitchFamily="2" charset="-122"/>
                <a:ea typeface="华文楷体" panose="02010600040101010101" pitchFamily="2" charset="-122"/>
              </a:rPr>
              <a:t>为</a:t>
            </a:r>
            <a:endParaRPr lang="zh-CN" altLang="en-US" sz="3200" dirty="0">
              <a:latin typeface="华文楷体" panose="02010600040101010101" pitchFamily="2" charset="-122"/>
              <a:ea typeface="华文楷体" panose="02010600040101010101" pitchFamily="2" charset="-122"/>
            </a:endParaRPr>
          </a:p>
          <a:p>
            <a:pPr algn="just">
              <a:spcBef>
                <a:spcPct val="50000"/>
              </a:spcBef>
            </a:pPr>
            <a:r>
              <a:rPr lang="zh-CN" altLang="en-US" sz="3200" dirty="0">
                <a:latin typeface="华文楷体" panose="02010600040101010101" pitchFamily="2" charset="-122"/>
                <a:ea typeface="华文楷体" panose="02010600040101010101" pitchFamily="2" charset="-122"/>
              </a:rPr>
              <a:t>     逻辑</a:t>
            </a:r>
            <a:r>
              <a:rPr lang="en-US" altLang="zh-CN" sz="3200">
                <a:latin typeface="华文楷体" panose="02010600040101010101" pitchFamily="2" charset="-122"/>
                <a:ea typeface="华文楷体" panose="02010600040101010101" pitchFamily="2" charset="-122"/>
              </a:rPr>
              <a:t>0</a:t>
            </a:r>
            <a:r>
              <a:rPr lang="zh-CN" altLang="en-US" sz="3200" dirty="0">
                <a:latin typeface="华文楷体" panose="02010600040101010101" pitchFamily="2" charset="-122"/>
                <a:ea typeface="华文楷体" panose="02010600040101010101" pitchFamily="2" charset="-122"/>
              </a:rPr>
              <a:t>，</a:t>
            </a:r>
            <a:r>
              <a:rPr lang="en-US" altLang="zh-CN" sz="3200">
                <a:latin typeface="华文楷体" panose="02010600040101010101" pitchFamily="2" charset="-122"/>
                <a:ea typeface="华文楷体" panose="02010600040101010101" pitchFamily="2" charset="-122"/>
              </a:rPr>
              <a:t>1</a:t>
            </a:r>
            <a:r>
              <a:rPr lang="zh-CN" altLang="en-US" sz="3200" dirty="0">
                <a:latin typeface="华文楷体" panose="02010600040101010101" pitchFamily="2" charset="-122"/>
                <a:ea typeface="华文楷体" panose="02010600040101010101" pitchFamily="2" charset="-122"/>
              </a:rPr>
              <a:t>为逻辑</a:t>
            </a:r>
            <a:r>
              <a:rPr lang="en-US" altLang="zh-CN" sz="3200">
                <a:latin typeface="华文楷体" panose="02010600040101010101" pitchFamily="2" charset="-122"/>
                <a:ea typeface="华文楷体" panose="02010600040101010101" pitchFamily="2" charset="-122"/>
              </a:rPr>
              <a:t>1</a:t>
            </a:r>
            <a:r>
              <a:rPr lang="zh-CN" altLang="en-US" sz="3200" dirty="0">
                <a:latin typeface="华文楷体" panose="02010600040101010101" pitchFamily="2" charset="-122"/>
                <a:ea typeface="华文楷体" panose="02010600040101010101" pitchFamily="2" charset="-122"/>
              </a:rPr>
              <a:t>；</a:t>
            </a:r>
            <a:endParaRPr lang="zh-CN" altLang="en-US" sz="3200" dirty="0">
              <a:latin typeface="华文楷体" panose="02010600040101010101" pitchFamily="2" charset="-122"/>
              <a:ea typeface="华文楷体" panose="02010600040101010101" pitchFamily="2" charset="-122"/>
            </a:endParaRPr>
          </a:p>
          <a:p>
            <a:pPr algn="just">
              <a:spcBef>
                <a:spcPct val="50000"/>
              </a:spcBef>
            </a:pPr>
            <a:r>
              <a:rPr lang="en-US" altLang="zh-CN" sz="3200">
                <a:latin typeface="华文楷体" panose="02010600040101010101" pitchFamily="2" charset="-122"/>
                <a:ea typeface="华文楷体" panose="02010600040101010101" pitchFamily="2" charset="-122"/>
              </a:rPr>
              <a:t>2)  </a:t>
            </a:r>
            <a:r>
              <a:rPr lang="zh-CN" altLang="en-US" sz="3200" dirty="0">
                <a:latin typeface="华文楷体" panose="02010600040101010101" pitchFamily="2" charset="-122"/>
                <a:ea typeface="华文楷体" panose="02010600040101010101" pitchFamily="2" charset="-122"/>
              </a:rPr>
              <a:t>采用逻辑电平来表示，即</a:t>
            </a:r>
            <a:r>
              <a:rPr lang="en-US" altLang="zh-CN" sz="3200">
                <a:latin typeface="华文楷体" panose="02010600040101010101" pitchFamily="2" charset="-122"/>
                <a:ea typeface="华文楷体" panose="02010600040101010101" pitchFamily="2" charset="-122"/>
              </a:rPr>
              <a:t>H</a:t>
            </a:r>
            <a:r>
              <a:rPr lang="zh-CN" altLang="en-US" sz="3200" dirty="0">
                <a:latin typeface="华文楷体" panose="02010600040101010101" pitchFamily="2" charset="-122"/>
                <a:ea typeface="华文楷体" panose="02010600040101010101" pitchFamily="2" charset="-122"/>
              </a:rPr>
              <a:t>和</a:t>
            </a:r>
            <a:r>
              <a:rPr lang="en-US" altLang="zh-CN" sz="3200">
                <a:latin typeface="华文楷体" panose="02010600040101010101" pitchFamily="2" charset="-122"/>
                <a:ea typeface="华文楷体" panose="02010600040101010101" pitchFamily="2" charset="-122"/>
              </a:rPr>
              <a:t>L</a:t>
            </a:r>
            <a:r>
              <a:rPr lang="zh-CN" altLang="en-US" sz="3200" dirty="0">
                <a:latin typeface="华文楷体" panose="02010600040101010101" pitchFamily="2" charset="-122"/>
                <a:ea typeface="华文楷体" panose="02010600040101010101" pitchFamily="2" charset="-122"/>
              </a:rPr>
              <a:t>；</a:t>
            </a:r>
            <a:endParaRPr lang="zh-CN" altLang="en-US" sz="3200" dirty="0">
              <a:latin typeface="华文楷体" panose="02010600040101010101" pitchFamily="2" charset="-122"/>
              <a:ea typeface="华文楷体" panose="02010600040101010101" pitchFamily="2" charset="-122"/>
            </a:endParaRPr>
          </a:p>
          <a:p>
            <a:pPr>
              <a:spcBef>
                <a:spcPct val="50000"/>
              </a:spcBef>
            </a:pPr>
            <a:r>
              <a:rPr lang="en-US" altLang="zh-CN" sz="3200">
                <a:latin typeface="华文楷体" panose="02010600040101010101" pitchFamily="2" charset="-122"/>
                <a:ea typeface="华文楷体" panose="02010600040101010101" pitchFamily="2" charset="-122"/>
              </a:rPr>
              <a:t>3)  </a:t>
            </a:r>
            <a:r>
              <a:rPr lang="zh-CN" altLang="en-US" sz="3200" dirty="0">
                <a:latin typeface="华文楷体" panose="02010600040101010101" pitchFamily="2" charset="-122"/>
                <a:ea typeface="华文楷体" panose="02010600040101010101" pitchFamily="2" charset="-122"/>
              </a:rPr>
              <a:t>采用数字波形来表示。</a:t>
            </a:r>
            <a:endParaRPr lang="zh-CN" altLang="en-US" sz="3200" dirty="0">
              <a:latin typeface="华文楷体" panose="02010600040101010101" pitchFamily="2" charset="-122"/>
              <a:ea typeface="华文楷体" panose="02010600040101010101" pitchFamily="2" charset="-122"/>
            </a:endParaRPr>
          </a:p>
        </p:txBody>
      </p:sp>
      <p:grpSp>
        <p:nvGrpSpPr>
          <p:cNvPr id="5126" name="组合 5125"/>
          <p:cNvGrpSpPr/>
          <p:nvPr/>
        </p:nvGrpSpPr>
        <p:grpSpPr>
          <a:xfrm>
            <a:off x="2700338" y="4292600"/>
            <a:ext cx="4025900" cy="2057400"/>
            <a:chOff x="1680" y="2736"/>
            <a:chExt cx="2536" cy="1296"/>
          </a:xfrm>
        </p:grpSpPr>
        <p:grpSp>
          <p:nvGrpSpPr>
            <p:cNvPr id="5127" name="组合 5126"/>
            <p:cNvGrpSpPr/>
            <p:nvPr/>
          </p:nvGrpSpPr>
          <p:grpSpPr>
            <a:xfrm>
              <a:off x="1680" y="2736"/>
              <a:ext cx="2536" cy="1296"/>
              <a:chOff x="2024" y="2592"/>
              <a:chExt cx="2536" cy="1296"/>
            </a:xfrm>
          </p:grpSpPr>
          <p:sp>
            <p:nvSpPr>
              <p:cNvPr id="5128" name="文本框 5127"/>
              <p:cNvSpPr txBox="1"/>
              <p:nvPr/>
            </p:nvSpPr>
            <p:spPr>
              <a:xfrm>
                <a:off x="4176" y="3504"/>
                <a:ext cx="384" cy="288"/>
              </a:xfrm>
              <a:prstGeom prst="rect">
                <a:avLst/>
              </a:prstGeom>
              <a:noFill/>
              <a:ln w="9525">
                <a:noFill/>
              </a:ln>
            </p:spPr>
            <p:txBody>
              <a:bodyPr>
                <a:spAutoFit/>
              </a:bodyPr>
              <a:p>
                <a:pPr>
                  <a:spcBef>
                    <a:spcPct val="50000"/>
                  </a:spcBef>
                </a:pPr>
                <a:r>
                  <a:rPr lang="en-US" altLang="zh-CN" sz="2400">
                    <a:latin typeface="Times New Roman" panose="02020603050405020304" pitchFamily="18" charset="0"/>
                  </a:rPr>
                  <a:t>t</a:t>
                </a:r>
                <a:endParaRPr lang="en-US" altLang="zh-CN" sz="2400" b="0">
                  <a:latin typeface="Times New Roman" panose="02020603050405020304" pitchFamily="18" charset="0"/>
                </a:endParaRPr>
              </a:p>
            </p:txBody>
          </p:sp>
          <p:sp>
            <p:nvSpPr>
              <p:cNvPr id="5129" name="直接连接符 5128"/>
              <p:cNvSpPr/>
              <p:nvPr/>
            </p:nvSpPr>
            <p:spPr>
              <a:xfrm>
                <a:off x="2244" y="3672"/>
                <a:ext cx="1968" cy="0"/>
              </a:xfrm>
              <a:prstGeom prst="line">
                <a:avLst/>
              </a:prstGeom>
              <a:ln w="38100" cap="flat" cmpd="sng">
                <a:solidFill>
                  <a:schemeClr val="tx1"/>
                </a:solidFill>
                <a:prstDash val="solid"/>
                <a:headEnd type="none" w="med" len="med"/>
                <a:tailEnd type="triangle" w="med" len="med"/>
              </a:ln>
            </p:spPr>
          </p:sp>
          <p:sp>
            <p:nvSpPr>
              <p:cNvPr id="5130" name="直接连接符 5129"/>
              <p:cNvSpPr/>
              <p:nvPr/>
            </p:nvSpPr>
            <p:spPr>
              <a:xfrm flipV="1">
                <a:off x="2496" y="2592"/>
                <a:ext cx="0" cy="1296"/>
              </a:xfrm>
              <a:prstGeom prst="line">
                <a:avLst/>
              </a:prstGeom>
              <a:ln w="38100" cap="flat" cmpd="sng">
                <a:solidFill>
                  <a:schemeClr val="tx1"/>
                </a:solidFill>
                <a:prstDash val="solid"/>
                <a:headEnd type="none" w="med" len="med"/>
                <a:tailEnd type="triangle" w="med" len="med"/>
              </a:ln>
            </p:spPr>
          </p:sp>
          <p:sp>
            <p:nvSpPr>
              <p:cNvPr id="5131" name="文本框 5130"/>
              <p:cNvSpPr txBox="1"/>
              <p:nvPr/>
            </p:nvSpPr>
            <p:spPr>
              <a:xfrm>
                <a:off x="2024" y="2616"/>
                <a:ext cx="488" cy="288"/>
              </a:xfrm>
              <a:prstGeom prst="rect">
                <a:avLst/>
              </a:prstGeom>
              <a:noFill/>
              <a:ln w="9525">
                <a:noFill/>
              </a:ln>
            </p:spPr>
            <p:txBody>
              <a:bodyPr>
                <a:spAutoFit/>
              </a:bodyPr>
              <a:p>
                <a:pPr>
                  <a:spcBef>
                    <a:spcPct val="50000"/>
                  </a:spcBef>
                </a:pPr>
                <a:r>
                  <a:rPr lang="en-US" altLang="zh-CN" sz="2400" err="1">
                    <a:latin typeface="Times New Roman" panose="02020603050405020304" pitchFamily="18" charset="0"/>
                  </a:rPr>
                  <a:t>V(t</a:t>
                </a:r>
                <a:r>
                  <a:rPr lang="en-US" altLang="zh-CN" sz="2400">
                    <a:latin typeface="Times New Roman" panose="02020603050405020304" pitchFamily="18" charset="0"/>
                  </a:rPr>
                  <a:t>)</a:t>
                </a:r>
                <a:endParaRPr lang="en-US" altLang="zh-CN" sz="2400" b="0">
                  <a:latin typeface="Times New Roman" panose="02020603050405020304" pitchFamily="18" charset="0"/>
                </a:endParaRPr>
              </a:p>
            </p:txBody>
          </p:sp>
        </p:grpSp>
        <p:grpSp>
          <p:nvGrpSpPr>
            <p:cNvPr id="5132" name="组合 5131"/>
            <p:cNvGrpSpPr/>
            <p:nvPr/>
          </p:nvGrpSpPr>
          <p:grpSpPr>
            <a:xfrm>
              <a:off x="1920" y="3264"/>
              <a:ext cx="1920" cy="528"/>
              <a:chOff x="2256" y="3168"/>
              <a:chExt cx="1920" cy="528"/>
            </a:xfrm>
          </p:grpSpPr>
          <p:sp>
            <p:nvSpPr>
              <p:cNvPr id="5133" name="直接连接符 5132"/>
              <p:cNvSpPr/>
              <p:nvPr/>
            </p:nvSpPr>
            <p:spPr>
              <a:xfrm>
                <a:off x="2496" y="3168"/>
                <a:ext cx="336" cy="0"/>
              </a:xfrm>
              <a:prstGeom prst="line">
                <a:avLst/>
              </a:prstGeom>
              <a:ln w="38100" cap="flat" cmpd="sng">
                <a:solidFill>
                  <a:srgbClr val="00FF00"/>
                </a:solidFill>
                <a:prstDash val="solid"/>
                <a:headEnd type="none" w="med" len="med"/>
                <a:tailEnd type="none" w="med" len="med"/>
              </a:ln>
            </p:spPr>
          </p:sp>
          <p:sp>
            <p:nvSpPr>
              <p:cNvPr id="5134" name="直接连接符 5133"/>
              <p:cNvSpPr/>
              <p:nvPr/>
            </p:nvSpPr>
            <p:spPr>
              <a:xfrm>
                <a:off x="2832" y="3168"/>
                <a:ext cx="0" cy="528"/>
              </a:xfrm>
              <a:prstGeom prst="line">
                <a:avLst/>
              </a:prstGeom>
              <a:ln w="38100" cap="flat" cmpd="sng">
                <a:solidFill>
                  <a:srgbClr val="00FF00"/>
                </a:solidFill>
                <a:prstDash val="solid"/>
                <a:headEnd type="none" w="med" len="med"/>
                <a:tailEnd type="none" w="med" len="med"/>
              </a:ln>
            </p:spPr>
          </p:sp>
          <p:sp>
            <p:nvSpPr>
              <p:cNvPr id="5135" name="直接连接符 5134"/>
              <p:cNvSpPr/>
              <p:nvPr/>
            </p:nvSpPr>
            <p:spPr>
              <a:xfrm>
                <a:off x="3216" y="3168"/>
                <a:ext cx="0" cy="528"/>
              </a:xfrm>
              <a:prstGeom prst="line">
                <a:avLst/>
              </a:prstGeom>
              <a:ln w="38100" cap="flat" cmpd="sng">
                <a:solidFill>
                  <a:srgbClr val="00FF00"/>
                </a:solidFill>
                <a:prstDash val="solid"/>
                <a:headEnd type="none" w="med" len="med"/>
                <a:tailEnd type="none" w="med" len="med"/>
              </a:ln>
            </p:spPr>
          </p:sp>
          <p:sp>
            <p:nvSpPr>
              <p:cNvPr id="5136" name="直接连接符 5135"/>
              <p:cNvSpPr/>
              <p:nvPr/>
            </p:nvSpPr>
            <p:spPr>
              <a:xfrm>
                <a:off x="3216" y="3168"/>
                <a:ext cx="384" cy="0"/>
              </a:xfrm>
              <a:prstGeom prst="line">
                <a:avLst/>
              </a:prstGeom>
              <a:ln w="38100" cap="flat" cmpd="sng">
                <a:solidFill>
                  <a:srgbClr val="00FF00"/>
                </a:solidFill>
                <a:prstDash val="solid"/>
                <a:headEnd type="none" w="med" len="med"/>
                <a:tailEnd type="none" w="med" len="med"/>
              </a:ln>
            </p:spPr>
          </p:sp>
          <p:sp>
            <p:nvSpPr>
              <p:cNvPr id="5137" name="直接连接符 5136"/>
              <p:cNvSpPr/>
              <p:nvPr/>
            </p:nvSpPr>
            <p:spPr>
              <a:xfrm>
                <a:off x="3600" y="3168"/>
                <a:ext cx="0" cy="528"/>
              </a:xfrm>
              <a:prstGeom prst="line">
                <a:avLst/>
              </a:prstGeom>
              <a:ln w="38100" cap="flat" cmpd="sng">
                <a:solidFill>
                  <a:srgbClr val="00FF00"/>
                </a:solidFill>
                <a:prstDash val="solid"/>
                <a:headEnd type="none" w="med" len="med"/>
                <a:tailEnd type="none" w="med" len="med"/>
              </a:ln>
            </p:spPr>
          </p:sp>
          <p:sp>
            <p:nvSpPr>
              <p:cNvPr id="5138" name="直接连接符 5137"/>
              <p:cNvSpPr/>
              <p:nvPr/>
            </p:nvSpPr>
            <p:spPr>
              <a:xfrm flipV="1">
                <a:off x="3936" y="3168"/>
                <a:ext cx="0" cy="528"/>
              </a:xfrm>
              <a:prstGeom prst="line">
                <a:avLst/>
              </a:prstGeom>
              <a:ln w="38100" cap="flat" cmpd="sng">
                <a:solidFill>
                  <a:srgbClr val="00FF00"/>
                </a:solidFill>
                <a:prstDash val="solid"/>
                <a:headEnd type="none" w="med" len="med"/>
                <a:tailEnd type="none" w="med" len="med"/>
              </a:ln>
            </p:spPr>
          </p:sp>
          <p:sp>
            <p:nvSpPr>
              <p:cNvPr id="5139" name="直接连接符 5138"/>
              <p:cNvSpPr/>
              <p:nvPr/>
            </p:nvSpPr>
            <p:spPr>
              <a:xfrm>
                <a:off x="3936" y="3168"/>
                <a:ext cx="240" cy="0"/>
              </a:xfrm>
              <a:prstGeom prst="line">
                <a:avLst/>
              </a:prstGeom>
              <a:ln w="38100" cap="flat" cmpd="sng">
                <a:solidFill>
                  <a:srgbClr val="00FF00"/>
                </a:solidFill>
                <a:prstDash val="solid"/>
                <a:headEnd type="none" w="med" len="med"/>
                <a:tailEnd type="none" w="med" len="med"/>
              </a:ln>
            </p:spPr>
          </p:sp>
          <p:sp>
            <p:nvSpPr>
              <p:cNvPr id="5140" name="直接连接符 5139"/>
              <p:cNvSpPr/>
              <p:nvPr/>
            </p:nvSpPr>
            <p:spPr>
              <a:xfrm>
                <a:off x="2832" y="3696"/>
                <a:ext cx="384" cy="0"/>
              </a:xfrm>
              <a:prstGeom prst="line">
                <a:avLst/>
              </a:prstGeom>
              <a:ln w="38100" cap="flat" cmpd="sng">
                <a:solidFill>
                  <a:srgbClr val="00FF00"/>
                </a:solidFill>
                <a:prstDash val="solid"/>
                <a:headEnd type="none" w="med" len="med"/>
                <a:tailEnd type="none" w="med" len="med"/>
              </a:ln>
            </p:spPr>
          </p:sp>
          <p:sp>
            <p:nvSpPr>
              <p:cNvPr id="5141" name="直接连接符 5140"/>
              <p:cNvSpPr/>
              <p:nvPr/>
            </p:nvSpPr>
            <p:spPr>
              <a:xfrm>
                <a:off x="3600" y="3696"/>
                <a:ext cx="336" cy="0"/>
              </a:xfrm>
              <a:prstGeom prst="line">
                <a:avLst/>
              </a:prstGeom>
              <a:ln w="38100" cap="flat" cmpd="sng">
                <a:solidFill>
                  <a:srgbClr val="00FF00"/>
                </a:solidFill>
                <a:prstDash val="solid"/>
                <a:headEnd type="none" w="med" len="med"/>
                <a:tailEnd type="none" w="med" len="med"/>
              </a:ln>
            </p:spPr>
          </p:sp>
          <p:sp>
            <p:nvSpPr>
              <p:cNvPr id="5142" name="直接连接符 5141"/>
              <p:cNvSpPr/>
              <p:nvPr/>
            </p:nvSpPr>
            <p:spPr>
              <a:xfrm>
                <a:off x="2256" y="3696"/>
                <a:ext cx="240" cy="0"/>
              </a:xfrm>
              <a:prstGeom prst="line">
                <a:avLst/>
              </a:prstGeom>
              <a:ln w="38100" cap="flat" cmpd="sng">
                <a:solidFill>
                  <a:srgbClr val="00FF00"/>
                </a:solidFill>
                <a:prstDash val="solid"/>
                <a:headEnd type="none" w="med" len="med"/>
                <a:tailEnd type="none" w="med" len="med"/>
              </a:ln>
            </p:spPr>
          </p:sp>
          <p:sp>
            <p:nvSpPr>
              <p:cNvPr id="5143" name="直接连接符 5142"/>
              <p:cNvSpPr/>
              <p:nvPr/>
            </p:nvSpPr>
            <p:spPr>
              <a:xfrm flipV="1">
                <a:off x="2496" y="3168"/>
                <a:ext cx="0" cy="528"/>
              </a:xfrm>
              <a:prstGeom prst="line">
                <a:avLst/>
              </a:prstGeom>
              <a:ln w="38100" cap="flat" cmpd="sng">
                <a:solidFill>
                  <a:srgbClr val="00FF00"/>
                </a:solidFill>
                <a:prstDash val="solid"/>
                <a:headEnd type="none" w="med" len="med"/>
                <a:tailEnd type="non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1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5125">
                                            <p:txEl>
                                              <p:charRg st="0" end="24"/>
                                            </p:txEl>
                                          </p:spTgt>
                                        </p:tgtEl>
                                        <p:attrNameLst>
                                          <p:attrName>style.visibility</p:attrName>
                                        </p:attrNameLst>
                                      </p:cBhvr>
                                      <p:to>
                                        <p:strVal val="visible"/>
                                      </p:to>
                                    </p:set>
                                    <p:animEffect transition="in" filter="wipe(left)">
                                      <p:cBhvr>
                                        <p:cTn id="11" dur="500"/>
                                        <p:tgtEl>
                                          <p:spTgt spid="5125">
                                            <p:txEl>
                                              <p:charRg st="0" end="24"/>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125">
                                            <p:txEl>
                                              <p:charRg st="24" end="40"/>
                                            </p:txEl>
                                          </p:spTgt>
                                        </p:tgtEl>
                                        <p:attrNameLst>
                                          <p:attrName>style.visibility</p:attrName>
                                        </p:attrNameLst>
                                      </p:cBhvr>
                                      <p:to>
                                        <p:strVal val="visible"/>
                                      </p:to>
                                    </p:set>
                                    <p:animEffect transition="in" filter="wipe(left)">
                                      <p:cBhvr>
                                        <p:cTn id="16" dur="500"/>
                                        <p:tgtEl>
                                          <p:spTgt spid="5125">
                                            <p:txEl>
                                              <p:charRg st="24" end="4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125">
                                            <p:txEl>
                                              <p:charRg st="40" end="60"/>
                                            </p:txEl>
                                          </p:spTgt>
                                        </p:tgtEl>
                                        <p:attrNameLst>
                                          <p:attrName>style.visibility</p:attrName>
                                        </p:attrNameLst>
                                      </p:cBhvr>
                                      <p:to>
                                        <p:strVal val="visible"/>
                                      </p:to>
                                    </p:set>
                                    <p:animEffect transition="in" filter="wipe(left)">
                                      <p:cBhvr>
                                        <p:cTn id="21" dur="500"/>
                                        <p:tgtEl>
                                          <p:spTgt spid="5125">
                                            <p:txEl>
                                              <p:charRg st="40" end="6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125">
                                            <p:txEl>
                                              <p:charRg st="60" end="75"/>
                                            </p:txEl>
                                          </p:spTgt>
                                        </p:tgtEl>
                                        <p:attrNameLst>
                                          <p:attrName>style.visibility</p:attrName>
                                        </p:attrNameLst>
                                      </p:cBhvr>
                                      <p:to>
                                        <p:strVal val="visible"/>
                                      </p:to>
                                    </p:set>
                                    <p:animEffect transition="in" filter="wipe(left)">
                                      <p:cBhvr>
                                        <p:cTn id="26" dur="500"/>
                                        <p:tgtEl>
                                          <p:spTgt spid="5125">
                                            <p:txEl>
                                              <p:charRg st="60" end="7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nodeType="clickEffect">
                                  <p:stCondLst>
                                    <p:cond delay="0"/>
                                  </p:stCondLst>
                                  <p:childTnLst>
                                    <p:set>
                                      <p:cBhvr>
                                        <p:cTn id="30" dur="1" fill="hold">
                                          <p:stCondLst>
                                            <p:cond delay="0"/>
                                          </p:stCondLst>
                                        </p:cTn>
                                        <p:tgtEl>
                                          <p:spTgt spid="5126"/>
                                        </p:tgtEl>
                                        <p:attrNameLst>
                                          <p:attrName>style.visibility</p:attrName>
                                        </p:attrNameLst>
                                      </p:cBhvr>
                                      <p:to>
                                        <p:strVal val="visible"/>
                                      </p:to>
                                    </p:set>
                                    <p:anim calcmode="lin" valueType="num">
                                      <p:cBhvr>
                                        <p:cTn id="31" dur="500" fill="hold"/>
                                        <p:tgtEl>
                                          <p:spTgt spid="5126"/>
                                        </p:tgtEl>
                                        <p:attrNameLst>
                                          <p:attrName>ppt_w</p:attrName>
                                        </p:attrNameLst>
                                      </p:cBhvr>
                                      <p:tavLst>
                                        <p:tav tm="0">
                                          <p:val>
                                            <p:fltVal val="0.000000"/>
                                          </p:val>
                                        </p:tav>
                                        <p:tav tm="100000">
                                          <p:val>
                                            <p:strVal val="#ppt_w"/>
                                          </p:val>
                                        </p:tav>
                                      </p:tavLst>
                                    </p:anim>
                                    <p:anim calcmode="lin" valueType="num">
                                      <p:cBhvr>
                                        <p:cTn id="32" dur="500" fill="hold"/>
                                        <p:tgtEl>
                                          <p:spTgt spid="5126"/>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 grpId="0" animBg="1"/>
      <p:bldP spid="512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文本框 6147"/>
          <p:cNvSpPr txBox="1"/>
          <p:nvPr/>
        </p:nvSpPr>
        <p:spPr>
          <a:xfrm>
            <a:off x="755650" y="476250"/>
            <a:ext cx="5616575" cy="641350"/>
          </a:xfrm>
          <a:prstGeom prst="rect">
            <a:avLst/>
          </a:prstGeom>
          <a:solidFill>
            <a:srgbClr val="FFFF66"/>
          </a:solidFill>
          <a:ln w="9525">
            <a:noFill/>
          </a:ln>
        </p:spPr>
        <p:txBody>
          <a:bodyPr>
            <a:spAutoFit/>
          </a:bodyPr>
          <a:p>
            <a:pPr>
              <a:spcBef>
                <a:spcPct val="50000"/>
              </a:spcBef>
            </a:pPr>
            <a:r>
              <a:rPr lang="zh-CN" altLang="en-US" sz="3600" b="0">
                <a:latin typeface="Verdana" panose="020B0604030504040204" pitchFamily="34" charset="0"/>
              </a:rPr>
              <a:t>§</a:t>
            </a:r>
            <a:r>
              <a:rPr lang="en-US" altLang="zh-CN" sz="3600" b="0">
                <a:latin typeface="Verdana" panose="020B0604030504040204" pitchFamily="34" charset="0"/>
              </a:rPr>
              <a:t>1.2   </a:t>
            </a:r>
            <a:r>
              <a:rPr lang="zh-CN" altLang="en-US" sz="3600" b="0" dirty="0">
                <a:latin typeface="Verdana" panose="020B0604030504040204" pitchFamily="34" charset="0"/>
              </a:rPr>
              <a:t>几种常用的数制</a:t>
            </a:r>
            <a:endParaRPr lang="zh-CN" altLang="en-US" sz="3600" b="0" dirty="0">
              <a:latin typeface="Verdana" panose="020B0604030504040204" pitchFamily="34" charset="0"/>
            </a:endParaRPr>
          </a:p>
        </p:txBody>
      </p:sp>
      <p:sp>
        <p:nvSpPr>
          <p:cNvPr id="6149" name="文本框 6148"/>
          <p:cNvSpPr txBox="1"/>
          <p:nvPr/>
        </p:nvSpPr>
        <p:spPr>
          <a:xfrm>
            <a:off x="611188" y="3068638"/>
            <a:ext cx="7561262" cy="2625725"/>
          </a:xfrm>
          <a:prstGeom prst="rect">
            <a:avLst/>
          </a:prstGeom>
          <a:solidFill>
            <a:srgbClr val="CCFFCC"/>
          </a:solidFill>
          <a:ln w="9525">
            <a:noFill/>
          </a:ln>
        </p:spPr>
        <p:txBody>
          <a:bodyPr>
            <a:spAutoFit/>
          </a:bodyPr>
          <a:p>
            <a:pPr>
              <a:lnSpc>
                <a:spcPct val="130000"/>
              </a:lnSpc>
              <a:spcBef>
                <a:spcPct val="50000"/>
              </a:spcBef>
            </a:pPr>
            <a:r>
              <a:rPr lang="en-US" altLang="zh-CN" sz="3200" dirty="0">
                <a:latin typeface="华文楷体" panose="02010600040101010101" pitchFamily="2" charset="-122"/>
                <a:ea typeface="华文楷体" panose="02010600040101010101" pitchFamily="2" charset="-122"/>
              </a:rPr>
              <a:t> </a:t>
            </a:r>
            <a:r>
              <a:rPr lang="zh-CN" altLang="en-US" sz="3200" dirty="0">
                <a:latin typeface="华文楷体" panose="02010600040101010101" pitchFamily="2" charset="-122"/>
                <a:ea typeface="华文楷体" panose="02010600040101010101" pitchFamily="2" charset="-122"/>
              </a:rPr>
              <a:t>表示数时，仅用一位数码往往不够用，必须用进位计数的方法组成多位数码。多位数码每一位的构成以及从低位到高位的进位规则称为进位计数制，简称数制。</a:t>
            </a:r>
            <a:endParaRPr lang="zh-CN" altLang="en-US" sz="3200" dirty="0">
              <a:latin typeface="华文楷体" panose="02010600040101010101" pitchFamily="2" charset="-122"/>
              <a:ea typeface="华文楷体" panose="02010600040101010101" pitchFamily="2" charset="-122"/>
            </a:endParaRPr>
          </a:p>
        </p:txBody>
      </p:sp>
      <p:sp>
        <p:nvSpPr>
          <p:cNvPr id="6150" name="文本框 6149"/>
          <p:cNvSpPr txBox="1"/>
          <p:nvPr/>
        </p:nvSpPr>
        <p:spPr>
          <a:xfrm>
            <a:off x="755650" y="1628775"/>
            <a:ext cx="6769100" cy="579438"/>
          </a:xfrm>
          <a:prstGeom prst="rect">
            <a:avLst/>
          </a:prstGeom>
          <a:noFill/>
          <a:ln w="9525">
            <a:noFill/>
          </a:ln>
        </p:spPr>
        <p:txBody>
          <a:bodyPr>
            <a:spAutoFit/>
          </a:bodyPr>
          <a:p>
            <a:pPr>
              <a:spcBef>
                <a:spcPct val="50000"/>
              </a:spcBef>
            </a:pPr>
            <a:r>
              <a:rPr lang="zh-CN" altLang="en-US" sz="3200" dirty="0">
                <a:latin typeface="Verdana" panose="020B0604030504040204" pitchFamily="34" charset="0"/>
              </a:rPr>
              <a:t>数制：</a:t>
            </a:r>
            <a:endParaRPr lang="zh-CN" altLang="en-US" sz="3200" dirty="0">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49"/>
                                        </p:tgtEl>
                                        <p:attrNameLst>
                                          <p:attrName>style.visibility</p:attrName>
                                        </p:attrNameLst>
                                      </p:cBhvr>
                                      <p:to>
                                        <p:strVal val="visible"/>
                                      </p:to>
                                    </p:set>
                                    <p:animEffect transition="in" filter="wipe(left)">
                                      <p:cBhvr>
                                        <p:cTn id="7" dur="500"/>
                                        <p:tgtEl>
                                          <p:spTgt spid="6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2" name="文本框 7171"/>
          <p:cNvSpPr txBox="1"/>
          <p:nvPr/>
        </p:nvSpPr>
        <p:spPr>
          <a:xfrm>
            <a:off x="395288" y="3141663"/>
            <a:ext cx="8031162" cy="2625725"/>
          </a:xfrm>
          <a:prstGeom prst="rect">
            <a:avLst/>
          </a:prstGeom>
          <a:noFill/>
          <a:ln w="9525">
            <a:noFill/>
          </a:ln>
        </p:spPr>
        <p:txBody>
          <a:bodyPr>
            <a:spAutoFit/>
          </a:bodyPr>
          <a:p>
            <a:pPr>
              <a:lnSpc>
                <a:spcPct val="130000"/>
              </a:lnSpc>
              <a:spcBef>
                <a:spcPct val="50000"/>
              </a:spcBef>
              <a:buFont typeface="Wingdings" panose="05000000000000000000" pitchFamily="2" charset="2"/>
              <a:buChar char="§"/>
            </a:pPr>
            <a:r>
              <a:rPr lang="en-US" altLang="zh-CN" sz="3200" dirty="0">
                <a:solidFill>
                  <a:srgbClr val="FF3300"/>
                </a:solidFill>
                <a:latin typeface="华文楷体" panose="02010600040101010101" pitchFamily="2" charset="-122"/>
                <a:ea typeface="华文楷体" panose="02010600040101010101" pitchFamily="2" charset="-122"/>
              </a:rPr>
              <a:t> </a:t>
            </a:r>
            <a:r>
              <a:rPr lang="zh-CN" altLang="en-US" sz="3200" dirty="0">
                <a:solidFill>
                  <a:srgbClr val="FF3300"/>
                </a:solidFill>
                <a:latin typeface="华文楷体" panose="02010600040101010101" pitchFamily="2" charset="-122"/>
                <a:ea typeface="华文楷体" panose="02010600040101010101" pitchFamily="2" charset="-122"/>
              </a:rPr>
              <a:t>位 权（位的权数）：</a:t>
            </a:r>
            <a:r>
              <a:rPr lang="zh-CN" altLang="en-US" sz="3200" dirty="0">
                <a:latin typeface="华文楷体" panose="02010600040101010101" pitchFamily="2" charset="-122"/>
                <a:ea typeface="华文楷体" panose="02010600040101010101" pitchFamily="2" charset="-122"/>
              </a:rPr>
              <a:t>  在某一进位制的数中，每一位的大小都对应着该位上的数码乘上一个固定的数，这个固定的数就是这          一位的权数。权数是一个幂。</a:t>
            </a:r>
            <a:endParaRPr lang="zh-CN" altLang="en-US" sz="3200" dirty="0">
              <a:latin typeface="华文楷体" panose="02010600040101010101" pitchFamily="2" charset="-122"/>
              <a:ea typeface="华文楷体" panose="02010600040101010101" pitchFamily="2" charset="-122"/>
            </a:endParaRPr>
          </a:p>
        </p:txBody>
      </p:sp>
      <p:sp>
        <p:nvSpPr>
          <p:cNvPr id="7173" name="文本框 7172"/>
          <p:cNvSpPr txBox="1"/>
          <p:nvPr/>
        </p:nvSpPr>
        <p:spPr>
          <a:xfrm>
            <a:off x="395288" y="1196975"/>
            <a:ext cx="7991475" cy="1311275"/>
          </a:xfrm>
          <a:prstGeom prst="rect">
            <a:avLst/>
          </a:prstGeom>
          <a:noFill/>
          <a:ln w="9525">
            <a:noFill/>
          </a:ln>
        </p:spPr>
        <p:txBody>
          <a:bodyPr>
            <a:spAutoFit/>
          </a:bodyPr>
          <a:p>
            <a:pPr eaLnBrk="0" hangingPunct="0">
              <a:spcBef>
                <a:spcPct val="50000"/>
              </a:spcBef>
              <a:buSzPct val="75000"/>
              <a:buFont typeface="Wingdings" panose="05000000000000000000" pitchFamily="2" charset="2"/>
              <a:buChar char="§"/>
            </a:pPr>
            <a:r>
              <a:rPr lang="zh-CN" altLang="en-US" sz="3200" dirty="0">
                <a:solidFill>
                  <a:srgbClr val="FF3300"/>
                </a:solidFill>
                <a:latin typeface="华文楷体" panose="02010600040101010101" pitchFamily="2" charset="-122"/>
                <a:ea typeface="华文楷体" panose="02010600040101010101" pitchFamily="2" charset="-122"/>
              </a:rPr>
              <a:t>基 数</a:t>
            </a:r>
            <a:r>
              <a:rPr lang="zh-CN" altLang="en-US" sz="3200" dirty="0">
                <a:latin typeface="华文楷体" panose="02010600040101010101" pitchFamily="2" charset="-122"/>
                <a:ea typeface="华文楷体" panose="02010600040101010101" pitchFamily="2" charset="-122"/>
              </a:rPr>
              <a:t>：  进位制的基数，就是在该进位制</a:t>
            </a:r>
            <a:endParaRPr lang="zh-CN" altLang="en-US" sz="3200" dirty="0">
              <a:latin typeface="华文楷体" panose="02010600040101010101" pitchFamily="2" charset="-122"/>
              <a:ea typeface="华文楷体" panose="02010600040101010101" pitchFamily="2" charset="-122"/>
            </a:endParaRPr>
          </a:p>
          <a:p>
            <a:pPr eaLnBrk="0" hangingPunct="0">
              <a:spcBef>
                <a:spcPct val="50000"/>
              </a:spcBef>
            </a:pPr>
            <a:r>
              <a:rPr lang="zh-CN" altLang="en-US" sz="3200" dirty="0">
                <a:latin typeface="华文楷体" panose="02010600040101010101" pitchFamily="2" charset="-122"/>
                <a:ea typeface="华文楷体" panose="02010600040101010101" pitchFamily="2" charset="-122"/>
              </a:rPr>
              <a:t>          中可能用到的数码个数。</a:t>
            </a:r>
            <a:endParaRPr lang="zh-CN" altLang="en-US" sz="3200" dirty="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grpId="0" nodeType="withEffect">
                                  <p:stCondLst>
                                    <p:cond delay="0"/>
                                  </p:stCondLst>
                                  <p:childTnLst>
                                    <p:set>
                                      <p:cBhvr>
                                        <p:cTn id="6" dur="1" fill="hold">
                                          <p:stCondLst>
                                            <p:cond delay="0"/>
                                          </p:stCondLst>
                                        </p:cTn>
                                        <p:tgtEl>
                                          <p:spTgt spid="7173"/>
                                        </p:tgtEl>
                                        <p:attrNameLst>
                                          <p:attrName>style.visibility</p:attrName>
                                        </p:attrNameLst>
                                      </p:cBhvr>
                                      <p:to>
                                        <p:strVal val="visible"/>
                                      </p:to>
                                    </p:set>
                                    <p:animEffect transition="in" filter="diamond(in)">
                                      <p:cBhvr>
                                        <p:cTn id="7" dur="2000"/>
                                        <p:tgtEl>
                                          <p:spTgt spid="7173"/>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32" fill="hold" grpId="0" nodeType="clickEffect">
                                  <p:stCondLst>
                                    <p:cond delay="0"/>
                                  </p:stCondLst>
                                  <p:childTnLst>
                                    <p:set>
                                      <p:cBhvr>
                                        <p:cTn id="11" dur="1" fill="hold">
                                          <p:stCondLst>
                                            <p:cond delay="0"/>
                                          </p:stCondLst>
                                        </p:cTn>
                                        <p:tgtEl>
                                          <p:spTgt spid="7172"/>
                                        </p:tgtEl>
                                        <p:attrNameLst>
                                          <p:attrName>style.visibility</p:attrName>
                                        </p:attrNameLst>
                                      </p:cBhvr>
                                      <p:to>
                                        <p:strVal val="visible"/>
                                      </p:to>
                                    </p:set>
                                    <p:animEffect transition="in" filter="diamond(out)">
                                      <p:cBhvr>
                                        <p:cTn id="12" dur="2000"/>
                                        <p:tgtEl>
                                          <p:spTgt spid="7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p:bldP spid="717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矩形 8195"/>
          <p:cNvSpPr/>
          <p:nvPr/>
        </p:nvSpPr>
        <p:spPr>
          <a:xfrm>
            <a:off x="395288" y="1196975"/>
            <a:ext cx="7543800" cy="2501900"/>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har char="•"/>
              <a:defRPr sz="32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宋体" panose="02010600030101010101" pitchFamily="2" charset="-122"/>
              </a:defRPr>
            </a:lvl5pPr>
          </a:lstStyle>
          <a:p>
            <a:pPr lvl="0">
              <a:buNone/>
            </a:pPr>
            <a:r>
              <a:rPr lang="zh-CN" altLang="en-US" b="1" dirty="0">
                <a:latin typeface="楷体_GB2312" pitchFamily="49" charset="-122"/>
                <a:ea typeface="楷体_GB2312" pitchFamily="49" charset="-122"/>
              </a:rPr>
              <a:t>数码为：</a:t>
            </a:r>
            <a:r>
              <a:rPr lang="en-US" altLang="zh-CN" b="1">
                <a:latin typeface="楷体_GB2312" pitchFamily="49" charset="-122"/>
                <a:ea typeface="楷体_GB2312" pitchFamily="49" charset="-122"/>
              </a:rPr>
              <a:t>0</a:t>
            </a:r>
            <a:r>
              <a:rPr lang="zh-CN" altLang="en-US" b="1" dirty="0">
                <a:latin typeface="楷体_GB2312" pitchFamily="49" charset="-122"/>
                <a:ea typeface="楷体_GB2312" pitchFamily="49" charset="-122"/>
              </a:rPr>
              <a:t>～</a:t>
            </a:r>
            <a:r>
              <a:rPr lang="en-US" altLang="zh-CN" b="1">
                <a:latin typeface="楷体_GB2312" pitchFamily="49" charset="-122"/>
                <a:ea typeface="楷体_GB2312" pitchFamily="49" charset="-122"/>
              </a:rPr>
              <a:t>9</a:t>
            </a:r>
            <a:r>
              <a:rPr lang="zh-CN" altLang="en-US" b="1" dirty="0">
                <a:latin typeface="楷体_GB2312" pitchFamily="49" charset="-122"/>
                <a:ea typeface="楷体_GB2312" pitchFamily="49" charset="-122"/>
              </a:rPr>
              <a:t>；</a:t>
            </a:r>
            <a:endParaRPr lang="zh-CN" altLang="en-US" b="1" dirty="0">
              <a:latin typeface="楷体_GB2312" pitchFamily="49" charset="-122"/>
              <a:ea typeface="楷体_GB2312" pitchFamily="49" charset="-122"/>
            </a:endParaRPr>
          </a:p>
          <a:p>
            <a:pPr lvl="0">
              <a:buNone/>
            </a:pPr>
            <a:r>
              <a:rPr lang="zh-CN" altLang="en-US" b="1" dirty="0">
                <a:latin typeface="楷体_GB2312" pitchFamily="49" charset="-122"/>
                <a:ea typeface="楷体_GB2312" pitchFamily="49" charset="-122"/>
              </a:rPr>
              <a:t>基数是</a:t>
            </a:r>
            <a:r>
              <a:rPr lang="en-US" altLang="zh-CN" b="1">
                <a:latin typeface="楷体_GB2312" pitchFamily="49" charset="-122"/>
                <a:ea typeface="楷体_GB2312" pitchFamily="49" charset="-122"/>
              </a:rPr>
              <a:t>10</a:t>
            </a:r>
            <a:r>
              <a:rPr lang="zh-CN" altLang="en-US" b="1" dirty="0">
                <a:latin typeface="楷体_GB2312" pitchFamily="49" charset="-122"/>
                <a:ea typeface="楷体_GB2312" pitchFamily="49" charset="-122"/>
              </a:rPr>
              <a:t>。用字母</a:t>
            </a:r>
            <a:r>
              <a:rPr lang="en-US" altLang="zh-CN" b="1">
                <a:solidFill>
                  <a:srgbClr val="0000FF"/>
                </a:solidFill>
                <a:latin typeface="楷体_GB2312" pitchFamily="49" charset="-122"/>
                <a:ea typeface="楷体_GB2312" pitchFamily="49" charset="-122"/>
              </a:rPr>
              <a:t>D</a:t>
            </a:r>
            <a:r>
              <a:rPr lang="zh-CN" altLang="en-US" b="1" dirty="0">
                <a:latin typeface="楷体_GB2312" pitchFamily="49" charset="-122"/>
                <a:ea typeface="楷体_GB2312" pitchFamily="49" charset="-122"/>
              </a:rPr>
              <a:t>表示</a:t>
            </a:r>
            <a:endParaRPr lang="zh-CN" altLang="en-US" b="1" dirty="0">
              <a:latin typeface="楷体_GB2312" pitchFamily="49" charset="-122"/>
              <a:ea typeface="楷体_GB2312" pitchFamily="49" charset="-122"/>
            </a:endParaRPr>
          </a:p>
          <a:p>
            <a:pPr lvl="0">
              <a:buNone/>
            </a:pPr>
            <a:r>
              <a:rPr lang="zh-CN" altLang="en-US" b="1" dirty="0">
                <a:latin typeface="楷体_GB2312" pitchFamily="49" charset="-122"/>
                <a:ea typeface="楷体_GB2312" pitchFamily="49" charset="-122"/>
              </a:rPr>
              <a:t>运算规律：逢十进一，即：</a:t>
            </a:r>
            <a:r>
              <a:rPr lang="en-US" altLang="zh-CN" b="1">
                <a:latin typeface="楷体_GB2312" pitchFamily="49" charset="-122"/>
                <a:ea typeface="楷体_GB2312" pitchFamily="49" charset="-122"/>
              </a:rPr>
              <a:t>9</a:t>
            </a:r>
            <a:r>
              <a:rPr lang="zh-CN" altLang="en-US" b="1" dirty="0">
                <a:latin typeface="楷体_GB2312" pitchFamily="49" charset="-122"/>
                <a:ea typeface="楷体_GB2312" pitchFamily="49" charset="-122"/>
              </a:rPr>
              <a:t>＋</a:t>
            </a:r>
            <a:r>
              <a:rPr lang="en-US" altLang="zh-CN" b="1">
                <a:latin typeface="楷体_GB2312" pitchFamily="49" charset="-122"/>
                <a:ea typeface="楷体_GB2312" pitchFamily="49" charset="-122"/>
              </a:rPr>
              <a:t>1</a:t>
            </a:r>
            <a:r>
              <a:rPr lang="zh-CN" altLang="en-US" b="1" dirty="0">
                <a:latin typeface="楷体_GB2312" pitchFamily="49" charset="-122"/>
                <a:ea typeface="楷体_GB2312" pitchFamily="49" charset="-122"/>
              </a:rPr>
              <a:t>＝</a:t>
            </a:r>
            <a:r>
              <a:rPr lang="en-US" altLang="zh-CN" b="1">
                <a:latin typeface="楷体_GB2312" pitchFamily="49" charset="-122"/>
                <a:ea typeface="楷体_GB2312" pitchFamily="49" charset="-122"/>
              </a:rPr>
              <a:t>10</a:t>
            </a:r>
            <a:r>
              <a:rPr lang="zh-CN" altLang="en-US" b="1" dirty="0">
                <a:latin typeface="楷体_GB2312" pitchFamily="49" charset="-122"/>
                <a:ea typeface="楷体_GB2312" pitchFamily="49" charset="-122"/>
              </a:rPr>
              <a:t>。</a:t>
            </a:r>
            <a:endParaRPr lang="zh-CN" altLang="en-US" b="1" dirty="0">
              <a:latin typeface="楷体_GB2312" pitchFamily="49" charset="-122"/>
              <a:ea typeface="楷体_GB2312" pitchFamily="49" charset="-122"/>
            </a:endParaRPr>
          </a:p>
          <a:p>
            <a:pPr lvl="0">
              <a:buNone/>
            </a:pPr>
            <a:r>
              <a:rPr lang="zh-CN" altLang="en-US" b="1" dirty="0">
                <a:latin typeface="楷体_GB2312" pitchFamily="49" charset="-122"/>
                <a:ea typeface="楷体_GB2312" pitchFamily="49" charset="-122"/>
              </a:rPr>
              <a:t>十进制数的权展开式：</a:t>
            </a:r>
            <a:r>
              <a:rPr lang="en-US" altLang="zh-CN" b="0">
                <a:latin typeface="楷体_GB2312" pitchFamily="49" charset="-122"/>
                <a:ea typeface="楷体_GB2312" pitchFamily="49" charset="-122"/>
              </a:rPr>
              <a:t>D</a:t>
            </a:r>
            <a:r>
              <a:rPr lang="zh-CN" altLang="en-US" b="0" dirty="0">
                <a:latin typeface="楷体_GB2312" pitchFamily="49" charset="-122"/>
                <a:ea typeface="楷体_GB2312" pitchFamily="49" charset="-122"/>
              </a:rPr>
              <a:t>＝</a:t>
            </a:r>
            <a:r>
              <a:rPr lang="en-US" altLang="zh-CN" b="0" dirty="0"/>
              <a:t>∑</a:t>
            </a:r>
            <a:r>
              <a:rPr lang="en-US" altLang="zh-CN" b="0" i="1">
                <a:latin typeface="Times New Roman" panose="02020603050405020304" pitchFamily="18" charset="0"/>
              </a:rPr>
              <a:t>k</a:t>
            </a:r>
            <a:r>
              <a:rPr lang="en-US" altLang="zh-CN" b="0" i="1" baseline="-25000">
                <a:latin typeface="Times New Roman" panose="02020603050405020304" pitchFamily="18" charset="0"/>
              </a:rPr>
              <a:t>i</a:t>
            </a:r>
            <a:r>
              <a:rPr lang="en-US" altLang="zh-CN" b="0"/>
              <a:t>×</a:t>
            </a:r>
            <a:r>
              <a:rPr lang="en-US" altLang="zh-CN" b="0">
                <a:latin typeface="Times New Roman" panose="02020603050405020304" pitchFamily="18" charset="0"/>
              </a:rPr>
              <a:t>10</a:t>
            </a:r>
            <a:r>
              <a:rPr lang="en-US" altLang="zh-CN" b="0" i="1" baseline="30000">
                <a:latin typeface="Times New Roman" panose="02020603050405020304" pitchFamily="18" charset="0"/>
              </a:rPr>
              <a:t>i</a:t>
            </a:r>
            <a:endParaRPr lang="en-US" altLang="zh-CN" b="0" i="1" baseline="30000">
              <a:latin typeface="Times New Roman" panose="02020603050405020304" pitchFamily="18" charset="0"/>
            </a:endParaRPr>
          </a:p>
        </p:txBody>
      </p:sp>
      <p:sp>
        <p:nvSpPr>
          <p:cNvPr id="8197" name="圆角矩形 8196"/>
          <p:cNvSpPr/>
          <p:nvPr/>
        </p:nvSpPr>
        <p:spPr>
          <a:xfrm>
            <a:off x="539750" y="404813"/>
            <a:ext cx="2519363" cy="576262"/>
          </a:xfrm>
          <a:prstGeom prst="roundRect">
            <a:avLst>
              <a:gd name="adj" fmla="val 16667"/>
            </a:avLst>
          </a:prstGeom>
          <a:solidFill>
            <a:srgbClr val="00FF00"/>
          </a:solidFill>
          <a:ln w="9525" cap="flat" cmpd="sng">
            <a:solidFill>
              <a:srgbClr val="FF7C80"/>
            </a:solidFill>
            <a:prstDash val="solid"/>
            <a:headEnd type="none" w="med" len="med"/>
            <a:tailEnd type="none" w="med" len="med"/>
          </a:ln>
        </p:spPr>
        <p:txBody>
          <a:bodyPr wrap="none" lIns="0" anchor="ctr" anchorCtr="0"/>
          <a:p>
            <a:pPr algn="ctr"/>
            <a:r>
              <a:rPr lang="zh-CN" altLang="en-US" sz="3200" b="0" dirty="0">
                <a:solidFill>
                  <a:srgbClr val="000000"/>
                </a:solidFill>
                <a:latin typeface="Verdana" panose="020B0604030504040204" pitchFamily="34" charset="0"/>
              </a:rPr>
              <a:t>一、十进制</a:t>
            </a:r>
            <a:endParaRPr lang="zh-CN" altLang="en-US" sz="3200" b="0" dirty="0">
              <a:solidFill>
                <a:srgbClr val="000000"/>
              </a:solidFill>
              <a:latin typeface="Verdana" panose="020B0604030504040204" pitchFamily="34" charset="0"/>
            </a:endParaRPr>
          </a:p>
        </p:txBody>
      </p:sp>
      <p:sp>
        <p:nvSpPr>
          <p:cNvPr id="8198" name="文本框 8197"/>
          <p:cNvSpPr txBox="1"/>
          <p:nvPr/>
        </p:nvSpPr>
        <p:spPr>
          <a:xfrm>
            <a:off x="0" y="3789363"/>
            <a:ext cx="9144000" cy="1160462"/>
          </a:xfrm>
          <a:prstGeom prst="rect">
            <a:avLst/>
          </a:prstGeom>
          <a:noFill/>
          <a:ln w="9525">
            <a:noFill/>
          </a:ln>
        </p:spPr>
        <p:txBody>
          <a:bodyPr>
            <a:spAutoFit/>
          </a:bodyPr>
          <a:p>
            <a:pPr>
              <a:spcBef>
                <a:spcPct val="50000"/>
              </a:spcBef>
            </a:pPr>
            <a:r>
              <a:rPr lang="en-US" altLang="zh-CN" b="0" dirty="0">
                <a:latin typeface="Verdana" panose="020B0604030504040204" pitchFamily="34" charset="0"/>
              </a:rPr>
              <a:t>  </a:t>
            </a:r>
            <a:r>
              <a:rPr lang="en-US" altLang="zh-CN" b="0">
                <a:latin typeface="Verdana" panose="020B0604030504040204" pitchFamily="34" charset="0"/>
              </a:rPr>
              <a:t>(143.75)</a:t>
            </a:r>
            <a:r>
              <a:rPr lang="en-US" altLang="zh-CN" b="0" baseline="-25000">
                <a:latin typeface="Verdana" panose="020B0604030504040204" pitchFamily="34" charset="0"/>
              </a:rPr>
              <a:t>D</a:t>
            </a:r>
            <a:endParaRPr lang="en-US" altLang="zh-CN" b="0" baseline="-25000">
              <a:latin typeface="Verdana" panose="020B0604030504040204" pitchFamily="34" charset="0"/>
            </a:endParaRPr>
          </a:p>
          <a:p>
            <a:pPr>
              <a:spcBef>
                <a:spcPct val="50000"/>
              </a:spcBef>
            </a:pPr>
            <a:r>
              <a:rPr lang="en-US" altLang="zh-CN" b="0">
                <a:latin typeface="Verdana" panose="020B0604030504040204" pitchFamily="34" charset="0"/>
              </a:rPr>
              <a:t>      =1×10</a:t>
            </a:r>
            <a:r>
              <a:rPr lang="en-US" altLang="zh-CN" b="0" baseline="30000">
                <a:latin typeface="Verdana" panose="020B0604030504040204" pitchFamily="34" charset="0"/>
              </a:rPr>
              <a:t>2</a:t>
            </a:r>
            <a:r>
              <a:rPr lang="en-US" altLang="zh-CN" b="0">
                <a:latin typeface="Verdana" panose="020B0604030504040204" pitchFamily="34" charset="0"/>
              </a:rPr>
              <a:t>+4×10</a:t>
            </a:r>
            <a:r>
              <a:rPr lang="en-US" altLang="zh-CN" b="0" baseline="30000">
                <a:latin typeface="Verdana" panose="020B0604030504040204" pitchFamily="34" charset="0"/>
              </a:rPr>
              <a:t>1</a:t>
            </a:r>
            <a:r>
              <a:rPr lang="en-US" altLang="zh-CN" b="0">
                <a:latin typeface="Verdana" panose="020B0604030504040204" pitchFamily="34" charset="0"/>
              </a:rPr>
              <a:t>+3×10</a:t>
            </a:r>
            <a:r>
              <a:rPr lang="en-US" altLang="zh-CN" b="0" baseline="30000">
                <a:latin typeface="Verdana" panose="020B0604030504040204" pitchFamily="34" charset="0"/>
              </a:rPr>
              <a:t>0</a:t>
            </a:r>
            <a:r>
              <a:rPr lang="en-US" altLang="zh-CN" b="0">
                <a:latin typeface="Verdana" panose="020B0604030504040204" pitchFamily="34" charset="0"/>
              </a:rPr>
              <a:t>+7×10</a:t>
            </a:r>
            <a:r>
              <a:rPr lang="en-US" altLang="zh-CN" b="0" baseline="30000">
                <a:latin typeface="Verdana" panose="020B0604030504040204" pitchFamily="34" charset="0"/>
              </a:rPr>
              <a:t>-1</a:t>
            </a:r>
            <a:r>
              <a:rPr lang="en-US" altLang="zh-CN" b="0">
                <a:latin typeface="Verdana" panose="020B0604030504040204" pitchFamily="34" charset="0"/>
              </a:rPr>
              <a:t>+5×10</a:t>
            </a:r>
            <a:r>
              <a:rPr lang="en-US" altLang="zh-CN" b="0" baseline="30000">
                <a:latin typeface="Verdana" panose="020B0604030504040204" pitchFamily="34" charset="0"/>
              </a:rPr>
              <a:t>-2</a:t>
            </a:r>
            <a:endParaRPr lang="en-US" altLang="zh-CN" b="0" baseline="30000">
              <a:latin typeface="Verdana" panose="020B0604030504040204" pitchFamily="34" charset="0"/>
            </a:endParaRPr>
          </a:p>
        </p:txBody>
      </p:sp>
      <p:sp>
        <p:nvSpPr>
          <p:cNvPr id="8199" name="文本框 8198"/>
          <p:cNvSpPr txBox="1"/>
          <p:nvPr/>
        </p:nvSpPr>
        <p:spPr>
          <a:xfrm>
            <a:off x="323850" y="5229225"/>
            <a:ext cx="8351838" cy="1373188"/>
          </a:xfrm>
          <a:prstGeom prst="rect">
            <a:avLst/>
          </a:prstGeom>
          <a:solidFill>
            <a:srgbClr val="CCFFCC"/>
          </a:solidFill>
          <a:ln w="9525">
            <a:noFill/>
          </a:ln>
        </p:spPr>
        <p:txBody>
          <a:bodyPr>
            <a:spAutoFit/>
          </a:bodyPr>
          <a:p>
            <a:pPr>
              <a:spcBef>
                <a:spcPct val="50000"/>
              </a:spcBef>
            </a:pPr>
            <a:r>
              <a:rPr lang="en-US" altLang="zh-CN" b="0" dirty="0">
                <a:latin typeface="Verdana" panose="020B0604030504040204" pitchFamily="34" charset="0"/>
              </a:rPr>
              <a:t>      </a:t>
            </a:r>
            <a:r>
              <a:rPr lang="zh-CN" altLang="en-US" dirty="0">
                <a:latin typeface="Verdana" panose="020B0604030504040204" pitchFamily="34" charset="0"/>
              </a:rPr>
              <a:t>若在数字电路中采用十进制必须要有十个电路状态与十个计数码相对应。将在技术上带来许多困难，很不经济</a:t>
            </a:r>
            <a:r>
              <a:rPr lang="zh-CN" altLang="en-US" sz="2400" dirty="0">
                <a:latin typeface="Verdana" panose="020B0604030504040204" pitchFamily="34" charset="0"/>
              </a:rPr>
              <a:t>。</a:t>
            </a:r>
            <a:endParaRPr lang="zh-CN" altLang="en-US" sz="1800" dirty="0">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6">
                                            <p:txEl>
                                              <p:charRg st="0" end="9"/>
                                            </p:txEl>
                                          </p:spTgt>
                                        </p:tgtEl>
                                        <p:attrNameLst>
                                          <p:attrName>style.visibility</p:attrName>
                                        </p:attrNameLst>
                                      </p:cBhvr>
                                      <p:to>
                                        <p:strVal val="visible"/>
                                      </p:to>
                                    </p:set>
                                    <p:animEffect transition="in" filter="wipe(left)">
                                      <p:cBhvr>
                                        <p:cTn id="7" dur="500"/>
                                        <p:tgtEl>
                                          <p:spTgt spid="8196">
                                            <p:txEl>
                                              <p:charRg st="0"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6">
                                            <p:txEl>
                                              <p:charRg st="9" end="22"/>
                                            </p:txEl>
                                          </p:spTgt>
                                        </p:tgtEl>
                                        <p:attrNameLst>
                                          <p:attrName>style.visibility</p:attrName>
                                        </p:attrNameLst>
                                      </p:cBhvr>
                                      <p:to>
                                        <p:strVal val="visible"/>
                                      </p:to>
                                    </p:set>
                                    <p:animEffect transition="in" filter="wipe(left)">
                                      <p:cBhvr>
                                        <p:cTn id="12" dur="500"/>
                                        <p:tgtEl>
                                          <p:spTgt spid="8196">
                                            <p:txEl>
                                              <p:charRg st="9" end="2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96">
                                            <p:txEl>
                                              <p:charRg st="22" end="42"/>
                                            </p:txEl>
                                          </p:spTgt>
                                        </p:tgtEl>
                                        <p:attrNameLst>
                                          <p:attrName>style.visibility</p:attrName>
                                        </p:attrNameLst>
                                      </p:cBhvr>
                                      <p:to>
                                        <p:strVal val="visible"/>
                                      </p:to>
                                    </p:set>
                                    <p:animEffect transition="in" filter="wipe(left)">
                                      <p:cBhvr>
                                        <p:cTn id="17" dur="500"/>
                                        <p:tgtEl>
                                          <p:spTgt spid="8196">
                                            <p:txEl>
                                              <p:charRg st="22" end="4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196">
                                            <p:txEl>
                                              <p:charRg st="42" end="62"/>
                                            </p:txEl>
                                          </p:spTgt>
                                        </p:tgtEl>
                                        <p:attrNameLst>
                                          <p:attrName>style.visibility</p:attrName>
                                        </p:attrNameLst>
                                      </p:cBhvr>
                                      <p:to>
                                        <p:strVal val="visible"/>
                                      </p:to>
                                    </p:set>
                                    <p:animEffect transition="in" filter="wipe(left)">
                                      <p:cBhvr>
                                        <p:cTn id="22" dur="500"/>
                                        <p:tgtEl>
                                          <p:spTgt spid="8196">
                                            <p:txEl>
                                              <p:charRg st="42" end="6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198"/>
                                        </p:tgtEl>
                                        <p:attrNameLst>
                                          <p:attrName>style.visibility</p:attrName>
                                        </p:attrNameLst>
                                      </p:cBhvr>
                                      <p:to>
                                        <p:strVal val="visible"/>
                                      </p:to>
                                    </p:set>
                                    <p:animEffect transition="in" filter="wipe(left)">
                                      <p:cBhvr>
                                        <p:cTn id="27" dur="500"/>
                                        <p:tgtEl>
                                          <p:spTgt spid="819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8199"/>
                                        </p:tgtEl>
                                        <p:attrNameLst>
                                          <p:attrName>style.visibility</p:attrName>
                                        </p:attrNameLst>
                                      </p:cBhvr>
                                      <p:to>
                                        <p:strVal val="visible"/>
                                      </p:to>
                                    </p:set>
                                    <p:animEffect transition="in" filter="blinds(horizontal)">
                                      <p:cBhvr>
                                        <p:cTn id="32" dur="500"/>
                                        <p:tgtEl>
                                          <p:spTgt spid="8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build="p"/>
      <p:bldP spid="8198" grpId="0"/>
      <p:bldP spid="819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20" name="矩形 9219"/>
          <p:cNvSpPr/>
          <p:nvPr/>
        </p:nvSpPr>
        <p:spPr>
          <a:xfrm>
            <a:off x="395288" y="1341438"/>
            <a:ext cx="8305800" cy="1752600"/>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har char="•"/>
              <a:defRPr sz="32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宋体" panose="02010600030101010101" pitchFamily="2" charset="-122"/>
              </a:defRPr>
            </a:lvl5pPr>
          </a:lstStyle>
          <a:p>
            <a:pPr lvl="0">
              <a:buNone/>
            </a:pPr>
            <a:r>
              <a:rPr lang="zh-CN" altLang="en-US" b="1" dirty="0">
                <a:latin typeface="楷体_GB2312" pitchFamily="49" charset="-122"/>
                <a:ea typeface="楷体_GB2312" pitchFamily="49" charset="-122"/>
              </a:rPr>
              <a:t>数码为：</a:t>
            </a:r>
            <a:r>
              <a:rPr lang="en-US" altLang="zh-CN" b="1">
                <a:latin typeface="楷体_GB2312" pitchFamily="49" charset="-122"/>
                <a:ea typeface="楷体_GB2312" pitchFamily="49" charset="-122"/>
              </a:rPr>
              <a:t>0</a:t>
            </a:r>
            <a:r>
              <a:rPr lang="zh-CN" altLang="en-US" b="1" dirty="0">
                <a:latin typeface="楷体_GB2312" pitchFamily="49" charset="-122"/>
                <a:ea typeface="楷体_GB2312" pitchFamily="49" charset="-122"/>
              </a:rPr>
              <a:t>、</a:t>
            </a:r>
            <a:r>
              <a:rPr lang="en-US" altLang="zh-CN" b="1">
                <a:latin typeface="楷体_GB2312" pitchFamily="49" charset="-122"/>
                <a:ea typeface="楷体_GB2312" pitchFamily="49" charset="-122"/>
              </a:rPr>
              <a:t>1</a:t>
            </a:r>
            <a:r>
              <a:rPr lang="zh-CN" altLang="en-US" b="1" dirty="0">
                <a:latin typeface="楷体_GB2312" pitchFamily="49" charset="-122"/>
                <a:ea typeface="楷体_GB2312" pitchFamily="49" charset="-122"/>
              </a:rPr>
              <a:t>；</a:t>
            </a:r>
            <a:endParaRPr lang="zh-CN" altLang="en-US" b="1" dirty="0">
              <a:latin typeface="楷体_GB2312" pitchFamily="49" charset="-122"/>
              <a:ea typeface="楷体_GB2312" pitchFamily="49" charset="-122"/>
            </a:endParaRPr>
          </a:p>
          <a:p>
            <a:pPr lvl="0">
              <a:buNone/>
            </a:pPr>
            <a:r>
              <a:rPr lang="zh-CN" altLang="en-US" b="1" dirty="0">
                <a:latin typeface="楷体_GB2312" pitchFamily="49" charset="-122"/>
                <a:ea typeface="楷体_GB2312" pitchFamily="49" charset="-122"/>
              </a:rPr>
              <a:t>基数是</a:t>
            </a:r>
            <a:r>
              <a:rPr lang="en-US" altLang="zh-CN" b="1">
                <a:latin typeface="楷体_GB2312" pitchFamily="49" charset="-122"/>
                <a:ea typeface="楷体_GB2312" pitchFamily="49" charset="-122"/>
              </a:rPr>
              <a:t>2</a:t>
            </a:r>
            <a:r>
              <a:rPr lang="zh-CN" altLang="en-US" b="1" dirty="0">
                <a:latin typeface="楷体_GB2312" pitchFamily="49" charset="-122"/>
                <a:ea typeface="楷体_GB2312" pitchFamily="49" charset="-122"/>
              </a:rPr>
              <a:t>。用字母</a:t>
            </a:r>
            <a:r>
              <a:rPr lang="en-US" altLang="zh-CN" b="1">
                <a:solidFill>
                  <a:srgbClr val="0000FF"/>
                </a:solidFill>
                <a:latin typeface="楷体_GB2312" pitchFamily="49" charset="-122"/>
                <a:ea typeface="楷体_GB2312" pitchFamily="49" charset="-122"/>
              </a:rPr>
              <a:t>B</a:t>
            </a:r>
            <a:r>
              <a:rPr lang="zh-CN" altLang="en-US" b="1" dirty="0">
                <a:latin typeface="楷体_GB2312" pitchFamily="49" charset="-122"/>
                <a:ea typeface="楷体_GB2312" pitchFamily="49" charset="-122"/>
              </a:rPr>
              <a:t>表示</a:t>
            </a:r>
            <a:endParaRPr lang="zh-CN" altLang="en-US" b="1" dirty="0">
              <a:latin typeface="楷体_GB2312" pitchFamily="49" charset="-122"/>
              <a:ea typeface="楷体_GB2312" pitchFamily="49" charset="-122"/>
            </a:endParaRPr>
          </a:p>
          <a:p>
            <a:pPr lvl="0">
              <a:buNone/>
            </a:pPr>
            <a:r>
              <a:rPr lang="zh-CN" altLang="en-US" b="1" dirty="0">
                <a:latin typeface="楷体_GB2312" pitchFamily="49" charset="-122"/>
                <a:ea typeface="楷体_GB2312" pitchFamily="49" charset="-122"/>
              </a:rPr>
              <a:t>运算规律：逢二进一，即：</a:t>
            </a:r>
            <a:r>
              <a:rPr lang="en-US" altLang="zh-CN" b="1">
                <a:latin typeface="楷体_GB2312" pitchFamily="49" charset="-122"/>
                <a:ea typeface="楷体_GB2312" pitchFamily="49" charset="-122"/>
              </a:rPr>
              <a:t>1</a:t>
            </a:r>
            <a:r>
              <a:rPr lang="zh-CN" altLang="en-US" b="1" dirty="0">
                <a:latin typeface="楷体_GB2312" pitchFamily="49" charset="-122"/>
                <a:ea typeface="楷体_GB2312" pitchFamily="49" charset="-122"/>
              </a:rPr>
              <a:t>＋</a:t>
            </a:r>
            <a:r>
              <a:rPr lang="en-US" altLang="zh-CN" b="1">
                <a:latin typeface="楷体_GB2312" pitchFamily="49" charset="-122"/>
                <a:ea typeface="楷体_GB2312" pitchFamily="49" charset="-122"/>
              </a:rPr>
              <a:t>1</a:t>
            </a:r>
            <a:r>
              <a:rPr lang="zh-CN" altLang="en-US" b="1" dirty="0">
                <a:latin typeface="楷体_GB2312" pitchFamily="49" charset="-122"/>
                <a:ea typeface="楷体_GB2312" pitchFamily="49" charset="-122"/>
              </a:rPr>
              <a:t>＝</a:t>
            </a:r>
            <a:r>
              <a:rPr lang="en-US" altLang="zh-CN" b="1">
                <a:latin typeface="楷体_GB2312" pitchFamily="49" charset="-122"/>
                <a:ea typeface="楷体_GB2312" pitchFamily="49" charset="-122"/>
              </a:rPr>
              <a:t>10</a:t>
            </a:r>
            <a:r>
              <a:rPr lang="zh-CN" altLang="en-US" b="1" dirty="0">
                <a:latin typeface="楷体_GB2312" pitchFamily="49" charset="-122"/>
                <a:ea typeface="楷体_GB2312" pitchFamily="49" charset="-122"/>
              </a:rPr>
              <a:t>。</a:t>
            </a:r>
            <a:endParaRPr lang="zh-CN" altLang="en-US" b="1" dirty="0">
              <a:latin typeface="楷体_GB2312" pitchFamily="49" charset="-122"/>
              <a:ea typeface="楷体_GB2312" pitchFamily="49" charset="-122"/>
            </a:endParaRPr>
          </a:p>
        </p:txBody>
      </p:sp>
      <p:sp>
        <p:nvSpPr>
          <p:cNvPr id="9221" name="圆角矩形 9220"/>
          <p:cNvSpPr/>
          <p:nvPr/>
        </p:nvSpPr>
        <p:spPr>
          <a:xfrm>
            <a:off x="539750" y="404813"/>
            <a:ext cx="2519363" cy="576262"/>
          </a:xfrm>
          <a:prstGeom prst="roundRect">
            <a:avLst>
              <a:gd name="adj" fmla="val 16667"/>
            </a:avLst>
          </a:prstGeom>
          <a:solidFill>
            <a:srgbClr val="00FF00"/>
          </a:solidFill>
          <a:ln w="9525" cap="flat" cmpd="sng">
            <a:solidFill>
              <a:srgbClr val="FF7C80"/>
            </a:solidFill>
            <a:prstDash val="solid"/>
            <a:headEnd type="none" w="med" len="med"/>
            <a:tailEnd type="none" w="med" len="med"/>
          </a:ln>
        </p:spPr>
        <p:txBody>
          <a:bodyPr wrap="none" lIns="0" anchor="ctr" anchorCtr="0"/>
          <a:p>
            <a:pPr algn="ctr"/>
            <a:r>
              <a:rPr lang="zh-CN" altLang="en-US" sz="3200" b="0" dirty="0">
                <a:solidFill>
                  <a:srgbClr val="000000"/>
                </a:solidFill>
                <a:latin typeface="Verdana" panose="020B0604030504040204" pitchFamily="34" charset="0"/>
              </a:rPr>
              <a:t>二、二进制</a:t>
            </a:r>
            <a:endParaRPr lang="zh-CN" altLang="en-US" sz="3200" b="0" dirty="0">
              <a:solidFill>
                <a:srgbClr val="000000"/>
              </a:solidFill>
              <a:latin typeface="Verdana" panose="020B0604030504040204" pitchFamily="34" charset="0"/>
            </a:endParaRPr>
          </a:p>
        </p:txBody>
      </p:sp>
      <p:sp>
        <p:nvSpPr>
          <p:cNvPr id="9222" name="文本框 9221"/>
          <p:cNvSpPr txBox="1"/>
          <p:nvPr/>
        </p:nvSpPr>
        <p:spPr>
          <a:xfrm>
            <a:off x="381000" y="3200400"/>
            <a:ext cx="8001000" cy="579438"/>
          </a:xfrm>
          <a:prstGeom prst="rect">
            <a:avLst/>
          </a:prstGeom>
          <a:noFill/>
          <a:ln w="9525">
            <a:noFill/>
          </a:ln>
        </p:spPr>
        <p:txBody>
          <a:bodyPr>
            <a:spAutoFit/>
          </a:bodyPr>
          <a:p>
            <a:pPr>
              <a:spcBef>
                <a:spcPct val="50000"/>
              </a:spcBef>
            </a:pPr>
            <a:r>
              <a:rPr lang="zh-CN" altLang="en-US" sz="3200" dirty="0">
                <a:latin typeface="楷体_GB2312" pitchFamily="49" charset="-122"/>
                <a:ea typeface="楷体_GB2312" pitchFamily="49" charset="-122"/>
              </a:rPr>
              <a:t>二进制数的权展开式：</a:t>
            </a:r>
            <a:r>
              <a:rPr lang="en-US" altLang="zh-CN" b="0">
                <a:effectLst>
                  <a:outerShdw blurRad="38100" dist="38100" dir="2700000">
                    <a:srgbClr val="FFFFFF"/>
                  </a:outerShdw>
                </a:effectLst>
                <a:latin typeface="Times New Roman" panose="02020603050405020304" pitchFamily="18" charset="0"/>
              </a:rPr>
              <a:t>D</a:t>
            </a:r>
            <a:r>
              <a:rPr lang="zh-CN" altLang="en-US" b="0" dirty="0">
                <a:effectLst>
                  <a:outerShdw blurRad="38100" dist="38100" dir="2700000">
                    <a:srgbClr val="FFFFFF"/>
                  </a:outerShdw>
                </a:effectLst>
                <a:latin typeface="Times New Roman" panose="02020603050405020304" pitchFamily="18" charset="0"/>
              </a:rPr>
              <a:t>＝</a:t>
            </a:r>
            <a:r>
              <a:rPr lang="en-US" altLang="zh-CN" b="0" dirty="0">
                <a:effectLst>
                  <a:outerShdw blurRad="38100" dist="38100" dir="2700000">
                    <a:srgbClr val="FFFFFF"/>
                  </a:outerShdw>
                </a:effectLst>
                <a:latin typeface="Times New Roman" panose="02020603050405020304" pitchFamily="18" charset="0"/>
              </a:rPr>
              <a:t>∑</a:t>
            </a:r>
            <a:r>
              <a:rPr lang="en-US" altLang="zh-CN" b="0" i="1">
                <a:effectLst>
                  <a:outerShdw blurRad="38100" dist="38100" dir="2700000">
                    <a:srgbClr val="FFFFFF"/>
                  </a:outerShdw>
                </a:effectLst>
                <a:latin typeface="Times New Roman" panose="02020603050405020304" pitchFamily="18" charset="0"/>
              </a:rPr>
              <a:t>k</a:t>
            </a:r>
            <a:r>
              <a:rPr lang="en-US" altLang="zh-CN" b="0" i="1" baseline="-25000">
                <a:effectLst>
                  <a:outerShdw blurRad="38100" dist="38100" dir="2700000">
                    <a:srgbClr val="FFFFFF"/>
                  </a:outerShdw>
                </a:effectLst>
                <a:latin typeface="Times New Roman" panose="02020603050405020304" pitchFamily="18" charset="0"/>
              </a:rPr>
              <a:t>i</a:t>
            </a:r>
            <a:r>
              <a:rPr lang="en-US" altLang="zh-CN" b="0">
                <a:effectLst>
                  <a:outerShdw blurRad="38100" dist="38100" dir="2700000">
                    <a:srgbClr val="FFFFFF"/>
                  </a:outerShdw>
                </a:effectLst>
                <a:latin typeface="Times New Roman" panose="02020603050405020304" pitchFamily="18" charset="0"/>
              </a:rPr>
              <a:t>×2</a:t>
            </a:r>
            <a:r>
              <a:rPr lang="en-US" altLang="zh-CN" b="0" i="1" baseline="30000">
                <a:effectLst>
                  <a:outerShdw blurRad="38100" dist="38100" dir="2700000">
                    <a:srgbClr val="FFFFFF"/>
                  </a:outerShdw>
                </a:effectLst>
                <a:latin typeface="Times New Roman" panose="02020603050405020304" pitchFamily="18" charset="0"/>
              </a:rPr>
              <a:t>i</a:t>
            </a:r>
            <a:endParaRPr lang="en-US" altLang="zh-CN" b="0" i="1" baseline="30000">
              <a:effectLst>
                <a:outerShdw blurRad="38100" dist="38100" dir="2700000">
                  <a:srgbClr val="FFFFFF"/>
                </a:outerShdw>
              </a:effectLst>
              <a:latin typeface="Times New Roman" panose="02020603050405020304" pitchFamily="18" charset="0"/>
            </a:endParaRPr>
          </a:p>
        </p:txBody>
      </p:sp>
      <p:sp>
        <p:nvSpPr>
          <p:cNvPr id="9223" name="文本框 9222"/>
          <p:cNvSpPr txBox="1"/>
          <p:nvPr/>
        </p:nvSpPr>
        <p:spPr>
          <a:xfrm>
            <a:off x="271463" y="4038600"/>
            <a:ext cx="8567737" cy="1031875"/>
          </a:xfrm>
          <a:prstGeom prst="rect">
            <a:avLst/>
          </a:prstGeom>
          <a:noFill/>
          <a:ln w="9525">
            <a:noFill/>
          </a:ln>
        </p:spPr>
        <p:txBody>
          <a:bodyPr>
            <a:spAutoFit/>
          </a:bodyPr>
          <a:p>
            <a:pPr>
              <a:spcBef>
                <a:spcPct val="20000"/>
              </a:spcBef>
            </a:pPr>
            <a:r>
              <a:rPr lang="en-US" altLang="zh-CN">
                <a:latin typeface="华文楷体" panose="02010600040101010101" pitchFamily="2" charset="-122"/>
                <a:ea typeface="华文楷体" panose="02010600040101010101" pitchFamily="2" charset="-122"/>
              </a:rPr>
              <a:t>(101.11)</a:t>
            </a:r>
            <a:r>
              <a:rPr lang="en-US" altLang="zh-CN" baseline="-25000">
                <a:latin typeface="华文楷体" panose="02010600040101010101" pitchFamily="2" charset="-122"/>
                <a:ea typeface="华文楷体" panose="02010600040101010101" pitchFamily="2" charset="-122"/>
              </a:rPr>
              <a:t>B</a:t>
            </a:r>
            <a:r>
              <a:rPr lang="zh-CN" altLang="en-US" dirty="0">
                <a:latin typeface="华文楷体" panose="02010600040101010101" pitchFamily="2" charset="-122"/>
                <a:ea typeface="华文楷体" panose="02010600040101010101" pitchFamily="2" charset="-122"/>
              </a:rPr>
              <a:t>＝ </a:t>
            </a:r>
            <a:r>
              <a:rPr lang="en-US" altLang="zh-CN">
                <a:latin typeface="华文楷体" panose="02010600040101010101" pitchFamily="2" charset="-122"/>
                <a:ea typeface="华文楷体" panose="02010600040101010101" pitchFamily="2" charset="-122"/>
              </a:rPr>
              <a:t>1×2</a:t>
            </a:r>
            <a:r>
              <a:rPr lang="en-US" altLang="zh-CN" baseline="30000">
                <a:latin typeface="华文楷体" panose="02010600040101010101" pitchFamily="2" charset="-122"/>
                <a:ea typeface="华文楷体" panose="02010600040101010101" pitchFamily="2" charset="-122"/>
              </a:rPr>
              <a:t>2</a:t>
            </a:r>
            <a:r>
              <a:rPr lang="en-US" altLang="zh-CN">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a:t>
            </a:r>
            <a:r>
              <a:rPr lang="en-US" altLang="zh-CN">
                <a:latin typeface="华文楷体" panose="02010600040101010101" pitchFamily="2" charset="-122"/>
                <a:ea typeface="华文楷体" panose="02010600040101010101" pitchFamily="2" charset="-122"/>
              </a:rPr>
              <a:t>0×2</a:t>
            </a:r>
            <a:r>
              <a:rPr lang="en-US" altLang="zh-CN" baseline="30000">
                <a:latin typeface="华文楷体" panose="02010600040101010101" pitchFamily="2" charset="-122"/>
                <a:ea typeface="华文楷体" panose="02010600040101010101" pitchFamily="2" charset="-122"/>
              </a:rPr>
              <a:t>1</a:t>
            </a:r>
            <a:r>
              <a:rPr lang="zh-CN" altLang="en-US" dirty="0">
                <a:latin typeface="华文楷体" panose="02010600040101010101" pitchFamily="2" charset="-122"/>
                <a:ea typeface="华文楷体" panose="02010600040101010101" pitchFamily="2" charset="-122"/>
              </a:rPr>
              <a:t>＋</a:t>
            </a:r>
            <a:r>
              <a:rPr lang="en-US" altLang="zh-CN">
                <a:latin typeface="华文楷体" panose="02010600040101010101" pitchFamily="2" charset="-122"/>
                <a:ea typeface="华文楷体" panose="02010600040101010101" pitchFamily="2" charset="-122"/>
              </a:rPr>
              <a:t>1×2</a:t>
            </a:r>
            <a:r>
              <a:rPr lang="en-US" altLang="zh-CN" baseline="30000">
                <a:latin typeface="华文楷体" panose="02010600040101010101" pitchFamily="2" charset="-122"/>
                <a:ea typeface="华文楷体" panose="02010600040101010101" pitchFamily="2" charset="-122"/>
              </a:rPr>
              <a:t>0</a:t>
            </a:r>
            <a:r>
              <a:rPr lang="zh-CN" altLang="en-US" dirty="0">
                <a:latin typeface="华文楷体" panose="02010600040101010101" pitchFamily="2" charset="-122"/>
                <a:ea typeface="华文楷体" panose="02010600040101010101" pitchFamily="2" charset="-122"/>
              </a:rPr>
              <a:t>＋</a:t>
            </a:r>
            <a:r>
              <a:rPr lang="en-US" altLang="zh-CN">
                <a:latin typeface="华文楷体" panose="02010600040101010101" pitchFamily="2" charset="-122"/>
                <a:ea typeface="华文楷体" panose="02010600040101010101" pitchFamily="2" charset="-122"/>
              </a:rPr>
              <a:t>1×2</a:t>
            </a:r>
            <a:r>
              <a:rPr lang="zh-CN" altLang="en-US" baseline="30000" dirty="0">
                <a:latin typeface="华文楷体" panose="02010600040101010101" pitchFamily="2" charset="-122"/>
                <a:ea typeface="华文楷体" panose="02010600040101010101" pitchFamily="2" charset="-122"/>
              </a:rPr>
              <a:t>－</a:t>
            </a:r>
            <a:r>
              <a:rPr lang="en-US" altLang="zh-CN" baseline="30000">
                <a:latin typeface="华文楷体" panose="02010600040101010101" pitchFamily="2" charset="-122"/>
                <a:ea typeface="华文楷体" panose="02010600040101010101" pitchFamily="2" charset="-122"/>
              </a:rPr>
              <a:t>1</a:t>
            </a:r>
            <a:r>
              <a:rPr lang="zh-CN" altLang="en-US" dirty="0">
                <a:latin typeface="华文楷体" panose="02010600040101010101" pitchFamily="2" charset="-122"/>
                <a:ea typeface="华文楷体" panose="02010600040101010101" pitchFamily="2" charset="-122"/>
              </a:rPr>
              <a:t>＋</a:t>
            </a:r>
            <a:r>
              <a:rPr lang="en-US" altLang="zh-CN">
                <a:latin typeface="华文楷体" panose="02010600040101010101" pitchFamily="2" charset="-122"/>
                <a:ea typeface="华文楷体" panose="02010600040101010101" pitchFamily="2" charset="-122"/>
              </a:rPr>
              <a:t>1×2</a:t>
            </a:r>
            <a:r>
              <a:rPr lang="zh-CN" altLang="en-US" baseline="30000" dirty="0">
                <a:latin typeface="华文楷体" panose="02010600040101010101" pitchFamily="2" charset="-122"/>
                <a:ea typeface="华文楷体" panose="02010600040101010101" pitchFamily="2" charset="-122"/>
              </a:rPr>
              <a:t>－</a:t>
            </a:r>
            <a:r>
              <a:rPr lang="en-US" altLang="zh-CN" baseline="30000">
                <a:latin typeface="华文楷体" panose="02010600040101010101" pitchFamily="2" charset="-122"/>
                <a:ea typeface="华文楷体" panose="02010600040101010101" pitchFamily="2" charset="-122"/>
              </a:rPr>
              <a:t>2 </a:t>
            </a:r>
            <a:r>
              <a:rPr lang="zh-CN" altLang="en-US" baseline="30000" dirty="0">
                <a:latin typeface="华文楷体" panose="02010600040101010101" pitchFamily="2" charset="-122"/>
                <a:ea typeface="华文楷体" panose="02010600040101010101" pitchFamily="2" charset="-122"/>
              </a:rPr>
              <a:t>　</a:t>
            </a:r>
            <a:endParaRPr lang="zh-CN" altLang="en-US" baseline="30000" dirty="0">
              <a:latin typeface="华文楷体" panose="02010600040101010101" pitchFamily="2" charset="-122"/>
              <a:ea typeface="华文楷体" panose="02010600040101010101" pitchFamily="2" charset="-122"/>
            </a:endParaRPr>
          </a:p>
          <a:p>
            <a:pPr>
              <a:spcBef>
                <a:spcPct val="20000"/>
              </a:spcBef>
            </a:pPr>
            <a:r>
              <a:rPr lang="zh-CN" altLang="en-US" baseline="30000"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a:t>
            </a:r>
            <a:r>
              <a:rPr lang="en-US" altLang="zh-CN">
                <a:latin typeface="华文楷体" panose="02010600040101010101" pitchFamily="2" charset="-122"/>
                <a:ea typeface="华文楷体" panose="02010600040101010101" pitchFamily="2" charset="-122"/>
              </a:rPr>
              <a:t>(5.75)</a:t>
            </a:r>
            <a:r>
              <a:rPr lang="en-US" altLang="zh-CN" baseline="-25000">
                <a:latin typeface="华文楷体" panose="02010600040101010101" pitchFamily="2" charset="-122"/>
                <a:ea typeface="华文楷体" panose="02010600040101010101" pitchFamily="2" charset="-122"/>
              </a:rPr>
              <a:t>D</a:t>
            </a:r>
            <a:endParaRPr lang="en-US" altLang="zh-CN" b="0">
              <a:latin typeface="华文楷体" panose="02010600040101010101" pitchFamily="2" charset="-122"/>
              <a:ea typeface="华文楷体" panose="02010600040101010101" pitchFamily="2" charset="-122"/>
            </a:endParaRPr>
          </a:p>
        </p:txBody>
      </p:sp>
      <p:sp>
        <p:nvSpPr>
          <p:cNvPr id="9224" name="文本框 9223"/>
          <p:cNvSpPr txBox="1"/>
          <p:nvPr/>
        </p:nvSpPr>
        <p:spPr>
          <a:xfrm>
            <a:off x="2700338" y="5229225"/>
            <a:ext cx="5867400" cy="531813"/>
          </a:xfrm>
          <a:prstGeom prst="rect">
            <a:avLst/>
          </a:prstGeom>
          <a:noFill/>
          <a:ln w="12700" cap="flat" cmpd="sng">
            <a:solidFill>
              <a:srgbClr val="339933"/>
            </a:solidFill>
            <a:prstDash val="solid"/>
            <a:miter/>
            <a:headEnd type="none" w="sm" len="sm"/>
            <a:tailEnd type="none" w="sm" len="sm"/>
          </a:ln>
        </p:spPr>
        <p:txBody>
          <a:bodyPr>
            <a:spAutoFit/>
          </a:bodyPr>
          <a:p>
            <a:pPr marL="342900" indent="-342900" algn="ctr" eaLnBrk="0" hangingPunct="0">
              <a:spcBef>
                <a:spcPct val="50000"/>
              </a:spcBef>
            </a:pPr>
            <a:r>
              <a:rPr lang="zh-CN" altLang="en-US" dirty="0">
                <a:latin typeface="Times New Roman" panose="02020603050405020304" pitchFamily="18" charset="0"/>
                <a:ea typeface="华文楷体" panose="02010600040101010101" pitchFamily="2" charset="-122"/>
              </a:rPr>
              <a:t>各数位的权是２的幂</a:t>
            </a:r>
            <a:endParaRPr lang="zh-CN" altLang="en-US" dirty="0">
              <a:latin typeface="Times New Roman" panose="02020603050405020304" pitchFamily="18" charset="0"/>
              <a:ea typeface="华文楷体" panose="02010600040101010101" pitchFamily="2" charset="-122"/>
            </a:endParaRPr>
          </a:p>
        </p:txBody>
      </p:sp>
      <p:sp>
        <p:nvSpPr>
          <p:cNvPr id="9225" name="直接连接符 9224"/>
          <p:cNvSpPr/>
          <p:nvPr/>
        </p:nvSpPr>
        <p:spPr>
          <a:xfrm flipV="1">
            <a:off x="3059113" y="4508500"/>
            <a:ext cx="0" cy="762000"/>
          </a:xfrm>
          <a:prstGeom prst="line">
            <a:avLst/>
          </a:prstGeom>
          <a:ln w="57150" cap="flat" cmpd="sng">
            <a:solidFill>
              <a:srgbClr val="FF3300"/>
            </a:solidFill>
            <a:prstDash val="solid"/>
            <a:headEnd type="none" w="sm" len="sm"/>
            <a:tailEnd type="triangle" w="med" len="med"/>
          </a:ln>
        </p:spPr>
      </p:sp>
      <p:sp>
        <p:nvSpPr>
          <p:cNvPr id="9226" name="直接连接符 9225"/>
          <p:cNvSpPr/>
          <p:nvPr/>
        </p:nvSpPr>
        <p:spPr>
          <a:xfrm flipV="1">
            <a:off x="4427538" y="4508500"/>
            <a:ext cx="0" cy="762000"/>
          </a:xfrm>
          <a:prstGeom prst="line">
            <a:avLst/>
          </a:prstGeom>
          <a:ln w="57150" cap="flat" cmpd="sng">
            <a:solidFill>
              <a:srgbClr val="FF3300"/>
            </a:solidFill>
            <a:prstDash val="solid"/>
            <a:headEnd type="none" w="sm" len="sm"/>
            <a:tailEnd type="triangle" w="med" len="med"/>
          </a:ln>
        </p:spPr>
      </p:sp>
      <p:sp>
        <p:nvSpPr>
          <p:cNvPr id="9227" name="直接连接符 9226"/>
          <p:cNvSpPr/>
          <p:nvPr/>
        </p:nvSpPr>
        <p:spPr>
          <a:xfrm flipV="1">
            <a:off x="5580063" y="4508500"/>
            <a:ext cx="0" cy="762000"/>
          </a:xfrm>
          <a:prstGeom prst="line">
            <a:avLst/>
          </a:prstGeom>
          <a:ln w="57150" cap="flat" cmpd="sng">
            <a:solidFill>
              <a:srgbClr val="FF3300"/>
            </a:solidFill>
            <a:prstDash val="solid"/>
            <a:headEnd type="none" w="sm" len="sm"/>
            <a:tailEnd type="triangle" w="med" len="med"/>
          </a:ln>
        </p:spPr>
      </p:sp>
      <p:sp>
        <p:nvSpPr>
          <p:cNvPr id="9228" name="直接连接符 9227"/>
          <p:cNvSpPr/>
          <p:nvPr/>
        </p:nvSpPr>
        <p:spPr>
          <a:xfrm flipV="1">
            <a:off x="6804025" y="4508500"/>
            <a:ext cx="0" cy="762000"/>
          </a:xfrm>
          <a:prstGeom prst="line">
            <a:avLst/>
          </a:prstGeom>
          <a:ln w="57150" cap="flat" cmpd="sng">
            <a:solidFill>
              <a:srgbClr val="FF3300"/>
            </a:solidFill>
            <a:prstDash val="solid"/>
            <a:headEnd type="none" w="sm" len="sm"/>
            <a:tailEnd type="triangle" w="med" len="med"/>
          </a:ln>
        </p:spPr>
      </p:sp>
      <p:sp>
        <p:nvSpPr>
          <p:cNvPr id="9229" name="直接连接符 9228"/>
          <p:cNvSpPr/>
          <p:nvPr/>
        </p:nvSpPr>
        <p:spPr>
          <a:xfrm flipV="1">
            <a:off x="8172450" y="4437063"/>
            <a:ext cx="0" cy="762000"/>
          </a:xfrm>
          <a:prstGeom prst="line">
            <a:avLst/>
          </a:prstGeom>
          <a:ln w="57150" cap="flat" cmpd="sng">
            <a:solidFill>
              <a:srgbClr val="FF3300"/>
            </a:solidFill>
            <a:prstDash val="solid"/>
            <a:headEnd type="none" w="sm" len="sm"/>
            <a:tailEnd type="triangl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20">
                                            <p:txEl>
                                              <p:charRg st="0" end="9"/>
                                            </p:txEl>
                                          </p:spTgt>
                                        </p:tgtEl>
                                        <p:attrNameLst>
                                          <p:attrName>style.visibility</p:attrName>
                                        </p:attrNameLst>
                                      </p:cBhvr>
                                      <p:to>
                                        <p:strVal val="visible"/>
                                      </p:to>
                                    </p:set>
                                    <p:animEffect transition="in" filter="wipe(left)">
                                      <p:cBhvr>
                                        <p:cTn id="7" dur="500"/>
                                        <p:tgtEl>
                                          <p:spTgt spid="9220">
                                            <p:txEl>
                                              <p:charRg st="0"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20">
                                            <p:txEl>
                                              <p:charRg st="9" end="21"/>
                                            </p:txEl>
                                          </p:spTgt>
                                        </p:tgtEl>
                                        <p:attrNameLst>
                                          <p:attrName>style.visibility</p:attrName>
                                        </p:attrNameLst>
                                      </p:cBhvr>
                                      <p:to>
                                        <p:strVal val="visible"/>
                                      </p:to>
                                    </p:set>
                                    <p:animEffect transition="in" filter="wipe(left)">
                                      <p:cBhvr>
                                        <p:cTn id="12" dur="500"/>
                                        <p:tgtEl>
                                          <p:spTgt spid="9220">
                                            <p:txEl>
                                              <p:charRg st="9" end="2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220">
                                            <p:txEl>
                                              <p:charRg st="21" end="41"/>
                                            </p:txEl>
                                          </p:spTgt>
                                        </p:tgtEl>
                                        <p:attrNameLst>
                                          <p:attrName>style.visibility</p:attrName>
                                        </p:attrNameLst>
                                      </p:cBhvr>
                                      <p:to>
                                        <p:strVal val="visible"/>
                                      </p:to>
                                    </p:set>
                                    <p:animEffect transition="in" filter="wipe(left)">
                                      <p:cBhvr>
                                        <p:cTn id="17" dur="500"/>
                                        <p:tgtEl>
                                          <p:spTgt spid="9220">
                                            <p:txEl>
                                              <p:charRg st="21" end="4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222"/>
                                        </p:tgtEl>
                                        <p:attrNameLst>
                                          <p:attrName>style.visibility</p:attrName>
                                        </p:attrNameLst>
                                      </p:cBhvr>
                                      <p:to>
                                        <p:strVal val="visible"/>
                                      </p:to>
                                    </p:set>
                                    <p:animEffect transition="in" filter="wipe(left)">
                                      <p:cBhvr>
                                        <p:cTn id="22" dur="500"/>
                                        <p:tgtEl>
                                          <p:spTgt spid="922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223"/>
                                        </p:tgtEl>
                                        <p:attrNameLst>
                                          <p:attrName>style.visibility</p:attrName>
                                        </p:attrNameLst>
                                      </p:cBhvr>
                                      <p:to>
                                        <p:strVal val="visible"/>
                                      </p:to>
                                    </p:set>
                                    <p:animEffect transition="in" filter="wipe(left)">
                                      <p:cBhvr>
                                        <p:cTn id="27" dur="500"/>
                                        <p:tgtEl>
                                          <p:spTgt spid="9223"/>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9224"/>
                                        </p:tgtEl>
                                        <p:attrNameLst>
                                          <p:attrName>style.visibility</p:attrName>
                                        </p:attrNameLst>
                                      </p:cBhvr>
                                      <p:to>
                                        <p:strVal val="visible"/>
                                      </p:to>
                                    </p:set>
                                    <p:animEffect transition="in" filter="wipe(left)">
                                      <p:cBhvr>
                                        <p:cTn id="31" dur="500"/>
                                        <p:tgtEl>
                                          <p:spTgt spid="9224"/>
                                        </p:tgtEl>
                                      </p:cBhvr>
                                    </p:animEffect>
                                  </p:childTnLst>
                                </p:cTn>
                              </p:par>
                              <p:par>
                                <p:cTn id="32" presetID="12" presetClass="entr" presetSubtype="4" fill="hold" nodeType="withEffect">
                                  <p:stCondLst>
                                    <p:cond delay="0"/>
                                  </p:stCondLst>
                                  <p:childTnLst>
                                    <p:set>
                                      <p:cBhvr>
                                        <p:cTn id="33" dur="1" fill="hold">
                                          <p:stCondLst>
                                            <p:cond delay="0"/>
                                          </p:stCondLst>
                                        </p:cTn>
                                        <p:tgtEl>
                                          <p:spTgt spid="9225"/>
                                        </p:tgtEl>
                                        <p:attrNameLst>
                                          <p:attrName>style.visibility</p:attrName>
                                        </p:attrNameLst>
                                      </p:cBhvr>
                                      <p:to>
                                        <p:strVal val="visible"/>
                                      </p:to>
                                    </p:set>
                                    <p:animEffect transition="in" filter="slide(fromBottom)">
                                      <p:cBhvr>
                                        <p:cTn id="34" dur="500"/>
                                        <p:tgtEl>
                                          <p:spTgt spid="9225"/>
                                        </p:tgtEl>
                                      </p:cBhvr>
                                    </p:animEffect>
                                  </p:childTnLst>
                                </p:cTn>
                              </p:par>
                            </p:childTnLst>
                          </p:cTn>
                        </p:par>
                        <p:par>
                          <p:cTn id="35" fill="hold">
                            <p:stCondLst>
                              <p:cond delay="1000"/>
                            </p:stCondLst>
                            <p:childTnLst>
                              <p:par>
                                <p:cTn id="36" presetID="12" presetClass="entr" presetSubtype="4" fill="hold" nodeType="afterEffect">
                                  <p:stCondLst>
                                    <p:cond delay="0"/>
                                  </p:stCondLst>
                                  <p:childTnLst>
                                    <p:set>
                                      <p:cBhvr>
                                        <p:cTn id="37" dur="1" fill="hold">
                                          <p:stCondLst>
                                            <p:cond delay="0"/>
                                          </p:stCondLst>
                                        </p:cTn>
                                        <p:tgtEl>
                                          <p:spTgt spid="9226"/>
                                        </p:tgtEl>
                                        <p:attrNameLst>
                                          <p:attrName>style.visibility</p:attrName>
                                        </p:attrNameLst>
                                      </p:cBhvr>
                                      <p:to>
                                        <p:strVal val="visible"/>
                                      </p:to>
                                    </p:set>
                                    <p:animEffect transition="in" filter="slide(fromBottom)">
                                      <p:cBhvr>
                                        <p:cTn id="38" dur="500"/>
                                        <p:tgtEl>
                                          <p:spTgt spid="9226"/>
                                        </p:tgtEl>
                                      </p:cBhvr>
                                    </p:animEffect>
                                  </p:childTnLst>
                                </p:cTn>
                              </p:par>
                            </p:childTnLst>
                          </p:cTn>
                        </p:par>
                        <p:par>
                          <p:cTn id="39" fill="hold">
                            <p:stCondLst>
                              <p:cond delay="1500"/>
                            </p:stCondLst>
                            <p:childTnLst>
                              <p:par>
                                <p:cTn id="40" presetID="12" presetClass="entr" presetSubtype="4" fill="hold" nodeType="afterEffect">
                                  <p:stCondLst>
                                    <p:cond delay="0"/>
                                  </p:stCondLst>
                                  <p:childTnLst>
                                    <p:set>
                                      <p:cBhvr>
                                        <p:cTn id="41" dur="1" fill="hold">
                                          <p:stCondLst>
                                            <p:cond delay="0"/>
                                          </p:stCondLst>
                                        </p:cTn>
                                        <p:tgtEl>
                                          <p:spTgt spid="9227"/>
                                        </p:tgtEl>
                                        <p:attrNameLst>
                                          <p:attrName>style.visibility</p:attrName>
                                        </p:attrNameLst>
                                      </p:cBhvr>
                                      <p:to>
                                        <p:strVal val="visible"/>
                                      </p:to>
                                    </p:set>
                                    <p:animEffect transition="in" filter="slide(fromBottom)">
                                      <p:cBhvr>
                                        <p:cTn id="42" dur="500"/>
                                        <p:tgtEl>
                                          <p:spTgt spid="9227"/>
                                        </p:tgtEl>
                                      </p:cBhvr>
                                    </p:animEffect>
                                  </p:childTnLst>
                                </p:cTn>
                              </p:par>
                            </p:childTnLst>
                          </p:cTn>
                        </p:par>
                        <p:par>
                          <p:cTn id="43" fill="hold">
                            <p:stCondLst>
                              <p:cond delay="2000"/>
                            </p:stCondLst>
                            <p:childTnLst>
                              <p:par>
                                <p:cTn id="44" presetID="12" presetClass="entr" presetSubtype="4" fill="hold" nodeType="afterEffect">
                                  <p:stCondLst>
                                    <p:cond delay="0"/>
                                  </p:stCondLst>
                                  <p:childTnLst>
                                    <p:set>
                                      <p:cBhvr>
                                        <p:cTn id="45" dur="1" fill="hold">
                                          <p:stCondLst>
                                            <p:cond delay="0"/>
                                          </p:stCondLst>
                                        </p:cTn>
                                        <p:tgtEl>
                                          <p:spTgt spid="9228"/>
                                        </p:tgtEl>
                                        <p:attrNameLst>
                                          <p:attrName>style.visibility</p:attrName>
                                        </p:attrNameLst>
                                      </p:cBhvr>
                                      <p:to>
                                        <p:strVal val="visible"/>
                                      </p:to>
                                    </p:set>
                                    <p:animEffect transition="in" filter="slide(fromBottom)">
                                      <p:cBhvr>
                                        <p:cTn id="46" dur="500"/>
                                        <p:tgtEl>
                                          <p:spTgt spid="9228"/>
                                        </p:tgtEl>
                                      </p:cBhvr>
                                    </p:animEffect>
                                  </p:childTnLst>
                                </p:cTn>
                              </p:par>
                            </p:childTnLst>
                          </p:cTn>
                        </p:par>
                        <p:par>
                          <p:cTn id="47" fill="hold">
                            <p:stCondLst>
                              <p:cond delay="2500"/>
                            </p:stCondLst>
                            <p:childTnLst>
                              <p:par>
                                <p:cTn id="48" presetID="12" presetClass="entr" presetSubtype="4" fill="hold" nodeType="afterEffect">
                                  <p:stCondLst>
                                    <p:cond delay="0"/>
                                  </p:stCondLst>
                                  <p:childTnLst>
                                    <p:set>
                                      <p:cBhvr>
                                        <p:cTn id="49" dur="1" fill="hold">
                                          <p:stCondLst>
                                            <p:cond delay="0"/>
                                          </p:stCondLst>
                                        </p:cTn>
                                        <p:tgtEl>
                                          <p:spTgt spid="9229"/>
                                        </p:tgtEl>
                                        <p:attrNameLst>
                                          <p:attrName>style.visibility</p:attrName>
                                        </p:attrNameLst>
                                      </p:cBhvr>
                                      <p:to>
                                        <p:strVal val="visible"/>
                                      </p:to>
                                    </p:set>
                                    <p:animEffect transition="in" filter="slide(fromBottom)">
                                      <p:cBhvr>
                                        <p:cTn id="50" dur="500"/>
                                        <p:tgtEl>
                                          <p:spTgt spid="9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build="p"/>
      <p:bldP spid="9222" grpId="0"/>
      <p:bldP spid="9223" grpId="0"/>
      <p:bldP spid="922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4" name="矩形 10243"/>
          <p:cNvSpPr/>
          <p:nvPr/>
        </p:nvSpPr>
        <p:spPr>
          <a:xfrm>
            <a:off x="468313" y="1484313"/>
            <a:ext cx="7848600" cy="1752600"/>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har char="•"/>
              <a:defRPr sz="32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宋体" panose="02010600030101010101" pitchFamily="2" charset="-122"/>
              </a:defRPr>
            </a:lvl5pPr>
          </a:lstStyle>
          <a:p>
            <a:pPr lvl="0">
              <a:buNone/>
            </a:pPr>
            <a:r>
              <a:rPr lang="zh-CN" altLang="en-US" b="1" dirty="0">
                <a:latin typeface="楷体_GB2312" pitchFamily="49" charset="-122"/>
                <a:ea typeface="楷体_GB2312" pitchFamily="49" charset="-122"/>
              </a:rPr>
              <a:t>数码为：</a:t>
            </a:r>
            <a:r>
              <a:rPr lang="en-US" altLang="zh-CN" b="1">
                <a:latin typeface="楷体_GB2312" pitchFamily="49" charset="-122"/>
                <a:ea typeface="楷体_GB2312" pitchFamily="49" charset="-122"/>
              </a:rPr>
              <a:t>0</a:t>
            </a:r>
            <a:r>
              <a:rPr lang="zh-CN" altLang="en-US" b="1" dirty="0">
                <a:latin typeface="楷体_GB2312" pitchFamily="49" charset="-122"/>
                <a:ea typeface="楷体_GB2312" pitchFamily="49" charset="-122"/>
              </a:rPr>
              <a:t>～</a:t>
            </a:r>
            <a:r>
              <a:rPr lang="en-US" altLang="zh-CN" b="1">
                <a:latin typeface="楷体_GB2312" pitchFamily="49" charset="-122"/>
                <a:ea typeface="楷体_GB2312" pitchFamily="49" charset="-122"/>
              </a:rPr>
              <a:t>7</a:t>
            </a:r>
            <a:r>
              <a:rPr lang="zh-CN" altLang="en-US" b="1" dirty="0">
                <a:latin typeface="楷体_GB2312" pitchFamily="49" charset="-122"/>
                <a:ea typeface="楷体_GB2312" pitchFamily="49" charset="-122"/>
              </a:rPr>
              <a:t>；基数是</a:t>
            </a:r>
            <a:r>
              <a:rPr lang="en-US" altLang="zh-CN" b="1">
                <a:latin typeface="楷体_GB2312" pitchFamily="49" charset="-122"/>
                <a:ea typeface="楷体_GB2312" pitchFamily="49" charset="-122"/>
              </a:rPr>
              <a:t>8</a:t>
            </a:r>
            <a:r>
              <a:rPr lang="zh-CN" altLang="en-US" b="1" dirty="0">
                <a:latin typeface="楷体_GB2312" pitchFamily="49" charset="-122"/>
                <a:ea typeface="楷体_GB2312" pitchFamily="49" charset="-122"/>
              </a:rPr>
              <a:t>。用字母</a:t>
            </a:r>
            <a:r>
              <a:rPr lang="en-US" altLang="zh-CN" b="1">
                <a:solidFill>
                  <a:srgbClr val="0000FF"/>
                </a:solidFill>
                <a:latin typeface="楷体_GB2312" pitchFamily="49" charset="-122"/>
                <a:ea typeface="楷体_GB2312" pitchFamily="49" charset="-122"/>
              </a:rPr>
              <a:t>O</a:t>
            </a:r>
            <a:r>
              <a:rPr lang="zh-CN" altLang="en-US" b="1" dirty="0">
                <a:latin typeface="楷体_GB2312" pitchFamily="49" charset="-122"/>
                <a:ea typeface="楷体_GB2312" pitchFamily="49" charset="-122"/>
              </a:rPr>
              <a:t>表示</a:t>
            </a:r>
            <a:endParaRPr lang="zh-CN" altLang="en-US" b="1" dirty="0">
              <a:latin typeface="楷体_GB2312" pitchFamily="49" charset="-122"/>
              <a:ea typeface="楷体_GB2312" pitchFamily="49" charset="-122"/>
            </a:endParaRPr>
          </a:p>
          <a:p>
            <a:pPr lvl="0">
              <a:buNone/>
            </a:pPr>
            <a:r>
              <a:rPr lang="zh-CN" altLang="en-US" b="1" dirty="0">
                <a:latin typeface="楷体_GB2312" pitchFamily="49" charset="-122"/>
                <a:ea typeface="楷体_GB2312" pitchFamily="49" charset="-122"/>
              </a:rPr>
              <a:t>运算规律：逢八进一，即：</a:t>
            </a:r>
            <a:r>
              <a:rPr lang="en-US" altLang="zh-CN" b="1">
                <a:latin typeface="楷体_GB2312" pitchFamily="49" charset="-122"/>
                <a:ea typeface="楷体_GB2312" pitchFamily="49" charset="-122"/>
              </a:rPr>
              <a:t>7</a:t>
            </a:r>
            <a:r>
              <a:rPr lang="zh-CN" altLang="en-US" b="1" dirty="0">
                <a:latin typeface="楷体_GB2312" pitchFamily="49" charset="-122"/>
                <a:ea typeface="楷体_GB2312" pitchFamily="49" charset="-122"/>
              </a:rPr>
              <a:t>＋</a:t>
            </a:r>
            <a:r>
              <a:rPr lang="en-US" altLang="zh-CN" b="1">
                <a:latin typeface="楷体_GB2312" pitchFamily="49" charset="-122"/>
                <a:ea typeface="楷体_GB2312" pitchFamily="49" charset="-122"/>
              </a:rPr>
              <a:t>1</a:t>
            </a:r>
            <a:r>
              <a:rPr lang="zh-CN" altLang="en-US" b="1" dirty="0">
                <a:latin typeface="楷体_GB2312" pitchFamily="49" charset="-122"/>
                <a:ea typeface="楷体_GB2312" pitchFamily="49" charset="-122"/>
              </a:rPr>
              <a:t>＝</a:t>
            </a:r>
            <a:r>
              <a:rPr lang="en-US" altLang="zh-CN" b="1">
                <a:latin typeface="楷体_GB2312" pitchFamily="49" charset="-122"/>
                <a:ea typeface="楷体_GB2312" pitchFamily="49" charset="-122"/>
              </a:rPr>
              <a:t>10</a:t>
            </a:r>
            <a:r>
              <a:rPr lang="zh-CN" altLang="en-US" b="1" dirty="0">
                <a:latin typeface="楷体_GB2312" pitchFamily="49" charset="-122"/>
                <a:ea typeface="楷体_GB2312" pitchFamily="49" charset="-122"/>
              </a:rPr>
              <a:t>。</a:t>
            </a:r>
            <a:endParaRPr lang="zh-CN" altLang="en-US" b="1" dirty="0">
              <a:latin typeface="楷体_GB2312" pitchFamily="49" charset="-122"/>
              <a:ea typeface="楷体_GB2312" pitchFamily="49" charset="-122"/>
            </a:endParaRPr>
          </a:p>
          <a:p>
            <a:pPr lvl="0">
              <a:buNone/>
            </a:pPr>
            <a:r>
              <a:rPr lang="zh-CN" altLang="en-US" b="1" dirty="0">
                <a:latin typeface="楷体_GB2312" pitchFamily="49" charset="-122"/>
                <a:ea typeface="楷体_GB2312" pitchFamily="49" charset="-122"/>
              </a:rPr>
              <a:t>八进制数的权展开式：</a:t>
            </a:r>
            <a:r>
              <a:rPr lang="en-US" altLang="zh-CN" b="0">
                <a:latin typeface="楷体_GB2312" pitchFamily="49" charset="-122"/>
                <a:ea typeface="楷体_GB2312" pitchFamily="49" charset="-122"/>
              </a:rPr>
              <a:t>D</a:t>
            </a:r>
            <a:r>
              <a:rPr lang="zh-CN" altLang="en-US" b="0" dirty="0">
                <a:latin typeface="楷体_GB2312" pitchFamily="49" charset="-122"/>
                <a:ea typeface="楷体_GB2312" pitchFamily="49" charset="-122"/>
              </a:rPr>
              <a:t>＝</a:t>
            </a:r>
            <a:r>
              <a:rPr lang="en-US" altLang="zh-CN" b="0" dirty="0">
                <a:latin typeface="楷体_GB2312" pitchFamily="49" charset="-122"/>
                <a:ea typeface="楷体_GB2312" pitchFamily="49" charset="-122"/>
              </a:rPr>
              <a:t>∑</a:t>
            </a:r>
            <a:r>
              <a:rPr lang="en-US" altLang="zh-CN" b="0" i="1">
                <a:latin typeface="楷体_GB2312" pitchFamily="49" charset="-122"/>
                <a:ea typeface="楷体_GB2312" pitchFamily="49" charset="-122"/>
              </a:rPr>
              <a:t>k</a:t>
            </a:r>
            <a:r>
              <a:rPr lang="en-US" altLang="zh-CN" b="0" i="1" baseline="-25000">
                <a:latin typeface="楷体_GB2312" pitchFamily="49" charset="-122"/>
                <a:ea typeface="楷体_GB2312" pitchFamily="49" charset="-122"/>
              </a:rPr>
              <a:t>i</a:t>
            </a:r>
            <a:r>
              <a:rPr lang="en-US" altLang="zh-CN" b="0">
                <a:latin typeface="楷体_GB2312" pitchFamily="49" charset="-122"/>
                <a:ea typeface="楷体_GB2312" pitchFamily="49" charset="-122"/>
              </a:rPr>
              <a:t>×8</a:t>
            </a:r>
            <a:r>
              <a:rPr lang="en-US" altLang="zh-CN" b="0" i="1" baseline="30000">
                <a:latin typeface="楷体_GB2312" pitchFamily="49" charset="-122"/>
                <a:ea typeface="楷体_GB2312" pitchFamily="49" charset="-122"/>
              </a:rPr>
              <a:t>i</a:t>
            </a:r>
            <a:endParaRPr lang="en-US" altLang="zh-CN" b="0" i="1" baseline="30000">
              <a:latin typeface="楷体_GB2312" pitchFamily="49" charset="-122"/>
              <a:ea typeface="楷体_GB2312" pitchFamily="49" charset="-122"/>
            </a:endParaRPr>
          </a:p>
          <a:p>
            <a:pPr lvl="0">
              <a:buNone/>
            </a:pPr>
            <a:endParaRPr lang="en-US" altLang="zh-CN" b="1" dirty="0">
              <a:latin typeface="华文楷体" panose="02010600040101010101" pitchFamily="2" charset="-122"/>
              <a:ea typeface="华文楷体" panose="02010600040101010101" pitchFamily="2" charset="-122"/>
            </a:endParaRPr>
          </a:p>
        </p:txBody>
      </p:sp>
      <p:sp>
        <p:nvSpPr>
          <p:cNvPr id="10245" name="圆角矩形 10244"/>
          <p:cNvSpPr/>
          <p:nvPr/>
        </p:nvSpPr>
        <p:spPr>
          <a:xfrm>
            <a:off x="539750" y="404813"/>
            <a:ext cx="2376488" cy="576262"/>
          </a:xfrm>
          <a:prstGeom prst="roundRect">
            <a:avLst>
              <a:gd name="adj" fmla="val 16667"/>
            </a:avLst>
          </a:prstGeom>
          <a:solidFill>
            <a:srgbClr val="00FF00"/>
          </a:solidFill>
          <a:ln w="9525" cap="flat" cmpd="sng">
            <a:solidFill>
              <a:srgbClr val="FF7C80"/>
            </a:solidFill>
            <a:prstDash val="solid"/>
            <a:headEnd type="none" w="med" len="med"/>
            <a:tailEnd type="none" w="med" len="med"/>
          </a:ln>
        </p:spPr>
        <p:txBody>
          <a:bodyPr wrap="none" lIns="0" anchor="ctr" anchorCtr="0"/>
          <a:p>
            <a:pPr algn="ctr"/>
            <a:r>
              <a:rPr lang="zh-CN" altLang="en-US" sz="3200" b="0" dirty="0">
                <a:solidFill>
                  <a:srgbClr val="000000"/>
                </a:solidFill>
                <a:latin typeface="Verdana" panose="020B0604030504040204" pitchFamily="34" charset="0"/>
              </a:rPr>
              <a:t>三、八进制</a:t>
            </a:r>
            <a:endParaRPr lang="zh-CN" altLang="en-US" sz="3200" b="0" dirty="0">
              <a:solidFill>
                <a:srgbClr val="000000"/>
              </a:solidFill>
              <a:latin typeface="Verdana" panose="020B0604030504040204" pitchFamily="34" charset="0"/>
            </a:endParaRPr>
          </a:p>
        </p:txBody>
      </p:sp>
      <p:sp>
        <p:nvSpPr>
          <p:cNvPr id="10246" name="文本框 10245"/>
          <p:cNvSpPr txBox="1"/>
          <p:nvPr/>
        </p:nvSpPr>
        <p:spPr>
          <a:xfrm>
            <a:off x="228600" y="4038600"/>
            <a:ext cx="8915400" cy="1031875"/>
          </a:xfrm>
          <a:prstGeom prst="rect">
            <a:avLst/>
          </a:prstGeom>
          <a:noFill/>
          <a:ln w="9525">
            <a:noFill/>
          </a:ln>
        </p:spPr>
        <p:txBody>
          <a:bodyPr>
            <a:spAutoFit/>
          </a:bodyPr>
          <a:p>
            <a:pPr>
              <a:spcBef>
                <a:spcPct val="20000"/>
              </a:spcBef>
            </a:pPr>
            <a:r>
              <a:rPr lang="en-US" altLang="zh-CN">
                <a:latin typeface="Times New Roman" panose="02020603050405020304" pitchFamily="18" charset="0"/>
              </a:rPr>
              <a:t>(207.04)</a:t>
            </a:r>
            <a:r>
              <a:rPr lang="en-US" altLang="zh-CN" baseline="-25000">
                <a:latin typeface="Times New Roman" panose="02020603050405020304" pitchFamily="18" charset="0"/>
              </a:rPr>
              <a:t>O</a:t>
            </a:r>
            <a:r>
              <a:rPr lang="zh-CN" altLang="en-US" dirty="0">
                <a:latin typeface="Times New Roman" panose="02020603050405020304" pitchFamily="18" charset="0"/>
              </a:rPr>
              <a:t>＝ </a:t>
            </a:r>
            <a:r>
              <a:rPr lang="en-US" altLang="zh-CN">
                <a:latin typeface="Times New Roman" panose="02020603050405020304" pitchFamily="18" charset="0"/>
              </a:rPr>
              <a:t>2×8</a:t>
            </a:r>
            <a:r>
              <a:rPr lang="en-US" altLang="zh-CN" baseline="30000">
                <a:latin typeface="Times New Roman" panose="02020603050405020304" pitchFamily="18" charset="0"/>
              </a:rPr>
              <a:t>2</a:t>
            </a:r>
            <a:r>
              <a:rPr lang="en-US" altLang="zh-CN">
                <a:latin typeface="Times New Roman" panose="02020603050405020304" pitchFamily="18" charset="0"/>
              </a:rPr>
              <a:t> </a:t>
            </a:r>
            <a:r>
              <a:rPr lang="zh-CN" altLang="en-US" dirty="0">
                <a:latin typeface="Times New Roman" panose="02020603050405020304" pitchFamily="18" charset="0"/>
              </a:rPr>
              <a:t>＋</a:t>
            </a:r>
            <a:r>
              <a:rPr lang="en-US" altLang="zh-CN">
                <a:latin typeface="Times New Roman" panose="02020603050405020304" pitchFamily="18" charset="0"/>
              </a:rPr>
              <a:t>0×8</a:t>
            </a:r>
            <a:r>
              <a:rPr lang="en-US" altLang="zh-CN" baseline="30000">
                <a:latin typeface="Times New Roman" panose="02020603050405020304" pitchFamily="18" charset="0"/>
              </a:rPr>
              <a:t>1</a:t>
            </a:r>
            <a:r>
              <a:rPr lang="zh-CN" altLang="en-US" dirty="0">
                <a:latin typeface="Times New Roman" panose="02020603050405020304" pitchFamily="18" charset="0"/>
              </a:rPr>
              <a:t>＋</a:t>
            </a:r>
            <a:r>
              <a:rPr lang="en-US" altLang="zh-CN">
                <a:latin typeface="Times New Roman" panose="02020603050405020304" pitchFamily="18" charset="0"/>
              </a:rPr>
              <a:t>7×8</a:t>
            </a:r>
            <a:r>
              <a:rPr lang="en-US" altLang="zh-CN" baseline="30000">
                <a:latin typeface="Times New Roman" panose="02020603050405020304" pitchFamily="18" charset="0"/>
              </a:rPr>
              <a:t>0</a:t>
            </a:r>
            <a:r>
              <a:rPr lang="zh-CN" altLang="en-US" dirty="0">
                <a:latin typeface="Times New Roman" panose="02020603050405020304" pitchFamily="18" charset="0"/>
              </a:rPr>
              <a:t>＋</a:t>
            </a:r>
            <a:r>
              <a:rPr lang="en-US" altLang="zh-CN">
                <a:latin typeface="Times New Roman" panose="02020603050405020304" pitchFamily="18" charset="0"/>
              </a:rPr>
              <a:t>0×8</a:t>
            </a:r>
            <a:r>
              <a:rPr lang="zh-CN" altLang="en-US" baseline="30000" dirty="0">
                <a:latin typeface="Times New Roman" panose="02020603050405020304" pitchFamily="18" charset="0"/>
              </a:rPr>
              <a:t>－</a:t>
            </a:r>
            <a:r>
              <a:rPr lang="en-US" altLang="zh-CN" baseline="30000">
                <a:latin typeface="Times New Roman" panose="02020603050405020304" pitchFamily="18" charset="0"/>
              </a:rPr>
              <a:t>1</a:t>
            </a:r>
            <a:r>
              <a:rPr lang="zh-CN" altLang="en-US" dirty="0">
                <a:latin typeface="Times New Roman" panose="02020603050405020304" pitchFamily="18" charset="0"/>
              </a:rPr>
              <a:t>＋</a:t>
            </a:r>
            <a:r>
              <a:rPr lang="en-US" altLang="zh-CN">
                <a:latin typeface="Times New Roman" panose="02020603050405020304" pitchFamily="18" charset="0"/>
              </a:rPr>
              <a:t>4 ×8</a:t>
            </a:r>
            <a:r>
              <a:rPr lang="zh-CN" altLang="en-US" baseline="30000" dirty="0">
                <a:latin typeface="Times New Roman" panose="02020603050405020304" pitchFamily="18" charset="0"/>
              </a:rPr>
              <a:t>－</a:t>
            </a:r>
            <a:r>
              <a:rPr lang="en-US" altLang="zh-CN" baseline="30000">
                <a:latin typeface="Times New Roman" panose="02020603050405020304" pitchFamily="18" charset="0"/>
              </a:rPr>
              <a:t>2    </a:t>
            </a:r>
            <a:endParaRPr lang="en-US" altLang="zh-CN" baseline="30000">
              <a:latin typeface="Times New Roman" panose="02020603050405020304" pitchFamily="18" charset="0"/>
            </a:endParaRPr>
          </a:p>
          <a:p>
            <a:pPr>
              <a:spcBef>
                <a:spcPct val="20000"/>
              </a:spcBef>
            </a:pPr>
            <a:r>
              <a:rPr lang="zh-CN" altLang="en-US" dirty="0">
                <a:latin typeface="Times New Roman" panose="02020603050405020304" pitchFamily="18" charset="0"/>
              </a:rPr>
              <a:t>＝</a:t>
            </a:r>
            <a:r>
              <a:rPr lang="en-US" altLang="zh-CN">
                <a:latin typeface="Times New Roman" panose="02020603050405020304" pitchFamily="18" charset="0"/>
              </a:rPr>
              <a:t>(135.0625)</a:t>
            </a:r>
            <a:r>
              <a:rPr lang="en-US" altLang="zh-CN" baseline="-25000">
                <a:latin typeface="Times New Roman" panose="02020603050405020304" pitchFamily="18" charset="0"/>
              </a:rPr>
              <a:t>D</a:t>
            </a:r>
            <a:endParaRPr lang="en-US" altLang="zh-CN" b="0">
              <a:latin typeface="Times New Roman" panose="02020603050405020304" pitchFamily="18" charset="0"/>
            </a:endParaRPr>
          </a:p>
        </p:txBody>
      </p:sp>
      <p:sp>
        <p:nvSpPr>
          <p:cNvPr id="10247" name="文本框 10246"/>
          <p:cNvSpPr txBox="1"/>
          <p:nvPr/>
        </p:nvSpPr>
        <p:spPr>
          <a:xfrm>
            <a:off x="2514600" y="5715000"/>
            <a:ext cx="6324600" cy="592138"/>
          </a:xfrm>
          <a:prstGeom prst="rect">
            <a:avLst/>
          </a:prstGeom>
          <a:noFill/>
          <a:ln w="12700" cap="flat" cmpd="sng">
            <a:solidFill>
              <a:srgbClr val="339933"/>
            </a:solidFill>
            <a:prstDash val="solid"/>
            <a:miter/>
            <a:headEnd type="none" w="sm" len="sm"/>
            <a:tailEnd type="none" w="sm" len="sm"/>
          </a:ln>
        </p:spPr>
        <p:txBody>
          <a:bodyPr>
            <a:spAutoFit/>
          </a:bodyPr>
          <a:p>
            <a:pPr marL="342900" indent="-342900" algn="ctr" eaLnBrk="0" hangingPunct="0">
              <a:spcBef>
                <a:spcPct val="50000"/>
              </a:spcBef>
            </a:pPr>
            <a:r>
              <a:rPr lang="zh-CN" altLang="en-US" sz="3200" dirty="0">
                <a:latin typeface="华文楷体" panose="02010600040101010101" pitchFamily="2" charset="-122"/>
                <a:ea typeface="华文楷体" panose="02010600040101010101" pitchFamily="2" charset="-122"/>
              </a:rPr>
              <a:t>各数位的权是</a:t>
            </a:r>
            <a:r>
              <a:rPr lang="en-US" altLang="zh-CN" sz="3200">
                <a:latin typeface="华文楷体" panose="02010600040101010101" pitchFamily="2" charset="-122"/>
                <a:ea typeface="华文楷体" panose="02010600040101010101" pitchFamily="2" charset="-122"/>
              </a:rPr>
              <a:t>8</a:t>
            </a:r>
            <a:r>
              <a:rPr lang="zh-CN" altLang="en-US" sz="3200" dirty="0">
                <a:latin typeface="华文楷体" panose="02010600040101010101" pitchFamily="2" charset="-122"/>
                <a:ea typeface="华文楷体" panose="02010600040101010101" pitchFamily="2" charset="-122"/>
              </a:rPr>
              <a:t>的幂</a:t>
            </a:r>
            <a:endParaRPr lang="zh-CN" altLang="en-US" sz="3200" dirty="0">
              <a:latin typeface="华文楷体" panose="02010600040101010101" pitchFamily="2" charset="-122"/>
              <a:ea typeface="华文楷体" panose="02010600040101010101" pitchFamily="2" charset="-122"/>
            </a:endParaRPr>
          </a:p>
        </p:txBody>
      </p:sp>
      <p:sp>
        <p:nvSpPr>
          <p:cNvPr id="10248" name="直接连接符 10247"/>
          <p:cNvSpPr/>
          <p:nvPr/>
        </p:nvSpPr>
        <p:spPr>
          <a:xfrm flipV="1">
            <a:off x="2819400" y="4800600"/>
            <a:ext cx="0" cy="914400"/>
          </a:xfrm>
          <a:prstGeom prst="line">
            <a:avLst/>
          </a:prstGeom>
          <a:ln w="57150" cap="flat" cmpd="sng">
            <a:solidFill>
              <a:srgbClr val="FF3300"/>
            </a:solidFill>
            <a:prstDash val="solid"/>
            <a:headEnd type="none" w="sm" len="sm"/>
            <a:tailEnd type="triangle" w="med" len="med"/>
          </a:ln>
        </p:spPr>
      </p:sp>
      <p:sp>
        <p:nvSpPr>
          <p:cNvPr id="10249" name="直接连接符 10248"/>
          <p:cNvSpPr/>
          <p:nvPr/>
        </p:nvSpPr>
        <p:spPr>
          <a:xfrm flipV="1">
            <a:off x="4114800" y="4800600"/>
            <a:ext cx="0" cy="914400"/>
          </a:xfrm>
          <a:prstGeom prst="line">
            <a:avLst/>
          </a:prstGeom>
          <a:ln w="57150" cap="flat" cmpd="sng">
            <a:solidFill>
              <a:srgbClr val="FF3300"/>
            </a:solidFill>
            <a:prstDash val="solid"/>
            <a:headEnd type="none" w="sm" len="sm"/>
            <a:tailEnd type="triangle" w="med" len="med"/>
          </a:ln>
        </p:spPr>
      </p:sp>
      <p:sp>
        <p:nvSpPr>
          <p:cNvPr id="10250" name="直接连接符 10249"/>
          <p:cNvSpPr/>
          <p:nvPr/>
        </p:nvSpPr>
        <p:spPr>
          <a:xfrm flipV="1">
            <a:off x="5292725" y="4724400"/>
            <a:ext cx="0" cy="990600"/>
          </a:xfrm>
          <a:prstGeom prst="line">
            <a:avLst/>
          </a:prstGeom>
          <a:ln w="57150" cap="flat" cmpd="sng">
            <a:solidFill>
              <a:srgbClr val="FF3300"/>
            </a:solidFill>
            <a:prstDash val="solid"/>
            <a:headEnd type="none" w="sm" len="sm"/>
            <a:tailEnd type="triangle" w="med" len="med"/>
          </a:ln>
        </p:spPr>
      </p:sp>
      <p:sp>
        <p:nvSpPr>
          <p:cNvPr id="10251" name="直接连接符 10250"/>
          <p:cNvSpPr/>
          <p:nvPr/>
        </p:nvSpPr>
        <p:spPr>
          <a:xfrm flipV="1">
            <a:off x="6553200" y="4800600"/>
            <a:ext cx="0" cy="914400"/>
          </a:xfrm>
          <a:prstGeom prst="line">
            <a:avLst/>
          </a:prstGeom>
          <a:ln w="57150" cap="flat" cmpd="sng">
            <a:solidFill>
              <a:srgbClr val="FF3300"/>
            </a:solidFill>
            <a:prstDash val="solid"/>
            <a:headEnd type="none" w="sm" len="sm"/>
            <a:tailEnd type="triangle" w="med" len="med"/>
          </a:ln>
        </p:spPr>
      </p:sp>
      <p:sp>
        <p:nvSpPr>
          <p:cNvPr id="10252" name="直接连接符 10251"/>
          <p:cNvSpPr/>
          <p:nvPr/>
        </p:nvSpPr>
        <p:spPr>
          <a:xfrm flipV="1">
            <a:off x="8027988" y="4797425"/>
            <a:ext cx="0" cy="914400"/>
          </a:xfrm>
          <a:prstGeom prst="line">
            <a:avLst/>
          </a:prstGeom>
          <a:ln w="57150" cap="flat" cmpd="sng">
            <a:solidFill>
              <a:srgbClr val="FF3300"/>
            </a:solidFill>
            <a:prstDash val="solid"/>
            <a:headEnd type="none" w="sm" len="sm"/>
            <a:tailEnd type="triangl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4">
                                            <p:txEl>
                                              <p:charRg st="0" end="20"/>
                                            </p:txEl>
                                          </p:spTgt>
                                        </p:tgtEl>
                                        <p:attrNameLst>
                                          <p:attrName>style.visibility</p:attrName>
                                        </p:attrNameLst>
                                      </p:cBhvr>
                                      <p:to>
                                        <p:strVal val="visible"/>
                                      </p:to>
                                    </p:set>
                                    <p:animEffect transition="in" filter="wipe(left)">
                                      <p:cBhvr>
                                        <p:cTn id="7" dur="500"/>
                                        <p:tgtEl>
                                          <p:spTgt spid="10244">
                                            <p:txEl>
                                              <p:charRg st="0" end="2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44">
                                            <p:txEl>
                                              <p:charRg st="20" end="40"/>
                                            </p:txEl>
                                          </p:spTgt>
                                        </p:tgtEl>
                                        <p:attrNameLst>
                                          <p:attrName>style.visibility</p:attrName>
                                        </p:attrNameLst>
                                      </p:cBhvr>
                                      <p:to>
                                        <p:strVal val="visible"/>
                                      </p:to>
                                    </p:set>
                                    <p:animEffect transition="in" filter="wipe(left)">
                                      <p:cBhvr>
                                        <p:cTn id="12" dur="500"/>
                                        <p:tgtEl>
                                          <p:spTgt spid="10244">
                                            <p:txEl>
                                              <p:charRg st="20" end="4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244">
                                            <p:txEl>
                                              <p:charRg st="40" end="59"/>
                                            </p:txEl>
                                          </p:spTgt>
                                        </p:tgtEl>
                                        <p:attrNameLst>
                                          <p:attrName>style.visibility</p:attrName>
                                        </p:attrNameLst>
                                      </p:cBhvr>
                                      <p:to>
                                        <p:strVal val="visible"/>
                                      </p:to>
                                    </p:set>
                                    <p:animEffect transition="in" filter="wipe(left)">
                                      <p:cBhvr>
                                        <p:cTn id="17" dur="500"/>
                                        <p:tgtEl>
                                          <p:spTgt spid="10244">
                                            <p:txEl>
                                              <p:charRg st="40" end="5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246"/>
                                        </p:tgtEl>
                                        <p:attrNameLst>
                                          <p:attrName>style.visibility</p:attrName>
                                        </p:attrNameLst>
                                      </p:cBhvr>
                                      <p:to>
                                        <p:strVal val="visible"/>
                                      </p:to>
                                    </p:set>
                                    <p:animEffect transition="in" filter="wipe(left)">
                                      <p:cBhvr>
                                        <p:cTn id="22" dur="500"/>
                                        <p:tgtEl>
                                          <p:spTgt spid="10246"/>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0247"/>
                                        </p:tgtEl>
                                        <p:attrNameLst>
                                          <p:attrName>style.visibility</p:attrName>
                                        </p:attrNameLst>
                                      </p:cBhvr>
                                      <p:to>
                                        <p:strVal val="visible"/>
                                      </p:to>
                                    </p:set>
                                    <p:animEffect transition="in" filter="wipe(left)">
                                      <p:cBhvr>
                                        <p:cTn id="26" dur="500"/>
                                        <p:tgtEl>
                                          <p:spTgt spid="10247"/>
                                        </p:tgtEl>
                                      </p:cBhvr>
                                    </p:animEffect>
                                  </p:childTnLst>
                                </p:cTn>
                              </p:par>
                              <p:par>
                                <p:cTn id="27" presetID="12" presetClass="entr" presetSubtype="4" fill="hold" nodeType="withEffect">
                                  <p:stCondLst>
                                    <p:cond delay="0"/>
                                  </p:stCondLst>
                                  <p:childTnLst>
                                    <p:set>
                                      <p:cBhvr>
                                        <p:cTn id="28" dur="1" fill="hold">
                                          <p:stCondLst>
                                            <p:cond delay="0"/>
                                          </p:stCondLst>
                                        </p:cTn>
                                        <p:tgtEl>
                                          <p:spTgt spid="10248"/>
                                        </p:tgtEl>
                                        <p:attrNameLst>
                                          <p:attrName>style.visibility</p:attrName>
                                        </p:attrNameLst>
                                      </p:cBhvr>
                                      <p:to>
                                        <p:strVal val="visible"/>
                                      </p:to>
                                    </p:set>
                                    <p:animEffect transition="in" filter="slide(fromBottom)">
                                      <p:cBhvr>
                                        <p:cTn id="29" dur="500"/>
                                        <p:tgtEl>
                                          <p:spTgt spid="10248"/>
                                        </p:tgtEl>
                                      </p:cBhvr>
                                    </p:animEffect>
                                  </p:childTnLst>
                                </p:cTn>
                              </p:par>
                            </p:childTnLst>
                          </p:cTn>
                        </p:par>
                        <p:par>
                          <p:cTn id="30" fill="hold">
                            <p:stCondLst>
                              <p:cond delay="1000"/>
                            </p:stCondLst>
                            <p:childTnLst>
                              <p:par>
                                <p:cTn id="31" presetID="12" presetClass="entr" presetSubtype="4" fill="hold" nodeType="afterEffect">
                                  <p:stCondLst>
                                    <p:cond delay="0"/>
                                  </p:stCondLst>
                                  <p:childTnLst>
                                    <p:set>
                                      <p:cBhvr>
                                        <p:cTn id="32" dur="1" fill="hold">
                                          <p:stCondLst>
                                            <p:cond delay="0"/>
                                          </p:stCondLst>
                                        </p:cTn>
                                        <p:tgtEl>
                                          <p:spTgt spid="10249"/>
                                        </p:tgtEl>
                                        <p:attrNameLst>
                                          <p:attrName>style.visibility</p:attrName>
                                        </p:attrNameLst>
                                      </p:cBhvr>
                                      <p:to>
                                        <p:strVal val="visible"/>
                                      </p:to>
                                    </p:set>
                                    <p:animEffect transition="in" filter="slide(fromBottom)">
                                      <p:cBhvr>
                                        <p:cTn id="33" dur="500"/>
                                        <p:tgtEl>
                                          <p:spTgt spid="10249"/>
                                        </p:tgtEl>
                                      </p:cBhvr>
                                    </p:animEffect>
                                  </p:childTnLst>
                                </p:cTn>
                              </p:par>
                            </p:childTnLst>
                          </p:cTn>
                        </p:par>
                        <p:par>
                          <p:cTn id="34" fill="hold">
                            <p:stCondLst>
                              <p:cond delay="1500"/>
                            </p:stCondLst>
                            <p:childTnLst>
                              <p:par>
                                <p:cTn id="35" presetID="12" presetClass="entr" presetSubtype="4" fill="hold" nodeType="afterEffect">
                                  <p:stCondLst>
                                    <p:cond delay="0"/>
                                  </p:stCondLst>
                                  <p:childTnLst>
                                    <p:set>
                                      <p:cBhvr>
                                        <p:cTn id="36" dur="1" fill="hold">
                                          <p:stCondLst>
                                            <p:cond delay="0"/>
                                          </p:stCondLst>
                                        </p:cTn>
                                        <p:tgtEl>
                                          <p:spTgt spid="10250"/>
                                        </p:tgtEl>
                                        <p:attrNameLst>
                                          <p:attrName>style.visibility</p:attrName>
                                        </p:attrNameLst>
                                      </p:cBhvr>
                                      <p:to>
                                        <p:strVal val="visible"/>
                                      </p:to>
                                    </p:set>
                                    <p:animEffect transition="in" filter="slide(fromBottom)">
                                      <p:cBhvr>
                                        <p:cTn id="37" dur="500"/>
                                        <p:tgtEl>
                                          <p:spTgt spid="10250"/>
                                        </p:tgtEl>
                                      </p:cBhvr>
                                    </p:animEffect>
                                  </p:childTnLst>
                                </p:cTn>
                              </p:par>
                            </p:childTnLst>
                          </p:cTn>
                        </p:par>
                        <p:par>
                          <p:cTn id="38" fill="hold">
                            <p:stCondLst>
                              <p:cond delay="2000"/>
                            </p:stCondLst>
                            <p:childTnLst>
                              <p:par>
                                <p:cTn id="39" presetID="12" presetClass="entr" presetSubtype="4" fill="hold" nodeType="afterEffect">
                                  <p:stCondLst>
                                    <p:cond delay="0"/>
                                  </p:stCondLst>
                                  <p:childTnLst>
                                    <p:set>
                                      <p:cBhvr>
                                        <p:cTn id="40" dur="1" fill="hold">
                                          <p:stCondLst>
                                            <p:cond delay="0"/>
                                          </p:stCondLst>
                                        </p:cTn>
                                        <p:tgtEl>
                                          <p:spTgt spid="10251"/>
                                        </p:tgtEl>
                                        <p:attrNameLst>
                                          <p:attrName>style.visibility</p:attrName>
                                        </p:attrNameLst>
                                      </p:cBhvr>
                                      <p:to>
                                        <p:strVal val="visible"/>
                                      </p:to>
                                    </p:set>
                                    <p:animEffect transition="in" filter="slide(fromBottom)">
                                      <p:cBhvr>
                                        <p:cTn id="41" dur="500"/>
                                        <p:tgtEl>
                                          <p:spTgt spid="10251"/>
                                        </p:tgtEl>
                                      </p:cBhvr>
                                    </p:animEffect>
                                  </p:childTnLst>
                                </p:cTn>
                              </p:par>
                            </p:childTnLst>
                          </p:cTn>
                        </p:par>
                        <p:par>
                          <p:cTn id="42" fill="hold">
                            <p:stCondLst>
                              <p:cond delay="2500"/>
                            </p:stCondLst>
                            <p:childTnLst>
                              <p:par>
                                <p:cTn id="43" presetID="12" presetClass="entr" presetSubtype="4" fill="hold" nodeType="afterEffect">
                                  <p:stCondLst>
                                    <p:cond delay="0"/>
                                  </p:stCondLst>
                                  <p:childTnLst>
                                    <p:set>
                                      <p:cBhvr>
                                        <p:cTn id="44" dur="1" fill="hold">
                                          <p:stCondLst>
                                            <p:cond delay="0"/>
                                          </p:stCondLst>
                                        </p:cTn>
                                        <p:tgtEl>
                                          <p:spTgt spid="10252"/>
                                        </p:tgtEl>
                                        <p:attrNameLst>
                                          <p:attrName>style.visibility</p:attrName>
                                        </p:attrNameLst>
                                      </p:cBhvr>
                                      <p:to>
                                        <p:strVal val="visible"/>
                                      </p:to>
                                    </p:set>
                                    <p:animEffect transition="in" filter="slide(fromBottom)">
                                      <p:cBhvr>
                                        <p:cTn id="45" dur="500"/>
                                        <p:tgtEl>
                                          <p:spTgt spid="10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build="p"/>
      <p:bldP spid="10246" grpId="0"/>
      <p:bldP spid="1024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8" name="矩形 11267"/>
          <p:cNvSpPr/>
          <p:nvPr/>
        </p:nvSpPr>
        <p:spPr>
          <a:xfrm>
            <a:off x="395288" y="1371600"/>
            <a:ext cx="8215312" cy="2514600"/>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har char="•"/>
              <a:defRPr sz="32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宋体" panose="02010600030101010101" pitchFamily="2" charset="-122"/>
              </a:defRPr>
            </a:lvl5pPr>
          </a:lstStyle>
          <a:p>
            <a:pPr lvl="0">
              <a:buNone/>
            </a:pPr>
            <a:r>
              <a:rPr lang="zh-CN" altLang="en-US" b="1" dirty="0">
                <a:latin typeface="楷体_GB2312" pitchFamily="49" charset="-122"/>
                <a:ea typeface="楷体_GB2312" pitchFamily="49" charset="-122"/>
              </a:rPr>
              <a:t>数码为：</a:t>
            </a:r>
            <a:r>
              <a:rPr lang="en-US" altLang="zh-CN" b="1">
                <a:latin typeface="楷体_GB2312" pitchFamily="49" charset="-122"/>
                <a:ea typeface="楷体_GB2312" pitchFamily="49" charset="-122"/>
              </a:rPr>
              <a:t>0</a:t>
            </a:r>
            <a:r>
              <a:rPr lang="zh-CN" altLang="en-US" b="1" dirty="0">
                <a:latin typeface="楷体_GB2312" pitchFamily="49" charset="-122"/>
                <a:ea typeface="楷体_GB2312" pitchFamily="49" charset="-122"/>
              </a:rPr>
              <a:t>～</a:t>
            </a:r>
            <a:r>
              <a:rPr lang="en-US" altLang="zh-CN" b="1">
                <a:latin typeface="楷体_GB2312" pitchFamily="49" charset="-122"/>
                <a:ea typeface="楷体_GB2312" pitchFamily="49" charset="-122"/>
              </a:rPr>
              <a:t>9</a:t>
            </a:r>
            <a:r>
              <a:rPr lang="zh-CN" altLang="en-US" b="1" dirty="0">
                <a:latin typeface="楷体_GB2312" pitchFamily="49" charset="-122"/>
                <a:ea typeface="楷体_GB2312" pitchFamily="49" charset="-122"/>
              </a:rPr>
              <a:t>、</a:t>
            </a:r>
            <a:r>
              <a:rPr lang="en-US" altLang="zh-CN" b="1">
                <a:solidFill>
                  <a:srgbClr val="000000"/>
                </a:solidFill>
                <a:latin typeface="楷体_GB2312" pitchFamily="49" charset="-122"/>
                <a:ea typeface="楷体_GB2312" pitchFamily="49" charset="-122"/>
              </a:rPr>
              <a:t>A</a:t>
            </a:r>
            <a:r>
              <a:rPr lang="zh-CN" altLang="en-US" b="1" dirty="0">
                <a:solidFill>
                  <a:srgbClr val="000000"/>
                </a:solidFill>
                <a:latin typeface="楷体_GB2312" pitchFamily="49" charset="-122"/>
                <a:ea typeface="楷体_GB2312" pitchFamily="49" charset="-122"/>
              </a:rPr>
              <a:t>～</a:t>
            </a:r>
            <a:r>
              <a:rPr lang="en-US" altLang="zh-CN" b="1">
                <a:solidFill>
                  <a:srgbClr val="000000"/>
                </a:solidFill>
                <a:latin typeface="楷体_GB2312" pitchFamily="49" charset="-122"/>
                <a:ea typeface="楷体_GB2312" pitchFamily="49" charset="-122"/>
              </a:rPr>
              <a:t>F</a:t>
            </a:r>
            <a:r>
              <a:rPr lang="zh-CN" altLang="en-US" b="1" dirty="0">
                <a:latin typeface="楷体_GB2312" pitchFamily="49" charset="-122"/>
                <a:ea typeface="楷体_GB2312" pitchFamily="49" charset="-122"/>
              </a:rPr>
              <a:t>；基数是</a:t>
            </a:r>
            <a:r>
              <a:rPr lang="en-US" altLang="zh-CN" b="1">
                <a:latin typeface="楷体_GB2312" pitchFamily="49" charset="-122"/>
                <a:ea typeface="楷体_GB2312" pitchFamily="49" charset="-122"/>
              </a:rPr>
              <a:t>16</a:t>
            </a:r>
            <a:r>
              <a:rPr lang="zh-CN" altLang="en-US" b="1" dirty="0">
                <a:latin typeface="楷体_GB2312" pitchFamily="49" charset="-122"/>
                <a:ea typeface="楷体_GB2312" pitchFamily="49" charset="-122"/>
              </a:rPr>
              <a:t>。</a:t>
            </a:r>
            <a:endParaRPr lang="zh-CN" altLang="en-US" b="1" dirty="0">
              <a:latin typeface="楷体_GB2312" pitchFamily="49" charset="-122"/>
              <a:ea typeface="楷体_GB2312" pitchFamily="49" charset="-122"/>
            </a:endParaRPr>
          </a:p>
          <a:p>
            <a:pPr lvl="0">
              <a:buNone/>
            </a:pPr>
            <a:r>
              <a:rPr lang="zh-CN" altLang="en-US" b="1" dirty="0">
                <a:latin typeface="楷体_GB2312" pitchFamily="49" charset="-122"/>
                <a:ea typeface="楷体_GB2312" pitchFamily="49" charset="-122"/>
              </a:rPr>
              <a:t>              用字母</a:t>
            </a:r>
            <a:r>
              <a:rPr lang="en-US" altLang="zh-CN" b="1">
                <a:solidFill>
                  <a:srgbClr val="0000FF"/>
                </a:solidFill>
                <a:latin typeface="楷体_GB2312" pitchFamily="49" charset="-122"/>
                <a:ea typeface="楷体_GB2312" pitchFamily="49" charset="-122"/>
              </a:rPr>
              <a:t>H</a:t>
            </a:r>
            <a:r>
              <a:rPr lang="zh-CN" altLang="en-US" b="1" dirty="0">
                <a:latin typeface="楷体_GB2312" pitchFamily="49" charset="-122"/>
                <a:ea typeface="楷体_GB2312" pitchFamily="49" charset="-122"/>
              </a:rPr>
              <a:t>来表示</a:t>
            </a:r>
            <a:endParaRPr lang="zh-CN" altLang="en-US" b="1" dirty="0">
              <a:latin typeface="楷体_GB2312" pitchFamily="49" charset="-122"/>
              <a:ea typeface="楷体_GB2312" pitchFamily="49" charset="-122"/>
            </a:endParaRPr>
          </a:p>
          <a:p>
            <a:pPr lvl="0">
              <a:buNone/>
            </a:pPr>
            <a:r>
              <a:rPr lang="zh-CN" altLang="en-US" b="1" dirty="0">
                <a:latin typeface="楷体_GB2312" pitchFamily="49" charset="-122"/>
                <a:ea typeface="楷体_GB2312" pitchFamily="49" charset="-122"/>
              </a:rPr>
              <a:t>运算规律：逢十六进一，即：</a:t>
            </a:r>
            <a:r>
              <a:rPr lang="en-US" altLang="zh-CN" b="1">
                <a:latin typeface="楷体_GB2312" pitchFamily="49" charset="-122"/>
                <a:ea typeface="楷体_GB2312" pitchFamily="49" charset="-122"/>
              </a:rPr>
              <a:t>F</a:t>
            </a:r>
            <a:r>
              <a:rPr lang="zh-CN" altLang="en-US" b="1" dirty="0">
                <a:latin typeface="楷体_GB2312" pitchFamily="49" charset="-122"/>
                <a:ea typeface="楷体_GB2312" pitchFamily="49" charset="-122"/>
              </a:rPr>
              <a:t>＋</a:t>
            </a:r>
            <a:r>
              <a:rPr lang="en-US" altLang="zh-CN" b="1">
                <a:latin typeface="楷体_GB2312" pitchFamily="49" charset="-122"/>
                <a:ea typeface="楷体_GB2312" pitchFamily="49" charset="-122"/>
              </a:rPr>
              <a:t>1</a:t>
            </a:r>
            <a:r>
              <a:rPr lang="zh-CN" altLang="en-US" b="1" dirty="0">
                <a:latin typeface="楷体_GB2312" pitchFamily="49" charset="-122"/>
                <a:ea typeface="楷体_GB2312" pitchFamily="49" charset="-122"/>
              </a:rPr>
              <a:t>＝</a:t>
            </a:r>
            <a:r>
              <a:rPr lang="en-US" altLang="zh-CN" b="1">
                <a:latin typeface="楷体_GB2312" pitchFamily="49" charset="-122"/>
                <a:ea typeface="楷体_GB2312" pitchFamily="49" charset="-122"/>
              </a:rPr>
              <a:t>10</a:t>
            </a:r>
            <a:r>
              <a:rPr lang="zh-CN" altLang="en-US" b="1" dirty="0">
                <a:latin typeface="楷体_GB2312" pitchFamily="49" charset="-122"/>
                <a:ea typeface="楷体_GB2312" pitchFamily="49" charset="-122"/>
              </a:rPr>
              <a:t>。</a:t>
            </a:r>
            <a:endParaRPr lang="zh-CN" altLang="en-US" b="1" dirty="0">
              <a:latin typeface="楷体_GB2312" pitchFamily="49" charset="-122"/>
              <a:ea typeface="楷体_GB2312" pitchFamily="49" charset="-122"/>
            </a:endParaRPr>
          </a:p>
          <a:p>
            <a:pPr lvl="0">
              <a:buNone/>
            </a:pPr>
            <a:r>
              <a:rPr lang="zh-CN" altLang="en-US" b="1" dirty="0">
                <a:latin typeface="楷体_GB2312" pitchFamily="49" charset="-122"/>
                <a:ea typeface="楷体_GB2312" pitchFamily="49" charset="-122"/>
              </a:rPr>
              <a:t>十六进制数的权展开式：</a:t>
            </a:r>
            <a:r>
              <a:rPr lang="en-US" altLang="zh-CN" b="0">
                <a:latin typeface="楷体_GB2312" pitchFamily="49" charset="-122"/>
                <a:ea typeface="楷体_GB2312" pitchFamily="49" charset="-122"/>
              </a:rPr>
              <a:t>D</a:t>
            </a:r>
            <a:r>
              <a:rPr lang="zh-CN" altLang="en-US" b="0" dirty="0">
                <a:latin typeface="楷体_GB2312" pitchFamily="49" charset="-122"/>
                <a:ea typeface="楷体_GB2312" pitchFamily="49" charset="-122"/>
              </a:rPr>
              <a:t>＝</a:t>
            </a:r>
            <a:r>
              <a:rPr lang="en-US" altLang="zh-CN" b="0" dirty="0">
                <a:latin typeface="楷体_GB2312" pitchFamily="49" charset="-122"/>
                <a:ea typeface="楷体_GB2312" pitchFamily="49" charset="-122"/>
              </a:rPr>
              <a:t>∑</a:t>
            </a:r>
            <a:r>
              <a:rPr lang="en-US" altLang="zh-CN" b="0" i="1">
                <a:latin typeface="楷体_GB2312" pitchFamily="49" charset="-122"/>
                <a:ea typeface="楷体_GB2312" pitchFamily="49" charset="-122"/>
              </a:rPr>
              <a:t>k</a:t>
            </a:r>
            <a:r>
              <a:rPr lang="en-US" altLang="zh-CN" b="0" i="1" baseline="-25000">
                <a:latin typeface="楷体_GB2312" pitchFamily="49" charset="-122"/>
                <a:ea typeface="楷体_GB2312" pitchFamily="49" charset="-122"/>
              </a:rPr>
              <a:t>i</a:t>
            </a:r>
            <a:r>
              <a:rPr lang="en-US" altLang="zh-CN" b="0">
                <a:latin typeface="楷体_GB2312" pitchFamily="49" charset="-122"/>
                <a:ea typeface="楷体_GB2312" pitchFamily="49" charset="-122"/>
              </a:rPr>
              <a:t>×16</a:t>
            </a:r>
            <a:r>
              <a:rPr lang="en-US" altLang="zh-CN" b="0" i="1" baseline="30000">
                <a:latin typeface="楷体_GB2312" pitchFamily="49" charset="-122"/>
                <a:ea typeface="楷体_GB2312" pitchFamily="49" charset="-122"/>
              </a:rPr>
              <a:t>i</a:t>
            </a:r>
            <a:endParaRPr lang="en-US" altLang="zh-CN" b="1">
              <a:latin typeface="楷体_GB2312" pitchFamily="49" charset="-122"/>
              <a:ea typeface="楷体_GB2312" pitchFamily="49" charset="-122"/>
            </a:endParaRPr>
          </a:p>
        </p:txBody>
      </p:sp>
      <p:sp>
        <p:nvSpPr>
          <p:cNvPr id="11269" name="圆角矩形 11268"/>
          <p:cNvSpPr/>
          <p:nvPr/>
        </p:nvSpPr>
        <p:spPr>
          <a:xfrm>
            <a:off x="539750" y="404813"/>
            <a:ext cx="3095625" cy="647700"/>
          </a:xfrm>
          <a:prstGeom prst="roundRect">
            <a:avLst>
              <a:gd name="adj" fmla="val 16667"/>
            </a:avLst>
          </a:prstGeom>
          <a:solidFill>
            <a:srgbClr val="00FF00"/>
          </a:solidFill>
          <a:ln w="9525" cap="flat" cmpd="sng">
            <a:solidFill>
              <a:srgbClr val="FF7C80"/>
            </a:solidFill>
            <a:prstDash val="solid"/>
            <a:headEnd type="none" w="med" len="med"/>
            <a:tailEnd type="none" w="med" len="med"/>
          </a:ln>
        </p:spPr>
        <p:txBody>
          <a:bodyPr wrap="none" lIns="0" anchor="ctr" anchorCtr="0"/>
          <a:p>
            <a:pPr algn="ctr"/>
            <a:r>
              <a:rPr lang="zh-CN" altLang="en-US" sz="3200" b="0" dirty="0">
                <a:solidFill>
                  <a:srgbClr val="000000"/>
                </a:solidFill>
                <a:latin typeface="Verdana" panose="020B0604030504040204" pitchFamily="34" charset="0"/>
              </a:rPr>
              <a:t>四、十六进制</a:t>
            </a:r>
            <a:endParaRPr lang="zh-CN" altLang="en-US" sz="3200" b="0" dirty="0">
              <a:solidFill>
                <a:srgbClr val="000000"/>
              </a:solidFill>
              <a:latin typeface="Verdana" panose="020B0604030504040204" pitchFamily="34" charset="0"/>
            </a:endParaRPr>
          </a:p>
        </p:txBody>
      </p:sp>
      <p:sp>
        <p:nvSpPr>
          <p:cNvPr id="11270" name="文本框 11269"/>
          <p:cNvSpPr txBox="1"/>
          <p:nvPr/>
        </p:nvSpPr>
        <p:spPr>
          <a:xfrm>
            <a:off x="179388" y="3962400"/>
            <a:ext cx="8964612" cy="1031875"/>
          </a:xfrm>
          <a:prstGeom prst="rect">
            <a:avLst/>
          </a:prstGeom>
          <a:noFill/>
          <a:ln w="9525">
            <a:noFill/>
          </a:ln>
        </p:spPr>
        <p:txBody>
          <a:bodyPr>
            <a:spAutoFit/>
          </a:bodyPr>
          <a:p>
            <a:pPr>
              <a:spcBef>
                <a:spcPct val="20000"/>
              </a:spcBef>
            </a:pPr>
            <a:r>
              <a:rPr lang="en-US" altLang="zh-CN">
                <a:latin typeface="华文楷体" panose="02010600040101010101" pitchFamily="2" charset="-122"/>
                <a:ea typeface="华文楷体" panose="02010600040101010101" pitchFamily="2" charset="-122"/>
              </a:rPr>
              <a:t>(2A.7F)</a:t>
            </a:r>
            <a:r>
              <a:rPr lang="en-US" altLang="zh-CN" baseline="-25000">
                <a:latin typeface="华文楷体" panose="02010600040101010101" pitchFamily="2" charset="-122"/>
                <a:ea typeface="华文楷体" panose="02010600040101010101" pitchFamily="2" charset="-122"/>
              </a:rPr>
              <a:t>H</a:t>
            </a:r>
            <a:r>
              <a:rPr lang="zh-CN" altLang="en-US" dirty="0">
                <a:latin typeface="华文楷体" panose="02010600040101010101" pitchFamily="2" charset="-122"/>
                <a:ea typeface="华文楷体" panose="02010600040101010101" pitchFamily="2" charset="-122"/>
              </a:rPr>
              <a:t>＝ </a:t>
            </a:r>
            <a:r>
              <a:rPr lang="en-US" altLang="zh-CN">
                <a:latin typeface="华文楷体" panose="02010600040101010101" pitchFamily="2" charset="-122"/>
                <a:ea typeface="华文楷体" panose="02010600040101010101" pitchFamily="2" charset="-122"/>
              </a:rPr>
              <a:t>2×16</a:t>
            </a:r>
            <a:r>
              <a:rPr lang="en-US" altLang="zh-CN" baseline="30000">
                <a:latin typeface="华文楷体" panose="02010600040101010101" pitchFamily="2" charset="-122"/>
                <a:ea typeface="华文楷体" panose="02010600040101010101" pitchFamily="2" charset="-122"/>
              </a:rPr>
              <a:t>1</a:t>
            </a:r>
            <a:r>
              <a:rPr lang="zh-CN" altLang="en-US" dirty="0">
                <a:latin typeface="华文楷体" panose="02010600040101010101" pitchFamily="2" charset="-122"/>
                <a:ea typeface="华文楷体" panose="02010600040101010101" pitchFamily="2" charset="-122"/>
              </a:rPr>
              <a:t>＋</a:t>
            </a:r>
            <a:r>
              <a:rPr lang="en-US" altLang="zh-CN">
                <a:latin typeface="华文楷体" panose="02010600040101010101" pitchFamily="2" charset="-122"/>
                <a:ea typeface="华文楷体" panose="02010600040101010101" pitchFamily="2" charset="-122"/>
              </a:rPr>
              <a:t>10×16</a:t>
            </a:r>
            <a:r>
              <a:rPr lang="en-US" altLang="zh-CN" baseline="30000">
                <a:latin typeface="华文楷体" panose="02010600040101010101" pitchFamily="2" charset="-122"/>
                <a:ea typeface="华文楷体" panose="02010600040101010101" pitchFamily="2" charset="-122"/>
              </a:rPr>
              <a:t>0</a:t>
            </a:r>
            <a:r>
              <a:rPr lang="zh-CN" altLang="en-US" dirty="0">
                <a:latin typeface="华文楷体" panose="02010600040101010101" pitchFamily="2" charset="-122"/>
                <a:ea typeface="华文楷体" panose="02010600040101010101" pitchFamily="2" charset="-122"/>
              </a:rPr>
              <a:t>＋</a:t>
            </a:r>
            <a:r>
              <a:rPr lang="en-US" altLang="zh-CN">
                <a:latin typeface="华文楷体" panose="02010600040101010101" pitchFamily="2" charset="-122"/>
                <a:ea typeface="华文楷体" panose="02010600040101010101" pitchFamily="2" charset="-122"/>
              </a:rPr>
              <a:t>7×16</a:t>
            </a:r>
            <a:r>
              <a:rPr lang="zh-CN" altLang="en-US" baseline="30000" dirty="0">
                <a:latin typeface="华文楷体" panose="02010600040101010101" pitchFamily="2" charset="-122"/>
                <a:ea typeface="华文楷体" panose="02010600040101010101" pitchFamily="2" charset="-122"/>
              </a:rPr>
              <a:t>－</a:t>
            </a:r>
            <a:r>
              <a:rPr lang="en-US" altLang="zh-CN" baseline="30000">
                <a:latin typeface="华文楷体" panose="02010600040101010101" pitchFamily="2" charset="-122"/>
                <a:ea typeface="华文楷体" panose="02010600040101010101" pitchFamily="2" charset="-122"/>
              </a:rPr>
              <a:t>1</a:t>
            </a:r>
            <a:r>
              <a:rPr lang="zh-CN" altLang="en-US" dirty="0">
                <a:latin typeface="Verdana" panose="020B0604030504040204" pitchFamily="34" charset="0"/>
              </a:rPr>
              <a:t>＋</a:t>
            </a:r>
            <a:r>
              <a:rPr lang="en-US" altLang="zh-CN" b="0">
                <a:latin typeface="华文楷体" panose="02010600040101010101" pitchFamily="2" charset="-122"/>
                <a:ea typeface="华文楷体" panose="02010600040101010101" pitchFamily="2" charset="-122"/>
              </a:rPr>
              <a:t>15</a:t>
            </a:r>
            <a:r>
              <a:rPr lang="en-US" altLang="zh-CN">
                <a:latin typeface="华文楷体" panose="02010600040101010101" pitchFamily="2" charset="-122"/>
                <a:ea typeface="华文楷体" panose="02010600040101010101" pitchFamily="2" charset="-122"/>
              </a:rPr>
              <a:t>×16</a:t>
            </a:r>
            <a:r>
              <a:rPr lang="zh-CN" altLang="en-US" baseline="30000" dirty="0">
                <a:latin typeface="华文楷体" panose="02010600040101010101" pitchFamily="2" charset="-122"/>
                <a:ea typeface="华文楷体" panose="02010600040101010101" pitchFamily="2" charset="-122"/>
              </a:rPr>
              <a:t>－</a:t>
            </a:r>
            <a:r>
              <a:rPr lang="en-US" altLang="zh-CN" baseline="30000">
                <a:latin typeface="华文楷体" panose="02010600040101010101" pitchFamily="2" charset="-122"/>
                <a:ea typeface="华文楷体" panose="02010600040101010101" pitchFamily="2" charset="-122"/>
              </a:rPr>
              <a:t>2</a:t>
            </a:r>
            <a:endParaRPr lang="en-US" altLang="zh-CN" b="0" baseline="30000">
              <a:latin typeface="华文楷体" panose="02010600040101010101" pitchFamily="2" charset="-122"/>
              <a:ea typeface="华文楷体" panose="02010600040101010101" pitchFamily="2" charset="-122"/>
            </a:endParaRPr>
          </a:p>
          <a:p>
            <a:pPr>
              <a:spcBef>
                <a:spcPct val="20000"/>
              </a:spcBef>
            </a:pPr>
            <a:r>
              <a:rPr lang="zh-CN" altLang="en-US" dirty="0">
                <a:latin typeface="华文楷体" panose="02010600040101010101" pitchFamily="2" charset="-122"/>
                <a:ea typeface="华文楷体" panose="02010600040101010101" pitchFamily="2" charset="-122"/>
              </a:rPr>
              <a:t>＝</a:t>
            </a:r>
            <a:r>
              <a:rPr lang="en-US" altLang="zh-CN">
                <a:latin typeface="华文楷体" panose="02010600040101010101" pitchFamily="2" charset="-122"/>
                <a:ea typeface="华文楷体" panose="02010600040101010101" pitchFamily="2" charset="-122"/>
              </a:rPr>
              <a:t>(42.4960937)</a:t>
            </a:r>
            <a:r>
              <a:rPr lang="en-US" altLang="zh-CN" baseline="-25000">
                <a:latin typeface="华文楷体" panose="02010600040101010101" pitchFamily="2" charset="-122"/>
                <a:ea typeface="华文楷体" panose="02010600040101010101" pitchFamily="2" charset="-122"/>
              </a:rPr>
              <a:t>D</a:t>
            </a:r>
            <a:endParaRPr lang="en-US" altLang="zh-CN" baseline="-25000">
              <a:latin typeface="华文楷体" panose="02010600040101010101" pitchFamily="2" charset="-122"/>
              <a:ea typeface="华文楷体" panose="02010600040101010101" pitchFamily="2" charset="-122"/>
            </a:endParaRPr>
          </a:p>
        </p:txBody>
      </p:sp>
      <p:sp>
        <p:nvSpPr>
          <p:cNvPr id="11271" name="文本框 11270"/>
          <p:cNvSpPr txBox="1"/>
          <p:nvPr/>
        </p:nvSpPr>
        <p:spPr>
          <a:xfrm>
            <a:off x="2771775" y="5373688"/>
            <a:ext cx="5257800" cy="531812"/>
          </a:xfrm>
          <a:prstGeom prst="rect">
            <a:avLst/>
          </a:prstGeom>
          <a:noFill/>
          <a:ln w="12700" cap="flat" cmpd="sng">
            <a:solidFill>
              <a:srgbClr val="339933"/>
            </a:solidFill>
            <a:prstDash val="solid"/>
            <a:miter/>
            <a:headEnd type="none" w="sm" len="sm"/>
            <a:tailEnd type="none" w="sm" len="sm"/>
          </a:ln>
        </p:spPr>
        <p:txBody>
          <a:bodyPr>
            <a:spAutoFit/>
          </a:bodyPr>
          <a:p>
            <a:pPr marL="342900" indent="-342900" algn="ctr" eaLnBrk="0" hangingPunct="0">
              <a:spcBef>
                <a:spcPct val="50000"/>
              </a:spcBef>
            </a:pPr>
            <a:r>
              <a:rPr lang="zh-CN" altLang="en-US" dirty="0">
                <a:latin typeface="华文楷体" panose="02010600040101010101" pitchFamily="2" charset="-122"/>
                <a:ea typeface="华文楷体" panose="02010600040101010101" pitchFamily="2" charset="-122"/>
              </a:rPr>
              <a:t>各数位的权是</a:t>
            </a:r>
            <a:r>
              <a:rPr lang="en-US" altLang="zh-CN">
                <a:latin typeface="华文楷体" panose="02010600040101010101" pitchFamily="2" charset="-122"/>
                <a:ea typeface="华文楷体" panose="02010600040101010101" pitchFamily="2" charset="-122"/>
              </a:rPr>
              <a:t>16</a:t>
            </a:r>
            <a:r>
              <a:rPr lang="zh-CN" altLang="en-US" dirty="0">
                <a:latin typeface="华文楷体" panose="02010600040101010101" pitchFamily="2" charset="-122"/>
                <a:ea typeface="华文楷体" panose="02010600040101010101" pitchFamily="2" charset="-122"/>
              </a:rPr>
              <a:t>的幂</a:t>
            </a:r>
            <a:endParaRPr lang="zh-CN" altLang="en-US" dirty="0">
              <a:latin typeface="华文楷体" panose="02010600040101010101" pitchFamily="2" charset="-122"/>
              <a:ea typeface="华文楷体" panose="02010600040101010101" pitchFamily="2" charset="-122"/>
            </a:endParaRPr>
          </a:p>
        </p:txBody>
      </p:sp>
      <p:sp>
        <p:nvSpPr>
          <p:cNvPr id="11272" name="直接连接符 11271"/>
          <p:cNvSpPr/>
          <p:nvPr/>
        </p:nvSpPr>
        <p:spPr>
          <a:xfrm flipV="1">
            <a:off x="3059113" y="4581525"/>
            <a:ext cx="0" cy="744538"/>
          </a:xfrm>
          <a:prstGeom prst="line">
            <a:avLst/>
          </a:prstGeom>
          <a:ln w="57150" cap="flat" cmpd="sng">
            <a:solidFill>
              <a:srgbClr val="FF3300"/>
            </a:solidFill>
            <a:prstDash val="solid"/>
            <a:headEnd type="none" w="sm" len="sm"/>
            <a:tailEnd type="triangle" w="med" len="med"/>
          </a:ln>
        </p:spPr>
      </p:sp>
      <p:sp>
        <p:nvSpPr>
          <p:cNvPr id="11273" name="直接连接符 11272"/>
          <p:cNvSpPr/>
          <p:nvPr/>
        </p:nvSpPr>
        <p:spPr>
          <a:xfrm flipV="1">
            <a:off x="5867400" y="4652963"/>
            <a:ext cx="0" cy="685800"/>
          </a:xfrm>
          <a:prstGeom prst="line">
            <a:avLst/>
          </a:prstGeom>
          <a:ln w="57150" cap="flat" cmpd="sng">
            <a:solidFill>
              <a:srgbClr val="FF3300"/>
            </a:solidFill>
            <a:prstDash val="solid"/>
            <a:headEnd type="none" w="sm" len="sm"/>
            <a:tailEnd type="triangle" w="med" len="med"/>
          </a:ln>
        </p:spPr>
      </p:sp>
      <p:sp>
        <p:nvSpPr>
          <p:cNvPr id="11274" name="直接连接符 11273"/>
          <p:cNvSpPr/>
          <p:nvPr/>
        </p:nvSpPr>
        <p:spPr>
          <a:xfrm flipV="1">
            <a:off x="7667625" y="4581525"/>
            <a:ext cx="0" cy="762000"/>
          </a:xfrm>
          <a:prstGeom prst="line">
            <a:avLst/>
          </a:prstGeom>
          <a:ln w="57150" cap="flat" cmpd="sng">
            <a:solidFill>
              <a:srgbClr val="FF3300"/>
            </a:solidFill>
            <a:prstDash val="solid"/>
            <a:headEnd type="none" w="sm" len="sm"/>
            <a:tailEnd type="triangle" w="med" len="med"/>
          </a:ln>
        </p:spPr>
      </p:sp>
      <p:sp>
        <p:nvSpPr>
          <p:cNvPr id="11275" name="直接连接符 11274"/>
          <p:cNvSpPr/>
          <p:nvPr/>
        </p:nvSpPr>
        <p:spPr>
          <a:xfrm flipV="1">
            <a:off x="4427538" y="4581525"/>
            <a:ext cx="0" cy="762000"/>
          </a:xfrm>
          <a:prstGeom prst="line">
            <a:avLst/>
          </a:prstGeom>
          <a:ln w="57150" cap="flat" cmpd="sng">
            <a:solidFill>
              <a:srgbClr val="FF3300"/>
            </a:solidFill>
            <a:prstDash val="solid"/>
            <a:headEnd type="none" w="sm" len="sm"/>
            <a:tailEnd type="triangl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8">
                                            <p:txEl>
                                              <p:charRg st="0" end="19"/>
                                            </p:txEl>
                                          </p:spTgt>
                                        </p:tgtEl>
                                        <p:attrNameLst>
                                          <p:attrName>style.visibility</p:attrName>
                                        </p:attrNameLst>
                                      </p:cBhvr>
                                      <p:to>
                                        <p:strVal val="visible"/>
                                      </p:to>
                                    </p:set>
                                    <p:animEffect transition="in" filter="wipe(left)">
                                      <p:cBhvr>
                                        <p:cTn id="7" dur="500"/>
                                        <p:tgtEl>
                                          <p:spTgt spid="11268">
                                            <p:txEl>
                                              <p:charRg st="0" end="1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268">
                                            <p:txEl>
                                              <p:charRg st="19" end="41"/>
                                            </p:txEl>
                                          </p:spTgt>
                                        </p:tgtEl>
                                        <p:attrNameLst>
                                          <p:attrName>style.visibility</p:attrName>
                                        </p:attrNameLst>
                                      </p:cBhvr>
                                      <p:to>
                                        <p:strVal val="visible"/>
                                      </p:to>
                                    </p:set>
                                    <p:animEffect transition="in" filter="wipe(left)">
                                      <p:cBhvr>
                                        <p:cTn id="12" dur="500"/>
                                        <p:tgtEl>
                                          <p:spTgt spid="11268">
                                            <p:txEl>
                                              <p:charRg st="19" end="4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268">
                                            <p:txEl>
                                              <p:charRg st="41" end="62"/>
                                            </p:txEl>
                                          </p:spTgt>
                                        </p:tgtEl>
                                        <p:attrNameLst>
                                          <p:attrName>style.visibility</p:attrName>
                                        </p:attrNameLst>
                                      </p:cBhvr>
                                      <p:to>
                                        <p:strVal val="visible"/>
                                      </p:to>
                                    </p:set>
                                    <p:animEffect transition="in" filter="wipe(left)">
                                      <p:cBhvr>
                                        <p:cTn id="17" dur="500"/>
                                        <p:tgtEl>
                                          <p:spTgt spid="11268">
                                            <p:txEl>
                                              <p:charRg st="41" end="6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268">
                                            <p:txEl>
                                              <p:charRg st="62" end="83"/>
                                            </p:txEl>
                                          </p:spTgt>
                                        </p:tgtEl>
                                        <p:attrNameLst>
                                          <p:attrName>style.visibility</p:attrName>
                                        </p:attrNameLst>
                                      </p:cBhvr>
                                      <p:to>
                                        <p:strVal val="visible"/>
                                      </p:to>
                                    </p:set>
                                    <p:animEffect transition="in" filter="wipe(left)">
                                      <p:cBhvr>
                                        <p:cTn id="22" dur="500"/>
                                        <p:tgtEl>
                                          <p:spTgt spid="11268">
                                            <p:txEl>
                                              <p:charRg st="62" end="8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270"/>
                                        </p:tgtEl>
                                        <p:attrNameLst>
                                          <p:attrName>style.visibility</p:attrName>
                                        </p:attrNameLst>
                                      </p:cBhvr>
                                      <p:to>
                                        <p:strVal val="visible"/>
                                      </p:to>
                                    </p:set>
                                    <p:animEffect transition="in" filter="wipe(left)">
                                      <p:cBhvr>
                                        <p:cTn id="27" dur="500"/>
                                        <p:tgtEl>
                                          <p:spTgt spid="11270"/>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11271"/>
                                        </p:tgtEl>
                                        <p:attrNameLst>
                                          <p:attrName>style.visibility</p:attrName>
                                        </p:attrNameLst>
                                      </p:cBhvr>
                                      <p:to>
                                        <p:strVal val="visible"/>
                                      </p:to>
                                    </p:set>
                                    <p:animEffect transition="in" filter="wipe(left)">
                                      <p:cBhvr>
                                        <p:cTn id="31" dur="500"/>
                                        <p:tgtEl>
                                          <p:spTgt spid="11271"/>
                                        </p:tgtEl>
                                      </p:cBhvr>
                                    </p:animEffect>
                                  </p:childTnLst>
                                </p:cTn>
                              </p:par>
                              <p:par>
                                <p:cTn id="32" presetID="12" presetClass="entr" presetSubtype="4" fill="hold" nodeType="withEffect">
                                  <p:stCondLst>
                                    <p:cond delay="0"/>
                                  </p:stCondLst>
                                  <p:childTnLst>
                                    <p:set>
                                      <p:cBhvr>
                                        <p:cTn id="33" dur="1" fill="hold">
                                          <p:stCondLst>
                                            <p:cond delay="0"/>
                                          </p:stCondLst>
                                        </p:cTn>
                                        <p:tgtEl>
                                          <p:spTgt spid="11272"/>
                                        </p:tgtEl>
                                        <p:attrNameLst>
                                          <p:attrName>style.visibility</p:attrName>
                                        </p:attrNameLst>
                                      </p:cBhvr>
                                      <p:to>
                                        <p:strVal val="visible"/>
                                      </p:to>
                                    </p:set>
                                    <p:animEffect transition="in" filter="slide(fromBottom)">
                                      <p:cBhvr>
                                        <p:cTn id="34" dur="500"/>
                                        <p:tgtEl>
                                          <p:spTgt spid="11272"/>
                                        </p:tgtEl>
                                      </p:cBhvr>
                                    </p:animEffect>
                                  </p:childTnLst>
                                </p:cTn>
                              </p:par>
                            </p:childTnLst>
                          </p:cTn>
                        </p:par>
                        <p:par>
                          <p:cTn id="35" fill="hold">
                            <p:stCondLst>
                              <p:cond delay="1000"/>
                            </p:stCondLst>
                            <p:childTnLst>
                              <p:par>
                                <p:cTn id="36" presetID="12" presetClass="entr" presetSubtype="4" fill="hold" nodeType="afterEffect">
                                  <p:stCondLst>
                                    <p:cond delay="0"/>
                                  </p:stCondLst>
                                  <p:childTnLst>
                                    <p:set>
                                      <p:cBhvr>
                                        <p:cTn id="37" dur="1" fill="hold">
                                          <p:stCondLst>
                                            <p:cond delay="0"/>
                                          </p:stCondLst>
                                        </p:cTn>
                                        <p:tgtEl>
                                          <p:spTgt spid="11275"/>
                                        </p:tgtEl>
                                        <p:attrNameLst>
                                          <p:attrName>style.visibility</p:attrName>
                                        </p:attrNameLst>
                                      </p:cBhvr>
                                      <p:to>
                                        <p:strVal val="visible"/>
                                      </p:to>
                                    </p:set>
                                    <p:animEffect transition="in" filter="slide(fromBottom)">
                                      <p:cBhvr>
                                        <p:cTn id="38" dur="500"/>
                                        <p:tgtEl>
                                          <p:spTgt spid="11275"/>
                                        </p:tgtEl>
                                      </p:cBhvr>
                                    </p:animEffect>
                                  </p:childTnLst>
                                </p:cTn>
                              </p:par>
                            </p:childTnLst>
                          </p:cTn>
                        </p:par>
                        <p:par>
                          <p:cTn id="39" fill="hold">
                            <p:stCondLst>
                              <p:cond delay="1500"/>
                            </p:stCondLst>
                            <p:childTnLst>
                              <p:par>
                                <p:cTn id="40" presetID="12" presetClass="entr" presetSubtype="4" fill="hold" nodeType="afterEffect">
                                  <p:stCondLst>
                                    <p:cond delay="0"/>
                                  </p:stCondLst>
                                  <p:childTnLst>
                                    <p:set>
                                      <p:cBhvr>
                                        <p:cTn id="41" dur="1" fill="hold">
                                          <p:stCondLst>
                                            <p:cond delay="0"/>
                                          </p:stCondLst>
                                        </p:cTn>
                                        <p:tgtEl>
                                          <p:spTgt spid="11273"/>
                                        </p:tgtEl>
                                        <p:attrNameLst>
                                          <p:attrName>style.visibility</p:attrName>
                                        </p:attrNameLst>
                                      </p:cBhvr>
                                      <p:to>
                                        <p:strVal val="visible"/>
                                      </p:to>
                                    </p:set>
                                    <p:animEffect transition="in" filter="slide(fromBottom)">
                                      <p:cBhvr>
                                        <p:cTn id="42" dur="500"/>
                                        <p:tgtEl>
                                          <p:spTgt spid="11273"/>
                                        </p:tgtEl>
                                      </p:cBhvr>
                                    </p:animEffect>
                                  </p:childTnLst>
                                </p:cTn>
                              </p:par>
                            </p:childTnLst>
                          </p:cTn>
                        </p:par>
                        <p:par>
                          <p:cTn id="43" fill="hold">
                            <p:stCondLst>
                              <p:cond delay="2000"/>
                            </p:stCondLst>
                            <p:childTnLst>
                              <p:par>
                                <p:cTn id="44" presetID="12" presetClass="entr" presetSubtype="4" fill="hold" nodeType="afterEffect">
                                  <p:stCondLst>
                                    <p:cond delay="0"/>
                                  </p:stCondLst>
                                  <p:childTnLst>
                                    <p:set>
                                      <p:cBhvr>
                                        <p:cTn id="45" dur="1" fill="hold">
                                          <p:stCondLst>
                                            <p:cond delay="0"/>
                                          </p:stCondLst>
                                        </p:cTn>
                                        <p:tgtEl>
                                          <p:spTgt spid="11274"/>
                                        </p:tgtEl>
                                        <p:attrNameLst>
                                          <p:attrName>style.visibility</p:attrName>
                                        </p:attrNameLst>
                                      </p:cBhvr>
                                      <p:to>
                                        <p:strVal val="visible"/>
                                      </p:to>
                                    </p:set>
                                    <p:animEffect transition="in" filter="slide(fromBottom)">
                                      <p:cBhvr>
                                        <p:cTn id="46" dur="500"/>
                                        <p:tgtEl>
                                          <p:spTgt spid="11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build="p"/>
      <p:bldP spid="11270" grpId="0"/>
      <p:bldP spid="1127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2292" name="对象 12291"/>
          <p:cNvGraphicFramePr/>
          <p:nvPr/>
        </p:nvGraphicFramePr>
        <p:xfrm>
          <a:off x="0" y="188913"/>
          <a:ext cx="9144000" cy="6324600"/>
        </p:xfrm>
        <a:graphic>
          <a:graphicData uri="http://schemas.openxmlformats.org/presentationml/2006/ole">
            <mc:AlternateContent xmlns:mc="http://schemas.openxmlformats.org/markup-compatibility/2006">
              <mc:Choice xmlns:v="urn:schemas-microsoft-com:vml" Requires="v">
                <p:oleObj spid="_x0000_s3076" name="" r:id="rId1" imgW="8910320" imgH="6532880" progId="Word.Document.8">
                  <p:embed/>
                </p:oleObj>
              </mc:Choice>
              <mc:Fallback>
                <p:oleObj name="" r:id="rId1" imgW="8910320" imgH="6532880" progId="Word.Document.8">
                  <p:embed/>
                  <p:pic>
                    <p:nvPicPr>
                      <p:cNvPr id="0" name="图片 3075"/>
                      <p:cNvPicPr/>
                      <p:nvPr/>
                    </p:nvPicPr>
                    <p:blipFill>
                      <a:blip r:embed="rId2"/>
                      <a:srcRect l="6218" t="1210" r="8116" b="1991"/>
                      <a:stretch>
                        <a:fillRect/>
                      </a:stretch>
                    </p:blipFill>
                    <p:spPr>
                      <a:xfrm>
                        <a:off x="0" y="188913"/>
                        <a:ext cx="9144000" cy="6324600"/>
                      </a:xfrm>
                      <a:prstGeom prst="rect">
                        <a:avLst/>
                      </a:prstGeom>
                      <a:solidFill>
                        <a:srgbClr val="D9FFEC"/>
                      </a:solidFill>
                      <a:ln w="38100">
                        <a:noFill/>
                        <a:miter/>
                      </a:ln>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7" name="文本框 13316"/>
          <p:cNvSpPr txBox="1"/>
          <p:nvPr/>
        </p:nvSpPr>
        <p:spPr>
          <a:xfrm>
            <a:off x="381000" y="1371600"/>
            <a:ext cx="3470275" cy="579438"/>
          </a:xfrm>
          <a:prstGeom prst="rect">
            <a:avLst/>
          </a:prstGeom>
          <a:solidFill>
            <a:srgbClr val="00FF00"/>
          </a:solidFill>
          <a:ln w="9525">
            <a:noFill/>
          </a:ln>
        </p:spPr>
        <p:txBody>
          <a:bodyPr>
            <a:spAutoFit/>
          </a:bodyPr>
          <a:p>
            <a:pPr>
              <a:spcBef>
                <a:spcPct val="50000"/>
              </a:spcBef>
            </a:pPr>
            <a:r>
              <a:rPr lang="zh-CN" altLang="en-US" sz="3200" dirty="0">
                <a:solidFill>
                  <a:srgbClr val="990000"/>
                </a:solidFill>
                <a:latin typeface="华文楷体" panose="02010600040101010101" pitchFamily="2" charset="-122"/>
                <a:ea typeface="华文楷体" panose="02010600040101010101" pitchFamily="2" charset="-122"/>
              </a:rPr>
              <a:t>一、二－十转换</a:t>
            </a:r>
            <a:endParaRPr lang="zh-CN" altLang="en-US" sz="3200" dirty="0">
              <a:solidFill>
                <a:srgbClr val="990000"/>
              </a:solidFill>
              <a:latin typeface="华文楷体" panose="02010600040101010101" pitchFamily="2" charset="-122"/>
              <a:ea typeface="华文楷体" panose="02010600040101010101" pitchFamily="2" charset="-122"/>
            </a:endParaRPr>
          </a:p>
        </p:txBody>
      </p:sp>
      <p:sp>
        <p:nvSpPr>
          <p:cNvPr id="13318" name="文本框 13317"/>
          <p:cNvSpPr txBox="1"/>
          <p:nvPr/>
        </p:nvSpPr>
        <p:spPr>
          <a:xfrm>
            <a:off x="228600" y="2209800"/>
            <a:ext cx="8915400" cy="1160463"/>
          </a:xfrm>
          <a:prstGeom prst="rect">
            <a:avLst/>
          </a:prstGeom>
          <a:noFill/>
          <a:ln w="9525">
            <a:noFill/>
          </a:ln>
        </p:spPr>
        <p:txBody>
          <a:bodyPr>
            <a:spAutoFit/>
          </a:bodyPr>
          <a:p>
            <a:pPr>
              <a:spcBef>
                <a:spcPct val="50000"/>
              </a:spcBef>
            </a:pPr>
            <a:r>
              <a:rPr lang="zh-CN" altLang="en-US" dirty="0">
                <a:latin typeface="华文楷体" panose="02010600040101010101" pitchFamily="2" charset="-122"/>
                <a:ea typeface="华文楷体" panose="02010600040101010101" pitchFamily="2" charset="-122"/>
              </a:rPr>
              <a:t>方法：</a:t>
            </a:r>
            <a:endParaRPr lang="zh-CN" altLang="en-US" dirty="0">
              <a:latin typeface="华文楷体" panose="02010600040101010101" pitchFamily="2" charset="-122"/>
              <a:ea typeface="华文楷体" panose="02010600040101010101" pitchFamily="2" charset="-122"/>
            </a:endParaRPr>
          </a:p>
          <a:p>
            <a:pPr>
              <a:spcBef>
                <a:spcPct val="50000"/>
              </a:spcBef>
            </a:pPr>
            <a:r>
              <a:rPr lang="zh-CN" altLang="en-US" dirty="0">
                <a:latin typeface="华文楷体" panose="02010600040101010101" pitchFamily="2" charset="-122"/>
                <a:ea typeface="华文楷体" panose="02010600040101010101" pitchFamily="2" charset="-122"/>
              </a:rPr>
              <a:t>将二进制数按权展开再相加，即可以转换为十进制数。</a:t>
            </a:r>
            <a:endParaRPr lang="zh-CN" altLang="en-US" dirty="0">
              <a:latin typeface="华文楷体" panose="02010600040101010101" pitchFamily="2" charset="-122"/>
              <a:ea typeface="华文楷体" panose="02010600040101010101" pitchFamily="2" charset="-122"/>
            </a:endParaRPr>
          </a:p>
        </p:txBody>
      </p:sp>
      <p:sp>
        <p:nvSpPr>
          <p:cNvPr id="13320" name="文本框 13319"/>
          <p:cNvSpPr txBox="1"/>
          <p:nvPr/>
        </p:nvSpPr>
        <p:spPr>
          <a:xfrm>
            <a:off x="395288" y="404813"/>
            <a:ext cx="6192837" cy="641350"/>
          </a:xfrm>
          <a:prstGeom prst="rect">
            <a:avLst/>
          </a:prstGeom>
          <a:solidFill>
            <a:srgbClr val="FFFF66"/>
          </a:solidFill>
          <a:ln w="9525">
            <a:noFill/>
          </a:ln>
        </p:spPr>
        <p:txBody>
          <a:bodyPr>
            <a:spAutoFit/>
          </a:bodyPr>
          <a:p>
            <a:pPr>
              <a:spcBef>
                <a:spcPct val="50000"/>
              </a:spcBef>
            </a:pPr>
            <a:r>
              <a:rPr lang="zh-CN" altLang="en-US" sz="3600" b="0">
                <a:latin typeface="Verdana" panose="020B0604030504040204" pitchFamily="34" charset="0"/>
              </a:rPr>
              <a:t>§</a:t>
            </a:r>
            <a:r>
              <a:rPr lang="en-US" altLang="zh-CN" sz="3600" b="0">
                <a:latin typeface="Verdana" panose="020B0604030504040204" pitchFamily="34" charset="0"/>
              </a:rPr>
              <a:t>1.3   </a:t>
            </a:r>
            <a:r>
              <a:rPr lang="zh-CN" altLang="en-US" sz="3600" b="0" dirty="0">
                <a:latin typeface="Verdana" panose="020B0604030504040204" pitchFamily="34" charset="0"/>
              </a:rPr>
              <a:t>不同数制间的转换</a:t>
            </a:r>
            <a:endParaRPr lang="zh-CN" altLang="en-US" sz="3600" b="0" dirty="0">
              <a:latin typeface="Verdana" panose="020B0604030504040204" pitchFamily="34" charset="0"/>
            </a:endParaRPr>
          </a:p>
        </p:txBody>
      </p:sp>
      <p:sp>
        <p:nvSpPr>
          <p:cNvPr id="13321" name="文本框 13320"/>
          <p:cNvSpPr txBox="1"/>
          <p:nvPr/>
        </p:nvSpPr>
        <p:spPr>
          <a:xfrm>
            <a:off x="250825" y="4221163"/>
            <a:ext cx="8893175" cy="1004887"/>
          </a:xfrm>
          <a:prstGeom prst="rect">
            <a:avLst/>
          </a:prstGeom>
          <a:noFill/>
          <a:ln w="9525">
            <a:noFill/>
          </a:ln>
        </p:spPr>
        <p:txBody>
          <a:bodyPr>
            <a:spAutoFit/>
          </a:bodyPr>
          <a:p>
            <a:pPr>
              <a:spcBef>
                <a:spcPct val="50000"/>
              </a:spcBef>
            </a:pPr>
            <a:r>
              <a:rPr lang="zh-CN" altLang="en-US" sz="2400" dirty="0">
                <a:latin typeface="Times New Roman" panose="02020603050405020304" pitchFamily="18" charset="0"/>
              </a:rPr>
              <a:t>（</a:t>
            </a:r>
            <a:r>
              <a:rPr lang="en-US" altLang="zh-CN" sz="2400">
                <a:latin typeface="Times New Roman" panose="02020603050405020304" pitchFamily="18" charset="0"/>
              </a:rPr>
              <a:t>1011.01</a:t>
            </a:r>
            <a:r>
              <a:rPr lang="zh-CN" altLang="en-US" sz="2400" dirty="0">
                <a:latin typeface="Times New Roman" panose="02020603050405020304" pitchFamily="18" charset="0"/>
              </a:rPr>
              <a:t>）</a:t>
            </a:r>
            <a:r>
              <a:rPr lang="en-US" altLang="zh-CN" sz="2400" baseline="-25000">
                <a:latin typeface="Times New Roman" panose="02020603050405020304" pitchFamily="18" charset="0"/>
              </a:rPr>
              <a:t>2</a:t>
            </a:r>
            <a:r>
              <a:rPr lang="zh-CN" altLang="en-US" sz="2400" dirty="0">
                <a:latin typeface="Arial" panose="020B0604020202020204" pitchFamily="34" charset="0"/>
              </a:rPr>
              <a:t>＝ </a:t>
            </a:r>
            <a:r>
              <a:rPr lang="en-US" altLang="zh-CN" sz="2400">
                <a:latin typeface="Times New Roman" panose="02020603050405020304" pitchFamily="18" charset="0"/>
              </a:rPr>
              <a:t>1 ×2</a:t>
            </a:r>
            <a:r>
              <a:rPr lang="en-US" altLang="zh-CN" sz="2400" baseline="30000">
                <a:latin typeface="Times New Roman" panose="02020603050405020304" pitchFamily="18" charset="0"/>
              </a:rPr>
              <a:t>3</a:t>
            </a:r>
            <a:r>
              <a:rPr lang="en-US" altLang="zh-CN" sz="2400">
                <a:latin typeface="Times New Roman" panose="02020603050405020304" pitchFamily="18" charset="0"/>
              </a:rPr>
              <a:t> </a:t>
            </a:r>
            <a:r>
              <a:rPr lang="zh-CN" altLang="en-US" sz="2400" dirty="0">
                <a:latin typeface="Times New Roman" panose="02020603050405020304" pitchFamily="18" charset="0"/>
              </a:rPr>
              <a:t>＋</a:t>
            </a:r>
            <a:r>
              <a:rPr lang="en-US" altLang="zh-CN" sz="2400">
                <a:latin typeface="Times New Roman" panose="02020603050405020304" pitchFamily="18" charset="0"/>
              </a:rPr>
              <a:t>0×2</a:t>
            </a:r>
            <a:r>
              <a:rPr lang="en-US" altLang="zh-CN" sz="2400" baseline="30000">
                <a:latin typeface="Times New Roman" panose="02020603050405020304" pitchFamily="18" charset="0"/>
              </a:rPr>
              <a:t>2</a:t>
            </a:r>
            <a:r>
              <a:rPr lang="en-US" altLang="zh-CN" sz="2400">
                <a:latin typeface="Times New Roman" panose="02020603050405020304" pitchFamily="18" charset="0"/>
              </a:rPr>
              <a:t> </a:t>
            </a:r>
            <a:r>
              <a:rPr lang="zh-CN" altLang="en-US" sz="2400" dirty="0">
                <a:latin typeface="Times New Roman" panose="02020603050405020304" pitchFamily="18" charset="0"/>
              </a:rPr>
              <a:t>＋</a:t>
            </a:r>
            <a:r>
              <a:rPr lang="en-US" altLang="zh-CN" sz="2400">
                <a:latin typeface="Times New Roman" panose="02020603050405020304" pitchFamily="18" charset="0"/>
              </a:rPr>
              <a:t>1×2</a:t>
            </a:r>
            <a:r>
              <a:rPr lang="en-US" altLang="zh-CN" sz="2400" baseline="30000">
                <a:latin typeface="Times New Roman" panose="02020603050405020304" pitchFamily="18" charset="0"/>
              </a:rPr>
              <a:t>1</a:t>
            </a:r>
            <a:r>
              <a:rPr lang="zh-CN" altLang="en-US" sz="2400" dirty="0">
                <a:latin typeface="Times New Roman" panose="02020603050405020304" pitchFamily="18" charset="0"/>
              </a:rPr>
              <a:t>＋</a:t>
            </a:r>
            <a:r>
              <a:rPr lang="en-US" altLang="zh-CN" sz="2400">
                <a:latin typeface="Times New Roman" panose="02020603050405020304" pitchFamily="18" charset="0"/>
              </a:rPr>
              <a:t>1×2</a:t>
            </a:r>
            <a:r>
              <a:rPr lang="en-US" altLang="zh-CN" sz="2400" baseline="30000">
                <a:latin typeface="Times New Roman" panose="02020603050405020304" pitchFamily="18" charset="0"/>
              </a:rPr>
              <a:t>0</a:t>
            </a:r>
            <a:r>
              <a:rPr lang="zh-CN" altLang="en-US" sz="2400" dirty="0">
                <a:latin typeface="Times New Roman" panose="02020603050405020304" pitchFamily="18" charset="0"/>
              </a:rPr>
              <a:t>＋</a:t>
            </a:r>
            <a:r>
              <a:rPr lang="en-US" altLang="zh-CN" sz="2400">
                <a:latin typeface="Times New Roman" panose="02020603050405020304" pitchFamily="18" charset="0"/>
              </a:rPr>
              <a:t>0×2</a:t>
            </a:r>
            <a:r>
              <a:rPr lang="zh-CN" altLang="en-US" sz="2400" baseline="30000" dirty="0">
                <a:latin typeface="Times New Roman" panose="02020603050405020304" pitchFamily="18" charset="0"/>
              </a:rPr>
              <a:t>－</a:t>
            </a:r>
            <a:r>
              <a:rPr lang="en-US" altLang="zh-CN" sz="2400" baseline="30000">
                <a:latin typeface="Times New Roman" panose="02020603050405020304" pitchFamily="18" charset="0"/>
              </a:rPr>
              <a:t>1</a:t>
            </a:r>
            <a:r>
              <a:rPr lang="zh-CN" altLang="en-US" sz="2400" dirty="0">
                <a:latin typeface="Times New Roman" panose="02020603050405020304" pitchFamily="18" charset="0"/>
              </a:rPr>
              <a:t>＋</a:t>
            </a:r>
            <a:r>
              <a:rPr lang="en-US" altLang="zh-CN" sz="2400">
                <a:latin typeface="Times New Roman" panose="02020603050405020304" pitchFamily="18" charset="0"/>
              </a:rPr>
              <a:t>1×2</a:t>
            </a:r>
            <a:r>
              <a:rPr lang="zh-CN" altLang="en-US" sz="2400" baseline="30000" dirty="0">
                <a:latin typeface="Times New Roman" panose="02020603050405020304" pitchFamily="18" charset="0"/>
              </a:rPr>
              <a:t>－</a:t>
            </a:r>
            <a:r>
              <a:rPr lang="en-US" altLang="zh-CN" sz="2400" baseline="30000">
                <a:latin typeface="Times New Roman" panose="02020603050405020304" pitchFamily="18" charset="0"/>
              </a:rPr>
              <a:t>2</a:t>
            </a:r>
            <a:r>
              <a:rPr lang="en-US" altLang="zh-CN" sz="2400">
                <a:latin typeface="Times New Roman" panose="02020603050405020304" pitchFamily="18" charset="0"/>
              </a:rPr>
              <a:t> </a:t>
            </a:r>
            <a:endParaRPr lang="en-US" altLang="zh-CN" sz="2400">
              <a:latin typeface="Times New Roman" panose="02020603050405020304" pitchFamily="18" charset="0"/>
            </a:endParaRPr>
          </a:p>
          <a:p>
            <a:pPr>
              <a:spcBef>
                <a:spcPct val="50000"/>
              </a:spcBef>
            </a:pPr>
            <a:r>
              <a:rPr lang="en-US" altLang="zh-CN" sz="2400">
                <a:latin typeface="Times New Roman" panose="02020603050405020304" pitchFamily="18" charset="0"/>
              </a:rPr>
              <a:t>                      </a:t>
            </a:r>
            <a:r>
              <a:rPr lang="zh-CN" altLang="en-US" sz="2400" dirty="0">
                <a:latin typeface="Times New Roman" panose="02020603050405020304" pitchFamily="18" charset="0"/>
              </a:rPr>
              <a:t>＝（</a:t>
            </a:r>
            <a:r>
              <a:rPr lang="en-US" altLang="zh-CN" sz="2400">
                <a:latin typeface="Times New Roman" panose="02020603050405020304" pitchFamily="18" charset="0"/>
              </a:rPr>
              <a:t>11.25</a:t>
            </a:r>
            <a:r>
              <a:rPr lang="zh-CN" altLang="en-US" sz="2400" dirty="0">
                <a:latin typeface="Times New Roman" panose="02020603050405020304" pitchFamily="18" charset="0"/>
              </a:rPr>
              <a:t>）</a:t>
            </a:r>
            <a:r>
              <a:rPr lang="en-US" altLang="zh-CN" sz="2400" baseline="-25000">
                <a:latin typeface="Times New Roman" panose="02020603050405020304" pitchFamily="18" charset="0"/>
              </a:rPr>
              <a:t>10</a:t>
            </a:r>
            <a:endParaRPr lang="en-US" altLang="zh-CN" sz="2400" baseline="-250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317"/>
                                        </p:tgtEl>
                                        <p:attrNameLst>
                                          <p:attrName>style.visibility</p:attrName>
                                        </p:attrNameLst>
                                      </p:cBhvr>
                                      <p:to>
                                        <p:strVal val="visible"/>
                                      </p:to>
                                    </p:set>
                                    <p:animEffect transition="in" filter="wipe(left)">
                                      <p:cBhvr>
                                        <p:cTn id="7" dur="500"/>
                                        <p:tgtEl>
                                          <p:spTgt spid="133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318">
                                            <p:txEl>
                                              <p:charRg st="0" end="4"/>
                                            </p:txEl>
                                          </p:spTgt>
                                        </p:tgtEl>
                                        <p:attrNameLst>
                                          <p:attrName>style.visibility</p:attrName>
                                        </p:attrNameLst>
                                      </p:cBhvr>
                                      <p:to>
                                        <p:strVal val="visible"/>
                                      </p:to>
                                    </p:set>
                                    <p:animEffect transition="in" filter="wipe(left)">
                                      <p:cBhvr>
                                        <p:cTn id="12" dur="500"/>
                                        <p:tgtEl>
                                          <p:spTgt spid="13318">
                                            <p:txEl>
                                              <p:charRg st="0"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318">
                                            <p:txEl>
                                              <p:charRg st="4" end="29"/>
                                            </p:txEl>
                                          </p:spTgt>
                                        </p:tgtEl>
                                        <p:attrNameLst>
                                          <p:attrName>style.visibility</p:attrName>
                                        </p:attrNameLst>
                                      </p:cBhvr>
                                      <p:to>
                                        <p:strVal val="visible"/>
                                      </p:to>
                                    </p:set>
                                    <p:animEffect transition="in" filter="wipe(left)">
                                      <p:cBhvr>
                                        <p:cTn id="17" dur="500"/>
                                        <p:tgtEl>
                                          <p:spTgt spid="13318">
                                            <p:txEl>
                                              <p:charRg st="4" end="2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321"/>
                                        </p:tgtEl>
                                        <p:attrNameLst>
                                          <p:attrName>style.visibility</p:attrName>
                                        </p:attrNameLst>
                                      </p:cBhvr>
                                      <p:to>
                                        <p:strVal val="visible"/>
                                      </p:to>
                                    </p:set>
                                    <p:animEffect transition="in" filter="wipe(left)">
                                      <p:cBhvr>
                                        <p:cTn id="22" dur="500"/>
                                        <p:tgtEl>
                                          <p:spTgt spid="133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7" grpId="0" animBg="1"/>
      <p:bldP spid="13318" grpId="0" build="p"/>
      <p:bldP spid="1332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40" name="文本框 14339"/>
          <p:cNvSpPr txBox="1"/>
          <p:nvPr/>
        </p:nvSpPr>
        <p:spPr>
          <a:xfrm>
            <a:off x="395288" y="404813"/>
            <a:ext cx="3470275" cy="579437"/>
          </a:xfrm>
          <a:prstGeom prst="rect">
            <a:avLst/>
          </a:prstGeom>
          <a:solidFill>
            <a:srgbClr val="00FF00"/>
          </a:solidFill>
          <a:ln w="9525">
            <a:noFill/>
          </a:ln>
        </p:spPr>
        <p:txBody>
          <a:bodyPr>
            <a:spAutoFit/>
          </a:bodyPr>
          <a:p>
            <a:pPr>
              <a:spcBef>
                <a:spcPct val="50000"/>
              </a:spcBef>
            </a:pPr>
            <a:r>
              <a:rPr lang="zh-CN" altLang="en-US" sz="3200" dirty="0">
                <a:solidFill>
                  <a:srgbClr val="990000"/>
                </a:solidFill>
                <a:latin typeface="华文楷体" panose="02010600040101010101" pitchFamily="2" charset="-122"/>
                <a:ea typeface="华文楷体" panose="02010600040101010101" pitchFamily="2" charset="-122"/>
              </a:rPr>
              <a:t>二、十－二转换</a:t>
            </a:r>
            <a:endParaRPr lang="zh-CN" altLang="en-US" sz="3200" dirty="0">
              <a:solidFill>
                <a:srgbClr val="990000"/>
              </a:solidFill>
              <a:latin typeface="华文楷体" panose="02010600040101010101" pitchFamily="2" charset="-122"/>
              <a:ea typeface="华文楷体" panose="02010600040101010101" pitchFamily="2" charset="-122"/>
            </a:endParaRPr>
          </a:p>
        </p:txBody>
      </p:sp>
      <p:sp>
        <p:nvSpPr>
          <p:cNvPr id="14342" name="圆角矩形 14341"/>
          <p:cNvSpPr/>
          <p:nvPr/>
        </p:nvSpPr>
        <p:spPr>
          <a:xfrm>
            <a:off x="755650" y="1628775"/>
            <a:ext cx="5113338" cy="647700"/>
          </a:xfrm>
          <a:prstGeom prst="roundRect">
            <a:avLst>
              <a:gd name="adj" fmla="val 16667"/>
            </a:avLst>
          </a:prstGeom>
          <a:solidFill>
            <a:srgbClr val="FFFFCC"/>
          </a:solidFill>
          <a:ln w="9525" cap="flat" cmpd="sng">
            <a:solidFill>
              <a:schemeClr val="bg2"/>
            </a:solidFill>
            <a:prstDash val="solid"/>
            <a:headEnd type="none" w="med" len="med"/>
            <a:tailEnd type="none" w="med" len="med"/>
          </a:ln>
        </p:spPr>
        <p:txBody>
          <a:bodyPr wrap="none"/>
          <a:p>
            <a:pPr algn="ctr"/>
            <a:r>
              <a:rPr lang="zh-CN" altLang="en-US" sz="3200" dirty="0">
                <a:solidFill>
                  <a:srgbClr val="FF3300"/>
                </a:solidFill>
                <a:latin typeface="Verdana" panose="020B0604030504040204" pitchFamily="34" charset="0"/>
              </a:rPr>
              <a:t>方法</a:t>
            </a:r>
            <a:r>
              <a:rPr lang="en-US" altLang="zh-CN" sz="3200">
                <a:solidFill>
                  <a:srgbClr val="0000FF"/>
                </a:solidFill>
                <a:latin typeface="Arial" panose="020B0604020202020204" pitchFamily="34" charset="0"/>
              </a:rPr>
              <a:t>—</a:t>
            </a:r>
            <a:r>
              <a:rPr lang="en-US" altLang="zh-CN" sz="3200">
                <a:solidFill>
                  <a:srgbClr val="0000FF"/>
                </a:solidFill>
                <a:latin typeface="Verdana" panose="020B0604030504040204" pitchFamily="34" charset="0"/>
              </a:rPr>
              <a:t> </a:t>
            </a:r>
            <a:r>
              <a:rPr lang="zh-CN" altLang="en-US" sz="3200" dirty="0">
                <a:solidFill>
                  <a:srgbClr val="0000FF"/>
                </a:solidFill>
                <a:latin typeface="Verdana" panose="020B0604030504040204" pitchFamily="34" charset="0"/>
              </a:rPr>
              <a:t>基数连除、连乘法</a:t>
            </a:r>
            <a:endParaRPr lang="zh-CN" altLang="en-US" sz="3200" b="0" dirty="0">
              <a:solidFill>
                <a:srgbClr val="0000FF"/>
              </a:solidFill>
              <a:latin typeface="Verdana" panose="020B0604030504040204" pitchFamily="34" charset="0"/>
            </a:endParaRPr>
          </a:p>
        </p:txBody>
      </p:sp>
      <p:sp>
        <p:nvSpPr>
          <p:cNvPr id="14343" name="文本框 14342"/>
          <p:cNvSpPr txBox="1"/>
          <p:nvPr/>
        </p:nvSpPr>
        <p:spPr>
          <a:xfrm>
            <a:off x="0" y="2924175"/>
            <a:ext cx="8137525" cy="1920875"/>
          </a:xfrm>
          <a:prstGeom prst="rect">
            <a:avLst/>
          </a:prstGeom>
          <a:noFill/>
          <a:ln w="9525">
            <a:noFill/>
          </a:ln>
        </p:spPr>
        <p:txBody>
          <a:bodyPr>
            <a:spAutoFit/>
          </a:bodyPr>
          <a:p>
            <a:pPr lvl="2">
              <a:lnSpc>
                <a:spcPct val="125000"/>
              </a:lnSpc>
            </a:pPr>
            <a:r>
              <a:rPr lang="zh-CN" altLang="en-US" sz="3200" b="0" dirty="0">
                <a:latin typeface="Verdana" panose="020B0604030504040204" pitchFamily="34" charset="0"/>
              </a:rPr>
              <a:t>将整数部分和小数部分分别进行转换。</a:t>
            </a:r>
            <a:endParaRPr lang="zh-CN" altLang="en-US" sz="3200" b="0" dirty="0">
              <a:latin typeface="Verdana" panose="020B0604030504040204" pitchFamily="34" charset="0"/>
            </a:endParaRPr>
          </a:p>
          <a:p>
            <a:pPr lvl="2">
              <a:lnSpc>
                <a:spcPct val="125000"/>
              </a:lnSpc>
            </a:pPr>
            <a:r>
              <a:rPr lang="zh-CN" altLang="en-US" sz="3200" b="0" dirty="0">
                <a:latin typeface="Verdana" panose="020B0604030504040204" pitchFamily="34" charset="0"/>
              </a:rPr>
              <a:t> 整数部分</a:t>
            </a:r>
            <a:r>
              <a:rPr lang="en-US" altLang="zh-CN" sz="3200" b="0">
                <a:latin typeface="Verdana" panose="020B0604030504040204" pitchFamily="34" charset="0"/>
              </a:rPr>
              <a:t>---</a:t>
            </a:r>
            <a:r>
              <a:rPr lang="zh-CN" altLang="en-US" sz="3200" b="0" dirty="0">
                <a:latin typeface="Verdana" panose="020B0604030504040204" pitchFamily="34" charset="0"/>
              </a:rPr>
              <a:t>基数连除取余</a:t>
            </a:r>
            <a:r>
              <a:rPr lang="en-US" altLang="zh-CN" sz="3200" b="0">
                <a:latin typeface="Verdana" panose="020B0604030504040204" pitchFamily="34" charset="0"/>
              </a:rPr>
              <a:t>;</a:t>
            </a:r>
            <a:endParaRPr lang="en-US" altLang="zh-CN" sz="3200" b="0">
              <a:latin typeface="Verdana" panose="020B0604030504040204" pitchFamily="34" charset="0"/>
            </a:endParaRPr>
          </a:p>
          <a:p>
            <a:pPr lvl="2">
              <a:lnSpc>
                <a:spcPct val="125000"/>
              </a:lnSpc>
            </a:pPr>
            <a:r>
              <a:rPr lang="en-US" altLang="zh-CN" sz="3200" b="0">
                <a:latin typeface="Verdana" panose="020B0604030504040204" pitchFamily="34" charset="0"/>
              </a:rPr>
              <a:t> </a:t>
            </a:r>
            <a:r>
              <a:rPr lang="zh-CN" altLang="en-US" sz="3200" b="0" dirty="0">
                <a:latin typeface="Verdana" panose="020B0604030504040204" pitchFamily="34" charset="0"/>
              </a:rPr>
              <a:t>小数部分</a:t>
            </a:r>
            <a:r>
              <a:rPr lang="en-US" altLang="zh-CN" sz="3200" b="0">
                <a:latin typeface="Verdana" panose="020B0604030504040204" pitchFamily="34" charset="0"/>
              </a:rPr>
              <a:t>---</a:t>
            </a:r>
            <a:r>
              <a:rPr lang="zh-CN" altLang="en-US" sz="3200" b="0" dirty="0">
                <a:latin typeface="Verdana" panose="020B0604030504040204" pitchFamily="34" charset="0"/>
              </a:rPr>
              <a:t>基数连乘</a:t>
            </a:r>
            <a:r>
              <a:rPr lang="zh-CN" altLang="en-US" sz="3200" b="0" dirty="0">
                <a:latin typeface="Verdana" panose="020B0604030504040204" pitchFamily="34" charset="0"/>
              </a:rPr>
              <a:t>取整</a:t>
            </a:r>
            <a:r>
              <a:rPr lang="zh-CN" altLang="en-US" sz="3200" b="0" dirty="0">
                <a:latin typeface="Verdana" panose="020B0604030504040204" pitchFamily="34" charset="0"/>
              </a:rPr>
              <a:t>。</a:t>
            </a:r>
            <a:endParaRPr lang="zh-CN" altLang="en-US" sz="3200" b="0" dirty="0">
              <a:latin typeface="Verdana" panose="020B0604030504040204" pitchFamily="34" charset="0"/>
            </a:endParaRPr>
          </a:p>
        </p:txBody>
      </p:sp>
      <p:sp>
        <p:nvSpPr>
          <p:cNvPr id="14344" name="右大括号 14343"/>
          <p:cNvSpPr/>
          <p:nvPr/>
        </p:nvSpPr>
        <p:spPr>
          <a:xfrm>
            <a:off x="6084888" y="3860800"/>
            <a:ext cx="287337" cy="865188"/>
          </a:xfrm>
          <a:prstGeom prst="rightBrace">
            <a:avLst>
              <a:gd name="adj1" fmla="val 25092"/>
              <a:gd name="adj2" fmla="val 50000"/>
            </a:avLst>
          </a:prstGeom>
          <a:noFill/>
          <a:ln w="31750" cap="flat" cmpd="sng">
            <a:solidFill>
              <a:srgbClr val="0000FF"/>
            </a:solidFill>
            <a:prstDash val="solid"/>
            <a:headEnd type="none" w="med" len="med"/>
            <a:tailEnd type="none" w="med" len="med"/>
          </a:ln>
        </p:spPr>
        <p:txBody>
          <a:bodyPr/>
          <a:p>
            <a:endParaRPr lang="zh-CN" altLang="en-US"/>
          </a:p>
        </p:txBody>
      </p:sp>
      <p:sp>
        <p:nvSpPr>
          <p:cNvPr id="14345" name="文本框 14344"/>
          <p:cNvSpPr txBox="1"/>
          <p:nvPr/>
        </p:nvSpPr>
        <p:spPr>
          <a:xfrm>
            <a:off x="6516688" y="4005263"/>
            <a:ext cx="1008062" cy="579437"/>
          </a:xfrm>
          <a:prstGeom prst="rect">
            <a:avLst/>
          </a:prstGeom>
          <a:solidFill>
            <a:srgbClr val="00FF00"/>
          </a:solidFill>
          <a:ln w="9525">
            <a:noFill/>
          </a:ln>
        </p:spPr>
        <p:txBody>
          <a:bodyPr>
            <a:spAutoFit/>
          </a:bodyPr>
          <a:p>
            <a:pPr>
              <a:spcBef>
                <a:spcPct val="50000"/>
              </a:spcBef>
            </a:pPr>
            <a:r>
              <a:rPr lang="zh-CN" altLang="en-US" sz="3200" dirty="0">
                <a:solidFill>
                  <a:srgbClr val="000000"/>
                </a:solidFill>
                <a:latin typeface="Verdana" panose="020B0604030504040204" pitchFamily="34" charset="0"/>
              </a:rPr>
              <a:t>合并</a:t>
            </a:r>
            <a:endParaRPr lang="zh-CN" altLang="en-US" sz="3200" dirty="0">
              <a:solidFill>
                <a:srgbClr val="000000"/>
              </a:solidFill>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40"/>
                                        </p:tgtEl>
                                        <p:attrNameLst>
                                          <p:attrName>style.visibility</p:attrName>
                                        </p:attrNameLst>
                                      </p:cBhvr>
                                      <p:to>
                                        <p:strVal val="visible"/>
                                      </p:to>
                                    </p:set>
                                    <p:animEffect transition="in" filter="wipe(left)">
                                      <p:cBhvr>
                                        <p:cTn id="7" dur="500"/>
                                        <p:tgtEl>
                                          <p:spTgt spid="14340"/>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4342"/>
                                        </p:tgtEl>
                                        <p:attrNameLst>
                                          <p:attrName>style.visibility</p:attrName>
                                        </p:attrNameLst>
                                      </p:cBhvr>
                                      <p:to>
                                        <p:strVal val="visible"/>
                                      </p:to>
                                    </p:set>
                                    <p:animEffect transition="in" filter="diamond(in)">
                                      <p:cBhvr>
                                        <p:cTn id="12" dur="2000"/>
                                        <p:tgtEl>
                                          <p:spTgt spid="1434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343"/>
                                        </p:tgtEl>
                                        <p:attrNameLst>
                                          <p:attrName>style.visibility</p:attrName>
                                        </p:attrNameLst>
                                      </p:cBhvr>
                                      <p:to>
                                        <p:strVal val="visible"/>
                                      </p:to>
                                    </p:set>
                                    <p:animEffect transition="in" filter="blinds(horizontal)">
                                      <p:cBhvr>
                                        <p:cTn id="17" dur="500"/>
                                        <p:tgtEl>
                                          <p:spTgt spid="1434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4344"/>
                                        </p:tgtEl>
                                        <p:attrNameLst>
                                          <p:attrName>style.visibility</p:attrName>
                                        </p:attrNameLst>
                                      </p:cBhvr>
                                      <p:to>
                                        <p:strVal val="visible"/>
                                      </p:to>
                                    </p:set>
                                    <p:animEffect transition="in" filter="box(in)">
                                      <p:cBhvr>
                                        <p:cTn id="22" dur="500"/>
                                        <p:tgtEl>
                                          <p:spTgt spid="14344"/>
                                        </p:tgtEl>
                                      </p:cBhvr>
                                    </p:animEffect>
                                  </p:childTnLst>
                                </p:cTn>
                              </p:par>
                            </p:childTnLst>
                          </p:cTn>
                        </p:par>
                        <p:par>
                          <p:cTn id="23" fill="hold">
                            <p:stCondLst>
                              <p:cond delay="500"/>
                            </p:stCondLst>
                            <p:childTnLst>
                              <p:par>
                                <p:cTn id="24" presetID="4" presetClass="entr" presetSubtype="16" fill="hold" grpId="0" nodeType="afterEffect">
                                  <p:stCondLst>
                                    <p:cond delay="500"/>
                                  </p:stCondLst>
                                  <p:childTnLst>
                                    <p:set>
                                      <p:cBhvr>
                                        <p:cTn id="25" dur="1" fill="hold">
                                          <p:stCondLst>
                                            <p:cond delay="0"/>
                                          </p:stCondLst>
                                        </p:cTn>
                                        <p:tgtEl>
                                          <p:spTgt spid="14345"/>
                                        </p:tgtEl>
                                        <p:attrNameLst>
                                          <p:attrName>style.visibility</p:attrName>
                                        </p:attrNameLst>
                                      </p:cBhvr>
                                      <p:to>
                                        <p:strVal val="visible"/>
                                      </p:to>
                                    </p:set>
                                    <p:animEffect transition="in" filter="box(in)">
                                      <p:cBhvr>
                                        <p:cTn id="26" dur="500"/>
                                        <p:tgtEl>
                                          <p:spTgt spid="143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animBg="1"/>
      <p:bldP spid="14342" grpId="0" animBg="1"/>
      <p:bldP spid="14343" grpId="0"/>
      <p:bldP spid="1434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4" name="文本框 15363"/>
          <p:cNvSpPr txBox="1"/>
          <p:nvPr/>
        </p:nvSpPr>
        <p:spPr>
          <a:xfrm>
            <a:off x="304800" y="304800"/>
            <a:ext cx="4195763" cy="1801813"/>
          </a:xfrm>
          <a:prstGeom prst="rect">
            <a:avLst/>
          </a:prstGeom>
          <a:noFill/>
          <a:ln w="9525">
            <a:noFill/>
          </a:ln>
        </p:spPr>
        <p:txBody>
          <a:bodyPr>
            <a:spAutoFit/>
          </a:bodyPr>
          <a:p>
            <a:pPr>
              <a:spcBef>
                <a:spcPct val="50000"/>
              </a:spcBef>
            </a:pPr>
            <a:r>
              <a:rPr lang="zh-CN" altLang="en-US" dirty="0">
                <a:solidFill>
                  <a:srgbClr val="0000FF"/>
                </a:solidFill>
                <a:latin typeface="Times New Roman" panose="02020603050405020304" pitchFamily="18" charset="0"/>
                <a:ea typeface="华文楷体" panose="02010600040101010101" pitchFamily="2" charset="-122"/>
              </a:rPr>
              <a:t>整数部分</a:t>
            </a:r>
            <a:r>
              <a:rPr lang="en-US" altLang="zh-CN">
                <a:solidFill>
                  <a:srgbClr val="0000FF"/>
                </a:solidFill>
                <a:latin typeface="Times New Roman" panose="02020603050405020304" pitchFamily="18" charset="0"/>
                <a:ea typeface="华文楷体" panose="02010600040101010101" pitchFamily="2" charset="-122"/>
              </a:rPr>
              <a:t>:</a:t>
            </a:r>
            <a:endParaRPr lang="en-US" altLang="zh-CN">
              <a:solidFill>
                <a:srgbClr val="0000FF"/>
              </a:solidFill>
              <a:latin typeface="Times New Roman" panose="02020603050405020304" pitchFamily="18" charset="0"/>
              <a:ea typeface="华文楷体" panose="02010600040101010101" pitchFamily="2" charset="-122"/>
            </a:endParaRPr>
          </a:p>
          <a:p>
            <a:pPr>
              <a:spcBef>
                <a:spcPct val="50000"/>
              </a:spcBef>
            </a:pPr>
            <a:r>
              <a:rPr lang="zh-CN" altLang="en-US" dirty="0">
                <a:latin typeface="Times New Roman" panose="02020603050405020304" pitchFamily="18" charset="0"/>
                <a:ea typeface="华文楷体" panose="02010600040101010101" pitchFamily="2" charset="-122"/>
              </a:rPr>
              <a:t>基数连除，</a:t>
            </a:r>
            <a:endParaRPr lang="zh-CN" altLang="en-US" dirty="0">
              <a:latin typeface="Times New Roman" panose="02020603050405020304" pitchFamily="18" charset="0"/>
              <a:ea typeface="华文楷体" panose="02010600040101010101" pitchFamily="2" charset="-122"/>
            </a:endParaRPr>
          </a:p>
          <a:p>
            <a:pPr>
              <a:spcBef>
                <a:spcPct val="50000"/>
              </a:spcBef>
            </a:pPr>
            <a:r>
              <a:rPr lang="zh-CN" altLang="en-US" dirty="0">
                <a:latin typeface="Times New Roman" panose="02020603050405020304" pitchFamily="18" charset="0"/>
                <a:ea typeface="华文楷体" panose="02010600040101010101" pitchFamily="2" charset="-122"/>
              </a:rPr>
              <a:t>取余数自下而上</a:t>
            </a:r>
            <a:r>
              <a:rPr lang="en-US" altLang="zh-CN">
                <a:latin typeface="Times New Roman" panose="02020603050405020304" pitchFamily="18" charset="0"/>
                <a:ea typeface="华文楷体" panose="02010600040101010101" pitchFamily="2" charset="-122"/>
              </a:rPr>
              <a:t>.</a:t>
            </a:r>
            <a:endParaRPr lang="en-US" altLang="zh-CN">
              <a:latin typeface="Times New Roman" panose="02020603050405020304" pitchFamily="18" charset="0"/>
              <a:ea typeface="华文楷体" panose="02010600040101010101" pitchFamily="2" charset="-122"/>
            </a:endParaRPr>
          </a:p>
        </p:txBody>
      </p:sp>
      <p:graphicFrame>
        <p:nvGraphicFramePr>
          <p:cNvPr id="15365" name="对象 15364"/>
          <p:cNvGraphicFramePr/>
          <p:nvPr/>
        </p:nvGraphicFramePr>
        <p:xfrm>
          <a:off x="0" y="2133600"/>
          <a:ext cx="4267200" cy="3673475"/>
        </p:xfrm>
        <a:graphic>
          <a:graphicData uri="http://schemas.openxmlformats.org/presentationml/2006/ole">
            <mc:AlternateContent xmlns:mc="http://schemas.openxmlformats.org/markup-compatibility/2006">
              <mc:Choice xmlns:v="urn:schemas-microsoft-com:vml" Requires="v">
                <p:oleObj spid="_x0000_s3077" name="" r:id="rId1" imgW="2171700" imgH="1619250" progId="">
                  <p:embed/>
                </p:oleObj>
              </mc:Choice>
              <mc:Fallback>
                <p:oleObj name="" r:id="rId1" imgW="2171700" imgH="1619250" progId="">
                  <p:embed/>
                  <p:pic>
                    <p:nvPicPr>
                      <p:cNvPr id="0" name="图片 3076"/>
                      <p:cNvPicPr/>
                      <p:nvPr/>
                    </p:nvPicPr>
                    <p:blipFill>
                      <a:blip r:embed="rId2"/>
                      <a:srcRect l="3438" r="8778"/>
                      <a:stretch>
                        <a:fillRect/>
                      </a:stretch>
                    </p:blipFill>
                    <p:spPr>
                      <a:xfrm>
                        <a:off x="0" y="2133600"/>
                        <a:ext cx="4267200" cy="3673475"/>
                      </a:xfrm>
                      <a:prstGeom prst="rect">
                        <a:avLst/>
                      </a:prstGeom>
                      <a:solidFill>
                        <a:srgbClr val="D9FFEC"/>
                      </a:solidFill>
                      <a:ln w="38100">
                        <a:noFill/>
                        <a:miter/>
                      </a:ln>
                    </p:spPr>
                  </p:pic>
                </p:oleObj>
              </mc:Fallback>
            </mc:AlternateContent>
          </a:graphicData>
        </a:graphic>
      </p:graphicFrame>
      <p:graphicFrame>
        <p:nvGraphicFramePr>
          <p:cNvPr id="15366" name="对象 15365"/>
          <p:cNvGraphicFramePr/>
          <p:nvPr/>
        </p:nvGraphicFramePr>
        <p:xfrm>
          <a:off x="4643438" y="2276475"/>
          <a:ext cx="4267200" cy="3538538"/>
        </p:xfrm>
        <a:graphic>
          <a:graphicData uri="http://schemas.openxmlformats.org/presentationml/2006/ole">
            <mc:AlternateContent xmlns:mc="http://schemas.openxmlformats.org/markup-compatibility/2006">
              <mc:Choice xmlns:v="urn:schemas-microsoft-com:vml" Requires="v">
                <p:oleObj spid="_x0000_s3078" name="" r:id="rId3" imgW="2181225" imgH="1619250" progId="">
                  <p:embed/>
                </p:oleObj>
              </mc:Choice>
              <mc:Fallback>
                <p:oleObj name="" r:id="rId3" imgW="2181225" imgH="1619250" progId="">
                  <p:embed/>
                  <p:pic>
                    <p:nvPicPr>
                      <p:cNvPr id="0" name="图片 3077"/>
                      <p:cNvPicPr/>
                      <p:nvPr/>
                    </p:nvPicPr>
                    <p:blipFill>
                      <a:blip r:embed="rId4"/>
                      <a:srcRect r="10480"/>
                      <a:stretch>
                        <a:fillRect/>
                      </a:stretch>
                    </p:blipFill>
                    <p:spPr>
                      <a:xfrm>
                        <a:off x="4643438" y="2276475"/>
                        <a:ext cx="4267200" cy="3538538"/>
                      </a:xfrm>
                      <a:prstGeom prst="rect">
                        <a:avLst/>
                      </a:prstGeom>
                      <a:solidFill>
                        <a:srgbClr val="D9FFEC"/>
                      </a:solidFill>
                      <a:ln w="38100">
                        <a:noFill/>
                        <a:miter/>
                      </a:ln>
                    </p:spPr>
                  </p:pic>
                </p:oleObj>
              </mc:Fallback>
            </mc:AlternateContent>
          </a:graphicData>
        </a:graphic>
      </p:graphicFrame>
      <p:sp>
        <p:nvSpPr>
          <p:cNvPr id="15367" name="文本框 15366"/>
          <p:cNvSpPr txBox="1"/>
          <p:nvPr/>
        </p:nvSpPr>
        <p:spPr>
          <a:xfrm>
            <a:off x="4800600" y="260350"/>
            <a:ext cx="4343400" cy="1801813"/>
          </a:xfrm>
          <a:prstGeom prst="rect">
            <a:avLst/>
          </a:prstGeom>
          <a:noFill/>
          <a:ln w="9525">
            <a:noFill/>
          </a:ln>
        </p:spPr>
        <p:txBody>
          <a:bodyPr>
            <a:spAutoFit/>
          </a:bodyPr>
          <a:p>
            <a:pPr>
              <a:spcBef>
                <a:spcPct val="50000"/>
              </a:spcBef>
            </a:pPr>
            <a:r>
              <a:rPr lang="zh-CN" altLang="en-US" dirty="0">
                <a:solidFill>
                  <a:srgbClr val="0000FF"/>
                </a:solidFill>
                <a:latin typeface="Times New Roman" panose="02020603050405020304" pitchFamily="18" charset="0"/>
                <a:ea typeface="华文楷体" panose="02010600040101010101" pitchFamily="2" charset="-122"/>
              </a:rPr>
              <a:t>小数部分</a:t>
            </a:r>
            <a:r>
              <a:rPr lang="en-US" altLang="zh-CN">
                <a:solidFill>
                  <a:srgbClr val="0000FF"/>
                </a:solidFill>
                <a:latin typeface="Times New Roman" panose="02020603050405020304" pitchFamily="18" charset="0"/>
                <a:ea typeface="华文楷体" panose="02010600040101010101" pitchFamily="2" charset="-122"/>
              </a:rPr>
              <a:t>:</a:t>
            </a:r>
            <a:endParaRPr lang="en-US" altLang="zh-CN">
              <a:solidFill>
                <a:srgbClr val="0000FF"/>
              </a:solidFill>
              <a:latin typeface="Times New Roman" panose="02020603050405020304" pitchFamily="18" charset="0"/>
              <a:ea typeface="华文楷体" panose="02010600040101010101" pitchFamily="2" charset="-122"/>
            </a:endParaRPr>
          </a:p>
          <a:p>
            <a:pPr>
              <a:spcBef>
                <a:spcPct val="50000"/>
              </a:spcBef>
            </a:pPr>
            <a:r>
              <a:rPr lang="zh-CN" altLang="en-US" dirty="0">
                <a:latin typeface="Times New Roman" panose="02020603050405020304" pitchFamily="18" charset="0"/>
                <a:ea typeface="华文楷体" panose="02010600040101010101" pitchFamily="2" charset="-122"/>
              </a:rPr>
              <a:t>基数连乘，</a:t>
            </a:r>
            <a:endParaRPr lang="zh-CN" altLang="en-US" dirty="0">
              <a:latin typeface="Times New Roman" panose="02020603050405020304" pitchFamily="18" charset="0"/>
              <a:ea typeface="华文楷体" panose="02010600040101010101" pitchFamily="2" charset="-122"/>
            </a:endParaRPr>
          </a:p>
          <a:p>
            <a:pPr>
              <a:spcBef>
                <a:spcPct val="50000"/>
              </a:spcBef>
            </a:pPr>
            <a:r>
              <a:rPr lang="zh-CN" altLang="en-US" dirty="0">
                <a:latin typeface="Times New Roman" panose="02020603050405020304" pitchFamily="18" charset="0"/>
                <a:ea typeface="华文楷体" panose="02010600040101010101" pitchFamily="2" charset="-122"/>
              </a:rPr>
              <a:t>取整数自上而下</a:t>
            </a:r>
            <a:r>
              <a:rPr lang="en-US" altLang="zh-CN">
                <a:latin typeface="Times New Roman" panose="02020603050405020304" pitchFamily="18" charset="0"/>
                <a:ea typeface="华文楷体" panose="02010600040101010101" pitchFamily="2" charset="-122"/>
              </a:rPr>
              <a:t>.</a:t>
            </a:r>
            <a:endParaRPr lang="en-US" altLang="zh-CN">
              <a:latin typeface="Times New Roman" panose="02020603050405020304" pitchFamily="18" charset="0"/>
              <a:ea typeface="华文楷体" panose="02010600040101010101" pitchFamily="2" charset="-122"/>
            </a:endParaRPr>
          </a:p>
        </p:txBody>
      </p:sp>
      <p:sp>
        <p:nvSpPr>
          <p:cNvPr id="15368" name="文本框 15367"/>
          <p:cNvSpPr txBox="1"/>
          <p:nvPr/>
        </p:nvSpPr>
        <p:spPr>
          <a:xfrm>
            <a:off x="1187450" y="5876925"/>
            <a:ext cx="6781800" cy="579438"/>
          </a:xfrm>
          <a:prstGeom prst="rect">
            <a:avLst/>
          </a:prstGeom>
          <a:noFill/>
          <a:ln w="9525">
            <a:noFill/>
          </a:ln>
        </p:spPr>
        <p:txBody>
          <a:bodyPr>
            <a:spAutoFit/>
          </a:bodyPr>
          <a:p>
            <a:pPr>
              <a:spcBef>
                <a:spcPct val="50000"/>
              </a:spcBef>
            </a:pPr>
            <a:r>
              <a:rPr lang="zh-CN" altLang="en-US" sz="3200" dirty="0">
                <a:latin typeface="华文楷体" panose="02010600040101010101" pitchFamily="2" charset="-122"/>
                <a:ea typeface="华文楷体" panose="02010600040101010101" pitchFamily="2" charset="-122"/>
              </a:rPr>
              <a:t>所以：</a:t>
            </a:r>
            <a:r>
              <a:rPr lang="en-US" altLang="zh-CN" sz="3200">
                <a:latin typeface="华文楷体" panose="02010600040101010101" pitchFamily="2" charset="-122"/>
                <a:ea typeface="华文楷体" panose="02010600040101010101" pitchFamily="2" charset="-122"/>
              </a:rPr>
              <a:t>(44.375)</a:t>
            </a:r>
            <a:r>
              <a:rPr lang="en-US" altLang="zh-CN" sz="3200" baseline="-25000">
                <a:latin typeface="华文楷体" panose="02010600040101010101" pitchFamily="2" charset="-122"/>
                <a:ea typeface="华文楷体" panose="02010600040101010101" pitchFamily="2" charset="-122"/>
              </a:rPr>
              <a:t>D</a:t>
            </a:r>
            <a:r>
              <a:rPr lang="zh-CN" altLang="en-US" sz="3200" dirty="0">
                <a:latin typeface="华文楷体" panose="02010600040101010101" pitchFamily="2" charset="-122"/>
                <a:ea typeface="华文楷体" panose="02010600040101010101" pitchFamily="2" charset="-122"/>
              </a:rPr>
              <a:t>＝</a:t>
            </a:r>
            <a:r>
              <a:rPr lang="en-US" altLang="zh-CN" sz="3200">
                <a:latin typeface="华文楷体" panose="02010600040101010101" pitchFamily="2" charset="-122"/>
                <a:ea typeface="华文楷体" panose="02010600040101010101" pitchFamily="2" charset="-122"/>
              </a:rPr>
              <a:t>(101100.011)</a:t>
            </a:r>
            <a:r>
              <a:rPr lang="en-US" altLang="zh-CN" sz="3200" baseline="-25000">
                <a:latin typeface="华文楷体" panose="02010600040101010101" pitchFamily="2" charset="-122"/>
                <a:ea typeface="华文楷体" panose="02010600040101010101" pitchFamily="2" charset="-122"/>
              </a:rPr>
              <a:t>B</a:t>
            </a:r>
            <a:endParaRPr lang="en-US" altLang="zh-CN" sz="320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364">
                                            <p:txEl>
                                              <p:charRg st="0" end="6"/>
                                            </p:txEl>
                                          </p:spTgt>
                                        </p:tgtEl>
                                        <p:attrNameLst>
                                          <p:attrName>style.visibility</p:attrName>
                                        </p:attrNameLst>
                                      </p:cBhvr>
                                      <p:to>
                                        <p:strVal val="visible"/>
                                      </p:to>
                                    </p:set>
                                    <p:animEffect transition="in" filter="wipe(left)">
                                      <p:cBhvr>
                                        <p:cTn id="7" dur="500"/>
                                        <p:tgtEl>
                                          <p:spTgt spid="15364">
                                            <p:txEl>
                                              <p:charRg st="0" end="6"/>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5364">
                                            <p:txEl>
                                              <p:charRg st="6" end="12"/>
                                            </p:txEl>
                                          </p:spTgt>
                                        </p:tgtEl>
                                        <p:attrNameLst>
                                          <p:attrName>style.visibility</p:attrName>
                                        </p:attrNameLst>
                                      </p:cBhvr>
                                      <p:to>
                                        <p:strVal val="visible"/>
                                      </p:to>
                                    </p:set>
                                    <p:animEffect transition="in" filter="wipe(left)">
                                      <p:cBhvr>
                                        <p:cTn id="11" dur="500"/>
                                        <p:tgtEl>
                                          <p:spTgt spid="15364">
                                            <p:txEl>
                                              <p:charRg st="6" end="12"/>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5364">
                                            <p:txEl>
                                              <p:charRg st="12" end="21"/>
                                            </p:txEl>
                                          </p:spTgt>
                                        </p:tgtEl>
                                        <p:attrNameLst>
                                          <p:attrName>style.visibility</p:attrName>
                                        </p:attrNameLst>
                                      </p:cBhvr>
                                      <p:to>
                                        <p:strVal val="visible"/>
                                      </p:to>
                                    </p:set>
                                    <p:animEffect transition="in" filter="wipe(left)">
                                      <p:cBhvr>
                                        <p:cTn id="15" dur="500"/>
                                        <p:tgtEl>
                                          <p:spTgt spid="15364">
                                            <p:txEl>
                                              <p:charRg st="12" end="2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32" fill="hold" nodeType="clickEffect">
                                  <p:stCondLst>
                                    <p:cond delay="0"/>
                                  </p:stCondLst>
                                  <p:childTnLst>
                                    <p:set>
                                      <p:cBhvr>
                                        <p:cTn id="19" dur="1" fill="hold">
                                          <p:stCondLst>
                                            <p:cond delay="0"/>
                                          </p:stCondLst>
                                        </p:cTn>
                                        <p:tgtEl>
                                          <p:spTgt spid="15365"/>
                                        </p:tgtEl>
                                        <p:attrNameLst>
                                          <p:attrName>style.visibility</p:attrName>
                                        </p:attrNameLst>
                                      </p:cBhvr>
                                      <p:to>
                                        <p:strVal val="visible"/>
                                      </p:to>
                                    </p:set>
                                    <p:animEffect transition="in" filter="box(out)">
                                      <p:cBhvr>
                                        <p:cTn id="20" dur="500"/>
                                        <p:tgtEl>
                                          <p:spTgt spid="15365"/>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32" fill="hold" nodeType="clickEffect">
                                  <p:stCondLst>
                                    <p:cond delay="0"/>
                                  </p:stCondLst>
                                  <p:childTnLst>
                                    <p:set>
                                      <p:cBhvr>
                                        <p:cTn id="24" dur="1" fill="hold">
                                          <p:stCondLst>
                                            <p:cond delay="0"/>
                                          </p:stCondLst>
                                        </p:cTn>
                                        <p:tgtEl>
                                          <p:spTgt spid="15366"/>
                                        </p:tgtEl>
                                        <p:attrNameLst>
                                          <p:attrName>style.visibility</p:attrName>
                                        </p:attrNameLst>
                                      </p:cBhvr>
                                      <p:to>
                                        <p:strVal val="visible"/>
                                      </p:to>
                                    </p:set>
                                    <p:animEffect transition="in" filter="box(out)">
                                      <p:cBhvr>
                                        <p:cTn id="25" dur="500"/>
                                        <p:tgtEl>
                                          <p:spTgt spid="1536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5367">
                                            <p:txEl>
                                              <p:charRg st="0" end="6"/>
                                            </p:txEl>
                                          </p:spTgt>
                                        </p:tgtEl>
                                        <p:attrNameLst>
                                          <p:attrName>style.visibility</p:attrName>
                                        </p:attrNameLst>
                                      </p:cBhvr>
                                      <p:to>
                                        <p:strVal val="visible"/>
                                      </p:to>
                                    </p:set>
                                    <p:animEffect transition="in" filter="wipe(left)">
                                      <p:cBhvr>
                                        <p:cTn id="30" dur="500"/>
                                        <p:tgtEl>
                                          <p:spTgt spid="15367">
                                            <p:txEl>
                                              <p:charRg st="0"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5367">
                                            <p:txEl>
                                              <p:charRg st="6" end="12"/>
                                            </p:txEl>
                                          </p:spTgt>
                                        </p:tgtEl>
                                        <p:attrNameLst>
                                          <p:attrName>style.visibility</p:attrName>
                                        </p:attrNameLst>
                                      </p:cBhvr>
                                      <p:to>
                                        <p:strVal val="visible"/>
                                      </p:to>
                                    </p:set>
                                    <p:animEffect transition="in" filter="wipe(left)">
                                      <p:cBhvr>
                                        <p:cTn id="35" dur="500"/>
                                        <p:tgtEl>
                                          <p:spTgt spid="15367">
                                            <p:txEl>
                                              <p:charRg st="6" end="1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5367">
                                            <p:txEl>
                                              <p:charRg st="12" end="21"/>
                                            </p:txEl>
                                          </p:spTgt>
                                        </p:tgtEl>
                                        <p:attrNameLst>
                                          <p:attrName>style.visibility</p:attrName>
                                        </p:attrNameLst>
                                      </p:cBhvr>
                                      <p:to>
                                        <p:strVal val="visible"/>
                                      </p:to>
                                    </p:set>
                                    <p:animEffect transition="in" filter="wipe(left)">
                                      <p:cBhvr>
                                        <p:cTn id="40" dur="500"/>
                                        <p:tgtEl>
                                          <p:spTgt spid="15367">
                                            <p:txEl>
                                              <p:charRg st="12" end="2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5368">
                                            <p:txEl>
                                              <p:charRg st="0" end="27"/>
                                            </p:txEl>
                                          </p:spTgt>
                                        </p:tgtEl>
                                        <p:attrNameLst>
                                          <p:attrName>style.visibility</p:attrName>
                                        </p:attrNameLst>
                                      </p:cBhvr>
                                      <p:to>
                                        <p:strVal val="visible"/>
                                      </p:to>
                                    </p:set>
                                    <p:animEffect transition="in" filter="wipe(left)">
                                      <p:cBhvr>
                                        <p:cTn id="45" dur="500"/>
                                        <p:tgtEl>
                                          <p:spTgt spid="15368">
                                            <p:txEl>
                                              <p:charRg st="0" end="2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4" grpId="0" advAuto="1000" build="p"/>
      <p:bldP spid="15367" grpId="0" build="p"/>
      <p:bldP spid="15368"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8" name="文本框 16387"/>
          <p:cNvSpPr txBox="1"/>
          <p:nvPr/>
        </p:nvSpPr>
        <p:spPr>
          <a:xfrm>
            <a:off x="395288" y="1412875"/>
            <a:ext cx="8458200" cy="2289175"/>
          </a:xfrm>
          <a:prstGeom prst="rect">
            <a:avLst/>
          </a:prstGeom>
          <a:noFill/>
          <a:ln w="9525">
            <a:noFill/>
          </a:ln>
        </p:spPr>
        <p:txBody>
          <a:bodyPr>
            <a:spAutoFit/>
          </a:bodyPr>
          <a:p>
            <a:pPr>
              <a:spcBef>
                <a:spcPct val="50000"/>
              </a:spcBef>
            </a:pPr>
            <a:r>
              <a:rPr lang="zh-CN" altLang="en-US" sz="3600" dirty="0">
                <a:solidFill>
                  <a:srgbClr val="0000FF"/>
                </a:solidFill>
                <a:latin typeface="华文楷体" panose="02010600040101010101" pitchFamily="2" charset="-122"/>
                <a:ea typeface="华文楷体" panose="02010600040101010101" pitchFamily="2" charset="-122"/>
              </a:rPr>
              <a:t>采用基数连除、连乘法</a:t>
            </a:r>
            <a:endParaRPr lang="zh-CN" altLang="en-US" sz="3600" dirty="0">
              <a:latin typeface="华文楷体" panose="02010600040101010101" pitchFamily="2" charset="-122"/>
              <a:ea typeface="华文楷体" panose="02010600040101010101" pitchFamily="2" charset="-122"/>
            </a:endParaRPr>
          </a:p>
          <a:p>
            <a:pPr>
              <a:spcBef>
                <a:spcPct val="50000"/>
              </a:spcBef>
            </a:pPr>
            <a:r>
              <a:rPr lang="zh-CN" altLang="en-US" sz="3600" dirty="0">
                <a:latin typeface="华文楷体" panose="02010600040101010101" pitchFamily="2" charset="-122"/>
                <a:ea typeface="华文楷体" panose="02010600040101010101" pitchFamily="2" charset="-122"/>
              </a:rPr>
              <a:t>   </a:t>
            </a:r>
            <a:endParaRPr lang="zh-CN" altLang="en-US" sz="3600" dirty="0">
              <a:latin typeface="华文楷体" panose="02010600040101010101" pitchFamily="2" charset="-122"/>
              <a:ea typeface="华文楷体" panose="02010600040101010101" pitchFamily="2" charset="-122"/>
            </a:endParaRPr>
          </a:p>
          <a:p>
            <a:pPr>
              <a:spcBef>
                <a:spcPct val="50000"/>
              </a:spcBef>
            </a:pPr>
            <a:r>
              <a:rPr lang="zh-CN" altLang="en-US" sz="3600" dirty="0">
                <a:latin typeface="华文楷体" panose="02010600040101010101" pitchFamily="2" charset="-122"/>
                <a:ea typeface="华文楷体" panose="02010600040101010101" pitchFamily="2" charset="-122"/>
              </a:rPr>
              <a:t>可将十进制数转换为任意的</a:t>
            </a:r>
            <a:r>
              <a:rPr lang="en-US" altLang="zh-CN" sz="3600">
                <a:latin typeface="华文楷体" panose="02010600040101010101" pitchFamily="2" charset="-122"/>
                <a:ea typeface="华文楷体" panose="02010600040101010101" pitchFamily="2" charset="-122"/>
              </a:rPr>
              <a:t>N</a:t>
            </a:r>
            <a:r>
              <a:rPr lang="zh-CN" altLang="en-US" sz="3600" dirty="0">
                <a:latin typeface="华文楷体" panose="02010600040101010101" pitchFamily="2" charset="-122"/>
                <a:ea typeface="华文楷体" panose="02010600040101010101" pitchFamily="2" charset="-122"/>
              </a:rPr>
              <a:t>进制数。</a:t>
            </a:r>
            <a:endParaRPr lang="zh-CN" altLang="en-US" sz="3600" dirty="0">
              <a:latin typeface="华文楷体" panose="02010600040101010101" pitchFamily="2" charset="-122"/>
              <a:ea typeface="华文楷体" panose="0201060004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6" name="文本框 18435"/>
          <p:cNvSpPr txBox="1"/>
          <p:nvPr/>
        </p:nvSpPr>
        <p:spPr>
          <a:xfrm>
            <a:off x="395288" y="404813"/>
            <a:ext cx="3470275" cy="579437"/>
          </a:xfrm>
          <a:prstGeom prst="rect">
            <a:avLst/>
          </a:prstGeom>
          <a:solidFill>
            <a:srgbClr val="00FF00"/>
          </a:solidFill>
          <a:ln w="9525">
            <a:noFill/>
          </a:ln>
        </p:spPr>
        <p:txBody>
          <a:bodyPr>
            <a:spAutoFit/>
          </a:bodyPr>
          <a:p>
            <a:pPr>
              <a:spcBef>
                <a:spcPct val="50000"/>
              </a:spcBef>
            </a:pPr>
            <a:r>
              <a:rPr lang="zh-CN" altLang="en-US" sz="3200" dirty="0">
                <a:solidFill>
                  <a:srgbClr val="990000"/>
                </a:solidFill>
                <a:latin typeface="华文楷体" panose="02010600040101010101" pitchFamily="2" charset="-122"/>
                <a:ea typeface="华文楷体" panose="02010600040101010101" pitchFamily="2" charset="-122"/>
              </a:rPr>
              <a:t>三、二－十六转换</a:t>
            </a:r>
            <a:endParaRPr lang="zh-CN" altLang="en-US" sz="3200" dirty="0">
              <a:solidFill>
                <a:srgbClr val="990000"/>
              </a:solidFill>
              <a:latin typeface="华文楷体" panose="02010600040101010101" pitchFamily="2" charset="-122"/>
              <a:ea typeface="华文楷体" panose="02010600040101010101" pitchFamily="2" charset="-122"/>
            </a:endParaRPr>
          </a:p>
        </p:txBody>
      </p:sp>
      <p:sp>
        <p:nvSpPr>
          <p:cNvPr id="18437" name="矩形 18436"/>
          <p:cNvSpPr/>
          <p:nvPr/>
        </p:nvSpPr>
        <p:spPr>
          <a:xfrm>
            <a:off x="0" y="1268413"/>
            <a:ext cx="8915400" cy="2590800"/>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har char="•"/>
              <a:defRPr sz="32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宋体" panose="02010600030101010101" pitchFamily="2" charset="-122"/>
              </a:defRPr>
            </a:lvl5pPr>
          </a:lstStyle>
          <a:p>
            <a:pPr lvl="0">
              <a:buNone/>
            </a:pPr>
            <a:r>
              <a:rPr lang="en-US" altLang="zh-CN" b="1" dirty="0">
                <a:latin typeface="华文楷体" panose="02010600040101010101" pitchFamily="2" charset="-122"/>
                <a:ea typeface="华文楷体" panose="02010600040101010101" pitchFamily="2" charset="-122"/>
              </a:rPr>
              <a:t>        </a:t>
            </a:r>
            <a:r>
              <a:rPr lang="zh-CN" altLang="en-US" b="1" dirty="0">
                <a:latin typeface="华文楷体" panose="02010600040101010101" pitchFamily="2" charset="-122"/>
                <a:ea typeface="华文楷体" panose="02010600040101010101" pitchFamily="2" charset="-122"/>
              </a:rPr>
              <a:t>将二进制数由小数点开始，整数部分向左</a:t>
            </a:r>
            <a:r>
              <a:rPr lang="en-US" altLang="zh-CN" b="1">
                <a:latin typeface="华文楷体" panose="02010600040101010101" pitchFamily="2" charset="-122"/>
                <a:ea typeface="华文楷体" panose="02010600040101010101" pitchFamily="2" charset="-122"/>
              </a:rPr>
              <a:t>,</a:t>
            </a:r>
            <a:r>
              <a:rPr lang="zh-CN" altLang="en-US" b="1" dirty="0">
                <a:latin typeface="华文楷体" panose="02010600040101010101" pitchFamily="2" charset="-122"/>
                <a:ea typeface="华文楷体" panose="02010600040101010101" pitchFamily="2" charset="-122"/>
              </a:rPr>
              <a:t>小数部分向右，</a:t>
            </a:r>
            <a:r>
              <a:rPr lang="zh-CN" altLang="en-US" b="1" dirty="0">
                <a:solidFill>
                  <a:srgbClr val="0000FF"/>
                </a:solidFill>
                <a:latin typeface="华文楷体" panose="02010600040101010101" pitchFamily="2" charset="-122"/>
                <a:ea typeface="华文楷体" panose="02010600040101010101" pitchFamily="2" charset="-122"/>
              </a:rPr>
              <a:t>每</a:t>
            </a:r>
            <a:r>
              <a:rPr lang="en-US" altLang="zh-CN" b="1">
                <a:solidFill>
                  <a:srgbClr val="0000FF"/>
                </a:solidFill>
                <a:latin typeface="华文楷体" panose="02010600040101010101" pitchFamily="2" charset="-122"/>
                <a:ea typeface="华文楷体" panose="02010600040101010101" pitchFamily="2" charset="-122"/>
              </a:rPr>
              <a:t>4</a:t>
            </a:r>
            <a:r>
              <a:rPr lang="zh-CN" altLang="en-US" b="1" dirty="0">
                <a:solidFill>
                  <a:srgbClr val="0000FF"/>
                </a:solidFill>
                <a:latin typeface="华文楷体" panose="02010600040101010101" pitchFamily="2" charset="-122"/>
                <a:ea typeface="华文楷体" panose="02010600040101010101" pitchFamily="2" charset="-122"/>
              </a:rPr>
              <a:t>位分成一组</a:t>
            </a:r>
            <a:r>
              <a:rPr lang="zh-CN" altLang="en-US" b="1" dirty="0">
                <a:latin typeface="华文楷体" panose="02010600040101010101" pitchFamily="2" charset="-122"/>
                <a:ea typeface="华文楷体" panose="02010600040101010101" pitchFamily="2" charset="-122"/>
              </a:rPr>
              <a:t>，不够</a:t>
            </a:r>
            <a:r>
              <a:rPr lang="en-US" altLang="zh-CN" b="1">
                <a:latin typeface="华文楷体" panose="02010600040101010101" pitchFamily="2" charset="-122"/>
                <a:ea typeface="华文楷体" panose="02010600040101010101" pitchFamily="2" charset="-122"/>
              </a:rPr>
              <a:t>4</a:t>
            </a:r>
            <a:r>
              <a:rPr lang="zh-CN" altLang="en-US" b="1" dirty="0">
                <a:latin typeface="华文楷体" panose="02010600040101010101" pitchFamily="2" charset="-122"/>
                <a:ea typeface="华文楷体" panose="02010600040101010101" pitchFamily="2" charset="-122"/>
              </a:rPr>
              <a:t>位补</a:t>
            </a:r>
            <a:endParaRPr lang="zh-CN" altLang="en-US" b="1" dirty="0">
              <a:latin typeface="华文楷体" panose="02010600040101010101" pitchFamily="2" charset="-122"/>
              <a:ea typeface="华文楷体" panose="02010600040101010101" pitchFamily="2" charset="-122"/>
            </a:endParaRPr>
          </a:p>
          <a:p>
            <a:pPr lvl="0">
              <a:buNone/>
            </a:pPr>
            <a:r>
              <a:rPr lang="zh-CN" altLang="en-US" b="1" dirty="0">
                <a:latin typeface="华文楷体" panose="02010600040101010101" pitchFamily="2" charset="-122"/>
                <a:ea typeface="华文楷体" panose="02010600040101010101" pitchFamily="2" charset="-122"/>
              </a:rPr>
              <a:t>  零，则每组二进制数便是一位十六进制数。</a:t>
            </a:r>
            <a:endParaRPr lang="zh-CN" altLang="en-US" b="1" dirty="0">
              <a:latin typeface="华文楷体" panose="02010600040101010101" pitchFamily="2" charset="-122"/>
              <a:ea typeface="华文楷体" panose="02010600040101010101" pitchFamily="2" charset="-122"/>
            </a:endParaRPr>
          </a:p>
        </p:txBody>
      </p:sp>
      <p:sp>
        <p:nvSpPr>
          <p:cNvPr id="18438" name="文本框 18437"/>
          <p:cNvSpPr txBox="1"/>
          <p:nvPr/>
        </p:nvSpPr>
        <p:spPr>
          <a:xfrm>
            <a:off x="971550" y="4076700"/>
            <a:ext cx="7632700" cy="579438"/>
          </a:xfrm>
          <a:prstGeom prst="rect">
            <a:avLst/>
          </a:prstGeom>
          <a:noFill/>
          <a:ln w="9525">
            <a:noFill/>
          </a:ln>
        </p:spPr>
        <p:txBody>
          <a:bodyPr>
            <a:spAutoFit/>
          </a:bodyPr>
          <a:p>
            <a:pPr>
              <a:spcBef>
                <a:spcPct val="50000"/>
              </a:spcBef>
            </a:pPr>
            <a:r>
              <a:rPr lang="en-US" altLang="zh-CN" sz="3200" b="0">
                <a:latin typeface="Verdana" panose="020B0604030504040204" pitchFamily="34" charset="0"/>
              </a:rPr>
              <a:t>(   1 0 1 1 1 1 0. 1 0 1 1 0 0 1  )</a:t>
            </a:r>
            <a:r>
              <a:rPr lang="en-US" altLang="zh-CN" sz="3200" b="0" baseline="-25000">
                <a:latin typeface="Verdana" panose="020B0604030504040204" pitchFamily="34" charset="0"/>
              </a:rPr>
              <a:t>2</a:t>
            </a:r>
            <a:endParaRPr lang="en-US" altLang="zh-CN" sz="3200" b="0" baseline="-25000">
              <a:latin typeface="Verdana" panose="020B0604030504040204" pitchFamily="34" charset="0"/>
            </a:endParaRPr>
          </a:p>
        </p:txBody>
      </p:sp>
      <p:sp>
        <p:nvSpPr>
          <p:cNvPr id="18439" name="直接连接符 18438"/>
          <p:cNvSpPr/>
          <p:nvPr/>
        </p:nvSpPr>
        <p:spPr>
          <a:xfrm>
            <a:off x="4356100" y="4076700"/>
            <a:ext cx="0" cy="609600"/>
          </a:xfrm>
          <a:prstGeom prst="line">
            <a:avLst/>
          </a:prstGeom>
          <a:ln w="38100" cap="flat" cmpd="sng">
            <a:solidFill>
              <a:srgbClr val="FF3300"/>
            </a:solidFill>
            <a:prstDash val="solid"/>
            <a:headEnd type="none" w="sm" len="sm"/>
            <a:tailEnd type="none" w="sm" len="sm"/>
          </a:ln>
        </p:spPr>
      </p:sp>
      <p:sp>
        <p:nvSpPr>
          <p:cNvPr id="18440" name="直接连接符 18439"/>
          <p:cNvSpPr/>
          <p:nvPr/>
        </p:nvSpPr>
        <p:spPr>
          <a:xfrm>
            <a:off x="2916238" y="4076700"/>
            <a:ext cx="0" cy="609600"/>
          </a:xfrm>
          <a:prstGeom prst="line">
            <a:avLst/>
          </a:prstGeom>
          <a:ln w="38100" cap="flat" cmpd="sng">
            <a:solidFill>
              <a:srgbClr val="FF3300"/>
            </a:solidFill>
            <a:prstDash val="solid"/>
            <a:headEnd type="none" w="sm" len="sm"/>
            <a:tailEnd type="none" w="sm" len="sm"/>
          </a:ln>
        </p:spPr>
      </p:sp>
      <p:sp>
        <p:nvSpPr>
          <p:cNvPr id="18441" name="直接连接符 18440"/>
          <p:cNvSpPr/>
          <p:nvPr/>
        </p:nvSpPr>
        <p:spPr>
          <a:xfrm>
            <a:off x="6156325" y="4149725"/>
            <a:ext cx="0" cy="609600"/>
          </a:xfrm>
          <a:prstGeom prst="line">
            <a:avLst/>
          </a:prstGeom>
          <a:ln w="38100" cap="flat" cmpd="sng">
            <a:solidFill>
              <a:srgbClr val="FF3300"/>
            </a:solidFill>
            <a:prstDash val="solid"/>
            <a:headEnd type="none" w="sm" len="sm"/>
            <a:tailEnd type="none" w="sm" len="sm"/>
          </a:ln>
        </p:spPr>
      </p:sp>
      <p:sp>
        <p:nvSpPr>
          <p:cNvPr id="18442" name="文本框 18441"/>
          <p:cNvSpPr txBox="1"/>
          <p:nvPr/>
        </p:nvSpPr>
        <p:spPr>
          <a:xfrm>
            <a:off x="1258888" y="4076700"/>
            <a:ext cx="360362" cy="579438"/>
          </a:xfrm>
          <a:prstGeom prst="rect">
            <a:avLst/>
          </a:prstGeom>
          <a:noFill/>
          <a:ln w="9525">
            <a:noFill/>
          </a:ln>
        </p:spPr>
        <p:txBody>
          <a:bodyPr>
            <a:spAutoFit/>
          </a:bodyPr>
          <a:p>
            <a:pPr>
              <a:spcBef>
                <a:spcPct val="50000"/>
              </a:spcBef>
            </a:pPr>
            <a:r>
              <a:rPr lang="en-US" altLang="zh-CN" sz="3200" b="0">
                <a:solidFill>
                  <a:srgbClr val="0000FF"/>
                </a:solidFill>
                <a:latin typeface="Verdana" panose="020B0604030504040204" pitchFamily="34" charset="0"/>
              </a:rPr>
              <a:t>0</a:t>
            </a:r>
            <a:endParaRPr lang="en-US" altLang="zh-CN" sz="3200" b="0">
              <a:solidFill>
                <a:srgbClr val="0000FF"/>
              </a:solidFill>
              <a:latin typeface="Verdana" panose="020B0604030504040204" pitchFamily="34" charset="0"/>
            </a:endParaRPr>
          </a:p>
        </p:txBody>
      </p:sp>
      <p:sp>
        <p:nvSpPr>
          <p:cNvPr id="18443" name="文本框 18442"/>
          <p:cNvSpPr txBox="1"/>
          <p:nvPr/>
        </p:nvSpPr>
        <p:spPr>
          <a:xfrm>
            <a:off x="6156325" y="4076700"/>
            <a:ext cx="360363" cy="579438"/>
          </a:xfrm>
          <a:prstGeom prst="rect">
            <a:avLst/>
          </a:prstGeom>
          <a:noFill/>
          <a:ln w="9525">
            <a:noFill/>
          </a:ln>
        </p:spPr>
        <p:txBody>
          <a:bodyPr>
            <a:spAutoFit/>
          </a:bodyPr>
          <a:p>
            <a:pPr>
              <a:spcBef>
                <a:spcPct val="50000"/>
              </a:spcBef>
            </a:pPr>
            <a:r>
              <a:rPr lang="en-US" altLang="zh-CN" sz="3200" b="0">
                <a:latin typeface="Verdana" panose="020B0604030504040204" pitchFamily="34" charset="0"/>
              </a:rPr>
              <a:t>0</a:t>
            </a:r>
            <a:endParaRPr lang="en-US" altLang="zh-CN" sz="3200" b="0">
              <a:latin typeface="Verdana" panose="020B0604030504040204" pitchFamily="34" charset="0"/>
            </a:endParaRPr>
          </a:p>
        </p:txBody>
      </p:sp>
      <p:sp>
        <p:nvSpPr>
          <p:cNvPr id="18444" name="文本框 18443"/>
          <p:cNvSpPr txBox="1"/>
          <p:nvPr/>
        </p:nvSpPr>
        <p:spPr>
          <a:xfrm>
            <a:off x="539750" y="4941888"/>
            <a:ext cx="8207375" cy="579437"/>
          </a:xfrm>
          <a:prstGeom prst="rect">
            <a:avLst/>
          </a:prstGeom>
          <a:noFill/>
          <a:ln w="9525">
            <a:noFill/>
          </a:ln>
        </p:spPr>
        <p:txBody>
          <a:bodyPr>
            <a:spAutoFit/>
          </a:bodyPr>
          <a:p>
            <a:pPr>
              <a:spcBef>
                <a:spcPct val="50000"/>
              </a:spcBef>
            </a:pPr>
            <a:r>
              <a:rPr lang="en-US" altLang="zh-CN" sz="3200" b="0" dirty="0">
                <a:latin typeface="Verdana" panose="020B0604030504040204" pitchFamily="34" charset="0"/>
              </a:rPr>
              <a:t> </a:t>
            </a:r>
            <a:r>
              <a:rPr lang="en-US" altLang="zh-CN" sz="3200" b="0">
                <a:latin typeface="Verdana" panose="020B0604030504040204" pitchFamily="34" charset="0"/>
              </a:rPr>
              <a:t>=(5E.B2 )</a:t>
            </a:r>
            <a:r>
              <a:rPr lang="en-US" altLang="zh-CN" sz="3200" b="0" baseline="-25000">
                <a:latin typeface="Verdana" panose="020B0604030504040204" pitchFamily="34" charset="0"/>
              </a:rPr>
              <a:t>16</a:t>
            </a:r>
            <a:endParaRPr lang="en-US" altLang="zh-CN" sz="3200" b="0" baseline="-25000">
              <a:latin typeface="Verdana" panose="020B0604030504040204" pitchFamily="34" charset="0"/>
            </a:endParaRPr>
          </a:p>
        </p:txBody>
      </p:sp>
      <p:sp>
        <p:nvSpPr>
          <p:cNvPr id="18445" name="文本框 18444"/>
          <p:cNvSpPr txBox="1"/>
          <p:nvPr/>
        </p:nvSpPr>
        <p:spPr>
          <a:xfrm>
            <a:off x="7308850" y="4076700"/>
            <a:ext cx="360363" cy="579438"/>
          </a:xfrm>
          <a:prstGeom prst="rect">
            <a:avLst/>
          </a:prstGeom>
          <a:noFill/>
          <a:ln w="9525">
            <a:noFill/>
          </a:ln>
        </p:spPr>
        <p:txBody>
          <a:bodyPr>
            <a:spAutoFit/>
          </a:bodyPr>
          <a:p>
            <a:pPr>
              <a:spcBef>
                <a:spcPct val="50000"/>
              </a:spcBef>
            </a:pPr>
            <a:r>
              <a:rPr lang="en-US" altLang="zh-CN" sz="3200" b="0">
                <a:solidFill>
                  <a:srgbClr val="0000FF"/>
                </a:solidFill>
                <a:latin typeface="Verdana" panose="020B0604030504040204" pitchFamily="34" charset="0"/>
              </a:rPr>
              <a:t>0</a:t>
            </a:r>
            <a:endParaRPr lang="en-US" altLang="zh-CN" sz="3200" b="0">
              <a:solidFill>
                <a:srgbClr val="0000FF"/>
              </a:solidFill>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436"/>
                                        </p:tgtEl>
                                        <p:attrNameLst>
                                          <p:attrName>style.visibility</p:attrName>
                                        </p:attrNameLst>
                                      </p:cBhvr>
                                      <p:to>
                                        <p:strVal val="visible"/>
                                      </p:to>
                                    </p:set>
                                    <p:animEffect transition="in" filter="wipe(left)">
                                      <p:cBhvr>
                                        <p:cTn id="7" dur="500"/>
                                        <p:tgtEl>
                                          <p:spTgt spid="1843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437">
                                            <p:txEl>
                                              <p:charRg st="0" end="48"/>
                                            </p:txEl>
                                          </p:spTgt>
                                        </p:tgtEl>
                                        <p:attrNameLst>
                                          <p:attrName>style.visibility</p:attrName>
                                        </p:attrNameLst>
                                      </p:cBhvr>
                                      <p:to>
                                        <p:strVal val="visible"/>
                                      </p:to>
                                    </p:set>
                                    <p:animEffect transition="in" filter="wipe(left)">
                                      <p:cBhvr>
                                        <p:cTn id="12" dur="500"/>
                                        <p:tgtEl>
                                          <p:spTgt spid="18437">
                                            <p:txEl>
                                              <p:charRg st="0" end="4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437">
                                            <p:txEl>
                                              <p:charRg st="48" end="70"/>
                                            </p:txEl>
                                          </p:spTgt>
                                        </p:tgtEl>
                                        <p:attrNameLst>
                                          <p:attrName>style.visibility</p:attrName>
                                        </p:attrNameLst>
                                      </p:cBhvr>
                                      <p:to>
                                        <p:strVal val="visible"/>
                                      </p:to>
                                    </p:set>
                                    <p:animEffect transition="in" filter="wipe(left)">
                                      <p:cBhvr>
                                        <p:cTn id="17" dur="500"/>
                                        <p:tgtEl>
                                          <p:spTgt spid="18437">
                                            <p:txEl>
                                              <p:charRg st="48" end="7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8438"/>
                                        </p:tgtEl>
                                        <p:attrNameLst>
                                          <p:attrName>style.visibility</p:attrName>
                                        </p:attrNameLst>
                                      </p:cBhvr>
                                      <p:to>
                                        <p:strVal val="visible"/>
                                      </p:to>
                                    </p:set>
                                    <p:animEffect transition="in" filter="checkerboard(across)">
                                      <p:cBhvr>
                                        <p:cTn id="22" dur="500"/>
                                        <p:tgtEl>
                                          <p:spTgt spid="18438"/>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18439"/>
                                        </p:tgtEl>
                                        <p:attrNameLst>
                                          <p:attrName>style.visibility</p:attrName>
                                        </p:attrNameLst>
                                      </p:cBhvr>
                                      <p:to>
                                        <p:strVal val="visible"/>
                                      </p:to>
                                    </p:set>
                                    <p:animEffect transition="in" filter="box(in)">
                                      <p:cBhvr>
                                        <p:cTn id="27" dur="500"/>
                                        <p:tgtEl>
                                          <p:spTgt spid="18439"/>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18440"/>
                                        </p:tgtEl>
                                        <p:attrNameLst>
                                          <p:attrName>style.visibility</p:attrName>
                                        </p:attrNameLst>
                                      </p:cBhvr>
                                      <p:to>
                                        <p:strVal val="visible"/>
                                      </p:to>
                                    </p:set>
                                    <p:animEffect transition="in" filter="box(in)">
                                      <p:cBhvr>
                                        <p:cTn id="32" dur="500"/>
                                        <p:tgtEl>
                                          <p:spTgt spid="18440"/>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18442"/>
                                        </p:tgtEl>
                                        <p:attrNameLst>
                                          <p:attrName>style.visibility</p:attrName>
                                        </p:attrNameLst>
                                      </p:cBhvr>
                                      <p:to>
                                        <p:strVal val="visible"/>
                                      </p:to>
                                    </p:set>
                                    <p:animEffect transition="in" filter="box(in)">
                                      <p:cBhvr>
                                        <p:cTn id="37" dur="500"/>
                                        <p:tgtEl>
                                          <p:spTgt spid="18442"/>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18441"/>
                                        </p:tgtEl>
                                        <p:attrNameLst>
                                          <p:attrName>style.visibility</p:attrName>
                                        </p:attrNameLst>
                                      </p:cBhvr>
                                      <p:to>
                                        <p:strVal val="visible"/>
                                      </p:to>
                                    </p:set>
                                    <p:animEffect transition="in" filter="box(in)">
                                      <p:cBhvr>
                                        <p:cTn id="42" dur="500"/>
                                        <p:tgtEl>
                                          <p:spTgt spid="18441"/>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18443"/>
                                        </p:tgtEl>
                                        <p:attrNameLst>
                                          <p:attrName>style.visibility</p:attrName>
                                        </p:attrNameLst>
                                      </p:cBhvr>
                                      <p:to>
                                        <p:strVal val="visible"/>
                                      </p:to>
                                    </p:set>
                                    <p:animEffect transition="in" filter="box(in)">
                                      <p:cBhvr>
                                        <p:cTn id="47" dur="500"/>
                                        <p:tgtEl>
                                          <p:spTgt spid="1844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8444"/>
                                        </p:tgtEl>
                                        <p:attrNameLst>
                                          <p:attrName>style.visibility</p:attrName>
                                        </p:attrNameLst>
                                      </p:cBhvr>
                                      <p:to>
                                        <p:strVal val="visible"/>
                                      </p:to>
                                    </p:set>
                                    <p:animEffect transition="in" filter="wipe(left)">
                                      <p:cBhvr>
                                        <p:cTn id="52" dur="500"/>
                                        <p:tgtEl>
                                          <p:spTgt spid="18444"/>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18445"/>
                                        </p:tgtEl>
                                        <p:attrNameLst>
                                          <p:attrName>style.visibility</p:attrName>
                                        </p:attrNameLst>
                                      </p:cBhvr>
                                      <p:to>
                                        <p:strVal val="visible"/>
                                      </p:to>
                                    </p:set>
                                    <p:animEffect transition="in" filter="box(in)">
                                      <p:cBhvr>
                                        <p:cTn id="57" dur="500"/>
                                        <p:tgtEl>
                                          <p:spTgt spid="184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animBg="1"/>
      <p:bldP spid="18437" grpId="0" build="p"/>
      <p:bldP spid="18438" grpId="0"/>
      <p:bldP spid="18442" grpId="0"/>
      <p:bldP spid="18443" grpId="0"/>
      <p:bldP spid="18444" grpId="0"/>
      <p:bldP spid="1844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22" name="文本框 17421"/>
          <p:cNvSpPr txBox="1"/>
          <p:nvPr/>
        </p:nvSpPr>
        <p:spPr>
          <a:xfrm>
            <a:off x="574675" y="4005263"/>
            <a:ext cx="8569325" cy="579437"/>
          </a:xfrm>
          <a:prstGeom prst="rect">
            <a:avLst/>
          </a:prstGeom>
          <a:noFill/>
          <a:ln w="9525">
            <a:noFill/>
          </a:ln>
        </p:spPr>
        <p:txBody>
          <a:bodyPr>
            <a:spAutoFit/>
          </a:bodyPr>
          <a:p>
            <a:pPr>
              <a:spcBef>
                <a:spcPct val="50000"/>
              </a:spcBef>
            </a:pPr>
            <a:r>
              <a:rPr lang="en-US" altLang="zh-CN" sz="3200">
                <a:latin typeface="Times New Roman" panose="02020603050405020304" pitchFamily="18" charset="0"/>
              </a:rPr>
              <a:t>=(1000  1111  1010.1100  0110)</a:t>
            </a:r>
            <a:r>
              <a:rPr lang="en-US" altLang="zh-CN" sz="3200" baseline="-25000">
                <a:latin typeface="Times New Roman" panose="02020603050405020304" pitchFamily="18" charset="0"/>
              </a:rPr>
              <a:t>2</a:t>
            </a:r>
            <a:r>
              <a:rPr lang="en-US" altLang="zh-CN" sz="3200">
                <a:latin typeface="Times New Roman" panose="02020603050405020304" pitchFamily="18" charset="0"/>
              </a:rPr>
              <a:t>  </a:t>
            </a:r>
            <a:endParaRPr lang="en-US" altLang="zh-CN" sz="3200">
              <a:latin typeface="Times New Roman" panose="02020603050405020304" pitchFamily="18" charset="0"/>
            </a:endParaRPr>
          </a:p>
        </p:txBody>
      </p:sp>
      <p:sp>
        <p:nvSpPr>
          <p:cNvPr id="17423" name="文本框 17422"/>
          <p:cNvSpPr txBox="1"/>
          <p:nvPr/>
        </p:nvSpPr>
        <p:spPr>
          <a:xfrm>
            <a:off x="395288" y="404813"/>
            <a:ext cx="3671887" cy="579437"/>
          </a:xfrm>
          <a:prstGeom prst="rect">
            <a:avLst/>
          </a:prstGeom>
          <a:solidFill>
            <a:srgbClr val="00FF00"/>
          </a:solidFill>
          <a:ln w="9525">
            <a:noFill/>
          </a:ln>
        </p:spPr>
        <p:txBody>
          <a:bodyPr>
            <a:spAutoFit/>
          </a:bodyPr>
          <a:p>
            <a:pPr>
              <a:spcBef>
                <a:spcPct val="50000"/>
              </a:spcBef>
            </a:pPr>
            <a:r>
              <a:rPr lang="zh-CN" altLang="en-US" sz="3200" dirty="0">
                <a:solidFill>
                  <a:srgbClr val="990000"/>
                </a:solidFill>
                <a:latin typeface="华文楷体" panose="02010600040101010101" pitchFamily="2" charset="-122"/>
                <a:ea typeface="华文楷体" panose="02010600040101010101" pitchFamily="2" charset="-122"/>
              </a:rPr>
              <a:t>四、</a:t>
            </a:r>
            <a:r>
              <a:rPr lang="zh-CN" altLang="en-US" sz="3200" dirty="0">
                <a:solidFill>
                  <a:srgbClr val="990000"/>
                </a:solidFill>
                <a:latin typeface="Times New Roman" panose="02020603050405020304" pitchFamily="18" charset="0"/>
                <a:ea typeface="华文楷体" panose="02010600040101010101" pitchFamily="2" charset="-122"/>
              </a:rPr>
              <a:t>十六</a:t>
            </a:r>
            <a:r>
              <a:rPr lang="zh-CN" altLang="en-US" sz="3200" dirty="0">
                <a:solidFill>
                  <a:srgbClr val="990000"/>
                </a:solidFill>
                <a:latin typeface="华文楷体" panose="02010600040101010101" pitchFamily="2" charset="-122"/>
                <a:ea typeface="华文楷体" panose="02010600040101010101" pitchFamily="2" charset="-122"/>
              </a:rPr>
              <a:t>－</a:t>
            </a:r>
            <a:r>
              <a:rPr lang="zh-CN" altLang="en-US" sz="3200" dirty="0">
                <a:solidFill>
                  <a:srgbClr val="990000"/>
                </a:solidFill>
                <a:latin typeface="Times New Roman" panose="02020603050405020304" pitchFamily="18" charset="0"/>
                <a:ea typeface="华文楷体" panose="02010600040101010101" pitchFamily="2" charset="-122"/>
              </a:rPr>
              <a:t>二</a:t>
            </a:r>
            <a:r>
              <a:rPr lang="zh-CN" altLang="en-US" sz="3200" dirty="0">
                <a:solidFill>
                  <a:srgbClr val="990000"/>
                </a:solidFill>
                <a:latin typeface="华文楷体" panose="02010600040101010101" pitchFamily="2" charset="-122"/>
                <a:ea typeface="华文楷体" panose="02010600040101010101" pitchFamily="2" charset="-122"/>
              </a:rPr>
              <a:t>转换</a:t>
            </a:r>
            <a:endParaRPr lang="zh-CN" altLang="en-US" sz="3200" dirty="0">
              <a:solidFill>
                <a:srgbClr val="990000"/>
              </a:solidFill>
              <a:latin typeface="华文楷体" panose="02010600040101010101" pitchFamily="2" charset="-122"/>
              <a:ea typeface="华文楷体" panose="02010600040101010101" pitchFamily="2" charset="-122"/>
            </a:endParaRPr>
          </a:p>
        </p:txBody>
      </p:sp>
      <p:sp>
        <p:nvSpPr>
          <p:cNvPr id="17424" name="文本框 17423"/>
          <p:cNvSpPr txBox="1"/>
          <p:nvPr/>
        </p:nvSpPr>
        <p:spPr>
          <a:xfrm>
            <a:off x="304800" y="1700213"/>
            <a:ext cx="8839200" cy="1066800"/>
          </a:xfrm>
          <a:prstGeom prst="rect">
            <a:avLst/>
          </a:prstGeom>
          <a:noFill/>
          <a:ln w="12700">
            <a:noFill/>
          </a:ln>
        </p:spPr>
        <p:txBody>
          <a:bodyPr>
            <a:spAutoFit/>
          </a:bodyPr>
          <a:p>
            <a:pPr marL="342900" indent="-342900" eaLnBrk="0" hangingPunct="0">
              <a:spcBef>
                <a:spcPct val="50000"/>
              </a:spcBef>
            </a:pPr>
            <a:r>
              <a:rPr lang="zh-CN" altLang="en-US" sz="3200" dirty="0">
                <a:latin typeface="华文楷体" panose="02010600040101010101" pitchFamily="2" charset="-122"/>
                <a:ea typeface="华文楷体" panose="02010600040101010101" pitchFamily="2" charset="-122"/>
              </a:rPr>
              <a:t>方法：将每位十六进制数用</a:t>
            </a:r>
            <a:r>
              <a:rPr lang="en-US" altLang="zh-CN" sz="3200">
                <a:latin typeface="华文楷体" panose="02010600040101010101" pitchFamily="2" charset="-122"/>
                <a:ea typeface="华文楷体" panose="02010600040101010101" pitchFamily="2" charset="-122"/>
              </a:rPr>
              <a:t>4</a:t>
            </a:r>
            <a:r>
              <a:rPr lang="zh-CN" altLang="en-US" sz="3200" dirty="0">
                <a:latin typeface="华文楷体" panose="02010600040101010101" pitchFamily="2" charset="-122"/>
                <a:ea typeface="华文楷体" panose="02010600040101010101" pitchFamily="2" charset="-122"/>
              </a:rPr>
              <a:t>位二进制数表示。</a:t>
            </a:r>
            <a:r>
              <a:rPr lang="zh-CN" altLang="en-US" sz="3200" b="0" dirty="0">
                <a:latin typeface="华文楷体" panose="02010600040101010101" pitchFamily="2" charset="-122"/>
                <a:ea typeface="华文楷体" panose="02010600040101010101" pitchFamily="2" charset="-122"/>
              </a:rPr>
              <a:t>		</a:t>
            </a:r>
            <a:endParaRPr lang="zh-CN" altLang="en-US" sz="3200" b="0" dirty="0">
              <a:latin typeface="华文楷体" panose="02010600040101010101" pitchFamily="2" charset="-122"/>
              <a:ea typeface="华文楷体" panose="02010600040101010101" pitchFamily="2" charset="-122"/>
            </a:endParaRPr>
          </a:p>
        </p:txBody>
      </p:sp>
      <p:sp>
        <p:nvSpPr>
          <p:cNvPr id="17425" name="矩形 17424"/>
          <p:cNvSpPr/>
          <p:nvPr/>
        </p:nvSpPr>
        <p:spPr>
          <a:xfrm>
            <a:off x="1042988" y="2852738"/>
            <a:ext cx="4862512" cy="519112"/>
          </a:xfrm>
          <a:prstGeom prst="rect">
            <a:avLst/>
          </a:prstGeom>
          <a:noFill/>
          <a:ln w="9525">
            <a:noFill/>
          </a:ln>
        </p:spPr>
        <p:txBody>
          <a:bodyPr wrap="none" anchor="t" anchorCtr="0">
            <a:spAutoFit/>
          </a:bodyPr>
          <a:p>
            <a:pPr>
              <a:spcBef>
                <a:spcPct val="50000"/>
              </a:spcBef>
            </a:pPr>
            <a:r>
              <a:rPr lang="en-US" altLang="zh-CN">
                <a:latin typeface="Times New Roman" panose="02020603050405020304" pitchFamily="18" charset="0"/>
              </a:rPr>
              <a:t>(  8         F        A   .    C        6)</a:t>
            </a:r>
            <a:r>
              <a:rPr lang="en-US" altLang="zh-CN" baseline="-25000">
                <a:latin typeface="Times New Roman" panose="02020603050405020304" pitchFamily="18" charset="0"/>
              </a:rPr>
              <a:t>16</a:t>
            </a:r>
            <a:endParaRPr lang="en-US" altLang="zh-CN" baseline="-25000">
              <a:latin typeface="Times New Roman" panose="02020603050405020304" pitchFamily="18" charset="0"/>
            </a:endParaRPr>
          </a:p>
        </p:txBody>
      </p:sp>
      <p:sp>
        <p:nvSpPr>
          <p:cNvPr id="17426" name="直接连接符 17425"/>
          <p:cNvSpPr/>
          <p:nvPr/>
        </p:nvSpPr>
        <p:spPr>
          <a:xfrm>
            <a:off x="1476375" y="3357563"/>
            <a:ext cx="0" cy="576262"/>
          </a:xfrm>
          <a:prstGeom prst="line">
            <a:avLst/>
          </a:prstGeom>
          <a:ln w="38100" cap="flat" cmpd="sng">
            <a:solidFill>
              <a:srgbClr val="FF0000"/>
            </a:solidFill>
            <a:prstDash val="solid"/>
            <a:headEnd type="none" w="med" len="med"/>
            <a:tailEnd type="triangle" w="med" len="med"/>
          </a:ln>
        </p:spPr>
      </p:sp>
      <p:sp>
        <p:nvSpPr>
          <p:cNvPr id="17427" name="直接连接符 17426"/>
          <p:cNvSpPr/>
          <p:nvPr/>
        </p:nvSpPr>
        <p:spPr>
          <a:xfrm>
            <a:off x="2484438" y="3357563"/>
            <a:ext cx="0" cy="576262"/>
          </a:xfrm>
          <a:prstGeom prst="line">
            <a:avLst/>
          </a:prstGeom>
          <a:ln w="38100" cap="flat" cmpd="sng">
            <a:solidFill>
              <a:srgbClr val="FF0000"/>
            </a:solidFill>
            <a:prstDash val="solid"/>
            <a:headEnd type="none" w="med" len="med"/>
            <a:tailEnd type="triangle" w="med" len="med"/>
          </a:ln>
        </p:spPr>
      </p:sp>
      <p:sp>
        <p:nvSpPr>
          <p:cNvPr id="17428" name="直接连接符 17427"/>
          <p:cNvSpPr/>
          <p:nvPr/>
        </p:nvSpPr>
        <p:spPr>
          <a:xfrm>
            <a:off x="3419475" y="3357563"/>
            <a:ext cx="0" cy="576262"/>
          </a:xfrm>
          <a:prstGeom prst="line">
            <a:avLst/>
          </a:prstGeom>
          <a:ln w="38100" cap="flat" cmpd="sng">
            <a:solidFill>
              <a:srgbClr val="FF0000"/>
            </a:solidFill>
            <a:prstDash val="solid"/>
            <a:headEnd type="none" w="med" len="med"/>
            <a:tailEnd type="triangle" w="med" len="med"/>
          </a:ln>
        </p:spPr>
      </p:sp>
      <p:sp>
        <p:nvSpPr>
          <p:cNvPr id="17429" name="直接连接符 17428"/>
          <p:cNvSpPr/>
          <p:nvPr/>
        </p:nvSpPr>
        <p:spPr>
          <a:xfrm>
            <a:off x="4427538" y="3357563"/>
            <a:ext cx="0" cy="576262"/>
          </a:xfrm>
          <a:prstGeom prst="line">
            <a:avLst/>
          </a:prstGeom>
          <a:ln w="38100" cap="flat" cmpd="sng">
            <a:solidFill>
              <a:srgbClr val="FF0000"/>
            </a:solidFill>
            <a:prstDash val="solid"/>
            <a:headEnd type="none" w="med" len="med"/>
            <a:tailEnd type="triangle" w="med" len="med"/>
          </a:ln>
        </p:spPr>
      </p:sp>
      <p:sp>
        <p:nvSpPr>
          <p:cNvPr id="17430" name="直接连接符 17429"/>
          <p:cNvSpPr/>
          <p:nvPr/>
        </p:nvSpPr>
        <p:spPr>
          <a:xfrm>
            <a:off x="5364163" y="3357563"/>
            <a:ext cx="0" cy="576262"/>
          </a:xfrm>
          <a:prstGeom prst="line">
            <a:avLst/>
          </a:prstGeom>
          <a:ln w="38100" cap="flat" cmpd="sng">
            <a:solidFill>
              <a:srgbClr val="FF0000"/>
            </a:solidFill>
            <a:prstDash val="solid"/>
            <a:headEnd type="none" w="med" len="med"/>
            <a:tailEnd type="triangl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7423"/>
                                        </p:tgtEl>
                                        <p:attrNameLst>
                                          <p:attrName>style.visibility</p:attrName>
                                        </p:attrNameLst>
                                      </p:cBhvr>
                                      <p:to>
                                        <p:strVal val="visible"/>
                                      </p:to>
                                    </p:set>
                                    <p:animEffect transition="in" filter="wipe(left)">
                                      <p:cBhvr>
                                        <p:cTn id="7" dur="500"/>
                                        <p:tgtEl>
                                          <p:spTgt spid="174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424">
                                            <p:txEl>
                                              <p:charRg st="0" end="24"/>
                                            </p:txEl>
                                          </p:spTgt>
                                        </p:tgtEl>
                                        <p:attrNameLst>
                                          <p:attrName>style.visibility</p:attrName>
                                        </p:attrNameLst>
                                      </p:cBhvr>
                                      <p:to>
                                        <p:strVal val="visible"/>
                                      </p:to>
                                    </p:set>
                                    <p:animEffect transition="in" filter="wipe(left)">
                                      <p:cBhvr>
                                        <p:cTn id="12" dur="500"/>
                                        <p:tgtEl>
                                          <p:spTgt spid="17424">
                                            <p:txEl>
                                              <p:charRg st="0" end="2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425"/>
                                        </p:tgtEl>
                                        <p:attrNameLst>
                                          <p:attrName>style.visibility</p:attrName>
                                        </p:attrNameLst>
                                      </p:cBhvr>
                                      <p:to>
                                        <p:strVal val="visible"/>
                                      </p:to>
                                    </p:set>
                                    <p:animEffect transition="in" filter="wipe(left)">
                                      <p:cBhvr>
                                        <p:cTn id="17" dur="500"/>
                                        <p:tgtEl>
                                          <p:spTgt spid="174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7426"/>
                                        </p:tgtEl>
                                        <p:attrNameLst>
                                          <p:attrName>style.visibility</p:attrName>
                                        </p:attrNameLst>
                                      </p:cBhvr>
                                      <p:to>
                                        <p:strVal val="visible"/>
                                      </p:to>
                                    </p:set>
                                    <p:animEffect transition="in" filter="wipe(up)">
                                      <p:cBhvr>
                                        <p:cTn id="22" dur="500"/>
                                        <p:tgtEl>
                                          <p:spTgt spid="17426"/>
                                        </p:tgtEl>
                                      </p:cBhvr>
                                    </p:animEffect>
                                  </p:childTnLst>
                                </p:cTn>
                              </p:par>
                            </p:childTnLst>
                          </p:cTn>
                        </p:par>
                        <p:par>
                          <p:cTn id="23" fill="hold">
                            <p:stCondLst>
                              <p:cond delay="500"/>
                            </p:stCondLst>
                            <p:childTnLst>
                              <p:par>
                                <p:cTn id="24" presetID="8" presetClass="entr" presetSubtype="16" fill="hold" grpId="0" nodeType="afterEffect">
                                  <p:stCondLst>
                                    <p:cond delay="0"/>
                                  </p:stCondLst>
                                  <p:childTnLst>
                                    <p:set>
                                      <p:cBhvr>
                                        <p:cTn id="25" dur="1" fill="hold">
                                          <p:stCondLst>
                                            <p:cond delay="0"/>
                                          </p:stCondLst>
                                        </p:cTn>
                                        <p:tgtEl>
                                          <p:spTgt spid="17422"/>
                                        </p:tgtEl>
                                        <p:attrNameLst>
                                          <p:attrName>style.visibility</p:attrName>
                                        </p:attrNameLst>
                                      </p:cBhvr>
                                      <p:to>
                                        <p:strVal val="visible"/>
                                      </p:to>
                                    </p:set>
                                    <p:animEffect transition="in" filter="diamond(in)">
                                      <p:cBhvr>
                                        <p:cTn id="26" dur="2000"/>
                                        <p:tgtEl>
                                          <p:spTgt spid="17422"/>
                                        </p:tgtEl>
                                      </p:cBhvr>
                                    </p:animEffect>
                                  </p:childTnLst>
                                </p:cTn>
                              </p:par>
                            </p:childTnLst>
                          </p:cTn>
                        </p:par>
                        <p:par>
                          <p:cTn id="27" fill="hold">
                            <p:stCondLst>
                              <p:cond delay="2500"/>
                            </p:stCondLst>
                            <p:childTnLst>
                              <p:par>
                                <p:cTn id="28" presetID="22" presetClass="entr" presetSubtype="1" fill="hold" nodeType="afterEffect">
                                  <p:stCondLst>
                                    <p:cond delay="0"/>
                                  </p:stCondLst>
                                  <p:childTnLst>
                                    <p:set>
                                      <p:cBhvr>
                                        <p:cTn id="29" dur="1" fill="hold">
                                          <p:stCondLst>
                                            <p:cond delay="0"/>
                                          </p:stCondLst>
                                        </p:cTn>
                                        <p:tgtEl>
                                          <p:spTgt spid="17427"/>
                                        </p:tgtEl>
                                        <p:attrNameLst>
                                          <p:attrName>style.visibility</p:attrName>
                                        </p:attrNameLst>
                                      </p:cBhvr>
                                      <p:to>
                                        <p:strVal val="visible"/>
                                      </p:to>
                                    </p:set>
                                    <p:animEffect transition="in" filter="wipe(up)">
                                      <p:cBhvr>
                                        <p:cTn id="30" dur="500"/>
                                        <p:tgtEl>
                                          <p:spTgt spid="17427"/>
                                        </p:tgtEl>
                                      </p:cBhvr>
                                    </p:animEffect>
                                  </p:childTnLst>
                                </p:cTn>
                              </p:par>
                            </p:childTnLst>
                          </p:cTn>
                        </p:par>
                        <p:par>
                          <p:cTn id="31" fill="hold">
                            <p:stCondLst>
                              <p:cond delay="3000"/>
                            </p:stCondLst>
                            <p:childTnLst>
                              <p:par>
                                <p:cTn id="32" presetID="22" presetClass="entr" presetSubtype="1" fill="hold" nodeType="afterEffect">
                                  <p:stCondLst>
                                    <p:cond delay="0"/>
                                  </p:stCondLst>
                                  <p:childTnLst>
                                    <p:set>
                                      <p:cBhvr>
                                        <p:cTn id="33" dur="1" fill="hold">
                                          <p:stCondLst>
                                            <p:cond delay="0"/>
                                          </p:stCondLst>
                                        </p:cTn>
                                        <p:tgtEl>
                                          <p:spTgt spid="17428"/>
                                        </p:tgtEl>
                                        <p:attrNameLst>
                                          <p:attrName>style.visibility</p:attrName>
                                        </p:attrNameLst>
                                      </p:cBhvr>
                                      <p:to>
                                        <p:strVal val="visible"/>
                                      </p:to>
                                    </p:set>
                                    <p:animEffect transition="in" filter="wipe(up)">
                                      <p:cBhvr>
                                        <p:cTn id="34" dur="500"/>
                                        <p:tgtEl>
                                          <p:spTgt spid="17428"/>
                                        </p:tgtEl>
                                      </p:cBhvr>
                                    </p:animEffect>
                                  </p:childTnLst>
                                </p:cTn>
                              </p:par>
                            </p:childTnLst>
                          </p:cTn>
                        </p:par>
                        <p:par>
                          <p:cTn id="35" fill="hold">
                            <p:stCondLst>
                              <p:cond delay="3500"/>
                            </p:stCondLst>
                            <p:childTnLst>
                              <p:par>
                                <p:cTn id="36" presetID="22" presetClass="entr" presetSubtype="1" fill="hold" nodeType="afterEffect">
                                  <p:stCondLst>
                                    <p:cond delay="0"/>
                                  </p:stCondLst>
                                  <p:childTnLst>
                                    <p:set>
                                      <p:cBhvr>
                                        <p:cTn id="37" dur="1" fill="hold">
                                          <p:stCondLst>
                                            <p:cond delay="0"/>
                                          </p:stCondLst>
                                        </p:cTn>
                                        <p:tgtEl>
                                          <p:spTgt spid="17429"/>
                                        </p:tgtEl>
                                        <p:attrNameLst>
                                          <p:attrName>style.visibility</p:attrName>
                                        </p:attrNameLst>
                                      </p:cBhvr>
                                      <p:to>
                                        <p:strVal val="visible"/>
                                      </p:to>
                                    </p:set>
                                    <p:animEffect transition="in" filter="wipe(up)">
                                      <p:cBhvr>
                                        <p:cTn id="38" dur="500"/>
                                        <p:tgtEl>
                                          <p:spTgt spid="17429"/>
                                        </p:tgtEl>
                                      </p:cBhvr>
                                    </p:animEffect>
                                  </p:childTnLst>
                                </p:cTn>
                              </p:par>
                            </p:childTnLst>
                          </p:cTn>
                        </p:par>
                        <p:par>
                          <p:cTn id="39" fill="hold">
                            <p:stCondLst>
                              <p:cond delay="4000"/>
                            </p:stCondLst>
                            <p:childTnLst>
                              <p:par>
                                <p:cTn id="40" presetID="22" presetClass="entr" presetSubtype="1" fill="hold" nodeType="afterEffect">
                                  <p:stCondLst>
                                    <p:cond delay="0"/>
                                  </p:stCondLst>
                                  <p:childTnLst>
                                    <p:set>
                                      <p:cBhvr>
                                        <p:cTn id="41" dur="1" fill="hold">
                                          <p:stCondLst>
                                            <p:cond delay="0"/>
                                          </p:stCondLst>
                                        </p:cTn>
                                        <p:tgtEl>
                                          <p:spTgt spid="17430"/>
                                        </p:tgtEl>
                                        <p:attrNameLst>
                                          <p:attrName>style.visibility</p:attrName>
                                        </p:attrNameLst>
                                      </p:cBhvr>
                                      <p:to>
                                        <p:strVal val="visible"/>
                                      </p:to>
                                    </p:set>
                                    <p:animEffect transition="in" filter="wipe(up)">
                                      <p:cBhvr>
                                        <p:cTn id="42" dur="500"/>
                                        <p:tgtEl>
                                          <p:spTgt spid="174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22" grpId="0"/>
      <p:bldP spid="17423" grpId="0" animBg="1"/>
      <p:bldP spid="17424" grpId="0" build="p"/>
      <p:bldP spid="1742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60" name="文本框 19459"/>
          <p:cNvSpPr txBox="1"/>
          <p:nvPr/>
        </p:nvSpPr>
        <p:spPr>
          <a:xfrm>
            <a:off x="395288" y="404813"/>
            <a:ext cx="6121400" cy="579437"/>
          </a:xfrm>
          <a:prstGeom prst="rect">
            <a:avLst/>
          </a:prstGeom>
          <a:solidFill>
            <a:srgbClr val="00FF00"/>
          </a:solidFill>
          <a:ln w="9525">
            <a:noFill/>
          </a:ln>
        </p:spPr>
        <p:txBody>
          <a:bodyPr>
            <a:spAutoFit/>
          </a:bodyPr>
          <a:p>
            <a:pPr>
              <a:spcBef>
                <a:spcPct val="50000"/>
              </a:spcBef>
            </a:pPr>
            <a:r>
              <a:rPr lang="zh-CN" altLang="en-US" sz="3200" dirty="0">
                <a:solidFill>
                  <a:srgbClr val="990000"/>
                </a:solidFill>
                <a:latin typeface="华文楷体" panose="02010600040101010101" pitchFamily="2" charset="-122"/>
                <a:ea typeface="华文楷体" panose="02010600040101010101" pitchFamily="2" charset="-122"/>
              </a:rPr>
              <a:t>五、</a:t>
            </a:r>
            <a:r>
              <a:rPr lang="zh-CN" altLang="en-US" sz="3200" dirty="0">
                <a:solidFill>
                  <a:srgbClr val="990000"/>
                </a:solidFill>
                <a:latin typeface="Times New Roman" panose="02020603050405020304" pitchFamily="18" charset="0"/>
                <a:ea typeface="华文楷体" panose="02010600040101010101" pitchFamily="2" charset="-122"/>
              </a:rPr>
              <a:t>八进制数与二进制数的</a:t>
            </a:r>
            <a:r>
              <a:rPr lang="zh-CN" altLang="en-US" sz="3200" dirty="0">
                <a:solidFill>
                  <a:srgbClr val="990000"/>
                </a:solidFill>
                <a:latin typeface="华文楷体" panose="02010600040101010101" pitchFamily="2" charset="-122"/>
                <a:ea typeface="华文楷体" panose="02010600040101010101" pitchFamily="2" charset="-122"/>
              </a:rPr>
              <a:t>转换</a:t>
            </a:r>
            <a:endParaRPr lang="zh-CN" altLang="en-US" sz="3200" dirty="0">
              <a:solidFill>
                <a:srgbClr val="990000"/>
              </a:solidFill>
              <a:latin typeface="华文楷体" panose="02010600040101010101" pitchFamily="2" charset="-122"/>
              <a:ea typeface="华文楷体" panose="02010600040101010101" pitchFamily="2" charset="-122"/>
            </a:endParaRPr>
          </a:p>
        </p:txBody>
      </p:sp>
      <p:sp>
        <p:nvSpPr>
          <p:cNvPr id="19461" name="文本框 19460"/>
          <p:cNvSpPr txBox="1"/>
          <p:nvPr/>
        </p:nvSpPr>
        <p:spPr>
          <a:xfrm>
            <a:off x="468313" y="1196975"/>
            <a:ext cx="8015287" cy="1311275"/>
          </a:xfrm>
          <a:prstGeom prst="rect">
            <a:avLst/>
          </a:prstGeom>
          <a:noFill/>
          <a:ln w="9525">
            <a:noFill/>
          </a:ln>
        </p:spPr>
        <p:txBody>
          <a:bodyPr>
            <a:spAutoFit/>
          </a:bodyPr>
          <a:p>
            <a:pPr>
              <a:spcBef>
                <a:spcPct val="50000"/>
              </a:spcBef>
            </a:pPr>
            <a:r>
              <a:rPr lang="zh-CN" altLang="en-US" sz="3200" dirty="0">
                <a:latin typeface="华文楷体" panose="02010600040101010101" pitchFamily="2" charset="-122"/>
                <a:ea typeface="华文楷体" panose="02010600040101010101" pitchFamily="2" charset="-122"/>
              </a:rPr>
              <a:t>二进制数与八进制数的相互转换，按照每</a:t>
            </a:r>
            <a:r>
              <a:rPr lang="en-US" altLang="zh-CN" sz="3200">
                <a:latin typeface="华文楷体" panose="02010600040101010101" pitchFamily="2" charset="-122"/>
                <a:ea typeface="华文楷体" panose="02010600040101010101" pitchFamily="2" charset="-122"/>
              </a:rPr>
              <a:t>3</a:t>
            </a:r>
            <a:endParaRPr lang="en-US" altLang="zh-CN" sz="3200">
              <a:latin typeface="华文楷体" panose="02010600040101010101" pitchFamily="2" charset="-122"/>
              <a:ea typeface="华文楷体" panose="02010600040101010101" pitchFamily="2" charset="-122"/>
            </a:endParaRPr>
          </a:p>
          <a:p>
            <a:pPr>
              <a:spcBef>
                <a:spcPct val="50000"/>
              </a:spcBef>
            </a:pPr>
            <a:r>
              <a:rPr lang="zh-CN" altLang="en-US" sz="3200" dirty="0">
                <a:latin typeface="华文楷体" panose="02010600040101010101" pitchFamily="2" charset="-122"/>
                <a:ea typeface="华文楷体" panose="02010600040101010101" pitchFamily="2" charset="-122"/>
              </a:rPr>
              <a:t>位二进制数对应于一位八进制数进行转换。</a:t>
            </a:r>
            <a:endParaRPr lang="zh-CN" altLang="en-US" sz="3200" dirty="0">
              <a:latin typeface="华文楷体" panose="02010600040101010101" pitchFamily="2" charset="-122"/>
              <a:ea typeface="华文楷体" panose="02010600040101010101" pitchFamily="2" charset="-122"/>
            </a:endParaRPr>
          </a:p>
        </p:txBody>
      </p:sp>
      <p:sp>
        <p:nvSpPr>
          <p:cNvPr id="19468" name="文本框 19467"/>
          <p:cNvSpPr txBox="1"/>
          <p:nvPr/>
        </p:nvSpPr>
        <p:spPr>
          <a:xfrm>
            <a:off x="179388" y="2924175"/>
            <a:ext cx="8642350" cy="579438"/>
          </a:xfrm>
          <a:prstGeom prst="rect">
            <a:avLst/>
          </a:prstGeom>
          <a:noFill/>
          <a:ln w="12700">
            <a:noFill/>
          </a:ln>
        </p:spPr>
        <p:txBody>
          <a:bodyPr>
            <a:spAutoFit/>
          </a:bodyPr>
          <a:p>
            <a:pPr marL="342900" indent="-342900" eaLnBrk="0" hangingPunct="0">
              <a:spcBef>
                <a:spcPct val="50000"/>
              </a:spcBef>
            </a:pPr>
            <a:r>
              <a:rPr lang="zh-CN" altLang="en-US" sz="3200" dirty="0">
                <a:latin typeface="华文楷体" panose="02010600040101010101" pitchFamily="2" charset="-122"/>
                <a:ea typeface="华文楷体" panose="02010600040101010101" pitchFamily="2" charset="-122"/>
              </a:rPr>
              <a:t>（    </a:t>
            </a:r>
            <a:r>
              <a:rPr lang="en-US" altLang="zh-CN" sz="3200">
                <a:latin typeface="华文楷体" panose="02010600040101010101" pitchFamily="2" charset="-122"/>
                <a:ea typeface="华文楷体" panose="02010600040101010101" pitchFamily="2" charset="-122"/>
              </a:rPr>
              <a:t>1 1 0 1 0 1 0 . 0 1  )</a:t>
            </a:r>
            <a:r>
              <a:rPr lang="en-US" altLang="zh-CN" sz="3200" baseline="-25000">
                <a:latin typeface="华文楷体" panose="02010600040101010101" pitchFamily="2" charset="-122"/>
                <a:ea typeface="华文楷体" panose="02010600040101010101" pitchFamily="2" charset="-122"/>
              </a:rPr>
              <a:t>2</a:t>
            </a:r>
            <a:endParaRPr lang="en-US" altLang="zh-CN" sz="3200" baseline="-25000">
              <a:latin typeface="华文楷体" panose="02010600040101010101" pitchFamily="2" charset="-122"/>
              <a:ea typeface="华文楷体" panose="02010600040101010101" pitchFamily="2" charset="-122"/>
            </a:endParaRPr>
          </a:p>
        </p:txBody>
      </p:sp>
      <p:sp>
        <p:nvSpPr>
          <p:cNvPr id="19469" name="文本框 19468"/>
          <p:cNvSpPr txBox="1"/>
          <p:nvPr/>
        </p:nvSpPr>
        <p:spPr>
          <a:xfrm>
            <a:off x="766763" y="3838575"/>
            <a:ext cx="2362200" cy="579438"/>
          </a:xfrm>
          <a:prstGeom prst="rect">
            <a:avLst/>
          </a:prstGeom>
          <a:noFill/>
          <a:ln w="12700">
            <a:noFill/>
          </a:ln>
        </p:spPr>
        <p:txBody>
          <a:bodyPr>
            <a:spAutoFit/>
          </a:bodyPr>
          <a:p>
            <a:pPr marL="342900" indent="-342900" eaLnBrk="0" hangingPunct="0">
              <a:spcBef>
                <a:spcPct val="50000"/>
              </a:spcBef>
            </a:pPr>
            <a:r>
              <a:rPr lang="zh-CN" altLang="en-US" sz="3200" dirty="0">
                <a:latin typeface="华文楷体" panose="02010600040101010101" pitchFamily="2" charset="-122"/>
                <a:ea typeface="华文楷体" panose="02010600040101010101" pitchFamily="2" charset="-122"/>
              </a:rPr>
              <a:t>＝ </a:t>
            </a:r>
            <a:r>
              <a:rPr lang="en-US" altLang="zh-CN" sz="3200">
                <a:latin typeface="华文楷体" panose="02010600040101010101" pitchFamily="2" charset="-122"/>
                <a:ea typeface="华文楷体" panose="02010600040101010101" pitchFamily="2" charset="-122"/>
              </a:rPr>
              <a:t>(152.2)</a:t>
            </a:r>
            <a:r>
              <a:rPr lang="en-US" altLang="zh-CN" sz="3200" baseline="-25000">
                <a:latin typeface="华文楷体" panose="02010600040101010101" pitchFamily="2" charset="-122"/>
                <a:ea typeface="华文楷体" panose="02010600040101010101" pitchFamily="2" charset="-122"/>
              </a:rPr>
              <a:t>8</a:t>
            </a:r>
            <a:endParaRPr lang="en-US" altLang="zh-CN" sz="3200">
              <a:latin typeface="华文楷体" panose="02010600040101010101" pitchFamily="2" charset="-122"/>
              <a:ea typeface="华文楷体" panose="02010600040101010101" pitchFamily="2" charset="-122"/>
            </a:endParaRPr>
          </a:p>
        </p:txBody>
      </p:sp>
      <p:sp>
        <p:nvSpPr>
          <p:cNvPr id="19470" name="直接连接符 19469"/>
          <p:cNvSpPr/>
          <p:nvPr/>
        </p:nvSpPr>
        <p:spPr>
          <a:xfrm>
            <a:off x="2268538" y="2997200"/>
            <a:ext cx="0" cy="609600"/>
          </a:xfrm>
          <a:prstGeom prst="line">
            <a:avLst/>
          </a:prstGeom>
          <a:ln w="38100" cap="flat" cmpd="sng">
            <a:solidFill>
              <a:srgbClr val="FF3300"/>
            </a:solidFill>
            <a:prstDash val="solid"/>
            <a:headEnd type="none" w="sm" len="sm"/>
            <a:tailEnd type="none" w="sm" len="sm"/>
          </a:ln>
        </p:spPr>
      </p:sp>
      <p:sp>
        <p:nvSpPr>
          <p:cNvPr id="19471" name="直接连接符 19470"/>
          <p:cNvSpPr/>
          <p:nvPr/>
        </p:nvSpPr>
        <p:spPr>
          <a:xfrm>
            <a:off x="1403350" y="2997200"/>
            <a:ext cx="0" cy="609600"/>
          </a:xfrm>
          <a:prstGeom prst="line">
            <a:avLst/>
          </a:prstGeom>
          <a:ln w="38100" cap="flat" cmpd="sng">
            <a:solidFill>
              <a:srgbClr val="FF3300"/>
            </a:solidFill>
            <a:prstDash val="solid"/>
            <a:headEnd type="none" w="sm" len="sm"/>
            <a:tailEnd type="none" w="sm" len="sm"/>
          </a:ln>
        </p:spPr>
      </p:sp>
      <p:sp>
        <p:nvSpPr>
          <p:cNvPr id="19472" name="直接连接符 19471"/>
          <p:cNvSpPr/>
          <p:nvPr/>
        </p:nvSpPr>
        <p:spPr>
          <a:xfrm>
            <a:off x="4284663" y="2949575"/>
            <a:ext cx="0" cy="609600"/>
          </a:xfrm>
          <a:prstGeom prst="line">
            <a:avLst/>
          </a:prstGeom>
          <a:ln w="38100" cap="flat" cmpd="sng">
            <a:solidFill>
              <a:srgbClr val="FF3300"/>
            </a:solidFill>
            <a:prstDash val="solid"/>
            <a:headEnd type="none" w="sm" len="sm"/>
            <a:tailEnd type="none" w="sm" len="sm"/>
          </a:ln>
        </p:spPr>
      </p:sp>
      <p:sp>
        <p:nvSpPr>
          <p:cNvPr id="19473" name="文本框 19472"/>
          <p:cNvSpPr txBox="1"/>
          <p:nvPr/>
        </p:nvSpPr>
        <p:spPr>
          <a:xfrm>
            <a:off x="395288" y="2924175"/>
            <a:ext cx="792162" cy="519113"/>
          </a:xfrm>
          <a:prstGeom prst="rect">
            <a:avLst/>
          </a:prstGeom>
          <a:noFill/>
          <a:ln w="9525">
            <a:noFill/>
          </a:ln>
        </p:spPr>
        <p:txBody>
          <a:bodyPr>
            <a:spAutoFit/>
          </a:bodyPr>
          <a:p>
            <a:pPr>
              <a:spcBef>
                <a:spcPct val="50000"/>
              </a:spcBef>
            </a:pPr>
            <a:r>
              <a:rPr lang="en-US" altLang="zh-CN" b="0">
                <a:solidFill>
                  <a:srgbClr val="0000FF"/>
                </a:solidFill>
                <a:latin typeface="Verdana" panose="020B0604030504040204" pitchFamily="34" charset="0"/>
              </a:rPr>
              <a:t>0 0</a:t>
            </a:r>
            <a:endParaRPr lang="en-US" altLang="zh-CN" b="0">
              <a:solidFill>
                <a:srgbClr val="0000FF"/>
              </a:solidFill>
              <a:latin typeface="Verdana" panose="020B0604030504040204" pitchFamily="34" charset="0"/>
            </a:endParaRPr>
          </a:p>
        </p:txBody>
      </p:sp>
      <p:sp>
        <p:nvSpPr>
          <p:cNvPr id="19474" name="文本框 19473"/>
          <p:cNvSpPr txBox="1"/>
          <p:nvPr/>
        </p:nvSpPr>
        <p:spPr>
          <a:xfrm>
            <a:off x="3779838" y="2997200"/>
            <a:ext cx="409575" cy="519113"/>
          </a:xfrm>
          <a:prstGeom prst="rect">
            <a:avLst/>
          </a:prstGeom>
          <a:noFill/>
          <a:ln w="9525">
            <a:noFill/>
          </a:ln>
        </p:spPr>
        <p:txBody>
          <a:bodyPr>
            <a:spAutoFit/>
          </a:bodyPr>
          <a:p>
            <a:r>
              <a:rPr lang="en-US" altLang="zh-CN" b="0">
                <a:solidFill>
                  <a:srgbClr val="0000FF"/>
                </a:solidFill>
                <a:latin typeface="Verdana" panose="020B0604030504040204" pitchFamily="34" charset="0"/>
              </a:rPr>
              <a:t>0</a:t>
            </a:r>
            <a:endParaRPr lang="en-US" altLang="zh-CN" b="0">
              <a:solidFill>
                <a:srgbClr val="0000FF"/>
              </a:solidFill>
              <a:latin typeface="Verdana" panose="020B0604030504040204" pitchFamily="34" charset="0"/>
            </a:endParaRPr>
          </a:p>
        </p:txBody>
      </p:sp>
      <p:sp>
        <p:nvSpPr>
          <p:cNvPr id="19475" name="文本框 19474"/>
          <p:cNvSpPr txBox="1"/>
          <p:nvPr/>
        </p:nvSpPr>
        <p:spPr>
          <a:xfrm>
            <a:off x="1116013" y="4724400"/>
            <a:ext cx="7632700" cy="579438"/>
          </a:xfrm>
          <a:prstGeom prst="rect">
            <a:avLst/>
          </a:prstGeom>
          <a:noFill/>
          <a:ln w="9525">
            <a:noFill/>
          </a:ln>
        </p:spPr>
        <p:txBody>
          <a:bodyPr>
            <a:spAutoFit/>
          </a:bodyPr>
          <a:p>
            <a:pPr>
              <a:spcBef>
                <a:spcPct val="50000"/>
              </a:spcBef>
            </a:pPr>
            <a:r>
              <a:rPr lang="en-US" altLang="zh-CN" sz="3200">
                <a:latin typeface="Times New Roman" panose="02020603050405020304" pitchFamily="18" charset="0"/>
              </a:rPr>
              <a:t>(     3          7          4    .       2          6)</a:t>
            </a:r>
            <a:r>
              <a:rPr lang="en-US" altLang="zh-CN" sz="3200" baseline="-25000">
                <a:latin typeface="Times New Roman" panose="02020603050405020304" pitchFamily="18" charset="0"/>
              </a:rPr>
              <a:t>8</a:t>
            </a:r>
            <a:endParaRPr lang="en-US" altLang="zh-CN" sz="3200" baseline="-25000">
              <a:latin typeface="Times New Roman" panose="02020603050405020304" pitchFamily="18" charset="0"/>
            </a:endParaRPr>
          </a:p>
        </p:txBody>
      </p:sp>
      <p:sp>
        <p:nvSpPr>
          <p:cNvPr id="19476" name="文本框 19475"/>
          <p:cNvSpPr txBox="1"/>
          <p:nvPr/>
        </p:nvSpPr>
        <p:spPr>
          <a:xfrm>
            <a:off x="827088" y="5805488"/>
            <a:ext cx="7772400" cy="579437"/>
          </a:xfrm>
          <a:prstGeom prst="rect">
            <a:avLst/>
          </a:prstGeom>
          <a:noFill/>
          <a:ln w="12700">
            <a:noFill/>
          </a:ln>
        </p:spPr>
        <p:txBody>
          <a:bodyPr>
            <a:spAutoFit/>
          </a:bodyPr>
          <a:p>
            <a:pPr marL="342900" indent="-342900" eaLnBrk="0" hangingPunct="0">
              <a:spcBef>
                <a:spcPct val="50000"/>
              </a:spcBef>
            </a:pPr>
            <a:r>
              <a:rPr lang="en-US" altLang="zh-CN" sz="3200">
                <a:latin typeface="华文楷体" panose="02010600040101010101" pitchFamily="2" charset="-122"/>
                <a:ea typeface="华文楷体" panose="02010600040101010101" pitchFamily="2" charset="-122"/>
              </a:rPr>
              <a:t>= </a:t>
            </a:r>
            <a:r>
              <a:rPr lang="zh-CN" altLang="en-US" sz="3200" dirty="0">
                <a:latin typeface="华文楷体" panose="02010600040101010101" pitchFamily="2" charset="-122"/>
                <a:ea typeface="华文楷体" panose="02010600040101010101" pitchFamily="2" charset="-122"/>
              </a:rPr>
              <a:t>（ </a:t>
            </a:r>
            <a:r>
              <a:rPr lang="en-US" altLang="zh-CN" sz="3200">
                <a:latin typeface="华文楷体" panose="02010600040101010101" pitchFamily="2" charset="-122"/>
                <a:ea typeface="华文楷体" panose="02010600040101010101" pitchFamily="2" charset="-122"/>
              </a:rPr>
              <a:t>011    111      100 .       010      110</a:t>
            </a:r>
            <a:r>
              <a:rPr lang="zh-CN" altLang="en-US" sz="3200" dirty="0">
                <a:latin typeface="华文楷体" panose="02010600040101010101" pitchFamily="2" charset="-122"/>
                <a:ea typeface="华文楷体" panose="02010600040101010101" pitchFamily="2" charset="-122"/>
              </a:rPr>
              <a:t>）</a:t>
            </a:r>
            <a:r>
              <a:rPr lang="en-US" altLang="zh-CN" sz="3200" baseline="-25000">
                <a:latin typeface="华文楷体" panose="02010600040101010101" pitchFamily="2" charset="-122"/>
                <a:ea typeface="华文楷体" panose="02010600040101010101" pitchFamily="2" charset="-122"/>
              </a:rPr>
              <a:t>2</a:t>
            </a:r>
            <a:endParaRPr lang="en-US" altLang="zh-CN" sz="3200" baseline="-25000">
              <a:latin typeface="华文楷体" panose="02010600040101010101" pitchFamily="2" charset="-122"/>
              <a:ea typeface="华文楷体" panose="02010600040101010101" pitchFamily="2" charset="-122"/>
            </a:endParaRPr>
          </a:p>
        </p:txBody>
      </p:sp>
      <p:sp>
        <p:nvSpPr>
          <p:cNvPr id="19478" name="直接连接符 19477"/>
          <p:cNvSpPr/>
          <p:nvPr/>
        </p:nvSpPr>
        <p:spPr>
          <a:xfrm>
            <a:off x="1908175" y="5229225"/>
            <a:ext cx="0" cy="504825"/>
          </a:xfrm>
          <a:prstGeom prst="line">
            <a:avLst/>
          </a:prstGeom>
          <a:ln w="38100" cap="flat" cmpd="sng">
            <a:solidFill>
              <a:srgbClr val="FF0000"/>
            </a:solidFill>
            <a:prstDash val="solid"/>
            <a:headEnd type="none" w="med" len="med"/>
            <a:tailEnd type="triangle" w="med" len="med"/>
          </a:ln>
        </p:spPr>
      </p:sp>
      <p:sp>
        <p:nvSpPr>
          <p:cNvPr id="19479" name="直接连接符 19478"/>
          <p:cNvSpPr/>
          <p:nvPr/>
        </p:nvSpPr>
        <p:spPr>
          <a:xfrm>
            <a:off x="3132138" y="5229225"/>
            <a:ext cx="0" cy="504825"/>
          </a:xfrm>
          <a:prstGeom prst="line">
            <a:avLst/>
          </a:prstGeom>
          <a:ln w="38100" cap="flat" cmpd="sng">
            <a:solidFill>
              <a:srgbClr val="FF0000"/>
            </a:solidFill>
            <a:prstDash val="solid"/>
            <a:headEnd type="none" w="med" len="med"/>
            <a:tailEnd type="triangle" w="med" len="med"/>
          </a:ln>
        </p:spPr>
      </p:sp>
      <p:sp>
        <p:nvSpPr>
          <p:cNvPr id="19480" name="直接连接符 19479"/>
          <p:cNvSpPr/>
          <p:nvPr/>
        </p:nvSpPr>
        <p:spPr>
          <a:xfrm>
            <a:off x="4427538" y="5229225"/>
            <a:ext cx="0" cy="504825"/>
          </a:xfrm>
          <a:prstGeom prst="line">
            <a:avLst/>
          </a:prstGeom>
          <a:ln w="38100" cap="flat" cmpd="sng">
            <a:solidFill>
              <a:srgbClr val="FF0000"/>
            </a:solidFill>
            <a:prstDash val="solid"/>
            <a:headEnd type="none" w="med" len="med"/>
            <a:tailEnd type="triangle" w="med" len="med"/>
          </a:ln>
        </p:spPr>
      </p:sp>
      <p:sp>
        <p:nvSpPr>
          <p:cNvPr id="19481" name="直接连接符 19480"/>
          <p:cNvSpPr/>
          <p:nvPr/>
        </p:nvSpPr>
        <p:spPr>
          <a:xfrm>
            <a:off x="5795963" y="5229225"/>
            <a:ext cx="0" cy="504825"/>
          </a:xfrm>
          <a:prstGeom prst="line">
            <a:avLst/>
          </a:prstGeom>
          <a:ln w="38100" cap="flat" cmpd="sng">
            <a:solidFill>
              <a:srgbClr val="FF0000"/>
            </a:solidFill>
            <a:prstDash val="solid"/>
            <a:headEnd type="none" w="med" len="med"/>
            <a:tailEnd type="triangle" w="med" len="med"/>
          </a:ln>
        </p:spPr>
      </p:sp>
      <p:sp>
        <p:nvSpPr>
          <p:cNvPr id="19482" name="直接连接符 19481"/>
          <p:cNvSpPr/>
          <p:nvPr/>
        </p:nvSpPr>
        <p:spPr>
          <a:xfrm>
            <a:off x="7019925" y="5229225"/>
            <a:ext cx="0" cy="504825"/>
          </a:xfrm>
          <a:prstGeom prst="line">
            <a:avLst/>
          </a:prstGeom>
          <a:ln w="38100" cap="flat" cmpd="sng">
            <a:solidFill>
              <a:srgbClr val="FF0000"/>
            </a:solidFill>
            <a:prstDash val="solid"/>
            <a:headEnd type="none" w="med" len="med"/>
            <a:tailEnd type="triangl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9460"/>
                                        </p:tgtEl>
                                        <p:attrNameLst>
                                          <p:attrName>style.visibility</p:attrName>
                                        </p:attrNameLst>
                                      </p:cBhvr>
                                      <p:to>
                                        <p:strVal val="visible"/>
                                      </p:to>
                                    </p:set>
                                    <p:animEffect transition="in" filter="wipe(left)">
                                      <p:cBhvr>
                                        <p:cTn id="7" dur="500"/>
                                        <p:tgtEl>
                                          <p:spTgt spid="1946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461"/>
                                        </p:tgtEl>
                                        <p:attrNameLst>
                                          <p:attrName>style.visibility</p:attrName>
                                        </p:attrNameLst>
                                      </p:cBhvr>
                                      <p:to>
                                        <p:strVal val="visible"/>
                                      </p:to>
                                    </p:set>
                                    <p:animEffect transition="in" filter="wipe(left)">
                                      <p:cBhvr>
                                        <p:cTn id="12" dur="500"/>
                                        <p:tgtEl>
                                          <p:spTgt spid="19461"/>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9468">
                                            <p:txEl>
                                              <p:charRg st="0" end="29"/>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19472"/>
                                        </p:tgtEl>
                                        <p:attrNameLst>
                                          <p:attrName>style.visibility</p:attrName>
                                        </p:attrNameLst>
                                      </p:cBhvr>
                                      <p:to>
                                        <p:strVal val="visible"/>
                                      </p:to>
                                    </p:set>
                                    <p:animEffect transition="in" filter="box(in)">
                                      <p:cBhvr>
                                        <p:cTn id="21" dur="500"/>
                                        <p:tgtEl>
                                          <p:spTgt spid="19472"/>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nodeType="clickEffect">
                                  <p:stCondLst>
                                    <p:cond delay="0"/>
                                  </p:stCondLst>
                                  <p:childTnLst>
                                    <p:set>
                                      <p:cBhvr>
                                        <p:cTn id="25" dur="1" fill="hold">
                                          <p:stCondLst>
                                            <p:cond delay="0"/>
                                          </p:stCondLst>
                                        </p:cTn>
                                        <p:tgtEl>
                                          <p:spTgt spid="19470"/>
                                        </p:tgtEl>
                                        <p:attrNameLst>
                                          <p:attrName>style.visibility</p:attrName>
                                        </p:attrNameLst>
                                      </p:cBhvr>
                                      <p:to>
                                        <p:strVal val="visible"/>
                                      </p:to>
                                    </p:set>
                                    <p:animEffect transition="in" filter="box(in)">
                                      <p:cBhvr>
                                        <p:cTn id="26" dur="500"/>
                                        <p:tgtEl>
                                          <p:spTgt spid="19470"/>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nodeType="clickEffect">
                                  <p:stCondLst>
                                    <p:cond delay="0"/>
                                  </p:stCondLst>
                                  <p:childTnLst>
                                    <p:set>
                                      <p:cBhvr>
                                        <p:cTn id="30" dur="1" fill="hold">
                                          <p:stCondLst>
                                            <p:cond delay="0"/>
                                          </p:stCondLst>
                                        </p:cTn>
                                        <p:tgtEl>
                                          <p:spTgt spid="19471"/>
                                        </p:tgtEl>
                                        <p:attrNameLst>
                                          <p:attrName>style.visibility</p:attrName>
                                        </p:attrNameLst>
                                      </p:cBhvr>
                                      <p:to>
                                        <p:strVal val="visible"/>
                                      </p:to>
                                    </p:set>
                                    <p:animEffect transition="in" filter="box(in)">
                                      <p:cBhvr>
                                        <p:cTn id="31" dur="500"/>
                                        <p:tgtEl>
                                          <p:spTgt spid="19471"/>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947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9474"/>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9469"/>
                                        </p:tgtEl>
                                        <p:attrNameLst>
                                          <p:attrName>style.visibility</p:attrName>
                                        </p:attrNameLst>
                                      </p:cBhvr>
                                      <p:to>
                                        <p:strVal val="visible"/>
                                      </p:to>
                                    </p:set>
                                    <p:animEffect transition="in" filter="wipe(left)">
                                      <p:cBhvr>
                                        <p:cTn id="44" dur="500"/>
                                        <p:tgtEl>
                                          <p:spTgt spid="19469"/>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499"/>
                                          </p:stCondLst>
                                        </p:cTn>
                                        <p:tgtEl>
                                          <p:spTgt spid="19475">
                                            <p:txEl>
                                              <p:charRg st="0" end="56"/>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499"/>
                                          </p:stCondLst>
                                        </p:cTn>
                                        <p:tgtEl>
                                          <p:spTgt spid="19476"/>
                                        </p:tgtEl>
                                        <p:attrNameLst>
                                          <p:attrName>style.visibility</p:attrName>
                                        </p:attrNameLst>
                                      </p:cBhvr>
                                      <p:to>
                                        <p:strVal val="visible"/>
                                      </p:to>
                                    </p:set>
                                  </p:childTnLst>
                                </p:cTn>
                              </p:par>
                            </p:childTnLst>
                          </p:cTn>
                        </p:par>
                        <p:par>
                          <p:cTn id="53" fill="hold">
                            <p:stCondLst>
                              <p:cond delay="500"/>
                            </p:stCondLst>
                            <p:childTnLst>
                              <p:par>
                                <p:cTn id="54" presetID="22" presetClass="entr" presetSubtype="1" fill="hold" nodeType="afterEffect">
                                  <p:stCondLst>
                                    <p:cond delay="0"/>
                                  </p:stCondLst>
                                  <p:childTnLst>
                                    <p:set>
                                      <p:cBhvr>
                                        <p:cTn id="55" dur="1" fill="hold">
                                          <p:stCondLst>
                                            <p:cond delay="0"/>
                                          </p:stCondLst>
                                        </p:cTn>
                                        <p:tgtEl>
                                          <p:spTgt spid="19478"/>
                                        </p:tgtEl>
                                        <p:attrNameLst>
                                          <p:attrName>style.visibility</p:attrName>
                                        </p:attrNameLst>
                                      </p:cBhvr>
                                      <p:to>
                                        <p:strVal val="visible"/>
                                      </p:to>
                                    </p:set>
                                    <p:animEffect transition="in" filter="wipe(up)">
                                      <p:cBhvr>
                                        <p:cTn id="56" dur="500"/>
                                        <p:tgtEl>
                                          <p:spTgt spid="19478"/>
                                        </p:tgtEl>
                                      </p:cBhvr>
                                    </p:animEffect>
                                  </p:childTnLst>
                                </p:cTn>
                              </p:par>
                            </p:childTnLst>
                          </p:cTn>
                        </p:par>
                        <p:par>
                          <p:cTn id="57" fill="hold">
                            <p:stCondLst>
                              <p:cond delay="1000"/>
                            </p:stCondLst>
                            <p:childTnLst>
                              <p:par>
                                <p:cTn id="58" presetID="22" presetClass="entr" presetSubtype="1" fill="hold" nodeType="afterEffect">
                                  <p:stCondLst>
                                    <p:cond delay="0"/>
                                  </p:stCondLst>
                                  <p:childTnLst>
                                    <p:set>
                                      <p:cBhvr>
                                        <p:cTn id="59" dur="1" fill="hold">
                                          <p:stCondLst>
                                            <p:cond delay="0"/>
                                          </p:stCondLst>
                                        </p:cTn>
                                        <p:tgtEl>
                                          <p:spTgt spid="19479"/>
                                        </p:tgtEl>
                                        <p:attrNameLst>
                                          <p:attrName>style.visibility</p:attrName>
                                        </p:attrNameLst>
                                      </p:cBhvr>
                                      <p:to>
                                        <p:strVal val="visible"/>
                                      </p:to>
                                    </p:set>
                                    <p:animEffect transition="in" filter="wipe(up)">
                                      <p:cBhvr>
                                        <p:cTn id="60" dur="500"/>
                                        <p:tgtEl>
                                          <p:spTgt spid="19479"/>
                                        </p:tgtEl>
                                      </p:cBhvr>
                                    </p:animEffect>
                                  </p:childTnLst>
                                </p:cTn>
                              </p:par>
                            </p:childTnLst>
                          </p:cTn>
                        </p:par>
                        <p:par>
                          <p:cTn id="61" fill="hold">
                            <p:stCondLst>
                              <p:cond delay="1500"/>
                            </p:stCondLst>
                            <p:childTnLst>
                              <p:par>
                                <p:cTn id="62" presetID="22" presetClass="entr" presetSubtype="1" fill="hold" nodeType="afterEffect">
                                  <p:stCondLst>
                                    <p:cond delay="0"/>
                                  </p:stCondLst>
                                  <p:childTnLst>
                                    <p:set>
                                      <p:cBhvr>
                                        <p:cTn id="63" dur="1" fill="hold">
                                          <p:stCondLst>
                                            <p:cond delay="0"/>
                                          </p:stCondLst>
                                        </p:cTn>
                                        <p:tgtEl>
                                          <p:spTgt spid="19480"/>
                                        </p:tgtEl>
                                        <p:attrNameLst>
                                          <p:attrName>style.visibility</p:attrName>
                                        </p:attrNameLst>
                                      </p:cBhvr>
                                      <p:to>
                                        <p:strVal val="visible"/>
                                      </p:to>
                                    </p:set>
                                    <p:animEffect transition="in" filter="wipe(up)">
                                      <p:cBhvr>
                                        <p:cTn id="64" dur="500"/>
                                        <p:tgtEl>
                                          <p:spTgt spid="19480"/>
                                        </p:tgtEl>
                                      </p:cBhvr>
                                    </p:animEffect>
                                  </p:childTnLst>
                                </p:cTn>
                              </p:par>
                            </p:childTnLst>
                          </p:cTn>
                        </p:par>
                        <p:par>
                          <p:cTn id="65" fill="hold">
                            <p:stCondLst>
                              <p:cond delay="2000"/>
                            </p:stCondLst>
                            <p:childTnLst>
                              <p:par>
                                <p:cTn id="66" presetID="22" presetClass="entr" presetSubtype="1" fill="hold" nodeType="afterEffect">
                                  <p:stCondLst>
                                    <p:cond delay="0"/>
                                  </p:stCondLst>
                                  <p:childTnLst>
                                    <p:set>
                                      <p:cBhvr>
                                        <p:cTn id="67" dur="1" fill="hold">
                                          <p:stCondLst>
                                            <p:cond delay="0"/>
                                          </p:stCondLst>
                                        </p:cTn>
                                        <p:tgtEl>
                                          <p:spTgt spid="19481"/>
                                        </p:tgtEl>
                                        <p:attrNameLst>
                                          <p:attrName>style.visibility</p:attrName>
                                        </p:attrNameLst>
                                      </p:cBhvr>
                                      <p:to>
                                        <p:strVal val="visible"/>
                                      </p:to>
                                    </p:set>
                                    <p:animEffect transition="in" filter="wipe(up)">
                                      <p:cBhvr>
                                        <p:cTn id="68" dur="500"/>
                                        <p:tgtEl>
                                          <p:spTgt spid="19481"/>
                                        </p:tgtEl>
                                      </p:cBhvr>
                                    </p:animEffect>
                                  </p:childTnLst>
                                </p:cTn>
                              </p:par>
                            </p:childTnLst>
                          </p:cTn>
                        </p:par>
                        <p:par>
                          <p:cTn id="69" fill="hold">
                            <p:stCondLst>
                              <p:cond delay="2500"/>
                            </p:stCondLst>
                            <p:childTnLst>
                              <p:par>
                                <p:cTn id="70" presetID="22" presetClass="entr" presetSubtype="1" fill="hold" nodeType="afterEffect">
                                  <p:stCondLst>
                                    <p:cond delay="0"/>
                                  </p:stCondLst>
                                  <p:childTnLst>
                                    <p:set>
                                      <p:cBhvr>
                                        <p:cTn id="71" dur="1" fill="hold">
                                          <p:stCondLst>
                                            <p:cond delay="0"/>
                                          </p:stCondLst>
                                        </p:cTn>
                                        <p:tgtEl>
                                          <p:spTgt spid="19482"/>
                                        </p:tgtEl>
                                        <p:attrNameLst>
                                          <p:attrName>style.visibility</p:attrName>
                                        </p:attrNameLst>
                                      </p:cBhvr>
                                      <p:to>
                                        <p:strVal val="visible"/>
                                      </p:to>
                                    </p:set>
                                    <p:animEffect transition="in" filter="wipe(up)">
                                      <p:cBhvr>
                                        <p:cTn id="72" dur="500"/>
                                        <p:tgtEl>
                                          <p:spTgt spid="194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animBg="1"/>
      <p:bldP spid="19461" grpId="0"/>
      <p:bldP spid="19468" grpId="0" build="p"/>
      <p:bldP spid="19469" grpId="0"/>
      <p:bldP spid="19473" grpId="0"/>
      <p:bldP spid="19474" grpId="0"/>
      <p:bldP spid="19475" grpId="0" build="p"/>
      <p:bldP spid="1947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4" name="文本框 20483"/>
          <p:cNvSpPr txBox="1"/>
          <p:nvPr/>
        </p:nvSpPr>
        <p:spPr>
          <a:xfrm>
            <a:off x="395288" y="404813"/>
            <a:ext cx="6840537" cy="579437"/>
          </a:xfrm>
          <a:prstGeom prst="rect">
            <a:avLst/>
          </a:prstGeom>
          <a:solidFill>
            <a:srgbClr val="00FF00"/>
          </a:solidFill>
          <a:ln w="9525">
            <a:noFill/>
          </a:ln>
        </p:spPr>
        <p:txBody>
          <a:bodyPr>
            <a:spAutoFit/>
          </a:bodyPr>
          <a:p>
            <a:pPr>
              <a:spcBef>
                <a:spcPct val="50000"/>
              </a:spcBef>
            </a:pPr>
            <a:r>
              <a:rPr lang="zh-CN" altLang="en-US" sz="3200" dirty="0">
                <a:solidFill>
                  <a:srgbClr val="990000"/>
                </a:solidFill>
                <a:latin typeface="华文楷体" panose="02010600040101010101" pitchFamily="2" charset="-122"/>
                <a:ea typeface="华文楷体" panose="02010600040101010101" pitchFamily="2" charset="-122"/>
              </a:rPr>
              <a:t>六、</a:t>
            </a:r>
            <a:r>
              <a:rPr lang="zh-CN" altLang="en-US" sz="3200" dirty="0">
                <a:solidFill>
                  <a:srgbClr val="990000"/>
                </a:solidFill>
                <a:latin typeface="Times New Roman" panose="02020603050405020304" pitchFamily="18" charset="0"/>
                <a:ea typeface="华文楷体" panose="02010600040101010101" pitchFamily="2" charset="-122"/>
              </a:rPr>
              <a:t>十六进制数与十进制数的</a:t>
            </a:r>
            <a:r>
              <a:rPr lang="zh-CN" altLang="en-US" sz="3200" dirty="0">
                <a:solidFill>
                  <a:srgbClr val="990000"/>
                </a:solidFill>
                <a:latin typeface="华文楷体" panose="02010600040101010101" pitchFamily="2" charset="-122"/>
                <a:ea typeface="华文楷体" panose="02010600040101010101" pitchFamily="2" charset="-122"/>
              </a:rPr>
              <a:t>转换</a:t>
            </a:r>
            <a:endParaRPr lang="zh-CN" altLang="en-US" sz="3200" dirty="0">
              <a:solidFill>
                <a:srgbClr val="990000"/>
              </a:solidFill>
              <a:latin typeface="华文楷体" panose="02010600040101010101" pitchFamily="2" charset="-122"/>
              <a:ea typeface="华文楷体" panose="02010600040101010101" pitchFamily="2" charset="-122"/>
            </a:endParaRPr>
          </a:p>
        </p:txBody>
      </p:sp>
      <p:sp>
        <p:nvSpPr>
          <p:cNvPr id="20485" name="文本框 20484"/>
          <p:cNvSpPr txBox="1"/>
          <p:nvPr/>
        </p:nvSpPr>
        <p:spPr>
          <a:xfrm>
            <a:off x="552450" y="1773238"/>
            <a:ext cx="8591550" cy="1066800"/>
          </a:xfrm>
          <a:prstGeom prst="rect">
            <a:avLst/>
          </a:prstGeom>
          <a:noFill/>
          <a:ln w="9525">
            <a:noFill/>
          </a:ln>
        </p:spPr>
        <p:txBody>
          <a:bodyPr>
            <a:spAutoFit/>
          </a:bodyPr>
          <a:p>
            <a:pPr>
              <a:spcBef>
                <a:spcPct val="50000"/>
              </a:spcBef>
            </a:pPr>
            <a:r>
              <a:rPr lang="en-US" altLang="zh-CN" sz="3200" dirty="0">
                <a:latin typeface="华文楷体" panose="02010600040101010101" pitchFamily="2" charset="-122"/>
                <a:ea typeface="华文楷体" panose="02010600040101010101" pitchFamily="2" charset="-122"/>
              </a:rPr>
              <a:t>    </a:t>
            </a:r>
            <a:r>
              <a:rPr lang="zh-CN" altLang="en-US" sz="3200" dirty="0">
                <a:latin typeface="华文楷体" panose="02010600040101010101" pitchFamily="2" charset="-122"/>
                <a:ea typeface="华文楷体" panose="02010600040101010101" pitchFamily="2" charset="-122"/>
              </a:rPr>
              <a:t>将十六进制数转换成十进制数时，按权展开再相加即可。</a:t>
            </a:r>
            <a:endParaRPr lang="zh-CN" altLang="en-US" sz="3200" dirty="0">
              <a:latin typeface="华文楷体" panose="02010600040101010101" pitchFamily="2" charset="-122"/>
              <a:ea typeface="华文楷体" panose="02010600040101010101" pitchFamily="2" charset="-122"/>
            </a:endParaRPr>
          </a:p>
        </p:txBody>
      </p:sp>
      <p:sp>
        <p:nvSpPr>
          <p:cNvPr id="20486" name="文本框 20485"/>
          <p:cNvSpPr txBox="1"/>
          <p:nvPr/>
        </p:nvSpPr>
        <p:spPr>
          <a:xfrm>
            <a:off x="323850" y="3789363"/>
            <a:ext cx="8520113" cy="1554162"/>
          </a:xfrm>
          <a:prstGeom prst="rect">
            <a:avLst/>
          </a:prstGeom>
          <a:noFill/>
          <a:ln w="9525">
            <a:noFill/>
          </a:ln>
        </p:spPr>
        <p:txBody>
          <a:bodyPr>
            <a:spAutoFit/>
          </a:bodyPr>
          <a:p>
            <a:pPr>
              <a:spcBef>
                <a:spcPct val="50000"/>
              </a:spcBef>
            </a:pPr>
            <a:r>
              <a:rPr lang="en-US" altLang="zh-CN" sz="3200" dirty="0">
                <a:latin typeface="华文楷体" panose="02010600040101010101" pitchFamily="2" charset="-122"/>
                <a:ea typeface="华文楷体" panose="02010600040101010101" pitchFamily="2" charset="-122"/>
              </a:rPr>
              <a:t>    </a:t>
            </a:r>
            <a:r>
              <a:rPr lang="zh-CN" altLang="en-US" sz="3200" dirty="0">
                <a:latin typeface="华文楷体" panose="02010600040101010101" pitchFamily="2" charset="-122"/>
                <a:ea typeface="华文楷体" panose="02010600040101010101" pitchFamily="2" charset="-122"/>
              </a:rPr>
              <a:t>将十进制数转换成十六进制数时，可先转换成二进制数，再将得到的二进制数转换成等值的十六进制数。</a:t>
            </a:r>
            <a:endParaRPr lang="zh-CN" altLang="en-US" sz="3200" dirty="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0484"/>
                                        </p:tgtEl>
                                        <p:attrNameLst>
                                          <p:attrName>style.visibility</p:attrName>
                                        </p:attrNameLst>
                                      </p:cBhvr>
                                      <p:to>
                                        <p:strVal val="visible"/>
                                      </p:to>
                                    </p:set>
                                    <p:animEffect transition="in" filter="wipe(left)">
                                      <p:cBhvr>
                                        <p:cTn id="7" dur="500"/>
                                        <p:tgtEl>
                                          <p:spTgt spid="2048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485">
                                            <p:txEl>
                                              <p:charRg st="0" end="30"/>
                                            </p:txEl>
                                          </p:spTgt>
                                        </p:tgtEl>
                                        <p:attrNameLst>
                                          <p:attrName>style.visibility</p:attrName>
                                        </p:attrNameLst>
                                      </p:cBhvr>
                                      <p:to>
                                        <p:strVal val="visible"/>
                                      </p:to>
                                    </p:set>
                                    <p:animEffect transition="in" filter="wipe(left)">
                                      <p:cBhvr>
                                        <p:cTn id="12" dur="500"/>
                                        <p:tgtEl>
                                          <p:spTgt spid="20485">
                                            <p:txEl>
                                              <p:charRg st="0" end="3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486">
                                            <p:txEl>
                                              <p:charRg st="0" end="51"/>
                                            </p:txEl>
                                          </p:spTgt>
                                        </p:tgtEl>
                                        <p:attrNameLst>
                                          <p:attrName>style.visibility</p:attrName>
                                        </p:attrNameLst>
                                      </p:cBhvr>
                                      <p:to>
                                        <p:strVal val="visible"/>
                                      </p:to>
                                    </p:set>
                                    <p:animEffect transition="in" filter="wipe(left)">
                                      <p:cBhvr>
                                        <p:cTn id="17" dur="500"/>
                                        <p:tgtEl>
                                          <p:spTgt spid="20486">
                                            <p:txEl>
                                              <p:charRg st="0" end="5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4" grpId="0" animBg="1"/>
      <p:bldP spid="20485" grpId="0" build="p"/>
      <p:bldP spid="20486"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8" name="文本框 21507"/>
          <p:cNvSpPr txBox="1"/>
          <p:nvPr/>
        </p:nvSpPr>
        <p:spPr>
          <a:xfrm>
            <a:off x="395288" y="404813"/>
            <a:ext cx="6192837" cy="641350"/>
          </a:xfrm>
          <a:prstGeom prst="rect">
            <a:avLst/>
          </a:prstGeom>
          <a:solidFill>
            <a:srgbClr val="FFFF66"/>
          </a:solidFill>
          <a:ln w="9525">
            <a:noFill/>
          </a:ln>
        </p:spPr>
        <p:txBody>
          <a:bodyPr>
            <a:spAutoFit/>
          </a:bodyPr>
          <a:p>
            <a:pPr>
              <a:spcBef>
                <a:spcPct val="50000"/>
              </a:spcBef>
            </a:pPr>
            <a:r>
              <a:rPr lang="zh-CN" altLang="en-US" sz="3600" b="0">
                <a:latin typeface="Verdana" panose="020B0604030504040204" pitchFamily="34" charset="0"/>
              </a:rPr>
              <a:t>§</a:t>
            </a:r>
            <a:r>
              <a:rPr lang="en-US" altLang="zh-CN" sz="3600" b="0">
                <a:latin typeface="Verdana" panose="020B0604030504040204" pitchFamily="34" charset="0"/>
              </a:rPr>
              <a:t>1.4   </a:t>
            </a:r>
            <a:r>
              <a:rPr lang="zh-CN" altLang="en-US" sz="3600" b="0" dirty="0">
                <a:latin typeface="Verdana" panose="020B0604030504040204" pitchFamily="34" charset="0"/>
              </a:rPr>
              <a:t>二进制算术运算</a:t>
            </a:r>
            <a:endParaRPr lang="zh-CN" altLang="en-US" sz="3600" b="0" dirty="0">
              <a:latin typeface="Verdana" panose="020B0604030504040204" pitchFamily="34" charset="0"/>
            </a:endParaRPr>
          </a:p>
        </p:txBody>
      </p:sp>
      <p:sp>
        <p:nvSpPr>
          <p:cNvPr id="21509" name="文本框 21508"/>
          <p:cNvSpPr txBox="1"/>
          <p:nvPr/>
        </p:nvSpPr>
        <p:spPr>
          <a:xfrm>
            <a:off x="381000" y="1371600"/>
            <a:ext cx="5991225" cy="579438"/>
          </a:xfrm>
          <a:prstGeom prst="rect">
            <a:avLst/>
          </a:prstGeom>
          <a:solidFill>
            <a:srgbClr val="00FF00"/>
          </a:solidFill>
          <a:ln w="9525">
            <a:noFill/>
          </a:ln>
        </p:spPr>
        <p:txBody>
          <a:bodyPr>
            <a:spAutoFit/>
          </a:bodyPr>
          <a:p>
            <a:pPr>
              <a:spcBef>
                <a:spcPct val="50000"/>
              </a:spcBef>
            </a:pPr>
            <a:r>
              <a:rPr lang="zh-CN" altLang="en-US" sz="3200" dirty="0">
                <a:solidFill>
                  <a:srgbClr val="990000"/>
                </a:solidFill>
                <a:latin typeface="华文楷体" panose="02010600040101010101" pitchFamily="2" charset="-122"/>
                <a:ea typeface="华文楷体" panose="02010600040101010101" pitchFamily="2" charset="-122"/>
              </a:rPr>
              <a:t>一、二进制算术运算的特点</a:t>
            </a:r>
            <a:endParaRPr lang="zh-CN" altLang="en-US" sz="3200" dirty="0">
              <a:solidFill>
                <a:srgbClr val="990000"/>
              </a:solidFill>
              <a:latin typeface="华文楷体" panose="02010600040101010101" pitchFamily="2" charset="-122"/>
              <a:ea typeface="华文楷体" panose="02010600040101010101" pitchFamily="2" charset="-122"/>
            </a:endParaRPr>
          </a:p>
        </p:txBody>
      </p:sp>
      <p:sp>
        <p:nvSpPr>
          <p:cNvPr id="21510" name="文本框 21509"/>
          <p:cNvSpPr txBox="1"/>
          <p:nvPr/>
        </p:nvSpPr>
        <p:spPr>
          <a:xfrm>
            <a:off x="971550" y="4292600"/>
            <a:ext cx="2016125" cy="1552575"/>
          </a:xfrm>
          <a:prstGeom prst="rect">
            <a:avLst/>
          </a:prstGeom>
          <a:noFill/>
          <a:ln w="9525">
            <a:noFill/>
          </a:ln>
        </p:spPr>
        <p:txBody>
          <a:bodyPr>
            <a:spAutoFit/>
          </a:bodyPr>
          <a:p>
            <a:pPr>
              <a:spcBef>
                <a:spcPct val="50000"/>
              </a:spcBef>
            </a:pPr>
            <a:r>
              <a:rPr lang="en-US" altLang="zh-CN" sz="2400" b="0" dirty="0">
                <a:latin typeface="Verdana" panose="020B0604030504040204" pitchFamily="34" charset="0"/>
              </a:rPr>
              <a:t>    </a:t>
            </a:r>
            <a:r>
              <a:rPr lang="en-US" altLang="zh-CN" sz="2400" b="0">
                <a:latin typeface="Verdana" panose="020B0604030504040204" pitchFamily="34" charset="0"/>
              </a:rPr>
              <a:t>1 0 0 1</a:t>
            </a:r>
            <a:endParaRPr lang="en-US" altLang="zh-CN" sz="2400" b="0">
              <a:latin typeface="Verdana" panose="020B0604030504040204" pitchFamily="34" charset="0"/>
            </a:endParaRPr>
          </a:p>
          <a:p>
            <a:pPr>
              <a:spcBef>
                <a:spcPct val="50000"/>
              </a:spcBef>
            </a:pPr>
            <a:r>
              <a:rPr lang="zh-CN" altLang="en-US" sz="2400" b="0" u="sng" dirty="0">
                <a:latin typeface="Verdana" panose="020B0604030504040204" pitchFamily="34" charset="0"/>
              </a:rPr>
              <a:t>＋ </a:t>
            </a:r>
            <a:r>
              <a:rPr lang="en-US" altLang="zh-CN" sz="2400" b="0" u="sng">
                <a:latin typeface="Verdana" panose="020B0604030504040204" pitchFamily="34" charset="0"/>
              </a:rPr>
              <a:t>0 1 0 1</a:t>
            </a:r>
            <a:endParaRPr lang="en-US" altLang="zh-CN" sz="2400" b="0" u="sng">
              <a:latin typeface="Verdana" panose="020B0604030504040204" pitchFamily="34" charset="0"/>
            </a:endParaRPr>
          </a:p>
          <a:p>
            <a:pPr>
              <a:spcBef>
                <a:spcPct val="50000"/>
              </a:spcBef>
            </a:pPr>
            <a:r>
              <a:rPr lang="en-US" altLang="zh-CN" sz="2400" b="0">
                <a:latin typeface="Verdana" panose="020B0604030504040204" pitchFamily="34" charset="0"/>
              </a:rPr>
              <a:t>    1 1 1 0</a:t>
            </a:r>
            <a:endParaRPr lang="en-US" altLang="zh-CN" sz="2400" b="0" u="sng">
              <a:latin typeface="Verdana" panose="020B0604030504040204" pitchFamily="34" charset="0"/>
            </a:endParaRPr>
          </a:p>
        </p:txBody>
      </p:sp>
      <p:sp>
        <p:nvSpPr>
          <p:cNvPr id="21511" name="文本框 21510"/>
          <p:cNvSpPr txBox="1"/>
          <p:nvPr/>
        </p:nvSpPr>
        <p:spPr>
          <a:xfrm>
            <a:off x="5003800" y="4364038"/>
            <a:ext cx="2016125" cy="1552575"/>
          </a:xfrm>
          <a:prstGeom prst="rect">
            <a:avLst/>
          </a:prstGeom>
          <a:noFill/>
          <a:ln w="9525">
            <a:noFill/>
          </a:ln>
        </p:spPr>
        <p:txBody>
          <a:bodyPr>
            <a:spAutoFit/>
          </a:bodyPr>
          <a:p>
            <a:pPr>
              <a:spcBef>
                <a:spcPct val="50000"/>
              </a:spcBef>
            </a:pPr>
            <a:r>
              <a:rPr lang="en-US" altLang="zh-CN" sz="2400" b="0" dirty="0">
                <a:latin typeface="Verdana" panose="020B0604030504040204" pitchFamily="34" charset="0"/>
              </a:rPr>
              <a:t>    </a:t>
            </a:r>
            <a:r>
              <a:rPr lang="en-US" altLang="zh-CN" sz="2400" b="0">
                <a:latin typeface="Verdana" panose="020B0604030504040204" pitchFamily="34" charset="0"/>
              </a:rPr>
              <a:t>1 0 0 1</a:t>
            </a:r>
            <a:endParaRPr lang="en-US" altLang="zh-CN" sz="2400" b="0">
              <a:latin typeface="Verdana" panose="020B0604030504040204" pitchFamily="34" charset="0"/>
            </a:endParaRPr>
          </a:p>
          <a:p>
            <a:pPr>
              <a:spcBef>
                <a:spcPct val="50000"/>
              </a:spcBef>
            </a:pPr>
            <a:r>
              <a:rPr lang="zh-CN" altLang="en-US" sz="2400" b="0" u="sng" dirty="0">
                <a:latin typeface="Verdana" panose="020B0604030504040204" pitchFamily="34" charset="0"/>
              </a:rPr>
              <a:t>－ </a:t>
            </a:r>
            <a:r>
              <a:rPr lang="en-US" altLang="zh-CN" sz="2400" b="0" u="sng">
                <a:latin typeface="Verdana" panose="020B0604030504040204" pitchFamily="34" charset="0"/>
              </a:rPr>
              <a:t>0 1 0 1</a:t>
            </a:r>
            <a:endParaRPr lang="en-US" altLang="zh-CN" sz="2400" b="0" u="sng">
              <a:latin typeface="Verdana" panose="020B0604030504040204" pitchFamily="34" charset="0"/>
            </a:endParaRPr>
          </a:p>
          <a:p>
            <a:pPr>
              <a:spcBef>
                <a:spcPct val="50000"/>
              </a:spcBef>
            </a:pPr>
            <a:r>
              <a:rPr lang="en-US" altLang="zh-CN" sz="2400" b="0">
                <a:latin typeface="Verdana" panose="020B0604030504040204" pitchFamily="34" charset="0"/>
              </a:rPr>
              <a:t>    0 1 0 0</a:t>
            </a:r>
            <a:endParaRPr lang="en-US" altLang="zh-CN" sz="2400" b="0" u="sng">
              <a:latin typeface="Verdana" panose="020B0604030504040204" pitchFamily="34" charset="0"/>
            </a:endParaRPr>
          </a:p>
        </p:txBody>
      </p:sp>
      <p:sp>
        <p:nvSpPr>
          <p:cNvPr id="21512" name="文本框 21511"/>
          <p:cNvSpPr txBox="1"/>
          <p:nvPr/>
        </p:nvSpPr>
        <p:spPr>
          <a:xfrm>
            <a:off x="971550" y="3573463"/>
            <a:ext cx="1800225" cy="519112"/>
          </a:xfrm>
          <a:prstGeom prst="rect">
            <a:avLst/>
          </a:prstGeom>
          <a:noFill/>
          <a:ln w="9525">
            <a:noFill/>
          </a:ln>
        </p:spPr>
        <p:txBody>
          <a:bodyPr>
            <a:spAutoFit/>
          </a:bodyPr>
          <a:p>
            <a:pPr>
              <a:spcBef>
                <a:spcPct val="50000"/>
              </a:spcBef>
            </a:pPr>
            <a:r>
              <a:rPr lang="zh-CN" altLang="en-US" dirty="0">
                <a:latin typeface="Times New Roman" panose="02020603050405020304" pitchFamily="18" charset="0"/>
              </a:rPr>
              <a:t>加法运算</a:t>
            </a:r>
            <a:endParaRPr lang="zh-CN" altLang="en-US" dirty="0">
              <a:latin typeface="Times New Roman" panose="02020603050405020304" pitchFamily="18" charset="0"/>
            </a:endParaRPr>
          </a:p>
        </p:txBody>
      </p:sp>
      <p:sp>
        <p:nvSpPr>
          <p:cNvPr id="21513" name="文本框 21512"/>
          <p:cNvSpPr txBox="1"/>
          <p:nvPr/>
        </p:nvSpPr>
        <p:spPr>
          <a:xfrm>
            <a:off x="5003800" y="3500438"/>
            <a:ext cx="1800225" cy="519112"/>
          </a:xfrm>
          <a:prstGeom prst="rect">
            <a:avLst/>
          </a:prstGeom>
          <a:noFill/>
          <a:ln w="9525">
            <a:noFill/>
          </a:ln>
        </p:spPr>
        <p:txBody>
          <a:bodyPr>
            <a:spAutoFit/>
          </a:bodyPr>
          <a:p>
            <a:pPr>
              <a:spcBef>
                <a:spcPct val="50000"/>
              </a:spcBef>
            </a:pPr>
            <a:r>
              <a:rPr lang="zh-CN" altLang="en-US" dirty="0">
                <a:latin typeface="Times New Roman" panose="02020603050405020304" pitchFamily="18" charset="0"/>
              </a:rPr>
              <a:t>减法运算</a:t>
            </a:r>
            <a:endParaRPr lang="zh-CN" altLang="en-US" dirty="0">
              <a:latin typeface="Times New Roman" panose="02020603050405020304" pitchFamily="18" charset="0"/>
            </a:endParaRPr>
          </a:p>
        </p:txBody>
      </p:sp>
      <p:sp>
        <p:nvSpPr>
          <p:cNvPr id="21514" name="文本框 21513"/>
          <p:cNvSpPr txBox="1"/>
          <p:nvPr/>
        </p:nvSpPr>
        <p:spPr>
          <a:xfrm>
            <a:off x="684213" y="2205038"/>
            <a:ext cx="6119812" cy="519112"/>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21515" name="文本框 21514"/>
          <p:cNvSpPr txBox="1"/>
          <p:nvPr/>
        </p:nvSpPr>
        <p:spPr>
          <a:xfrm>
            <a:off x="395288" y="2205038"/>
            <a:ext cx="8064500" cy="946150"/>
          </a:xfrm>
          <a:prstGeom prst="rect">
            <a:avLst/>
          </a:prstGeom>
          <a:noFill/>
          <a:ln w="9525">
            <a:noFill/>
          </a:ln>
        </p:spPr>
        <p:txBody>
          <a:bodyPr>
            <a:spAutoFit/>
          </a:bodyPr>
          <a:p>
            <a:pPr>
              <a:spcBef>
                <a:spcPct val="50000"/>
              </a:spcBef>
            </a:pPr>
            <a:r>
              <a:rPr lang="en-US" altLang="zh-CN" dirty="0">
                <a:latin typeface="Times New Roman" panose="02020603050405020304" pitchFamily="18" charset="0"/>
              </a:rPr>
              <a:t>         </a:t>
            </a:r>
            <a:r>
              <a:rPr lang="zh-CN" altLang="en-US" dirty="0">
                <a:latin typeface="Times New Roman" panose="02020603050405020304" pitchFamily="18" charset="0"/>
              </a:rPr>
              <a:t>二进制算术运算和十进制算术运算规则基本相同，区别是“逢二进一”。</a:t>
            </a:r>
            <a:endParaRPr lang="zh-CN"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509"/>
                                        </p:tgtEl>
                                        <p:attrNameLst>
                                          <p:attrName>style.visibility</p:attrName>
                                        </p:attrNameLst>
                                      </p:cBhvr>
                                      <p:to>
                                        <p:strVal val="visible"/>
                                      </p:to>
                                    </p:set>
                                    <p:animEffect transition="in" filter="wipe(left)">
                                      <p:cBhvr>
                                        <p:cTn id="7" dur="500"/>
                                        <p:tgtEl>
                                          <p:spTgt spid="2150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515"/>
                                        </p:tgtEl>
                                        <p:attrNameLst>
                                          <p:attrName>style.visibility</p:attrName>
                                        </p:attrNameLst>
                                      </p:cBhvr>
                                      <p:to>
                                        <p:strVal val="visible"/>
                                      </p:to>
                                    </p:set>
                                    <p:animEffect transition="in" filter="wipe(left)">
                                      <p:cBhvr>
                                        <p:cTn id="12" dur="500"/>
                                        <p:tgtEl>
                                          <p:spTgt spid="2151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1512"/>
                                        </p:tgtEl>
                                        <p:attrNameLst>
                                          <p:attrName>style.visibility</p:attrName>
                                        </p:attrNameLst>
                                      </p:cBhvr>
                                      <p:to>
                                        <p:strVal val="visible"/>
                                      </p:to>
                                    </p:set>
                                    <p:animEffect transition="in" filter="box(in)">
                                      <p:cBhvr>
                                        <p:cTn id="17" dur="500"/>
                                        <p:tgtEl>
                                          <p:spTgt spid="2151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1510"/>
                                        </p:tgtEl>
                                        <p:attrNameLst>
                                          <p:attrName>style.visibility</p:attrName>
                                        </p:attrNameLst>
                                      </p:cBhvr>
                                      <p:to>
                                        <p:strVal val="visible"/>
                                      </p:to>
                                    </p:set>
                                    <p:animEffect transition="in" filter="blinds(horizontal)">
                                      <p:cBhvr>
                                        <p:cTn id="22" dur="500"/>
                                        <p:tgtEl>
                                          <p:spTgt spid="21510"/>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21513"/>
                                        </p:tgtEl>
                                        <p:attrNameLst>
                                          <p:attrName>style.visibility</p:attrName>
                                        </p:attrNameLst>
                                      </p:cBhvr>
                                      <p:to>
                                        <p:strVal val="visible"/>
                                      </p:to>
                                    </p:set>
                                    <p:animEffect transition="in" filter="box(in)">
                                      <p:cBhvr>
                                        <p:cTn id="27" dur="500"/>
                                        <p:tgtEl>
                                          <p:spTgt spid="2151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1511"/>
                                        </p:tgtEl>
                                        <p:attrNameLst>
                                          <p:attrName>style.visibility</p:attrName>
                                        </p:attrNameLst>
                                      </p:cBhvr>
                                      <p:to>
                                        <p:strVal val="visible"/>
                                      </p:to>
                                    </p:set>
                                    <p:animEffect transition="in" filter="blinds(horizontal)">
                                      <p:cBhvr>
                                        <p:cTn id="32" dur="500"/>
                                        <p:tgtEl>
                                          <p:spTgt spid="215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9" grpId="0" animBg="1"/>
      <p:bldP spid="21510" grpId="0"/>
      <p:bldP spid="21511" grpId="0"/>
      <p:bldP spid="21512" grpId="0"/>
      <p:bldP spid="21513" grpId="0"/>
      <p:bldP spid="2151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3" name="文本框 22532"/>
          <p:cNvSpPr txBox="1"/>
          <p:nvPr/>
        </p:nvSpPr>
        <p:spPr>
          <a:xfrm>
            <a:off x="755650" y="4005263"/>
            <a:ext cx="1512888" cy="519112"/>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grpSp>
        <p:nvGrpSpPr>
          <p:cNvPr id="22536" name="组合 22535"/>
          <p:cNvGrpSpPr/>
          <p:nvPr/>
        </p:nvGrpSpPr>
        <p:grpSpPr>
          <a:xfrm>
            <a:off x="827088" y="1773238"/>
            <a:ext cx="2952750" cy="4384675"/>
            <a:chOff x="521" y="1117"/>
            <a:chExt cx="1860" cy="2762"/>
          </a:xfrm>
        </p:grpSpPr>
        <p:sp>
          <p:nvSpPr>
            <p:cNvPr id="22532" name="文本框 22531"/>
            <p:cNvSpPr txBox="1"/>
            <p:nvPr/>
          </p:nvSpPr>
          <p:spPr>
            <a:xfrm>
              <a:off x="521" y="1117"/>
              <a:ext cx="1860" cy="2762"/>
            </a:xfrm>
            <a:prstGeom prst="rect">
              <a:avLst/>
            </a:prstGeom>
            <a:noFill/>
            <a:ln w="9525">
              <a:noFill/>
            </a:ln>
          </p:spPr>
          <p:txBody>
            <a:bodyPr>
              <a:spAutoFit/>
            </a:bodyPr>
            <a:p>
              <a:pPr>
                <a:spcBef>
                  <a:spcPct val="50000"/>
                </a:spcBef>
              </a:pPr>
              <a:r>
                <a:rPr lang="en-US" altLang="zh-CN" sz="2400" b="0" dirty="0">
                  <a:latin typeface="Verdana" panose="020B0604030504040204" pitchFamily="34" charset="0"/>
                </a:rPr>
                <a:t>          </a:t>
              </a:r>
              <a:r>
                <a:rPr lang="en-US" altLang="zh-CN" sz="2400" b="0">
                  <a:latin typeface="Verdana" panose="020B0604030504040204" pitchFamily="34" charset="0"/>
                </a:rPr>
                <a:t>1 0 0 1</a:t>
              </a:r>
              <a:endParaRPr lang="en-US" altLang="zh-CN" sz="2400" b="0">
                <a:latin typeface="Verdana" panose="020B0604030504040204" pitchFamily="34" charset="0"/>
              </a:endParaRPr>
            </a:p>
            <a:p>
              <a:pPr>
                <a:spcBef>
                  <a:spcPct val="50000"/>
                </a:spcBef>
              </a:pPr>
              <a:r>
                <a:rPr lang="en-US" altLang="zh-CN" b="0" u="sng">
                  <a:latin typeface="Times New Roman" panose="02020603050405020304" pitchFamily="18" charset="0"/>
                </a:rPr>
                <a:t>      ×</a:t>
              </a:r>
              <a:r>
                <a:rPr lang="en-US" altLang="zh-CN" sz="2400" b="0" u="sng">
                  <a:latin typeface="Verdana" panose="020B0604030504040204" pitchFamily="34" charset="0"/>
                </a:rPr>
                <a:t> 0 1 0 1</a:t>
              </a:r>
              <a:endParaRPr lang="en-US" altLang="zh-CN" sz="2400" b="0" u="sng">
                <a:latin typeface="Verdana" panose="020B0604030504040204" pitchFamily="34" charset="0"/>
              </a:endParaRPr>
            </a:p>
            <a:p>
              <a:pPr>
                <a:spcBef>
                  <a:spcPct val="50000"/>
                </a:spcBef>
              </a:pPr>
              <a:r>
                <a:rPr lang="en-US" altLang="zh-CN" sz="2400" b="0">
                  <a:latin typeface="Verdana" panose="020B0604030504040204" pitchFamily="34" charset="0"/>
                </a:rPr>
                <a:t>         1 0 0 1</a:t>
              </a:r>
              <a:endParaRPr lang="en-US" altLang="zh-CN" sz="2400" b="0">
                <a:latin typeface="Verdana" panose="020B0604030504040204" pitchFamily="34" charset="0"/>
              </a:endParaRPr>
            </a:p>
            <a:p>
              <a:pPr>
                <a:spcBef>
                  <a:spcPct val="50000"/>
                </a:spcBef>
              </a:pPr>
              <a:r>
                <a:rPr lang="en-US" altLang="zh-CN" sz="2400" b="0">
                  <a:latin typeface="Verdana" panose="020B0604030504040204" pitchFamily="34" charset="0"/>
                </a:rPr>
                <a:t>      0 0 0 0</a:t>
              </a:r>
              <a:endParaRPr lang="en-US" altLang="zh-CN" sz="2400" b="0">
                <a:latin typeface="Verdana" panose="020B0604030504040204" pitchFamily="34" charset="0"/>
              </a:endParaRPr>
            </a:p>
            <a:p>
              <a:pPr>
                <a:spcBef>
                  <a:spcPct val="50000"/>
                </a:spcBef>
              </a:pPr>
              <a:r>
                <a:rPr lang="en-US" altLang="zh-CN" sz="2400" b="0">
                  <a:latin typeface="Verdana" panose="020B0604030504040204" pitchFamily="34" charset="0"/>
                </a:rPr>
                <a:t>   1 0 0 1</a:t>
              </a:r>
              <a:endParaRPr lang="en-US" altLang="zh-CN" sz="2400" b="0">
                <a:latin typeface="Verdana" panose="020B0604030504040204" pitchFamily="34" charset="0"/>
              </a:endParaRPr>
            </a:p>
            <a:p>
              <a:pPr>
                <a:spcBef>
                  <a:spcPct val="50000"/>
                </a:spcBef>
              </a:pPr>
              <a:r>
                <a:rPr lang="en-US" altLang="zh-CN" sz="2400" b="0">
                  <a:latin typeface="Verdana" panose="020B0604030504040204" pitchFamily="34" charset="0"/>
                </a:rPr>
                <a:t>0 0 0 0</a:t>
              </a:r>
              <a:r>
                <a:rPr lang="en-US" altLang="zh-CN" sz="2400" b="0" u="sng">
                  <a:latin typeface="Verdana" panose="020B0604030504040204" pitchFamily="34" charset="0"/>
                </a:rPr>
                <a:t>   </a:t>
              </a:r>
              <a:endParaRPr lang="en-US" altLang="zh-CN" sz="2400" b="0" u="sng">
                <a:latin typeface="Verdana" panose="020B0604030504040204" pitchFamily="34" charset="0"/>
              </a:endParaRPr>
            </a:p>
            <a:p>
              <a:pPr>
                <a:spcBef>
                  <a:spcPct val="50000"/>
                </a:spcBef>
              </a:pPr>
              <a:r>
                <a:rPr lang="en-US" altLang="zh-CN" sz="2400" b="0">
                  <a:latin typeface="Verdana" panose="020B0604030504040204" pitchFamily="34" charset="0"/>
                </a:rPr>
                <a:t>0 1 0 1 1 0 1</a:t>
              </a:r>
              <a:r>
                <a:rPr lang="en-US" altLang="zh-CN" sz="2400" b="0" u="sng">
                  <a:latin typeface="Verdana" panose="020B0604030504040204" pitchFamily="34" charset="0"/>
                </a:rPr>
                <a:t>    </a:t>
              </a:r>
              <a:endParaRPr lang="en-US" altLang="zh-CN" sz="2400" b="0" u="sng">
                <a:latin typeface="Verdana" panose="020B0604030504040204" pitchFamily="34" charset="0"/>
              </a:endParaRPr>
            </a:p>
            <a:p>
              <a:pPr>
                <a:spcBef>
                  <a:spcPct val="50000"/>
                </a:spcBef>
              </a:pPr>
              <a:endParaRPr lang="en-US" altLang="zh-CN" sz="2400" b="0" u="sng" dirty="0">
                <a:latin typeface="Verdana" panose="020B0604030504040204" pitchFamily="34" charset="0"/>
              </a:endParaRPr>
            </a:p>
          </p:txBody>
        </p:sp>
        <p:sp>
          <p:nvSpPr>
            <p:cNvPr id="22534" name="直接连接符 22533"/>
            <p:cNvSpPr/>
            <p:nvPr/>
          </p:nvSpPr>
          <p:spPr>
            <a:xfrm>
              <a:off x="521" y="3158"/>
              <a:ext cx="1361" cy="0"/>
            </a:xfrm>
            <a:prstGeom prst="line">
              <a:avLst/>
            </a:prstGeom>
            <a:ln w="19050" cap="flat" cmpd="sng">
              <a:solidFill>
                <a:schemeClr val="tx1"/>
              </a:solidFill>
              <a:prstDash val="solid"/>
              <a:headEnd type="none" w="med" len="med"/>
              <a:tailEnd type="none" w="med" len="med"/>
            </a:ln>
          </p:spPr>
        </p:sp>
      </p:grpSp>
      <p:sp>
        <p:nvSpPr>
          <p:cNvPr id="22535" name="文本框 22534"/>
          <p:cNvSpPr txBox="1"/>
          <p:nvPr/>
        </p:nvSpPr>
        <p:spPr>
          <a:xfrm>
            <a:off x="971550" y="908050"/>
            <a:ext cx="1800225" cy="519113"/>
          </a:xfrm>
          <a:prstGeom prst="rect">
            <a:avLst/>
          </a:prstGeom>
          <a:noFill/>
          <a:ln w="9525">
            <a:noFill/>
          </a:ln>
        </p:spPr>
        <p:txBody>
          <a:bodyPr>
            <a:spAutoFit/>
          </a:bodyPr>
          <a:p>
            <a:pPr>
              <a:spcBef>
                <a:spcPct val="50000"/>
              </a:spcBef>
            </a:pPr>
            <a:r>
              <a:rPr lang="zh-CN" altLang="en-US" dirty="0">
                <a:latin typeface="Times New Roman" panose="02020603050405020304" pitchFamily="18" charset="0"/>
              </a:rPr>
              <a:t>乘法运算</a:t>
            </a:r>
            <a:endParaRPr lang="zh-CN" altLang="en-US" dirty="0">
              <a:latin typeface="Times New Roman" panose="02020603050405020304" pitchFamily="18" charset="0"/>
            </a:endParaRPr>
          </a:p>
        </p:txBody>
      </p:sp>
      <p:sp>
        <p:nvSpPr>
          <p:cNvPr id="22537" name="文本框 22536"/>
          <p:cNvSpPr txBox="1"/>
          <p:nvPr/>
        </p:nvSpPr>
        <p:spPr>
          <a:xfrm>
            <a:off x="5364163" y="836613"/>
            <a:ext cx="1800225" cy="519112"/>
          </a:xfrm>
          <a:prstGeom prst="rect">
            <a:avLst/>
          </a:prstGeom>
          <a:noFill/>
          <a:ln w="9525">
            <a:noFill/>
          </a:ln>
        </p:spPr>
        <p:txBody>
          <a:bodyPr>
            <a:spAutoFit/>
          </a:bodyPr>
          <a:p>
            <a:pPr>
              <a:spcBef>
                <a:spcPct val="50000"/>
              </a:spcBef>
            </a:pPr>
            <a:r>
              <a:rPr lang="zh-CN" altLang="en-US" dirty="0">
                <a:latin typeface="Times New Roman" panose="02020603050405020304" pitchFamily="18" charset="0"/>
              </a:rPr>
              <a:t>除法运算</a:t>
            </a:r>
            <a:endParaRPr lang="zh-CN" altLang="en-US" dirty="0">
              <a:latin typeface="Times New Roman" panose="02020603050405020304" pitchFamily="18" charset="0"/>
            </a:endParaRPr>
          </a:p>
        </p:txBody>
      </p:sp>
      <p:grpSp>
        <p:nvGrpSpPr>
          <p:cNvPr id="22546" name="组合 22545"/>
          <p:cNvGrpSpPr/>
          <p:nvPr/>
        </p:nvGrpSpPr>
        <p:grpSpPr>
          <a:xfrm>
            <a:off x="4787900" y="1628775"/>
            <a:ext cx="3455988" cy="4733925"/>
            <a:chOff x="3016" y="1117"/>
            <a:chExt cx="2177" cy="2982"/>
          </a:xfrm>
        </p:grpSpPr>
        <p:graphicFrame>
          <p:nvGraphicFramePr>
            <p:cNvPr id="22538" name="对象 22537"/>
            <p:cNvGraphicFramePr/>
            <p:nvPr/>
          </p:nvGraphicFramePr>
          <p:xfrm>
            <a:off x="3560" y="1117"/>
            <a:ext cx="1359" cy="685"/>
          </p:xfrm>
          <a:graphic>
            <a:graphicData uri="http://schemas.openxmlformats.org/presentationml/2006/ole">
              <mc:AlternateContent xmlns:mc="http://schemas.openxmlformats.org/markup-compatibility/2006">
                <mc:Choice xmlns:v="urn:schemas-microsoft-com:vml" Requires="v">
                  <p:oleObj spid="_x0000_s3080" name="" r:id="rId1" imgW="660400" imgH="457200" progId="Equation.3">
                    <p:embed/>
                  </p:oleObj>
                </mc:Choice>
                <mc:Fallback>
                  <p:oleObj name="" r:id="rId1" imgW="660400" imgH="457200" progId="Equation.3">
                    <p:embed/>
                    <p:pic>
                      <p:nvPicPr>
                        <p:cNvPr id="0" name="图片 3079"/>
                        <p:cNvPicPr/>
                        <p:nvPr/>
                      </p:nvPicPr>
                      <p:blipFill>
                        <a:blip r:embed="rId2"/>
                        <a:stretch>
                          <a:fillRect/>
                        </a:stretch>
                      </p:blipFill>
                      <p:spPr>
                        <a:xfrm>
                          <a:off x="3560" y="1117"/>
                          <a:ext cx="1359" cy="685"/>
                        </a:xfrm>
                        <a:prstGeom prst="rect">
                          <a:avLst/>
                        </a:prstGeom>
                        <a:noFill/>
                        <a:ln w="38100">
                          <a:noFill/>
                          <a:miter/>
                        </a:ln>
                      </p:spPr>
                    </p:pic>
                  </p:oleObj>
                </mc:Fallback>
              </mc:AlternateContent>
            </a:graphicData>
          </a:graphic>
        </p:graphicFrame>
        <p:sp>
          <p:nvSpPr>
            <p:cNvPr id="22539" name="文本框 22538"/>
            <p:cNvSpPr txBox="1"/>
            <p:nvPr/>
          </p:nvSpPr>
          <p:spPr>
            <a:xfrm>
              <a:off x="3016" y="1389"/>
              <a:ext cx="726" cy="327"/>
            </a:xfrm>
            <a:prstGeom prst="rect">
              <a:avLst/>
            </a:prstGeom>
            <a:noFill/>
            <a:ln w="9525">
              <a:noFill/>
            </a:ln>
          </p:spPr>
          <p:txBody>
            <a:bodyPr>
              <a:spAutoFit/>
            </a:bodyPr>
            <a:p>
              <a:pPr>
                <a:spcBef>
                  <a:spcPct val="50000"/>
                </a:spcBef>
              </a:pPr>
              <a:r>
                <a:rPr lang="en-US" altLang="zh-CN">
                  <a:latin typeface="Times New Roman" panose="02020603050405020304" pitchFamily="18" charset="0"/>
                </a:rPr>
                <a:t>0101</a:t>
              </a:r>
              <a:endParaRPr lang="en-US" altLang="zh-CN">
                <a:latin typeface="Times New Roman" panose="02020603050405020304" pitchFamily="18" charset="0"/>
              </a:endParaRPr>
            </a:p>
          </p:txBody>
        </p:sp>
        <p:sp>
          <p:nvSpPr>
            <p:cNvPr id="22540" name="文本框 22539"/>
            <p:cNvSpPr txBox="1"/>
            <p:nvPr/>
          </p:nvSpPr>
          <p:spPr>
            <a:xfrm>
              <a:off x="3651" y="1752"/>
              <a:ext cx="1497" cy="2347"/>
            </a:xfrm>
            <a:prstGeom prst="rect">
              <a:avLst/>
            </a:prstGeom>
            <a:noFill/>
            <a:ln w="9525">
              <a:noFill/>
            </a:ln>
          </p:spPr>
          <p:txBody>
            <a:bodyPr>
              <a:spAutoFit/>
            </a:bodyPr>
            <a:p>
              <a:pPr>
                <a:spcBef>
                  <a:spcPct val="50000"/>
                </a:spcBef>
              </a:pPr>
              <a:r>
                <a:rPr lang="en-US" altLang="zh-CN">
                  <a:latin typeface="Times New Roman" panose="02020603050405020304" pitchFamily="18" charset="0"/>
                </a:rPr>
                <a:t>0 1 0 1</a:t>
              </a:r>
              <a:endParaRPr lang="en-US" altLang="zh-CN">
                <a:latin typeface="Times New Roman" panose="02020603050405020304" pitchFamily="18" charset="0"/>
              </a:endParaRPr>
            </a:p>
            <a:p>
              <a:pPr>
                <a:spcBef>
                  <a:spcPct val="50000"/>
                </a:spcBef>
              </a:pPr>
              <a:r>
                <a:rPr lang="en-US" altLang="zh-CN">
                  <a:latin typeface="Times New Roman" panose="02020603050405020304" pitchFamily="18" charset="0"/>
                </a:rPr>
                <a:t>   1 0 0 0</a:t>
              </a:r>
              <a:endParaRPr lang="en-US" altLang="zh-CN">
                <a:latin typeface="Times New Roman" panose="02020603050405020304" pitchFamily="18" charset="0"/>
              </a:endParaRPr>
            </a:p>
            <a:p>
              <a:pPr>
                <a:spcBef>
                  <a:spcPct val="50000"/>
                </a:spcBef>
              </a:pPr>
              <a:r>
                <a:rPr lang="en-US" altLang="zh-CN">
                  <a:latin typeface="Times New Roman" panose="02020603050405020304" pitchFamily="18" charset="0"/>
                </a:rPr>
                <a:t>   0 1 0 1</a:t>
              </a:r>
              <a:endParaRPr lang="en-US" altLang="zh-CN">
                <a:latin typeface="Times New Roman" panose="02020603050405020304" pitchFamily="18" charset="0"/>
              </a:endParaRPr>
            </a:p>
            <a:p>
              <a:pPr>
                <a:spcBef>
                  <a:spcPct val="50000"/>
                </a:spcBef>
              </a:pPr>
              <a:r>
                <a:rPr lang="en-US" altLang="zh-CN">
                  <a:latin typeface="Times New Roman" panose="02020603050405020304" pitchFamily="18" charset="0"/>
                </a:rPr>
                <a:t>      0 1 1 0</a:t>
              </a:r>
              <a:endParaRPr lang="en-US" altLang="zh-CN">
                <a:latin typeface="Times New Roman" panose="02020603050405020304" pitchFamily="18" charset="0"/>
              </a:endParaRPr>
            </a:p>
            <a:p>
              <a:pPr>
                <a:spcBef>
                  <a:spcPct val="50000"/>
                </a:spcBef>
              </a:pPr>
              <a:r>
                <a:rPr lang="en-US" altLang="zh-CN">
                  <a:latin typeface="Times New Roman" panose="02020603050405020304" pitchFamily="18" charset="0"/>
                </a:rPr>
                <a:t>      0 1 0 1</a:t>
              </a:r>
              <a:endParaRPr lang="en-US" altLang="zh-CN">
                <a:latin typeface="Times New Roman" panose="02020603050405020304" pitchFamily="18" charset="0"/>
              </a:endParaRPr>
            </a:p>
            <a:p>
              <a:pPr>
                <a:spcBef>
                  <a:spcPct val="50000"/>
                </a:spcBef>
              </a:pPr>
              <a:r>
                <a:rPr lang="en-US" altLang="zh-CN">
                  <a:latin typeface="Times New Roman" panose="02020603050405020304" pitchFamily="18" charset="0"/>
                </a:rPr>
                <a:t>         0 0 1 0</a:t>
              </a:r>
              <a:endParaRPr lang="en-US" altLang="zh-CN">
                <a:latin typeface="Times New Roman" panose="02020603050405020304" pitchFamily="18" charset="0"/>
              </a:endParaRPr>
            </a:p>
          </p:txBody>
        </p:sp>
        <p:sp>
          <p:nvSpPr>
            <p:cNvPr id="22541" name="直接连接符 22540"/>
            <p:cNvSpPr/>
            <p:nvPr/>
          </p:nvSpPr>
          <p:spPr>
            <a:xfrm>
              <a:off x="3606" y="2024"/>
              <a:ext cx="907" cy="0"/>
            </a:xfrm>
            <a:prstGeom prst="line">
              <a:avLst/>
            </a:prstGeom>
            <a:ln w="9525" cap="flat" cmpd="sng">
              <a:solidFill>
                <a:schemeClr val="tx1"/>
              </a:solidFill>
              <a:prstDash val="solid"/>
              <a:headEnd type="none" w="med" len="med"/>
              <a:tailEnd type="none" w="med" len="med"/>
            </a:ln>
          </p:spPr>
        </p:sp>
        <p:sp>
          <p:nvSpPr>
            <p:cNvPr id="22542" name="直接连接符 22541"/>
            <p:cNvSpPr/>
            <p:nvPr/>
          </p:nvSpPr>
          <p:spPr>
            <a:xfrm>
              <a:off x="3696" y="2840"/>
              <a:ext cx="1044" cy="0"/>
            </a:xfrm>
            <a:prstGeom prst="line">
              <a:avLst/>
            </a:prstGeom>
            <a:ln w="9525" cap="flat" cmpd="sng">
              <a:solidFill>
                <a:schemeClr val="tx1"/>
              </a:solidFill>
              <a:prstDash val="solid"/>
              <a:headEnd type="none" w="med" len="med"/>
              <a:tailEnd type="none" w="med" len="med"/>
            </a:ln>
          </p:spPr>
        </p:sp>
        <p:sp>
          <p:nvSpPr>
            <p:cNvPr id="22544" name="直接连接符 22543"/>
            <p:cNvSpPr/>
            <p:nvPr/>
          </p:nvSpPr>
          <p:spPr>
            <a:xfrm>
              <a:off x="3742" y="3702"/>
              <a:ext cx="1043" cy="0"/>
            </a:xfrm>
            <a:prstGeom prst="line">
              <a:avLst/>
            </a:prstGeom>
            <a:ln w="9525" cap="flat" cmpd="sng">
              <a:solidFill>
                <a:schemeClr val="tx1"/>
              </a:solidFill>
              <a:prstDash val="solid"/>
              <a:headEnd type="none" w="med" len="med"/>
              <a:tailEnd type="none" w="med" len="med"/>
            </a:ln>
          </p:spPr>
        </p:sp>
        <p:sp>
          <p:nvSpPr>
            <p:cNvPr id="22545" name="文本框 22544"/>
            <p:cNvSpPr txBox="1"/>
            <p:nvPr/>
          </p:nvSpPr>
          <p:spPr>
            <a:xfrm>
              <a:off x="3969" y="1117"/>
              <a:ext cx="1224" cy="327"/>
            </a:xfrm>
            <a:prstGeom prst="rect">
              <a:avLst/>
            </a:prstGeom>
            <a:noFill/>
            <a:ln w="9525">
              <a:noFill/>
            </a:ln>
          </p:spPr>
          <p:txBody>
            <a:bodyPr>
              <a:spAutoFit/>
            </a:bodyPr>
            <a:p>
              <a:pPr>
                <a:spcBef>
                  <a:spcPct val="50000"/>
                </a:spcBef>
              </a:pPr>
              <a:r>
                <a:rPr lang="en-US" altLang="zh-CN" dirty="0">
                  <a:latin typeface="Times New Roman" panose="02020603050405020304" pitchFamily="18" charset="0"/>
                </a:rPr>
                <a:t>    </a:t>
              </a:r>
              <a:r>
                <a:rPr lang="en-US" altLang="zh-CN">
                  <a:latin typeface="Times New Roman" panose="02020603050405020304" pitchFamily="18" charset="0"/>
                </a:rPr>
                <a:t>1.1 1…</a:t>
              </a:r>
              <a:endParaRPr lang="en-US" altLang="zh-CN">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2535"/>
                                        </p:tgtEl>
                                        <p:attrNameLst>
                                          <p:attrName>style.visibility</p:attrName>
                                        </p:attrNameLst>
                                      </p:cBhvr>
                                      <p:to>
                                        <p:strVal val="visible"/>
                                      </p:to>
                                    </p:set>
                                    <p:animEffect transition="in" filter="box(in)">
                                      <p:cBhvr>
                                        <p:cTn id="7" dur="500"/>
                                        <p:tgtEl>
                                          <p:spTgt spid="2253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2536"/>
                                        </p:tgtEl>
                                        <p:attrNameLst>
                                          <p:attrName>style.visibility</p:attrName>
                                        </p:attrNameLst>
                                      </p:cBhvr>
                                      <p:to>
                                        <p:strVal val="visible"/>
                                      </p:to>
                                    </p:set>
                                    <p:animEffect transition="in" filter="blinds(horizontal)">
                                      <p:cBhvr>
                                        <p:cTn id="12" dur="500"/>
                                        <p:tgtEl>
                                          <p:spTgt spid="2253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2537"/>
                                        </p:tgtEl>
                                        <p:attrNameLst>
                                          <p:attrName>style.visibility</p:attrName>
                                        </p:attrNameLst>
                                      </p:cBhvr>
                                      <p:to>
                                        <p:strVal val="visible"/>
                                      </p:to>
                                    </p:set>
                                    <p:animEffect transition="in" filter="box(in)">
                                      <p:cBhvr>
                                        <p:cTn id="17" dur="500"/>
                                        <p:tgtEl>
                                          <p:spTgt spid="2253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2546"/>
                                        </p:tgtEl>
                                        <p:attrNameLst>
                                          <p:attrName>style.visibility</p:attrName>
                                        </p:attrNameLst>
                                      </p:cBhvr>
                                      <p:to>
                                        <p:strVal val="visible"/>
                                      </p:to>
                                    </p:set>
                                    <p:animEffect transition="in" filter="blinds(horizontal)">
                                      <p:cBhvr>
                                        <p:cTn id="22" dur="500"/>
                                        <p:tgtEl>
                                          <p:spTgt spid="225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5" grpId="0"/>
      <p:bldP spid="2253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标题 31745"/>
          <p:cNvSpPr>
            <a:spLocks noGrp="1"/>
          </p:cNvSpPr>
          <p:nvPr>
            <p:ph type="title"/>
          </p:nvPr>
        </p:nvSpPr>
        <p:spPr/>
        <p:txBody>
          <a:bodyPr anchor="ctr" anchorCtr="0"/>
          <a:p>
            <a:endParaRPr dirty="0"/>
          </a:p>
        </p:txBody>
      </p:sp>
      <p:sp>
        <p:nvSpPr>
          <p:cNvPr id="31747" name="文本占位符 31746"/>
          <p:cNvSpPr>
            <a:spLocks noGrp="1"/>
          </p:cNvSpPr>
          <p:nvPr>
            <p:ph type="body" idx="1"/>
          </p:nvPr>
        </p:nvSpPr>
        <p:spPr>
          <a:xfrm>
            <a:off x="395288" y="1341438"/>
            <a:ext cx="8137525" cy="3095625"/>
          </a:xfrm>
        </p:spPr>
        <p:txBody>
          <a:bodyPr/>
          <a:p>
            <a:pPr>
              <a:lnSpc>
                <a:spcPct val="90000"/>
              </a:lnSpc>
              <a:buNone/>
            </a:pPr>
            <a:r>
              <a:rPr lang="en-US" altLang="zh-CN"/>
              <a:t>1.4.2 </a:t>
            </a:r>
            <a:r>
              <a:rPr lang="zh-CN" altLang="en-US" dirty="0"/>
              <a:t>反码</a:t>
            </a:r>
            <a:r>
              <a:rPr lang="zh-CN" altLang="en-US" sz="2800" dirty="0"/>
              <a:t>、补码和补码运算</a:t>
            </a:r>
            <a:endParaRPr lang="zh-CN" altLang="en-US" dirty="0"/>
          </a:p>
          <a:p>
            <a:pPr>
              <a:lnSpc>
                <a:spcPct val="90000"/>
              </a:lnSpc>
              <a:buNone/>
            </a:pPr>
            <a:r>
              <a:rPr lang="zh-CN" altLang="en-US" dirty="0"/>
              <a:t>	</a:t>
            </a:r>
            <a:endParaRPr lang="zh-CN" altLang="en-US" dirty="0"/>
          </a:p>
          <a:p>
            <a:pPr>
              <a:lnSpc>
                <a:spcPct val="90000"/>
              </a:lnSpc>
              <a:buNone/>
            </a:pPr>
            <a:r>
              <a:rPr lang="zh-CN" altLang="en-US" sz="2800" dirty="0"/>
              <a:t>        二进制数的正、负号也是用</a:t>
            </a:r>
            <a:r>
              <a:rPr lang="en-US" altLang="zh-CN" sz="2800"/>
              <a:t>0/1</a:t>
            </a:r>
            <a:r>
              <a:rPr lang="zh-CN" altLang="en-US" sz="2800" dirty="0"/>
              <a:t>表示的。</a:t>
            </a:r>
            <a:endParaRPr lang="zh-CN" altLang="en-US" sz="2800" dirty="0"/>
          </a:p>
          <a:p>
            <a:pPr>
              <a:lnSpc>
                <a:spcPct val="90000"/>
              </a:lnSpc>
              <a:buNone/>
            </a:pPr>
            <a:r>
              <a:rPr lang="zh-CN" altLang="en-US" sz="2800" b="1" dirty="0">
                <a:solidFill>
                  <a:srgbClr val="0000FF"/>
                </a:solidFill>
              </a:rPr>
              <a:t>在定点运算中，最高位为符号位（</a:t>
            </a:r>
            <a:r>
              <a:rPr lang="en-US" altLang="zh-CN" sz="2800" b="1">
                <a:solidFill>
                  <a:srgbClr val="0000FF"/>
                </a:solidFill>
              </a:rPr>
              <a:t>0</a:t>
            </a:r>
            <a:r>
              <a:rPr lang="zh-CN" altLang="en-US" sz="2800" b="1" dirty="0">
                <a:solidFill>
                  <a:srgbClr val="0000FF"/>
                </a:solidFill>
              </a:rPr>
              <a:t>为正，</a:t>
            </a:r>
            <a:r>
              <a:rPr lang="en-US" altLang="zh-CN" sz="2800" b="1">
                <a:solidFill>
                  <a:srgbClr val="0000FF"/>
                </a:solidFill>
              </a:rPr>
              <a:t>1</a:t>
            </a:r>
            <a:r>
              <a:rPr lang="zh-CN" altLang="en-US" sz="2800" b="1" dirty="0">
                <a:solidFill>
                  <a:srgbClr val="0000FF"/>
                </a:solidFill>
              </a:rPr>
              <a:t>为负）</a:t>
            </a:r>
            <a:endParaRPr lang="zh-CN" altLang="en-US" sz="2800" dirty="0"/>
          </a:p>
          <a:p>
            <a:pPr>
              <a:lnSpc>
                <a:spcPct val="90000"/>
              </a:lnSpc>
              <a:buNone/>
            </a:pPr>
            <a:r>
              <a:rPr lang="zh-CN" altLang="en-US" sz="2800" dirty="0"/>
              <a:t>如    </a:t>
            </a:r>
            <a:r>
              <a:rPr lang="en-US" altLang="zh-CN" sz="2800"/>
              <a:t>+89 = </a:t>
            </a:r>
            <a:r>
              <a:rPr lang="zh-CN" altLang="en-US" sz="2800" dirty="0"/>
              <a:t>（</a:t>
            </a:r>
            <a:r>
              <a:rPr lang="en-US" altLang="zh-CN" sz="2800">
                <a:solidFill>
                  <a:srgbClr val="FF0000"/>
                </a:solidFill>
              </a:rPr>
              <a:t>0 </a:t>
            </a:r>
            <a:r>
              <a:rPr lang="en-US" altLang="zh-CN" sz="2800">
                <a:latin typeface="黑体" panose="02010609060101010101" pitchFamily="2" charset="-122"/>
                <a:ea typeface="黑体" panose="02010609060101010101" pitchFamily="2" charset="-122"/>
              </a:rPr>
              <a:t> 1011001</a:t>
            </a:r>
            <a:r>
              <a:rPr lang="zh-CN" altLang="en-US" sz="2800" dirty="0"/>
              <a:t>）</a:t>
            </a:r>
            <a:endParaRPr lang="zh-CN" altLang="en-US" sz="2800" dirty="0"/>
          </a:p>
          <a:p>
            <a:pPr>
              <a:lnSpc>
                <a:spcPct val="90000"/>
              </a:lnSpc>
              <a:buNone/>
            </a:pPr>
            <a:r>
              <a:rPr lang="zh-CN" altLang="en-US" sz="2800" dirty="0"/>
              <a:t>	    </a:t>
            </a:r>
            <a:r>
              <a:rPr lang="en-US" altLang="zh-CN" sz="2800">
                <a:latin typeface="Dotum" pitchFamily="34" charset="-127"/>
                <a:ea typeface="Dotum" pitchFamily="34" charset="-127"/>
              </a:rPr>
              <a:t>-</a:t>
            </a:r>
            <a:r>
              <a:rPr lang="en-US" altLang="zh-CN" sz="2800"/>
              <a:t>89 = </a:t>
            </a:r>
            <a:r>
              <a:rPr lang="zh-CN" altLang="en-US" sz="2800" dirty="0"/>
              <a:t>（</a:t>
            </a:r>
            <a:r>
              <a:rPr lang="en-US" altLang="zh-CN" sz="2800">
                <a:solidFill>
                  <a:srgbClr val="FF0000"/>
                </a:solidFill>
              </a:rPr>
              <a:t>1 </a:t>
            </a:r>
            <a:r>
              <a:rPr lang="en-US" altLang="zh-CN" sz="2800"/>
              <a:t>  </a:t>
            </a:r>
            <a:r>
              <a:rPr lang="en-US" altLang="zh-CN" sz="2800">
                <a:latin typeface="黑体" panose="02010609060101010101" pitchFamily="2" charset="-122"/>
                <a:ea typeface="黑体" panose="02010609060101010101" pitchFamily="2" charset="-122"/>
              </a:rPr>
              <a:t>1011001</a:t>
            </a:r>
            <a:r>
              <a:rPr lang="zh-CN" altLang="en-US" sz="2800" dirty="0"/>
              <a:t>）</a:t>
            </a:r>
            <a:endParaRPr lang="zh-CN" altLang="en-US"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1331595" y="0"/>
            <a:ext cx="5502275" cy="848360"/>
          </a:xfrm>
          <a:prstGeom prst="rect">
            <a:avLst/>
          </a:prstGeom>
        </p:spPr>
      </p:pic>
      <p:pic>
        <p:nvPicPr>
          <p:cNvPr id="6" name="图片 5"/>
          <p:cNvPicPr>
            <a:picLocks noChangeAspect="1"/>
          </p:cNvPicPr>
          <p:nvPr/>
        </p:nvPicPr>
        <p:blipFill>
          <a:blip r:embed="rId2"/>
          <a:stretch>
            <a:fillRect/>
          </a:stretch>
        </p:blipFill>
        <p:spPr>
          <a:xfrm>
            <a:off x="0" y="692785"/>
            <a:ext cx="9150985" cy="716280"/>
          </a:xfrm>
          <a:prstGeom prst="rect">
            <a:avLst/>
          </a:prstGeom>
        </p:spPr>
      </p:pic>
      <p:pic>
        <p:nvPicPr>
          <p:cNvPr id="7" name="图片 6"/>
          <p:cNvPicPr>
            <a:picLocks noChangeAspect="1"/>
          </p:cNvPicPr>
          <p:nvPr/>
        </p:nvPicPr>
        <p:blipFill>
          <a:blip r:embed="rId3"/>
          <a:stretch>
            <a:fillRect/>
          </a:stretch>
        </p:blipFill>
        <p:spPr>
          <a:xfrm>
            <a:off x="-34925" y="1484630"/>
            <a:ext cx="9205595" cy="3335020"/>
          </a:xfrm>
          <a:prstGeom prst="rect">
            <a:avLst/>
          </a:prstGeom>
        </p:spPr>
      </p:pic>
      <mc:AlternateContent xmlns:mc="http://schemas.openxmlformats.org/markup-compatibility/2006" xmlns:p14="http://schemas.microsoft.com/office/powerpoint/2010/main">
        <mc:Choice Requires="p14">
          <p:contentPart r:id="rId4" p14:bwMode="auto">
            <p14:nvContentPartPr>
              <p14:cNvPr id="2" name="墨迹 1"/>
              <p14:cNvContentPartPr/>
              <p14:nvPr/>
            </p14:nvContentPartPr>
            <p14:xfrm>
              <a:off x="704850" y="1841500"/>
              <a:ext cx="520700" cy="241300"/>
            </p14:xfrm>
          </p:contentPart>
        </mc:Choice>
        <mc:Fallback xmlns="">
          <p:pic>
            <p:nvPicPr>
              <p:cNvPr id="2" name="墨迹 1"/>
            </p:nvPicPr>
            <p:blipFill>
              <a:blip r:embed="rId5"/>
            </p:blipFill>
            <p:spPr>
              <a:xfrm>
                <a:off x="704850" y="1841500"/>
                <a:ext cx="520700" cy="24130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3" name="墨迹 2"/>
              <p14:cNvContentPartPr/>
              <p14:nvPr/>
            </p14:nvContentPartPr>
            <p14:xfrm>
              <a:off x="692150" y="2444750"/>
              <a:ext cx="552450" cy="228600"/>
            </p14:xfrm>
          </p:contentPart>
        </mc:Choice>
        <mc:Fallback xmlns="">
          <p:pic>
            <p:nvPicPr>
              <p:cNvPr id="3" name="墨迹 2"/>
            </p:nvPicPr>
            <p:blipFill>
              <a:blip r:embed="rId7"/>
            </p:blipFill>
            <p:spPr>
              <a:xfrm>
                <a:off x="692150" y="2444750"/>
                <a:ext cx="552450" cy="22860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5" name="墨迹 4"/>
              <p14:cNvContentPartPr/>
              <p14:nvPr/>
            </p14:nvContentPartPr>
            <p14:xfrm>
              <a:off x="1320800" y="2647950"/>
              <a:ext cx="5784850" cy="6350"/>
            </p14:xfrm>
          </p:contentPart>
        </mc:Choice>
        <mc:Fallback xmlns="">
          <p:pic>
            <p:nvPicPr>
              <p:cNvPr id="5" name="墨迹 4"/>
            </p:nvPicPr>
            <p:blipFill>
              <a:blip r:embed="rId9"/>
            </p:blipFill>
            <p:spPr>
              <a:xfrm>
                <a:off x="1320800" y="2647950"/>
                <a:ext cx="5784850" cy="635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8" name="墨迹 7"/>
              <p14:cNvContentPartPr/>
              <p14:nvPr/>
            </p14:nvContentPartPr>
            <p14:xfrm>
              <a:off x="1327150" y="2070100"/>
              <a:ext cx="4616450" cy="25400"/>
            </p14:xfrm>
          </p:contentPart>
        </mc:Choice>
        <mc:Fallback xmlns="">
          <p:pic>
            <p:nvPicPr>
              <p:cNvPr id="8" name="墨迹 7"/>
            </p:nvPicPr>
            <p:blipFill>
              <a:blip r:embed="rId11"/>
            </p:blipFill>
            <p:spPr>
              <a:xfrm>
                <a:off x="1327150" y="2070100"/>
                <a:ext cx="4616450" cy="2540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9" name="墨迹 8"/>
              <p14:cNvContentPartPr/>
              <p14:nvPr/>
            </p14:nvContentPartPr>
            <p14:xfrm>
              <a:off x="387350" y="1524000"/>
              <a:ext cx="1193800" cy="234950"/>
            </p14:xfrm>
          </p:contentPart>
        </mc:Choice>
        <mc:Fallback xmlns="">
          <p:pic>
            <p:nvPicPr>
              <p:cNvPr id="9" name="墨迹 8"/>
            </p:nvPicPr>
            <p:blipFill>
              <a:blip r:embed="rId13"/>
            </p:blipFill>
            <p:spPr>
              <a:xfrm>
                <a:off x="387350" y="1524000"/>
                <a:ext cx="1193800" cy="23495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0" name="墨迹 9"/>
              <p14:cNvContentPartPr/>
              <p14:nvPr/>
            </p14:nvContentPartPr>
            <p14:xfrm>
              <a:off x="355600" y="2768600"/>
              <a:ext cx="1238250" cy="215900"/>
            </p14:xfrm>
          </p:contentPart>
        </mc:Choice>
        <mc:Fallback xmlns="">
          <p:pic>
            <p:nvPicPr>
              <p:cNvPr id="10" name="墨迹 9"/>
            </p:nvPicPr>
            <p:blipFill>
              <a:blip r:embed="rId15"/>
            </p:blipFill>
            <p:spPr>
              <a:xfrm>
                <a:off x="355600" y="2768600"/>
                <a:ext cx="1238250" cy="215900"/>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1" name="墨迹 10"/>
              <p14:cNvContentPartPr/>
              <p14:nvPr/>
            </p14:nvContentPartPr>
            <p14:xfrm>
              <a:off x="400050" y="3721100"/>
              <a:ext cx="1200150" cy="241300"/>
            </p14:xfrm>
          </p:contentPart>
        </mc:Choice>
        <mc:Fallback xmlns="">
          <p:pic>
            <p:nvPicPr>
              <p:cNvPr id="11" name="墨迹 10"/>
            </p:nvPicPr>
            <p:blipFill>
              <a:blip r:embed="rId17"/>
            </p:blipFill>
            <p:spPr>
              <a:xfrm>
                <a:off x="400050" y="3721100"/>
                <a:ext cx="1200150" cy="241300"/>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2" name="墨迹 11"/>
              <p14:cNvContentPartPr/>
              <p14:nvPr/>
            </p14:nvContentPartPr>
            <p14:xfrm>
              <a:off x="742950" y="4235450"/>
              <a:ext cx="4216400" cy="25400"/>
            </p14:xfrm>
          </p:contentPart>
        </mc:Choice>
        <mc:Fallback xmlns="">
          <p:pic>
            <p:nvPicPr>
              <p:cNvPr id="12" name="墨迹 11"/>
            </p:nvPicPr>
            <p:blipFill>
              <a:blip r:embed="rId19"/>
            </p:blipFill>
            <p:spPr>
              <a:xfrm>
                <a:off x="742950" y="4235450"/>
                <a:ext cx="4216400" cy="25400"/>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3" name="墨迹 12"/>
              <p14:cNvContentPartPr/>
              <p14:nvPr/>
            </p14:nvContentPartPr>
            <p14:xfrm>
              <a:off x="717550" y="3606800"/>
              <a:ext cx="2178050" cy="44450"/>
            </p14:xfrm>
          </p:contentPart>
        </mc:Choice>
        <mc:Fallback xmlns="">
          <p:pic>
            <p:nvPicPr>
              <p:cNvPr id="13" name="墨迹 12"/>
            </p:nvPicPr>
            <p:blipFill>
              <a:blip r:embed="rId21"/>
            </p:blipFill>
            <p:spPr>
              <a:xfrm>
                <a:off x="717550" y="3606800"/>
                <a:ext cx="2178050" cy="44450"/>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14" name="墨迹 13"/>
              <p14:cNvContentPartPr/>
              <p14:nvPr/>
            </p14:nvContentPartPr>
            <p14:xfrm>
              <a:off x="730250" y="3600450"/>
              <a:ext cx="2165350" cy="57150"/>
            </p14:xfrm>
          </p:contentPart>
        </mc:Choice>
        <mc:Fallback xmlns="">
          <p:pic>
            <p:nvPicPr>
              <p:cNvPr id="14" name="墨迹 13"/>
            </p:nvPicPr>
            <p:blipFill>
              <a:blip r:embed="rId23"/>
            </p:blipFill>
            <p:spPr>
              <a:xfrm>
                <a:off x="730250" y="3600450"/>
                <a:ext cx="2165350" cy="57150"/>
              </a:xfrm>
              <a:prstGeom prst="rect"/>
            </p:spPr>
          </p:pic>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1331595" y="332740"/>
            <a:ext cx="5502275" cy="848360"/>
          </a:xfrm>
          <a:prstGeom prst="rect">
            <a:avLst/>
          </a:prstGeom>
        </p:spPr>
      </p:pic>
      <p:pic>
        <p:nvPicPr>
          <p:cNvPr id="2" name="图片 1"/>
          <p:cNvPicPr>
            <a:picLocks noChangeAspect="1"/>
          </p:cNvPicPr>
          <p:nvPr/>
        </p:nvPicPr>
        <p:blipFill>
          <a:blip r:embed="rId2"/>
          <a:stretch>
            <a:fillRect/>
          </a:stretch>
        </p:blipFill>
        <p:spPr>
          <a:xfrm>
            <a:off x="251460" y="1259840"/>
            <a:ext cx="8484235" cy="3515995"/>
          </a:xfrm>
          <a:prstGeom prst="rect">
            <a:avLst/>
          </a:prstGeom>
        </p:spPr>
      </p:pic>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1485900" y="2882900"/>
              <a:ext cx="1257300" cy="31750"/>
            </p14:xfrm>
          </p:contentPart>
        </mc:Choice>
        <mc:Fallback xmlns="">
          <p:pic>
            <p:nvPicPr>
              <p:cNvPr id="3" name="墨迹 2"/>
            </p:nvPicPr>
            <p:blipFill>
              <a:blip r:embed="rId4"/>
            </p:blipFill>
            <p:spPr>
              <a:xfrm>
                <a:off x="1485900" y="2882900"/>
                <a:ext cx="1257300" cy="3175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5" name="墨迹 4"/>
              <p14:cNvContentPartPr/>
              <p14:nvPr/>
            </p14:nvContentPartPr>
            <p14:xfrm>
              <a:off x="2870200" y="2895600"/>
              <a:ext cx="2089150" cy="50800"/>
            </p14:xfrm>
          </p:contentPart>
        </mc:Choice>
        <mc:Fallback xmlns="">
          <p:pic>
            <p:nvPicPr>
              <p:cNvPr id="5" name="墨迹 4"/>
            </p:nvPicPr>
            <p:blipFill>
              <a:blip r:embed="rId6"/>
            </p:blipFill>
            <p:spPr>
              <a:xfrm>
                <a:off x="2870200" y="2895600"/>
                <a:ext cx="2089150" cy="508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6" name="墨迹 5"/>
              <p14:cNvContentPartPr/>
              <p14:nvPr/>
            </p14:nvContentPartPr>
            <p14:xfrm>
              <a:off x="3575050" y="3035300"/>
              <a:ext cx="95250" cy="114300"/>
            </p14:xfrm>
          </p:contentPart>
        </mc:Choice>
        <mc:Fallback xmlns="">
          <p:pic>
            <p:nvPicPr>
              <p:cNvPr id="6" name="墨迹 5"/>
            </p:nvPicPr>
            <p:blipFill>
              <a:blip r:embed="rId8"/>
            </p:blipFill>
            <p:spPr>
              <a:xfrm>
                <a:off x="3575050" y="3035300"/>
                <a:ext cx="95250" cy="11430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7" name="墨迹 6"/>
              <p14:cNvContentPartPr/>
              <p14:nvPr/>
            </p14:nvContentPartPr>
            <p14:xfrm>
              <a:off x="3632200" y="3130550"/>
              <a:ext cx="360" cy="209550"/>
            </p14:xfrm>
          </p:contentPart>
        </mc:Choice>
        <mc:Fallback xmlns="">
          <p:pic>
            <p:nvPicPr>
              <p:cNvPr id="7" name="墨迹 6"/>
            </p:nvPicPr>
            <p:blipFill>
              <a:blip r:embed="rId10"/>
            </p:blipFill>
            <p:spPr>
              <a:xfrm>
                <a:off x="3632200" y="3130550"/>
                <a:ext cx="360" cy="20955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8" name="墨迹 7"/>
              <p14:cNvContentPartPr/>
              <p14:nvPr/>
            </p14:nvContentPartPr>
            <p14:xfrm>
              <a:off x="3695700" y="3073400"/>
              <a:ext cx="44450" cy="203200"/>
            </p14:xfrm>
          </p:contentPart>
        </mc:Choice>
        <mc:Fallback xmlns="">
          <p:pic>
            <p:nvPicPr>
              <p:cNvPr id="8" name="墨迹 7"/>
            </p:nvPicPr>
            <p:blipFill>
              <a:blip r:embed="rId12"/>
            </p:blipFill>
            <p:spPr>
              <a:xfrm>
                <a:off x="3695700" y="3073400"/>
                <a:ext cx="44450" cy="20320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9" name="墨迹 8"/>
              <p14:cNvContentPartPr/>
              <p14:nvPr/>
            </p14:nvContentPartPr>
            <p14:xfrm>
              <a:off x="3676650" y="3130550"/>
              <a:ext cx="171450" cy="146050"/>
            </p14:xfrm>
          </p:contentPart>
        </mc:Choice>
        <mc:Fallback xmlns="">
          <p:pic>
            <p:nvPicPr>
              <p:cNvPr id="9" name="墨迹 8"/>
            </p:nvPicPr>
            <p:blipFill>
              <a:blip r:embed="rId14"/>
            </p:blipFill>
            <p:spPr>
              <a:xfrm>
                <a:off x="3676650" y="3130550"/>
                <a:ext cx="171450" cy="14605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0" name="墨迹 9"/>
              <p14:cNvContentPartPr/>
              <p14:nvPr/>
            </p14:nvContentPartPr>
            <p14:xfrm>
              <a:off x="3854450" y="3048000"/>
              <a:ext cx="19050" cy="57150"/>
            </p14:xfrm>
          </p:contentPart>
        </mc:Choice>
        <mc:Fallback xmlns="">
          <p:pic>
            <p:nvPicPr>
              <p:cNvPr id="10" name="墨迹 9"/>
            </p:nvPicPr>
            <p:blipFill>
              <a:blip r:embed="rId16"/>
            </p:blipFill>
            <p:spPr>
              <a:xfrm>
                <a:off x="3854450" y="3048000"/>
                <a:ext cx="19050" cy="5715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1" name="墨迹 10"/>
              <p14:cNvContentPartPr/>
              <p14:nvPr/>
            </p14:nvContentPartPr>
            <p14:xfrm>
              <a:off x="3867150" y="3028950"/>
              <a:ext cx="69850" cy="88900"/>
            </p14:xfrm>
          </p:contentPart>
        </mc:Choice>
        <mc:Fallback xmlns="">
          <p:pic>
            <p:nvPicPr>
              <p:cNvPr id="11" name="墨迹 10"/>
            </p:nvPicPr>
            <p:blipFill>
              <a:blip r:embed="rId18"/>
            </p:blipFill>
            <p:spPr>
              <a:xfrm>
                <a:off x="3867150" y="3028950"/>
                <a:ext cx="69850" cy="8890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2" name="墨迹 11"/>
              <p14:cNvContentPartPr/>
              <p14:nvPr/>
            </p14:nvContentPartPr>
            <p14:xfrm>
              <a:off x="3848100" y="3117850"/>
              <a:ext cx="88900" cy="360"/>
            </p14:xfrm>
          </p:contentPart>
        </mc:Choice>
        <mc:Fallback xmlns="">
          <p:pic>
            <p:nvPicPr>
              <p:cNvPr id="12" name="墨迹 11"/>
            </p:nvPicPr>
            <p:blipFill>
              <a:blip r:embed="rId20"/>
            </p:blipFill>
            <p:spPr>
              <a:xfrm>
                <a:off x="3848100" y="3117850"/>
                <a:ext cx="88900" cy="36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3" name="墨迹 12"/>
              <p14:cNvContentPartPr/>
              <p14:nvPr/>
            </p14:nvContentPartPr>
            <p14:xfrm>
              <a:off x="3879850" y="3009900"/>
              <a:ext cx="38100" cy="209550"/>
            </p14:xfrm>
          </p:contentPart>
        </mc:Choice>
        <mc:Fallback xmlns="">
          <p:pic>
            <p:nvPicPr>
              <p:cNvPr id="13" name="墨迹 12"/>
            </p:nvPicPr>
            <p:blipFill>
              <a:blip r:embed="rId22"/>
            </p:blipFill>
            <p:spPr>
              <a:xfrm>
                <a:off x="3879850" y="3009900"/>
                <a:ext cx="38100" cy="20955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4" name="墨迹 13"/>
              <p14:cNvContentPartPr/>
              <p14:nvPr/>
            </p14:nvContentPartPr>
            <p14:xfrm>
              <a:off x="3841750" y="3136900"/>
              <a:ext cx="63500" cy="50800"/>
            </p14:xfrm>
          </p:contentPart>
        </mc:Choice>
        <mc:Fallback xmlns="">
          <p:pic>
            <p:nvPicPr>
              <p:cNvPr id="14" name="墨迹 13"/>
            </p:nvPicPr>
            <p:blipFill>
              <a:blip r:embed="rId24"/>
            </p:blipFill>
            <p:spPr>
              <a:xfrm>
                <a:off x="3841750" y="3136900"/>
                <a:ext cx="63500" cy="5080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5" name="墨迹 14"/>
              <p14:cNvContentPartPr/>
              <p14:nvPr/>
            </p14:nvContentPartPr>
            <p14:xfrm>
              <a:off x="3860800" y="3105150"/>
              <a:ext cx="133350" cy="95250"/>
            </p14:xfrm>
          </p:contentPart>
        </mc:Choice>
        <mc:Fallback xmlns="">
          <p:pic>
            <p:nvPicPr>
              <p:cNvPr id="15" name="墨迹 14"/>
            </p:nvPicPr>
            <p:blipFill>
              <a:blip r:embed="rId26"/>
            </p:blipFill>
            <p:spPr>
              <a:xfrm>
                <a:off x="3860800" y="3105150"/>
                <a:ext cx="133350" cy="95250"/>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6" name="墨迹 15"/>
              <p14:cNvContentPartPr/>
              <p14:nvPr/>
            </p14:nvContentPartPr>
            <p14:xfrm>
              <a:off x="3892550" y="3213100"/>
              <a:ext cx="63500" cy="76200"/>
            </p14:xfrm>
          </p:contentPart>
        </mc:Choice>
        <mc:Fallback xmlns="">
          <p:pic>
            <p:nvPicPr>
              <p:cNvPr id="16" name="墨迹 15"/>
            </p:nvPicPr>
            <p:blipFill>
              <a:blip r:embed="rId28"/>
            </p:blipFill>
            <p:spPr>
              <a:xfrm>
                <a:off x="3892550" y="3213100"/>
                <a:ext cx="63500" cy="76200"/>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7" name="墨迹 16"/>
              <p14:cNvContentPartPr/>
              <p14:nvPr/>
            </p14:nvContentPartPr>
            <p14:xfrm>
              <a:off x="3867150" y="3219450"/>
              <a:ext cx="76200" cy="107950"/>
            </p14:xfrm>
          </p:contentPart>
        </mc:Choice>
        <mc:Fallback xmlns="">
          <p:pic>
            <p:nvPicPr>
              <p:cNvPr id="17" name="墨迹 16"/>
            </p:nvPicPr>
            <p:blipFill>
              <a:blip r:embed="rId30"/>
            </p:blipFill>
            <p:spPr>
              <a:xfrm>
                <a:off x="3867150" y="3219450"/>
                <a:ext cx="76200" cy="107950"/>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18" name="墨迹 17"/>
              <p14:cNvContentPartPr/>
              <p14:nvPr/>
            </p14:nvContentPartPr>
            <p14:xfrm>
              <a:off x="3867150" y="3213100"/>
              <a:ext cx="127000" cy="31750"/>
            </p14:xfrm>
          </p:contentPart>
        </mc:Choice>
        <mc:Fallback xmlns="">
          <p:pic>
            <p:nvPicPr>
              <p:cNvPr id="18" name="墨迹 17"/>
            </p:nvPicPr>
            <p:blipFill>
              <a:blip r:embed="rId32"/>
            </p:blipFill>
            <p:spPr>
              <a:xfrm>
                <a:off x="3867150" y="3213100"/>
                <a:ext cx="127000" cy="31750"/>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19" name="墨迹 18"/>
              <p14:cNvContentPartPr/>
              <p14:nvPr/>
            </p14:nvContentPartPr>
            <p14:xfrm>
              <a:off x="3994150" y="3003550"/>
              <a:ext cx="19050" cy="158750"/>
            </p14:xfrm>
          </p:contentPart>
        </mc:Choice>
        <mc:Fallback xmlns="">
          <p:pic>
            <p:nvPicPr>
              <p:cNvPr id="19" name="墨迹 18"/>
            </p:nvPicPr>
            <p:blipFill>
              <a:blip r:embed="rId34"/>
            </p:blipFill>
            <p:spPr>
              <a:xfrm>
                <a:off x="3994150" y="3003550"/>
                <a:ext cx="19050" cy="158750"/>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20" name="墨迹 19"/>
              <p14:cNvContentPartPr/>
              <p14:nvPr/>
            </p14:nvContentPartPr>
            <p14:xfrm>
              <a:off x="4013200" y="3079750"/>
              <a:ext cx="57150" cy="44450"/>
            </p14:xfrm>
          </p:contentPart>
        </mc:Choice>
        <mc:Fallback xmlns="">
          <p:pic>
            <p:nvPicPr>
              <p:cNvPr id="20" name="墨迹 19"/>
            </p:nvPicPr>
            <p:blipFill>
              <a:blip r:embed="rId36"/>
            </p:blipFill>
            <p:spPr>
              <a:xfrm>
                <a:off x="4013200" y="3079750"/>
                <a:ext cx="57150" cy="44450"/>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21" name="墨迹 20"/>
              <p14:cNvContentPartPr/>
              <p14:nvPr/>
            </p14:nvContentPartPr>
            <p14:xfrm>
              <a:off x="4038600" y="3111500"/>
              <a:ext cx="12700" cy="360"/>
            </p14:xfrm>
          </p:contentPart>
        </mc:Choice>
        <mc:Fallback xmlns="">
          <p:pic>
            <p:nvPicPr>
              <p:cNvPr id="21" name="墨迹 20"/>
            </p:nvPicPr>
            <p:blipFill>
              <a:blip r:embed="rId38"/>
            </p:blipFill>
            <p:spPr>
              <a:xfrm>
                <a:off x="4038600" y="3111500"/>
                <a:ext cx="12700" cy="360"/>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2" name="墨迹 21"/>
              <p14:cNvContentPartPr/>
              <p14:nvPr/>
            </p14:nvContentPartPr>
            <p14:xfrm>
              <a:off x="4038600" y="3111500"/>
              <a:ext cx="6350" cy="360"/>
            </p14:xfrm>
          </p:contentPart>
        </mc:Choice>
        <mc:Fallback xmlns="">
          <p:pic>
            <p:nvPicPr>
              <p:cNvPr id="22" name="墨迹 21"/>
            </p:nvPicPr>
            <p:blipFill>
              <a:blip r:embed="rId40"/>
            </p:blipFill>
            <p:spPr>
              <a:xfrm>
                <a:off x="4038600" y="3111500"/>
                <a:ext cx="6350" cy="360"/>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23" name="墨迹 22"/>
              <p14:cNvContentPartPr/>
              <p14:nvPr/>
            </p14:nvContentPartPr>
            <p14:xfrm>
              <a:off x="4000500" y="3111500"/>
              <a:ext cx="69850" cy="222250"/>
            </p14:xfrm>
          </p:contentPart>
        </mc:Choice>
        <mc:Fallback xmlns="">
          <p:pic>
            <p:nvPicPr>
              <p:cNvPr id="23" name="墨迹 22"/>
            </p:nvPicPr>
            <p:blipFill>
              <a:blip r:embed="rId42"/>
            </p:blipFill>
            <p:spPr>
              <a:xfrm>
                <a:off x="4000500" y="3111500"/>
                <a:ext cx="69850" cy="222250"/>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24" name="墨迹 23"/>
              <p14:cNvContentPartPr/>
              <p14:nvPr/>
            </p14:nvContentPartPr>
            <p14:xfrm>
              <a:off x="4013200" y="3206750"/>
              <a:ext cx="152400" cy="133350"/>
            </p14:xfrm>
          </p:contentPart>
        </mc:Choice>
        <mc:Fallback xmlns="">
          <p:pic>
            <p:nvPicPr>
              <p:cNvPr id="24" name="墨迹 23"/>
            </p:nvPicPr>
            <p:blipFill>
              <a:blip r:embed="rId44"/>
            </p:blipFill>
            <p:spPr>
              <a:xfrm>
                <a:off x="4013200" y="3206750"/>
                <a:ext cx="152400" cy="133350"/>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25" name="墨迹 24"/>
              <p14:cNvContentPartPr/>
              <p14:nvPr/>
            </p14:nvContentPartPr>
            <p14:xfrm>
              <a:off x="4140200" y="3028950"/>
              <a:ext cx="95250" cy="82550"/>
            </p14:xfrm>
          </p:contentPart>
        </mc:Choice>
        <mc:Fallback xmlns="">
          <p:pic>
            <p:nvPicPr>
              <p:cNvPr id="25" name="墨迹 24"/>
            </p:nvPicPr>
            <p:blipFill>
              <a:blip r:embed="rId46"/>
            </p:blipFill>
            <p:spPr>
              <a:xfrm>
                <a:off x="4140200" y="3028950"/>
                <a:ext cx="95250" cy="82550"/>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26" name="墨迹 25"/>
              <p14:cNvContentPartPr/>
              <p14:nvPr/>
            </p14:nvContentPartPr>
            <p14:xfrm>
              <a:off x="4184650" y="3098800"/>
              <a:ext cx="19050" cy="209550"/>
            </p14:xfrm>
          </p:contentPart>
        </mc:Choice>
        <mc:Fallback xmlns="">
          <p:pic>
            <p:nvPicPr>
              <p:cNvPr id="26" name="墨迹 25"/>
            </p:nvPicPr>
            <p:blipFill>
              <a:blip r:embed="rId48"/>
            </p:blipFill>
            <p:spPr>
              <a:xfrm>
                <a:off x="4184650" y="3098800"/>
                <a:ext cx="19050" cy="209550"/>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27" name="墨迹 26"/>
              <p14:cNvContentPartPr/>
              <p14:nvPr/>
            </p14:nvContentPartPr>
            <p14:xfrm>
              <a:off x="4248150" y="3067050"/>
              <a:ext cx="88900" cy="6350"/>
            </p14:xfrm>
          </p:contentPart>
        </mc:Choice>
        <mc:Fallback xmlns="">
          <p:pic>
            <p:nvPicPr>
              <p:cNvPr id="27" name="墨迹 26"/>
            </p:nvPicPr>
            <p:blipFill>
              <a:blip r:embed="rId50"/>
            </p:blipFill>
            <p:spPr>
              <a:xfrm>
                <a:off x="4248150" y="3067050"/>
                <a:ext cx="88900" cy="6350"/>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28" name="墨迹 27"/>
              <p14:cNvContentPartPr/>
              <p14:nvPr/>
            </p14:nvContentPartPr>
            <p14:xfrm>
              <a:off x="4273550" y="2990850"/>
              <a:ext cx="38100" cy="152400"/>
            </p14:xfrm>
          </p:contentPart>
        </mc:Choice>
        <mc:Fallback xmlns="">
          <p:pic>
            <p:nvPicPr>
              <p:cNvPr id="28" name="墨迹 27"/>
            </p:nvPicPr>
            <p:blipFill>
              <a:blip r:embed="rId52"/>
            </p:blipFill>
            <p:spPr>
              <a:xfrm>
                <a:off x="4273550" y="2990850"/>
                <a:ext cx="38100" cy="152400"/>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29" name="墨迹 28"/>
              <p14:cNvContentPartPr/>
              <p14:nvPr/>
            </p14:nvContentPartPr>
            <p14:xfrm>
              <a:off x="4273550" y="3136900"/>
              <a:ext cx="6350" cy="190500"/>
            </p14:xfrm>
          </p:contentPart>
        </mc:Choice>
        <mc:Fallback xmlns="">
          <p:pic>
            <p:nvPicPr>
              <p:cNvPr id="29" name="墨迹 28"/>
            </p:nvPicPr>
            <p:blipFill>
              <a:blip r:embed="rId54"/>
            </p:blipFill>
            <p:spPr>
              <a:xfrm>
                <a:off x="4273550" y="3136900"/>
                <a:ext cx="6350" cy="190500"/>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30" name="墨迹 29"/>
              <p14:cNvContentPartPr/>
              <p14:nvPr/>
            </p14:nvContentPartPr>
            <p14:xfrm>
              <a:off x="4286250" y="3136900"/>
              <a:ext cx="38100" cy="165100"/>
            </p14:xfrm>
          </p:contentPart>
        </mc:Choice>
        <mc:Fallback xmlns="">
          <p:pic>
            <p:nvPicPr>
              <p:cNvPr id="30" name="墨迹 29"/>
            </p:nvPicPr>
            <p:blipFill>
              <a:blip r:embed="rId56"/>
            </p:blipFill>
            <p:spPr>
              <a:xfrm>
                <a:off x="4286250" y="3136900"/>
                <a:ext cx="38100" cy="165100"/>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31" name="墨迹 30"/>
              <p14:cNvContentPartPr/>
              <p14:nvPr/>
            </p14:nvContentPartPr>
            <p14:xfrm>
              <a:off x="4298950" y="3194050"/>
              <a:ext cx="25400" cy="12700"/>
            </p14:xfrm>
          </p:contentPart>
        </mc:Choice>
        <mc:Fallback xmlns="">
          <p:pic>
            <p:nvPicPr>
              <p:cNvPr id="31" name="墨迹 30"/>
            </p:nvPicPr>
            <p:blipFill>
              <a:blip r:embed="rId58"/>
            </p:blipFill>
            <p:spPr>
              <a:xfrm>
                <a:off x="4298950" y="3194050"/>
                <a:ext cx="25400" cy="12700"/>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32" name="墨迹 31"/>
              <p14:cNvContentPartPr/>
              <p14:nvPr/>
            </p14:nvContentPartPr>
            <p14:xfrm>
              <a:off x="4286250" y="3244850"/>
              <a:ext cx="50800" cy="6350"/>
            </p14:xfrm>
          </p:contentPart>
        </mc:Choice>
        <mc:Fallback xmlns="">
          <p:pic>
            <p:nvPicPr>
              <p:cNvPr id="32" name="墨迹 31"/>
            </p:nvPicPr>
            <p:blipFill>
              <a:blip r:embed="rId60"/>
            </p:blipFill>
            <p:spPr>
              <a:xfrm>
                <a:off x="4286250" y="3244850"/>
                <a:ext cx="50800" cy="6350"/>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33" name="墨迹 32"/>
              <p14:cNvContentPartPr/>
              <p14:nvPr/>
            </p14:nvContentPartPr>
            <p14:xfrm>
              <a:off x="4241800" y="3289300"/>
              <a:ext cx="177800" cy="12700"/>
            </p14:xfrm>
          </p:contentPart>
        </mc:Choice>
        <mc:Fallback xmlns="">
          <p:pic>
            <p:nvPicPr>
              <p:cNvPr id="33" name="墨迹 32"/>
            </p:nvPicPr>
            <p:blipFill>
              <a:blip r:embed="rId62"/>
            </p:blipFill>
            <p:spPr>
              <a:xfrm>
                <a:off x="4241800" y="3289300"/>
                <a:ext cx="177800" cy="12700"/>
              </a:xfrm>
              <a:prstGeom prst="rect"/>
            </p:spPr>
          </p:pic>
        </mc:Fallback>
      </mc:AlternateContent>
      <mc:AlternateContent xmlns:mc="http://schemas.openxmlformats.org/markup-compatibility/2006" xmlns:p14="http://schemas.microsoft.com/office/powerpoint/2010/main">
        <mc:Choice Requires="p14">
          <p:contentPart r:id="rId63" p14:bwMode="auto">
            <p14:nvContentPartPr>
              <p14:cNvPr id="34" name="墨迹 33"/>
              <p14:cNvContentPartPr/>
              <p14:nvPr/>
            </p14:nvContentPartPr>
            <p14:xfrm>
              <a:off x="3651250" y="2882900"/>
              <a:ext cx="628650" cy="19050"/>
            </p14:xfrm>
          </p:contentPart>
        </mc:Choice>
        <mc:Fallback xmlns="">
          <p:pic>
            <p:nvPicPr>
              <p:cNvPr id="34" name="墨迹 33"/>
            </p:nvPicPr>
            <p:blipFill>
              <a:blip r:embed="rId64"/>
            </p:blipFill>
            <p:spPr>
              <a:xfrm>
                <a:off x="3651250" y="2882900"/>
                <a:ext cx="628650" cy="19050"/>
              </a:xfrm>
              <a:prstGeom prst="rect"/>
            </p:spPr>
          </p:pic>
        </mc:Fallback>
      </mc:AlternateContent>
      <mc:AlternateContent xmlns:mc="http://schemas.openxmlformats.org/markup-compatibility/2006" xmlns:p14="http://schemas.microsoft.com/office/powerpoint/2010/main">
        <mc:Choice Requires="p14">
          <p:contentPart r:id="rId65" p14:bwMode="auto">
            <p14:nvContentPartPr>
              <p14:cNvPr id="35" name="墨迹 34"/>
              <p14:cNvContentPartPr/>
              <p14:nvPr/>
            </p14:nvContentPartPr>
            <p14:xfrm>
              <a:off x="3663950" y="2914650"/>
              <a:ext cx="635000" cy="12700"/>
            </p14:xfrm>
          </p:contentPart>
        </mc:Choice>
        <mc:Fallback xmlns="">
          <p:pic>
            <p:nvPicPr>
              <p:cNvPr id="35" name="墨迹 34"/>
            </p:nvPicPr>
            <p:blipFill>
              <a:blip r:embed="rId66"/>
            </p:blipFill>
            <p:spPr>
              <a:xfrm>
                <a:off x="3663950" y="2914650"/>
                <a:ext cx="635000" cy="12700"/>
              </a:xfrm>
              <a:prstGeom prst="rect"/>
            </p:spPr>
          </p:pic>
        </mc:Fallback>
      </mc:AlternateContent>
      <mc:AlternateContent xmlns:mc="http://schemas.openxmlformats.org/markup-compatibility/2006" xmlns:p14="http://schemas.microsoft.com/office/powerpoint/2010/main">
        <mc:Choice Requires="p14">
          <p:contentPart r:id="rId67" p14:bwMode="auto">
            <p14:nvContentPartPr>
              <p14:cNvPr id="36" name="墨迹 35"/>
              <p14:cNvContentPartPr/>
              <p14:nvPr/>
            </p14:nvContentPartPr>
            <p14:xfrm>
              <a:off x="3657600" y="2901950"/>
              <a:ext cx="514350" cy="50800"/>
            </p14:xfrm>
          </p:contentPart>
        </mc:Choice>
        <mc:Fallback xmlns="">
          <p:pic>
            <p:nvPicPr>
              <p:cNvPr id="36" name="墨迹 35"/>
            </p:nvPicPr>
            <p:blipFill>
              <a:blip r:embed="rId68"/>
            </p:blipFill>
            <p:spPr>
              <a:xfrm>
                <a:off x="3657600" y="2901950"/>
                <a:ext cx="514350" cy="50800"/>
              </a:xfrm>
              <a:prstGeom prst="rect"/>
            </p:spPr>
          </p:pic>
        </mc:Fallback>
      </mc:AlternateContent>
      <mc:AlternateContent xmlns:mc="http://schemas.openxmlformats.org/markup-compatibility/2006" xmlns:p14="http://schemas.microsoft.com/office/powerpoint/2010/main">
        <mc:Choice Requires="p14">
          <p:contentPart r:id="rId69" p14:bwMode="auto">
            <p14:nvContentPartPr>
              <p14:cNvPr id="37" name="墨迹 36"/>
              <p14:cNvContentPartPr/>
              <p14:nvPr/>
            </p14:nvContentPartPr>
            <p14:xfrm>
              <a:off x="939800" y="2343150"/>
              <a:ext cx="476250" cy="266700"/>
            </p14:xfrm>
          </p:contentPart>
        </mc:Choice>
        <mc:Fallback xmlns="">
          <p:pic>
            <p:nvPicPr>
              <p:cNvPr id="37" name="墨迹 36"/>
            </p:nvPicPr>
            <p:blipFill>
              <a:blip r:embed="rId70"/>
            </p:blipFill>
            <p:spPr>
              <a:xfrm>
                <a:off x="939800" y="2343150"/>
                <a:ext cx="476250" cy="266700"/>
              </a:xfrm>
              <a:prstGeom prst="rect"/>
            </p:spPr>
          </p:pic>
        </mc:Fallback>
      </mc:AlternateContent>
      <mc:AlternateContent xmlns:mc="http://schemas.openxmlformats.org/markup-compatibility/2006" xmlns:p14="http://schemas.microsoft.com/office/powerpoint/2010/main">
        <mc:Choice Requires="p14">
          <p:contentPart r:id="rId71" p14:bwMode="auto">
            <p14:nvContentPartPr>
              <p14:cNvPr id="38" name="墨迹 37"/>
              <p14:cNvContentPartPr/>
              <p14:nvPr/>
            </p14:nvContentPartPr>
            <p14:xfrm>
              <a:off x="958850" y="2711450"/>
              <a:ext cx="469900" cy="241300"/>
            </p14:xfrm>
          </p:contentPart>
        </mc:Choice>
        <mc:Fallback xmlns="">
          <p:pic>
            <p:nvPicPr>
              <p:cNvPr id="38" name="墨迹 37"/>
            </p:nvPicPr>
            <p:blipFill>
              <a:blip r:embed="rId72"/>
            </p:blipFill>
            <p:spPr>
              <a:xfrm>
                <a:off x="958850" y="2711450"/>
                <a:ext cx="469900" cy="241300"/>
              </a:xfrm>
              <a:prstGeom prst="rect"/>
            </p:spPr>
          </p:pic>
        </mc:Fallback>
      </mc:AlternateContent>
      <mc:AlternateContent xmlns:mc="http://schemas.openxmlformats.org/markup-compatibility/2006" xmlns:p14="http://schemas.microsoft.com/office/powerpoint/2010/main">
        <mc:Choice Requires="p14">
          <p:contentPart r:id="rId73" p14:bwMode="auto">
            <p14:nvContentPartPr>
              <p14:cNvPr id="39" name="墨迹 38"/>
              <p14:cNvContentPartPr/>
              <p14:nvPr/>
            </p14:nvContentPartPr>
            <p14:xfrm>
              <a:off x="933450" y="3663950"/>
              <a:ext cx="1689100" cy="247650"/>
            </p14:xfrm>
          </p:contentPart>
        </mc:Choice>
        <mc:Fallback xmlns="">
          <p:pic>
            <p:nvPicPr>
              <p:cNvPr id="39" name="墨迹 38"/>
            </p:nvPicPr>
            <p:blipFill>
              <a:blip r:embed="rId74"/>
            </p:blipFill>
            <p:spPr>
              <a:xfrm>
                <a:off x="933450" y="3663950"/>
                <a:ext cx="1689100" cy="247650"/>
              </a:xfrm>
              <a:prstGeom prst="rect"/>
            </p:spPr>
          </p:pic>
        </mc:Fallback>
      </mc:AlternateContent>
      <mc:AlternateContent xmlns:mc="http://schemas.openxmlformats.org/markup-compatibility/2006" xmlns:p14="http://schemas.microsoft.com/office/powerpoint/2010/main">
        <mc:Choice Requires="p14">
          <p:contentPart r:id="rId75" p14:bwMode="auto">
            <p14:nvContentPartPr>
              <p14:cNvPr id="40" name="墨迹 39"/>
              <p14:cNvContentPartPr/>
              <p14:nvPr/>
            </p14:nvContentPartPr>
            <p14:xfrm>
              <a:off x="6394450" y="3784600"/>
              <a:ext cx="6350" cy="19050"/>
            </p14:xfrm>
          </p:contentPart>
        </mc:Choice>
        <mc:Fallback xmlns="">
          <p:pic>
            <p:nvPicPr>
              <p:cNvPr id="40" name="墨迹 39"/>
            </p:nvPicPr>
            <p:blipFill>
              <a:blip r:embed="rId76"/>
            </p:blipFill>
            <p:spPr>
              <a:xfrm>
                <a:off x="6394450" y="3784600"/>
                <a:ext cx="6350" cy="19050"/>
              </a:xfrm>
              <a:prstGeom prst="rect"/>
            </p:spPr>
          </p:pic>
        </mc:Fallback>
      </mc:AlternateContent>
      <mc:AlternateContent xmlns:mc="http://schemas.openxmlformats.org/markup-compatibility/2006" xmlns:p14="http://schemas.microsoft.com/office/powerpoint/2010/main">
        <mc:Choice Requires="p14">
          <p:contentPart r:id="rId77" p14:bwMode="auto">
            <p14:nvContentPartPr>
              <p14:cNvPr id="41" name="墨迹 40"/>
              <p14:cNvContentPartPr/>
              <p14:nvPr/>
            </p14:nvContentPartPr>
            <p14:xfrm>
              <a:off x="2012950" y="4184650"/>
              <a:ext cx="3543300" cy="38100"/>
            </p14:xfrm>
          </p:contentPart>
        </mc:Choice>
        <mc:Fallback xmlns="">
          <p:pic>
            <p:nvPicPr>
              <p:cNvPr id="41" name="墨迹 40"/>
            </p:nvPicPr>
            <p:blipFill>
              <a:blip r:embed="rId78"/>
            </p:blipFill>
            <p:spPr>
              <a:xfrm>
                <a:off x="2012950" y="4184650"/>
                <a:ext cx="3543300" cy="38100"/>
              </a:xfrm>
              <a:prstGeom prst="rect"/>
            </p:spPr>
          </p:pic>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1331595" y="332740"/>
            <a:ext cx="5502275" cy="848360"/>
          </a:xfrm>
          <a:prstGeom prst="rect">
            <a:avLst/>
          </a:prstGeom>
        </p:spPr>
      </p:pic>
      <p:pic>
        <p:nvPicPr>
          <p:cNvPr id="3" name="图片 2"/>
          <p:cNvPicPr>
            <a:picLocks noChangeAspect="1"/>
          </p:cNvPicPr>
          <p:nvPr/>
        </p:nvPicPr>
        <p:blipFill>
          <a:blip r:embed="rId2"/>
          <a:stretch>
            <a:fillRect/>
          </a:stretch>
        </p:blipFill>
        <p:spPr>
          <a:xfrm>
            <a:off x="251460" y="1124585"/>
            <a:ext cx="8531860" cy="4085590"/>
          </a:xfrm>
          <a:prstGeom prst="rect">
            <a:avLst/>
          </a:prstGeom>
        </p:spPr>
      </p:pic>
      <mc:AlternateContent xmlns:mc="http://schemas.openxmlformats.org/markup-compatibility/2006" xmlns:p14="http://schemas.microsoft.com/office/powerpoint/2010/main">
        <mc:Choice Requires="p14">
          <p:contentPart r:id="rId3" p14:bwMode="auto">
            <p14:nvContentPartPr>
              <p14:cNvPr id="2" name="墨迹 1"/>
              <p14:cNvContentPartPr/>
              <p14:nvPr/>
            </p14:nvContentPartPr>
            <p14:xfrm>
              <a:off x="914400" y="3854450"/>
              <a:ext cx="5143500" cy="368300"/>
            </p14:xfrm>
          </p:contentPart>
        </mc:Choice>
        <mc:Fallback xmlns="">
          <p:pic>
            <p:nvPicPr>
              <p:cNvPr id="2" name="墨迹 1"/>
            </p:nvPicPr>
            <p:blipFill>
              <a:blip r:embed="rId4"/>
            </p:blipFill>
            <p:spPr>
              <a:xfrm>
                <a:off x="914400" y="3854450"/>
                <a:ext cx="5143500" cy="3683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5" name="墨迹 4"/>
              <p14:cNvContentPartPr/>
              <p14:nvPr/>
            </p14:nvContentPartPr>
            <p14:xfrm>
              <a:off x="920750" y="4178300"/>
              <a:ext cx="5111750" cy="31750"/>
            </p14:xfrm>
          </p:contentPart>
        </mc:Choice>
        <mc:Fallback xmlns="">
          <p:pic>
            <p:nvPicPr>
              <p:cNvPr id="5" name="墨迹 4"/>
            </p:nvPicPr>
            <p:blipFill>
              <a:blip r:embed="rId6"/>
            </p:blipFill>
            <p:spPr>
              <a:xfrm>
                <a:off x="920750" y="4178300"/>
                <a:ext cx="5111750" cy="31750"/>
              </a:xfrm>
              <a:prstGeom prst="rect"/>
            </p:spPr>
          </p:pic>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1331595" y="332740"/>
            <a:ext cx="5502275" cy="848360"/>
          </a:xfrm>
          <a:prstGeom prst="rect">
            <a:avLst/>
          </a:prstGeom>
        </p:spPr>
      </p:pic>
      <p:pic>
        <p:nvPicPr>
          <p:cNvPr id="2" name="图片 1"/>
          <p:cNvPicPr>
            <a:picLocks noChangeAspect="1"/>
          </p:cNvPicPr>
          <p:nvPr/>
        </p:nvPicPr>
        <p:blipFill>
          <a:blip r:embed="rId2"/>
          <a:stretch>
            <a:fillRect/>
          </a:stretch>
        </p:blipFill>
        <p:spPr>
          <a:xfrm>
            <a:off x="323215" y="1268730"/>
            <a:ext cx="8613775" cy="367284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标题 32769"/>
          <p:cNvSpPr>
            <a:spLocks noGrp="1"/>
          </p:cNvSpPr>
          <p:nvPr>
            <p:ph type="title"/>
          </p:nvPr>
        </p:nvSpPr>
        <p:spPr/>
        <p:txBody>
          <a:bodyPr anchor="ctr" anchorCtr="0"/>
          <a:p>
            <a:r>
              <a:rPr lang="zh-CN" altLang="en-US" sz="3600" dirty="0"/>
              <a:t>二进制数的补码：</a:t>
            </a:r>
            <a:endParaRPr lang="zh-CN" altLang="en-US" sz="3600" dirty="0"/>
          </a:p>
        </p:txBody>
      </p:sp>
      <p:sp>
        <p:nvSpPr>
          <p:cNvPr id="32771" name="矩形 32770"/>
          <p:cNvSpPr/>
          <p:nvPr/>
        </p:nvSpPr>
        <p:spPr>
          <a:xfrm>
            <a:off x="395288" y="1844675"/>
            <a:ext cx="8569325" cy="4392613"/>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har char="•"/>
              <a:defRPr sz="32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宋体" panose="02010600030101010101" pitchFamily="2" charset="-122"/>
              </a:defRPr>
            </a:lvl5pPr>
          </a:lstStyle>
          <a:p>
            <a:pPr lvl="0">
              <a:lnSpc>
                <a:spcPct val="90000"/>
              </a:lnSpc>
            </a:pPr>
            <a:r>
              <a:rPr lang="zh-CN" altLang="en-US" sz="2800" b="0" dirty="0"/>
              <a:t>最高位为符号位（</a:t>
            </a:r>
            <a:r>
              <a:rPr lang="en-US" altLang="zh-CN" sz="2800" b="0">
                <a:latin typeface="黑体" panose="02010609060101010101" pitchFamily="2" charset="-122"/>
                <a:ea typeface="黑体" panose="02010609060101010101" pitchFamily="2" charset="-122"/>
              </a:rPr>
              <a:t>0</a:t>
            </a:r>
            <a:r>
              <a:rPr lang="zh-CN" altLang="en-US" sz="2800" b="0" dirty="0"/>
              <a:t>为正，</a:t>
            </a:r>
            <a:r>
              <a:rPr lang="en-US" altLang="zh-CN" sz="2800" b="0">
                <a:latin typeface="黑体" panose="02010609060101010101" pitchFamily="2" charset="-122"/>
                <a:ea typeface="黑体" panose="02010609060101010101" pitchFamily="2" charset="-122"/>
              </a:rPr>
              <a:t>1</a:t>
            </a:r>
            <a:r>
              <a:rPr lang="zh-CN" altLang="en-US" sz="2800" b="0" dirty="0"/>
              <a:t>为负）</a:t>
            </a:r>
            <a:endParaRPr lang="zh-CN" altLang="en-US" sz="2800" b="0" dirty="0"/>
          </a:p>
          <a:p>
            <a:pPr lvl="0">
              <a:lnSpc>
                <a:spcPct val="90000"/>
              </a:lnSpc>
            </a:pPr>
            <a:r>
              <a:rPr lang="zh-CN" altLang="en-US" sz="2800" dirty="0">
                <a:solidFill>
                  <a:srgbClr val="0000FF"/>
                </a:solidFill>
              </a:rPr>
              <a:t>正数的补码和它的原码相同</a:t>
            </a:r>
            <a:endParaRPr lang="zh-CN" altLang="en-US" sz="2800" b="0" dirty="0"/>
          </a:p>
          <a:p>
            <a:pPr lvl="0">
              <a:lnSpc>
                <a:spcPct val="90000"/>
              </a:lnSpc>
            </a:pPr>
            <a:r>
              <a:rPr lang="zh-CN" altLang="en-US" sz="2800" dirty="0">
                <a:solidFill>
                  <a:srgbClr val="FF0000"/>
                </a:solidFill>
              </a:rPr>
              <a:t>负数的补码 </a:t>
            </a:r>
            <a:r>
              <a:rPr lang="en-US" altLang="zh-CN" sz="2800">
                <a:solidFill>
                  <a:srgbClr val="FF0000"/>
                </a:solidFill>
              </a:rPr>
              <a:t>= </a:t>
            </a:r>
            <a:r>
              <a:rPr lang="zh-CN" altLang="en-US" sz="2800" dirty="0">
                <a:solidFill>
                  <a:srgbClr val="FF0000"/>
                </a:solidFill>
              </a:rPr>
              <a:t>数值位逐位求反</a:t>
            </a:r>
            <a:r>
              <a:rPr lang="en-US" altLang="zh-CN" sz="2800">
                <a:solidFill>
                  <a:srgbClr val="FF0000"/>
                </a:solidFill>
              </a:rPr>
              <a:t>(</a:t>
            </a:r>
            <a:r>
              <a:rPr lang="zh-CN" altLang="en-US" sz="2800" dirty="0">
                <a:solidFill>
                  <a:srgbClr val="FF0000"/>
                </a:solidFill>
              </a:rPr>
              <a:t>反码</a:t>
            </a:r>
            <a:r>
              <a:rPr lang="en-US" altLang="zh-CN" sz="2800">
                <a:solidFill>
                  <a:srgbClr val="FF0000"/>
                </a:solidFill>
              </a:rPr>
              <a:t>) + </a:t>
            </a:r>
            <a:r>
              <a:rPr lang="en-US" altLang="zh-CN" sz="2800">
                <a:solidFill>
                  <a:srgbClr val="FF0000"/>
                </a:solidFill>
                <a:latin typeface="黑体" panose="02010609060101010101" pitchFamily="2" charset="-122"/>
                <a:ea typeface="黑体" panose="02010609060101010101" pitchFamily="2" charset="-122"/>
              </a:rPr>
              <a:t>1</a:t>
            </a:r>
            <a:endParaRPr lang="en-US" altLang="zh-CN" sz="2800" b="0">
              <a:solidFill>
                <a:srgbClr val="FF0000"/>
              </a:solidFill>
              <a:latin typeface="黑体" panose="02010609060101010101" pitchFamily="2" charset="-122"/>
              <a:ea typeface="黑体" panose="02010609060101010101" pitchFamily="2" charset="-122"/>
            </a:endParaRPr>
          </a:p>
          <a:p>
            <a:pPr lvl="0">
              <a:lnSpc>
                <a:spcPct val="90000"/>
              </a:lnSpc>
              <a:buNone/>
            </a:pPr>
            <a:r>
              <a:rPr lang="en-US" altLang="zh-CN" b="0"/>
              <a:t>	</a:t>
            </a:r>
            <a:r>
              <a:rPr lang="zh-CN" altLang="en-US" b="0" dirty="0"/>
              <a:t>如    </a:t>
            </a:r>
            <a:r>
              <a:rPr lang="en-US" altLang="zh-CN" b="0"/>
              <a:t>+5 = </a:t>
            </a:r>
            <a:r>
              <a:rPr lang="zh-CN" altLang="en-US" b="0" dirty="0"/>
              <a:t>（</a:t>
            </a:r>
            <a:r>
              <a:rPr lang="en-US" altLang="zh-CN" b="0">
                <a:latin typeface="黑体" panose="02010609060101010101" pitchFamily="2" charset="-122"/>
                <a:ea typeface="黑体" panose="02010609060101010101" pitchFamily="2" charset="-122"/>
              </a:rPr>
              <a:t>0  0101</a:t>
            </a:r>
            <a:r>
              <a:rPr lang="zh-CN" altLang="en-US" b="0" dirty="0"/>
              <a:t>）</a:t>
            </a:r>
            <a:endParaRPr lang="zh-CN" altLang="en-US" b="0" dirty="0"/>
          </a:p>
          <a:p>
            <a:pPr lvl="0">
              <a:lnSpc>
                <a:spcPct val="90000"/>
              </a:lnSpc>
              <a:buNone/>
            </a:pPr>
            <a:r>
              <a:rPr lang="zh-CN" altLang="en-US" b="0" dirty="0"/>
              <a:t>		   </a:t>
            </a:r>
            <a:r>
              <a:rPr lang="en-US" altLang="zh-CN" b="0">
                <a:latin typeface="Dotum" pitchFamily="34" charset="-127"/>
                <a:ea typeface="Dotum" pitchFamily="34" charset="-127"/>
              </a:rPr>
              <a:t>-</a:t>
            </a:r>
            <a:r>
              <a:rPr lang="en-US" altLang="zh-CN" b="0"/>
              <a:t>5 = </a:t>
            </a:r>
            <a:r>
              <a:rPr lang="zh-CN" altLang="en-US" b="0" dirty="0"/>
              <a:t>（</a:t>
            </a:r>
            <a:r>
              <a:rPr lang="en-US" altLang="zh-CN" b="0">
                <a:latin typeface="黑体" panose="02010609060101010101" pitchFamily="2" charset="-122"/>
                <a:ea typeface="黑体" panose="02010609060101010101" pitchFamily="2" charset="-122"/>
              </a:rPr>
              <a:t>1  1011</a:t>
            </a:r>
            <a:r>
              <a:rPr lang="zh-CN" altLang="en-US" b="0" dirty="0"/>
              <a:t>）</a:t>
            </a:r>
            <a:endParaRPr lang="zh-CN" altLang="en-US" b="0" dirty="0"/>
          </a:p>
          <a:p>
            <a:pPr lvl="0">
              <a:lnSpc>
                <a:spcPct val="90000"/>
              </a:lnSpc>
              <a:buNone/>
            </a:pPr>
            <a:endParaRPr lang="zh-CN" altLang="en-US" b="0" dirty="0"/>
          </a:p>
          <a:p>
            <a:pPr lvl="0">
              <a:lnSpc>
                <a:spcPct val="90000"/>
              </a:lnSpc>
            </a:pPr>
            <a:r>
              <a:rPr lang="zh-CN" altLang="en-US" sz="2800" b="0" dirty="0"/>
              <a:t>通过补码，将减一个数用加上该数的补码来实现</a:t>
            </a:r>
            <a:endParaRPr lang="zh-CN" altLang="en-US" sz="2800" b="0"/>
          </a:p>
          <a:p>
            <a:pPr lvl="0">
              <a:lnSpc>
                <a:spcPct val="90000"/>
              </a:lnSpc>
              <a:buNone/>
            </a:pPr>
            <a:endParaRPr lang="zh-CN" altLang="en-US" sz="280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2770"/>
                                        </p:tgtEl>
                                        <p:attrNameLst>
                                          <p:attrName>style.visibility</p:attrName>
                                        </p:attrNameLst>
                                      </p:cBhvr>
                                      <p:to>
                                        <p:strVal val="visible"/>
                                      </p:to>
                                    </p:set>
                                    <p:anim calcmode="lin" valueType="num">
                                      <p:cBhvr additive="base">
                                        <p:cTn id="7" dur="500" fill="hold"/>
                                        <p:tgtEl>
                                          <p:spTgt spid="32770"/>
                                        </p:tgtEl>
                                        <p:attrNameLst>
                                          <p:attrName>ppt_x</p:attrName>
                                        </p:attrNameLst>
                                      </p:cBhvr>
                                      <p:tavLst>
                                        <p:tav tm="0">
                                          <p:val>
                                            <p:strVal val="#ppt_x"/>
                                          </p:val>
                                        </p:tav>
                                        <p:tav tm="100000">
                                          <p:val>
                                            <p:strVal val="#ppt_x"/>
                                          </p:val>
                                        </p:tav>
                                      </p:tavLst>
                                    </p:anim>
                                    <p:anim calcmode="lin" valueType="num">
                                      <p:cBhvr additive="base">
                                        <p:cTn id="8" dur="500" fill="hold"/>
                                        <p:tgtEl>
                                          <p:spTgt spid="327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2771">
                                            <p:txEl>
                                              <p:charRg st="0" end="17"/>
                                            </p:txEl>
                                          </p:spTgt>
                                        </p:tgtEl>
                                        <p:attrNameLst>
                                          <p:attrName>style.visibility</p:attrName>
                                        </p:attrNameLst>
                                      </p:cBhvr>
                                      <p:to>
                                        <p:strVal val="visible"/>
                                      </p:to>
                                    </p:set>
                                    <p:anim calcmode="lin" valueType="num">
                                      <p:cBhvr additive="base">
                                        <p:cTn id="13" dur="500" fill="hold"/>
                                        <p:tgtEl>
                                          <p:spTgt spid="32771">
                                            <p:txEl>
                                              <p:charRg st="0" end="1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2771">
                                            <p:txEl>
                                              <p:charRg st="0" end="17"/>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2771">
                                            <p:txEl>
                                              <p:charRg st="17" end="30"/>
                                            </p:txEl>
                                          </p:spTgt>
                                        </p:tgtEl>
                                        <p:attrNameLst>
                                          <p:attrName>style.visibility</p:attrName>
                                        </p:attrNameLst>
                                      </p:cBhvr>
                                      <p:to>
                                        <p:strVal val="visible"/>
                                      </p:to>
                                    </p:set>
                                    <p:anim calcmode="lin" valueType="num">
                                      <p:cBhvr additive="base">
                                        <p:cTn id="19" dur="500" fill="hold"/>
                                        <p:tgtEl>
                                          <p:spTgt spid="32771">
                                            <p:txEl>
                                              <p:charRg st="17" end="3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2771">
                                            <p:txEl>
                                              <p:charRg st="17" end="3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2771">
                                            <p:txEl>
                                              <p:charRg st="30" end="54"/>
                                            </p:txEl>
                                          </p:spTgt>
                                        </p:tgtEl>
                                        <p:attrNameLst>
                                          <p:attrName>style.visibility</p:attrName>
                                        </p:attrNameLst>
                                      </p:cBhvr>
                                      <p:to>
                                        <p:strVal val="visible"/>
                                      </p:to>
                                    </p:set>
                                    <p:anim calcmode="lin" valueType="num">
                                      <p:cBhvr additive="base">
                                        <p:cTn id="25" dur="500" fill="hold"/>
                                        <p:tgtEl>
                                          <p:spTgt spid="32771">
                                            <p:txEl>
                                              <p:charRg st="30" end="5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2771">
                                            <p:txEl>
                                              <p:charRg st="30" end="5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2771">
                                            <p:txEl>
                                              <p:charRg st="54" end="75"/>
                                            </p:txEl>
                                          </p:spTgt>
                                        </p:tgtEl>
                                        <p:attrNameLst>
                                          <p:attrName>style.visibility</p:attrName>
                                        </p:attrNameLst>
                                      </p:cBhvr>
                                      <p:to>
                                        <p:strVal val="visible"/>
                                      </p:to>
                                    </p:set>
                                    <p:anim calcmode="lin" valueType="num">
                                      <p:cBhvr additive="base">
                                        <p:cTn id="31" dur="500" fill="hold"/>
                                        <p:tgtEl>
                                          <p:spTgt spid="32771">
                                            <p:txEl>
                                              <p:charRg st="54" end="7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2771">
                                            <p:txEl>
                                              <p:charRg st="54" end="7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2771">
                                            <p:txEl>
                                              <p:charRg st="75" end="95"/>
                                            </p:txEl>
                                          </p:spTgt>
                                        </p:tgtEl>
                                        <p:attrNameLst>
                                          <p:attrName>style.visibility</p:attrName>
                                        </p:attrNameLst>
                                      </p:cBhvr>
                                      <p:to>
                                        <p:strVal val="visible"/>
                                      </p:to>
                                    </p:set>
                                    <p:anim calcmode="lin" valueType="num">
                                      <p:cBhvr additive="base">
                                        <p:cTn id="35" dur="500" fill="hold"/>
                                        <p:tgtEl>
                                          <p:spTgt spid="32771">
                                            <p:txEl>
                                              <p:charRg st="75" end="9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2771">
                                            <p:txEl>
                                              <p:charRg st="75" end="9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2771">
                                            <p:txEl>
                                              <p:charRg st="96" end="118"/>
                                            </p:txEl>
                                          </p:spTgt>
                                        </p:tgtEl>
                                        <p:attrNameLst>
                                          <p:attrName>style.visibility</p:attrName>
                                        </p:attrNameLst>
                                      </p:cBhvr>
                                      <p:to>
                                        <p:strVal val="visible"/>
                                      </p:to>
                                    </p:set>
                                    <p:anim calcmode="lin" valueType="num">
                                      <p:cBhvr additive="base">
                                        <p:cTn id="41" dur="500" fill="hold"/>
                                        <p:tgtEl>
                                          <p:spTgt spid="32771">
                                            <p:txEl>
                                              <p:charRg st="96" end="11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2771">
                                            <p:txEl>
                                              <p:charRg st="96" end="11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矩形 33793"/>
          <p:cNvSpPr/>
          <p:nvPr/>
        </p:nvSpPr>
        <p:spPr>
          <a:xfrm>
            <a:off x="2484438" y="476250"/>
            <a:ext cx="6048375" cy="5761038"/>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har char="•"/>
              <a:defRPr sz="32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宋体" panose="02010600030101010101" pitchFamily="2" charset="-122"/>
              </a:defRPr>
            </a:lvl5pPr>
          </a:lstStyle>
          <a:p>
            <a:pPr lvl="0">
              <a:lnSpc>
                <a:spcPct val="90000"/>
              </a:lnSpc>
              <a:buNone/>
            </a:pPr>
            <a:endParaRPr lang="en-US" altLang="zh-CN" sz="2800" b="0" dirty="0"/>
          </a:p>
          <a:p>
            <a:pPr lvl="0">
              <a:lnSpc>
                <a:spcPct val="90000"/>
              </a:lnSpc>
              <a:buNone/>
            </a:pPr>
            <a:r>
              <a:rPr lang="en-US" altLang="zh-CN" sz="2800" b="0"/>
              <a:t>                10 – 5 = 5</a:t>
            </a:r>
            <a:endParaRPr lang="en-US" altLang="zh-CN" sz="2800" b="0"/>
          </a:p>
          <a:p>
            <a:pPr lvl="0">
              <a:lnSpc>
                <a:spcPct val="90000"/>
              </a:lnSpc>
            </a:pPr>
            <a:endParaRPr lang="en-US" altLang="zh-CN" sz="2800" b="0"/>
          </a:p>
          <a:p>
            <a:pPr lvl="0">
              <a:lnSpc>
                <a:spcPct val="90000"/>
              </a:lnSpc>
              <a:buNone/>
            </a:pPr>
            <a:r>
              <a:rPr lang="en-US" altLang="zh-CN" sz="2800" b="0"/>
              <a:t>                10 + 7 </a:t>
            </a:r>
            <a:r>
              <a:rPr lang="zh-CN" altLang="en-US" sz="2800" b="0" dirty="0"/>
              <a:t>－</a:t>
            </a:r>
            <a:r>
              <a:rPr lang="en-US" altLang="zh-CN" sz="2800" b="0"/>
              <a:t>12= 5 </a:t>
            </a:r>
            <a:r>
              <a:rPr lang="zh-CN" altLang="en-US" sz="2800" b="0" dirty="0"/>
              <a:t>（舍弃进位）</a:t>
            </a:r>
            <a:endParaRPr lang="zh-CN" altLang="en-US" sz="2800" b="0" dirty="0"/>
          </a:p>
          <a:p>
            <a:pPr lvl="0">
              <a:lnSpc>
                <a:spcPct val="90000"/>
              </a:lnSpc>
            </a:pPr>
            <a:endParaRPr lang="zh-CN" altLang="en-US" sz="2800" b="0"/>
          </a:p>
          <a:p>
            <a:pPr lvl="0">
              <a:lnSpc>
                <a:spcPct val="90000"/>
              </a:lnSpc>
            </a:pPr>
            <a:endParaRPr lang="zh-CN" altLang="en-US" sz="2800" b="0"/>
          </a:p>
          <a:p>
            <a:pPr lvl="0">
              <a:lnSpc>
                <a:spcPct val="90000"/>
              </a:lnSpc>
              <a:buNone/>
            </a:pPr>
            <a:r>
              <a:rPr lang="zh-CN" altLang="en-US" sz="2800" b="0"/>
              <a:t>                 </a:t>
            </a:r>
            <a:r>
              <a:rPr lang="en-US" altLang="zh-CN" sz="2800" b="0"/>
              <a:t>7+5=12     </a:t>
            </a:r>
            <a:r>
              <a:rPr lang="zh-CN" altLang="en-US" sz="2800" b="0" dirty="0"/>
              <a:t>产生进位的模</a:t>
            </a:r>
            <a:endParaRPr lang="zh-CN" altLang="en-US" sz="2800" b="0" dirty="0"/>
          </a:p>
          <a:p>
            <a:pPr lvl="0">
              <a:lnSpc>
                <a:spcPct val="90000"/>
              </a:lnSpc>
              <a:buNone/>
            </a:pPr>
            <a:r>
              <a:rPr lang="zh-CN" altLang="en-US" sz="2800" b="0"/>
              <a:t>                 </a:t>
            </a:r>
            <a:r>
              <a:rPr lang="en-US" altLang="zh-CN" sz="2800" b="0"/>
              <a:t>7</a:t>
            </a:r>
            <a:r>
              <a:rPr lang="zh-CN" altLang="en-US" sz="2800" b="0" dirty="0"/>
              <a:t>是</a:t>
            </a:r>
            <a:r>
              <a:rPr lang="en-US" altLang="zh-CN" sz="2800" b="0"/>
              <a:t>-5</a:t>
            </a:r>
            <a:r>
              <a:rPr lang="zh-CN" altLang="en-US" sz="2800" b="0" dirty="0"/>
              <a:t>对模数</a:t>
            </a:r>
            <a:r>
              <a:rPr lang="en-US" altLang="zh-CN" sz="2800" b="0"/>
              <a:t>12</a:t>
            </a:r>
            <a:r>
              <a:rPr lang="zh-CN" altLang="en-US" sz="2800" b="0" dirty="0"/>
              <a:t>的补码   </a:t>
            </a:r>
            <a:endParaRPr lang="zh-CN" altLang="en-US" sz="2800" b="0" dirty="0"/>
          </a:p>
        </p:txBody>
      </p:sp>
      <p:pic>
        <p:nvPicPr>
          <p:cNvPr id="33795" name="内容占位符 33794" descr="1-4-1"/>
          <p:cNvPicPr>
            <a:picLocks noChangeAspect="1"/>
          </p:cNvPicPr>
          <p:nvPr>
            <p:ph/>
          </p:nvPr>
        </p:nvPicPr>
        <p:blipFill>
          <a:blip r:embed="rId1"/>
          <a:stretch>
            <a:fillRect/>
          </a:stretch>
        </p:blipFill>
        <p:spPr>
          <a:xfrm>
            <a:off x="250825" y="1844675"/>
            <a:ext cx="3756025" cy="2895600"/>
          </a:xfr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文本占位符 34817"/>
          <p:cNvSpPr>
            <a:spLocks noGrp="1"/>
          </p:cNvSpPr>
          <p:nvPr>
            <p:ph type="body" sz="half" idx="1"/>
          </p:nvPr>
        </p:nvSpPr>
        <p:spPr>
          <a:xfrm>
            <a:off x="323850" y="549275"/>
            <a:ext cx="6119813" cy="4968875"/>
          </a:xfrm>
        </p:spPr>
        <p:txBody>
          <a:bodyPr/>
          <a:p>
            <a:pPr>
              <a:buClrTx/>
              <a:buSzTx/>
              <a:buFontTx/>
            </a:pPr>
            <a:r>
              <a:rPr lang="en-US" altLang="zh-CN" sz="2800">
                <a:latin typeface="黑体" panose="02010609060101010101" pitchFamily="2" charset="-122"/>
                <a:ea typeface="黑体" panose="02010609060101010101" pitchFamily="2" charset="-122"/>
              </a:rPr>
              <a:t>1011 – 0111 = 0100</a:t>
            </a:r>
            <a:endParaRPr lang="en-US" altLang="zh-CN" sz="2800">
              <a:latin typeface="黑体" panose="02010609060101010101" pitchFamily="2" charset="-122"/>
              <a:ea typeface="黑体" panose="02010609060101010101" pitchFamily="2" charset="-122"/>
            </a:endParaRPr>
          </a:p>
          <a:p>
            <a:pPr>
              <a:buClrTx/>
              <a:buSzTx/>
              <a:buFontTx/>
              <a:buNone/>
            </a:pPr>
            <a:r>
              <a:rPr lang="en-US" altLang="zh-CN" sz="2800"/>
              <a:t>    </a:t>
            </a:r>
            <a:r>
              <a:rPr lang="zh-CN" altLang="en-US" sz="2800" dirty="0"/>
              <a:t>（</a:t>
            </a:r>
            <a:r>
              <a:rPr lang="en-US" altLang="zh-CN" sz="2800"/>
              <a:t>11 - 7 = 4</a:t>
            </a:r>
            <a:r>
              <a:rPr lang="zh-CN" altLang="en-US" sz="2800" dirty="0"/>
              <a:t>）</a:t>
            </a:r>
            <a:endParaRPr lang="zh-CN" altLang="en-US" sz="2800" dirty="0"/>
          </a:p>
          <a:p>
            <a:pPr>
              <a:buClrTx/>
              <a:buSzTx/>
              <a:buFontTx/>
            </a:pPr>
            <a:endParaRPr lang="zh-CN" altLang="en-US" sz="2800" dirty="0"/>
          </a:p>
          <a:p>
            <a:pPr>
              <a:buClrTx/>
              <a:buSzTx/>
              <a:buFontTx/>
            </a:pPr>
            <a:r>
              <a:rPr lang="en-US" altLang="zh-CN" sz="2800">
                <a:latin typeface="黑体" panose="02010609060101010101" pitchFamily="2" charset="-122"/>
                <a:ea typeface="黑体" panose="02010609060101010101" pitchFamily="2" charset="-122"/>
              </a:rPr>
              <a:t>1011 + 1001 = </a:t>
            </a:r>
            <a:r>
              <a:rPr lang="en-US" altLang="zh-CN" sz="2800">
                <a:solidFill>
                  <a:srgbClr val="FF0000"/>
                </a:solidFill>
                <a:latin typeface="黑体" panose="02010609060101010101" pitchFamily="2" charset="-122"/>
                <a:ea typeface="黑体" panose="02010609060101010101" pitchFamily="2" charset="-122"/>
              </a:rPr>
              <a:t>1</a:t>
            </a:r>
            <a:r>
              <a:rPr lang="en-US" altLang="zh-CN" sz="2800">
                <a:latin typeface="黑体" panose="02010609060101010101" pitchFamily="2" charset="-122"/>
                <a:ea typeface="黑体" panose="02010609060101010101" pitchFamily="2" charset="-122"/>
              </a:rPr>
              <a:t>0100</a:t>
            </a:r>
            <a:r>
              <a:rPr lang="en-US" altLang="zh-CN" sz="2800"/>
              <a:t> </a:t>
            </a:r>
            <a:endParaRPr lang="en-US" altLang="zh-CN" sz="2800"/>
          </a:p>
          <a:p>
            <a:pPr>
              <a:buClrTx/>
              <a:buSzTx/>
              <a:buFontTx/>
              <a:buNone/>
            </a:pPr>
            <a:r>
              <a:rPr lang="en-US" altLang="zh-CN" sz="2800"/>
              <a:t>		=0100</a:t>
            </a:r>
            <a:r>
              <a:rPr lang="zh-CN" altLang="en-US" sz="2800" dirty="0"/>
              <a:t>（舍弃进位）</a:t>
            </a:r>
            <a:endParaRPr lang="zh-CN" altLang="en-US" sz="2800" dirty="0"/>
          </a:p>
          <a:p>
            <a:pPr>
              <a:buClrTx/>
              <a:buSzTx/>
              <a:buFontTx/>
              <a:buNone/>
            </a:pPr>
            <a:r>
              <a:rPr lang="zh-CN" altLang="en-US" sz="2800"/>
              <a:t>   </a:t>
            </a:r>
            <a:r>
              <a:rPr lang="zh-CN" altLang="en-US" sz="2800" dirty="0"/>
              <a:t>（</a:t>
            </a:r>
            <a:r>
              <a:rPr lang="en-US" altLang="zh-CN" sz="2800"/>
              <a:t>11 + 9</a:t>
            </a:r>
            <a:r>
              <a:rPr lang="zh-CN" altLang="en-US" sz="2800" dirty="0"/>
              <a:t>－</a:t>
            </a:r>
            <a:r>
              <a:rPr lang="en-US" altLang="zh-CN" sz="2800"/>
              <a:t>16 = 4</a:t>
            </a:r>
            <a:r>
              <a:rPr lang="zh-CN" altLang="en-US" sz="2800" dirty="0"/>
              <a:t>）</a:t>
            </a:r>
            <a:endParaRPr lang="zh-CN" altLang="en-US" sz="2800" dirty="0"/>
          </a:p>
          <a:p>
            <a:pPr>
              <a:buClrTx/>
              <a:buSzTx/>
              <a:buFontTx/>
            </a:pPr>
            <a:endParaRPr lang="zh-CN" altLang="en-US" sz="2800"/>
          </a:p>
          <a:p>
            <a:pPr>
              <a:buClrTx/>
              <a:buSzTx/>
              <a:buFontTx/>
            </a:pPr>
            <a:r>
              <a:rPr lang="en-US" altLang="zh-CN" sz="2800">
                <a:latin typeface="黑体" panose="02010609060101010101" pitchFamily="2" charset="-122"/>
                <a:ea typeface="黑体" panose="02010609060101010101" pitchFamily="2" charset="-122"/>
              </a:rPr>
              <a:t>0111 + 1001</a:t>
            </a:r>
            <a:r>
              <a:rPr lang="en-US" altLang="zh-CN" sz="2800"/>
              <a:t> =2</a:t>
            </a:r>
            <a:r>
              <a:rPr lang="en-US" altLang="zh-CN" sz="2800" baseline="30000"/>
              <a:t>4</a:t>
            </a:r>
            <a:endParaRPr lang="en-US" altLang="zh-CN" sz="2800" baseline="30000"/>
          </a:p>
          <a:p>
            <a:pPr>
              <a:buClrTx/>
              <a:buSzTx/>
              <a:buFontTx/>
            </a:pPr>
            <a:r>
              <a:rPr lang="en-US" altLang="zh-CN" sz="2800">
                <a:latin typeface="黑体" panose="02010609060101010101" pitchFamily="2" charset="-122"/>
                <a:ea typeface="黑体" panose="02010609060101010101" pitchFamily="2" charset="-122"/>
              </a:rPr>
              <a:t>0111</a:t>
            </a:r>
            <a:r>
              <a:rPr lang="zh-CN" altLang="en-US" sz="2800" dirty="0"/>
              <a:t>是</a:t>
            </a:r>
            <a:r>
              <a:rPr lang="en-US" altLang="zh-CN" sz="2800"/>
              <a:t>- </a:t>
            </a:r>
            <a:r>
              <a:rPr lang="en-US" altLang="zh-CN" sz="2800">
                <a:latin typeface="黑体" panose="02010609060101010101" pitchFamily="2" charset="-122"/>
                <a:ea typeface="黑体" panose="02010609060101010101" pitchFamily="2" charset="-122"/>
              </a:rPr>
              <a:t>1001</a:t>
            </a:r>
            <a:r>
              <a:rPr lang="zh-CN" altLang="en-US" sz="2800" dirty="0"/>
              <a:t>对</a:t>
            </a:r>
            <a:r>
              <a:rPr lang="zh-CN" altLang="en-US" sz="2800" dirty="0">
                <a:solidFill>
                  <a:srgbClr val="FF0000"/>
                </a:solidFill>
              </a:rPr>
              <a:t>模</a:t>
            </a:r>
            <a:r>
              <a:rPr lang="en-US" altLang="zh-CN" sz="2800"/>
              <a:t>2</a:t>
            </a:r>
            <a:r>
              <a:rPr lang="en-US" altLang="zh-CN" sz="2800" baseline="30000"/>
              <a:t>4 </a:t>
            </a:r>
            <a:r>
              <a:rPr lang="zh-CN" altLang="en-US" sz="2800" dirty="0"/>
              <a:t>（</a:t>
            </a:r>
            <a:r>
              <a:rPr lang="en-US" altLang="zh-CN" sz="2800"/>
              <a:t>16</a:t>
            </a:r>
            <a:r>
              <a:rPr lang="zh-CN" altLang="en-US" sz="2800" dirty="0"/>
              <a:t>）</a:t>
            </a:r>
            <a:r>
              <a:rPr lang="zh-CN" altLang="en-US" sz="2800" baseline="30000" dirty="0"/>
              <a:t> </a:t>
            </a:r>
            <a:r>
              <a:rPr lang="zh-CN" altLang="en-US" sz="2800" dirty="0"/>
              <a:t>的补码</a:t>
            </a:r>
            <a:endParaRPr lang="zh-CN" altLang="en-US" sz="2800" dirty="0"/>
          </a:p>
        </p:txBody>
      </p:sp>
      <p:pic>
        <p:nvPicPr>
          <p:cNvPr id="34819" name="内容占位符 34818" descr="1-4-2"/>
          <p:cNvPicPr>
            <a:picLocks noChangeAspect="1"/>
          </p:cNvPicPr>
          <p:nvPr>
            <p:ph sz="half" idx="2"/>
          </p:nvPr>
        </p:nvPicPr>
        <p:blipFill>
          <a:blip r:embed="rId1"/>
          <a:stretch>
            <a:fillRect/>
          </a:stretch>
        </p:blipFill>
        <p:spPr>
          <a:xfrm>
            <a:off x="4211638" y="981075"/>
            <a:ext cx="4932362" cy="3100388"/>
          </a:xfr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标题 35841"/>
          <p:cNvSpPr>
            <a:spLocks noGrp="1"/>
          </p:cNvSpPr>
          <p:nvPr>
            <p:ph type="title"/>
          </p:nvPr>
        </p:nvSpPr>
        <p:spPr/>
        <p:txBody>
          <a:bodyPr anchor="ctr" anchorCtr="0"/>
          <a:p>
            <a:r>
              <a:rPr lang="en-US" altLang="zh-CN" sz="3200" dirty="0"/>
              <a:t>          </a:t>
            </a:r>
            <a:r>
              <a:rPr lang="zh-CN" altLang="en-US" sz="3200" dirty="0"/>
              <a:t>两个补码表示的二进制数相加时的符号位讨论</a:t>
            </a:r>
            <a:endParaRPr lang="zh-CN" altLang="en-US" sz="3200" dirty="0"/>
          </a:p>
        </p:txBody>
      </p:sp>
      <p:sp>
        <p:nvSpPr>
          <p:cNvPr id="35843" name="文本框 35842"/>
          <p:cNvSpPr txBox="1"/>
          <p:nvPr/>
        </p:nvSpPr>
        <p:spPr>
          <a:xfrm>
            <a:off x="250825" y="1196975"/>
            <a:ext cx="7632700" cy="1004888"/>
          </a:xfrm>
          <a:prstGeom prst="rect">
            <a:avLst/>
          </a:prstGeom>
          <a:noFill/>
          <a:ln w="9525">
            <a:noFill/>
          </a:ln>
        </p:spPr>
        <p:txBody>
          <a:bodyPr>
            <a:spAutoFit/>
          </a:bodyPr>
          <a:p>
            <a:pPr>
              <a:spcBef>
                <a:spcPct val="50000"/>
              </a:spcBef>
            </a:pPr>
            <a:r>
              <a:rPr lang="zh-CN" altLang="en-US" sz="2400" b="0" dirty="0">
                <a:latin typeface="楷体_GB2312" pitchFamily="49" charset="-122"/>
                <a:ea typeface="楷体_GB2312" pitchFamily="49" charset="-122"/>
              </a:rPr>
              <a:t>例：用二进制补码运算求出</a:t>
            </a:r>
            <a:endParaRPr lang="zh-CN" altLang="en-US" sz="2400" b="0" dirty="0">
              <a:latin typeface="楷体_GB2312" pitchFamily="49" charset="-122"/>
              <a:ea typeface="楷体_GB2312" pitchFamily="49" charset="-122"/>
            </a:endParaRPr>
          </a:p>
          <a:p>
            <a:pPr>
              <a:spcBef>
                <a:spcPct val="50000"/>
              </a:spcBef>
            </a:pPr>
            <a:r>
              <a:rPr lang="en-US" altLang="zh-CN" sz="2400" b="0">
                <a:latin typeface="楷体_GB2312" pitchFamily="49" charset="-122"/>
                <a:ea typeface="楷体_GB2312" pitchFamily="49" charset="-122"/>
              </a:rPr>
              <a:t>13</a:t>
            </a:r>
            <a:r>
              <a:rPr lang="zh-CN" altLang="en-US" sz="2400" b="0" dirty="0">
                <a:latin typeface="楷体_GB2312" pitchFamily="49" charset="-122"/>
                <a:ea typeface="楷体_GB2312" pitchFamily="49" charset="-122"/>
              </a:rPr>
              <a:t>＋</a:t>
            </a:r>
            <a:r>
              <a:rPr lang="en-US" altLang="zh-CN" sz="2400" b="0">
                <a:latin typeface="楷体_GB2312" pitchFamily="49" charset="-122"/>
                <a:ea typeface="楷体_GB2312" pitchFamily="49" charset="-122"/>
              </a:rPr>
              <a:t>10</a:t>
            </a:r>
            <a:r>
              <a:rPr lang="en-US" altLang="zh-CN" sz="2400">
                <a:latin typeface="楷体_GB2312" pitchFamily="49" charset="-122"/>
                <a:ea typeface="楷体_GB2312" pitchFamily="49" charset="-122"/>
              </a:rPr>
              <a:t> </a:t>
            </a:r>
            <a:r>
              <a:rPr lang="zh-CN" altLang="en-US" sz="2400" b="0" dirty="0">
                <a:solidFill>
                  <a:srgbClr val="000000"/>
                </a:solidFill>
                <a:effectLst>
                  <a:outerShdw blurRad="38100" dist="38100" dir="2700000">
                    <a:srgbClr val="FFFFFF"/>
                  </a:outerShdw>
                </a:effectLst>
                <a:latin typeface="楷体_GB2312" pitchFamily="49" charset="-122"/>
                <a:ea typeface="楷体_GB2312" pitchFamily="49" charset="-122"/>
              </a:rPr>
              <a:t>、</a:t>
            </a:r>
            <a:r>
              <a:rPr lang="en-US" altLang="zh-CN" sz="2400" b="0">
                <a:solidFill>
                  <a:srgbClr val="000000"/>
                </a:solidFill>
                <a:effectLst>
                  <a:outerShdw blurRad="38100" dist="38100" dir="2700000">
                    <a:srgbClr val="FFFFFF"/>
                  </a:outerShdw>
                </a:effectLst>
                <a:latin typeface="楷体_GB2312" pitchFamily="49" charset="-122"/>
                <a:ea typeface="楷体_GB2312" pitchFamily="49" charset="-122"/>
              </a:rPr>
              <a:t>13</a:t>
            </a:r>
            <a:r>
              <a:rPr lang="zh-CN" altLang="en-US" sz="2400" b="0" dirty="0">
                <a:solidFill>
                  <a:srgbClr val="000000"/>
                </a:solidFill>
                <a:effectLst>
                  <a:outerShdw blurRad="38100" dist="38100" dir="2700000">
                    <a:srgbClr val="FFFFFF"/>
                  </a:outerShdw>
                </a:effectLst>
                <a:latin typeface="楷体_GB2312" pitchFamily="49" charset="-122"/>
                <a:ea typeface="楷体_GB2312" pitchFamily="49" charset="-122"/>
              </a:rPr>
              <a:t>－</a:t>
            </a:r>
            <a:r>
              <a:rPr lang="en-US" altLang="zh-CN" sz="2400" b="0">
                <a:solidFill>
                  <a:srgbClr val="000000"/>
                </a:solidFill>
                <a:effectLst>
                  <a:outerShdw blurRad="38100" dist="38100" dir="2700000">
                    <a:srgbClr val="FFFFFF"/>
                  </a:outerShdw>
                </a:effectLst>
                <a:latin typeface="楷体_GB2312" pitchFamily="49" charset="-122"/>
                <a:ea typeface="楷体_GB2312" pitchFamily="49" charset="-122"/>
              </a:rPr>
              <a:t>10 </a:t>
            </a:r>
            <a:r>
              <a:rPr lang="zh-CN" altLang="en-US" sz="2400" b="0" dirty="0">
                <a:solidFill>
                  <a:srgbClr val="000000"/>
                </a:solidFill>
                <a:effectLst>
                  <a:outerShdw blurRad="38100" dist="38100" dir="2700000">
                    <a:srgbClr val="FFFFFF"/>
                  </a:outerShdw>
                </a:effectLst>
                <a:latin typeface="楷体_GB2312" pitchFamily="49" charset="-122"/>
                <a:ea typeface="楷体_GB2312" pitchFamily="49" charset="-122"/>
              </a:rPr>
              <a:t>、－</a:t>
            </a:r>
            <a:r>
              <a:rPr lang="en-US" altLang="zh-CN" sz="2400" b="0">
                <a:solidFill>
                  <a:srgbClr val="000000"/>
                </a:solidFill>
                <a:effectLst>
                  <a:outerShdw blurRad="38100" dist="38100" dir="2700000">
                    <a:srgbClr val="FFFFFF"/>
                  </a:outerShdw>
                </a:effectLst>
                <a:latin typeface="楷体_GB2312" pitchFamily="49" charset="-122"/>
                <a:ea typeface="楷体_GB2312" pitchFamily="49" charset="-122"/>
              </a:rPr>
              <a:t>13</a:t>
            </a:r>
            <a:r>
              <a:rPr lang="zh-CN" altLang="en-US" sz="2400" b="0" dirty="0">
                <a:solidFill>
                  <a:srgbClr val="000000"/>
                </a:solidFill>
                <a:effectLst>
                  <a:outerShdw blurRad="38100" dist="38100" dir="2700000">
                    <a:srgbClr val="FFFFFF"/>
                  </a:outerShdw>
                </a:effectLst>
                <a:latin typeface="楷体_GB2312" pitchFamily="49" charset="-122"/>
                <a:ea typeface="楷体_GB2312" pitchFamily="49" charset="-122"/>
              </a:rPr>
              <a:t>＋</a:t>
            </a:r>
            <a:r>
              <a:rPr lang="en-US" altLang="zh-CN" sz="2400" b="0">
                <a:solidFill>
                  <a:srgbClr val="000000"/>
                </a:solidFill>
                <a:effectLst>
                  <a:outerShdw blurRad="38100" dist="38100" dir="2700000">
                    <a:srgbClr val="FFFFFF"/>
                  </a:outerShdw>
                </a:effectLst>
                <a:latin typeface="楷体_GB2312" pitchFamily="49" charset="-122"/>
                <a:ea typeface="楷体_GB2312" pitchFamily="49" charset="-122"/>
              </a:rPr>
              <a:t>10 </a:t>
            </a:r>
            <a:r>
              <a:rPr lang="zh-CN" altLang="en-US" sz="2400" b="0" dirty="0">
                <a:solidFill>
                  <a:srgbClr val="000000"/>
                </a:solidFill>
                <a:effectLst>
                  <a:outerShdw blurRad="38100" dist="38100" dir="2700000">
                    <a:srgbClr val="FFFFFF"/>
                  </a:outerShdw>
                </a:effectLst>
                <a:latin typeface="楷体_GB2312" pitchFamily="49" charset="-122"/>
                <a:ea typeface="楷体_GB2312" pitchFamily="49" charset="-122"/>
              </a:rPr>
              <a:t>、－</a:t>
            </a:r>
            <a:r>
              <a:rPr lang="en-US" altLang="zh-CN" sz="2400" b="0">
                <a:solidFill>
                  <a:srgbClr val="000000"/>
                </a:solidFill>
                <a:effectLst>
                  <a:outerShdw blurRad="38100" dist="38100" dir="2700000">
                    <a:srgbClr val="FFFFFF"/>
                  </a:outerShdw>
                </a:effectLst>
                <a:latin typeface="楷体_GB2312" pitchFamily="49" charset="-122"/>
                <a:ea typeface="楷体_GB2312" pitchFamily="49" charset="-122"/>
              </a:rPr>
              <a:t>13</a:t>
            </a:r>
            <a:r>
              <a:rPr lang="zh-CN" altLang="en-US" sz="2400" b="0" dirty="0">
                <a:solidFill>
                  <a:srgbClr val="000000"/>
                </a:solidFill>
                <a:effectLst>
                  <a:outerShdw blurRad="38100" dist="38100" dir="2700000">
                    <a:srgbClr val="FFFFFF"/>
                  </a:outerShdw>
                </a:effectLst>
                <a:latin typeface="楷体_GB2312" pitchFamily="49" charset="-122"/>
                <a:ea typeface="楷体_GB2312" pitchFamily="49" charset="-122"/>
              </a:rPr>
              <a:t>－</a:t>
            </a:r>
            <a:r>
              <a:rPr lang="en-US" altLang="zh-CN" sz="2400" b="0">
                <a:solidFill>
                  <a:srgbClr val="000000"/>
                </a:solidFill>
                <a:effectLst>
                  <a:outerShdw blurRad="38100" dist="38100" dir="2700000">
                    <a:srgbClr val="FFFFFF"/>
                  </a:outerShdw>
                </a:effectLst>
                <a:latin typeface="楷体_GB2312" pitchFamily="49" charset="-122"/>
                <a:ea typeface="楷体_GB2312" pitchFamily="49" charset="-122"/>
              </a:rPr>
              <a:t>10</a:t>
            </a:r>
            <a:endParaRPr lang="en-US" altLang="zh-CN" sz="2400" b="0">
              <a:solidFill>
                <a:srgbClr val="000000"/>
              </a:solidFill>
              <a:effectLst>
                <a:outerShdw blurRad="38100" dist="38100" dir="2700000">
                  <a:srgbClr val="FFFFFF"/>
                </a:outerShdw>
              </a:effectLst>
              <a:latin typeface="楷体_GB2312" pitchFamily="49" charset="-122"/>
              <a:ea typeface="楷体_GB2312" pitchFamily="49" charset="-122"/>
            </a:endParaRPr>
          </a:p>
        </p:txBody>
      </p:sp>
      <p:graphicFrame>
        <p:nvGraphicFramePr>
          <p:cNvPr id="35844" name="内容占位符 35843"/>
          <p:cNvGraphicFramePr/>
          <p:nvPr>
            <p:ph idx="1"/>
          </p:nvPr>
        </p:nvGraphicFramePr>
        <p:xfrm>
          <a:off x="1908175" y="2133600"/>
          <a:ext cx="4586288" cy="3492500"/>
        </p:xfrm>
        <a:graphic>
          <a:graphicData uri="http://schemas.openxmlformats.org/presentationml/2006/ole">
            <mc:AlternateContent xmlns:mc="http://schemas.openxmlformats.org/markup-compatibility/2006">
              <mc:Choice xmlns:v="urn:schemas-microsoft-com:vml" Requires="v">
                <p:oleObj spid="_x0000_s3079" name="" r:id="rId1" imgW="2501900" imgH="1778000" progId="Equation.3">
                  <p:embed/>
                </p:oleObj>
              </mc:Choice>
              <mc:Fallback>
                <p:oleObj name="" r:id="rId1" imgW="2501900" imgH="1778000" progId="Equation.3">
                  <p:embed/>
                  <p:pic>
                    <p:nvPicPr>
                      <p:cNvPr id="0" name="图片 3078"/>
                      <p:cNvPicPr/>
                      <p:nvPr/>
                    </p:nvPicPr>
                    <p:blipFill>
                      <a:blip r:embed="rId2"/>
                      <a:stretch>
                        <a:fillRect/>
                      </a:stretch>
                    </p:blipFill>
                    <p:spPr>
                      <a:xfrm>
                        <a:off x="1908175" y="2133600"/>
                        <a:ext cx="4586288" cy="3492500"/>
                      </a:xfrm>
                      <a:prstGeom prst="rect">
                        <a:avLst/>
                      </a:prstGeom>
                      <a:noFill/>
                      <a:ln w="38100">
                        <a:miter/>
                      </a:ln>
                    </p:spPr>
                  </p:pic>
                </p:oleObj>
              </mc:Fallback>
            </mc:AlternateContent>
          </a:graphicData>
        </a:graphic>
      </p:graphicFrame>
      <p:sp>
        <p:nvSpPr>
          <p:cNvPr id="35845" name="文本框 35844"/>
          <p:cNvSpPr txBox="1"/>
          <p:nvPr/>
        </p:nvSpPr>
        <p:spPr>
          <a:xfrm>
            <a:off x="539750" y="5661025"/>
            <a:ext cx="7056438" cy="953135"/>
          </a:xfrm>
          <a:prstGeom prst="rect">
            <a:avLst/>
          </a:prstGeom>
          <a:noFill/>
          <a:ln w="9525">
            <a:noFill/>
          </a:ln>
        </p:spPr>
        <p:txBody>
          <a:bodyPr>
            <a:spAutoFit/>
          </a:bodyPr>
          <a:p>
            <a:pPr algn="ctr">
              <a:spcBef>
                <a:spcPct val="50000"/>
              </a:spcBef>
            </a:pPr>
            <a:r>
              <a:rPr lang="zh-CN" altLang="en-US" dirty="0">
                <a:solidFill>
                  <a:srgbClr val="0000FF"/>
                </a:solidFill>
                <a:latin typeface="Arial" panose="020B0604020202020204" pitchFamily="34" charset="0"/>
                <a:ea typeface="楷体_GB2312" pitchFamily="49" charset="-122"/>
              </a:rPr>
              <a:t>结论</a:t>
            </a:r>
            <a:r>
              <a:rPr lang="zh-CN" altLang="en-US" b="0" dirty="0">
                <a:latin typeface="Arial" panose="020B0604020202020204" pitchFamily="34" charset="0"/>
                <a:ea typeface="楷体_GB2312" pitchFamily="49" charset="-122"/>
              </a:rPr>
              <a:t>：将两个加数的符号位和来自最高位数字位的进位相加，结果就是和的符号      </a:t>
            </a:r>
            <a:endParaRPr lang="zh-CN" altLang="en-US" b="0" dirty="0">
              <a:latin typeface="Arial" panose="020B0604020202020204" pitchFamily="34" charset="0"/>
              <a:ea typeface="楷体_GB2312" pitchFamily="49" charset="-122"/>
            </a:endParaRPr>
          </a:p>
        </p:txBody>
      </p:sp>
      <p:sp>
        <p:nvSpPr>
          <p:cNvPr id="35846" name="文本框 35845"/>
          <p:cNvSpPr txBox="1"/>
          <p:nvPr/>
        </p:nvSpPr>
        <p:spPr>
          <a:xfrm>
            <a:off x="323850" y="2492375"/>
            <a:ext cx="1152525" cy="519113"/>
          </a:xfrm>
          <a:prstGeom prst="rect">
            <a:avLst/>
          </a:prstGeom>
          <a:noFill/>
          <a:ln w="9525">
            <a:noFill/>
          </a:ln>
        </p:spPr>
        <p:txBody>
          <a:bodyPr>
            <a:spAutoFit/>
          </a:bodyPr>
          <a:p>
            <a:pPr>
              <a:spcBef>
                <a:spcPct val="50000"/>
              </a:spcBef>
            </a:pPr>
            <a:r>
              <a:rPr lang="zh-CN" altLang="en-US" b="0" dirty="0">
                <a:latin typeface="Arial" panose="020B0604020202020204" pitchFamily="34" charset="0"/>
                <a:ea typeface="楷体_GB2312" pitchFamily="49" charset="-122"/>
              </a:rPr>
              <a:t>解：</a:t>
            </a:r>
            <a:endParaRPr lang="zh-CN" altLang="en-US" b="0" dirty="0">
              <a:latin typeface="Arial" panose="020B0604020202020204" pitchFamily="34" charset="0"/>
              <a:ea typeface="楷体_GB2312" pitchFamily="49" charset="-122"/>
            </a:endParaRPr>
          </a:p>
        </p:txBody>
      </p:sp>
      <mc:AlternateContent xmlns:mc="http://schemas.openxmlformats.org/markup-compatibility/2006" xmlns:p14="http://schemas.microsoft.com/office/powerpoint/2010/main">
        <mc:Choice Requires="p14">
          <p:contentPart r:id="rId3" p14:bwMode="auto">
            <p14:nvContentPartPr>
              <p14:cNvPr id="2" name="墨迹 1"/>
              <p14:cNvContentPartPr/>
              <p14:nvPr/>
            </p14:nvContentPartPr>
            <p14:xfrm>
              <a:off x="1758950" y="6076950"/>
              <a:ext cx="5664200" cy="57150"/>
            </p14:xfrm>
          </p:contentPart>
        </mc:Choice>
        <mc:Fallback xmlns="">
          <p:pic>
            <p:nvPicPr>
              <p:cNvPr id="2" name="墨迹 1"/>
            </p:nvPicPr>
            <p:blipFill>
              <a:blip r:embed="rId4"/>
            </p:blipFill>
            <p:spPr>
              <a:xfrm>
                <a:off x="1758950" y="6076950"/>
                <a:ext cx="5664200" cy="5715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3" name="墨迹 2"/>
              <p14:cNvContentPartPr/>
              <p14:nvPr/>
            </p14:nvContentPartPr>
            <p14:xfrm>
              <a:off x="1200150" y="6527800"/>
              <a:ext cx="5746750" cy="31750"/>
            </p14:xfrm>
          </p:contentPart>
        </mc:Choice>
        <mc:Fallback xmlns="">
          <p:pic>
            <p:nvPicPr>
              <p:cNvPr id="3" name="墨迹 2"/>
            </p:nvPicPr>
            <p:blipFill>
              <a:blip r:embed="rId6"/>
            </p:blipFill>
            <p:spPr>
              <a:xfrm>
                <a:off x="1200150" y="6527800"/>
                <a:ext cx="5746750" cy="3175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4" name="墨迹 3"/>
              <p14:cNvContentPartPr/>
              <p14:nvPr/>
            </p14:nvContentPartPr>
            <p14:xfrm>
              <a:off x="596900" y="5613400"/>
              <a:ext cx="977900" cy="552450"/>
            </p14:xfrm>
          </p:contentPart>
        </mc:Choice>
        <mc:Fallback xmlns="">
          <p:pic>
            <p:nvPicPr>
              <p:cNvPr id="4" name="墨迹 3"/>
            </p:nvPicPr>
            <p:blipFill>
              <a:blip r:embed="rId8"/>
            </p:blipFill>
            <p:spPr>
              <a:xfrm>
                <a:off x="596900" y="5613400"/>
                <a:ext cx="977900" cy="55245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5" name="墨迹 4"/>
              <p14:cNvContentPartPr/>
              <p14:nvPr/>
            </p14:nvContentPartPr>
            <p14:xfrm>
              <a:off x="4032250" y="6502400"/>
              <a:ext cx="2813050" cy="82550"/>
            </p14:xfrm>
          </p:contentPart>
        </mc:Choice>
        <mc:Fallback xmlns="">
          <p:pic>
            <p:nvPicPr>
              <p:cNvPr id="5" name="墨迹 4"/>
            </p:nvPicPr>
            <p:blipFill>
              <a:blip r:embed="rId10"/>
            </p:blipFill>
            <p:spPr>
              <a:xfrm>
                <a:off x="4032250" y="6502400"/>
                <a:ext cx="2813050" cy="8255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5842"/>
                                        </p:tgtEl>
                                        <p:attrNameLst>
                                          <p:attrName>style.visibility</p:attrName>
                                        </p:attrNameLst>
                                      </p:cBhvr>
                                      <p:to>
                                        <p:strVal val="visible"/>
                                      </p:to>
                                    </p:set>
                                    <p:anim calcmode="lin" valueType="num">
                                      <p:cBhvr additive="base">
                                        <p:cTn id="7" dur="500" fill="hold"/>
                                        <p:tgtEl>
                                          <p:spTgt spid="35842"/>
                                        </p:tgtEl>
                                        <p:attrNameLst>
                                          <p:attrName>ppt_x</p:attrName>
                                        </p:attrNameLst>
                                      </p:cBhvr>
                                      <p:tavLst>
                                        <p:tav tm="0">
                                          <p:val>
                                            <p:strVal val="#ppt_x"/>
                                          </p:val>
                                        </p:tav>
                                        <p:tav tm="100000">
                                          <p:val>
                                            <p:strVal val="#ppt_x"/>
                                          </p:val>
                                        </p:tav>
                                      </p:tavLst>
                                    </p:anim>
                                    <p:anim calcmode="lin" valueType="num">
                                      <p:cBhvr additive="base">
                                        <p:cTn id="8" dur="500" fill="hold"/>
                                        <p:tgtEl>
                                          <p:spTgt spid="3584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843">
                                            <p:txEl>
                                              <p:charRg st="0" end="13"/>
                                            </p:txEl>
                                          </p:spTgt>
                                        </p:tgtEl>
                                        <p:attrNameLst>
                                          <p:attrName>style.visibility</p:attrName>
                                        </p:attrNameLst>
                                      </p:cBhvr>
                                      <p:to>
                                        <p:strVal val="visible"/>
                                      </p:to>
                                    </p:set>
                                    <p:anim calcmode="lin" valueType="num">
                                      <p:cBhvr additive="base">
                                        <p:cTn id="13" dur="500" fill="hold"/>
                                        <p:tgtEl>
                                          <p:spTgt spid="35843">
                                            <p:txEl>
                                              <p:charRg st="0" end="1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843">
                                            <p:txEl>
                                              <p:charRg st="0" end="1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5843">
                                            <p:txEl>
                                              <p:charRg st="13" end="42"/>
                                            </p:txEl>
                                          </p:spTgt>
                                        </p:tgtEl>
                                        <p:attrNameLst>
                                          <p:attrName>style.visibility</p:attrName>
                                        </p:attrNameLst>
                                      </p:cBhvr>
                                      <p:to>
                                        <p:strVal val="visible"/>
                                      </p:to>
                                    </p:set>
                                    <p:anim calcmode="lin" valueType="num">
                                      <p:cBhvr additive="base">
                                        <p:cTn id="17" dur="500" fill="hold"/>
                                        <p:tgtEl>
                                          <p:spTgt spid="35843">
                                            <p:txEl>
                                              <p:charRg st="13" end="4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5843">
                                            <p:txEl>
                                              <p:charRg st="13" end="4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5846"/>
                                        </p:tgtEl>
                                        <p:attrNameLst>
                                          <p:attrName>style.visibility</p:attrName>
                                        </p:attrNameLst>
                                      </p:cBhvr>
                                      <p:to>
                                        <p:strVal val="visible"/>
                                      </p:to>
                                    </p:set>
                                    <p:anim calcmode="lin" valueType="num">
                                      <p:cBhvr additive="base">
                                        <p:cTn id="23" dur="500" fill="hold"/>
                                        <p:tgtEl>
                                          <p:spTgt spid="35846"/>
                                        </p:tgtEl>
                                        <p:attrNameLst>
                                          <p:attrName>ppt_x</p:attrName>
                                        </p:attrNameLst>
                                      </p:cBhvr>
                                      <p:tavLst>
                                        <p:tav tm="0">
                                          <p:val>
                                            <p:strVal val="#ppt_x"/>
                                          </p:val>
                                        </p:tav>
                                        <p:tav tm="100000">
                                          <p:val>
                                            <p:strVal val="#ppt_x"/>
                                          </p:val>
                                        </p:tav>
                                      </p:tavLst>
                                    </p:anim>
                                    <p:anim calcmode="lin" valueType="num">
                                      <p:cBhvr additive="base">
                                        <p:cTn id="24" dur="500" fill="hold"/>
                                        <p:tgtEl>
                                          <p:spTgt spid="35846"/>
                                        </p:tgtEl>
                                        <p:attrNameLst>
                                          <p:attrName>ppt_y</p:attrName>
                                        </p:attrNameLst>
                                      </p:cBhvr>
                                      <p:tavLst>
                                        <p:tav tm="0">
                                          <p:val>
                                            <p:strVal val="1+#ppt_h/2"/>
                                          </p:val>
                                        </p:tav>
                                        <p:tav tm="100000">
                                          <p:val>
                                            <p:strVal val="#ppt_y"/>
                                          </p:val>
                                        </p:tav>
                                      </p:tavLst>
                                    </p:anim>
                                  </p:childTnLst>
                                </p:cTn>
                              </p:par>
                              <p:par>
                                <p:cTn id="25" presetID="29" presetClass="entr" presetSubtype="0" fill="hold" nodeType="withEffect">
                                  <p:stCondLst>
                                    <p:cond delay="0"/>
                                  </p:stCondLst>
                                  <p:childTnLst>
                                    <p:set>
                                      <p:cBhvr>
                                        <p:cTn id="26" dur="1" fill="hold">
                                          <p:stCondLst>
                                            <p:cond delay="0"/>
                                          </p:stCondLst>
                                        </p:cTn>
                                        <p:tgtEl>
                                          <p:spTgt spid="35844"/>
                                        </p:tgtEl>
                                        <p:attrNameLst>
                                          <p:attrName>style.visibility</p:attrName>
                                        </p:attrNameLst>
                                      </p:cBhvr>
                                      <p:to>
                                        <p:strVal val="visible"/>
                                      </p:to>
                                    </p:set>
                                    <p:anim calcmode="lin" valueType="num">
                                      <p:cBhvr>
                                        <p:cTn id="27" dur="1000" fill="hold"/>
                                        <p:tgtEl>
                                          <p:spTgt spid="35844"/>
                                        </p:tgtEl>
                                        <p:attrNameLst>
                                          <p:attrName>ppt_x</p:attrName>
                                        </p:attrNameLst>
                                      </p:cBhvr>
                                      <p:tavLst>
                                        <p:tav tm="0">
                                          <p:val>
                                            <p:strVal val="#ppt_x-.2"/>
                                          </p:val>
                                        </p:tav>
                                        <p:tav tm="100000">
                                          <p:val>
                                            <p:strVal val="#ppt_x"/>
                                          </p:val>
                                        </p:tav>
                                      </p:tavLst>
                                    </p:anim>
                                    <p:anim calcmode="lin" valueType="num">
                                      <p:cBhvr>
                                        <p:cTn id="28" dur="1000" fill="hold"/>
                                        <p:tgtEl>
                                          <p:spTgt spid="35844"/>
                                        </p:tgtEl>
                                        <p:attrNameLst>
                                          <p:attrName>ppt_y</p:attrName>
                                        </p:attrNameLst>
                                      </p:cBhvr>
                                      <p:tavLst>
                                        <p:tav tm="0">
                                          <p:val>
                                            <p:strVal val="#ppt_y"/>
                                          </p:val>
                                        </p:tav>
                                        <p:tav tm="100000">
                                          <p:val>
                                            <p:strVal val="#ppt_y"/>
                                          </p:val>
                                        </p:tav>
                                      </p:tavLst>
                                    </p:anim>
                                    <p:animEffect transition="in" filter="wipe(right)" prLst="gradientSize: 0.1">
                                      <p:cBhvr>
                                        <p:cTn id="29" dur="1000"/>
                                        <p:tgtEl>
                                          <p:spTgt spid="35844"/>
                                        </p:tgtEl>
                                      </p:cBhvr>
                                    </p:animEffect>
                                  </p:childTnLst>
                                </p:cTn>
                              </p:par>
                            </p:childTnLst>
                          </p:cTn>
                        </p:par>
                      </p:childTnLst>
                    </p:cTn>
                  </p:par>
                  <p:par>
                    <p:cTn id="30" fill="hold">
                      <p:stCondLst>
                        <p:cond delay="indefinite"/>
                      </p:stCondLst>
                      <p:childTnLst>
                        <p:par>
                          <p:cTn id="31" fill="hold">
                            <p:stCondLst>
                              <p:cond delay="0"/>
                            </p:stCondLst>
                            <p:childTnLst>
                              <p:par>
                                <p:cTn id="32" presetID="29" presetClass="entr" presetSubtype="0" fill="hold" grpId="0" nodeType="clickEffect">
                                  <p:stCondLst>
                                    <p:cond delay="0"/>
                                  </p:stCondLst>
                                  <p:childTnLst>
                                    <p:set>
                                      <p:cBhvr>
                                        <p:cTn id="33" dur="1" fill="hold">
                                          <p:stCondLst>
                                            <p:cond delay="0"/>
                                          </p:stCondLst>
                                        </p:cTn>
                                        <p:tgtEl>
                                          <p:spTgt spid="35845"/>
                                        </p:tgtEl>
                                        <p:attrNameLst>
                                          <p:attrName>style.visibility</p:attrName>
                                        </p:attrNameLst>
                                      </p:cBhvr>
                                      <p:to>
                                        <p:strVal val="visible"/>
                                      </p:to>
                                    </p:set>
                                    <p:anim calcmode="lin" valueType="num">
                                      <p:cBhvr>
                                        <p:cTn id="34" dur="1000" fill="hold"/>
                                        <p:tgtEl>
                                          <p:spTgt spid="35845"/>
                                        </p:tgtEl>
                                        <p:attrNameLst>
                                          <p:attrName>ppt_x</p:attrName>
                                        </p:attrNameLst>
                                      </p:cBhvr>
                                      <p:tavLst>
                                        <p:tav tm="0">
                                          <p:val>
                                            <p:strVal val="#ppt_x-.2"/>
                                          </p:val>
                                        </p:tav>
                                        <p:tav tm="100000">
                                          <p:val>
                                            <p:strVal val="#ppt_x"/>
                                          </p:val>
                                        </p:tav>
                                      </p:tavLst>
                                    </p:anim>
                                    <p:anim calcmode="lin" valueType="num">
                                      <p:cBhvr>
                                        <p:cTn id="35" dur="1000" fill="hold"/>
                                        <p:tgtEl>
                                          <p:spTgt spid="35845"/>
                                        </p:tgtEl>
                                        <p:attrNameLst>
                                          <p:attrName>ppt_y</p:attrName>
                                        </p:attrNameLst>
                                      </p:cBhvr>
                                      <p:tavLst>
                                        <p:tav tm="0">
                                          <p:val>
                                            <p:strVal val="#ppt_y"/>
                                          </p:val>
                                        </p:tav>
                                        <p:tav tm="100000">
                                          <p:val>
                                            <p:strVal val="#ppt_y"/>
                                          </p:val>
                                        </p:tav>
                                      </p:tavLst>
                                    </p:anim>
                                    <p:animEffect transition="in" filter="wipe(right)" prLst="gradientSize: 0.1">
                                      <p:cBhvr>
                                        <p:cTn id="36" dur="1000"/>
                                        <p:tgtEl>
                                          <p:spTgt spid="358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p:bldP spid="35845" grpId="0"/>
      <p:bldP spid="3584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4580" name="组合 24579"/>
          <p:cNvGrpSpPr/>
          <p:nvPr/>
        </p:nvGrpSpPr>
        <p:grpSpPr>
          <a:xfrm>
            <a:off x="4643438" y="3571875"/>
            <a:ext cx="3313112" cy="936625"/>
            <a:chOff x="2880" y="3067"/>
            <a:chExt cx="2087" cy="590"/>
          </a:xfrm>
        </p:grpSpPr>
        <p:sp>
          <p:nvSpPr>
            <p:cNvPr id="24581" name="椭圆 24580"/>
            <p:cNvSpPr/>
            <p:nvPr/>
          </p:nvSpPr>
          <p:spPr>
            <a:xfrm>
              <a:off x="2880" y="3067"/>
              <a:ext cx="181" cy="363"/>
            </a:xfrm>
            <a:prstGeom prst="ellipse">
              <a:avLst/>
            </a:prstGeom>
            <a:solidFill>
              <a:srgbClr val="FFFF66"/>
            </a:solidFill>
            <a:ln w="9525" cap="flat" cmpd="sng">
              <a:solidFill>
                <a:schemeClr val="tx1"/>
              </a:solidFill>
              <a:prstDash val="solid"/>
              <a:headEnd type="none" w="med" len="med"/>
              <a:tailEnd type="none" w="med" len="med"/>
            </a:ln>
          </p:spPr>
          <p:txBody>
            <a:bodyPr/>
            <a:p>
              <a:endParaRPr lang="zh-CN" altLang="en-US"/>
            </a:p>
          </p:txBody>
        </p:sp>
        <p:sp>
          <p:nvSpPr>
            <p:cNvPr id="24582" name="圆角矩形标注 24581"/>
            <p:cNvSpPr/>
            <p:nvPr/>
          </p:nvSpPr>
          <p:spPr>
            <a:xfrm>
              <a:off x="4195" y="3339"/>
              <a:ext cx="772" cy="318"/>
            </a:xfrm>
            <a:prstGeom prst="wedgeRoundRectCallout">
              <a:avLst>
                <a:gd name="adj1" fmla="val -198833"/>
                <a:gd name="adj2" fmla="val -50944"/>
                <a:gd name="adj3" fmla="val 16667"/>
              </a:avLst>
            </a:prstGeom>
            <a:solidFill>
              <a:srgbClr val="FFFF66"/>
            </a:solidFill>
            <a:ln w="9525" cap="flat" cmpd="sng">
              <a:solidFill>
                <a:srgbClr val="FF0000"/>
              </a:solidFill>
              <a:prstDash val="solid"/>
              <a:miter/>
              <a:headEnd type="none" w="med" len="med"/>
              <a:tailEnd type="none" w="med" len="med"/>
            </a:ln>
          </p:spPr>
          <p:txBody>
            <a:bodyPr/>
            <a:p>
              <a:pPr algn="ctr"/>
              <a:r>
                <a:rPr lang="zh-CN" altLang="en-US" sz="2400" b="0" dirty="0">
                  <a:solidFill>
                    <a:srgbClr val="000000"/>
                  </a:solidFill>
                  <a:latin typeface="Verdana" panose="020B0604030504040204" pitchFamily="34" charset="0"/>
                </a:rPr>
                <a:t>舍去</a:t>
              </a:r>
              <a:endParaRPr lang="zh-CN" altLang="en-US" sz="2400" b="0" dirty="0">
                <a:solidFill>
                  <a:srgbClr val="000000"/>
                </a:solidFill>
                <a:latin typeface="Verdana" panose="020B0604030504040204" pitchFamily="34" charset="0"/>
              </a:endParaRPr>
            </a:p>
          </p:txBody>
        </p:sp>
      </p:grpSp>
      <p:sp>
        <p:nvSpPr>
          <p:cNvPr id="24583" name="文本框 24582"/>
          <p:cNvSpPr txBox="1"/>
          <p:nvPr/>
        </p:nvSpPr>
        <p:spPr>
          <a:xfrm>
            <a:off x="468313" y="1341438"/>
            <a:ext cx="5400675" cy="519112"/>
          </a:xfrm>
          <a:prstGeom prst="rect">
            <a:avLst/>
          </a:prstGeom>
          <a:noFill/>
          <a:ln w="9525">
            <a:noFill/>
          </a:ln>
        </p:spPr>
        <p:txBody>
          <a:bodyPr>
            <a:spAutoFit/>
          </a:bodyPr>
          <a:p>
            <a:pPr>
              <a:spcBef>
                <a:spcPct val="50000"/>
              </a:spcBef>
            </a:pPr>
            <a:r>
              <a:rPr lang="zh-CN" altLang="en-US" b="0" dirty="0">
                <a:latin typeface="Verdana" panose="020B0604030504040204" pitchFamily="34" charset="0"/>
              </a:rPr>
              <a:t>计算</a:t>
            </a:r>
            <a:r>
              <a:rPr lang="en-US" altLang="zh-CN" b="0">
                <a:latin typeface="Verdana" panose="020B0604030504040204" pitchFamily="34" charset="0"/>
              </a:rPr>
              <a:t>(1001)</a:t>
            </a:r>
            <a:r>
              <a:rPr lang="en-US" altLang="zh-CN" b="0" baseline="-25000">
                <a:latin typeface="Verdana" panose="020B0604030504040204" pitchFamily="34" charset="0"/>
              </a:rPr>
              <a:t>2</a:t>
            </a:r>
            <a:r>
              <a:rPr lang="en-US" altLang="zh-CN" b="0">
                <a:latin typeface="Verdana" panose="020B0604030504040204" pitchFamily="34" charset="0"/>
              </a:rPr>
              <a:t>-(0101)</a:t>
            </a:r>
            <a:r>
              <a:rPr lang="en-US" altLang="zh-CN" b="0" baseline="-25000">
                <a:latin typeface="Verdana" panose="020B0604030504040204" pitchFamily="34" charset="0"/>
              </a:rPr>
              <a:t>2</a:t>
            </a:r>
            <a:endParaRPr lang="en-US" altLang="zh-CN" b="0" baseline="-25000">
              <a:latin typeface="Verdana" panose="020B0604030504040204" pitchFamily="34" charset="0"/>
            </a:endParaRPr>
          </a:p>
        </p:txBody>
      </p:sp>
      <p:sp>
        <p:nvSpPr>
          <p:cNvPr id="24584" name="文本框 24583"/>
          <p:cNvSpPr txBox="1"/>
          <p:nvPr/>
        </p:nvSpPr>
        <p:spPr>
          <a:xfrm>
            <a:off x="611188" y="2563813"/>
            <a:ext cx="2016125" cy="1552575"/>
          </a:xfrm>
          <a:prstGeom prst="rect">
            <a:avLst/>
          </a:prstGeom>
          <a:noFill/>
          <a:ln w="9525">
            <a:noFill/>
          </a:ln>
        </p:spPr>
        <p:txBody>
          <a:bodyPr>
            <a:spAutoFit/>
          </a:bodyPr>
          <a:p>
            <a:pPr>
              <a:spcBef>
                <a:spcPct val="50000"/>
              </a:spcBef>
            </a:pPr>
            <a:r>
              <a:rPr lang="en-US" altLang="zh-CN" sz="2400" b="0" dirty="0">
                <a:latin typeface="Verdana" panose="020B0604030504040204" pitchFamily="34" charset="0"/>
              </a:rPr>
              <a:t>    </a:t>
            </a:r>
            <a:r>
              <a:rPr lang="en-US" altLang="zh-CN" sz="2400" b="0">
                <a:latin typeface="Verdana" panose="020B0604030504040204" pitchFamily="34" charset="0"/>
              </a:rPr>
              <a:t>1 0 0 1</a:t>
            </a:r>
            <a:endParaRPr lang="en-US" altLang="zh-CN" sz="2400" b="0">
              <a:latin typeface="Verdana" panose="020B0604030504040204" pitchFamily="34" charset="0"/>
            </a:endParaRPr>
          </a:p>
          <a:p>
            <a:pPr>
              <a:spcBef>
                <a:spcPct val="50000"/>
              </a:spcBef>
            </a:pPr>
            <a:r>
              <a:rPr lang="zh-CN" altLang="en-US" sz="2400" b="0" u="sng" dirty="0">
                <a:latin typeface="Verdana" panose="020B0604030504040204" pitchFamily="34" charset="0"/>
              </a:rPr>
              <a:t>－ </a:t>
            </a:r>
            <a:r>
              <a:rPr lang="en-US" altLang="zh-CN" sz="2400" b="0" u="sng">
                <a:latin typeface="Verdana" panose="020B0604030504040204" pitchFamily="34" charset="0"/>
              </a:rPr>
              <a:t>0 1 0 1</a:t>
            </a:r>
            <a:endParaRPr lang="en-US" altLang="zh-CN" sz="2400" b="0" u="sng">
              <a:latin typeface="Verdana" panose="020B0604030504040204" pitchFamily="34" charset="0"/>
            </a:endParaRPr>
          </a:p>
          <a:p>
            <a:pPr>
              <a:spcBef>
                <a:spcPct val="50000"/>
              </a:spcBef>
            </a:pPr>
            <a:r>
              <a:rPr lang="en-US" altLang="zh-CN" sz="2400" b="0">
                <a:latin typeface="Verdana" panose="020B0604030504040204" pitchFamily="34" charset="0"/>
              </a:rPr>
              <a:t>    0 1 0 0</a:t>
            </a:r>
            <a:endParaRPr lang="en-US" altLang="zh-CN" sz="2400" b="0" u="sng">
              <a:latin typeface="Verdana" panose="020B0604030504040204" pitchFamily="34" charset="0"/>
            </a:endParaRPr>
          </a:p>
        </p:txBody>
      </p:sp>
      <p:grpSp>
        <p:nvGrpSpPr>
          <p:cNvPr id="24585" name="组合 24584"/>
          <p:cNvGrpSpPr/>
          <p:nvPr/>
        </p:nvGrpSpPr>
        <p:grpSpPr>
          <a:xfrm>
            <a:off x="2339975" y="2347913"/>
            <a:ext cx="2087563" cy="431800"/>
            <a:chOff x="1429" y="2296"/>
            <a:chExt cx="1315" cy="272"/>
          </a:xfrm>
        </p:grpSpPr>
        <p:sp>
          <p:nvSpPr>
            <p:cNvPr id="24586" name="直接连接符 24585"/>
            <p:cNvSpPr/>
            <p:nvPr/>
          </p:nvSpPr>
          <p:spPr>
            <a:xfrm>
              <a:off x="1429" y="2568"/>
              <a:ext cx="1315" cy="0"/>
            </a:xfrm>
            <a:prstGeom prst="line">
              <a:avLst/>
            </a:prstGeom>
            <a:ln w="9525" cap="flat" cmpd="sng">
              <a:solidFill>
                <a:srgbClr val="FF0000"/>
              </a:solidFill>
              <a:prstDash val="solid"/>
              <a:headEnd type="none" w="med" len="med"/>
              <a:tailEnd type="triangle" w="med" len="med"/>
            </a:ln>
          </p:spPr>
        </p:sp>
        <p:sp>
          <p:nvSpPr>
            <p:cNvPr id="24587" name="文本框 24586"/>
            <p:cNvSpPr txBox="1"/>
            <p:nvPr/>
          </p:nvSpPr>
          <p:spPr>
            <a:xfrm>
              <a:off x="1837" y="2296"/>
              <a:ext cx="499" cy="231"/>
            </a:xfrm>
            <a:prstGeom prst="rect">
              <a:avLst/>
            </a:prstGeom>
            <a:solidFill>
              <a:schemeClr val="accent1"/>
            </a:solidFill>
            <a:ln w="9525">
              <a:noFill/>
            </a:ln>
          </p:spPr>
          <p:txBody>
            <a:bodyPr>
              <a:spAutoFit/>
            </a:bodyPr>
            <a:p>
              <a:pPr>
                <a:spcBef>
                  <a:spcPct val="50000"/>
                </a:spcBef>
              </a:pPr>
              <a:r>
                <a:rPr lang="en-US" altLang="zh-CN" sz="1800" b="0" dirty="0">
                  <a:latin typeface="Verdana" panose="020B0604030504040204" pitchFamily="34" charset="0"/>
                </a:rPr>
                <a:t> </a:t>
              </a:r>
              <a:r>
                <a:rPr lang="zh-CN" altLang="en-US" sz="1800" b="0" dirty="0">
                  <a:solidFill>
                    <a:srgbClr val="FF3300"/>
                  </a:solidFill>
                  <a:latin typeface="Verdana" panose="020B0604030504040204" pitchFamily="34" charset="0"/>
                </a:rPr>
                <a:t>补码</a:t>
              </a:r>
              <a:endParaRPr lang="zh-CN" altLang="en-US" sz="1800" b="0" dirty="0">
                <a:solidFill>
                  <a:srgbClr val="FF3300"/>
                </a:solidFill>
                <a:latin typeface="Verdana" panose="020B0604030504040204" pitchFamily="34" charset="0"/>
              </a:endParaRPr>
            </a:p>
          </p:txBody>
        </p:sp>
      </p:grpSp>
      <p:grpSp>
        <p:nvGrpSpPr>
          <p:cNvPr id="24588" name="组合 24587"/>
          <p:cNvGrpSpPr/>
          <p:nvPr/>
        </p:nvGrpSpPr>
        <p:grpSpPr>
          <a:xfrm>
            <a:off x="2339975" y="2924175"/>
            <a:ext cx="2087563" cy="431800"/>
            <a:chOff x="1429" y="2659"/>
            <a:chExt cx="1315" cy="272"/>
          </a:xfrm>
        </p:grpSpPr>
        <p:sp>
          <p:nvSpPr>
            <p:cNvPr id="24589" name="文本框 24588"/>
            <p:cNvSpPr txBox="1"/>
            <p:nvPr/>
          </p:nvSpPr>
          <p:spPr>
            <a:xfrm>
              <a:off x="1837" y="2659"/>
              <a:ext cx="499" cy="231"/>
            </a:xfrm>
            <a:prstGeom prst="rect">
              <a:avLst/>
            </a:prstGeom>
            <a:solidFill>
              <a:schemeClr val="accent1"/>
            </a:solidFill>
            <a:ln w="9525">
              <a:noFill/>
            </a:ln>
          </p:spPr>
          <p:txBody>
            <a:bodyPr>
              <a:spAutoFit/>
            </a:bodyPr>
            <a:p>
              <a:pPr>
                <a:spcBef>
                  <a:spcPct val="50000"/>
                </a:spcBef>
              </a:pPr>
              <a:r>
                <a:rPr lang="en-US" altLang="zh-CN" sz="1800" b="0" dirty="0">
                  <a:solidFill>
                    <a:srgbClr val="FF3300"/>
                  </a:solidFill>
                  <a:latin typeface="Verdana" panose="020B0604030504040204" pitchFamily="34" charset="0"/>
                </a:rPr>
                <a:t> </a:t>
              </a:r>
              <a:r>
                <a:rPr lang="zh-CN" altLang="en-US" sz="1800" b="0" dirty="0">
                  <a:solidFill>
                    <a:srgbClr val="FF3300"/>
                  </a:solidFill>
                  <a:latin typeface="Verdana" panose="020B0604030504040204" pitchFamily="34" charset="0"/>
                </a:rPr>
                <a:t>补码</a:t>
              </a:r>
              <a:endParaRPr lang="zh-CN" altLang="en-US" sz="1800" b="0" dirty="0">
                <a:solidFill>
                  <a:srgbClr val="FF3300"/>
                </a:solidFill>
                <a:latin typeface="Verdana" panose="020B0604030504040204" pitchFamily="34" charset="0"/>
              </a:endParaRPr>
            </a:p>
          </p:txBody>
        </p:sp>
        <p:sp>
          <p:nvSpPr>
            <p:cNvPr id="24590" name="直接连接符 24589"/>
            <p:cNvSpPr/>
            <p:nvPr/>
          </p:nvSpPr>
          <p:spPr>
            <a:xfrm>
              <a:off x="1429" y="2931"/>
              <a:ext cx="1315" cy="0"/>
            </a:xfrm>
            <a:prstGeom prst="line">
              <a:avLst/>
            </a:prstGeom>
            <a:ln w="9525" cap="flat" cmpd="sng">
              <a:solidFill>
                <a:srgbClr val="FF0000"/>
              </a:solidFill>
              <a:prstDash val="solid"/>
              <a:headEnd type="none" w="med" len="med"/>
              <a:tailEnd type="triangle" w="med" len="med"/>
            </a:ln>
          </p:spPr>
        </p:sp>
      </p:grpSp>
      <p:sp>
        <p:nvSpPr>
          <p:cNvPr id="24591" name="文本框 24590"/>
          <p:cNvSpPr txBox="1"/>
          <p:nvPr/>
        </p:nvSpPr>
        <p:spPr>
          <a:xfrm>
            <a:off x="4787900" y="2563813"/>
            <a:ext cx="1800225" cy="457200"/>
          </a:xfrm>
          <a:prstGeom prst="rect">
            <a:avLst/>
          </a:prstGeom>
          <a:noFill/>
          <a:ln w="9525">
            <a:noFill/>
          </a:ln>
        </p:spPr>
        <p:txBody>
          <a:bodyPr>
            <a:spAutoFit/>
          </a:bodyPr>
          <a:p>
            <a:pPr>
              <a:spcBef>
                <a:spcPct val="50000"/>
              </a:spcBef>
            </a:pPr>
            <a:r>
              <a:rPr lang="en-US" altLang="zh-CN" sz="2400" b="0" dirty="0">
                <a:solidFill>
                  <a:srgbClr val="00FF00"/>
                </a:solidFill>
                <a:latin typeface="Verdana" panose="020B0604030504040204" pitchFamily="34" charset="0"/>
              </a:rPr>
              <a:t> </a:t>
            </a:r>
            <a:r>
              <a:rPr lang="en-US" altLang="zh-CN" sz="2400" b="0">
                <a:solidFill>
                  <a:srgbClr val="00CC00"/>
                </a:solidFill>
                <a:latin typeface="Verdana" panose="020B0604030504040204" pitchFamily="34" charset="0"/>
              </a:rPr>
              <a:t>0</a:t>
            </a:r>
            <a:r>
              <a:rPr lang="en-US" altLang="zh-CN" sz="2400" b="0">
                <a:latin typeface="Verdana" panose="020B0604030504040204" pitchFamily="34" charset="0"/>
              </a:rPr>
              <a:t> 1 0 0 1</a:t>
            </a:r>
            <a:endParaRPr lang="en-US" altLang="zh-CN" sz="2400" b="0">
              <a:latin typeface="Verdana" panose="020B0604030504040204" pitchFamily="34" charset="0"/>
            </a:endParaRPr>
          </a:p>
        </p:txBody>
      </p:sp>
      <p:sp>
        <p:nvSpPr>
          <p:cNvPr id="24592" name="文本框 24591"/>
          <p:cNvSpPr txBox="1"/>
          <p:nvPr/>
        </p:nvSpPr>
        <p:spPr>
          <a:xfrm>
            <a:off x="4427538" y="3068638"/>
            <a:ext cx="2160587" cy="457200"/>
          </a:xfrm>
          <a:prstGeom prst="rect">
            <a:avLst/>
          </a:prstGeom>
          <a:noFill/>
          <a:ln w="9525">
            <a:noFill/>
          </a:ln>
        </p:spPr>
        <p:txBody>
          <a:bodyPr>
            <a:spAutoFit/>
          </a:bodyPr>
          <a:p>
            <a:pPr>
              <a:spcBef>
                <a:spcPct val="50000"/>
              </a:spcBef>
            </a:pPr>
            <a:r>
              <a:rPr lang="zh-CN" altLang="en-US" sz="2400" b="0" u="sng" dirty="0">
                <a:solidFill>
                  <a:srgbClr val="00CC00"/>
                </a:solidFill>
                <a:latin typeface="Verdana" panose="020B0604030504040204" pitchFamily="34" charset="0"/>
              </a:rPr>
              <a:t>＋ </a:t>
            </a:r>
            <a:r>
              <a:rPr lang="en-US" altLang="zh-CN" sz="2400" b="0" u="sng">
                <a:solidFill>
                  <a:srgbClr val="00CC00"/>
                </a:solidFill>
                <a:latin typeface="Verdana" panose="020B0604030504040204" pitchFamily="34" charset="0"/>
              </a:rPr>
              <a:t>1</a:t>
            </a:r>
            <a:r>
              <a:rPr lang="en-US" altLang="zh-CN" sz="2400" b="0" u="sng">
                <a:latin typeface="Verdana" panose="020B0604030504040204" pitchFamily="34" charset="0"/>
              </a:rPr>
              <a:t> 1 0 1 1</a:t>
            </a:r>
            <a:endParaRPr lang="en-US" altLang="zh-CN" sz="2400" b="0" u="sng">
              <a:latin typeface="Verdana" panose="020B0604030504040204" pitchFamily="34" charset="0"/>
            </a:endParaRPr>
          </a:p>
        </p:txBody>
      </p:sp>
      <p:sp>
        <p:nvSpPr>
          <p:cNvPr id="24593" name="文本框 24592"/>
          <p:cNvSpPr txBox="1"/>
          <p:nvPr/>
        </p:nvSpPr>
        <p:spPr>
          <a:xfrm>
            <a:off x="4498975" y="3571875"/>
            <a:ext cx="2089150" cy="457200"/>
          </a:xfrm>
          <a:prstGeom prst="rect">
            <a:avLst/>
          </a:prstGeom>
          <a:noFill/>
          <a:ln w="9525">
            <a:noFill/>
          </a:ln>
        </p:spPr>
        <p:txBody>
          <a:bodyPr>
            <a:spAutoFit/>
          </a:bodyPr>
          <a:p>
            <a:pPr>
              <a:spcBef>
                <a:spcPct val="50000"/>
              </a:spcBef>
            </a:pPr>
            <a:r>
              <a:rPr lang="en-US" altLang="zh-CN" sz="2400" b="0" dirty="0">
                <a:latin typeface="Verdana" panose="020B0604030504040204" pitchFamily="34" charset="0"/>
              </a:rPr>
              <a:t> </a:t>
            </a:r>
            <a:r>
              <a:rPr lang="en-US" altLang="zh-CN" sz="2400" b="0">
                <a:solidFill>
                  <a:srgbClr val="FF3300"/>
                </a:solidFill>
                <a:latin typeface="Verdana" panose="020B0604030504040204" pitchFamily="34" charset="0"/>
              </a:rPr>
              <a:t>1</a:t>
            </a:r>
            <a:r>
              <a:rPr lang="en-US" altLang="zh-CN" sz="2400" b="0">
                <a:latin typeface="Verdana" panose="020B0604030504040204" pitchFamily="34" charset="0"/>
              </a:rPr>
              <a:t> </a:t>
            </a:r>
            <a:r>
              <a:rPr lang="en-US" altLang="zh-CN" sz="2400" b="0">
                <a:solidFill>
                  <a:srgbClr val="00CC00"/>
                </a:solidFill>
                <a:latin typeface="Verdana" panose="020B0604030504040204" pitchFamily="34" charset="0"/>
              </a:rPr>
              <a:t>0</a:t>
            </a:r>
            <a:r>
              <a:rPr lang="en-US" altLang="zh-CN" sz="2400" b="0">
                <a:latin typeface="Verdana" panose="020B0604030504040204" pitchFamily="34" charset="0"/>
              </a:rPr>
              <a:t> 0 1 0 0</a:t>
            </a:r>
            <a:endParaRPr lang="en-US" altLang="zh-CN" sz="2400" b="0">
              <a:latin typeface="Verdana" panose="020B0604030504040204" pitchFamily="34" charset="0"/>
            </a:endParaRPr>
          </a:p>
        </p:txBody>
      </p:sp>
      <p:sp>
        <p:nvSpPr>
          <p:cNvPr id="24594" name="文本框 24593"/>
          <p:cNvSpPr txBox="1"/>
          <p:nvPr/>
        </p:nvSpPr>
        <p:spPr>
          <a:xfrm>
            <a:off x="539750" y="4652963"/>
            <a:ext cx="8280400" cy="519112"/>
          </a:xfrm>
          <a:prstGeom prst="rect">
            <a:avLst/>
          </a:prstGeom>
          <a:noFill/>
          <a:ln w="9525">
            <a:noFill/>
          </a:ln>
        </p:spPr>
        <p:txBody>
          <a:bodyPr>
            <a:spAutoFit/>
          </a:bodyPr>
          <a:p>
            <a:pPr>
              <a:spcBef>
                <a:spcPct val="50000"/>
              </a:spcBef>
            </a:pPr>
            <a:r>
              <a:rPr lang="zh-CN" altLang="en-US" b="0" dirty="0">
                <a:latin typeface="Verdana" panose="020B0604030504040204" pitchFamily="34" charset="0"/>
              </a:rPr>
              <a:t>二进制加、减、乘、除都可以用加法运算来实现。</a:t>
            </a:r>
            <a:endParaRPr lang="zh-CN" altLang="en-US" b="0" dirty="0">
              <a:latin typeface="Verdana" panose="020B0604030504040204" pitchFamily="34" charset="0"/>
            </a:endParaRPr>
          </a:p>
        </p:txBody>
      </p:sp>
      <p:grpSp>
        <p:nvGrpSpPr>
          <p:cNvPr id="24595" name="组合 24594"/>
          <p:cNvGrpSpPr/>
          <p:nvPr/>
        </p:nvGrpSpPr>
        <p:grpSpPr>
          <a:xfrm>
            <a:off x="2698750" y="3571875"/>
            <a:ext cx="1512888" cy="685800"/>
            <a:chOff x="1655" y="3067"/>
            <a:chExt cx="953" cy="432"/>
          </a:xfrm>
        </p:grpSpPr>
        <p:sp>
          <p:nvSpPr>
            <p:cNvPr id="24596" name="右箭头 24595"/>
            <p:cNvSpPr/>
            <p:nvPr/>
          </p:nvSpPr>
          <p:spPr>
            <a:xfrm>
              <a:off x="1701" y="3067"/>
              <a:ext cx="816" cy="91"/>
            </a:xfrm>
            <a:prstGeom prst="rightArrow">
              <a:avLst>
                <a:gd name="adj1" fmla="val 50000"/>
                <a:gd name="adj2" fmla="val 224175"/>
              </a:avLst>
            </a:prstGeom>
            <a:solidFill>
              <a:srgbClr val="CCFFCC"/>
            </a:solidFill>
            <a:ln w="9525" cap="flat" cmpd="sng">
              <a:solidFill>
                <a:schemeClr val="tx1"/>
              </a:solidFill>
              <a:prstDash val="solid"/>
              <a:miter/>
              <a:headEnd type="none" w="med" len="med"/>
              <a:tailEnd type="none" w="med" len="med"/>
            </a:ln>
          </p:spPr>
          <p:txBody>
            <a:bodyPr/>
            <a:p>
              <a:endParaRPr lang="zh-CN" altLang="en-US"/>
            </a:p>
          </p:txBody>
        </p:sp>
        <p:sp>
          <p:nvSpPr>
            <p:cNvPr id="24597" name="文本框 24596"/>
            <p:cNvSpPr txBox="1"/>
            <p:nvPr/>
          </p:nvSpPr>
          <p:spPr>
            <a:xfrm>
              <a:off x="1655" y="3249"/>
              <a:ext cx="953" cy="250"/>
            </a:xfrm>
            <a:prstGeom prst="rect">
              <a:avLst/>
            </a:prstGeom>
            <a:solidFill>
              <a:srgbClr val="FFCC99"/>
            </a:solidFill>
            <a:ln w="9525">
              <a:noFill/>
            </a:ln>
          </p:spPr>
          <p:txBody>
            <a:bodyPr>
              <a:spAutoFit/>
            </a:bodyPr>
            <a:p>
              <a:pPr>
                <a:spcBef>
                  <a:spcPct val="50000"/>
                </a:spcBef>
              </a:pPr>
              <a:r>
                <a:rPr lang="zh-CN" altLang="en-US" sz="2000" b="0" dirty="0">
                  <a:solidFill>
                    <a:srgbClr val="000000"/>
                  </a:solidFill>
                  <a:latin typeface="Verdana" panose="020B0604030504040204" pitchFamily="34" charset="0"/>
                </a:rPr>
                <a:t>减法变加法</a:t>
              </a:r>
              <a:endParaRPr lang="zh-CN" altLang="en-US" sz="2000" b="0" dirty="0">
                <a:solidFill>
                  <a:srgbClr val="000000"/>
                </a:solidFill>
                <a:latin typeface="Verdana" panose="020B0604030504040204" pitchFamily="34" charset="0"/>
              </a:endParaRPr>
            </a:p>
          </p:txBody>
        </p:sp>
      </p:grpSp>
      <p:sp>
        <p:nvSpPr>
          <p:cNvPr id="24598" name="文本框 24597"/>
          <p:cNvSpPr txBox="1"/>
          <p:nvPr/>
        </p:nvSpPr>
        <p:spPr>
          <a:xfrm>
            <a:off x="395288" y="476250"/>
            <a:ext cx="2305050" cy="519113"/>
          </a:xfrm>
          <a:prstGeom prst="rect">
            <a:avLst/>
          </a:prstGeom>
          <a:noFill/>
          <a:ln w="9525">
            <a:noFill/>
          </a:ln>
        </p:spPr>
        <p:txBody>
          <a:bodyPr>
            <a:spAutoFit/>
          </a:bodyPr>
          <a:p>
            <a:pPr>
              <a:spcBef>
                <a:spcPct val="50000"/>
              </a:spcBef>
            </a:pPr>
            <a:r>
              <a:rPr lang="zh-CN" altLang="en-US" dirty="0">
                <a:latin typeface="Times New Roman" panose="02020603050405020304" pitchFamily="18" charset="0"/>
              </a:rPr>
              <a:t>例</a:t>
            </a:r>
            <a:r>
              <a:rPr lang="en-US" altLang="zh-CN">
                <a:latin typeface="Times New Roman" panose="02020603050405020304" pitchFamily="18" charset="0"/>
              </a:rPr>
              <a:t>1.4.1</a:t>
            </a:r>
            <a:endParaRPr lang="en-US" altLang="zh-CN">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583"/>
                                        </p:tgtEl>
                                        <p:attrNameLst>
                                          <p:attrName>style.visibility</p:attrName>
                                        </p:attrNameLst>
                                      </p:cBhvr>
                                      <p:to>
                                        <p:strVal val="visible"/>
                                      </p:to>
                                    </p:set>
                                    <p:animEffect transition="in" filter="wipe(left)">
                                      <p:cBhvr>
                                        <p:cTn id="7" dur="500"/>
                                        <p:tgtEl>
                                          <p:spTgt spid="2458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584"/>
                                        </p:tgtEl>
                                        <p:attrNameLst>
                                          <p:attrName>style.visibility</p:attrName>
                                        </p:attrNameLst>
                                      </p:cBhvr>
                                      <p:to>
                                        <p:strVal val="visible"/>
                                      </p:to>
                                    </p:set>
                                    <p:animEffect transition="in" filter="blinds(horizontal)">
                                      <p:cBhvr>
                                        <p:cTn id="12" dur="500"/>
                                        <p:tgtEl>
                                          <p:spTgt spid="2458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4585"/>
                                        </p:tgtEl>
                                        <p:attrNameLst>
                                          <p:attrName>style.visibility</p:attrName>
                                        </p:attrNameLst>
                                      </p:cBhvr>
                                      <p:to>
                                        <p:strVal val="visible"/>
                                      </p:to>
                                    </p:set>
                                    <p:animEffect transition="in" filter="wipe(left)">
                                      <p:cBhvr>
                                        <p:cTn id="17" dur="500"/>
                                        <p:tgtEl>
                                          <p:spTgt spid="24585"/>
                                        </p:tgtEl>
                                      </p:cBhvr>
                                    </p:animEffect>
                                  </p:childTnLst>
                                </p:cTn>
                              </p:par>
                            </p:childTnLst>
                          </p:cTn>
                        </p:par>
                        <p:par>
                          <p:cTn id="18" fill="hold">
                            <p:stCondLst>
                              <p:cond delay="500"/>
                            </p:stCondLst>
                            <p:childTnLst>
                              <p:par>
                                <p:cTn id="19" presetID="8" presetClass="entr" presetSubtype="16" fill="hold" grpId="0" nodeType="afterEffect">
                                  <p:stCondLst>
                                    <p:cond delay="0"/>
                                  </p:stCondLst>
                                  <p:childTnLst>
                                    <p:set>
                                      <p:cBhvr>
                                        <p:cTn id="20" dur="1" fill="hold">
                                          <p:stCondLst>
                                            <p:cond delay="0"/>
                                          </p:stCondLst>
                                        </p:cTn>
                                        <p:tgtEl>
                                          <p:spTgt spid="24591"/>
                                        </p:tgtEl>
                                        <p:attrNameLst>
                                          <p:attrName>style.visibility</p:attrName>
                                        </p:attrNameLst>
                                      </p:cBhvr>
                                      <p:to>
                                        <p:strVal val="visible"/>
                                      </p:to>
                                    </p:set>
                                    <p:animEffect transition="in" filter="diamond(in)">
                                      <p:cBhvr>
                                        <p:cTn id="21" dur="2000"/>
                                        <p:tgtEl>
                                          <p:spTgt spid="24591"/>
                                        </p:tgtEl>
                                      </p:cBhvr>
                                    </p:animEffect>
                                  </p:childTnLst>
                                </p:cTn>
                              </p:par>
                            </p:childTnLst>
                          </p:cTn>
                        </p:par>
                      </p:childTnLst>
                    </p:cTn>
                  </p:par>
                  <p:par>
                    <p:cTn id="22" fill="hold">
                      <p:stCondLst>
                        <p:cond delay="indefinite"/>
                      </p:stCondLst>
                      <p:childTnLst>
                        <p:par>
                          <p:cTn id="23" fill="hold">
                            <p:stCondLst>
                              <p:cond delay="0"/>
                            </p:stCondLst>
                            <p:childTnLst>
                              <p:par>
                                <p:cTn id="24" presetID="8" presetClass="entr" presetSubtype="16" fill="hold" nodeType="clickEffect">
                                  <p:stCondLst>
                                    <p:cond delay="0"/>
                                  </p:stCondLst>
                                  <p:childTnLst>
                                    <p:set>
                                      <p:cBhvr>
                                        <p:cTn id="25" dur="1" fill="hold">
                                          <p:stCondLst>
                                            <p:cond delay="0"/>
                                          </p:stCondLst>
                                        </p:cTn>
                                        <p:tgtEl>
                                          <p:spTgt spid="24588"/>
                                        </p:tgtEl>
                                        <p:attrNameLst>
                                          <p:attrName>style.visibility</p:attrName>
                                        </p:attrNameLst>
                                      </p:cBhvr>
                                      <p:to>
                                        <p:strVal val="visible"/>
                                      </p:to>
                                    </p:set>
                                    <p:animEffect transition="in" filter="diamond(in)">
                                      <p:cBhvr>
                                        <p:cTn id="26" dur="2000"/>
                                        <p:tgtEl>
                                          <p:spTgt spid="24588"/>
                                        </p:tgtEl>
                                      </p:cBhvr>
                                    </p:animEffect>
                                  </p:childTnLst>
                                </p:cTn>
                              </p:par>
                            </p:childTnLst>
                          </p:cTn>
                        </p:par>
                        <p:par>
                          <p:cTn id="27" fill="hold">
                            <p:stCondLst>
                              <p:cond delay="2000"/>
                            </p:stCondLst>
                            <p:childTnLst>
                              <p:par>
                                <p:cTn id="28" presetID="22" presetClass="entr" presetSubtype="8" fill="hold" grpId="0" nodeType="afterEffect">
                                  <p:stCondLst>
                                    <p:cond delay="0"/>
                                  </p:stCondLst>
                                  <p:childTnLst>
                                    <p:set>
                                      <p:cBhvr>
                                        <p:cTn id="29" dur="1" fill="hold">
                                          <p:stCondLst>
                                            <p:cond delay="0"/>
                                          </p:stCondLst>
                                        </p:cTn>
                                        <p:tgtEl>
                                          <p:spTgt spid="24592"/>
                                        </p:tgtEl>
                                        <p:attrNameLst>
                                          <p:attrName>style.visibility</p:attrName>
                                        </p:attrNameLst>
                                      </p:cBhvr>
                                      <p:to>
                                        <p:strVal val="visible"/>
                                      </p:to>
                                    </p:set>
                                    <p:animEffect transition="in" filter="wipe(left)">
                                      <p:cBhvr>
                                        <p:cTn id="30" dur="500"/>
                                        <p:tgtEl>
                                          <p:spTgt spid="24592"/>
                                        </p:tgtEl>
                                      </p:cBhvr>
                                    </p:animEffect>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nodeType="clickEffect">
                                  <p:stCondLst>
                                    <p:cond delay="0"/>
                                  </p:stCondLst>
                                  <p:childTnLst>
                                    <p:set>
                                      <p:cBhvr>
                                        <p:cTn id="34" dur="1" fill="hold">
                                          <p:stCondLst>
                                            <p:cond delay="0"/>
                                          </p:stCondLst>
                                        </p:cTn>
                                        <p:tgtEl>
                                          <p:spTgt spid="24595"/>
                                        </p:tgtEl>
                                        <p:attrNameLst>
                                          <p:attrName>style.visibility</p:attrName>
                                        </p:attrNameLst>
                                      </p:cBhvr>
                                      <p:to>
                                        <p:strVal val="visible"/>
                                      </p:to>
                                    </p:set>
                                    <p:animEffect transition="in" filter="checkerboard(across)">
                                      <p:cBhvr>
                                        <p:cTn id="35" dur="500"/>
                                        <p:tgtEl>
                                          <p:spTgt spid="24595"/>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16" fill="hold" grpId="0" nodeType="clickEffect">
                                  <p:stCondLst>
                                    <p:cond delay="0"/>
                                  </p:stCondLst>
                                  <p:childTnLst>
                                    <p:set>
                                      <p:cBhvr>
                                        <p:cTn id="39" dur="1" fill="hold">
                                          <p:stCondLst>
                                            <p:cond delay="0"/>
                                          </p:stCondLst>
                                        </p:cTn>
                                        <p:tgtEl>
                                          <p:spTgt spid="24593"/>
                                        </p:tgtEl>
                                        <p:attrNameLst>
                                          <p:attrName>style.visibility</p:attrName>
                                        </p:attrNameLst>
                                      </p:cBhvr>
                                      <p:to>
                                        <p:strVal val="visible"/>
                                      </p:to>
                                    </p:set>
                                    <p:animEffect transition="in" filter="box(in)">
                                      <p:cBhvr>
                                        <p:cTn id="40" dur="500"/>
                                        <p:tgtEl>
                                          <p:spTgt spid="24593"/>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458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3" presetClass="entr" presetSubtype="16" fill="hold" grpId="0" nodeType="clickEffect">
                                  <p:stCondLst>
                                    <p:cond delay="0"/>
                                  </p:stCondLst>
                                  <p:childTnLst>
                                    <p:set>
                                      <p:cBhvr>
                                        <p:cTn id="48" dur="1" fill="hold">
                                          <p:stCondLst>
                                            <p:cond delay="0"/>
                                          </p:stCondLst>
                                        </p:cTn>
                                        <p:tgtEl>
                                          <p:spTgt spid="24594"/>
                                        </p:tgtEl>
                                        <p:attrNameLst>
                                          <p:attrName>style.visibility</p:attrName>
                                        </p:attrNameLst>
                                      </p:cBhvr>
                                      <p:to>
                                        <p:strVal val="visible"/>
                                      </p:to>
                                    </p:set>
                                    <p:animEffect transition="in" filter="plus(in)">
                                      <p:cBhvr>
                                        <p:cTn id="49" dur="2000"/>
                                        <p:tgtEl>
                                          <p:spTgt spid="245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3" grpId="0"/>
      <p:bldP spid="24584" grpId="0"/>
      <p:bldP spid="24591" grpId="0"/>
      <p:bldP spid="24592" grpId="0"/>
      <p:bldP spid="24593" grpId="0"/>
      <p:bldP spid="2459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4" name="文本框 25603"/>
          <p:cNvSpPr txBox="1"/>
          <p:nvPr/>
        </p:nvSpPr>
        <p:spPr>
          <a:xfrm>
            <a:off x="395288" y="404813"/>
            <a:ext cx="5545137" cy="641350"/>
          </a:xfrm>
          <a:prstGeom prst="rect">
            <a:avLst/>
          </a:prstGeom>
          <a:solidFill>
            <a:srgbClr val="FFFF66"/>
          </a:solidFill>
          <a:ln w="9525">
            <a:noFill/>
          </a:ln>
        </p:spPr>
        <p:txBody>
          <a:bodyPr>
            <a:spAutoFit/>
          </a:bodyPr>
          <a:p>
            <a:pPr>
              <a:spcBef>
                <a:spcPct val="50000"/>
              </a:spcBef>
            </a:pPr>
            <a:r>
              <a:rPr lang="zh-CN" altLang="en-US" sz="3600" b="0">
                <a:latin typeface="Verdana" panose="020B0604030504040204" pitchFamily="34" charset="0"/>
              </a:rPr>
              <a:t>§</a:t>
            </a:r>
            <a:r>
              <a:rPr lang="en-US" altLang="zh-CN" sz="3600" b="0">
                <a:latin typeface="Verdana" panose="020B0604030504040204" pitchFamily="34" charset="0"/>
              </a:rPr>
              <a:t>1.5   </a:t>
            </a:r>
            <a:r>
              <a:rPr lang="zh-CN" altLang="en-US" sz="3600" b="0" dirty="0">
                <a:latin typeface="Verdana" panose="020B0604030504040204" pitchFamily="34" charset="0"/>
              </a:rPr>
              <a:t>几种常用的编码</a:t>
            </a:r>
            <a:endParaRPr lang="zh-CN" altLang="en-US" sz="3600" b="0" dirty="0">
              <a:latin typeface="Verdana" panose="020B0604030504040204" pitchFamily="34" charset="0"/>
            </a:endParaRPr>
          </a:p>
        </p:txBody>
      </p:sp>
      <p:sp>
        <p:nvSpPr>
          <p:cNvPr id="25605" name="矩形 25604"/>
          <p:cNvSpPr/>
          <p:nvPr/>
        </p:nvSpPr>
        <p:spPr>
          <a:xfrm>
            <a:off x="0" y="1341438"/>
            <a:ext cx="9144000" cy="4999037"/>
          </a:xfrm>
          <a:prstGeom prst="rect">
            <a:avLst/>
          </a:prstGeom>
          <a:noFill/>
          <a:ln w="9525">
            <a:noFill/>
          </a:ln>
        </p:spPr>
        <p:txBody>
          <a:bodyPr lIns="92075" tIns="46037" rIns="92075" bIns="46037"/>
          <a:lstStyle>
            <a:lvl1pPr marL="342900" lvl="0" indent="-342900" algn="l" defTabSz="914400" rtl="0" eaLnBrk="1" fontAlgn="base" latinLnBrk="0" hangingPunct="1">
              <a:lnSpc>
                <a:spcPct val="100000"/>
              </a:lnSpc>
              <a:spcBef>
                <a:spcPct val="20000"/>
              </a:spcBef>
              <a:spcAft>
                <a:spcPct val="0"/>
              </a:spcAft>
              <a:buChar char="•"/>
              <a:defRPr sz="32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宋体" panose="02010600030101010101" pitchFamily="2" charset="-122"/>
              </a:defRPr>
            </a:lvl5pPr>
          </a:lstStyle>
          <a:p>
            <a:pPr lvl="0">
              <a:buNone/>
            </a:pPr>
            <a:r>
              <a:rPr lang="en-US" altLang="zh-CN" sz="2800" b="0" dirty="0"/>
              <a:t>   </a:t>
            </a:r>
            <a:r>
              <a:rPr lang="zh-CN" altLang="en-US" sz="2800" b="0" dirty="0">
                <a:latin typeface="楷体_GB2312" pitchFamily="49" charset="-122"/>
                <a:ea typeface="楷体_GB2312" pitchFamily="49" charset="-122"/>
              </a:rPr>
              <a:t>我们常用的数字</a:t>
            </a:r>
            <a:r>
              <a:rPr lang="en-US" altLang="zh-CN" sz="2800" b="0">
                <a:latin typeface="楷体_GB2312" pitchFamily="49" charset="-122"/>
                <a:ea typeface="楷体_GB2312" pitchFamily="49" charset="-122"/>
              </a:rPr>
              <a:t>1</a:t>
            </a:r>
            <a:r>
              <a:rPr lang="zh-CN" altLang="en-US" sz="2800" b="0" dirty="0">
                <a:latin typeface="楷体_GB2312" pitchFamily="49" charset="-122"/>
                <a:ea typeface="楷体_GB2312" pitchFamily="49" charset="-122"/>
              </a:rPr>
              <a:t>、</a:t>
            </a:r>
            <a:r>
              <a:rPr lang="en-US" altLang="zh-CN" sz="2800" b="0">
                <a:latin typeface="楷体_GB2312" pitchFamily="49" charset="-122"/>
                <a:ea typeface="楷体_GB2312" pitchFamily="49" charset="-122"/>
              </a:rPr>
              <a:t>2</a:t>
            </a:r>
            <a:r>
              <a:rPr lang="zh-CN" altLang="en-US" sz="2800" b="0" dirty="0">
                <a:latin typeface="楷体_GB2312" pitchFamily="49" charset="-122"/>
                <a:ea typeface="楷体_GB2312" pitchFamily="49" charset="-122"/>
              </a:rPr>
              <a:t>、</a:t>
            </a:r>
            <a:r>
              <a:rPr lang="en-US" altLang="zh-CN" sz="2800" b="0">
                <a:latin typeface="楷体_GB2312" pitchFamily="49" charset="-122"/>
                <a:ea typeface="楷体_GB2312" pitchFamily="49" charset="-122"/>
              </a:rPr>
              <a:t>3</a:t>
            </a:r>
            <a:r>
              <a:rPr lang="en-US" altLang="zh-CN" sz="2800" b="0">
                <a:latin typeface="Arial" panose="020B0604020202020204" pitchFamily="34" charset="0"/>
                <a:ea typeface="楷体_GB2312" pitchFamily="49" charset="-122"/>
              </a:rPr>
              <a:t>……</a:t>
            </a:r>
            <a:r>
              <a:rPr lang="en-US" altLang="zh-CN" sz="2800" b="0">
                <a:latin typeface="楷体_GB2312" pitchFamily="49" charset="-122"/>
                <a:ea typeface="楷体_GB2312" pitchFamily="49" charset="-122"/>
              </a:rPr>
              <a:t>9</a:t>
            </a:r>
            <a:r>
              <a:rPr lang="zh-CN" altLang="en-US" sz="2800" b="0" dirty="0">
                <a:latin typeface="楷体_GB2312" pitchFamily="49" charset="-122"/>
                <a:ea typeface="楷体_GB2312" pitchFamily="49" charset="-122"/>
              </a:rPr>
              <a:t>、</a:t>
            </a:r>
            <a:r>
              <a:rPr lang="en-US" altLang="zh-CN" sz="2800" b="0">
                <a:latin typeface="楷体_GB2312" pitchFamily="49" charset="-122"/>
                <a:ea typeface="楷体_GB2312" pitchFamily="49" charset="-122"/>
              </a:rPr>
              <a:t>0  </a:t>
            </a:r>
            <a:r>
              <a:rPr lang="zh-CN" altLang="en-US" sz="2800" b="0" dirty="0">
                <a:latin typeface="楷体_GB2312" pitchFamily="49" charset="-122"/>
                <a:ea typeface="楷体_GB2312" pitchFamily="49" charset="-122"/>
              </a:rPr>
              <a:t>通常有两大用途：</a:t>
            </a:r>
            <a:endParaRPr lang="zh-CN" altLang="en-US" sz="2800" b="0" dirty="0">
              <a:latin typeface="楷体_GB2312" pitchFamily="49" charset="-122"/>
              <a:ea typeface="楷体_GB2312" pitchFamily="49" charset="-122"/>
            </a:endParaRPr>
          </a:p>
          <a:p>
            <a:pPr lvl="0"/>
            <a:r>
              <a:rPr lang="zh-CN" altLang="en-US" sz="2800" b="0" dirty="0">
                <a:solidFill>
                  <a:srgbClr val="FF3300"/>
                </a:solidFill>
                <a:latin typeface="楷体_GB2312" pitchFamily="49" charset="-122"/>
                <a:ea typeface="楷体_GB2312" pitchFamily="49" charset="-122"/>
              </a:rPr>
              <a:t>表示大小</a:t>
            </a:r>
            <a:r>
              <a:rPr lang="zh-CN" altLang="en-US" sz="2800" b="0" dirty="0">
                <a:latin typeface="楷体_GB2312" pitchFamily="49" charset="-122"/>
                <a:ea typeface="楷体_GB2312" pitchFamily="49" charset="-122"/>
              </a:rPr>
              <a:t>： </a:t>
            </a:r>
            <a:r>
              <a:rPr lang="en-US" altLang="zh-CN" sz="2800" b="0">
                <a:latin typeface="楷体_GB2312" pitchFamily="49" charset="-122"/>
                <a:ea typeface="楷体_GB2312" pitchFamily="49" charset="-122"/>
              </a:rPr>
              <a:t>10000</a:t>
            </a:r>
            <a:r>
              <a:rPr lang="zh-CN" altLang="en-US" sz="2800" b="0" dirty="0">
                <a:latin typeface="楷体_GB2312" pitchFamily="49" charset="-122"/>
                <a:ea typeface="楷体_GB2312" pitchFamily="49" charset="-122"/>
              </a:rPr>
              <a:t>（一万）， </a:t>
            </a:r>
            <a:r>
              <a:rPr lang="en-US" altLang="zh-CN" sz="2800" b="0">
                <a:latin typeface="楷体_GB2312" pitchFamily="49" charset="-122"/>
                <a:ea typeface="楷体_GB2312" pitchFamily="49" charset="-122"/>
              </a:rPr>
              <a:t>8848</a:t>
            </a:r>
            <a:r>
              <a:rPr lang="zh-CN" altLang="en-US" sz="2800" b="0" dirty="0">
                <a:latin typeface="楷体_GB2312" pitchFamily="49" charset="-122"/>
                <a:ea typeface="楷体_GB2312" pitchFamily="49" charset="-122"/>
              </a:rPr>
              <a:t>米。</a:t>
            </a:r>
            <a:endParaRPr lang="zh-CN" altLang="en-US" sz="2800" b="0" dirty="0">
              <a:latin typeface="楷体_GB2312" pitchFamily="49" charset="-122"/>
              <a:ea typeface="楷体_GB2312" pitchFamily="49" charset="-122"/>
            </a:endParaRPr>
          </a:p>
          <a:p>
            <a:pPr lvl="0"/>
            <a:r>
              <a:rPr lang="zh-CN" altLang="en-US" sz="2800" b="0" dirty="0">
                <a:solidFill>
                  <a:srgbClr val="FF3300"/>
                </a:solidFill>
                <a:latin typeface="楷体_GB2312" pitchFamily="49" charset="-122"/>
                <a:ea typeface="楷体_GB2312" pitchFamily="49" charset="-122"/>
              </a:rPr>
              <a:t>表示编码：</a:t>
            </a:r>
            <a:r>
              <a:rPr lang="en-US" altLang="zh-CN" sz="2800" b="0">
                <a:latin typeface="楷体_GB2312" pitchFamily="49" charset="-122"/>
                <a:ea typeface="楷体_GB2312" pitchFamily="49" charset="-122"/>
              </a:rPr>
              <a:t>000213</a:t>
            </a:r>
            <a:r>
              <a:rPr lang="zh-CN" altLang="en-US" sz="2800" b="0" dirty="0">
                <a:latin typeface="楷体_GB2312" pitchFamily="49" charset="-122"/>
                <a:ea typeface="楷体_GB2312" pitchFamily="49" charset="-122"/>
              </a:rPr>
              <a:t>班， </a:t>
            </a:r>
            <a:r>
              <a:rPr lang="en-US" altLang="zh-CN" sz="2800" b="0">
                <a:latin typeface="楷体_GB2312" pitchFamily="49" charset="-122"/>
                <a:ea typeface="楷体_GB2312" pitchFamily="49" charset="-122"/>
              </a:rPr>
              <a:t>8341</a:t>
            </a:r>
            <a:r>
              <a:rPr lang="zh-CN" altLang="en-US" sz="2800" b="0" dirty="0">
                <a:latin typeface="楷体_GB2312" pitchFamily="49" charset="-122"/>
                <a:ea typeface="楷体_GB2312" pitchFamily="49" charset="-122"/>
              </a:rPr>
              <a:t>部队。</a:t>
            </a:r>
            <a:endParaRPr lang="zh-CN" altLang="en-US" sz="2800" b="0" dirty="0">
              <a:latin typeface="楷体_GB2312" pitchFamily="49" charset="-122"/>
              <a:ea typeface="楷体_GB2312" pitchFamily="49" charset="-122"/>
            </a:endParaRPr>
          </a:p>
          <a:p>
            <a:pPr lvl="0">
              <a:lnSpc>
                <a:spcPct val="125000"/>
              </a:lnSpc>
              <a:buNone/>
            </a:pPr>
            <a:r>
              <a:rPr lang="zh-CN" altLang="en-US" sz="2800" b="0" dirty="0">
                <a:latin typeface="楷体_GB2312" pitchFamily="49" charset="-122"/>
                <a:ea typeface="楷体_GB2312" pitchFamily="49" charset="-122"/>
              </a:rPr>
              <a:t>       我们习惯使用十进制，而计算机硬件是基于二进制的，因此需要</a:t>
            </a:r>
            <a:r>
              <a:rPr lang="zh-CN" altLang="en-US" sz="2800" b="0" dirty="0">
                <a:solidFill>
                  <a:srgbClr val="FF3300"/>
                </a:solidFill>
                <a:latin typeface="楷体_GB2312" pitchFamily="49" charset="-122"/>
                <a:ea typeface="楷体_GB2312" pitchFamily="49" charset="-122"/>
              </a:rPr>
              <a:t>用二进制编码表示十进制</a:t>
            </a:r>
            <a:r>
              <a:rPr lang="zh-CN" altLang="en-US" sz="2800" b="0" dirty="0">
                <a:latin typeface="楷体_GB2312" pitchFamily="49" charset="-122"/>
                <a:ea typeface="楷体_GB2312" pitchFamily="49" charset="-122"/>
              </a:rPr>
              <a:t>的</a:t>
            </a:r>
            <a:r>
              <a:rPr lang="en-US" altLang="zh-CN" sz="2800" b="0">
                <a:latin typeface="楷体_GB2312" pitchFamily="49" charset="-122"/>
                <a:ea typeface="楷体_GB2312" pitchFamily="49" charset="-122"/>
              </a:rPr>
              <a:t>0</a:t>
            </a:r>
            <a:r>
              <a:rPr lang="zh-CN" altLang="en-US" sz="2800" b="0" dirty="0">
                <a:latin typeface="楷体_GB2312" pitchFamily="49" charset="-122"/>
                <a:ea typeface="楷体_GB2312" pitchFamily="49" charset="-122"/>
              </a:rPr>
              <a:t>～</a:t>
            </a:r>
            <a:r>
              <a:rPr lang="en-US" altLang="zh-CN" sz="2800" b="0">
                <a:latin typeface="楷体_GB2312" pitchFamily="49" charset="-122"/>
                <a:ea typeface="楷体_GB2312" pitchFamily="49" charset="-122"/>
              </a:rPr>
              <a:t>9</a:t>
            </a:r>
            <a:r>
              <a:rPr lang="zh-CN" altLang="en-US" sz="2800" b="0" dirty="0">
                <a:latin typeface="楷体_GB2312" pitchFamily="49" charset="-122"/>
                <a:ea typeface="楷体_GB2312" pitchFamily="49" charset="-122"/>
              </a:rPr>
              <a:t>十个码元</a:t>
            </a:r>
            <a:r>
              <a:rPr lang="en-US" altLang="zh-CN" sz="2800" b="0">
                <a:latin typeface="楷体_GB2312" pitchFamily="49" charset="-122"/>
                <a:ea typeface="楷体_GB2312" pitchFamily="49" charset="-122"/>
              </a:rPr>
              <a:t>, </a:t>
            </a:r>
            <a:r>
              <a:rPr lang="zh-CN" altLang="en-US" sz="2800" b="0" dirty="0">
                <a:latin typeface="楷体_GB2312" pitchFamily="49" charset="-122"/>
                <a:ea typeface="楷体_GB2312" pitchFamily="49" charset="-122"/>
              </a:rPr>
              <a:t>即</a:t>
            </a:r>
            <a:r>
              <a:rPr lang="en-US" altLang="zh-CN" sz="2800" b="0">
                <a:solidFill>
                  <a:srgbClr val="FF3300"/>
                </a:solidFill>
                <a:latin typeface="楷体_GB2312" pitchFamily="49" charset="-122"/>
                <a:ea typeface="楷体_GB2312" pitchFamily="49" charset="-122"/>
              </a:rPr>
              <a:t>BCD</a:t>
            </a:r>
            <a:r>
              <a:rPr lang="en-US" altLang="zh-CN" sz="2800" b="0">
                <a:latin typeface="楷体_GB2312" pitchFamily="49" charset="-122"/>
                <a:ea typeface="楷体_GB2312" pitchFamily="49" charset="-122"/>
              </a:rPr>
              <a:t> (Binary Coded Decimal) </a:t>
            </a:r>
            <a:r>
              <a:rPr lang="zh-CN" altLang="en-US" sz="2800" b="0" dirty="0">
                <a:latin typeface="楷体_GB2312" pitchFamily="49" charset="-122"/>
                <a:ea typeface="楷体_GB2312" pitchFamily="49" charset="-122"/>
              </a:rPr>
              <a:t>码</a:t>
            </a:r>
            <a:r>
              <a:rPr lang="zh-CN" altLang="en-US" b="0" dirty="0">
                <a:latin typeface="楷体_GB2312" pitchFamily="49" charset="-122"/>
                <a:ea typeface="楷体_GB2312" pitchFamily="49" charset="-122"/>
              </a:rPr>
              <a:t>。</a:t>
            </a:r>
            <a:r>
              <a:rPr lang="zh-CN" altLang="en-US" sz="2800" b="0" dirty="0">
                <a:latin typeface="楷体_GB2312" pitchFamily="49" charset="-122"/>
                <a:ea typeface="楷体_GB2312" pitchFamily="49" charset="-122"/>
              </a:rPr>
              <a:t>至少要用四位二进制数才能表示</a:t>
            </a:r>
            <a:r>
              <a:rPr lang="en-US" altLang="zh-CN" sz="2800" b="0">
                <a:latin typeface="楷体_GB2312" pitchFamily="49" charset="-122"/>
                <a:ea typeface="楷体_GB2312" pitchFamily="49" charset="-122"/>
              </a:rPr>
              <a:t>0</a:t>
            </a:r>
            <a:r>
              <a:rPr lang="zh-CN" altLang="en-US" sz="2800" b="0" dirty="0">
                <a:latin typeface="楷体_GB2312" pitchFamily="49" charset="-122"/>
                <a:ea typeface="楷体_GB2312" pitchFamily="49" charset="-122"/>
              </a:rPr>
              <a:t>～</a:t>
            </a:r>
            <a:r>
              <a:rPr lang="en-US" altLang="zh-CN" sz="2800" b="0">
                <a:latin typeface="楷体_GB2312" pitchFamily="49" charset="-122"/>
                <a:ea typeface="楷体_GB2312" pitchFamily="49" charset="-122"/>
              </a:rPr>
              <a:t>9</a:t>
            </a:r>
            <a:r>
              <a:rPr lang="zh-CN" altLang="en-US" sz="2800" b="0" dirty="0">
                <a:latin typeface="楷体_GB2312" pitchFamily="49" charset="-122"/>
                <a:ea typeface="楷体_GB2312" pitchFamily="49" charset="-122"/>
              </a:rPr>
              <a:t>，因为四位二进制有</a:t>
            </a:r>
            <a:r>
              <a:rPr lang="en-US" altLang="zh-CN" sz="2800" b="0">
                <a:latin typeface="楷体_GB2312" pitchFamily="49" charset="-122"/>
                <a:ea typeface="楷体_GB2312" pitchFamily="49" charset="-122"/>
              </a:rPr>
              <a:t>16</a:t>
            </a:r>
            <a:r>
              <a:rPr lang="zh-CN" altLang="en-US" sz="2800" b="0" dirty="0">
                <a:latin typeface="楷体_GB2312" pitchFamily="49" charset="-122"/>
                <a:ea typeface="楷体_GB2312" pitchFamily="49" charset="-122"/>
              </a:rPr>
              <a:t>种组合</a:t>
            </a:r>
            <a:r>
              <a:rPr lang="en-US" altLang="zh-CN" sz="2800" b="0">
                <a:latin typeface="楷体_GB2312" pitchFamily="49" charset="-122"/>
                <a:ea typeface="楷体_GB2312" pitchFamily="49" charset="-122"/>
              </a:rPr>
              <a:t>. </a:t>
            </a:r>
            <a:r>
              <a:rPr lang="zh-CN" altLang="en-US" sz="2800" b="0" dirty="0">
                <a:latin typeface="楷体_GB2312" pitchFamily="49" charset="-122"/>
                <a:ea typeface="楷体_GB2312" pitchFamily="49" charset="-122"/>
              </a:rPr>
              <a:t>现在的问题是要</a:t>
            </a:r>
            <a:r>
              <a:rPr lang="zh-CN" altLang="en-US" sz="2800" b="0" dirty="0">
                <a:solidFill>
                  <a:srgbClr val="3333CC"/>
                </a:solidFill>
                <a:latin typeface="楷体_GB2312" pitchFamily="49" charset="-122"/>
                <a:ea typeface="楷体_GB2312" pitchFamily="49" charset="-122"/>
              </a:rPr>
              <a:t>在</a:t>
            </a:r>
            <a:r>
              <a:rPr lang="en-US" altLang="zh-CN" sz="2800" b="0">
                <a:solidFill>
                  <a:srgbClr val="3333CC"/>
                </a:solidFill>
                <a:latin typeface="楷体_GB2312" pitchFamily="49" charset="-122"/>
                <a:ea typeface="楷体_GB2312" pitchFamily="49" charset="-122"/>
              </a:rPr>
              <a:t>16</a:t>
            </a:r>
            <a:r>
              <a:rPr lang="zh-CN" altLang="en-US" sz="2800" b="0" dirty="0">
                <a:solidFill>
                  <a:srgbClr val="3333CC"/>
                </a:solidFill>
                <a:latin typeface="楷体_GB2312" pitchFamily="49" charset="-122"/>
                <a:ea typeface="楷体_GB2312" pitchFamily="49" charset="-122"/>
              </a:rPr>
              <a:t>种组合中挑出</a:t>
            </a:r>
            <a:r>
              <a:rPr lang="en-US" altLang="zh-CN" sz="2800" b="0">
                <a:solidFill>
                  <a:srgbClr val="3333CC"/>
                </a:solidFill>
                <a:latin typeface="楷体_GB2312" pitchFamily="49" charset="-122"/>
                <a:ea typeface="楷体_GB2312" pitchFamily="49" charset="-122"/>
              </a:rPr>
              <a:t>10</a:t>
            </a:r>
            <a:r>
              <a:rPr lang="zh-CN" altLang="en-US" sz="2800" b="0" dirty="0">
                <a:solidFill>
                  <a:srgbClr val="3333CC"/>
                </a:solidFill>
                <a:latin typeface="楷体_GB2312" pitchFamily="49" charset="-122"/>
                <a:ea typeface="楷体_GB2312" pitchFamily="49" charset="-122"/>
              </a:rPr>
              <a:t>个</a:t>
            </a:r>
            <a:r>
              <a:rPr lang="zh-CN" altLang="en-US" sz="2800" b="0" dirty="0">
                <a:latin typeface="楷体_GB2312" pitchFamily="49" charset="-122"/>
                <a:ea typeface="楷体_GB2312" pitchFamily="49" charset="-122"/>
              </a:rPr>
              <a:t>，分别表示</a:t>
            </a:r>
            <a:endParaRPr lang="zh-CN" altLang="en-US" sz="2800" b="0" dirty="0">
              <a:latin typeface="楷体_GB2312" pitchFamily="49" charset="-122"/>
              <a:ea typeface="楷体_GB2312" pitchFamily="49" charset="-122"/>
            </a:endParaRPr>
          </a:p>
          <a:p>
            <a:pPr lvl="0">
              <a:lnSpc>
                <a:spcPct val="125000"/>
              </a:lnSpc>
              <a:buNone/>
            </a:pPr>
            <a:r>
              <a:rPr lang="zh-CN" altLang="en-US" sz="2800" b="0" dirty="0">
                <a:latin typeface="楷体_GB2312" pitchFamily="49" charset="-122"/>
                <a:ea typeface="楷体_GB2312" pitchFamily="49" charset="-122"/>
              </a:rPr>
              <a:t>  </a:t>
            </a:r>
            <a:r>
              <a:rPr lang="en-US" altLang="zh-CN" sz="2800" b="0">
                <a:latin typeface="楷体_GB2312" pitchFamily="49" charset="-122"/>
                <a:ea typeface="楷体_GB2312" pitchFamily="49" charset="-122"/>
              </a:rPr>
              <a:t>0</a:t>
            </a:r>
            <a:r>
              <a:rPr lang="zh-CN" altLang="en-US" sz="2800" b="0" dirty="0">
                <a:latin typeface="楷体_GB2312" pitchFamily="49" charset="-122"/>
                <a:ea typeface="楷体_GB2312" pitchFamily="49" charset="-122"/>
              </a:rPr>
              <a:t>～</a:t>
            </a:r>
            <a:r>
              <a:rPr lang="en-US" altLang="zh-CN" sz="2800" b="0">
                <a:latin typeface="楷体_GB2312" pitchFamily="49" charset="-122"/>
                <a:ea typeface="楷体_GB2312" pitchFamily="49" charset="-122"/>
              </a:rPr>
              <a:t>9</a:t>
            </a:r>
            <a:r>
              <a:rPr lang="zh-CN" altLang="en-US" sz="2800" b="0" dirty="0">
                <a:latin typeface="楷体_GB2312" pitchFamily="49" charset="-122"/>
                <a:ea typeface="楷体_GB2312" pitchFamily="49" charset="-122"/>
              </a:rPr>
              <a:t>，怎么挑呢？</a:t>
            </a:r>
            <a:r>
              <a:rPr lang="zh-CN" altLang="en-US" sz="2800" b="0" dirty="0">
                <a:solidFill>
                  <a:srgbClr val="3333CC"/>
                </a:solidFill>
                <a:latin typeface="楷体_GB2312" pitchFamily="49" charset="-122"/>
                <a:ea typeface="楷体_GB2312" pitchFamily="49" charset="-122"/>
              </a:rPr>
              <a:t>不同的挑法构成了不同的</a:t>
            </a:r>
            <a:r>
              <a:rPr lang="en-US" altLang="zh-CN" sz="2800" b="0">
                <a:solidFill>
                  <a:srgbClr val="3333CC"/>
                </a:solidFill>
                <a:latin typeface="楷体_GB2312" pitchFamily="49" charset="-122"/>
                <a:ea typeface="楷体_GB2312" pitchFamily="49" charset="-122"/>
              </a:rPr>
              <a:t>BCD</a:t>
            </a:r>
            <a:r>
              <a:rPr lang="zh-CN" altLang="en-US" sz="2800" b="0" dirty="0">
                <a:solidFill>
                  <a:srgbClr val="3333CC"/>
                </a:solidFill>
                <a:latin typeface="楷体_GB2312" pitchFamily="49" charset="-122"/>
                <a:ea typeface="楷体_GB2312" pitchFamily="49" charset="-122"/>
              </a:rPr>
              <a:t>码</a:t>
            </a:r>
            <a:r>
              <a:rPr lang="zh-CN" altLang="en-US" sz="2800" b="0" dirty="0">
                <a:latin typeface="楷体_GB2312" pitchFamily="49" charset="-122"/>
                <a:ea typeface="楷体_GB2312" pitchFamily="49" charset="-122"/>
              </a:rPr>
              <a:t>。       </a:t>
            </a:r>
            <a:endParaRPr lang="zh-CN" altLang="en-US" sz="2800" b="0" dirty="0">
              <a:latin typeface="楷体_GB2312" pitchFamily="49" charset="-122"/>
              <a:ea typeface="楷体_GB2312" pitchFamily="49"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3670300" y="4565650"/>
              <a:ext cx="577850" cy="584200"/>
            </p14:xfrm>
          </p:contentPart>
        </mc:Choice>
        <mc:Fallback xmlns="">
          <p:pic>
            <p:nvPicPr>
              <p:cNvPr id="2" name="墨迹 1"/>
            </p:nvPicPr>
            <p:blipFill>
              <a:blip r:embed="rId2"/>
            </p:blipFill>
            <p:spPr>
              <a:xfrm>
                <a:off x="3670300" y="4565650"/>
                <a:ext cx="577850" cy="58420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5302250" y="3365500"/>
              <a:ext cx="3511550" cy="44450"/>
            </p14:xfrm>
          </p:contentPart>
        </mc:Choice>
        <mc:Fallback xmlns="">
          <p:pic>
            <p:nvPicPr>
              <p:cNvPr id="3" name="墨迹 2"/>
            </p:nvPicPr>
            <p:blipFill>
              <a:blip r:embed="rId4"/>
            </p:blipFill>
            <p:spPr>
              <a:xfrm>
                <a:off x="5302250" y="3365500"/>
                <a:ext cx="3511550" cy="4445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444500" y="3911600"/>
              <a:ext cx="679450" cy="31750"/>
            </p14:xfrm>
          </p:contentPart>
        </mc:Choice>
        <mc:Fallback xmlns="">
          <p:pic>
            <p:nvPicPr>
              <p:cNvPr id="4" name="墨迹 3"/>
            </p:nvPicPr>
            <p:blipFill>
              <a:blip r:embed="rId6"/>
            </p:blipFill>
            <p:spPr>
              <a:xfrm>
                <a:off x="444500" y="3911600"/>
                <a:ext cx="679450" cy="3175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605"/>
                                        </p:tgtEl>
                                        <p:attrNameLst>
                                          <p:attrName>style.visibility</p:attrName>
                                        </p:attrNameLst>
                                      </p:cBhvr>
                                      <p:to>
                                        <p:strVal val="visible"/>
                                      </p:to>
                                    </p:set>
                                    <p:animEffect transition="in" filter="blinds(horizontal)">
                                      <p:cBhvr>
                                        <p:cTn id="7" dur="500"/>
                                        <p:tgtEl>
                                          <p:spTgt spid="256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8" name="文本框 26627"/>
          <p:cNvSpPr txBox="1"/>
          <p:nvPr/>
        </p:nvSpPr>
        <p:spPr>
          <a:xfrm>
            <a:off x="179388" y="549275"/>
            <a:ext cx="8763000" cy="2043113"/>
          </a:xfrm>
          <a:prstGeom prst="rect">
            <a:avLst/>
          </a:prstGeom>
          <a:noFill/>
          <a:ln w="9525">
            <a:noFill/>
          </a:ln>
        </p:spPr>
        <p:txBody>
          <a:bodyPr lIns="0" rIns="0">
            <a:spAutoFit/>
          </a:bodyPr>
          <a:p>
            <a:pPr>
              <a:spcBef>
                <a:spcPct val="50000"/>
              </a:spcBef>
            </a:pPr>
            <a:r>
              <a:rPr lang="en-US" altLang="zh-CN" sz="3200" dirty="0">
                <a:latin typeface="楷体_GB2312" pitchFamily="49" charset="-122"/>
                <a:ea typeface="楷体_GB2312" pitchFamily="49" charset="-122"/>
              </a:rPr>
              <a:t>    </a:t>
            </a:r>
            <a:r>
              <a:rPr lang="zh-CN" altLang="en-US" sz="3200" dirty="0">
                <a:latin typeface="楷体_GB2312" pitchFamily="49" charset="-122"/>
                <a:ea typeface="楷体_GB2312" pitchFamily="49" charset="-122"/>
              </a:rPr>
              <a:t>用四位自然二进制码中的前十个码字来表示</a:t>
            </a:r>
            <a:endParaRPr lang="zh-CN" altLang="en-US" sz="3200" dirty="0">
              <a:latin typeface="楷体_GB2312" pitchFamily="49" charset="-122"/>
              <a:ea typeface="楷体_GB2312" pitchFamily="49" charset="-122"/>
            </a:endParaRPr>
          </a:p>
          <a:p>
            <a:pPr>
              <a:spcBef>
                <a:spcPct val="50000"/>
              </a:spcBef>
            </a:pPr>
            <a:r>
              <a:rPr lang="zh-CN" altLang="en-US" sz="3200" dirty="0">
                <a:latin typeface="楷体_GB2312" pitchFamily="49" charset="-122"/>
                <a:ea typeface="楷体_GB2312" pitchFamily="49" charset="-122"/>
              </a:rPr>
              <a:t>十进制数码，因各位的权值依次为</a:t>
            </a:r>
            <a:r>
              <a:rPr lang="en-US" altLang="zh-CN" sz="3200">
                <a:latin typeface="楷体_GB2312" pitchFamily="49" charset="-122"/>
                <a:ea typeface="楷体_GB2312" pitchFamily="49" charset="-122"/>
              </a:rPr>
              <a:t>8</a:t>
            </a:r>
            <a:r>
              <a:rPr lang="zh-CN" altLang="en-US" sz="3200" dirty="0">
                <a:latin typeface="楷体_GB2312" pitchFamily="49" charset="-122"/>
                <a:ea typeface="楷体_GB2312" pitchFamily="49" charset="-122"/>
              </a:rPr>
              <a:t>、</a:t>
            </a:r>
            <a:r>
              <a:rPr lang="en-US" altLang="zh-CN" sz="3200">
                <a:latin typeface="楷体_GB2312" pitchFamily="49" charset="-122"/>
                <a:ea typeface="楷体_GB2312" pitchFamily="49" charset="-122"/>
              </a:rPr>
              <a:t>4</a:t>
            </a:r>
            <a:r>
              <a:rPr lang="zh-CN" altLang="en-US" sz="3200" dirty="0">
                <a:latin typeface="楷体_GB2312" pitchFamily="49" charset="-122"/>
                <a:ea typeface="楷体_GB2312" pitchFamily="49" charset="-122"/>
              </a:rPr>
              <a:t>、</a:t>
            </a:r>
            <a:r>
              <a:rPr lang="en-US" altLang="zh-CN" sz="3200">
                <a:latin typeface="楷体_GB2312" pitchFamily="49" charset="-122"/>
                <a:ea typeface="楷体_GB2312" pitchFamily="49" charset="-122"/>
              </a:rPr>
              <a:t>2</a:t>
            </a:r>
            <a:r>
              <a:rPr lang="zh-CN" altLang="en-US" sz="3200" dirty="0">
                <a:latin typeface="楷体_GB2312" pitchFamily="49" charset="-122"/>
                <a:ea typeface="楷体_GB2312" pitchFamily="49" charset="-122"/>
              </a:rPr>
              <a:t>、</a:t>
            </a:r>
            <a:r>
              <a:rPr lang="en-US" altLang="zh-CN" sz="3200">
                <a:latin typeface="楷体_GB2312" pitchFamily="49" charset="-122"/>
                <a:ea typeface="楷体_GB2312" pitchFamily="49" charset="-122"/>
              </a:rPr>
              <a:t>1</a:t>
            </a:r>
            <a:r>
              <a:rPr lang="zh-CN" altLang="en-US" sz="3200" dirty="0">
                <a:latin typeface="楷体_GB2312" pitchFamily="49" charset="-122"/>
                <a:ea typeface="楷体_GB2312" pitchFamily="49" charset="-122"/>
              </a:rPr>
              <a:t>，</a:t>
            </a:r>
            <a:endParaRPr lang="zh-CN" altLang="en-US" sz="3200" dirty="0">
              <a:latin typeface="楷体_GB2312" pitchFamily="49" charset="-122"/>
              <a:ea typeface="楷体_GB2312" pitchFamily="49" charset="-122"/>
            </a:endParaRPr>
          </a:p>
          <a:p>
            <a:pPr>
              <a:spcBef>
                <a:spcPct val="50000"/>
              </a:spcBef>
            </a:pPr>
            <a:r>
              <a:rPr lang="zh-CN" altLang="en-US" sz="3200" dirty="0">
                <a:latin typeface="楷体_GB2312" pitchFamily="49" charset="-122"/>
                <a:ea typeface="楷体_GB2312" pitchFamily="49" charset="-122"/>
              </a:rPr>
              <a:t>故称</a:t>
            </a:r>
            <a:r>
              <a:rPr lang="en-US" altLang="zh-CN" sz="3200">
                <a:solidFill>
                  <a:srgbClr val="FF3300"/>
                </a:solidFill>
                <a:latin typeface="楷体_GB2312" pitchFamily="49" charset="-122"/>
                <a:ea typeface="楷体_GB2312" pitchFamily="49" charset="-122"/>
              </a:rPr>
              <a:t>8421 BCD</a:t>
            </a:r>
            <a:r>
              <a:rPr lang="zh-CN" altLang="en-US" sz="3200" dirty="0">
                <a:latin typeface="楷体_GB2312" pitchFamily="49" charset="-122"/>
                <a:ea typeface="楷体_GB2312" pitchFamily="49" charset="-122"/>
              </a:rPr>
              <a:t>码</a:t>
            </a:r>
            <a:r>
              <a:rPr lang="zh-CN" altLang="en-US" sz="3200" b="0" dirty="0">
                <a:latin typeface="楷体_GB2312" pitchFamily="49" charset="-122"/>
                <a:ea typeface="楷体_GB2312" pitchFamily="49" charset="-122"/>
              </a:rPr>
              <a:t>。</a:t>
            </a:r>
            <a:endParaRPr lang="zh-CN" altLang="en-US" sz="3200" b="0" dirty="0">
              <a:latin typeface="楷体_GB2312" pitchFamily="49" charset="-122"/>
              <a:ea typeface="楷体_GB2312" pitchFamily="49" charset="-122"/>
            </a:endParaRPr>
          </a:p>
        </p:txBody>
      </p:sp>
      <p:sp>
        <p:nvSpPr>
          <p:cNvPr id="26629" name="文本框 26628"/>
          <p:cNvSpPr txBox="1"/>
          <p:nvPr/>
        </p:nvSpPr>
        <p:spPr>
          <a:xfrm>
            <a:off x="323850" y="3068638"/>
            <a:ext cx="8534400" cy="3506787"/>
          </a:xfrm>
          <a:prstGeom prst="rect">
            <a:avLst/>
          </a:prstGeom>
          <a:noFill/>
          <a:ln w="9525">
            <a:noFill/>
          </a:ln>
        </p:spPr>
        <p:txBody>
          <a:bodyPr lIns="0" rIns="0">
            <a:spAutoFit/>
          </a:bodyPr>
          <a:p>
            <a:pPr>
              <a:spcBef>
                <a:spcPct val="50000"/>
              </a:spcBef>
            </a:pPr>
            <a:r>
              <a:rPr lang="en-US" altLang="zh-CN" sz="3200">
                <a:solidFill>
                  <a:srgbClr val="FF3300"/>
                </a:solidFill>
                <a:latin typeface="楷体_GB2312" pitchFamily="49" charset="-122"/>
                <a:ea typeface="楷体_GB2312" pitchFamily="49" charset="-122"/>
              </a:rPr>
              <a:t>2421</a:t>
            </a:r>
            <a:r>
              <a:rPr lang="zh-CN" altLang="en-US" sz="3200" dirty="0">
                <a:solidFill>
                  <a:srgbClr val="FF3300"/>
                </a:solidFill>
                <a:latin typeface="楷体_GB2312" pitchFamily="49" charset="-122"/>
                <a:ea typeface="楷体_GB2312" pitchFamily="49" charset="-122"/>
              </a:rPr>
              <a:t>码</a:t>
            </a:r>
            <a:r>
              <a:rPr lang="zh-CN" altLang="en-US" sz="3200" dirty="0">
                <a:latin typeface="楷体_GB2312" pitchFamily="49" charset="-122"/>
                <a:ea typeface="楷体_GB2312" pitchFamily="49" charset="-122"/>
              </a:rPr>
              <a:t>的权值依次为</a:t>
            </a:r>
            <a:r>
              <a:rPr lang="en-US" altLang="zh-CN" sz="3200">
                <a:latin typeface="楷体_GB2312" pitchFamily="49" charset="-122"/>
                <a:ea typeface="楷体_GB2312" pitchFamily="49" charset="-122"/>
              </a:rPr>
              <a:t>2</a:t>
            </a:r>
            <a:r>
              <a:rPr lang="zh-CN" altLang="en-US" sz="3200" dirty="0">
                <a:latin typeface="楷体_GB2312" pitchFamily="49" charset="-122"/>
                <a:ea typeface="楷体_GB2312" pitchFamily="49" charset="-122"/>
              </a:rPr>
              <a:t>、</a:t>
            </a:r>
            <a:r>
              <a:rPr lang="en-US" altLang="zh-CN" sz="3200">
                <a:latin typeface="楷体_GB2312" pitchFamily="49" charset="-122"/>
                <a:ea typeface="楷体_GB2312" pitchFamily="49" charset="-122"/>
              </a:rPr>
              <a:t>4</a:t>
            </a:r>
            <a:r>
              <a:rPr lang="zh-CN" altLang="en-US" sz="3200" dirty="0">
                <a:latin typeface="楷体_GB2312" pitchFamily="49" charset="-122"/>
                <a:ea typeface="楷体_GB2312" pitchFamily="49" charset="-122"/>
              </a:rPr>
              <a:t>、</a:t>
            </a:r>
            <a:r>
              <a:rPr lang="en-US" altLang="zh-CN" sz="3200">
                <a:latin typeface="楷体_GB2312" pitchFamily="49" charset="-122"/>
                <a:ea typeface="楷体_GB2312" pitchFamily="49" charset="-122"/>
              </a:rPr>
              <a:t>2</a:t>
            </a:r>
            <a:r>
              <a:rPr lang="zh-CN" altLang="en-US" sz="3200" dirty="0">
                <a:latin typeface="楷体_GB2312" pitchFamily="49" charset="-122"/>
                <a:ea typeface="楷体_GB2312" pitchFamily="49" charset="-122"/>
              </a:rPr>
              <a:t>、</a:t>
            </a:r>
            <a:r>
              <a:rPr lang="en-US" altLang="zh-CN" sz="3200">
                <a:latin typeface="楷体_GB2312" pitchFamily="49" charset="-122"/>
                <a:ea typeface="楷体_GB2312" pitchFamily="49" charset="-122"/>
              </a:rPr>
              <a:t>1</a:t>
            </a:r>
            <a:r>
              <a:rPr lang="zh-CN" altLang="en-US" sz="3200" dirty="0">
                <a:latin typeface="楷体_GB2312" pitchFamily="49" charset="-122"/>
                <a:ea typeface="楷体_GB2312" pitchFamily="49" charset="-122"/>
              </a:rPr>
              <a:t>；</a:t>
            </a:r>
            <a:endParaRPr lang="zh-CN" altLang="en-US" sz="3200" dirty="0">
              <a:latin typeface="楷体_GB2312" pitchFamily="49" charset="-122"/>
              <a:ea typeface="楷体_GB2312" pitchFamily="49" charset="-122"/>
            </a:endParaRPr>
          </a:p>
          <a:p>
            <a:pPr>
              <a:spcBef>
                <a:spcPct val="50000"/>
              </a:spcBef>
            </a:pPr>
            <a:r>
              <a:rPr lang="zh-CN" altLang="en-US" sz="3200" dirty="0">
                <a:solidFill>
                  <a:srgbClr val="FF3300"/>
                </a:solidFill>
                <a:latin typeface="楷体_GB2312" pitchFamily="49" charset="-122"/>
                <a:ea typeface="楷体_GB2312" pitchFamily="49" charset="-122"/>
              </a:rPr>
              <a:t>余</a:t>
            </a:r>
            <a:r>
              <a:rPr lang="en-US" altLang="zh-CN" sz="3200">
                <a:solidFill>
                  <a:srgbClr val="FF3300"/>
                </a:solidFill>
                <a:latin typeface="楷体_GB2312" pitchFamily="49" charset="-122"/>
                <a:ea typeface="楷体_GB2312" pitchFamily="49" charset="-122"/>
              </a:rPr>
              <a:t>3</a:t>
            </a:r>
            <a:r>
              <a:rPr lang="zh-CN" altLang="en-US" sz="3200" dirty="0">
                <a:solidFill>
                  <a:srgbClr val="FF3300"/>
                </a:solidFill>
                <a:latin typeface="楷体_GB2312" pitchFamily="49" charset="-122"/>
                <a:ea typeface="楷体_GB2312" pitchFamily="49" charset="-122"/>
              </a:rPr>
              <a:t>码</a:t>
            </a:r>
            <a:r>
              <a:rPr lang="zh-CN" altLang="en-US" sz="3200" dirty="0">
                <a:latin typeface="楷体_GB2312" pitchFamily="49" charset="-122"/>
                <a:ea typeface="楷体_GB2312" pitchFamily="49" charset="-122"/>
              </a:rPr>
              <a:t>由</a:t>
            </a:r>
            <a:r>
              <a:rPr lang="en-US" altLang="zh-CN" sz="3200">
                <a:latin typeface="楷体_GB2312" pitchFamily="49" charset="-122"/>
                <a:ea typeface="楷体_GB2312" pitchFamily="49" charset="-122"/>
              </a:rPr>
              <a:t>8421</a:t>
            </a:r>
            <a:r>
              <a:rPr lang="zh-CN" altLang="en-US" sz="3200" dirty="0">
                <a:latin typeface="楷体_GB2312" pitchFamily="49" charset="-122"/>
                <a:ea typeface="楷体_GB2312" pitchFamily="49" charset="-122"/>
              </a:rPr>
              <a:t>码加</a:t>
            </a:r>
            <a:r>
              <a:rPr lang="en-US" altLang="zh-CN" sz="3200">
                <a:latin typeface="楷体_GB2312" pitchFamily="49" charset="-122"/>
                <a:ea typeface="楷体_GB2312" pitchFamily="49" charset="-122"/>
              </a:rPr>
              <a:t>0011</a:t>
            </a:r>
            <a:r>
              <a:rPr lang="zh-CN" altLang="en-US" sz="3200" dirty="0">
                <a:latin typeface="楷体_GB2312" pitchFamily="49" charset="-122"/>
                <a:ea typeface="楷体_GB2312" pitchFamily="49" charset="-122"/>
              </a:rPr>
              <a:t>得到；</a:t>
            </a:r>
            <a:endParaRPr lang="zh-CN" altLang="en-US" sz="3200" dirty="0">
              <a:latin typeface="楷体_GB2312" pitchFamily="49" charset="-122"/>
              <a:ea typeface="楷体_GB2312" pitchFamily="49" charset="-122"/>
            </a:endParaRPr>
          </a:p>
          <a:p>
            <a:pPr>
              <a:spcBef>
                <a:spcPct val="50000"/>
              </a:spcBef>
            </a:pPr>
            <a:r>
              <a:rPr lang="zh-CN" altLang="en-US" sz="3200" dirty="0">
                <a:solidFill>
                  <a:srgbClr val="FF3300"/>
                </a:solidFill>
                <a:latin typeface="楷体_GB2312" pitchFamily="49" charset="-122"/>
                <a:ea typeface="楷体_GB2312" pitchFamily="49" charset="-122"/>
              </a:rPr>
              <a:t>余</a:t>
            </a:r>
            <a:r>
              <a:rPr lang="en-US" altLang="zh-CN" sz="3200">
                <a:solidFill>
                  <a:srgbClr val="FF3300"/>
                </a:solidFill>
                <a:latin typeface="楷体_GB2312" pitchFamily="49" charset="-122"/>
                <a:ea typeface="楷体_GB2312" pitchFamily="49" charset="-122"/>
              </a:rPr>
              <a:t>3</a:t>
            </a:r>
            <a:r>
              <a:rPr lang="zh-CN" altLang="en-US" sz="3200" dirty="0">
                <a:solidFill>
                  <a:srgbClr val="FF3300"/>
                </a:solidFill>
                <a:latin typeface="楷体_GB2312" pitchFamily="49" charset="-122"/>
                <a:ea typeface="楷体_GB2312" pitchFamily="49" charset="-122"/>
              </a:rPr>
              <a:t>循环码</a:t>
            </a:r>
            <a:r>
              <a:rPr lang="zh-CN" altLang="en-US" sz="3200" dirty="0">
                <a:latin typeface="楷体_GB2312" pitchFamily="49" charset="-122"/>
                <a:ea typeface="楷体_GB2312" pitchFamily="49" charset="-122"/>
              </a:rPr>
              <a:t>是一种变权码，其特点是任何相邻的</a:t>
            </a:r>
            <a:endParaRPr lang="zh-CN" altLang="en-US" sz="3200" dirty="0">
              <a:latin typeface="楷体_GB2312" pitchFamily="49" charset="-122"/>
              <a:ea typeface="楷体_GB2312" pitchFamily="49" charset="-122"/>
            </a:endParaRPr>
          </a:p>
          <a:p>
            <a:pPr>
              <a:spcBef>
                <a:spcPct val="50000"/>
              </a:spcBef>
            </a:pPr>
            <a:r>
              <a:rPr lang="zh-CN" altLang="en-US" sz="3200" dirty="0">
                <a:latin typeface="楷体_GB2312" pitchFamily="49" charset="-122"/>
                <a:ea typeface="楷体_GB2312" pitchFamily="49" charset="-122"/>
              </a:rPr>
              <a:t>两个码字，仅有一位代码不同，其它位相同。</a:t>
            </a:r>
            <a:endParaRPr lang="zh-CN" altLang="en-US" sz="3200" dirty="0">
              <a:latin typeface="楷体_GB2312" pitchFamily="49" charset="-122"/>
              <a:ea typeface="楷体_GB2312" pitchFamily="49" charset="-122"/>
            </a:endParaRPr>
          </a:p>
          <a:p>
            <a:pPr>
              <a:spcBef>
                <a:spcPct val="50000"/>
              </a:spcBef>
            </a:pPr>
            <a:r>
              <a:rPr lang="en-US" altLang="zh-CN" sz="3200">
                <a:solidFill>
                  <a:srgbClr val="FF3300"/>
                </a:solidFill>
                <a:latin typeface="楷体_GB2312" pitchFamily="49" charset="-122"/>
                <a:ea typeface="楷体_GB2312" pitchFamily="49" charset="-122"/>
              </a:rPr>
              <a:t>5211</a:t>
            </a:r>
            <a:r>
              <a:rPr lang="zh-CN" altLang="en-US" sz="3200" dirty="0">
                <a:solidFill>
                  <a:srgbClr val="FF3300"/>
                </a:solidFill>
                <a:latin typeface="楷体_GB2312" pitchFamily="49" charset="-122"/>
                <a:ea typeface="楷体_GB2312" pitchFamily="49" charset="-122"/>
              </a:rPr>
              <a:t>码</a:t>
            </a:r>
            <a:endParaRPr lang="zh-CN" altLang="en-US" sz="3200" dirty="0">
              <a:solidFill>
                <a:srgbClr val="FF3300"/>
              </a:solidFill>
              <a:latin typeface="楷体_GB2312" pitchFamily="49" charset="-122"/>
              <a:ea typeface="楷体_GB2312" pitchFamily="49"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323850" y="4984750"/>
              <a:ext cx="4267200" cy="44450"/>
            </p14:xfrm>
          </p:contentPart>
        </mc:Choice>
        <mc:Fallback xmlns="">
          <p:pic>
            <p:nvPicPr>
              <p:cNvPr id="2" name="墨迹 1"/>
            </p:nvPicPr>
            <p:blipFill>
              <a:blip r:embed="rId2"/>
            </p:blipFill>
            <p:spPr>
              <a:xfrm>
                <a:off x="323850" y="4984750"/>
                <a:ext cx="4267200" cy="4445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5429250" y="4572000"/>
              <a:ext cx="800100" cy="469900"/>
            </p14:xfrm>
          </p:contentPart>
        </mc:Choice>
        <mc:Fallback xmlns="">
          <p:pic>
            <p:nvPicPr>
              <p:cNvPr id="3" name="墨迹 2"/>
            </p:nvPicPr>
            <p:blipFill>
              <a:blip r:embed="rId4"/>
            </p:blipFill>
            <p:spPr>
              <a:xfrm>
                <a:off x="5429250" y="4572000"/>
                <a:ext cx="800100" cy="4699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6623050" y="5022850"/>
              <a:ext cx="2044700" cy="44450"/>
            </p14:xfrm>
          </p:contentPart>
        </mc:Choice>
        <mc:Fallback xmlns="">
          <p:pic>
            <p:nvPicPr>
              <p:cNvPr id="4" name="墨迹 3"/>
            </p:nvPicPr>
            <p:blipFill>
              <a:blip r:embed="rId6"/>
            </p:blipFill>
            <p:spPr>
              <a:xfrm>
                <a:off x="6623050" y="5022850"/>
                <a:ext cx="2044700" cy="4445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342900" y="5803900"/>
              <a:ext cx="7766050" cy="25400"/>
            </p14:xfrm>
          </p:contentPart>
        </mc:Choice>
        <mc:Fallback xmlns="">
          <p:pic>
            <p:nvPicPr>
              <p:cNvPr id="5" name="墨迹 4"/>
            </p:nvPicPr>
            <p:blipFill>
              <a:blip r:embed="rId8"/>
            </p:blipFill>
            <p:spPr>
              <a:xfrm>
                <a:off x="342900" y="5803900"/>
                <a:ext cx="7766050" cy="2540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6628">
                                            <p:txEl>
                                              <p:charRg st="0" end="24"/>
                                            </p:txEl>
                                          </p:spTgt>
                                        </p:tgtEl>
                                        <p:attrNameLst>
                                          <p:attrName>style.visibility</p:attrName>
                                        </p:attrNameLst>
                                      </p:cBhvr>
                                      <p:to>
                                        <p:strVal val="visible"/>
                                      </p:to>
                                    </p:set>
                                    <p:animEffect transition="in" filter="wipe(left)">
                                      <p:cBhvr>
                                        <p:cTn id="7" dur="500"/>
                                        <p:tgtEl>
                                          <p:spTgt spid="26628">
                                            <p:txEl>
                                              <p:charRg st="0" end="24"/>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6628">
                                            <p:txEl>
                                              <p:charRg st="24" end="48"/>
                                            </p:txEl>
                                          </p:spTgt>
                                        </p:tgtEl>
                                        <p:attrNameLst>
                                          <p:attrName>style.visibility</p:attrName>
                                        </p:attrNameLst>
                                      </p:cBhvr>
                                      <p:to>
                                        <p:strVal val="visible"/>
                                      </p:to>
                                    </p:set>
                                    <p:animEffect transition="in" filter="wipe(left)">
                                      <p:cBhvr>
                                        <p:cTn id="10" dur="500"/>
                                        <p:tgtEl>
                                          <p:spTgt spid="26628">
                                            <p:txEl>
                                              <p:charRg st="24" end="48"/>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6628">
                                            <p:txEl>
                                              <p:charRg st="48" end="61"/>
                                            </p:txEl>
                                          </p:spTgt>
                                        </p:tgtEl>
                                        <p:attrNameLst>
                                          <p:attrName>style.visibility</p:attrName>
                                        </p:attrNameLst>
                                      </p:cBhvr>
                                      <p:to>
                                        <p:strVal val="visible"/>
                                      </p:to>
                                    </p:set>
                                    <p:animEffect transition="in" filter="wipe(left)">
                                      <p:cBhvr>
                                        <p:cTn id="13" dur="500"/>
                                        <p:tgtEl>
                                          <p:spTgt spid="26628">
                                            <p:txEl>
                                              <p:charRg st="48" end="6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6629">
                                            <p:txEl>
                                              <p:charRg st="0" end="20"/>
                                            </p:txEl>
                                          </p:spTgt>
                                        </p:tgtEl>
                                        <p:attrNameLst>
                                          <p:attrName>style.visibility</p:attrName>
                                        </p:attrNameLst>
                                      </p:cBhvr>
                                      <p:to>
                                        <p:strVal val="visible"/>
                                      </p:to>
                                    </p:set>
                                    <p:animEffect transition="in" filter="wipe(left)">
                                      <p:cBhvr>
                                        <p:cTn id="18" dur="500"/>
                                        <p:tgtEl>
                                          <p:spTgt spid="26629">
                                            <p:txEl>
                                              <p:charRg st="0" end="2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6629">
                                            <p:txEl>
                                              <p:charRg st="20" end="38"/>
                                            </p:txEl>
                                          </p:spTgt>
                                        </p:tgtEl>
                                        <p:attrNameLst>
                                          <p:attrName>style.visibility</p:attrName>
                                        </p:attrNameLst>
                                      </p:cBhvr>
                                      <p:to>
                                        <p:strVal val="visible"/>
                                      </p:to>
                                    </p:set>
                                    <p:animEffect transition="in" filter="wipe(left)">
                                      <p:cBhvr>
                                        <p:cTn id="23" dur="500"/>
                                        <p:tgtEl>
                                          <p:spTgt spid="26629">
                                            <p:txEl>
                                              <p:charRg st="20" end="38"/>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6629">
                                            <p:txEl>
                                              <p:charRg st="38" end="60"/>
                                            </p:txEl>
                                          </p:spTgt>
                                        </p:tgtEl>
                                        <p:attrNameLst>
                                          <p:attrName>style.visibility</p:attrName>
                                        </p:attrNameLst>
                                      </p:cBhvr>
                                      <p:to>
                                        <p:strVal val="visible"/>
                                      </p:to>
                                    </p:set>
                                    <p:animEffect transition="in" filter="wipe(left)">
                                      <p:cBhvr>
                                        <p:cTn id="28" dur="500"/>
                                        <p:tgtEl>
                                          <p:spTgt spid="26629">
                                            <p:txEl>
                                              <p:charRg st="38" end="6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6629">
                                            <p:txEl>
                                              <p:charRg st="60" end="81"/>
                                            </p:txEl>
                                          </p:spTgt>
                                        </p:tgtEl>
                                        <p:attrNameLst>
                                          <p:attrName>style.visibility</p:attrName>
                                        </p:attrNameLst>
                                      </p:cBhvr>
                                      <p:to>
                                        <p:strVal val="visible"/>
                                      </p:to>
                                    </p:set>
                                    <p:animEffect transition="in" filter="wipe(left)">
                                      <p:cBhvr>
                                        <p:cTn id="33" dur="500"/>
                                        <p:tgtEl>
                                          <p:spTgt spid="26629">
                                            <p:txEl>
                                              <p:charRg st="60" end="8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6629">
                                            <p:txEl>
                                              <p:charRg st="81" end="87"/>
                                            </p:txEl>
                                          </p:spTgt>
                                        </p:tgtEl>
                                        <p:attrNameLst>
                                          <p:attrName>style.visibility</p:attrName>
                                        </p:attrNameLst>
                                      </p:cBhvr>
                                      <p:to>
                                        <p:strVal val="visible"/>
                                      </p:to>
                                    </p:set>
                                    <p:animEffect transition="in" filter="wipe(left)">
                                      <p:cBhvr>
                                        <p:cTn id="38" dur="500"/>
                                        <p:tgtEl>
                                          <p:spTgt spid="26629">
                                            <p:txEl>
                                              <p:charRg st="81" end="8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build="p"/>
      <p:bldP spid="26629"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7653" name="对象 27652"/>
          <p:cNvGraphicFramePr/>
          <p:nvPr/>
        </p:nvGraphicFramePr>
        <p:xfrm>
          <a:off x="0" y="0"/>
          <a:ext cx="9045575" cy="6105525"/>
        </p:xfrm>
        <a:graphic>
          <a:graphicData uri="http://schemas.openxmlformats.org/presentationml/2006/ole">
            <mc:AlternateContent xmlns:mc="http://schemas.openxmlformats.org/markup-compatibility/2006">
              <mc:Choice xmlns:v="urn:schemas-microsoft-com:vml" Requires="v">
                <p:oleObj spid="_x0000_s3081" name="" r:id="rId1" imgW="8169910" imgH="5532120" progId="Word.Document.8">
                  <p:embed/>
                </p:oleObj>
              </mc:Choice>
              <mc:Fallback>
                <p:oleObj name="" r:id="rId1" imgW="8169910" imgH="5532120" progId="Word.Document.8">
                  <p:embed/>
                  <p:pic>
                    <p:nvPicPr>
                      <p:cNvPr id="0" name="图片 3080"/>
                      <p:cNvPicPr/>
                      <p:nvPr/>
                    </p:nvPicPr>
                    <p:blipFill>
                      <a:blip r:embed="rId2"/>
                      <a:srcRect l="2791" t="1492" r="3256" b="2985"/>
                      <a:stretch>
                        <a:fillRect/>
                      </a:stretch>
                    </p:blipFill>
                    <p:spPr>
                      <a:xfrm>
                        <a:off x="0" y="0"/>
                        <a:ext cx="9045575" cy="6105525"/>
                      </a:xfrm>
                      <a:prstGeom prst="rect">
                        <a:avLst/>
                      </a:prstGeom>
                      <a:solidFill>
                        <a:srgbClr val="D9FFEC"/>
                      </a:solid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27653"/>
                                        </p:tgtEl>
                                        <p:attrNameLst>
                                          <p:attrName>style.visibility</p:attrName>
                                        </p:attrNameLst>
                                      </p:cBhvr>
                                      <p:to>
                                        <p:strVal val="visible"/>
                                      </p:to>
                                    </p:set>
                                    <p:anim calcmode="lin" valueType="num">
                                      <p:cBhvr>
                                        <p:cTn id="7" dur="500" fill="hold"/>
                                        <p:tgtEl>
                                          <p:spTgt spid="27653"/>
                                        </p:tgtEl>
                                        <p:attrNameLst>
                                          <p:attrName>ppt_w</p:attrName>
                                        </p:attrNameLst>
                                      </p:cBhvr>
                                      <p:tavLst>
                                        <p:tav tm="0">
                                          <p:val>
                                            <p:fltVal val="0.000000"/>
                                          </p:val>
                                        </p:tav>
                                        <p:tav tm="100000">
                                          <p:val>
                                            <p:strVal val="#ppt_w"/>
                                          </p:val>
                                        </p:tav>
                                      </p:tavLst>
                                    </p:anim>
                                    <p:anim calcmode="lin" valueType="num">
                                      <p:cBhvr>
                                        <p:cTn id="8" dur="500" fill="hold"/>
                                        <p:tgtEl>
                                          <p:spTgt spid="27653"/>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标题 36865"/>
          <p:cNvSpPr>
            <a:spLocks noGrp="1"/>
          </p:cNvSpPr>
          <p:nvPr>
            <p:ph type="title"/>
          </p:nvPr>
        </p:nvSpPr>
        <p:spPr>
          <a:xfrm>
            <a:off x="395288" y="0"/>
            <a:ext cx="8229600" cy="884238"/>
          </a:xfrm>
        </p:spPr>
        <p:txBody>
          <a:bodyPr anchor="ctr" anchorCtr="0"/>
          <a:p>
            <a:r>
              <a:rPr lang="zh-CN" altLang="en-US" sz="4000" dirty="0"/>
              <a:t>二、格雷码</a:t>
            </a:r>
            <a:endParaRPr lang="zh-CN" altLang="en-US" sz="4000" dirty="0"/>
          </a:p>
        </p:txBody>
      </p:sp>
      <p:sp>
        <p:nvSpPr>
          <p:cNvPr id="36867" name="文本框 36866"/>
          <p:cNvSpPr txBox="1"/>
          <p:nvPr/>
        </p:nvSpPr>
        <p:spPr>
          <a:xfrm>
            <a:off x="539750" y="620713"/>
            <a:ext cx="8280400" cy="2465387"/>
          </a:xfrm>
          <a:prstGeom prst="rect">
            <a:avLst/>
          </a:prstGeom>
          <a:noFill/>
          <a:ln w="9525">
            <a:noFill/>
          </a:ln>
        </p:spPr>
        <p:txBody>
          <a:bodyPr>
            <a:spAutoFit/>
          </a:bodyPr>
          <a:p>
            <a:pPr>
              <a:spcBef>
                <a:spcPct val="50000"/>
              </a:spcBef>
            </a:pPr>
            <a:r>
              <a:rPr lang="zh-CN" altLang="en-US" sz="2400" b="0" dirty="0">
                <a:latin typeface="Arial" panose="020B0604020202020204" pitchFamily="34" charset="0"/>
                <a:ea typeface="楷体_GB2312" pitchFamily="49" charset="-122"/>
              </a:rPr>
              <a:t>特点：</a:t>
            </a:r>
            <a:r>
              <a:rPr lang="en-US" altLang="zh-CN" sz="2400" b="0">
                <a:latin typeface="Arial" panose="020B0604020202020204" pitchFamily="34" charset="0"/>
                <a:ea typeface="楷体_GB2312" pitchFamily="49" charset="-122"/>
              </a:rPr>
              <a:t>1.</a:t>
            </a:r>
            <a:r>
              <a:rPr lang="zh-CN" altLang="en-US" sz="2400" b="0" dirty="0">
                <a:latin typeface="Arial" panose="020B0604020202020204" pitchFamily="34" charset="0"/>
                <a:ea typeface="楷体_GB2312" pitchFamily="49" charset="-122"/>
              </a:rPr>
              <a:t>每一位的状态变化都按一定的顺序循环。</a:t>
            </a:r>
            <a:endParaRPr lang="zh-CN" altLang="en-US" sz="2400" b="0" dirty="0">
              <a:latin typeface="Arial" panose="020B0604020202020204" pitchFamily="34" charset="0"/>
              <a:ea typeface="楷体_GB2312" pitchFamily="49" charset="-122"/>
            </a:endParaRPr>
          </a:p>
          <a:p>
            <a:pPr>
              <a:spcBef>
                <a:spcPct val="50000"/>
              </a:spcBef>
            </a:pPr>
            <a:r>
              <a:rPr lang="zh-CN" altLang="en-US" sz="2400" b="0">
                <a:latin typeface="Arial" panose="020B0604020202020204" pitchFamily="34" charset="0"/>
                <a:ea typeface="楷体_GB2312" pitchFamily="49" charset="-122"/>
              </a:rPr>
              <a:t>            </a:t>
            </a:r>
            <a:r>
              <a:rPr lang="en-US" altLang="zh-CN" sz="2400" b="0">
                <a:latin typeface="Arial" panose="020B0604020202020204" pitchFamily="34" charset="0"/>
                <a:ea typeface="楷体_GB2312" pitchFamily="49" charset="-122"/>
              </a:rPr>
              <a:t>2.</a:t>
            </a:r>
            <a:r>
              <a:rPr lang="zh-CN" altLang="en-US" sz="2400" b="0" dirty="0">
                <a:latin typeface="Arial" panose="020B0604020202020204" pitchFamily="34" charset="0"/>
                <a:ea typeface="楷体_GB2312" pitchFamily="49" charset="-122"/>
              </a:rPr>
              <a:t>编码顺序依次变化，按表中顺序变化时，相邻代码只有一位改变状态。</a:t>
            </a:r>
            <a:endParaRPr lang="zh-CN" altLang="en-US" sz="2400" b="0" dirty="0">
              <a:latin typeface="Arial" panose="020B0604020202020204" pitchFamily="34" charset="0"/>
              <a:ea typeface="楷体_GB2312" pitchFamily="49" charset="-122"/>
            </a:endParaRPr>
          </a:p>
          <a:p>
            <a:pPr>
              <a:spcBef>
                <a:spcPct val="50000"/>
              </a:spcBef>
            </a:pPr>
            <a:r>
              <a:rPr lang="zh-CN" altLang="en-US" sz="2400" b="0" dirty="0">
                <a:latin typeface="Arial" panose="020B0604020202020204" pitchFamily="34" charset="0"/>
                <a:ea typeface="楷体_GB2312" pitchFamily="49" charset="-122"/>
              </a:rPr>
              <a:t>应用：减少过渡噪声</a:t>
            </a:r>
            <a:endParaRPr lang="zh-CN" altLang="en-US" sz="2400" b="0" dirty="0">
              <a:latin typeface="Arial" panose="020B0604020202020204" pitchFamily="34" charset="0"/>
              <a:ea typeface="楷体_GB2312" pitchFamily="49" charset="-122"/>
            </a:endParaRPr>
          </a:p>
          <a:p>
            <a:pPr>
              <a:spcBef>
                <a:spcPct val="50000"/>
              </a:spcBef>
            </a:pPr>
            <a:r>
              <a:rPr lang="zh-CN" altLang="en-US" sz="2400" b="0" dirty="0">
                <a:latin typeface="Arial" panose="020B0604020202020204" pitchFamily="34" charset="0"/>
                <a:ea typeface="楷体_GB2312" pitchFamily="49" charset="-122"/>
              </a:rPr>
              <a:t>        </a:t>
            </a:r>
            <a:endParaRPr lang="zh-CN" altLang="en-US" sz="2400" b="0">
              <a:latin typeface="Arial" panose="020B0604020202020204" pitchFamily="34" charset="0"/>
              <a:ea typeface="楷体_GB2312" pitchFamily="49" charset="-122"/>
            </a:endParaRPr>
          </a:p>
        </p:txBody>
      </p:sp>
      <p:graphicFrame>
        <p:nvGraphicFramePr>
          <p:cNvPr id="36868" name="内容占位符 36867"/>
          <p:cNvGraphicFramePr/>
          <p:nvPr>
            <p:ph idx="1"/>
          </p:nvPr>
        </p:nvGraphicFramePr>
        <p:xfrm>
          <a:off x="611188" y="2565400"/>
          <a:ext cx="6985000" cy="4140200"/>
        </p:xfrm>
        <a:graphic>
          <a:graphicData uri="http://schemas.openxmlformats.org/drawingml/2006/table">
            <a:tbl>
              <a:tblPr/>
              <a:tblGrid>
                <a:gridCol w="919163"/>
                <a:gridCol w="1057275"/>
                <a:gridCol w="1289050"/>
                <a:gridCol w="1239837"/>
                <a:gridCol w="1239838"/>
                <a:gridCol w="1239837"/>
              </a:tblGrid>
              <a:tr h="639763">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zh-CN" altLang="en-US" sz="1800" dirty="0"/>
                        <a:t>编码顺序</a:t>
                      </a:r>
                      <a:endParaRPr lang="zh-CN" altLang="en-US" sz="18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zh-CN" altLang="en-US" sz="1800" dirty="0"/>
                        <a:t>二进制</a:t>
                      </a:r>
                      <a:endParaRPr lang="zh-CN" altLang="en-US" sz="18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FF00"/>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zh-CN" altLang="en-US" sz="1800" dirty="0"/>
                        <a:t>格雷码</a:t>
                      </a:r>
                      <a:endParaRPr lang="zh-CN" altLang="en-US" sz="18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zh-CN" altLang="en-US" sz="1800" dirty="0"/>
                        <a:t>编码顺序</a:t>
                      </a:r>
                      <a:endParaRPr lang="zh-CN" altLang="en-US" sz="18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FFCC"/>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zh-CN" altLang="en-US" sz="1800" dirty="0"/>
                        <a:t>二进制码</a:t>
                      </a:r>
                      <a:endParaRPr lang="zh-CN" altLang="en-US" sz="18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zh-CN" altLang="en-US" sz="1800" dirty="0"/>
                        <a:t>格雷码</a:t>
                      </a:r>
                      <a:endParaRPr lang="zh-CN" altLang="en-US" sz="18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0000"/>
                    </a:solidFill>
                  </a:tcPr>
                </a:tc>
              </a:tr>
              <a:tr h="501650">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a:t>0</a:t>
                      </a:r>
                      <a:endParaRPr lang="zh-CN" altLang="en-US"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0000</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FF00"/>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0000</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8</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FFCC"/>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1000</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1100</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0000"/>
                    </a:solidFill>
                  </a:tcPr>
                </a:tc>
              </a:tr>
              <a:tr h="428625">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a:t>1</a:t>
                      </a:r>
                      <a:endParaRPr lang="zh-CN" altLang="en-US"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0001</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FF00"/>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0001</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9</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FFCC"/>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1001</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1101</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0000"/>
                    </a:solidFill>
                  </a:tcPr>
                </a:tc>
              </a:tr>
              <a:tr h="428625">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a:t>2</a:t>
                      </a:r>
                      <a:endParaRPr lang="zh-CN" altLang="en-US"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0010</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FF00"/>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0011</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10</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FFCC"/>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1010</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1111</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0000"/>
                    </a:solidFill>
                  </a:tcPr>
                </a:tc>
              </a:tr>
              <a:tr h="428625">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a:t>3</a:t>
                      </a:r>
                      <a:endParaRPr lang="zh-CN" altLang="en-US"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0011</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FF00"/>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0010</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11</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FFCC"/>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1011</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1110</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0000"/>
                    </a:solidFill>
                  </a:tcPr>
                </a:tc>
              </a:tr>
              <a:tr h="428625">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a:t>4</a:t>
                      </a:r>
                      <a:endParaRPr lang="zh-CN" altLang="en-US"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0100</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FF00"/>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0110</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12</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FFCC"/>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1100</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1010</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0000"/>
                    </a:solidFill>
                  </a:tcPr>
                </a:tc>
              </a:tr>
              <a:tr h="427037">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a:t>5</a:t>
                      </a:r>
                      <a:endParaRPr lang="zh-CN" altLang="en-US"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0101</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FF00"/>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0111</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13</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FFCC"/>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1101</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1011</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0000"/>
                    </a:solidFill>
                  </a:tcPr>
                </a:tc>
              </a:tr>
              <a:tr h="428625">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a:t>6</a:t>
                      </a:r>
                      <a:endParaRPr lang="zh-CN" altLang="en-US"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0110</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FF00"/>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0101</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14</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FFCC"/>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1110</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1001</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0000"/>
                    </a:solidFill>
                  </a:tcPr>
                </a:tc>
              </a:tr>
              <a:tr h="428625">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a:t>7</a:t>
                      </a:r>
                      <a:endParaRPr lang="zh-CN" altLang="en-US" sz="18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0111</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FF00"/>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0100</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00"/>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15</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66FFCC"/>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1111</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1800" b="1"/>
                        <a:t>1000</a:t>
                      </a:r>
                      <a:endParaRPr lang="zh-CN" altLang="en-US" sz="18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0000"/>
                    </a:solidFill>
                  </a:tcPr>
                </a:tc>
              </a:tr>
            </a:tbl>
          </a:graphicData>
        </a:graphic>
      </p:graphicFrame>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558800" y="2089150"/>
              <a:ext cx="838200" cy="412750"/>
            </p14:xfrm>
          </p:contentPart>
        </mc:Choice>
        <mc:Fallback xmlns="">
          <p:pic>
            <p:nvPicPr>
              <p:cNvPr id="2" name="墨迹 1"/>
            </p:nvPicPr>
            <p:blipFill>
              <a:blip r:embed="rId2"/>
            </p:blipFill>
            <p:spPr>
              <a:xfrm>
                <a:off x="558800" y="2089150"/>
                <a:ext cx="838200" cy="41275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1524000" y="2476500"/>
              <a:ext cx="1784350" cy="25400"/>
            </p14:xfrm>
          </p:contentPart>
        </mc:Choice>
        <mc:Fallback xmlns="">
          <p:pic>
            <p:nvPicPr>
              <p:cNvPr id="3" name="墨迹 2"/>
            </p:nvPicPr>
            <p:blipFill>
              <a:blip r:embed="rId4"/>
            </p:blipFill>
            <p:spPr>
              <a:xfrm>
                <a:off x="1524000" y="2476500"/>
                <a:ext cx="1784350" cy="254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1816100" y="1028700"/>
              <a:ext cx="5207000" cy="19050"/>
            </p14:xfrm>
          </p:contentPart>
        </mc:Choice>
        <mc:Fallback xmlns="">
          <p:pic>
            <p:nvPicPr>
              <p:cNvPr id="4" name="墨迹 3"/>
            </p:nvPicPr>
            <p:blipFill>
              <a:blip r:embed="rId6"/>
            </p:blipFill>
            <p:spPr>
              <a:xfrm>
                <a:off x="1816100" y="1028700"/>
                <a:ext cx="5207000" cy="1905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4603750" y="1092200"/>
              <a:ext cx="2368550" cy="31750"/>
            </p14:xfrm>
          </p:contentPart>
        </mc:Choice>
        <mc:Fallback xmlns="">
          <p:pic>
            <p:nvPicPr>
              <p:cNvPr id="5" name="墨迹 4"/>
            </p:nvPicPr>
            <p:blipFill>
              <a:blip r:embed="rId8"/>
            </p:blipFill>
            <p:spPr>
              <a:xfrm>
                <a:off x="4603750" y="1092200"/>
                <a:ext cx="2368550" cy="3175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7404100" y="1543050"/>
              <a:ext cx="1231900" cy="25400"/>
            </p14:xfrm>
          </p:contentPart>
        </mc:Choice>
        <mc:Fallback xmlns="">
          <p:pic>
            <p:nvPicPr>
              <p:cNvPr id="6" name="墨迹 5"/>
            </p:nvPicPr>
            <p:blipFill>
              <a:blip r:embed="rId10"/>
            </p:blipFill>
            <p:spPr>
              <a:xfrm>
                <a:off x="7404100" y="1543050"/>
                <a:ext cx="1231900" cy="2540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622300" y="1930400"/>
              <a:ext cx="2457450" cy="31750"/>
            </p14:xfrm>
          </p:contentPart>
        </mc:Choice>
        <mc:Fallback xmlns="">
          <p:pic>
            <p:nvPicPr>
              <p:cNvPr id="7" name="墨迹 6"/>
            </p:nvPicPr>
            <p:blipFill>
              <a:blip r:embed="rId12"/>
            </p:blipFill>
            <p:spPr>
              <a:xfrm>
                <a:off x="622300" y="1930400"/>
                <a:ext cx="2457450" cy="3175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867">
                                            <p:txEl>
                                              <p:charRg st="0" end="24"/>
                                            </p:txEl>
                                          </p:spTgt>
                                        </p:tgtEl>
                                        <p:attrNameLst>
                                          <p:attrName>style.visibility</p:attrName>
                                        </p:attrNameLst>
                                      </p:cBhvr>
                                      <p:to>
                                        <p:strVal val="visible"/>
                                      </p:to>
                                    </p:set>
                                    <p:anim calcmode="lin" valueType="num">
                                      <p:cBhvr additive="base">
                                        <p:cTn id="7" dur="500" fill="hold"/>
                                        <p:tgtEl>
                                          <p:spTgt spid="36867">
                                            <p:txEl>
                                              <p:charRg st="0" end="2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867">
                                            <p:txEl>
                                              <p:charRg st="0" end="2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6867">
                                            <p:txEl>
                                              <p:charRg st="24" end="70"/>
                                            </p:txEl>
                                          </p:spTgt>
                                        </p:tgtEl>
                                        <p:attrNameLst>
                                          <p:attrName>style.visibility</p:attrName>
                                        </p:attrNameLst>
                                      </p:cBhvr>
                                      <p:to>
                                        <p:strVal val="visible"/>
                                      </p:to>
                                    </p:set>
                                    <p:anim calcmode="lin" valueType="num">
                                      <p:cBhvr additive="base">
                                        <p:cTn id="11" dur="500" fill="hold"/>
                                        <p:tgtEl>
                                          <p:spTgt spid="36867">
                                            <p:txEl>
                                              <p:charRg st="24" end="7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6867">
                                            <p:txEl>
                                              <p:charRg st="24" end="7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6868"/>
                                        </p:tgtEl>
                                        <p:attrNameLst>
                                          <p:attrName>style.visibility</p:attrName>
                                        </p:attrNameLst>
                                      </p:cBhvr>
                                      <p:to>
                                        <p:strVal val="visible"/>
                                      </p:to>
                                    </p:set>
                                    <p:anim calcmode="lin" valueType="num">
                                      <p:cBhvr additive="base">
                                        <p:cTn id="15" dur="500" fill="hold"/>
                                        <p:tgtEl>
                                          <p:spTgt spid="36868"/>
                                        </p:tgtEl>
                                        <p:attrNameLst>
                                          <p:attrName>ppt_x</p:attrName>
                                        </p:attrNameLst>
                                      </p:cBhvr>
                                      <p:tavLst>
                                        <p:tav tm="0">
                                          <p:val>
                                            <p:strVal val="#ppt_x"/>
                                          </p:val>
                                        </p:tav>
                                        <p:tav tm="100000">
                                          <p:val>
                                            <p:strVal val="#ppt_x"/>
                                          </p:val>
                                        </p:tav>
                                      </p:tavLst>
                                    </p:anim>
                                    <p:anim calcmode="lin" valueType="num">
                                      <p:cBhvr additive="base">
                                        <p:cTn id="16" dur="500" fill="hold"/>
                                        <p:tgtEl>
                                          <p:spTgt spid="36868"/>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6867">
                                            <p:txEl>
                                              <p:charRg st="70" end="80"/>
                                            </p:txEl>
                                          </p:spTgt>
                                        </p:tgtEl>
                                        <p:attrNameLst>
                                          <p:attrName>style.visibility</p:attrName>
                                        </p:attrNameLst>
                                      </p:cBhvr>
                                      <p:to>
                                        <p:strVal val="visible"/>
                                      </p:to>
                                    </p:set>
                                    <p:anim calcmode="lin" valueType="num">
                                      <p:cBhvr additive="base">
                                        <p:cTn id="21" dur="500" fill="hold"/>
                                        <p:tgtEl>
                                          <p:spTgt spid="36867">
                                            <p:txEl>
                                              <p:charRg st="70" end="8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6867">
                                            <p:txEl>
                                              <p:charRg st="70" end="8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6" name="文本框 28675"/>
          <p:cNvSpPr txBox="1"/>
          <p:nvPr/>
        </p:nvSpPr>
        <p:spPr>
          <a:xfrm>
            <a:off x="611188" y="1557338"/>
            <a:ext cx="7777162" cy="519112"/>
          </a:xfrm>
          <a:prstGeom prst="rect">
            <a:avLst/>
          </a:prstGeom>
          <a:noFill/>
          <a:ln w="9525">
            <a:noFill/>
          </a:ln>
        </p:spPr>
        <p:txBody>
          <a:bodyPr>
            <a:spAutoFit/>
          </a:bodyPr>
          <a:p>
            <a:pPr>
              <a:spcBef>
                <a:spcPct val="50000"/>
              </a:spcBef>
            </a:pPr>
            <a:r>
              <a:rPr lang="zh-CN" altLang="en-US" b="0" dirty="0">
                <a:latin typeface="宋体" panose="02010600030101010101" pitchFamily="2" charset="-122"/>
              </a:rPr>
              <a:t>（</a:t>
            </a:r>
            <a:r>
              <a:rPr lang="en-US" altLang="zh-CN" b="0">
                <a:latin typeface="宋体" panose="02010600030101010101" pitchFamily="2" charset="-122"/>
              </a:rPr>
              <a:t>100010010011</a:t>
            </a:r>
            <a:r>
              <a:rPr lang="zh-CN" altLang="en-US" b="0" dirty="0">
                <a:latin typeface="宋体" panose="02010600030101010101" pitchFamily="2" charset="-122"/>
              </a:rPr>
              <a:t>）</a:t>
            </a:r>
            <a:r>
              <a:rPr lang="en-US" altLang="zh-CN" b="0" baseline="-25000">
                <a:latin typeface="宋体" panose="02010600030101010101" pitchFamily="2" charset="-122"/>
              </a:rPr>
              <a:t>2</a:t>
            </a:r>
            <a:r>
              <a:rPr lang="zh-CN" altLang="en-US" b="0" dirty="0">
                <a:latin typeface="宋体" panose="02010600030101010101" pitchFamily="2" charset="-122"/>
              </a:rPr>
              <a:t>＝（        ）</a:t>
            </a:r>
            <a:r>
              <a:rPr lang="en-US" altLang="zh-CN" b="0" baseline="-25000">
                <a:latin typeface="宋体" panose="02010600030101010101" pitchFamily="2" charset="-122"/>
              </a:rPr>
              <a:t>10</a:t>
            </a:r>
            <a:endParaRPr lang="en-US" altLang="zh-CN" b="0" baseline="-25000">
              <a:latin typeface="宋体" panose="02010600030101010101" pitchFamily="2" charset="-122"/>
            </a:endParaRPr>
          </a:p>
        </p:txBody>
      </p:sp>
      <p:sp>
        <p:nvSpPr>
          <p:cNvPr id="28677" name="文本框 28676"/>
          <p:cNvSpPr txBox="1"/>
          <p:nvPr/>
        </p:nvSpPr>
        <p:spPr>
          <a:xfrm>
            <a:off x="611188" y="2492375"/>
            <a:ext cx="7777162" cy="519113"/>
          </a:xfrm>
          <a:prstGeom prst="rect">
            <a:avLst/>
          </a:prstGeom>
          <a:noFill/>
          <a:ln w="9525">
            <a:noFill/>
          </a:ln>
        </p:spPr>
        <p:txBody>
          <a:bodyPr>
            <a:spAutoFit/>
          </a:bodyPr>
          <a:p>
            <a:pPr>
              <a:spcBef>
                <a:spcPct val="50000"/>
              </a:spcBef>
            </a:pPr>
            <a:r>
              <a:rPr lang="zh-CN" altLang="en-US" b="0" dirty="0">
                <a:latin typeface="宋体" panose="02010600030101010101" pitchFamily="2" charset="-122"/>
              </a:rPr>
              <a:t>（</a:t>
            </a:r>
            <a:r>
              <a:rPr lang="en-US" altLang="zh-CN" b="0">
                <a:latin typeface="宋体" panose="02010600030101010101" pitchFamily="2" charset="-122"/>
              </a:rPr>
              <a:t>1000</a:t>
            </a:r>
            <a:r>
              <a:rPr lang="en-US" altLang="zh-CN" b="0">
                <a:solidFill>
                  <a:srgbClr val="0000FF"/>
                </a:solidFill>
                <a:latin typeface="宋体" panose="02010600030101010101" pitchFamily="2" charset="-122"/>
              </a:rPr>
              <a:t>1001</a:t>
            </a:r>
            <a:r>
              <a:rPr lang="en-US" altLang="zh-CN" b="0">
                <a:solidFill>
                  <a:srgbClr val="FF3300"/>
                </a:solidFill>
                <a:latin typeface="宋体" panose="02010600030101010101" pitchFamily="2" charset="-122"/>
              </a:rPr>
              <a:t>0011</a:t>
            </a:r>
            <a:r>
              <a:rPr lang="zh-CN" altLang="en-US" b="0" dirty="0">
                <a:latin typeface="宋体" panose="02010600030101010101" pitchFamily="2" charset="-122"/>
              </a:rPr>
              <a:t>）</a:t>
            </a:r>
            <a:r>
              <a:rPr lang="en-US" altLang="zh-CN" b="0" baseline="-25000">
                <a:latin typeface="宋体" panose="02010600030101010101" pitchFamily="2" charset="-122"/>
              </a:rPr>
              <a:t>8421BCD</a:t>
            </a:r>
            <a:r>
              <a:rPr lang="zh-CN" altLang="en-US" b="0" dirty="0">
                <a:latin typeface="宋体" panose="02010600030101010101" pitchFamily="2" charset="-122"/>
              </a:rPr>
              <a:t>＝（        ）</a:t>
            </a:r>
            <a:r>
              <a:rPr lang="en-US" altLang="zh-CN" b="0" baseline="-25000">
                <a:latin typeface="宋体" panose="02010600030101010101" pitchFamily="2" charset="-122"/>
              </a:rPr>
              <a:t>10</a:t>
            </a:r>
            <a:endParaRPr lang="en-US" altLang="zh-CN" b="0" baseline="-25000">
              <a:latin typeface="宋体" panose="02010600030101010101" pitchFamily="2" charset="-122"/>
            </a:endParaRPr>
          </a:p>
        </p:txBody>
      </p:sp>
      <p:sp>
        <p:nvSpPr>
          <p:cNvPr id="28678" name="文本框 28677"/>
          <p:cNvSpPr txBox="1"/>
          <p:nvPr/>
        </p:nvSpPr>
        <p:spPr>
          <a:xfrm>
            <a:off x="4427538" y="1557338"/>
            <a:ext cx="1368425" cy="519112"/>
          </a:xfrm>
          <a:prstGeom prst="rect">
            <a:avLst/>
          </a:prstGeom>
          <a:noFill/>
          <a:ln w="9525">
            <a:noFill/>
          </a:ln>
        </p:spPr>
        <p:txBody>
          <a:bodyPr>
            <a:spAutoFit/>
          </a:bodyPr>
          <a:p>
            <a:pPr>
              <a:spcBef>
                <a:spcPct val="50000"/>
              </a:spcBef>
            </a:pPr>
            <a:r>
              <a:rPr lang="en-US" altLang="zh-CN" b="0">
                <a:solidFill>
                  <a:srgbClr val="00CC00"/>
                </a:solidFill>
                <a:latin typeface="宋体" panose="02010600030101010101" pitchFamily="2" charset="-122"/>
              </a:rPr>
              <a:t>2195</a:t>
            </a:r>
            <a:endParaRPr lang="en-US" altLang="zh-CN" b="0">
              <a:solidFill>
                <a:srgbClr val="00CC00"/>
              </a:solidFill>
              <a:latin typeface="宋体" panose="02010600030101010101" pitchFamily="2" charset="-122"/>
            </a:endParaRPr>
          </a:p>
        </p:txBody>
      </p:sp>
      <p:sp>
        <p:nvSpPr>
          <p:cNvPr id="28679" name="文本框 28678"/>
          <p:cNvSpPr txBox="1"/>
          <p:nvPr/>
        </p:nvSpPr>
        <p:spPr>
          <a:xfrm>
            <a:off x="5219700" y="2492375"/>
            <a:ext cx="1223963" cy="519113"/>
          </a:xfrm>
          <a:prstGeom prst="rect">
            <a:avLst/>
          </a:prstGeom>
          <a:noFill/>
          <a:ln w="9525">
            <a:noFill/>
          </a:ln>
        </p:spPr>
        <p:txBody>
          <a:bodyPr>
            <a:spAutoFit/>
          </a:bodyPr>
          <a:p>
            <a:pPr>
              <a:spcBef>
                <a:spcPct val="50000"/>
              </a:spcBef>
            </a:pPr>
            <a:r>
              <a:rPr lang="en-US" altLang="zh-CN" b="0">
                <a:solidFill>
                  <a:srgbClr val="00CC00"/>
                </a:solidFill>
                <a:latin typeface="宋体" panose="02010600030101010101" pitchFamily="2" charset="-122"/>
              </a:rPr>
              <a:t>893</a:t>
            </a:r>
            <a:endParaRPr lang="en-US" altLang="zh-CN" b="0">
              <a:solidFill>
                <a:srgbClr val="00CC00"/>
              </a:solidFill>
              <a:latin typeface="宋体" panose="02010600030101010101" pitchFamily="2" charset="-122"/>
            </a:endParaRPr>
          </a:p>
        </p:txBody>
      </p:sp>
      <p:sp>
        <p:nvSpPr>
          <p:cNvPr id="28680" name="文本框 28679"/>
          <p:cNvSpPr txBox="1"/>
          <p:nvPr/>
        </p:nvSpPr>
        <p:spPr>
          <a:xfrm>
            <a:off x="539750" y="620713"/>
            <a:ext cx="1152525" cy="519112"/>
          </a:xfrm>
          <a:prstGeom prst="rect">
            <a:avLst/>
          </a:prstGeom>
          <a:solidFill>
            <a:srgbClr val="FFFF66"/>
          </a:solidFill>
          <a:ln w="9525">
            <a:noFill/>
          </a:ln>
        </p:spPr>
        <p:txBody>
          <a:bodyPr>
            <a:spAutoFit/>
          </a:bodyPr>
          <a:p>
            <a:pPr>
              <a:spcBef>
                <a:spcPct val="50000"/>
              </a:spcBef>
            </a:pPr>
            <a:r>
              <a:rPr lang="zh-CN" altLang="en-US" dirty="0">
                <a:solidFill>
                  <a:srgbClr val="FF3300"/>
                </a:solidFill>
                <a:latin typeface="Times New Roman" panose="02020603050405020304" pitchFamily="18" charset="0"/>
              </a:rPr>
              <a:t>例：</a:t>
            </a:r>
            <a:endParaRPr lang="zh-CN" altLang="en-US" dirty="0">
              <a:solidFill>
                <a:srgbClr val="FF3300"/>
              </a:solidFill>
              <a:latin typeface="Times New Roman" panose="02020603050405020304" pitchFamily="18" charset="0"/>
            </a:endParaRPr>
          </a:p>
        </p:txBody>
      </p:sp>
      <p:sp>
        <p:nvSpPr>
          <p:cNvPr id="28681" name="矩形 28680"/>
          <p:cNvSpPr/>
          <p:nvPr/>
        </p:nvSpPr>
        <p:spPr>
          <a:xfrm>
            <a:off x="611188" y="3540125"/>
            <a:ext cx="5191125" cy="519113"/>
          </a:xfrm>
          <a:prstGeom prst="rect">
            <a:avLst/>
          </a:prstGeom>
          <a:solidFill>
            <a:srgbClr val="FFCC99"/>
          </a:solidFill>
          <a:ln w="12700">
            <a:noFill/>
          </a:ln>
        </p:spPr>
        <p:txBody>
          <a:bodyPr wrap="none" anchor="t" anchorCtr="0">
            <a:spAutoFit/>
          </a:bodyPr>
          <a:p>
            <a:r>
              <a:rPr lang="zh-CN" altLang="en-US" dirty="0">
                <a:solidFill>
                  <a:srgbClr val="800000"/>
                </a:solidFill>
                <a:latin typeface="楷体_GB2312" pitchFamily="49" charset="-122"/>
                <a:ea typeface="楷体_GB2312" pitchFamily="49" charset="-122"/>
              </a:rPr>
              <a:t>美国标准信息交换码</a:t>
            </a:r>
            <a:r>
              <a:rPr lang="en-US" altLang="zh-CN">
                <a:solidFill>
                  <a:srgbClr val="800000"/>
                </a:solidFill>
                <a:latin typeface="楷体_GB2312" pitchFamily="49" charset="-122"/>
                <a:ea typeface="楷体_GB2312" pitchFamily="49" charset="-122"/>
              </a:rPr>
              <a:t>---ASCII</a:t>
            </a:r>
            <a:r>
              <a:rPr lang="zh-CN" altLang="en-US" dirty="0">
                <a:solidFill>
                  <a:srgbClr val="800000"/>
                </a:solidFill>
                <a:latin typeface="楷体_GB2312" pitchFamily="49" charset="-122"/>
                <a:ea typeface="楷体_GB2312" pitchFamily="49" charset="-122"/>
              </a:rPr>
              <a:t>码</a:t>
            </a:r>
            <a:endParaRPr lang="zh-CN" altLang="en-US" dirty="0">
              <a:solidFill>
                <a:srgbClr val="800000"/>
              </a:solidFill>
              <a:latin typeface="楷体_GB2312" pitchFamily="49" charset="-122"/>
              <a:ea typeface="楷体_GB2312" pitchFamily="49" charset="-122"/>
            </a:endParaRPr>
          </a:p>
        </p:txBody>
      </p:sp>
      <p:sp>
        <p:nvSpPr>
          <p:cNvPr id="28682" name="矩形 28681"/>
          <p:cNvSpPr/>
          <p:nvPr/>
        </p:nvSpPr>
        <p:spPr>
          <a:xfrm>
            <a:off x="539750" y="4437063"/>
            <a:ext cx="8134350" cy="860425"/>
          </a:xfrm>
          <a:prstGeom prst="rect">
            <a:avLst/>
          </a:prstGeom>
          <a:noFill/>
          <a:ln w="12700">
            <a:noFill/>
          </a:ln>
        </p:spPr>
        <p:txBody>
          <a:bodyPr>
            <a:spAutoFit/>
          </a:bodyPr>
          <a:p>
            <a:pPr fontAlgn="ctr">
              <a:lnSpc>
                <a:spcPct val="90000"/>
              </a:lnSpc>
              <a:spcBef>
                <a:spcPct val="50000"/>
              </a:spcBef>
            </a:pPr>
            <a:r>
              <a:rPr lang="zh-CN" altLang="en-US" dirty="0">
                <a:latin typeface="楷体_GB2312" pitchFamily="49" charset="-122"/>
                <a:ea typeface="楷体_GB2312" pitchFamily="49" charset="-122"/>
              </a:rPr>
              <a:t>特点：</a:t>
            </a:r>
            <a:r>
              <a:rPr lang="zh-CN" altLang="en-US" dirty="0">
                <a:solidFill>
                  <a:srgbClr val="0000CC"/>
                </a:solidFill>
                <a:latin typeface="楷体_GB2312" pitchFamily="49" charset="-122"/>
                <a:ea typeface="楷体_GB2312" pitchFamily="49" charset="-122"/>
              </a:rPr>
              <a:t>是一种</a:t>
            </a:r>
            <a:r>
              <a:rPr lang="en-US" altLang="zh-CN">
                <a:solidFill>
                  <a:srgbClr val="0000CC"/>
                </a:solidFill>
                <a:latin typeface="楷体_GB2312" pitchFamily="49" charset="-122"/>
                <a:ea typeface="楷体_GB2312" pitchFamily="49" charset="-122"/>
              </a:rPr>
              <a:t>7</a:t>
            </a:r>
            <a:r>
              <a:rPr lang="zh-CN" altLang="en-US" dirty="0">
                <a:solidFill>
                  <a:srgbClr val="0000CC"/>
                </a:solidFill>
                <a:latin typeface="楷体_GB2312" pitchFamily="49" charset="-122"/>
                <a:ea typeface="楷体_GB2312" pitchFamily="49" charset="-122"/>
              </a:rPr>
              <a:t>位二进制代码，共有</a:t>
            </a:r>
            <a:r>
              <a:rPr lang="en-US" altLang="zh-CN">
                <a:solidFill>
                  <a:srgbClr val="0000CC"/>
                </a:solidFill>
                <a:latin typeface="楷体_GB2312" pitchFamily="49" charset="-122"/>
                <a:ea typeface="楷体_GB2312" pitchFamily="49" charset="-122"/>
              </a:rPr>
              <a:t>128</a:t>
            </a:r>
            <a:r>
              <a:rPr lang="zh-CN" altLang="en-US" dirty="0">
                <a:solidFill>
                  <a:srgbClr val="0000CC"/>
                </a:solidFill>
                <a:latin typeface="楷体_GB2312" pitchFamily="49" charset="-122"/>
                <a:ea typeface="楷体_GB2312" pitchFamily="49" charset="-122"/>
              </a:rPr>
              <a:t>种状态，分别代表</a:t>
            </a:r>
            <a:r>
              <a:rPr lang="en-US" altLang="zh-CN">
                <a:solidFill>
                  <a:srgbClr val="0000CC"/>
                </a:solidFill>
                <a:latin typeface="楷体_GB2312" pitchFamily="49" charset="-122"/>
                <a:ea typeface="楷体_GB2312" pitchFamily="49" charset="-122"/>
              </a:rPr>
              <a:t>128</a:t>
            </a:r>
            <a:r>
              <a:rPr lang="zh-CN" altLang="en-US" dirty="0">
                <a:solidFill>
                  <a:srgbClr val="0000CC"/>
                </a:solidFill>
                <a:latin typeface="楷体_GB2312" pitchFamily="49" charset="-122"/>
                <a:ea typeface="楷体_GB2312" pitchFamily="49" charset="-122"/>
              </a:rPr>
              <a:t>种字符。</a:t>
            </a:r>
            <a:endParaRPr lang="zh-CN" altLang="en-US" dirty="0">
              <a:solidFill>
                <a:srgbClr val="0000CC"/>
              </a:solidFill>
              <a:latin typeface="楷体_GB2312" pitchFamily="49" charset="-122"/>
              <a:ea typeface="楷体_GB2312" pitchFamily="49" charset="-122"/>
            </a:endParaRPr>
          </a:p>
        </p:txBody>
      </p:sp>
      <p:sp>
        <p:nvSpPr>
          <p:cNvPr id="28683" name="矩形 28682"/>
          <p:cNvSpPr/>
          <p:nvPr/>
        </p:nvSpPr>
        <p:spPr>
          <a:xfrm>
            <a:off x="755650" y="5734050"/>
            <a:ext cx="3765550" cy="519113"/>
          </a:xfrm>
          <a:prstGeom prst="rect">
            <a:avLst/>
          </a:prstGeom>
          <a:noFill/>
          <a:ln w="12700">
            <a:noFill/>
          </a:ln>
        </p:spPr>
        <p:txBody>
          <a:bodyPr wrap="none" anchor="t" anchorCtr="0">
            <a:spAutoFit/>
          </a:bodyPr>
          <a:p>
            <a:r>
              <a:rPr lang="zh-CN" altLang="en-US" dirty="0">
                <a:solidFill>
                  <a:srgbClr val="0000CC"/>
                </a:solidFill>
                <a:latin typeface="楷体_GB2312" pitchFamily="49" charset="-122"/>
                <a:ea typeface="楷体_GB2312" pitchFamily="49" charset="-122"/>
              </a:rPr>
              <a:t>例：</a:t>
            </a:r>
            <a:r>
              <a:rPr lang="en-US" altLang="zh-CN">
                <a:solidFill>
                  <a:srgbClr val="0000CC"/>
                </a:solidFill>
                <a:latin typeface="楷体_GB2312" pitchFamily="49" charset="-122"/>
                <a:ea typeface="楷体_GB2312" pitchFamily="49" charset="-122"/>
              </a:rPr>
              <a:t>100 0001 </a:t>
            </a:r>
            <a:r>
              <a:rPr lang="zh-CN" altLang="en-US" dirty="0">
                <a:solidFill>
                  <a:srgbClr val="0000CC"/>
                </a:solidFill>
                <a:latin typeface="楷体_GB2312" pitchFamily="49" charset="-122"/>
                <a:ea typeface="楷体_GB2312" pitchFamily="49" charset="-122"/>
              </a:rPr>
              <a:t>代表  </a:t>
            </a:r>
            <a:r>
              <a:rPr lang="en-US" altLang="zh-CN">
                <a:solidFill>
                  <a:srgbClr val="0000CC"/>
                </a:solidFill>
                <a:latin typeface="楷体_GB2312" pitchFamily="49" charset="-122"/>
                <a:ea typeface="楷体_GB2312" pitchFamily="49" charset="-122"/>
              </a:rPr>
              <a:t>A</a:t>
            </a:r>
            <a:endParaRPr lang="en-US" altLang="zh-CN">
              <a:solidFill>
                <a:srgbClr val="0000CC"/>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8676"/>
                                        </p:tgtEl>
                                        <p:attrNameLst>
                                          <p:attrName>style.visibility</p:attrName>
                                        </p:attrNameLst>
                                      </p:cBhvr>
                                      <p:to>
                                        <p:strVal val="visible"/>
                                      </p:to>
                                    </p:set>
                                    <p:animEffect transition="in" filter="box(in)">
                                      <p:cBhvr>
                                        <p:cTn id="7" dur="500"/>
                                        <p:tgtEl>
                                          <p:spTgt spid="28676"/>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28678"/>
                                        </p:tgtEl>
                                        <p:attrNameLst>
                                          <p:attrName>style.visibility</p:attrName>
                                        </p:attrNameLst>
                                      </p:cBhvr>
                                      <p:to>
                                        <p:strVal val="visible"/>
                                      </p:to>
                                    </p:set>
                                    <p:animEffect transition="in" filter="diamond(in)">
                                      <p:cBhvr>
                                        <p:cTn id="12" dur="2000"/>
                                        <p:tgtEl>
                                          <p:spTgt spid="28678"/>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8677"/>
                                        </p:tgtEl>
                                        <p:attrNameLst>
                                          <p:attrName>style.visibility</p:attrName>
                                        </p:attrNameLst>
                                      </p:cBhvr>
                                      <p:to>
                                        <p:strVal val="visible"/>
                                      </p:to>
                                    </p:set>
                                    <p:animEffect transition="in" filter="box(in)">
                                      <p:cBhvr>
                                        <p:cTn id="17" dur="500"/>
                                        <p:tgtEl>
                                          <p:spTgt spid="28677"/>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28679"/>
                                        </p:tgtEl>
                                        <p:attrNameLst>
                                          <p:attrName>style.visibility</p:attrName>
                                        </p:attrNameLst>
                                      </p:cBhvr>
                                      <p:to>
                                        <p:strVal val="visible"/>
                                      </p:to>
                                    </p:set>
                                    <p:animEffect transition="in" filter="diamond(in)">
                                      <p:cBhvr>
                                        <p:cTn id="22" dur="2000"/>
                                        <p:tgtEl>
                                          <p:spTgt spid="28679"/>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28681"/>
                                        </p:tgtEl>
                                        <p:attrNameLst>
                                          <p:attrName>style.visibility</p:attrName>
                                        </p:attrNameLst>
                                      </p:cBhvr>
                                      <p:to>
                                        <p:strVal val="visible"/>
                                      </p:to>
                                    </p:set>
                                    <p:animEffect transition="in" filter="box(in)">
                                      <p:cBhvr>
                                        <p:cTn id="27" dur="500"/>
                                        <p:tgtEl>
                                          <p:spTgt spid="2868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8682"/>
                                        </p:tgtEl>
                                        <p:attrNameLst>
                                          <p:attrName>style.visibility</p:attrName>
                                        </p:attrNameLst>
                                      </p:cBhvr>
                                      <p:to>
                                        <p:strVal val="visible"/>
                                      </p:to>
                                    </p:set>
                                    <p:animEffect transition="in" filter="wipe(left)">
                                      <p:cBhvr>
                                        <p:cTn id="32" dur="500"/>
                                        <p:tgtEl>
                                          <p:spTgt spid="28682"/>
                                        </p:tgtEl>
                                      </p:cBhvr>
                                    </p:animEffect>
                                  </p:childTnLst>
                                </p:cTn>
                              </p:par>
                            </p:childTnLst>
                          </p:cTn>
                        </p:par>
                      </p:childTnLst>
                    </p:cTn>
                  </p:par>
                  <p:par>
                    <p:cTn id="33" fill="hold">
                      <p:stCondLst>
                        <p:cond delay="indefinite"/>
                      </p:stCondLst>
                      <p:childTnLst>
                        <p:par>
                          <p:cTn id="34" fill="hold">
                            <p:stCondLst>
                              <p:cond delay="0"/>
                            </p:stCondLst>
                            <p:childTnLst>
                              <p:par>
                                <p:cTn id="35" presetID="55" presetClass="entr" presetSubtype="0" fill="hold" grpId="0" nodeType="clickEffect">
                                  <p:stCondLst>
                                    <p:cond delay="0"/>
                                  </p:stCondLst>
                                  <p:childTnLst>
                                    <p:set>
                                      <p:cBhvr>
                                        <p:cTn id="36" dur="1" fill="hold">
                                          <p:stCondLst>
                                            <p:cond delay="0"/>
                                          </p:stCondLst>
                                        </p:cTn>
                                        <p:tgtEl>
                                          <p:spTgt spid="28683"/>
                                        </p:tgtEl>
                                        <p:attrNameLst>
                                          <p:attrName>style.visibility</p:attrName>
                                        </p:attrNameLst>
                                      </p:cBhvr>
                                      <p:to>
                                        <p:strVal val="visible"/>
                                      </p:to>
                                    </p:set>
                                    <p:anim calcmode="lin" valueType="num">
                                      <p:cBhvr>
                                        <p:cTn id="37" dur="1000" fill="hold"/>
                                        <p:tgtEl>
                                          <p:spTgt spid="28683"/>
                                        </p:tgtEl>
                                        <p:attrNameLst>
                                          <p:attrName>ppt_w</p:attrName>
                                        </p:attrNameLst>
                                      </p:cBhvr>
                                      <p:tavLst>
                                        <p:tav tm="0">
                                          <p:val>
                                            <p:strVal val="#ppt_w*0.70"/>
                                          </p:val>
                                        </p:tav>
                                        <p:tav tm="100000">
                                          <p:val>
                                            <p:strVal val="#ppt_w"/>
                                          </p:val>
                                        </p:tav>
                                      </p:tavLst>
                                    </p:anim>
                                    <p:anim calcmode="lin" valueType="num">
                                      <p:cBhvr>
                                        <p:cTn id="38" dur="1000" fill="hold"/>
                                        <p:tgtEl>
                                          <p:spTgt spid="28683"/>
                                        </p:tgtEl>
                                        <p:attrNameLst>
                                          <p:attrName>ppt_h</p:attrName>
                                        </p:attrNameLst>
                                      </p:cBhvr>
                                      <p:tavLst>
                                        <p:tav tm="0">
                                          <p:val>
                                            <p:strVal val="#ppt_h"/>
                                          </p:val>
                                        </p:tav>
                                        <p:tav tm="100000">
                                          <p:val>
                                            <p:strVal val="#ppt_h"/>
                                          </p:val>
                                        </p:tav>
                                      </p:tavLst>
                                    </p:anim>
                                    <p:animEffect transition="in" filter="fade">
                                      <p:cBhvr>
                                        <p:cTn id="39" dur="1000"/>
                                        <p:tgtEl>
                                          <p:spTgt spid="286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p:bldP spid="28677" grpId="0"/>
      <p:bldP spid="28678" grpId="0"/>
      <p:bldP spid="28679" grpId="0"/>
      <p:bldP spid="28681" grpId="0" animBg="1"/>
      <p:bldP spid="28682" grpId="0"/>
      <p:bldP spid="2868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36195" y="0"/>
            <a:ext cx="9060815" cy="4041775"/>
          </a:xfrm>
          <a:prstGeom prst="rect">
            <a:avLst/>
          </a:prstGeom>
        </p:spPr>
      </p:pic>
      <p:pic>
        <p:nvPicPr>
          <p:cNvPr id="5" name="图片 4"/>
          <p:cNvPicPr>
            <a:picLocks noChangeAspect="1"/>
          </p:cNvPicPr>
          <p:nvPr/>
        </p:nvPicPr>
        <p:blipFill>
          <a:blip r:embed="rId2"/>
          <a:stretch>
            <a:fillRect/>
          </a:stretch>
        </p:blipFill>
        <p:spPr>
          <a:xfrm>
            <a:off x="60325" y="4041140"/>
            <a:ext cx="9083675" cy="2745740"/>
          </a:xfrm>
          <a:prstGeom prst="rect">
            <a:avLst/>
          </a:prstGeom>
        </p:spPr>
      </p:pic>
      <mc:AlternateContent xmlns:mc="http://schemas.openxmlformats.org/markup-compatibility/2006" xmlns:p14="http://schemas.microsoft.com/office/powerpoint/2010/main">
        <mc:Choice Requires="p14">
          <p:contentPart r:id="rId3" p14:bwMode="auto">
            <p14:nvContentPartPr>
              <p14:cNvPr id="2" name="墨迹 1"/>
              <p14:cNvContentPartPr/>
              <p14:nvPr/>
            </p14:nvContentPartPr>
            <p14:xfrm>
              <a:off x="971550" y="6699250"/>
              <a:ext cx="5638800" cy="25400"/>
            </p14:xfrm>
          </p:contentPart>
        </mc:Choice>
        <mc:Fallback xmlns="">
          <p:pic>
            <p:nvPicPr>
              <p:cNvPr id="2" name="墨迹 1"/>
            </p:nvPicPr>
            <p:blipFill>
              <a:blip r:embed="rId4"/>
            </p:blipFill>
            <p:spPr>
              <a:xfrm>
                <a:off x="971550" y="6699250"/>
                <a:ext cx="5638800" cy="254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3" name="墨迹 2"/>
              <p14:cNvContentPartPr/>
              <p14:nvPr/>
            </p14:nvContentPartPr>
            <p14:xfrm>
              <a:off x="971550" y="5816600"/>
              <a:ext cx="2178050" cy="57150"/>
            </p14:xfrm>
          </p:contentPart>
        </mc:Choice>
        <mc:Fallback xmlns="">
          <p:pic>
            <p:nvPicPr>
              <p:cNvPr id="3" name="墨迹 2"/>
            </p:nvPicPr>
            <p:blipFill>
              <a:blip r:embed="rId6"/>
            </p:blipFill>
            <p:spPr>
              <a:xfrm>
                <a:off x="971550" y="5816600"/>
                <a:ext cx="2178050" cy="5715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6" name="墨迹 5"/>
              <p14:cNvContentPartPr/>
              <p14:nvPr/>
            </p14:nvContentPartPr>
            <p14:xfrm>
              <a:off x="882650" y="3632200"/>
              <a:ext cx="4064000" cy="374650"/>
            </p14:xfrm>
          </p:contentPart>
        </mc:Choice>
        <mc:Fallback xmlns="">
          <p:pic>
            <p:nvPicPr>
              <p:cNvPr id="6" name="墨迹 5"/>
            </p:nvPicPr>
            <p:blipFill>
              <a:blip r:embed="rId8"/>
            </p:blipFill>
            <p:spPr>
              <a:xfrm>
                <a:off x="882650" y="3632200"/>
                <a:ext cx="4064000" cy="37465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7" name="墨迹 6"/>
              <p14:cNvContentPartPr/>
              <p14:nvPr/>
            </p14:nvContentPartPr>
            <p14:xfrm>
              <a:off x="914400" y="3968750"/>
              <a:ext cx="4032250" cy="6350"/>
            </p14:xfrm>
          </p:contentPart>
        </mc:Choice>
        <mc:Fallback xmlns="">
          <p:pic>
            <p:nvPicPr>
              <p:cNvPr id="7" name="墨迹 6"/>
            </p:nvPicPr>
            <p:blipFill>
              <a:blip r:embed="rId10"/>
            </p:blipFill>
            <p:spPr>
              <a:xfrm>
                <a:off x="914400" y="3968750"/>
                <a:ext cx="4032250" cy="6350"/>
              </a:xfrm>
              <a:prstGeom prst="rect"/>
            </p:spPr>
          </p:pic>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35560" y="332740"/>
            <a:ext cx="9084310" cy="2171700"/>
          </a:xfrm>
          <a:prstGeom prst="rect">
            <a:avLst/>
          </a:prstGeom>
        </p:spPr>
      </p:pic>
      <p:pic>
        <p:nvPicPr>
          <p:cNvPr id="3" name="图片 2"/>
          <p:cNvPicPr>
            <a:picLocks noChangeAspect="1"/>
          </p:cNvPicPr>
          <p:nvPr/>
        </p:nvPicPr>
        <p:blipFill>
          <a:blip r:embed="rId2"/>
          <a:stretch>
            <a:fillRect/>
          </a:stretch>
        </p:blipFill>
        <p:spPr>
          <a:xfrm>
            <a:off x="19050" y="1842770"/>
            <a:ext cx="9105900" cy="3171825"/>
          </a:xfrm>
          <a:prstGeom prst="rect">
            <a:avLst/>
          </a:prstGeom>
        </p:spPr>
      </p:pic>
      <mc:AlternateContent xmlns:mc="http://schemas.openxmlformats.org/markup-compatibility/2006" xmlns:p14="http://schemas.microsoft.com/office/powerpoint/2010/main">
        <mc:Choice Requires="p14">
          <p:contentPart r:id="rId3" p14:bwMode="auto">
            <p14:nvContentPartPr>
              <p14:cNvPr id="4" name="墨迹 3"/>
              <p14:cNvContentPartPr/>
              <p14:nvPr/>
            </p14:nvContentPartPr>
            <p14:xfrm>
              <a:off x="895350" y="3302000"/>
              <a:ext cx="4102100" cy="850900"/>
            </p14:xfrm>
          </p:contentPart>
        </mc:Choice>
        <mc:Fallback xmlns="">
          <p:pic>
            <p:nvPicPr>
              <p:cNvPr id="4" name="墨迹 3"/>
            </p:nvPicPr>
            <p:blipFill>
              <a:blip r:embed="rId4"/>
            </p:blipFill>
            <p:spPr>
              <a:xfrm>
                <a:off x="895350" y="3302000"/>
                <a:ext cx="4102100" cy="8509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5" name="墨迹 4"/>
              <p14:cNvContentPartPr/>
              <p14:nvPr/>
            </p14:nvContentPartPr>
            <p14:xfrm>
              <a:off x="933450" y="3600450"/>
              <a:ext cx="4006850" cy="31750"/>
            </p14:xfrm>
          </p:contentPart>
        </mc:Choice>
        <mc:Fallback xmlns="">
          <p:pic>
            <p:nvPicPr>
              <p:cNvPr id="5" name="墨迹 4"/>
            </p:nvPicPr>
            <p:blipFill>
              <a:blip r:embed="rId6"/>
            </p:blipFill>
            <p:spPr>
              <a:xfrm>
                <a:off x="933450" y="3600450"/>
                <a:ext cx="4006850" cy="3175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6" name="墨迹 5"/>
              <p14:cNvContentPartPr/>
              <p14:nvPr/>
            </p14:nvContentPartPr>
            <p14:xfrm>
              <a:off x="952500" y="4083050"/>
              <a:ext cx="4000500" cy="38100"/>
            </p14:xfrm>
          </p:contentPart>
        </mc:Choice>
        <mc:Fallback xmlns="">
          <p:pic>
            <p:nvPicPr>
              <p:cNvPr id="6" name="墨迹 5"/>
            </p:nvPicPr>
            <p:blipFill>
              <a:blip r:embed="rId8"/>
            </p:blipFill>
            <p:spPr>
              <a:xfrm>
                <a:off x="952500" y="4083050"/>
                <a:ext cx="4000500" cy="38100"/>
              </a:xfrm>
              <a:prstGeom prst="rect"/>
            </p:spPr>
          </p:pic>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35560" y="621030"/>
            <a:ext cx="9083040" cy="4543425"/>
          </a:xfrm>
          <a:prstGeom prst="rect">
            <a:avLst/>
          </a:prstGeom>
        </p:spPr>
      </p:pic>
      <mc:AlternateContent xmlns:mc="http://schemas.openxmlformats.org/markup-compatibility/2006" xmlns:p14="http://schemas.microsoft.com/office/powerpoint/2010/main">
        <mc:Choice Requires="p14">
          <p:contentPart r:id="rId2" p14:bwMode="auto">
            <p14:nvContentPartPr>
              <p14:cNvPr id="3" name="墨迹 2"/>
              <p14:cNvContentPartPr/>
              <p14:nvPr/>
            </p14:nvContentPartPr>
            <p14:xfrm>
              <a:off x="914400" y="3257550"/>
              <a:ext cx="5937250" cy="838200"/>
            </p14:xfrm>
          </p:contentPart>
        </mc:Choice>
        <mc:Fallback xmlns="">
          <p:pic>
            <p:nvPicPr>
              <p:cNvPr id="3" name="墨迹 2"/>
            </p:nvPicPr>
            <p:blipFill>
              <a:blip r:embed="rId3"/>
            </p:blipFill>
            <p:spPr>
              <a:xfrm>
                <a:off x="914400" y="3257550"/>
                <a:ext cx="5937250" cy="83820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4" name="墨迹 3"/>
              <p14:cNvContentPartPr/>
              <p14:nvPr/>
            </p14:nvContentPartPr>
            <p14:xfrm>
              <a:off x="946150" y="3657600"/>
              <a:ext cx="2343150" cy="412750"/>
            </p14:xfrm>
          </p:contentPart>
        </mc:Choice>
        <mc:Fallback xmlns="">
          <p:pic>
            <p:nvPicPr>
              <p:cNvPr id="4" name="墨迹 3"/>
            </p:nvPicPr>
            <p:blipFill>
              <a:blip r:embed="rId5"/>
            </p:blipFill>
            <p:spPr>
              <a:xfrm>
                <a:off x="946150" y="3657600"/>
                <a:ext cx="2343150" cy="41275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5" name="墨迹 4"/>
              <p14:cNvContentPartPr/>
              <p14:nvPr/>
            </p14:nvContentPartPr>
            <p14:xfrm>
              <a:off x="990600" y="4038600"/>
              <a:ext cx="2286000" cy="19050"/>
            </p14:xfrm>
          </p:contentPart>
        </mc:Choice>
        <mc:Fallback xmlns="">
          <p:pic>
            <p:nvPicPr>
              <p:cNvPr id="5" name="墨迹 4"/>
            </p:nvPicPr>
            <p:blipFill>
              <a:blip r:embed="rId7"/>
            </p:blipFill>
            <p:spPr>
              <a:xfrm>
                <a:off x="990600" y="4038600"/>
                <a:ext cx="2286000" cy="19050"/>
              </a:xfrm>
              <a:prstGeom prst="rect"/>
            </p:spPr>
          </p:pic>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36830" y="621030"/>
            <a:ext cx="9197975" cy="498157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35560" y="692785"/>
            <a:ext cx="9109075" cy="4352925"/>
          </a:xfrm>
          <a:prstGeom prst="rect">
            <a:avLst/>
          </a:prstGeom>
        </p:spPr>
      </p:pic>
      <mc:AlternateContent xmlns:mc="http://schemas.openxmlformats.org/markup-compatibility/2006" xmlns:p14="http://schemas.microsoft.com/office/powerpoint/2010/main">
        <mc:Choice Requires="p14">
          <p:contentPart r:id="rId2" p14:bwMode="auto">
            <p14:nvContentPartPr>
              <p14:cNvPr id="3" name="墨迹 2"/>
              <p14:cNvContentPartPr/>
              <p14:nvPr/>
            </p14:nvContentPartPr>
            <p14:xfrm>
              <a:off x="6877050" y="4298950"/>
              <a:ext cx="1784350" cy="76200"/>
            </p14:xfrm>
          </p:contentPart>
        </mc:Choice>
        <mc:Fallback xmlns="">
          <p:pic>
            <p:nvPicPr>
              <p:cNvPr id="3" name="墨迹 2"/>
            </p:nvPicPr>
            <p:blipFill>
              <a:blip r:embed="rId3"/>
            </p:blipFill>
            <p:spPr>
              <a:xfrm>
                <a:off x="6877050" y="4298950"/>
                <a:ext cx="1784350" cy="7620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4" name="墨迹 3"/>
              <p14:cNvContentPartPr/>
              <p14:nvPr/>
            </p14:nvContentPartPr>
            <p14:xfrm>
              <a:off x="6877050" y="3968750"/>
              <a:ext cx="1790700" cy="374650"/>
            </p14:xfrm>
          </p:contentPart>
        </mc:Choice>
        <mc:Fallback xmlns="">
          <p:pic>
            <p:nvPicPr>
              <p:cNvPr id="4" name="墨迹 3"/>
            </p:nvPicPr>
            <p:blipFill>
              <a:blip r:embed="rId5"/>
            </p:blipFill>
            <p:spPr>
              <a:xfrm>
                <a:off x="6877050" y="3968750"/>
                <a:ext cx="1790700" cy="374650"/>
              </a:xfrm>
              <a:prstGeom prst="rect"/>
            </p:spPr>
          </p:pic>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35560" y="765175"/>
            <a:ext cx="9081770" cy="4486275"/>
          </a:xfrm>
          <a:prstGeom prst="rect">
            <a:avLst/>
          </a:prstGeom>
        </p:spPr>
      </p:pic>
      <mc:AlternateContent xmlns:mc="http://schemas.openxmlformats.org/markup-compatibility/2006" xmlns:p14="http://schemas.microsoft.com/office/powerpoint/2010/main">
        <mc:Choice Requires="p14">
          <p:contentPart r:id="rId2" p14:bwMode="auto">
            <p14:nvContentPartPr>
              <p14:cNvPr id="3" name="墨迹 2"/>
              <p14:cNvContentPartPr/>
              <p14:nvPr/>
            </p14:nvContentPartPr>
            <p14:xfrm>
              <a:off x="977900" y="4610100"/>
              <a:ext cx="4438650" cy="342900"/>
            </p14:xfrm>
          </p:contentPart>
        </mc:Choice>
        <mc:Fallback xmlns="">
          <p:pic>
            <p:nvPicPr>
              <p:cNvPr id="3" name="墨迹 2"/>
            </p:nvPicPr>
            <p:blipFill>
              <a:blip r:embed="rId3"/>
            </p:blipFill>
            <p:spPr>
              <a:xfrm>
                <a:off x="977900" y="4610100"/>
                <a:ext cx="4438650" cy="34290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4" name="墨迹 3"/>
              <p14:cNvContentPartPr/>
              <p14:nvPr/>
            </p14:nvContentPartPr>
            <p14:xfrm>
              <a:off x="952500" y="4152900"/>
              <a:ext cx="2559050" cy="330200"/>
            </p14:xfrm>
          </p:contentPart>
        </mc:Choice>
        <mc:Fallback xmlns="">
          <p:pic>
            <p:nvPicPr>
              <p:cNvPr id="4" name="墨迹 3"/>
            </p:nvPicPr>
            <p:blipFill>
              <a:blip r:embed="rId5"/>
            </p:blipFill>
            <p:spPr>
              <a:xfrm>
                <a:off x="952500" y="4152900"/>
                <a:ext cx="2559050" cy="330200"/>
              </a:xfrm>
              <a:prstGeom prst="rect"/>
            </p:spPr>
          </p:pic>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0" y="621030"/>
            <a:ext cx="9108440" cy="4524375"/>
          </a:xfrm>
          <a:prstGeom prst="rect">
            <a:avLst/>
          </a:prstGeom>
        </p:spPr>
      </p:pic>
    </p:spTree>
  </p:cSld>
  <p:clrMapOvr>
    <a:masterClrMapping/>
  </p:clrMapOvr>
</p:sld>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3620</Words>
  <Application>WPS 演示</Application>
  <PresentationFormat>在屏幕上显示</PresentationFormat>
  <Paragraphs>450</Paragraphs>
  <Slides>43</Slides>
  <Notes>0</Notes>
  <HiddenSlides>0</HiddenSlides>
  <MMClips>0</MMClips>
  <ScaleCrop>false</ScaleCrop>
  <HeadingPairs>
    <vt:vector size="8" baseType="variant">
      <vt:variant>
        <vt:lpstr>已用的字体</vt:lpstr>
      </vt:variant>
      <vt:variant>
        <vt:i4>14</vt:i4>
      </vt:variant>
      <vt:variant>
        <vt:lpstr>主题</vt:lpstr>
      </vt:variant>
      <vt:variant>
        <vt:i4>2</vt:i4>
      </vt:variant>
      <vt:variant>
        <vt:lpstr>嵌入 OLE 服务器</vt:lpstr>
      </vt:variant>
      <vt:variant>
        <vt:i4>4</vt:i4>
      </vt:variant>
      <vt:variant>
        <vt:lpstr>幻灯片标题</vt:lpstr>
      </vt:variant>
      <vt:variant>
        <vt:i4>43</vt:i4>
      </vt:variant>
    </vt:vector>
  </HeadingPairs>
  <TitlesOfParts>
    <vt:vector size="63" baseType="lpstr">
      <vt:lpstr>Arial</vt:lpstr>
      <vt:lpstr>宋体</vt:lpstr>
      <vt:lpstr>Wingdings</vt:lpstr>
      <vt:lpstr>Times New Roman</vt:lpstr>
      <vt:lpstr>楷体_GB2312</vt:lpstr>
      <vt:lpstr>新宋体</vt:lpstr>
      <vt:lpstr>Verdana</vt:lpstr>
      <vt:lpstr>华文楷体</vt:lpstr>
      <vt:lpstr>微软雅黑</vt:lpstr>
      <vt:lpstr>Arial Unicode MS</vt:lpstr>
      <vt:lpstr>Calibri</vt:lpstr>
      <vt:lpstr>黑体</vt:lpstr>
      <vt:lpstr>Dotum</vt:lpstr>
      <vt:lpstr>Malgun Gothic</vt:lpstr>
      <vt:lpstr>默认设计模板</vt:lpstr>
      <vt:lpstr>1_默认设计模板</vt:lpstr>
      <vt:lpstr>Word.Document.8</vt:lpstr>
      <vt:lpstr>Equation.3</vt:lpstr>
      <vt:lpstr>Equation.3</vt:lpstr>
      <vt:lpstr>Word.Document.8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二进制数的补码：</vt:lpstr>
      <vt:lpstr>PowerPoint 演示文稿</vt:lpstr>
      <vt:lpstr>PowerPoint 演示文稿</vt:lpstr>
      <vt:lpstr>          两个补码表示的二进制数相加时的符号位讨论</vt:lpstr>
      <vt:lpstr>PowerPoint 演示文稿</vt:lpstr>
      <vt:lpstr>PowerPoint 演示文稿</vt:lpstr>
      <vt:lpstr>PowerPoint 演示文稿</vt:lpstr>
      <vt:lpstr>PowerPoint 演示文稿</vt:lpstr>
      <vt:lpstr>二、格雷码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XXJS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OGG</dc:creator>
  <cp:lastModifiedBy>李林</cp:lastModifiedBy>
  <cp:revision>20</cp:revision>
  <dcterms:created xsi:type="dcterms:W3CDTF">2006-09-06T00:52:00Z</dcterms:created>
  <dcterms:modified xsi:type="dcterms:W3CDTF">2026-03-18T16:40:46Z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2955BAD0092B44DCAC8DAF37787A64FE_13</vt:lpwstr>
  </property>
  <property fmtid="{D5CDD505-2E9C-101B-9397-08002B2CF9AE}" pid="3" name="KSOProductBuildVer">
    <vt:lpwstr>2052-12.1.0.19770</vt:lpwstr>
  </property>
</Properties>
</file>