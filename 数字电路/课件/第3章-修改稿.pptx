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60" r:id="rId6"/>
    <p:sldId id="259" r:id="rId7"/>
    <p:sldId id="261" r:id="rId8"/>
    <p:sldId id="273" r:id="rId9"/>
    <p:sldId id="274" r:id="rId10"/>
    <p:sldId id="377" r:id="rId11"/>
    <p:sldId id="378" r:id="rId12"/>
    <p:sldId id="385" r:id="rId13"/>
    <p:sldId id="386" r:id="rId14"/>
    <p:sldId id="311" r:id="rId15"/>
    <p:sldId id="313" r:id="rId16"/>
    <p:sldId id="31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5" r:id="rId26"/>
    <p:sldId id="411" r:id="rId27"/>
    <p:sldId id="406" r:id="rId28"/>
    <p:sldId id="407" r:id="rId29"/>
    <p:sldId id="414" r:id="rId30"/>
    <p:sldId id="415" r:id="rId31"/>
    <p:sldId id="416" r:id="rId32"/>
    <p:sldId id="417" r:id="rId33"/>
    <p:sldId id="408" r:id="rId34"/>
    <p:sldId id="409" r:id="rId35"/>
    <p:sldId id="418" r:id="rId36"/>
    <p:sldId id="419" r:id="rId37"/>
    <p:sldId id="420" r:id="rId38"/>
    <p:sldId id="421" r:id="rId39"/>
    <p:sldId id="422" r:id="rId40"/>
    <p:sldId id="391" r:id="rId41"/>
    <p:sldId id="426" r:id="rId42"/>
    <p:sldId id="265" r:id="rId43"/>
    <p:sldId id="266" r:id="rId44"/>
    <p:sldId id="267" r:id="rId45"/>
    <p:sldId id="268" r:id="rId46"/>
    <p:sldId id="427" r:id="rId47"/>
    <p:sldId id="428" r:id="rId48"/>
    <p:sldId id="429" r:id="rId49"/>
    <p:sldId id="272" r:id="rId50"/>
    <p:sldId id="275" r:id="rId51"/>
    <p:sldId id="276" r:id="rId52"/>
    <p:sldId id="277" r:id="rId53"/>
    <p:sldId id="278" r:id="rId54"/>
    <p:sldId id="279" r:id="rId55"/>
    <p:sldId id="280" r:id="rId56"/>
    <p:sldId id="281" r:id="rId57"/>
    <p:sldId id="282" r:id="rId58"/>
    <p:sldId id="372" r:id="rId59"/>
    <p:sldId id="431" r:id="rId60"/>
    <p:sldId id="445" r:id="rId61"/>
    <p:sldId id="342" r:id="rId62"/>
    <p:sldId id="297" r:id="rId63"/>
    <p:sldId id="296" r:id="rId64"/>
    <p:sldId id="373" r:id="rId65"/>
    <p:sldId id="298" r:id="rId66"/>
    <p:sldId id="374" r:id="rId67"/>
    <p:sldId id="299" r:id="rId68"/>
    <p:sldId id="300" r:id="rId69"/>
    <p:sldId id="375" r:id="rId70"/>
    <p:sldId id="301" r:id="rId71"/>
    <p:sldId id="302" r:id="rId72"/>
    <p:sldId id="308" r:id="rId73"/>
    <p:sldId id="309" r:id="rId74"/>
    <p:sldId id="310" r:id="rId75"/>
    <p:sldId id="443" r:id="rId76"/>
    <p:sldId id="321" r:id="rId77"/>
    <p:sldId id="322" r:id="rId78"/>
    <p:sldId id="361" r:id="rId79"/>
    <p:sldId id="363" r:id="rId80"/>
    <p:sldId id="366" r:id="rId81"/>
    <p:sldId id="446" r:id="rId82"/>
    <p:sldId id="447" r:id="rId83"/>
    <p:sldId id="449" r:id="rId84"/>
    <p:sldId id="450" r:id="rId85"/>
    <p:sldId id="451" r:id="rId86"/>
    <p:sldId id="452" r:id="rId87"/>
    <p:sldId id="453" r:id="rId88"/>
    <p:sldId id="454" r:id="rId89"/>
    <p:sldId id="455" r:id="rId90"/>
    <p:sldId id="448" r:id="rId91"/>
  </p:sldIdLst>
  <p:sldSz cx="9144000" cy="6858000" type="screen4x3"/>
  <p:notesSz cx="6858000" cy="9144000"/>
  <p:defaultTextStyle>
    <a:defPPr>
      <a:defRPr lang="en-US"/>
    </a:defPPr>
    <a:lvl1pPr marL="0" lvl="0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ctr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u="none" kern="1200" baseline="0">
        <a:solidFill>
          <a:srgbClr val="000000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0000FF"/>
    <a:srgbClr val="000000"/>
    <a:srgbClr val="CCFFCC"/>
    <a:srgbClr val="FF3300"/>
    <a:srgbClr val="FFCCFF"/>
    <a:srgbClr val="FF33CC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e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gradFill rotWithShape="0">
          <a:gsLst>
            <a:gs pos="0">
              <a:srgbClr val="FBFECE">
                <a:alpha val="100000"/>
              </a:srgbClr>
            </a:gs>
            <a:gs pos="10000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2049"/>
          <p:cNvSpPr>
            <a:spLocks noGrp="1" noRot="1"/>
          </p:cNvSpPr>
          <p:nvPr>
            <p:ph type="ctrTitle"/>
          </p:nvPr>
        </p:nvSpPr>
        <p:spPr>
          <a:xfrm>
            <a:off x="533400" y="1905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r">
              <a:buClrTx/>
              <a:buSzTx/>
              <a:buFontTx/>
              <a:defRPr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副标题 2050"/>
          <p:cNvSpPr>
            <a:spLocks noGrp="1" noRot="1"/>
          </p:cNvSpPr>
          <p:nvPr>
            <p:ph type="subTitle" idx="1"/>
          </p:nvPr>
        </p:nvSpPr>
        <p:spPr>
          <a:xfrm>
            <a:off x="1905000" y="3505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>
                <a:schemeClr val="tx2"/>
              </a:buClr>
              <a:buSzTx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914400" lvl="2" indent="0" algn="ctr"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371600" lvl="3" indent="0" algn="ctr">
              <a:buClr>
                <a:schemeClr val="tx2"/>
              </a:buClr>
              <a:buSzTx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1828800" lvl="4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2" name="日期占位符 2051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>
              <a:defRPr sz="1400"/>
            </a:lvl1pPr>
          </a:lstStyle>
          <a:p>
            <a:pPr lvl="0"/>
            <a:fld id="{BB962C8B-B14F-4D97-AF65-F5344CB8AC3E}" type="datetime1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053" name="页脚占位符 205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/>
            </a:lvl1pPr>
          </a:lstStyle>
          <a:p>
            <a:pPr lvl="0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54" name="灯片编号占位符 205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gradFill rotWithShape="0">
          <a:gsLst>
            <a:gs pos="0">
              <a:srgbClr val="FBFECE">
                <a:alpha val="100000"/>
              </a:srgbClr>
            </a:gs>
            <a:gs pos="10000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2049"/>
          <p:cNvSpPr>
            <a:spLocks noGrp="1" noRot="1"/>
          </p:cNvSpPr>
          <p:nvPr>
            <p:ph type="ctrTitle"/>
          </p:nvPr>
        </p:nvSpPr>
        <p:spPr>
          <a:xfrm>
            <a:off x="533400" y="1905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r">
              <a:buClrTx/>
              <a:buSzTx/>
              <a:buFontTx/>
              <a:defRPr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副标题 2050"/>
          <p:cNvSpPr>
            <a:spLocks noGrp="1" noRot="1"/>
          </p:cNvSpPr>
          <p:nvPr>
            <p:ph type="subTitle" idx="1"/>
          </p:nvPr>
        </p:nvSpPr>
        <p:spPr>
          <a:xfrm>
            <a:off x="1905000" y="3505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>
                <a:schemeClr val="tx2"/>
              </a:buClr>
              <a:buSzTx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914400" lvl="2" indent="0" algn="ctr"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371600" lvl="3" indent="0" algn="ctr">
              <a:buClr>
                <a:schemeClr val="tx2"/>
              </a:buClr>
              <a:buSzTx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1828800" lvl="4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2" name="日期占位符 2051"/>
          <p:cNvSpPr>
            <a:spLocks noGrp="1"/>
          </p:cNvSpPr>
          <p:nvPr>
            <p:ph type="dt" sz="half" idx="2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>
              <a:defRPr sz="1400"/>
            </a:lvl1pPr>
          </a:lstStyle>
          <a:p>
            <a:pPr lvl="0"/>
            <a:fld id="{BB962C8B-B14F-4D97-AF65-F5344CB8AC3E}" type="datetime1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053" name="页脚占位符 205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/>
            </a:lvl1pPr>
          </a:lstStyle>
          <a:p>
            <a:pPr lvl="0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54" name="灯片编号占位符 205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BFECE">
                <a:alpha val="100000"/>
              </a:srgbClr>
            </a:gs>
            <a:gs pos="10000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v"/>
        <a:defRPr sz="32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Tx/>
        <a:buFont typeface="Wingdings" panose="05000000000000000000" pitchFamily="2" charset="2"/>
        <a:buChar char="§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Tx/>
        <a:buFont typeface="Wingdings" panose="05000000000000000000" pitchFamily="2" charset="2"/>
        <a:buChar char="§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BFECE">
                <a:alpha val="100000"/>
              </a:srgbClr>
            </a:gs>
            <a:gs pos="10000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v"/>
        <a:defRPr sz="32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Tx/>
        <a:buFont typeface="Wingdings" panose="05000000000000000000" pitchFamily="2" charset="2"/>
        <a:buChar char="§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Tx/>
        <a:buFont typeface="Wingdings" panose="05000000000000000000" pitchFamily="2" charset="2"/>
        <a:buChar char="§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u="none" kern="1200" baseline="0">
          <a:solidFill>
            <a:srgbClr val="000000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png"/><Relationship Id="rId1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1.png"/><Relationship Id="rId1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4.bin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8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4.png"/><Relationship Id="rId2" Type="http://schemas.openxmlformats.org/officeDocument/2006/relationships/image" Target="../media/image43.wmf"/><Relationship Id="rId1" Type="http://schemas.openxmlformats.org/officeDocument/2006/relationships/oleObject" Target="../embeddings/oleObject30.bin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2.bin"/><Relationship Id="rId3" Type="http://schemas.openxmlformats.org/officeDocument/2006/relationships/image" Target="../media/image45.wmf"/><Relationship Id="rId2" Type="http://schemas.openxmlformats.org/officeDocument/2006/relationships/oleObject" Target="../embeddings/oleObject31.bin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33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emf"/><Relationship Id="rId1" Type="http://schemas.openxmlformats.org/officeDocument/2006/relationships/oleObject" Target="../embeddings/oleObject3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7.bin"/><Relationship Id="rId3" Type="http://schemas.openxmlformats.org/officeDocument/2006/relationships/image" Target="../media/image52.w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54.wmf"/><Relationship Id="rId2" Type="http://schemas.openxmlformats.org/officeDocument/2006/relationships/oleObject" Target="../embeddings/oleObject38.bin"/><Relationship Id="rId1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3.wmf"/><Relationship Id="rId2" Type="http://schemas.openxmlformats.org/officeDocument/2006/relationships/oleObject" Target="../embeddings/oleObject40.bin"/><Relationship Id="rId1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41.bin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1.wmf"/><Relationship Id="rId2" Type="http://schemas.openxmlformats.org/officeDocument/2006/relationships/oleObject" Target="../embeddings/oleObject42.bin"/><Relationship Id="rId1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3.wmf"/><Relationship Id="rId1" Type="http://schemas.openxmlformats.org/officeDocument/2006/relationships/image" Target="../media/image7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6.wmf"/><Relationship Id="rId2" Type="http://schemas.openxmlformats.org/officeDocument/2006/relationships/oleObject" Target="../embeddings/oleObject43.bin"/><Relationship Id="rId1" Type="http://schemas.openxmlformats.org/officeDocument/2006/relationships/image" Target="../media/image7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0.wmf"/><Relationship Id="rId2" Type="http://schemas.openxmlformats.org/officeDocument/2006/relationships/oleObject" Target="../embeddings/oleObject44.bin"/><Relationship Id="rId1" Type="http://schemas.openxmlformats.org/officeDocument/2006/relationships/image" Target="../media/image79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1" Type="http://schemas.openxmlformats.org/officeDocument/2006/relationships/oleObject" Target="../embeddings/oleObject45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46.bin"/><Relationship Id="rId1" Type="http://schemas.openxmlformats.org/officeDocument/2006/relationships/image" Target="../media/image83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wmf"/><Relationship Id="rId2" Type="http://schemas.openxmlformats.org/officeDocument/2006/relationships/oleObject" Target="../embeddings/oleObject47.bin"/><Relationship Id="rId1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87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48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4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8" name="图片 409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88"/>
            <a:ext cx="9144000" cy="6856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4098"/>
          <p:cNvSpPr/>
          <p:nvPr/>
        </p:nvSpPr>
        <p:spPr>
          <a:xfrm>
            <a:off x="3348038" y="3429000"/>
            <a:ext cx="4032250" cy="100806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  <a:normAutofit/>
          </a:bodyPr>
          <a:p>
            <a:pPr algn="ctr"/>
            <a:r>
              <a:rPr lang="zh-CN" altLang="en-US" sz="3600">
                <a:ln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CC00"/>
                </a:solidFill>
                <a:effectLst>
                  <a:outerShdw dist="53882" dir="2699999" algn="ctr" rotWithShape="0">
                    <a:srgbClr val="9999FF">
                      <a:alpha val="79999"/>
                    </a:srgbClr>
                  </a:outerShdw>
                </a:effectLst>
                <a:latin typeface="楷体_GB2312" charset="0"/>
                <a:ea typeface="楷体_GB2312" charset="0"/>
              </a:rPr>
              <a:t>门电路</a:t>
            </a:r>
            <a:endParaRPr lang="zh-CN" altLang="en-US" sz="3600">
              <a:ln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  <a:solidFill>
                <a:srgbClr val="FFCC00"/>
              </a:solidFill>
              <a:effectLst>
                <a:outerShdw dist="53882" dir="2699999" algn="ctr" rotWithShape="0">
                  <a:srgbClr val="9999FF">
                    <a:alpha val="79999"/>
                  </a:srgbClr>
                </a:outerShdw>
              </a:effectLst>
              <a:latin typeface="楷体_GB2312" charset="0"/>
              <a:ea typeface="楷体_GB2312" charset="0"/>
            </a:endParaRPr>
          </a:p>
        </p:txBody>
      </p:sp>
      <p:sp>
        <p:nvSpPr>
          <p:cNvPr id="4100" name="矩形 4099"/>
          <p:cNvSpPr/>
          <p:nvPr/>
        </p:nvSpPr>
        <p:spPr>
          <a:xfrm>
            <a:off x="2916238" y="1052513"/>
            <a:ext cx="4103687" cy="15128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楷体_GB2312" charset="0"/>
                <a:ea typeface="楷体_GB2312" charset="0"/>
              </a:rPr>
              <a:t>第三章</a:t>
            </a:r>
            <a:endParaRPr lang="zh-CN" altLang="en-US" sz="3600">
              <a:ln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latin typeface="楷体_GB2312" charset="0"/>
              <a:ea typeface="楷体_GB231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0FF61"/>
            </a:gs>
            <a:gs pos="50000">
              <a:srgbClr val="FBFECE"/>
            </a:gs>
            <a:gs pos="100000">
              <a:srgbClr val="B0FF6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5121"/>
          <p:cNvSpPr/>
          <p:nvPr/>
        </p:nvSpPr>
        <p:spPr>
          <a:xfrm>
            <a:off x="2411413" y="333375"/>
            <a:ext cx="3671887" cy="695325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ea typeface="黑体" panose="02010609060101010101" pitchFamily="2" charset="-122"/>
              </a:rPr>
              <a:t>3.1    </a:t>
            </a:r>
            <a:r>
              <a:rPr lang="zh-CN" altLang="en-US" b="1">
                <a:solidFill>
                  <a:srgbClr val="0000FF"/>
                </a:solidFill>
                <a:effectLst/>
              </a:rPr>
              <a:t>概述</a:t>
            </a:r>
            <a:endParaRPr lang="zh-CN" altLang="en-US" b="1">
              <a:solidFill>
                <a:srgbClr val="0000FF"/>
              </a:solidFill>
              <a:effectLst/>
            </a:endParaRPr>
          </a:p>
        </p:txBody>
      </p:sp>
      <p:sp>
        <p:nvSpPr>
          <p:cNvPr id="5123" name="直接连接符 5122"/>
          <p:cNvSpPr/>
          <p:nvPr/>
        </p:nvSpPr>
        <p:spPr>
          <a:xfrm flipV="1">
            <a:off x="2195513" y="981075"/>
            <a:ext cx="3024187" cy="0"/>
          </a:xfrm>
          <a:prstGeom prst="line">
            <a:avLst/>
          </a:prstGeom>
          <a:ln w="76200" cap="sq" cmpd="tri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" name="文本框 5123"/>
          <p:cNvSpPr txBox="1"/>
          <p:nvPr/>
        </p:nvSpPr>
        <p:spPr>
          <a:xfrm>
            <a:off x="395288" y="1196975"/>
            <a:ext cx="8137525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门电路</a:t>
            </a:r>
            <a:r>
              <a:rPr lang="zh-CN" altLang="en-US">
                <a:latin typeface="Arial" panose="020B0604020202020204" pitchFamily="34" charset="0"/>
              </a:rPr>
              <a:t>是用以实现逻辑运算的电子电路，与已经讲过的逻辑运算相对应。常用的门电路在逻辑功能上有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</a:rPr>
              <a:t>与门、或门、非门、与非门、或非门、与或非门、异或门</a:t>
            </a:r>
            <a:r>
              <a:rPr lang="zh-CN" altLang="en-US">
                <a:latin typeface="Arial" panose="020B0604020202020204" pitchFamily="34" charset="0"/>
              </a:rPr>
              <a:t>等。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5" name="文本框 5124"/>
          <p:cNvSpPr txBox="1"/>
          <p:nvPr/>
        </p:nvSpPr>
        <p:spPr>
          <a:xfrm>
            <a:off x="250825" y="3644900"/>
            <a:ext cx="8640763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</a:rPr>
              <a:t>正逻辑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：高电平表示逻辑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、低电平表示逻辑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126" name="文本框 5125"/>
          <p:cNvSpPr txBox="1"/>
          <p:nvPr/>
        </p:nvSpPr>
        <p:spPr>
          <a:xfrm>
            <a:off x="250825" y="4292600"/>
            <a:ext cx="8640763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</a:rPr>
              <a:t>负逻辑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：高电平表示逻辑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、低电平表示逻辑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127" name="文本框 5126"/>
          <p:cNvSpPr txBox="1"/>
          <p:nvPr/>
        </p:nvSpPr>
        <p:spPr>
          <a:xfrm>
            <a:off x="395288" y="5373688"/>
            <a:ext cx="8229600" cy="116046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获得高、低电平的基本方法</a:t>
            </a:r>
            <a:r>
              <a:rPr lang="zh-CN" altLang="en-US" b="1">
                <a:latin typeface="Times New Roman" panose="02020603050405020304" pitchFamily="2" charset="0"/>
                <a:ea typeface="楷体_GB2312" pitchFamily="1" charset="-122"/>
              </a:rPr>
              <a:t>：利用半导体开关元件的</a:t>
            </a:r>
            <a:endParaRPr lang="zh-CN" altLang="en-US" b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楷体_GB2312" pitchFamily="1" charset="-122"/>
              </a:rPr>
              <a:t>          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导通</a:t>
            </a:r>
            <a:r>
              <a:rPr lang="zh-CN" altLang="en-US" b="1">
                <a:latin typeface="Times New Roman" panose="02020603050405020304" pitchFamily="2" charset="0"/>
                <a:ea typeface="楷体_GB2312" pitchFamily="1" charset="-122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截止</a:t>
            </a:r>
            <a:r>
              <a:rPr lang="zh-CN" altLang="en-US" b="1">
                <a:latin typeface="Times New Roman" panose="02020603050405020304" pitchFamily="2" charset="0"/>
                <a:ea typeface="楷体_GB2312" pitchFamily="1" charset="-122"/>
              </a:rPr>
              <a:t>（即开、关）两种工作状态。</a:t>
            </a:r>
            <a:endParaRPr lang="zh-CN" altLang="en-US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/>
      <p:bldP spid="5126" grpId="0"/>
      <p:bldP spid="51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矩形 6145"/>
          <p:cNvSpPr/>
          <p:nvPr/>
        </p:nvSpPr>
        <p:spPr>
          <a:xfrm>
            <a:off x="684213" y="301625"/>
            <a:ext cx="7847012" cy="695325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ea typeface="黑体" panose="02010609060101010101" pitchFamily="2" charset="-122"/>
              </a:rPr>
              <a:t>3.2    </a:t>
            </a:r>
            <a:r>
              <a:rPr lang="zh-CN" altLang="en-US" b="1">
                <a:solidFill>
                  <a:srgbClr val="0000FF"/>
                </a:solidFill>
                <a:effectLst/>
              </a:rPr>
              <a:t>半导体二极管门电路</a:t>
            </a:r>
            <a:endParaRPr lang="zh-CN" altLang="en-US" b="1">
              <a:solidFill>
                <a:srgbClr val="0000FF"/>
              </a:solidFill>
              <a:effectLst/>
            </a:endParaRPr>
          </a:p>
        </p:txBody>
      </p:sp>
      <p:sp>
        <p:nvSpPr>
          <p:cNvPr id="6147" name="直接连接符 6146"/>
          <p:cNvSpPr/>
          <p:nvPr/>
        </p:nvSpPr>
        <p:spPr>
          <a:xfrm flipV="1">
            <a:off x="755650" y="981075"/>
            <a:ext cx="6553200" cy="0"/>
          </a:xfrm>
          <a:prstGeom prst="line">
            <a:avLst/>
          </a:prstGeom>
          <a:ln w="76200" cap="sq" cmpd="tri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文本框 6147"/>
          <p:cNvSpPr txBox="1"/>
          <p:nvPr/>
        </p:nvSpPr>
        <p:spPr>
          <a:xfrm>
            <a:off x="468313" y="1341438"/>
            <a:ext cx="7056437" cy="579437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Verdana" panose="020B0604030504040204" pitchFamily="2" charset="0"/>
              </a:rPr>
              <a:t>§</a:t>
            </a:r>
            <a:r>
              <a:rPr lang="en-US" altLang="zh-CN" sz="3200">
                <a:latin typeface="Verdana" panose="020B0604030504040204" pitchFamily="2" charset="0"/>
              </a:rPr>
              <a:t>3.2.1   </a:t>
            </a:r>
            <a:r>
              <a:rPr lang="zh-CN" altLang="en-US" sz="3200">
                <a:latin typeface="Verdana" panose="020B0604030504040204" pitchFamily="2" charset="0"/>
              </a:rPr>
              <a:t>半导体二极管的开关特性</a:t>
            </a:r>
            <a:endParaRPr lang="zh-CN" altLang="en-US" sz="3200">
              <a:latin typeface="Verdana" panose="020B0604030504040204" pitchFamily="2" charset="0"/>
            </a:endParaRPr>
          </a:p>
        </p:txBody>
      </p:sp>
      <p:graphicFrame>
        <p:nvGraphicFramePr>
          <p:cNvPr id="6149" name="对象 6148"/>
          <p:cNvGraphicFramePr>
            <a:graphicFrameLocks noChangeAspect="1"/>
          </p:cNvGraphicFramePr>
          <p:nvPr/>
        </p:nvGraphicFramePr>
        <p:xfrm>
          <a:off x="900113" y="2276475"/>
          <a:ext cx="6934200" cy="386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33575" imgH="1276350" progId="">
                  <p:embed/>
                </p:oleObj>
              </mc:Choice>
              <mc:Fallback>
                <p:oleObj name="" r:id="rId1" imgW="1933575" imgH="127635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2276475"/>
                        <a:ext cx="6934200" cy="38608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文本框 6149"/>
          <p:cNvSpPr txBox="1"/>
          <p:nvPr/>
        </p:nvSpPr>
        <p:spPr>
          <a:xfrm>
            <a:off x="5508625" y="4724400"/>
            <a:ext cx="2362200" cy="946150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b="1" i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&gt;0.5V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时，二极管导通。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6151" name="文本框 6150"/>
          <p:cNvSpPr txBox="1"/>
          <p:nvPr/>
        </p:nvSpPr>
        <p:spPr>
          <a:xfrm>
            <a:off x="900113" y="2349500"/>
            <a:ext cx="3276600" cy="946150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b="1" i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&lt;0.5V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时，二极管截止，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D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=0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。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  <p:bldP spid="61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70" name="对象 7169"/>
          <p:cNvGraphicFramePr>
            <a:graphicFrameLocks noChangeAspect="1"/>
          </p:cNvGraphicFramePr>
          <p:nvPr/>
        </p:nvGraphicFramePr>
        <p:xfrm>
          <a:off x="304800" y="990600"/>
          <a:ext cx="3733800" cy="297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209675" imgH="962025" progId="">
                  <p:embed/>
                </p:oleObj>
              </mc:Choice>
              <mc:Fallback>
                <p:oleObj name="" r:id="rId1" imgW="1209675" imgH="962025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990600"/>
                        <a:ext cx="3733800" cy="297021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对象 7170"/>
          <p:cNvGraphicFramePr>
            <a:graphicFrameLocks noChangeAspect="1"/>
          </p:cNvGraphicFramePr>
          <p:nvPr/>
        </p:nvGraphicFramePr>
        <p:xfrm>
          <a:off x="4495800" y="990600"/>
          <a:ext cx="42672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314450" imgH="828675" progId="">
                  <p:embed/>
                </p:oleObj>
              </mc:Choice>
              <mc:Fallback>
                <p:oleObj name="" r:id="rId3" imgW="1314450" imgH="828675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5800" y="990600"/>
                        <a:ext cx="4267200" cy="28956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文本框 7171"/>
          <p:cNvSpPr txBox="1"/>
          <p:nvPr/>
        </p:nvSpPr>
        <p:spPr>
          <a:xfrm>
            <a:off x="609600" y="4267200"/>
            <a:ext cx="7924800" cy="13112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u</a:t>
            </a:r>
            <a:r>
              <a:rPr lang="en-US" altLang="zh-CN" sz="3200" b="1" i="1" baseline="-25000">
                <a:latin typeface="Times New Roman" panose="02020603050405020304" pitchFamily="2" charset="0"/>
                <a:ea typeface="楷体_GB2312" pitchFamily="1" charset="-122"/>
              </a:rPr>
              <a:t>i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＝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0V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时，二极管截止，如同开关断开，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u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＝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0V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对象 8193"/>
          <p:cNvGraphicFramePr>
            <a:graphicFrameLocks noChangeAspect="1"/>
          </p:cNvGraphicFramePr>
          <p:nvPr/>
        </p:nvGraphicFramePr>
        <p:xfrm>
          <a:off x="395288" y="620713"/>
          <a:ext cx="3733800" cy="297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209675" imgH="962025" progId="">
                  <p:embed/>
                </p:oleObj>
              </mc:Choice>
              <mc:Fallback>
                <p:oleObj name="" r:id="rId1" imgW="1209675" imgH="96202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620713"/>
                        <a:ext cx="3733800" cy="297021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对象 8194"/>
          <p:cNvGraphicFramePr>
            <a:graphicFrameLocks noChangeAspect="1"/>
          </p:cNvGraphicFramePr>
          <p:nvPr/>
        </p:nvGraphicFramePr>
        <p:xfrm>
          <a:off x="4381500" y="647700"/>
          <a:ext cx="4419600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14450" imgH="876300" progId="">
                  <p:embed/>
                </p:oleObj>
              </mc:Choice>
              <mc:Fallback>
                <p:oleObj name="" r:id="rId3" imgW="1314450" imgH="8763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81500" y="647700"/>
                        <a:ext cx="4419600" cy="291782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直接连接符 8195"/>
          <p:cNvSpPr/>
          <p:nvPr/>
        </p:nvSpPr>
        <p:spPr>
          <a:xfrm>
            <a:off x="4572000" y="2971800"/>
            <a:ext cx="3124200" cy="0"/>
          </a:xfrm>
          <a:prstGeom prst="line">
            <a:avLst/>
          </a:prstGeom>
          <a:ln w="635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" name="直接连接符 8196"/>
          <p:cNvSpPr/>
          <p:nvPr/>
        </p:nvSpPr>
        <p:spPr>
          <a:xfrm flipV="1">
            <a:off x="4643438" y="1341438"/>
            <a:ext cx="1587" cy="609600"/>
          </a:xfrm>
          <a:prstGeom prst="line">
            <a:avLst/>
          </a:prstGeom>
          <a:ln w="635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8" name="直接连接符 8197"/>
          <p:cNvSpPr/>
          <p:nvPr/>
        </p:nvSpPr>
        <p:spPr>
          <a:xfrm>
            <a:off x="4643438" y="1916113"/>
            <a:ext cx="0" cy="990600"/>
          </a:xfrm>
          <a:prstGeom prst="line">
            <a:avLst/>
          </a:prstGeom>
          <a:ln w="635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9" name="直接连接符 8198"/>
          <p:cNvSpPr/>
          <p:nvPr/>
        </p:nvSpPr>
        <p:spPr>
          <a:xfrm flipV="1">
            <a:off x="4572000" y="1341438"/>
            <a:ext cx="3143250" cy="0"/>
          </a:xfrm>
          <a:prstGeom prst="line">
            <a:avLst/>
          </a:prstGeom>
          <a:ln w="635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0" name="直接连接符 8199"/>
          <p:cNvSpPr/>
          <p:nvPr/>
        </p:nvSpPr>
        <p:spPr>
          <a:xfrm flipH="1">
            <a:off x="7667625" y="1295400"/>
            <a:ext cx="28575" cy="1701800"/>
          </a:xfrm>
          <a:prstGeom prst="line">
            <a:avLst/>
          </a:prstGeom>
          <a:ln w="635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1" name="文本框 8200"/>
          <p:cNvSpPr txBox="1"/>
          <p:nvPr/>
        </p:nvSpPr>
        <p:spPr>
          <a:xfrm>
            <a:off x="609600" y="4038600"/>
            <a:ext cx="8305800" cy="10668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/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u</a:t>
            </a:r>
            <a:r>
              <a:rPr lang="en-US" altLang="zh-CN" sz="3200" b="1" i="1" baseline="-25000">
                <a:latin typeface="Times New Roman" panose="02020603050405020304" pitchFamily="2" charset="0"/>
                <a:ea typeface="楷体_GB2312" pitchFamily="1" charset="-122"/>
              </a:rPr>
              <a:t>i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＝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5V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时，二极管导通，如同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0.7V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的电压源，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  <a:p>
            <a:pPr algn="just"/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u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＝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4.3V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8" name="对象 9217"/>
          <p:cNvGraphicFramePr>
            <a:graphicFrameLocks noChangeAspect="1"/>
          </p:cNvGraphicFramePr>
          <p:nvPr/>
        </p:nvGraphicFramePr>
        <p:xfrm>
          <a:off x="323850" y="1341438"/>
          <a:ext cx="4038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809750" imgH="1008380" progId="">
                  <p:embed/>
                </p:oleObj>
              </mc:Choice>
              <mc:Fallback>
                <p:oleObj name="" r:id="rId1" imgW="1809750" imgH="1008380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341438"/>
                        <a:ext cx="4038600" cy="25146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文本框 9218"/>
          <p:cNvSpPr txBox="1"/>
          <p:nvPr/>
        </p:nvSpPr>
        <p:spPr>
          <a:xfrm>
            <a:off x="395288" y="476250"/>
            <a:ext cx="4897437" cy="579438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Verdana" panose="020B0604030504040204" pitchFamily="2" charset="0"/>
              </a:rPr>
              <a:t>§</a:t>
            </a:r>
            <a:r>
              <a:rPr lang="en-US" altLang="zh-CN" sz="3200">
                <a:latin typeface="Verdana" panose="020B0604030504040204" pitchFamily="2" charset="0"/>
              </a:rPr>
              <a:t>3.2.2   </a:t>
            </a:r>
            <a:r>
              <a:rPr lang="zh-CN" altLang="en-US" sz="3200">
                <a:latin typeface="Verdana" panose="020B0604030504040204" pitchFamily="2" charset="0"/>
              </a:rPr>
              <a:t>二极管与门</a:t>
            </a:r>
            <a:endParaRPr lang="zh-CN" altLang="en-US" sz="3200">
              <a:latin typeface="Verdana" panose="020B0604030504040204" pitchFamily="2" charset="0"/>
            </a:endParaRPr>
          </a:p>
        </p:txBody>
      </p:sp>
      <p:graphicFrame>
        <p:nvGraphicFramePr>
          <p:cNvPr id="9220" name="对象 9219"/>
          <p:cNvGraphicFramePr>
            <a:graphicFrameLocks noChangeAspect="1"/>
          </p:cNvGraphicFramePr>
          <p:nvPr/>
        </p:nvGraphicFramePr>
        <p:xfrm>
          <a:off x="4643438" y="1268413"/>
          <a:ext cx="4249737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714625" imgH="1771650" progId="Word.Document.8">
                  <p:embed/>
                </p:oleObj>
              </mc:Choice>
              <mc:Fallback>
                <p:oleObj name="" r:id="rId3" imgW="2714625" imgH="1771650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rcRect l="5560" r="5560" b="14774"/>
                      <a:stretch>
                        <a:fillRect/>
                      </a:stretch>
                    </p:blipFill>
                    <p:spPr>
                      <a:xfrm>
                        <a:off x="4643438" y="1268413"/>
                        <a:ext cx="4249737" cy="27686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9220"/>
          <p:cNvGraphicFramePr>
            <a:graphicFrameLocks noChangeAspect="1"/>
          </p:cNvGraphicFramePr>
          <p:nvPr/>
        </p:nvGraphicFramePr>
        <p:xfrm>
          <a:off x="323850" y="3933825"/>
          <a:ext cx="3967163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1247775" imgH="1171575" progId="Word.Document.8">
                  <p:embed/>
                </p:oleObj>
              </mc:Choice>
              <mc:Fallback>
                <p:oleObj name="" r:id="rId5" imgW="1247775" imgH="117157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rcRect r="10086" b="14769"/>
                      <a:stretch>
                        <a:fillRect/>
                      </a:stretch>
                    </p:blipFill>
                    <p:spPr>
                      <a:xfrm>
                        <a:off x="323850" y="3933825"/>
                        <a:ext cx="3967163" cy="26098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文本框 9221"/>
          <p:cNvSpPr txBox="1"/>
          <p:nvPr/>
        </p:nvSpPr>
        <p:spPr>
          <a:xfrm>
            <a:off x="4500563" y="4292600"/>
            <a:ext cx="1295400" cy="579438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</a:rPr>
              <a:t>Y=A·B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9223" name="组合 9222"/>
          <p:cNvGrpSpPr/>
          <p:nvPr/>
        </p:nvGrpSpPr>
        <p:grpSpPr>
          <a:xfrm>
            <a:off x="4716463" y="5229225"/>
            <a:ext cx="2881312" cy="889000"/>
            <a:chOff x="0" y="0"/>
            <a:chExt cx="1815" cy="560"/>
          </a:xfrm>
        </p:grpSpPr>
        <p:sp>
          <p:nvSpPr>
            <p:cNvPr id="9224" name="流程图: 延期 9223"/>
            <p:cNvSpPr/>
            <p:nvPr/>
          </p:nvSpPr>
          <p:spPr>
            <a:xfrm>
              <a:off x="681" y="45"/>
              <a:ext cx="545" cy="454"/>
            </a:xfrm>
            <a:prstGeom prst="flowChartDelay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25" name="直接连接符 9224"/>
            <p:cNvSpPr/>
            <p:nvPr/>
          </p:nvSpPr>
          <p:spPr>
            <a:xfrm flipH="1">
              <a:off x="318" y="181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6" name="直接连接符 9225"/>
            <p:cNvSpPr/>
            <p:nvPr/>
          </p:nvSpPr>
          <p:spPr>
            <a:xfrm flipH="1">
              <a:off x="318" y="363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7" name="直接连接符 9226"/>
            <p:cNvSpPr/>
            <p:nvPr/>
          </p:nvSpPr>
          <p:spPr>
            <a:xfrm>
              <a:off x="1225" y="272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8" name="文本框 9227"/>
            <p:cNvSpPr txBox="1"/>
            <p:nvPr/>
          </p:nvSpPr>
          <p:spPr>
            <a:xfrm>
              <a:off x="0" y="0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A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9229" name="文本框 9228"/>
            <p:cNvSpPr txBox="1"/>
            <p:nvPr/>
          </p:nvSpPr>
          <p:spPr>
            <a:xfrm>
              <a:off x="0" y="272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B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9230" name="文本框 9229"/>
            <p:cNvSpPr txBox="1"/>
            <p:nvPr/>
          </p:nvSpPr>
          <p:spPr>
            <a:xfrm>
              <a:off x="1407" y="136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Y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文本框 10241"/>
          <p:cNvSpPr txBox="1"/>
          <p:nvPr/>
        </p:nvSpPr>
        <p:spPr>
          <a:xfrm>
            <a:off x="395288" y="476250"/>
            <a:ext cx="4681537" cy="579438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Verdana" panose="020B0604030504040204" pitchFamily="2" charset="0"/>
              </a:rPr>
              <a:t>§</a:t>
            </a:r>
            <a:r>
              <a:rPr lang="en-US" altLang="zh-CN" sz="3200">
                <a:latin typeface="Verdana" panose="020B0604030504040204" pitchFamily="2" charset="0"/>
              </a:rPr>
              <a:t>3.2.3   </a:t>
            </a:r>
            <a:r>
              <a:rPr lang="zh-CN" altLang="en-US" sz="3200">
                <a:latin typeface="Verdana" panose="020B0604030504040204" pitchFamily="2" charset="0"/>
              </a:rPr>
              <a:t>二极管或门</a:t>
            </a:r>
            <a:endParaRPr lang="zh-CN" altLang="en-US" sz="3200">
              <a:latin typeface="Verdana" panose="020B0604030504040204" pitchFamily="2" charset="0"/>
            </a:endParaRPr>
          </a:p>
        </p:txBody>
      </p:sp>
      <p:pic>
        <p:nvPicPr>
          <p:cNvPr id="10243" name="图片 102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4762500" cy="26860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244" name="对象 10243"/>
          <p:cNvGraphicFramePr>
            <a:graphicFrameLocks noChangeAspect="1"/>
          </p:cNvGraphicFramePr>
          <p:nvPr/>
        </p:nvGraphicFramePr>
        <p:xfrm>
          <a:off x="4933950" y="1276350"/>
          <a:ext cx="3886200" cy="300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2286000" imgH="1771650" progId="Word.Document.8">
                  <p:embed/>
                </p:oleObj>
              </mc:Choice>
              <mc:Fallback>
                <p:oleObj name="" r:id="rId2" imgW="2286000" imgH="177165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rcRect r="8083" b="14740"/>
                      <a:stretch>
                        <a:fillRect/>
                      </a:stretch>
                    </p:blipFill>
                    <p:spPr>
                      <a:xfrm>
                        <a:off x="4933950" y="1276350"/>
                        <a:ext cx="3886200" cy="30035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对象 10244"/>
          <p:cNvGraphicFramePr>
            <a:graphicFrameLocks noChangeAspect="1"/>
          </p:cNvGraphicFramePr>
          <p:nvPr/>
        </p:nvGraphicFramePr>
        <p:xfrm>
          <a:off x="323850" y="3983038"/>
          <a:ext cx="2976563" cy="287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1247775" imgH="1171575" progId="Word.Document.8">
                  <p:embed/>
                </p:oleObj>
              </mc:Choice>
              <mc:Fallback>
                <p:oleObj name="" r:id="rId4" imgW="1247775" imgH="117157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rcRect l="2882" r="36023" b="16000"/>
                      <a:stretch>
                        <a:fillRect/>
                      </a:stretch>
                    </p:blipFill>
                    <p:spPr>
                      <a:xfrm>
                        <a:off x="323850" y="3983038"/>
                        <a:ext cx="2976563" cy="28749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文本框 10245"/>
          <p:cNvSpPr txBox="1"/>
          <p:nvPr/>
        </p:nvSpPr>
        <p:spPr>
          <a:xfrm>
            <a:off x="3492500" y="4437063"/>
            <a:ext cx="1447800" cy="579437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</a:rPr>
              <a:t>Y=A+B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pic>
        <p:nvPicPr>
          <p:cNvPr id="10247" name="图片 102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838" y="5229225"/>
            <a:ext cx="3600450" cy="1227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矩形 11265"/>
          <p:cNvSpPr/>
          <p:nvPr/>
        </p:nvSpPr>
        <p:spPr>
          <a:xfrm>
            <a:off x="1619250" y="333375"/>
            <a:ext cx="4968875" cy="695325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ea typeface="黑体" panose="02010609060101010101" pitchFamily="2" charset="-122"/>
              </a:rPr>
              <a:t>3.3    CMOS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2" charset="-122"/>
              </a:rPr>
              <a:t>门电路</a:t>
            </a:r>
            <a:endParaRPr lang="zh-CN" altLang="en-US" b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11267" name="直接连接符 11266"/>
          <p:cNvSpPr/>
          <p:nvPr/>
        </p:nvSpPr>
        <p:spPr>
          <a:xfrm flipV="1">
            <a:off x="1619250" y="1054100"/>
            <a:ext cx="4895850" cy="0"/>
          </a:xfrm>
          <a:prstGeom prst="line">
            <a:avLst/>
          </a:prstGeom>
          <a:ln w="76200" cap="sq" cmpd="tri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文本框 11267"/>
          <p:cNvSpPr txBox="1"/>
          <p:nvPr/>
        </p:nvSpPr>
        <p:spPr>
          <a:xfrm>
            <a:off x="250825" y="1268413"/>
            <a:ext cx="69135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3.3.1  MOS</a:t>
            </a:r>
            <a:r>
              <a:rPr lang="zh-CN" altLang="en-US" sz="3600">
                <a:latin typeface="Verdana" panose="020B0604030504040204" pitchFamily="2" charset="0"/>
              </a:rPr>
              <a:t>管的开关特性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11269" name="文本框 11268"/>
          <p:cNvSpPr txBox="1"/>
          <p:nvPr/>
        </p:nvSpPr>
        <p:spPr>
          <a:xfrm>
            <a:off x="323850" y="1916113"/>
            <a:ext cx="7272338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2" charset="0"/>
              </a:rPr>
              <a:t>        </a:t>
            </a:r>
            <a:r>
              <a:rPr lang="zh-CN" altLang="en-US" sz="2400" b="1">
                <a:latin typeface="Times New Roman" panose="02020603050405020304" pitchFamily="2" charset="0"/>
              </a:rPr>
              <a:t>在</a:t>
            </a:r>
            <a:r>
              <a:rPr lang="en-US" altLang="zh-CN" sz="2400" b="1">
                <a:latin typeface="Times New Roman" panose="02020603050405020304" pitchFamily="2" charset="0"/>
              </a:rPr>
              <a:t>CMOS</a:t>
            </a:r>
            <a:r>
              <a:rPr lang="zh-CN" altLang="en-US" sz="2400" b="1">
                <a:latin typeface="Times New Roman" panose="02020603050405020304" pitchFamily="2" charset="0"/>
              </a:rPr>
              <a:t>集成电路中，以金属－氧化物－半导体场效应管（</a:t>
            </a:r>
            <a:r>
              <a:rPr lang="en-US" altLang="zh-CN" sz="2400" b="1">
                <a:latin typeface="Times New Roman" panose="02020603050405020304" pitchFamily="2" charset="0"/>
              </a:rPr>
              <a:t>MOS</a:t>
            </a:r>
            <a:r>
              <a:rPr lang="zh-CN" altLang="en-US" sz="2400" b="1">
                <a:latin typeface="Times New Roman" panose="02020603050405020304" pitchFamily="2" charset="0"/>
              </a:rPr>
              <a:t>管</a:t>
            </a:r>
            <a:r>
              <a:rPr lang="en-US" altLang="zh-CN" sz="2400" b="1">
                <a:latin typeface="Times New Roman" panose="02020603050405020304" pitchFamily="2" charset="0"/>
              </a:rPr>
              <a:t>)</a:t>
            </a:r>
            <a:r>
              <a:rPr lang="zh-CN" altLang="en-US" sz="2400" b="1">
                <a:latin typeface="Times New Roman" panose="02020603050405020304" pitchFamily="2" charset="0"/>
              </a:rPr>
              <a:t>作为开关器件。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sp>
        <p:nvSpPr>
          <p:cNvPr id="11270" name="矩形 11269"/>
          <p:cNvSpPr/>
          <p:nvPr/>
        </p:nvSpPr>
        <p:spPr>
          <a:xfrm>
            <a:off x="323850" y="2997200"/>
            <a:ext cx="492125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p>
            <a:pPr algn="l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  <a:latin typeface="Verdana" panose="020B0604030504040204" pitchFamily="2" charset="0"/>
              </a:rPr>
              <a:t>一</a:t>
            </a:r>
            <a:r>
              <a:rPr lang="zh-CN" altLang="en-US" b="1">
                <a:solidFill>
                  <a:srgbClr val="FF3300"/>
                </a:solidFill>
                <a:latin typeface="Verdana" panose="020B0604030504040204" pitchFamily="2" charset="0"/>
              </a:rPr>
              <a:t>、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MOS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管的结构和工作原理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1271" name="组合 11270"/>
          <p:cNvGrpSpPr/>
          <p:nvPr/>
        </p:nvGrpSpPr>
        <p:grpSpPr>
          <a:xfrm>
            <a:off x="2987675" y="3500438"/>
            <a:ext cx="3276600" cy="2705100"/>
            <a:chOff x="0" y="0"/>
            <a:chExt cx="2064" cy="1704"/>
          </a:xfrm>
        </p:grpSpPr>
        <p:grpSp>
          <p:nvGrpSpPr>
            <p:cNvPr id="11272" name="组合 11271"/>
            <p:cNvGrpSpPr/>
            <p:nvPr/>
          </p:nvGrpSpPr>
          <p:grpSpPr>
            <a:xfrm>
              <a:off x="0" y="936"/>
              <a:ext cx="2064" cy="768"/>
              <a:chOff x="0" y="0"/>
              <a:chExt cx="2064" cy="768"/>
            </a:xfrm>
          </p:grpSpPr>
          <p:sp>
            <p:nvSpPr>
              <p:cNvPr id="11273" name="直接连接符 11272"/>
              <p:cNvSpPr/>
              <p:nvPr/>
            </p:nvSpPr>
            <p:spPr>
              <a:xfrm flipV="1">
                <a:off x="12" y="180"/>
                <a:ext cx="2052" cy="1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4" name="矩形 11273"/>
              <p:cNvSpPr/>
              <p:nvPr/>
            </p:nvSpPr>
            <p:spPr>
              <a:xfrm>
                <a:off x="180" y="192"/>
                <a:ext cx="396" cy="288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275" name="矩形 11274"/>
              <p:cNvSpPr/>
              <p:nvPr/>
            </p:nvSpPr>
            <p:spPr>
              <a:xfrm>
                <a:off x="1380" y="192"/>
                <a:ext cx="396" cy="288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276" name="矩形 11275"/>
              <p:cNvSpPr/>
              <p:nvPr/>
            </p:nvSpPr>
            <p:spPr>
              <a:xfrm>
                <a:off x="480" y="120"/>
                <a:ext cx="984" cy="72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277" name="矩形 11276"/>
              <p:cNvSpPr/>
              <p:nvPr/>
            </p:nvSpPr>
            <p:spPr>
              <a:xfrm>
                <a:off x="480" y="0"/>
                <a:ext cx="984" cy="132"/>
              </a:xfrm>
              <a:prstGeom prst="rect">
                <a:avLst/>
              </a:prstGeom>
              <a:solidFill>
                <a:schemeClr val="bg2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278" name="直接连接符 11277"/>
              <p:cNvSpPr/>
              <p:nvPr/>
            </p:nvSpPr>
            <p:spPr>
              <a:xfrm flipV="1">
                <a:off x="0" y="756"/>
                <a:ext cx="205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9" name="直接连接符 11278"/>
              <p:cNvSpPr/>
              <p:nvPr/>
            </p:nvSpPr>
            <p:spPr>
              <a:xfrm>
                <a:off x="12" y="180"/>
                <a:ext cx="0" cy="58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0" name="直接连接符 11279"/>
              <p:cNvSpPr/>
              <p:nvPr/>
            </p:nvSpPr>
            <p:spPr>
              <a:xfrm>
                <a:off x="2052" y="180"/>
                <a:ext cx="0" cy="58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281" name="组合 11280"/>
            <p:cNvGrpSpPr/>
            <p:nvPr/>
          </p:nvGrpSpPr>
          <p:grpSpPr>
            <a:xfrm>
              <a:off x="324" y="372"/>
              <a:ext cx="108" cy="744"/>
              <a:chOff x="0" y="0"/>
              <a:chExt cx="108" cy="744"/>
            </a:xfrm>
          </p:grpSpPr>
          <p:sp>
            <p:nvSpPr>
              <p:cNvPr id="11282" name="直接连接符 11281"/>
              <p:cNvSpPr/>
              <p:nvPr/>
            </p:nvSpPr>
            <p:spPr>
              <a:xfrm flipV="1">
                <a:off x="48" y="84"/>
                <a:ext cx="0" cy="66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3" name="椭圆 11282"/>
              <p:cNvSpPr/>
              <p:nvPr/>
            </p:nvSpPr>
            <p:spPr>
              <a:xfrm>
                <a:off x="0" y="0"/>
                <a:ext cx="108" cy="96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1284" name="组合 11283"/>
            <p:cNvGrpSpPr/>
            <p:nvPr/>
          </p:nvGrpSpPr>
          <p:grpSpPr>
            <a:xfrm>
              <a:off x="1512" y="384"/>
              <a:ext cx="108" cy="744"/>
              <a:chOff x="0" y="0"/>
              <a:chExt cx="108" cy="744"/>
            </a:xfrm>
          </p:grpSpPr>
          <p:sp>
            <p:nvSpPr>
              <p:cNvPr id="11285" name="直接连接符 11284"/>
              <p:cNvSpPr/>
              <p:nvPr/>
            </p:nvSpPr>
            <p:spPr>
              <a:xfrm flipV="1">
                <a:off x="48" y="84"/>
                <a:ext cx="0" cy="66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6" name="椭圆 11285"/>
              <p:cNvSpPr/>
              <p:nvPr/>
            </p:nvSpPr>
            <p:spPr>
              <a:xfrm>
                <a:off x="0" y="0"/>
                <a:ext cx="108" cy="96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1287" name="组合 11286"/>
            <p:cNvGrpSpPr/>
            <p:nvPr/>
          </p:nvGrpSpPr>
          <p:grpSpPr>
            <a:xfrm>
              <a:off x="912" y="372"/>
              <a:ext cx="96" cy="552"/>
              <a:chOff x="0" y="0"/>
              <a:chExt cx="96" cy="552"/>
            </a:xfrm>
          </p:grpSpPr>
          <p:sp>
            <p:nvSpPr>
              <p:cNvPr id="11288" name="直接连接符 11287"/>
              <p:cNvSpPr/>
              <p:nvPr/>
            </p:nvSpPr>
            <p:spPr>
              <a:xfrm flipV="1">
                <a:off x="48" y="84"/>
                <a:ext cx="0" cy="46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9" name="椭圆 11288"/>
              <p:cNvSpPr/>
              <p:nvPr/>
            </p:nvSpPr>
            <p:spPr>
              <a:xfrm>
                <a:off x="0" y="0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1290" name="文本框 11289"/>
            <p:cNvSpPr txBox="1"/>
            <p:nvPr/>
          </p:nvSpPr>
          <p:spPr>
            <a:xfrm>
              <a:off x="828" y="1332"/>
              <a:ext cx="3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P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1291" name="文本框 11290"/>
            <p:cNvSpPr txBox="1"/>
            <p:nvPr/>
          </p:nvSpPr>
          <p:spPr>
            <a:xfrm>
              <a:off x="216" y="1092"/>
              <a:ext cx="32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N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1292" name="文本框 11291"/>
            <p:cNvSpPr txBox="1"/>
            <p:nvPr/>
          </p:nvSpPr>
          <p:spPr>
            <a:xfrm>
              <a:off x="1428" y="1092"/>
              <a:ext cx="32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N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1293" name="文本框 11292"/>
            <p:cNvSpPr txBox="1"/>
            <p:nvPr/>
          </p:nvSpPr>
          <p:spPr>
            <a:xfrm>
              <a:off x="792" y="0"/>
              <a:ext cx="4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G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1294" name="文本框 11293"/>
            <p:cNvSpPr txBox="1"/>
            <p:nvPr/>
          </p:nvSpPr>
          <p:spPr>
            <a:xfrm>
              <a:off x="228" y="12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S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1295" name="文本框 11294"/>
            <p:cNvSpPr txBox="1"/>
            <p:nvPr/>
          </p:nvSpPr>
          <p:spPr>
            <a:xfrm>
              <a:off x="1464" y="12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D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11296" name="矩形标注 11295"/>
          <p:cNvSpPr/>
          <p:nvPr/>
        </p:nvSpPr>
        <p:spPr>
          <a:xfrm>
            <a:off x="6616700" y="3263900"/>
            <a:ext cx="1443038" cy="617538"/>
          </a:xfrm>
          <a:prstGeom prst="wedgeRectCallout">
            <a:avLst>
              <a:gd name="adj1" fmla="val -156931"/>
              <a:gd name="adj2" fmla="val 238690"/>
            </a:avLst>
          </a:prstGeom>
          <a:solidFill>
            <a:srgbClr val="66FF66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金属铝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297" name="矩形标注 11296"/>
          <p:cNvSpPr/>
          <p:nvPr/>
        </p:nvSpPr>
        <p:spPr>
          <a:xfrm>
            <a:off x="6804025" y="4508500"/>
            <a:ext cx="1736725" cy="617538"/>
          </a:xfrm>
          <a:prstGeom prst="wedgeRectCallout">
            <a:avLst>
              <a:gd name="adj1" fmla="val -112250"/>
              <a:gd name="adj2" fmla="val 94731"/>
            </a:avLst>
          </a:prstGeom>
          <a:solidFill>
            <a:srgbClr val="66FF66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两个</a:t>
            </a: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N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区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298" name="矩形标注 11297"/>
          <p:cNvSpPr/>
          <p:nvPr/>
        </p:nvSpPr>
        <p:spPr>
          <a:xfrm>
            <a:off x="6372225" y="6021388"/>
            <a:ext cx="2292350" cy="617537"/>
          </a:xfrm>
          <a:prstGeom prst="wedgeRectCallout">
            <a:avLst>
              <a:gd name="adj1" fmla="val -113921"/>
              <a:gd name="adj2" fmla="val -174935"/>
            </a:avLst>
          </a:prstGeom>
          <a:solidFill>
            <a:srgbClr val="66FF66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SiO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2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绝缘层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299" name="矩形标注 11298"/>
          <p:cNvSpPr/>
          <p:nvPr/>
        </p:nvSpPr>
        <p:spPr>
          <a:xfrm>
            <a:off x="684213" y="5949950"/>
            <a:ext cx="1690687" cy="617538"/>
          </a:xfrm>
          <a:prstGeom prst="wedgeRectCallout">
            <a:avLst>
              <a:gd name="adj1" fmla="val 130940"/>
              <a:gd name="adj2" fmla="val -62338"/>
            </a:avLst>
          </a:prstGeom>
          <a:solidFill>
            <a:srgbClr val="66FF66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P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型衬底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300" name="矩形标注 11299"/>
          <p:cNvSpPr/>
          <p:nvPr/>
        </p:nvSpPr>
        <p:spPr>
          <a:xfrm>
            <a:off x="684213" y="4797425"/>
            <a:ext cx="1851025" cy="617538"/>
          </a:xfrm>
          <a:prstGeom prst="wedgeRectCallout">
            <a:avLst>
              <a:gd name="adj1" fmla="val 134477"/>
              <a:gd name="adj2" fmla="val 52056"/>
            </a:avLst>
          </a:prstGeom>
          <a:solidFill>
            <a:srgbClr val="66FF66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导电沟道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/>
      <p:bldP spid="11270" grpId="0" animBg="1"/>
      <p:bldP spid="11296" grpId="0" animBg="1"/>
      <p:bldP spid="11297" grpId="0" animBg="1"/>
      <p:bldP spid="11298" grpId="0" animBg="1"/>
      <p:bldP spid="11299" grpId="0" animBg="1"/>
      <p:bldP spid="113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90" name="组合 12289"/>
          <p:cNvGrpSpPr/>
          <p:nvPr/>
        </p:nvGrpSpPr>
        <p:grpSpPr>
          <a:xfrm>
            <a:off x="3086100" y="1530350"/>
            <a:ext cx="1809750" cy="2922588"/>
            <a:chOff x="0" y="0"/>
            <a:chExt cx="1140" cy="1841"/>
          </a:xfrm>
        </p:grpSpPr>
        <p:sp>
          <p:nvSpPr>
            <p:cNvPr id="12291" name="直接连接符 12290"/>
            <p:cNvSpPr/>
            <p:nvPr/>
          </p:nvSpPr>
          <p:spPr>
            <a:xfrm>
              <a:off x="444" y="624"/>
              <a:ext cx="0" cy="57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2" name="直接连接符 12291"/>
            <p:cNvSpPr/>
            <p:nvPr/>
          </p:nvSpPr>
          <p:spPr>
            <a:xfrm flipH="1">
              <a:off x="72" y="1200"/>
              <a:ext cx="38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3" name="直接连接符 12292"/>
            <p:cNvSpPr/>
            <p:nvPr/>
          </p:nvSpPr>
          <p:spPr>
            <a:xfrm>
              <a:off x="564" y="588"/>
              <a:ext cx="0" cy="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4" name="直接连接符 12293"/>
            <p:cNvSpPr/>
            <p:nvPr/>
          </p:nvSpPr>
          <p:spPr>
            <a:xfrm>
              <a:off x="564" y="876"/>
              <a:ext cx="0" cy="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5" name="直接连接符 12294"/>
            <p:cNvSpPr/>
            <p:nvPr/>
          </p:nvSpPr>
          <p:spPr>
            <a:xfrm>
              <a:off x="564" y="1152"/>
              <a:ext cx="0" cy="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6" name="直接连接符 12295"/>
            <p:cNvSpPr/>
            <p:nvPr/>
          </p:nvSpPr>
          <p:spPr>
            <a:xfrm>
              <a:off x="564" y="924"/>
              <a:ext cx="30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2297" name="直接连接符 12296"/>
            <p:cNvSpPr/>
            <p:nvPr/>
          </p:nvSpPr>
          <p:spPr>
            <a:xfrm>
              <a:off x="552" y="636"/>
              <a:ext cx="30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8" name="直接连接符 12297"/>
            <p:cNvSpPr/>
            <p:nvPr/>
          </p:nvSpPr>
          <p:spPr>
            <a:xfrm>
              <a:off x="564" y="1200"/>
              <a:ext cx="27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9" name="直接连接符 12298"/>
            <p:cNvSpPr/>
            <p:nvPr/>
          </p:nvSpPr>
          <p:spPr>
            <a:xfrm flipV="1">
              <a:off x="840" y="384"/>
              <a:ext cx="0" cy="26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0" name="直接连接符 12299"/>
            <p:cNvSpPr/>
            <p:nvPr/>
          </p:nvSpPr>
          <p:spPr>
            <a:xfrm>
              <a:off x="828" y="1188"/>
              <a:ext cx="0" cy="30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1" name="文本框 12300"/>
            <p:cNvSpPr txBox="1"/>
            <p:nvPr/>
          </p:nvSpPr>
          <p:spPr>
            <a:xfrm>
              <a:off x="0" y="828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G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2302" name="文本框 12301"/>
            <p:cNvSpPr txBox="1"/>
            <p:nvPr/>
          </p:nvSpPr>
          <p:spPr>
            <a:xfrm>
              <a:off x="708" y="1476"/>
              <a:ext cx="39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S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2303" name="文本框 12302"/>
            <p:cNvSpPr txBox="1"/>
            <p:nvPr/>
          </p:nvSpPr>
          <p:spPr>
            <a:xfrm>
              <a:off x="696" y="0"/>
              <a:ext cx="4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D</a:t>
              </a:r>
              <a:endParaRPr lang="en-US" altLang="zh-CN" sz="3200" b="1" i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12304" name="文本框 12303"/>
          <p:cNvSpPr txBox="1"/>
          <p:nvPr/>
        </p:nvSpPr>
        <p:spPr>
          <a:xfrm>
            <a:off x="2019300" y="5340350"/>
            <a:ext cx="2838450" cy="617538"/>
          </a:xfrm>
          <a:prstGeom prst="rect">
            <a:avLst/>
          </a:prstGeom>
          <a:noFill/>
          <a:ln w="38100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N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沟道增强型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2305" name="云形标注 12304"/>
          <p:cNvSpPr/>
          <p:nvPr/>
        </p:nvSpPr>
        <p:spPr>
          <a:xfrm>
            <a:off x="5372100" y="4273550"/>
            <a:ext cx="2590800" cy="1066800"/>
          </a:xfrm>
          <a:prstGeom prst="cloudCallout">
            <a:avLst>
              <a:gd name="adj1" fmla="val -79963"/>
              <a:gd name="adj2" fmla="val -57440"/>
            </a:avLst>
          </a:prstGeom>
          <a:solidFill>
            <a:srgbClr val="FEE1FF"/>
          </a:solidFill>
          <a:ln w="9525" cap="flat" cmpd="sng">
            <a:solidFill>
              <a:srgbClr val="66FF66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r>
              <a:rPr lang="zh-CN" altLang="en-US" sz="3600" b="1">
                <a:latin typeface="Times New Roman" panose="02020603050405020304" pitchFamily="2" charset="0"/>
              </a:rPr>
              <a:t>源极</a:t>
            </a:r>
            <a:endParaRPr lang="zh-CN" altLang="en-US" sz="3600" b="1">
              <a:latin typeface="Times New Roman" panose="02020603050405020304" pitchFamily="2" charset="0"/>
            </a:endParaRPr>
          </a:p>
        </p:txBody>
      </p:sp>
      <p:sp>
        <p:nvSpPr>
          <p:cNvPr id="12306" name="云形标注 12305"/>
          <p:cNvSpPr/>
          <p:nvPr/>
        </p:nvSpPr>
        <p:spPr>
          <a:xfrm>
            <a:off x="342900" y="2444750"/>
            <a:ext cx="1752600" cy="1066800"/>
          </a:xfrm>
          <a:prstGeom prst="cloudCallout">
            <a:avLst>
              <a:gd name="adj1" fmla="val 104259"/>
              <a:gd name="adj2" fmla="val 28569"/>
            </a:avLst>
          </a:prstGeom>
          <a:solidFill>
            <a:srgbClr val="FF3399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r>
              <a:rPr lang="zh-CN" altLang="en-US" sz="3600" b="1">
                <a:latin typeface="Times New Roman" panose="02020603050405020304" pitchFamily="2" charset="0"/>
              </a:rPr>
              <a:t>栅极</a:t>
            </a:r>
            <a:endParaRPr lang="zh-CN" altLang="en-US" sz="3600" b="1">
              <a:latin typeface="Times New Roman" panose="02020603050405020304" pitchFamily="2" charset="0"/>
            </a:endParaRPr>
          </a:p>
        </p:txBody>
      </p:sp>
      <p:sp>
        <p:nvSpPr>
          <p:cNvPr id="12307" name="云形标注 12306"/>
          <p:cNvSpPr/>
          <p:nvPr/>
        </p:nvSpPr>
        <p:spPr>
          <a:xfrm>
            <a:off x="5219700" y="692150"/>
            <a:ext cx="2438400" cy="1295400"/>
          </a:xfrm>
          <a:prstGeom prst="cloudCallout">
            <a:avLst>
              <a:gd name="adj1" fmla="val -73111"/>
              <a:gd name="adj2" fmla="val 49019"/>
            </a:avLst>
          </a:prstGeom>
          <a:solidFill>
            <a:schemeClr val="accent1">
              <a:alpha val="50000"/>
            </a:schemeClr>
          </a:solidFill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r>
              <a:rPr lang="zh-CN" altLang="en-US" sz="3600" b="1">
                <a:latin typeface="Times New Roman" panose="02020603050405020304" pitchFamily="2" charset="0"/>
              </a:rPr>
              <a:t>漏极</a:t>
            </a:r>
            <a:endParaRPr lang="zh-CN" altLang="en-US" sz="3600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 animBg="1"/>
      <p:bldP spid="12306" grpId="0" animBg="1"/>
      <p:bldP spid="1230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矩形 13313"/>
          <p:cNvSpPr/>
          <p:nvPr/>
        </p:nvSpPr>
        <p:spPr>
          <a:xfrm>
            <a:off x="323850" y="333375"/>
            <a:ext cx="4564063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p>
            <a:pPr algn="l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  <a:latin typeface="Verdana" panose="020B0604030504040204" pitchFamily="2" charset="0"/>
              </a:rPr>
              <a:t>三</a:t>
            </a:r>
            <a:r>
              <a:rPr lang="zh-CN" altLang="en-US" b="1">
                <a:solidFill>
                  <a:srgbClr val="FF3300"/>
                </a:solidFill>
                <a:latin typeface="Verdana" panose="020B0604030504040204" pitchFamily="2" charset="0"/>
              </a:rPr>
              <a:t>、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MOS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管的基本开关电路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13315" name="文本框 13314"/>
          <p:cNvSpPr txBox="1"/>
          <p:nvPr/>
        </p:nvSpPr>
        <p:spPr>
          <a:xfrm>
            <a:off x="611188" y="5229225"/>
            <a:ext cx="7416800" cy="1042988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2" charset="0"/>
              </a:rPr>
              <a:t>        </a:t>
            </a:r>
            <a:r>
              <a:rPr lang="zh-CN" altLang="en-US" sz="2400" b="1">
                <a:latin typeface="Times New Roman" panose="02020603050405020304" pitchFamily="2" charset="0"/>
              </a:rPr>
              <a:t>当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I</a:t>
            </a:r>
            <a:r>
              <a:rPr lang="en-US" altLang="zh-CN" sz="2400" b="1">
                <a:latin typeface="Times New Roman" panose="02020603050405020304" pitchFamily="2" charset="0"/>
              </a:rPr>
              <a:t>=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GS</a:t>
            </a:r>
            <a:r>
              <a:rPr lang="en-US" altLang="zh-CN" sz="2400" b="1">
                <a:latin typeface="Times New Roman" panose="02020603050405020304" pitchFamily="2" charset="0"/>
              </a:rPr>
              <a:t>&lt;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GS(th)</a:t>
            </a:r>
            <a:r>
              <a:rPr lang="zh-CN" altLang="en-US" sz="2400" b="1">
                <a:latin typeface="Times New Roman" panose="02020603050405020304" pitchFamily="2" charset="0"/>
              </a:rPr>
              <a:t>时，</a:t>
            </a:r>
            <a:r>
              <a:rPr lang="en-US" altLang="zh-CN" sz="2400" b="1">
                <a:latin typeface="Times New Roman" panose="02020603050405020304" pitchFamily="2" charset="0"/>
              </a:rPr>
              <a:t>MOS</a:t>
            </a:r>
            <a:r>
              <a:rPr lang="zh-CN" altLang="en-US" sz="2400" b="1">
                <a:latin typeface="Times New Roman" panose="02020603050405020304" pitchFamily="2" charset="0"/>
              </a:rPr>
              <a:t>管工作在截止区。</a:t>
            </a:r>
            <a:r>
              <a:rPr lang="en-US" altLang="zh-CN" sz="2400" b="1">
                <a:latin typeface="Times New Roman" panose="02020603050405020304" pitchFamily="2" charset="0"/>
              </a:rPr>
              <a:t>D-S</a:t>
            </a:r>
            <a:r>
              <a:rPr lang="zh-CN" altLang="en-US" sz="2400" b="1">
                <a:latin typeface="Times New Roman" panose="02020603050405020304" pitchFamily="2" charset="0"/>
              </a:rPr>
              <a:t>间相当于断开的开关，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O</a:t>
            </a:r>
            <a:r>
              <a:rPr lang="en-US" altLang="zh-CN" b="1">
                <a:latin typeface="Times New Roman" panose="02020603050405020304" pitchFamily="2" charset="0"/>
              </a:rPr>
              <a:t>≈</a:t>
            </a:r>
            <a:r>
              <a:rPr lang="en-US" altLang="zh-CN" b="1" i="1">
                <a:latin typeface="Times New Roman" panose="02020603050405020304" pitchFamily="2" charset="0"/>
              </a:rPr>
              <a:t>v</a:t>
            </a:r>
            <a:r>
              <a:rPr lang="en-US" altLang="zh-CN" b="1" baseline="-25000">
                <a:latin typeface="Times New Roman" panose="02020603050405020304" pitchFamily="2" charset="0"/>
              </a:rPr>
              <a:t>DD</a:t>
            </a:r>
            <a:r>
              <a:rPr lang="en-US" altLang="zh-CN" b="1">
                <a:latin typeface="Times New Roman" panose="02020603050405020304" pitchFamily="2" charset="0"/>
              </a:rPr>
              <a:t>.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13316" name="右箭头 13315"/>
          <p:cNvSpPr/>
          <p:nvPr/>
        </p:nvSpPr>
        <p:spPr>
          <a:xfrm>
            <a:off x="3419475" y="2997200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hlink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3317" name="图片 13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341438"/>
            <a:ext cx="2571750" cy="3448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图片 133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63" y="1341438"/>
            <a:ext cx="2779712" cy="3543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文本框 14337"/>
          <p:cNvSpPr txBox="1"/>
          <p:nvPr/>
        </p:nvSpPr>
        <p:spPr>
          <a:xfrm>
            <a:off x="611188" y="4941888"/>
            <a:ext cx="7416800" cy="1481137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2" charset="0"/>
              </a:rPr>
              <a:t>        </a:t>
            </a:r>
            <a:r>
              <a:rPr lang="zh-CN" altLang="en-US" sz="2400" b="1">
                <a:latin typeface="Times New Roman" panose="02020603050405020304" pitchFamily="2" charset="0"/>
              </a:rPr>
              <a:t>当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I</a:t>
            </a:r>
            <a:r>
              <a:rPr lang="en-US" altLang="zh-CN" sz="2400" b="1">
                <a:latin typeface="Times New Roman" panose="02020603050405020304" pitchFamily="2" charset="0"/>
              </a:rPr>
              <a:t>&gt;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GS(th)</a:t>
            </a:r>
            <a:r>
              <a:rPr lang="zh-CN" altLang="en-US" sz="2400" b="1">
                <a:latin typeface="Times New Roman" panose="02020603050405020304" pitchFamily="2" charset="0"/>
              </a:rPr>
              <a:t>且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I</a:t>
            </a:r>
            <a:r>
              <a:rPr lang="zh-CN" altLang="en-US" sz="2400" b="1">
                <a:latin typeface="Times New Roman" panose="02020603050405020304" pitchFamily="2" charset="0"/>
              </a:rPr>
              <a:t>继续升高时，</a:t>
            </a:r>
            <a:r>
              <a:rPr lang="en-US" altLang="zh-CN" sz="2400" b="1">
                <a:latin typeface="Times New Roman" panose="02020603050405020304" pitchFamily="2" charset="0"/>
              </a:rPr>
              <a:t>MOS</a:t>
            </a:r>
            <a:r>
              <a:rPr lang="zh-CN" altLang="en-US" sz="2400" b="1">
                <a:latin typeface="Times New Roman" panose="02020603050405020304" pitchFamily="2" charset="0"/>
              </a:rPr>
              <a:t>管工作在可变电阻区。</a:t>
            </a:r>
            <a:r>
              <a:rPr lang="en-US" altLang="zh-CN" sz="2400" b="1">
                <a:latin typeface="Times New Roman" panose="02020603050405020304" pitchFamily="2" charset="0"/>
              </a:rPr>
              <a:t>MOS</a:t>
            </a:r>
            <a:r>
              <a:rPr lang="zh-CN" altLang="en-US" sz="2400" b="1">
                <a:latin typeface="Times New Roman" panose="02020603050405020304" pitchFamily="2" charset="0"/>
              </a:rPr>
              <a:t>管导通内阻</a:t>
            </a:r>
            <a:r>
              <a:rPr lang="en-US" altLang="zh-CN" sz="2400" b="1" i="1">
                <a:latin typeface="Times New Roman" panose="02020603050405020304" pitchFamily="2" charset="0"/>
              </a:rPr>
              <a:t>R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ON</a:t>
            </a:r>
            <a:r>
              <a:rPr lang="zh-CN" altLang="en-US" sz="2400" b="1">
                <a:latin typeface="Times New Roman" panose="02020603050405020304" pitchFamily="2" charset="0"/>
              </a:rPr>
              <a:t>很小，</a:t>
            </a:r>
            <a:r>
              <a:rPr lang="en-US" altLang="zh-CN" sz="2400" b="1">
                <a:latin typeface="Times New Roman" panose="02020603050405020304" pitchFamily="2" charset="0"/>
              </a:rPr>
              <a:t>D-S</a:t>
            </a:r>
            <a:r>
              <a:rPr lang="zh-CN" altLang="en-US" sz="2400" b="1">
                <a:latin typeface="Times New Roman" panose="02020603050405020304" pitchFamily="2" charset="0"/>
              </a:rPr>
              <a:t>间相当于闭合的开关</a:t>
            </a:r>
            <a:r>
              <a:rPr lang="en-US" altLang="zh-CN" sz="2400" b="1">
                <a:latin typeface="Times New Roman" panose="02020603050405020304" pitchFamily="2" charset="0"/>
              </a:rPr>
              <a:t>,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O</a:t>
            </a:r>
            <a:r>
              <a:rPr lang="en-US" altLang="zh-CN" b="1">
                <a:latin typeface="Times New Roman" panose="02020603050405020304" pitchFamily="2" charset="0"/>
              </a:rPr>
              <a:t>≈0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pic>
        <p:nvPicPr>
          <p:cNvPr id="14339" name="图片 143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908050"/>
            <a:ext cx="2679700" cy="3592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右箭头 14339"/>
          <p:cNvSpPr/>
          <p:nvPr/>
        </p:nvSpPr>
        <p:spPr>
          <a:xfrm>
            <a:off x="3635375" y="2636838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hlink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4341" name="图片 14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263" y="692150"/>
            <a:ext cx="2278062" cy="3957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文本框 15361"/>
          <p:cNvSpPr txBox="1"/>
          <p:nvPr/>
        </p:nvSpPr>
        <p:spPr>
          <a:xfrm>
            <a:off x="250825" y="260350"/>
            <a:ext cx="69135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3.3.2  CMOS</a:t>
            </a:r>
            <a:r>
              <a:rPr lang="zh-CN" altLang="en-US" sz="3600">
                <a:latin typeface="Verdana" panose="020B0604030504040204" pitchFamily="2" charset="0"/>
              </a:rPr>
              <a:t>反相器工作原理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15363" name="椭圆 15362"/>
          <p:cNvSpPr/>
          <p:nvPr/>
        </p:nvSpPr>
        <p:spPr>
          <a:xfrm>
            <a:off x="2268538" y="2997200"/>
            <a:ext cx="1333500" cy="133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5364" name="组合 15363"/>
          <p:cNvGrpSpPr/>
          <p:nvPr/>
        </p:nvGrpSpPr>
        <p:grpSpPr>
          <a:xfrm>
            <a:off x="3492500" y="2924175"/>
            <a:ext cx="3162300" cy="617538"/>
            <a:chOff x="0" y="0"/>
            <a:chExt cx="1992" cy="389"/>
          </a:xfrm>
        </p:grpSpPr>
        <p:sp>
          <p:nvSpPr>
            <p:cNvPr id="15365" name="文本框 15364"/>
            <p:cNvSpPr txBox="1"/>
            <p:nvPr/>
          </p:nvSpPr>
          <p:spPr>
            <a:xfrm>
              <a:off x="780" y="0"/>
              <a:ext cx="1212" cy="38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PMOS</a:t>
              </a:r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管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5366" name="直接连接符 15365"/>
            <p:cNvSpPr/>
            <p:nvPr/>
          </p:nvSpPr>
          <p:spPr>
            <a:xfrm>
              <a:off x="0" y="228"/>
              <a:ext cx="78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15367" name="椭圆 15366"/>
          <p:cNvSpPr/>
          <p:nvPr/>
        </p:nvSpPr>
        <p:spPr>
          <a:xfrm>
            <a:off x="2411413" y="4652963"/>
            <a:ext cx="1333500" cy="133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5368" name="组合 15367"/>
          <p:cNvGrpSpPr/>
          <p:nvPr/>
        </p:nvGrpSpPr>
        <p:grpSpPr>
          <a:xfrm>
            <a:off x="3635375" y="5373688"/>
            <a:ext cx="3124200" cy="617537"/>
            <a:chOff x="0" y="0"/>
            <a:chExt cx="1968" cy="389"/>
          </a:xfrm>
        </p:grpSpPr>
        <p:sp>
          <p:nvSpPr>
            <p:cNvPr id="15369" name="直接连接符 15368"/>
            <p:cNvSpPr/>
            <p:nvPr/>
          </p:nvSpPr>
          <p:spPr>
            <a:xfrm>
              <a:off x="0" y="192"/>
              <a:ext cx="78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5370" name="文本框 15369"/>
            <p:cNvSpPr txBox="1"/>
            <p:nvPr/>
          </p:nvSpPr>
          <p:spPr>
            <a:xfrm>
              <a:off x="756" y="0"/>
              <a:ext cx="1212" cy="38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NMOS</a:t>
              </a:r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管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15371" name="组合 15370"/>
          <p:cNvGrpSpPr/>
          <p:nvPr/>
        </p:nvGrpSpPr>
        <p:grpSpPr>
          <a:xfrm>
            <a:off x="5003800" y="3573463"/>
            <a:ext cx="3590925" cy="1771650"/>
            <a:chOff x="0" y="0"/>
            <a:chExt cx="2262" cy="1116"/>
          </a:xfrm>
        </p:grpSpPr>
        <p:sp>
          <p:nvSpPr>
            <p:cNvPr id="15372" name="文本框 15371"/>
            <p:cNvSpPr txBox="1"/>
            <p:nvPr/>
          </p:nvSpPr>
          <p:spPr>
            <a:xfrm>
              <a:off x="834" y="318"/>
              <a:ext cx="1428" cy="38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CMOS</a:t>
              </a:r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电路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5373" name="任意多边形 15372" descr="纸袋"/>
            <p:cNvSpPr/>
            <p:nvPr/>
          </p:nvSpPr>
          <p:spPr>
            <a:xfrm rot="5400000">
              <a:off x="-144" y="144"/>
              <a:ext cx="1116" cy="828"/>
            </a:xfrm>
            <a:custGeom>
              <a:avLst/>
              <a:gdLst>
                <a:gd name="txL" fmla="*/ 2159 w 21600"/>
                <a:gd name="txT" fmla="*/ 12342 h 21600"/>
                <a:gd name="txR" fmla="*/ 19440 w 21600"/>
                <a:gd name="txB" fmla="*/ 18514 h 21600"/>
              </a:gdLst>
              <a:ahLst/>
              <a:cxnLst>
                <a:cxn ang="270">
                  <a:pos x="10800" y="0"/>
                </a:cxn>
                <a:cxn ang="180">
                  <a:pos x="0" y="15428"/>
                </a:cxn>
                <a:cxn ang="90">
                  <a:pos x="10800" y="18514"/>
                </a:cxn>
                <a:cxn ang="0">
                  <a:pos x="21600" y="15428"/>
                </a:cxn>
              </a:cxnLst>
              <a:rect l="txL" t="txT" r="txR" b="txB"/>
              <a:pathLst>
                <a:path w="21600" h="21600">
                  <a:moveTo>
                    <a:pt x="10800" y="0"/>
                  </a:moveTo>
                  <a:lnTo>
                    <a:pt x="6480" y="6171"/>
                  </a:lnTo>
                  <a:lnTo>
                    <a:pt x="8640" y="6171"/>
                  </a:lnTo>
                  <a:lnTo>
                    <a:pt x="8640" y="12342"/>
                  </a:lnTo>
                  <a:lnTo>
                    <a:pt x="4319" y="12342"/>
                  </a:lnTo>
                  <a:lnTo>
                    <a:pt x="4319" y="9257"/>
                  </a:lnTo>
                  <a:lnTo>
                    <a:pt x="0" y="15428"/>
                  </a:lnTo>
                  <a:lnTo>
                    <a:pt x="4319" y="21600"/>
                  </a:lnTo>
                  <a:lnTo>
                    <a:pt x="4319" y="18514"/>
                  </a:lnTo>
                  <a:lnTo>
                    <a:pt x="17280" y="18514"/>
                  </a:lnTo>
                  <a:lnTo>
                    <a:pt x="17280" y="21600"/>
                  </a:lnTo>
                  <a:lnTo>
                    <a:pt x="21600" y="15428"/>
                  </a:lnTo>
                  <a:lnTo>
                    <a:pt x="17280" y="9257"/>
                  </a:lnTo>
                  <a:lnTo>
                    <a:pt x="17280" y="12342"/>
                  </a:lnTo>
                  <a:lnTo>
                    <a:pt x="12960" y="12342"/>
                  </a:lnTo>
                  <a:lnTo>
                    <a:pt x="12960" y="6171"/>
                  </a:lnTo>
                  <a:lnTo>
                    <a:pt x="15120" y="6171"/>
                  </a:lnTo>
                  <a:close/>
                </a:path>
              </a:pathLst>
            </a:custGeom>
            <a:blipFill rotWithShape="0">
              <a:blip r:embed="rId1"/>
            </a:blip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5374" name="组合 15373"/>
          <p:cNvGrpSpPr/>
          <p:nvPr/>
        </p:nvGrpSpPr>
        <p:grpSpPr>
          <a:xfrm>
            <a:off x="1042988" y="2349500"/>
            <a:ext cx="3905250" cy="4248150"/>
            <a:chOff x="0" y="0"/>
            <a:chExt cx="2460" cy="2676"/>
          </a:xfrm>
        </p:grpSpPr>
        <p:grpSp>
          <p:nvGrpSpPr>
            <p:cNvPr id="15375" name="组合 15374"/>
            <p:cNvGrpSpPr/>
            <p:nvPr/>
          </p:nvGrpSpPr>
          <p:grpSpPr>
            <a:xfrm>
              <a:off x="0" y="0"/>
              <a:ext cx="2460" cy="2676"/>
              <a:chOff x="0" y="0"/>
              <a:chExt cx="2460" cy="2676"/>
            </a:xfrm>
          </p:grpSpPr>
          <p:sp>
            <p:nvSpPr>
              <p:cNvPr id="15376" name="直接连接符 15375"/>
              <p:cNvSpPr/>
              <p:nvPr/>
            </p:nvSpPr>
            <p:spPr>
              <a:xfrm>
                <a:off x="741" y="2016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7" name="椭圆 15376"/>
              <p:cNvSpPr/>
              <p:nvPr/>
            </p:nvSpPr>
            <p:spPr>
              <a:xfrm>
                <a:off x="292" y="1368"/>
                <a:ext cx="84" cy="72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8" name="直接连接符 15377"/>
              <p:cNvSpPr/>
              <p:nvPr/>
            </p:nvSpPr>
            <p:spPr>
              <a:xfrm>
                <a:off x="1101" y="18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9" name="直接连接符 15378"/>
              <p:cNvSpPr/>
              <p:nvPr/>
            </p:nvSpPr>
            <p:spPr>
              <a:xfrm>
                <a:off x="1099" y="16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0" name="直接连接符 15379"/>
              <p:cNvSpPr/>
              <p:nvPr/>
            </p:nvSpPr>
            <p:spPr>
              <a:xfrm>
                <a:off x="1101" y="19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1" name="直接连接符 15380"/>
              <p:cNvSpPr/>
              <p:nvPr/>
            </p:nvSpPr>
            <p:spPr>
              <a:xfrm>
                <a:off x="1105" y="16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2" name="直接连接符 15381"/>
              <p:cNvSpPr/>
              <p:nvPr/>
            </p:nvSpPr>
            <p:spPr>
              <a:xfrm flipV="1">
                <a:off x="1105" y="20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3" name="直接连接符 15382"/>
              <p:cNvSpPr/>
              <p:nvPr/>
            </p:nvSpPr>
            <p:spPr>
              <a:xfrm>
                <a:off x="1105" y="18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5384" name="直接连接符 15383"/>
              <p:cNvSpPr/>
              <p:nvPr/>
            </p:nvSpPr>
            <p:spPr>
              <a:xfrm flipV="1">
                <a:off x="1372" y="12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5" name="直接连接符 15384"/>
              <p:cNvSpPr/>
              <p:nvPr/>
            </p:nvSpPr>
            <p:spPr>
              <a:xfrm flipV="1">
                <a:off x="1369" y="20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6" name="直接连接符 15385"/>
              <p:cNvSpPr/>
              <p:nvPr/>
            </p:nvSpPr>
            <p:spPr>
              <a:xfrm flipV="1">
                <a:off x="1216" y="2664"/>
                <a:ext cx="312" cy="1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7" name="直接连接符 15386"/>
              <p:cNvSpPr/>
              <p:nvPr/>
            </p:nvSpPr>
            <p:spPr>
              <a:xfrm>
                <a:off x="1368" y="2400"/>
                <a:ext cx="0" cy="26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8" name="椭圆 15387"/>
              <p:cNvSpPr/>
              <p:nvPr/>
            </p:nvSpPr>
            <p:spPr>
              <a:xfrm>
                <a:off x="1324" y="240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9" name="直接连接符 15388"/>
              <p:cNvSpPr/>
              <p:nvPr/>
            </p:nvSpPr>
            <p:spPr>
              <a:xfrm>
                <a:off x="1356" y="1404"/>
                <a:ext cx="588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0" name="椭圆 15389"/>
              <p:cNvSpPr/>
              <p:nvPr/>
            </p:nvSpPr>
            <p:spPr>
              <a:xfrm>
                <a:off x="1932" y="1344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1" name="文本框 15390"/>
              <p:cNvSpPr txBox="1"/>
              <p:nvPr/>
            </p:nvSpPr>
            <p:spPr>
              <a:xfrm>
                <a:off x="1452" y="0"/>
                <a:ext cx="6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DD</a:t>
                </a:r>
                <a:endParaRPr lang="en-US" altLang="zh-CN" sz="3200" b="1" i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392" name="直接连接符 15391"/>
              <p:cNvSpPr/>
              <p:nvPr/>
            </p:nvSpPr>
            <p:spPr>
              <a:xfrm flipH="1">
                <a:off x="1014" y="760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3" name="直接连接符 15392"/>
              <p:cNvSpPr/>
              <p:nvPr/>
            </p:nvSpPr>
            <p:spPr>
              <a:xfrm>
                <a:off x="741" y="768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4" name="直接连接符 15393"/>
              <p:cNvSpPr/>
              <p:nvPr/>
            </p:nvSpPr>
            <p:spPr>
              <a:xfrm>
                <a:off x="1101" y="9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5" name="直接连接符 15394"/>
              <p:cNvSpPr/>
              <p:nvPr/>
            </p:nvSpPr>
            <p:spPr>
              <a:xfrm>
                <a:off x="1099" y="7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6" name="直接连接符 15395"/>
              <p:cNvSpPr/>
              <p:nvPr/>
            </p:nvSpPr>
            <p:spPr>
              <a:xfrm>
                <a:off x="1101" y="10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7" name="直接连接符 15396"/>
              <p:cNvSpPr/>
              <p:nvPr/>
            </p:nvSpPr>
            <p:spPr>
              <a:xfrm>
                <a:off x="1105" y="7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8" name="直接连接符 15397"/>
              <p:cNvSpPr/>
              <p:nvPr/>
            </p:nvSpPr>
            <p:spPr>
              <a:xfrm flipV="1">
                <a:off x="1105" y="11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9" name="直接连接符 15398"/>
              <p:cNvSpPr/>
              <p:nvPr/>
            </p:nvSpPr>
            <p:spPr>
              <a:xfrm>
                <a:off x="1105" y="9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00" name="直接连接符 15399"/>
              <p:cNvSpPr/>
              <p:nvPr/>
            </p:nvSpPr>
            <p:spPr>
              <a:xfrm flipV="1">
                <a:off x="1372" y="3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1" name="直接连接符 15400"/>
              <p:cNvSpPr/>
              <p:nvPr/>
            </p:nvSpPr>
            <p:spPr>
              <a:xfrm flipV="1">
                <a:off x="1369" y="11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2" name="直接连接符 15401"/>
              <p:cNvSpPr/>
              <p:nvPr/>
            </p:nvSpPr>
            <p:spPr>
              <a:xfrm flipH="1">
                <a:off x="1024" y="1663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3" name="直接连接符 15402"/>
              <p:cNvSpPr/>
              <p:nvPr/>
            </p:nvSpPr>
            <p:spPr>
              <a:xfrm>
                <a:off x="744" y="768"/>
                <a:ext cx="0" cy="124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4" name="直接连接符 15403"/>
              <p:cNvSpPr/>
              <p:nvPr/>
            </p:nvSpPr>
            <p:spPr>
              <a:xfrm>
                <a:off x="360" y="140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5" name="文本框 15404"/>
              <p:cNvSpPr txBox="1"/>
              <p:nvPr/>
            </p:nvSpPr>
            <p:spPr>
              <a:xfrm>
                <a:off x="1428" y="456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406" name="文本框 15405"/>
              <p:cNvSpPr txBox="1"/>
              <p:nvPr/>
            </p:nvSpPr>
            <p:spPr>
              <a:xfrm>
                <a:off x="1704" y="7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1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407" name="文本框 15406"/>
              <p:cNvSpPr txBox="1"/>
              <p:nvPr/>
            </p:nvSpPr>
            <p:spPr>
              <a:xfrm>
                <a:off x="1416" y="1039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408" name="文本框 15407"/>
              <p:cNvSpPr txBox="1"/>
              <p:nvPr/>
            </p:nvSpPr>
            <p:spPr>
              <a:xfrm>
                <a:off x="1728" y="16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2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409" name="文本框 15408"/>
              <p:cNvSpPr txBox="1"/>
              <p:nvPr/>
            </p:nvSpPr>
            <p:spPr>
              <a:xfrm>
                <a:off x="0" y="1032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I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5410" name="文本框 15409"/>
              <p:cNvSpPr txBox="1"/>
              <p:nvPr/>
            </p:nvSpPr>
            <p:spPr>
              <a:xfrm>
                <a:off x="2088" y="1039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O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sp>
          <p:nvSpPr>
            <p:cNvPr id="15411" name="直接连接符 15410"/>
            <p:cNvSpPr/>
            <p:nvPr/>
          </p:nvSpPr>
          <p:spPr>
            <a:xfrm flipV="1">
              <a:off x="1361" y="725"/>
              <a:ext cx="0" cy="227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2" name="直接连接符 15411"/>
            <p:cNvSpPr/>
            <p:nvPr/>
          </p:nvSpPr>
          <p:spPr>
            <a:xfrm flipV="1">
              <a:off x="1361" y="1859"/>
              <a:ext cx="0" cy="182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413" name="圆角矩形 15412"/>
          <p:cNvSpPr/>
          <p:nvPr/>
        </p:nvSpPr>
        <p:spPr>
          <a:xfrm>
            <a:off x="179388" y="2349500"/>
            <a:ext cx="2879725" cy="576263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2" charset="0"/>
              </a:rPr>
              <a:t>一、电路结构 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sp>
        <p:nvSpPr>
          <p:cNvPr id="15414" name="矩形 15413"/>
          <p:cNvSpPr/>
          <p:nvPr/>
        </p:nvSpPr>
        <p:spPr>
          <a:xfrm>
            <a:off x="323850" y="1125538"/>
            <a:ext cx="7993063" cy="11176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当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NMOS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管和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PMOS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管成对出现在电路中，且二者在工作中互补，称为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管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(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意为互补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)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。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5413" grpId="0" animBg="1"/>
      <p:bldP spid="154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6" name="图片 163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2838" y="1844675"/>
            <a:ext cx="2854325" cy="50133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6387" name="组合 16386"/>
          <p:cNvGrpSpPr/>
          <p:nvPr/>
        </p:nvGrpSpPr>
        <p:grpSpPr>
          <a:xfrm>
            <a:off x="254000" y="1370013"/>
            <a:ext cx="3905250" cy="4248150"/>
            <a:chOff x="0" y="0"/>
            <a:chExt cx="2460" cy="2676"/>
          </a:xfrm>
        </p:grpSpPr>
        <p:grpSp>
          <p:nvGrpSpPr>
            <p:cNvPr id="16388" name="组合 16387"/>
            <p:cNvGrpSpPr/>
            <p:nvPr/>
          </p:nvGrpSpPr>
          <p:grpSpPr>
            <a:xfrm>
              <a:off x="0" y="0"/>
              <a:ext cx="2460" cy="2676"/>
              <a:chOff x="0" y="0"/>
              <a:chExt cx="2460" cy="2676"/>
            </a:xfrm>
          </p:grpSpPr>
          <p:sp>
            <p:nvSpPr>
              <p:cNvPr id="16389" name="直接连接符 16388"/>
              <p:cNvSpPr/>
              <p:nvPr/>
            </p:nvSpPr>
            <p:spPr>
              <a:xfrm>
                <a:off x="741" y="2016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0" name="椭圆 16389"/>
              <p:cNvSpPr/>
              <p:nvPr/>
            </p:nvSpPr>
            <p:spPr>
              <a:xfrm>
                <a:off x="292" y="1368"/>
                <a:ext cx="84" cy="72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391" name="直接连接符 16390"/>
              <p:cNvSpPr/>
              <p:nvPr/>
            </p:nvSpPr>
            <p:spPr>
              <a:xfrm>
                <a:off x="1101" y="18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2" name="直接连接符 16391"/>
              <p:cNvSpPr/>
              <p:nvPr/>
            </p:nvSpPr>
            <p:spPr>
              <a:xfrm>
                <a:off x="1099" y="16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3" name="直接连接符 16392"/>
              <p:cNvSpPr/>
              <p:nvPr/>
            </p:nvSpPr>
            <p:spPr>
              <a:xfrm>
                <a:off x="1101" y="19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4" name="直接连接符 16393"/>
              <p:cNvSpPr/>
              <p:nvPr/>
            </p:nvSpPr>
            <p:spPr>
              <a:xfrm>
                <a:off x="1105" y="16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5" name="直接连接符 16394"/>
              <p:cNvSpPr/>
              <p:nvPr/>
            </p:nvSpPr>
            <p:spPr>
              <a:xfrm flipV="1">
                <a:off x="1105" y="20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6" name="直接连接符 16395"/>
              <p:cNvSpPr/>
              <p:nvPr/>
            </p:nvSpPr>
            <p:spPr>
              <a:xfrm>
                <a:off x="1105" y="18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6397" name="直接连接符 16396"/>
              <p:cNvSpPr/>
              <p:nvPr/>
            </p:nvSpPr>
            <p:spPr>
              <a:xfrm flipV="1">
                <a:off x="1372" y="12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8" name="直接连接符 16397"/>
              <p:cNvSpPr/>
              <p:nvPr/>
            </p:nvSpPr>
            <p:spPr>
              <a:xfrm flipV="1">
                <a:off x="1369" y="20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9" name="直接连接符 16398"/>
              <p:cNvSpPr/>
              <p:nvPr/>
            </p:nvSpPr>
            <p:spPr>
              <a:xfrm flipV="1">
                <a:off x="1216" y="2664"/>
                <a:ext cx="312" cy="1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0" name="直接连接符 16399"/>
              <p:cNvSpPr/>
              <p:nvPr/>
            </p:nvSpPr>
            <p:spPr>
              <a:xfrm>
                <a:off x="1368" y="2400"/>
                <a:ext cx="0" cy="26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1" name="椭圆 16400"/>
              <p:cNvSpPr/>
              <p:nvPr/>
            </p:nvSpPr>
            <p:spPr>
              <a:xfrm>
                <a:off x="1324" y="240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02" name="直接连接符 16401"/>
              <p:cNvSpPr/>
              <p:nvPr/>
            </p:nvSpPr>
            <p:spPr>
              <a:xfrm>
                <a:off x="1356" y="1404"/>
                <a:ext cx="588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3" name="椭圆 16402"/>
              <p:cNvSpPr/>
              <p:nvPr/>
            </p:nvSpPr>
            <p:spPr>
              <a:xfrm>
                <a:off x="1932" y="1344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04" name="文本框 16403"/>
              <p:cNvSpPr txBox="1"/>
              <p:nvPr/>
            </p:nvSpPr>
            <p:spPr>
              <a:xfrm>
                <a:off x="1452" y="0"/>
                <a:ext cx="6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DD</a:t>
                </a:r>
                <a:endParaRPr lang="en-US" altLang="zh-CN" sz="3200" b="1" i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05" name="直接连接符 16404"/>
              <p:cNvSpPr/>
              <p:nvPr/>
            </p:nvSpPr>
            <p:spPr>
              <a:xfrm flipH="1">
                <a:off x="1014" y="760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6" name="直接连接符 16405"/>
              <p:cNvSpPr/>
              <p:nvPr/>
            </p:nvSpPr>
            <p:spPr>
              <a:xfrm>
                <a:off x="741" y="768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7" name="直接连接符 16406"/>
              <p:cNvSpPr/>
              <p:nvPr/>
            </p:nvSpPr>
            <p:spPr>
              <a:xfrm>
                <a:off x="1101" y="9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8" name="直接连接符 16407"/>
              <p:cNvSpPr/>
              <p:nvPr/>
            </p:nvSpPr>
            <p:spPr>
              <a:xfrm>
                <a:off x="1099" y="7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9" name="直接连接符 16408"/>
              <p:cNvSpPr/>
              <p:nvPr/>
            </p:nvSpPr>
            <p:spPr>
              <a:xfrm>
                <a:off x="1101" y="10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0" name="直接连接符 16409"/>
              <p:cNvSpPr/>
              <p:nvPr/>
            </p:nvSpPr>
            <p:spPr>
              <a:xfrm>
                <a:off x="1105" y="7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1" name="直接连接符 16410"/>
              <p:cNvSpPr/>
              <p:nvPr/>
            </p:nvSpPr>
            <p:spPr>
              <a:xfrm flipV="1">
                <a:off x="1105" y="11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2" name="直接连接符 16411"/>
              <p:cNvSpPr/>
              <p:nvPr/>
            </p:nvSpPr>
            <p:spPr>
              <a:xfrm>
                <a:off x="1105" y="9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13" name="直接连接符 16412"/>
              <p:cNvSpPr/>
              <p:nvPr/>
            </p:nvSpPr>
            <p:spPr>
              <a:xfrm flipV="1">
                <a:off x="1372" y="3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4" name="直接连接符 16413"/>
              <p:cNvSpPr/>
              <p:nvPr/>
            </p:nvSpPr>
            <p:spPr>
              <a:xfrm flipV="1">
                <a:off x="1369" y="11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5" name="直接连接符 16414"/>
              <p:cNvSpPr/>
              <p:nvPr/>
            </p:nvSpPr>
            <p:spPr>
              <a:xfrm flipH="1">
                <a:off x="1024" y="1663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6" name="直接连接符 16415"/>
              <p:cNvSpPr/>
              <p:nvPr/>
            </p:nvSpPr>
            <p:spPr>
              <a:xfrm>
                <a:off x="744" y="768"/>
                <a:ext cx="0" cy="124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7" name="直接连接符 16416"/>
              <p:cNvSpPr/>
              <p:nvPr/>
            </p:nvSpPr>
            <p:spPr>
              <a:xfrm>
                <a:off x="360" y="140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8" name="文本框 16417"/>
              <p:cNvSpPr txBox="1"/>
              <p:nvPr/>
            </p:nvSpPr>
            <p:spPr>
              <a:xfrm>
                <a:off x="1428" y="456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19" name="文本框 16418"/>
              <p:cNvSpPr txBox="1"/>
              <p:nvPr/>
            </p:nvSpPr>
            <p:spPr>
              <a:xfrm>
                <a:off x="1704" y="7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P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20" name="文本框 16419"/>
              <p:cNvSpPr txBox="1"/>
              <p:nvPr/>
            </p:nvSpPr>
            <p:spPr>
              <a:xfrm>
                <a:off x="1416" y="1039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21" name="文本框 16420"/>
              <p:cNvSpPr txBox="1"/>
              <p:nvPr/>
            </p:nvSpPr>
            <p:spPr>
              <a:xfrm>
                <a:off x="1728" y="16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N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22" name="文本框 16421"/>
              <p:cNvSpPr txBox="1"/>
              <p:nvPr/>
            </p:nvSpPr>
            <p:spPr>
              <a:xfrm>
                <a:off x="0" y="1032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I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6423" name="文本框 16422"/>
              <p:cNvSpPr txBox="1"/>
              <p:nvPr/>
            </p:nvSpPr>
            <p:spPr>
              <a:xfrm>
                <a:off x="2088" y="1039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O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sp>
          <p:nvSpPr>
            <p:cNvPr id="16424" name="直接连接符 16423"/>
            <p:cNvSpPr/>
            <p:nvPr/>
          </p:nvSpPr>
          <p:spPr>
            <a:xfrm flipV="1">
              <a:off x="1361" y="725"/>
              <a:ext cx="0" cy="227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5" name="直接连接符 16424"/>
            <p:cNvSpPr/>
            <p:nvPr/>
          </p:nvSpPr>
          <p:spPr>
            <a:xfrm flipV="1">
              <a:off x="1361" y="1859"/>
              <a:ext cx="0" cy="182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426" name="横卷形 16425"/>
          <p:cNvSpPr/>
          <p:nvPr/>
        </p:nvSpPr>
        <p:spPr>
          <a:xfrm>
            <a:off x="755650" y="333375"/>
            <a:ext cx="2087563" cy="1008063"/>
          </a:xfrm>
          <a:prstGeom prst="horizontalScroll">
            <a:avLst>
              <a:gd name="adj" fmla="val 12500"/>
            </a:avLst>
          </a:prstGeom>
          <a:solidFill>
            <a:schemeClr val="hlink"/>
          </a:solidFill>
          <a:ln w="9525" cap="flat" cmpd="sng">
            <a:solidFill>
              <a:srgbClr val="FF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2" charset="0"/>
              </a:rPr>
              <a:t>v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2" charset="0"/>
              </a:rPr>
              <a:t>=0</a:t>
            </a:r>
            <a:endParaRPr lang="en-US" altLang="zh-CN" sz="3200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6427" name="组合 16426"/>
          <p:cNvGrpSpPr/>
          <p:nvPr/>
        </p:nvGrpSpPr>
        <p:grpSpPr>
          <a:xfrm>
            <a:off x="1657350" y="3824288"/>
            <a:ext cx="4076700" cy="1733550"/>
            <a:chOff x="0" y="0"/>
            <a:chExt cx="2568" cy="1092"/>
          </a:xfrm>
        </p:grpSpPr>
        <p:sp>
          <p:nvSpPr>
            <p:cNvPr id="16428" name="椭圆 16427"/>
            <p:cNvSpPr/>
            <p:nvPr/>
          </p:nvSpPr>
          <p:spPr>
            <a:xfrm>
              <a:off x="0" y="0"/>
              <a:ext cx="672" cy="67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29" name="直接连接符 16428"/>
            <p:cNvSpPr/>
            <p:nvPr/>
          </p:nvSpPr>
          <p:spPr>
            <a:xfrm>
              <a:off x="648" y="468"/>
              <a:ext cx="600" cy="30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6430" name="椭圆 16429"/>
            <p:cNvSpPr/>
            <p:nvPr/>
          </p:nvSpPr>
          <p:spPr>
            <a:xfrm>
              <a:off x="1236" y="480"/>
              <a:ext cx="1332" cy="61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截止 </a:t>
              </a:r>
              <a:endParaRPr lang="zh-CN" altLang="en-US" sz="3200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16431" name="文本框 16430"/>
          <p:cNvSpPr txBox="1"/>
          <p:nvPr/>
        </p:nvSpPr>
        <p:spPr>
          <a:xfrm>
            <a:off x="4067175" y="3644900"/>
            <a:ext cx="1924050" cy="617538"/>
          </a:xfrm>
          <a:prstGeom prst="rect">
            <a:avLst/>
          </a:prstGeom>
          <a:solidFill>
            <a:srgbClr val="FFCC66"/>
          </a:solidFill>
          <a:ln w="38100" cap="flat" cmpd="sng">
            <a:solidFill>
              <a:srgbClr val="FFCC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i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=“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１”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16432" name="组合 16431"/>
          <p:cNvGrpSpPr/>
          <p:nvPr/>
        </p:nvGrpSpPr>
        <p:grpSpPr>
          <a:xfrm>
            <a:off x="1619250" y="1557338"/>
            <a:ext cx="4914900" cy="1943100"/>
            <a:chOff x="0" y="0"/>
            <a:chExt cx="3096" cy="1224"/>
          </a:xfrm>
        </p:grpSpPr>
        <p:sp>
          <p:nvSpPr>
            <p:cNvPr id="16433" name="椭圆 16432"/>
            <p:cNvSpPr/>
            <p:nvPr/>
          </p:nvSpPr>
          <p:spPr>
            <a:xfrm>
              <a:off x="0" y="504"/>
              <a:ext cx="720" cy="720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6434" name="组合 16433"/>
            <p:cNvGrpSpPr/>
            <p:nvPr/>
          </p:nvGrpSpPr>
          <p:grpSpPr>
            <a:xfrm>
              <a:off x="708" y="0"/>
              <a:ext cx="2388" cy="780"/>
              <a:chOff x="0" y="0"/>
              <a:chExt cx="2388" cy="780"/>
            </a:xfrm>
          </p:grpSpPr>
          <p:sp>
            <p:nvSpPr>
              <p:cNvPr id="16435" name="直接连接符 16434"/>
              <p:cNvSpPr/>
              <p:nvPr/>
            </p:nvSpPr>
            <p:spPr>
              <a:xfrm flipV="1">
                <a:off x="0" y="144"/>
                <a:ext cx="1008" cy="63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6436" name="椭圆 16435"/>
              <p:cNvSpPr/>
              <p:nvPr/>
            </p:nvSpPr>
            <p:spPr>
              <a:xfrm>
                <a:off x="984" y="0"/>
                <a:ext cx="1404" cy="384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zh-CN" altLang="en-US" sz="3200" b="1">
                    <a:solidFill>
                      <a:srgbClr val="0000FF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导 通</a:t>
                </a:r>
                <a:endParaRPr lang="zh-CN" altLang="en-US" sz="3200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图片 174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0" y="0"/>
            <a:ext cx="2870200" cy="522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横卷形 17410"/>
          <p:cNvSpPr/>
          <p:nvPr/>
        </p:nvSpPr>
        <p:spPr>
          <a:xfrm>
            <a:off x="755650" y="333375"/>
            <a:ext cx="2087563" cy="1008063"/>
          </a:xfrm>
          <a:prstGeom prst="horizontalScroll">
            <a:avLst>
              <a:gd name="adj" fmla="val 12500"/>
            </a:avLst>
          </a:prstGeom>
          <a:solidFill>
            <a:schemeClr val="hlink"/>
          </a:solidFill>
          <a:ln w="9525" cap="flat" cmpd="sng">
            <a:solidFill>
              <a:srgbClr val="FF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2" charset="0"/>
              </a:rPr>
              <a:t>v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2" charset="0"/>
              </a:rPr>
              <a:t>=1</a:t>
            </a:r>
            <a:endParaRPr lang="en-US" altLang="zh-CN" sz="3200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7412" name="组合 17411"/>
          <p:cNvGrpSpPr/>
          <p:nvPr/>
        </p:nvGrpSpPr>
        <p:grpSpPr>
          <a:xfrm>
            <a:off x="0" y="1225550"/>
            <a:ext cx="3905250" cy="4248150"/>
            <a:chOff x="0" y="0"/>
            <a:chExt cx="2460" cy="2676"/>
          </a:xfrm>
        </p:grpSpPr>
        <p:grpSp>
          <p:nvGrpSpPr>
            <p:cNvPr id="17413" name="组合 17412"/>
            <p:cNvGrpSpPr/>
            <p:nvPr/>
          </p:nvGrpSpPr>
          <p:grpSpPr>
            <a:xfrm>
              <a:off x="0" y="0"/>
              <a:ext cx="2460" cy="2676"/>
              <a:chOff x="0" y="0"/>
              <a:chExt cx="2460" cy="2676"/>
            </a:xfrm>
          </p:grpSpPr>
          <p:sp>
            <p:nvSpPr>
              <p:cNvPr id="17414" name="直接连接符 17413"/>
              <p:cNvSpPr/>
              <p:nvPr/>
            </p:nvSpPr>
            <p:spPr>
              <a:xfrm>
                <a:off x="741" y="2016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15" name="椭圆 17414"/>
              <p:cNvSpPr/>
              <p:nvPr/>
            </p:nvSpPr>
            <p:spPr>
              <a:xfrm>
                <a:off x="292" y="1368"/>
                <a:ext cx="84" cy="72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16" name="直接连接符 17415"/>
              <p:cNvSpPr/>
              <p:nvPr/>
            </p:nvSpPr>
            <p:spPr>
              <a:xfrm>
                <a:off x="1101" y="18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17" name="直接连接符 17416"/>
              <p:cNvSpPr/>
              <p:nvPr/>
            </p:nvSpPr>
            <p:spPr>
              <a:xfrm>
                <a:off x="1099" y="16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18" name="直接连接符 17417"/>
              <p:cNvSpPr/>
              <p:nvPr/>
            </p:nvSpPr>
            <p:spPr>
              <a:xfrm>
                <a:off x="1101" y="19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19" name="直接连接符 17418"/>
              <p:cNvSpPr/>
              <p:nvPr/>
            </p:nvSpPr>
            <p:spPr>
              <a:xfrm>
                <a:off x="1105" y="16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0" name="直接连接符 17419"/>
              <p:cNvSpPr/>
              <p:nvPr/>
            </p:nvSpPr>
            <p:spPr>
              <a:xfrm flipV="1">
                <a:off x="1105" y="20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1" name="直接连接符 17420"/>
              <p:cNvSpPr/>
              <p:nvPr/>
            </p:nvSpPr>
            <p:spPr>
              <a:xfrm>
                <a:off x="1105" y="18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7422" name="直接连接符 17421"/>
              <p:cNvSpPr/>
              <p:nvPr/>
            </p:nvSpPr>
            <p:spPr>
              <a:xfrm flipV="1">
                <a:off x="1372" y="12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3" name="直接连接符 17422"/>
              <p:cNvSpPr/>
              <p:nvPr/>
            </p:nvSpPr>
            <p:spPr>
              <a:xfrm flipV="1">
                <a:off x="1369" y="20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4" name="直接连接符 17423"/>
              <p:cNvSpPr/>
              <p:nvPr/>
            </p:nvSpPr>
            <p:spPr>
              <a:xfrm flipV="1">
                <a:off x="1216" y="2664"/>
                <a:ext cx="312" cy="1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5" name="直接连接符 17424"/>
              <p:cNvSpPr/>
              <p:nvPr/>
            </p:nvSpPr>
            <p:spPr>
              <a:xfrm>
                <a:off x="1368" y="2400"/>
                <a:ext cx="0" cy="26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6" name="椭圆 17425"/>
              <p:cNvSpPr/>
              <p:nvPr/>
            </p:nvSpPr>
            <p:spPr>
              <a:xfrm>
                <a:off x="1324" y="240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27" name="直接连接符 17426"/>
              <p:cNvSpPr/>
              <p:nvPr/>
            </p:nvSpPr>
            <p:spPr>
              <a:xfrm>
                <a:off x="1356" y="1404"/>
                <a:ext cx="588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8" name="椭圆 17427"/>
              <p:cNvSpPr/>
              <p:nvPr/>
            </p:nvSpPr>
            <p:spPr>
              <a:xfrm>
                <a:off x="1932" y="1344"/>
                <a:ext cx="84" cy="8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29" name="文本框 17428"/>
              <p:cNvSpPr txBox="1"/>
              <p:nvPr/>
            </p:nvSpPr>
            <p:spPr>
              <a:xfrm>
                <a:off x="1452" y="0"/>
                <a:ext cx="6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DD</a:t>
                </a:r>
                <a:endParaRPr lang="en-US" altLang="zh-CN" sz="3200" b="1" i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30" name="直接连接符 17429"/>
              <p:cNvSpPr/>
              <p:nvPr/>
            </p:nvSpPr>
            <p:spPr>
              <a:xfrm flipH="1">
                <a:off x="1014" y="760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1" name="直接连接符 17430"/>
              <p:cNvSpPr/>
              <p:nvPr/>
            </p:nvSpPr>
            <p:spPr>
              <a:xfrm>
                <a:off x="741" y="768"/>
                <a:ext cx="276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2" name="直接连接符 17431"/>
              <p:cNvSpPr/>
              <p:nvPr/>
            </p:nvSpPr>
            <p:spPr>
              <a:xfrm>
                <a:off x="1101" y="90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3" name="直接连接符 17432"/>
              <p:cNvSpPr/>
              <p:nvPr/>
            </p:nvSpPr>
            <p:spPr>
              <a:xfrm>
                <a:off x="1099" y="708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4" name="直接连接符 17433"/>
              <p:cNvSpPr/>
              <p:nvPr/>
            </p:nvSpPr>
            <p:spPr>
              <a:xfrm>
                <a:off x="1101" y="1080"/>
                <a:ext cx="0" cy="9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5" name="直接连接符 17434"/>
              <p:cNvSpPr/>
              <p:nvPr/>
            </p:nvSpPr>
            <p:spPr>
              <a:xfrm>
                <a:off x="1105" y="750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6" name="直接连接符 17435"/>
              <p:cNvSpPr/>
              <p:nvPr/>
            </p:nvSpPr>
            <p:spPr>
              <a:xfrm flipV="1">
                <a:off x="1105" y="1122"/>
                <a:ext cx="27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7" name="直接连接符 17436"/>
              <p:cNvSpPr/>
              <p:nvPr/>
            </p:nvSpPr>
            <p:spPr>
              <a:xfrm>
                <a:off x="1105" y="942"/>
                <a:ext cx="279" cy="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7438" name="直接连接符 17437"/>
              <p:cNvSpPr/>
              <p:nvPr/>
            </p:nvSpPr>
            <p:spPr>
              <a:xfrm flipV="1">
                <a:off x="1372" y="327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9" name="直接连接符 17438"/>
              <p:cNvSpPr/>
              <p:nvPr/>
            </p:nvSpPr>
            <p:spPr>
              <a:xfrm flipV="1">
                <a:off x="1369" y="1116"/>
                <a:ext cx="0" cy="43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0" name="直接连接符 17439"/>
              <p:cNvSpPr/>
              <p:nvPr/>
            </p:nvSpPr>
            <p:spPr>
              <a:xfrm flipH="1">
                <a:off x="1024" y="1663"/>
                <a:ext cx="0" cy="3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1" name="直接连接符 17440"/>
              <p:cNvSpPr/>
              <p:nvPr/>
            </p:nvSpPr>
            <p:spPr>
              <a:xfrm>
                <a:off x="744" y="768"/>
                <a:ext cx="0" cy="124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2" name="直接连接符 17441"/>
              <p:cNvSpPr/>
              <p:nvPr/>
            </p:nvSpPr>
            <p:spPr>
              <a:xfrm>
                <a:off x="360" y="140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3" name="文本框 17442"/>
              <p:cNvSpPr txBox="1"/>
              <p:nvPr/>
            </p:nvSpPr>
            <p:spPr>
              <a:xfrm>
                <a:off x="1428" y="456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44" name="文本框 17443"/>
              <p:cNvSpPr txBox="1"/>
              <p:nvPr/>
            </p:nvSpPr>
            <p:spPr>
              <a:xfrm>
                <a:off x="1704" y="7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1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45" name="文本框 17444"/>
              <p:cNvSpPr txBox="1"/>
              <p:nvPr/>
            </p:nvSpPr>
            <p:spPr>
              <a:xfrm>
                <a:off x="1416" y="1039"/>
                <a:ext cx="61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46" name="文本框 17445"/>
              <p:cNvSpPr txBox="1"/>
              <p:nvPr/>
            </p:nvSpPr>
            <p:spPr>
              <a:xfrm>
                <a:off x="1728" y="1644"/>
                <a:ext cx="60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2" charset="0"/>
                    <a:ea typeface="楷体_GB2312" pitchFamily="1" charset="-122"/>
                  </a:rPr>
                  <a:t>T</a:t>
                </a:r>
                <a:r>
                  <a:rPr lang="en-US" altLang="zh-CN" sz="3200" b="1" baseline="-25000">
                    <a:latin typeface="Times New Roman" panose="02020603050405020304" pitchFamily="2" charset="0"/>
                    <a:ea typeface="楷体_GB2312" pitchFamily="1" charset="-122"/>
                  </a:rPr>
                  <a:t>2</a:t>
                </a:r>
                <a:endParaRPr lang="en-US" altLang="zh-CN" sz="3200" b="1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47" name="文本框 17446"/>
              <p:cNvSpPr txBox="1"/>
              <p:nvPr/>
            </p:nvSpPr>
            <p:spPr>
              <a:xfrm>
                <a:off x="0" y="1032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I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17448" name="文本框 17447"/>
              <p:cNvSpPr txBox="1"/>
              <p:nvPr/>
            </p:nvSpPr>
            <p:spPr>
              <a:xfrm>
                <a:off x="2088" y="1039"/>
                <a:ext cx="3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>
                    <a:latin typeface="Times New Roman" panose="02020603050405020304" pitchFamily="2" charset="0"/>
                    <a:ea typeface="楷体_GB2312" pitchFamily="1" charset="-122"/>
                  </a:rPr>
                  <a:t>v</a:t>
                </a:r>
                <a:r>
                  <a:rPr lang="en-US" altLang="zh-CN" sz="3200" b="1" i="1" baseline="-25000">
                    <a:latin typeface="Times New Roman" panose="02020603050405020304" pitchFamily="2" charset="0"/>
                    <a:ea typeface="楷体_GB2312" pitchFamily="1" charset="-122"/>
                  </a:rPr>
                  <a:t>O</a:t>
                </a:r>
                <a:endParaRPr lang="en-US" altLang="zh-CN" sz="3200" b="1" i="1" baseline="-25000"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sp>
          <p:nvSpPr>
            <p:cNvPr id="17449" name="直接连接符 17448"/>
            <p:cNvSpPr/>
            <p:nvPr/>
          </p:nvSpPr>
          <p:spPr>
            <a:xfrm flipV="1">
              <a:off x="1361" y="725"/>
              <a:ext cx="0" cy="227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0" name="直接连接符 17449"/>
            <p:cNvSpPr/>
            <p:nvPr/>
          </p:nvSpPr>
          <p:spPr>
            <a:xfrm flipV="1">
              <a:off x="1361" y="1859"/>
              <a:ext cx="0" cy="182"/>
            </a:xfrm>
            <a:prstGeom prst="line">
              <a:avLst/>
            </a:prstGeom>
            <a:ln w="381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451" name="组合 17450"/>
          <p:cNvGrpSpPr/>
          <p:nvPr/>
        </p:nvGrpSpPr>
        <p:grpSpPr>
          <a:xfrm>
            <a:off x="1403350" y="3679825"/>
            <a:ext cx="4076700" cy="1733550"/>
            <a:chOff x="0" y="0"/>
            <a:chExt cx="2568" cy="1092"/>
          </a:xfrm>
        </p:grpSpPr>
        <p:sp>
          <p:nvSpPr>
            <p:cNvPr id="17452" name="椭圆 17451"/>
            <p:cNvSpPr/>
            <p:nvPr/>
          </p:nvSpPr>
          <p:spPr>
            <a:xfrm>
              <a:off x="0" y="0"/>
              <a:ext cx="672" cy="67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53" name="直接连接符 17452"/>
            <p:cNvSpPr/>
            <p:nvPr/>
          </p:nvSpPr>
          <p:spPr>
            <a:xfrm>
              <a:off x="648" y="468"/>
              <a:ext cx="600" cy="30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7454" name="椭圆 17453"/>
            <p:cNvSpPr/>
            <p:nvPr/>
          </p:nvSpPr>
          <p:spPr>
            <a:xfrm>
              <a:off x="1236" y="480"/>
              <a:ext cx="1332" cy="61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3200" b="1">
                  <a:solidFill>
                    <a:srgbClr val="0000FF"/>
                  </a:solidFill>
                  <a:latin typeface="楷体_GB2312" pitchFamily="1" charset="-122"/>
                  <a:ea typeface="楷体_GB2312" pitchFamily="1" charset="-122"/>
                </a:rPr>
                <a:t>导通 </a:t>
              </a:r>
              <a:endParaRPr lang="zh-CN" altLang="en-US" sz="32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endParaRPr>
            </a:p>
          </p:txBody>
        </p:sp>
      </p:grpSp>
      <p:sp>
        <p:nvSpPr>
          <p:cNvPr id="17455" name="文本框 17454"/>
          <p:cNvSpPr txBox="1"/>
          <p:nvPr/>
        </p:nvSpPr>
        <p:spPr>
          <a:xfrm>
            <a:off x="4140200" y="3141663"/>
            <a:ext cx="1847850" cy="617537"/>
          </a:xfrm>
          <a:prstGeom prst="rect">
            <a:avLst/>
          </a:prstGeom>
          <a:solidFill>
            <a:srgbClr val="FFCC66"/>
          </a:solidFill>
          <a:ln w="38100" cap="flat" cmpd="sng">
            <a:solidFill>
              <a:srgbClr val="FFCC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i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=“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０”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17456" name="组合 17455"/>
          <p:cNvGrpSpPr/>
          <p:nvPr/>
        </p:nvGrpSpPr>
        <p:grpSpPr>
          <a:xfrm>
            <a:off x="1365250" y="1412875"/>
            <a:ext cx="4914900" cy="1943100"/>
            <a:chOff x="0" y="0"/>
            <a:chExt cx="3096" cy="1224"/>
          </a:xfrm>
        </p:grpSpPr>
        <p:grpSp>
          <p:nvGrpSpPr>
            <p:cNvPr id="17457" name="组合 17456"/>
            <p:cNvGrpSpPr/>
            <p:nvPr/>
          </p:nvGrpSpPr>
          <p:grpSpPr>
            <a:xfrm>
              <a:off x="0" y="0"/>
              <a:ext cx="3096" cy="1224"/>
              <a:chOff x="0" y="0"/>
              <a:chExt cx="3096" cy="1224"/>
            </a:xfrm>
          </p:grpSpPr>
          <p:sp>
            <p:nvSpPr>
              <p:cNvPr id="17458" name="椭圆 17457"/>
              <p:cNvSpPr/>
              <p:nvPr/>
            </p:nvSpPr>
            <p:spPr>
              <a:xfrm>
                <a:off x="0" y="504"/>
                <a:ext cx="720" cy="720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7459" name="组合 17458"/>
              <p:cNvGrpSpPr/>
              <p:nvPr/>
            </p:nvGrpSpPr>
            <p:grpSpPr>
              <a:xfrm>
                <a:off x="708" y="0"/>
                <a:ext cx="2388" cy="780"/>
                <a:chOff x="0" y="0"/>
                <a:chExt cx="2388" cy="780"/>
              </a:xfrm>
            </p:grpSpPr>
            <p:sp>
              <p:nvSpPr>
                <p:cNvPr id="17460" name="直接连接符 17459"/>
                <p:cNvSpPr/>
                <p:nvPr/>
              </p:nvSpPr>
              <p:spPr>
                <a:xfrm flipV="1">
                  <a:off x="0" y="144"/>
                  <a:ext cx="1008" cy="636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</p:sp>
            <p:sp>
              <p:nvSpPr>
                <p:cNvPr id="17461" name="椭圆 17460"/>
                <p:cNvSpPr/>
                <p:nvPr/>
              </p:nvSpPr>
              <p:spPr>
                <a:xfrm>
                  <a:off x="984" y="0"/>
                  <a:ext cx="1404" cy="384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sz="3200" b="1">
                    <a:solidFill>
                      <a:srgbClr val="0000FF"/>
                    </a:solidFill>
                    <a:latin typeface="Times New Roman" panose="02020603050405020304" pitchFamily="2" charset="0"/>
                    <a:ea typeface="楷体_GB2312" pitchFamily="1" charset="-122"/>
                  </a:endParaRPr>
                </a:p>
              </p:txBody>
            </p:sp>
          </p:grpSp>
        </p:grpSp>
        <p:sp>
          <p:nvSpPr>
            <p:cNvPr id="17462" name="矩形 17461"/>
            <p:cNvSpPr/>
            <p:nvPr/>
          </p:nvSpPr>
          <p:spPr>
            <a:xfrm>
              <a:off x="2010" y="35"/>
              <a:ext cx="69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截止 </a:t>
              </a:r>
              <a:endParaRPr lang="zh-CN" altLang="en-US" sz="3200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17463" name="圆角矩形 17462"/>
          <p:cNvSpPr/>
          <p:nvPr/>
        </p:nvSpPr>
        <p:spPr>
          <a:xfrm>
            <a:off x="684213" y="5805488"/>
            <a:ext cx="7559675" cy="863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r>
              <a:rPr lang="en-US" altLang="zh-CN" sz="2400">
                <a:latin typeface="Times New Roman" panose="02020603050405020304" pitchFamily="2" charset="0"/>
              </a:rPr>
              <a:t>        </a:t>
            </a:r>
            <a:r>
              <a:rPr lang="zh-CN" altLang="en-US" sz="2400" b="1">
                <a:latin typeface="Times New Roman" panose="02020603050405020304" pitchFamily="2" charset="0"/>
              </a:rPr>
              <a:t>静态下，无论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I</a:t>
            </a:r>
            <a:r>
              <a:rPr lang="zh-CN" altLang="en-US" sz="2400" b="1">
                <a:latin typeface="Times New Roman" panose="02020603050405020304" pitchFamily="2" charset="0"/>
              </a:rPr>
              <a:t>是高电平还是低电平，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1</a:t>
            </a:r>
            <a:r>
              <a:rPr lang="zh-CN" altLang="en-US" sz="2400" b="1">
                <a:latin typeface="Times New Roman" panose="02020603050405020304" pitchFamily="2" charset="0"/>
              </a:rPr>
              <a:t>、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2</a:t>
            </a:r>
            <a:r>
              <a:rPr lang="zh-CN" altLang="en-US" sz="2400" b="1">
                <a:latin typeface="Times New Roman" panose="02020603050405020304" pitchFamily="2" charset="0"/>
              </a:rPr>
              <a:t>总有</a:t>
            </a:r>
            <a:endParaRPr lang="zh-CN" altLang="en-US" sz="2400" b="1">
              <a:latin typeface="Times New Roman" panose="02020603050405020304" pitchFamily="2" charset="0"/>
            </a:endParaRPr>
          </a:p>
          <a:p>
            <a:pPr algn="l"/>
            <a:r>
              <a:rPr lang="zh-CN" altLang="en-US" sz="2400" b="1">
                <a:latin typeface="Times New Roman" panose="02020603050405020304" pitchFamily="2" charset="0"/>
              </a:rPr>
              <a:t>一个截止，因此</a:t>
            </a:r>
            <a:r>
              <a:rPr lang="en-US" altLang="zh-CN" sz="2400" b="1">
                <a:latin typeface="Times New Roman" panose="02020603050405020304" pitchFamily="2" charset="0"/>
              </a:rPr>
              <a:t>CMOS</a:t>
            </a:r>
            <a:r>
              <a:rPr lang="zh-CN" altLang="en-US" sz="2400" b="1">
                <a:latin typeface="Times New Roman" panose="02020603050405020304" pitchFamily="2" charset="0"/>
              </a:rPr>
              <a:t>反相器的静态功耗极小。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5" grpId="0" animBg="1"/>
      <p:bldP spid="1746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18433"/>
          <p:cNvSpPr txBox="1"/>
          <p:nvPr/>
        </p:nvSpPr>
        <p:spPr>
          <a:xfrm>
            <a:off x="250825" y="476250"/>
            <a:ext cx="69135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3.3.5  </a:t>
            </a:r>
            <a:r>
              <a:rPr lang="zh-CN" altLang="en-US" sz="3600">
                <a:latin typeface="Verdana" panose="020B0604030504040204" pitchFamily="2" charset="0"/>
              </a:rPr>
              <a:t>其他类型</a:t>
            </a:r>
            <a:r>
              <a:rPr lang="en-US" altLang="zh-CN" sz="3600">
                <a:latin typeface="Verdana" panose="020B0604030504040204" pitchFamily="2" charset="0"/>
              </a:rPr>
              <a:t>CMOS</a:t>
            </a:r>
            <a:r>
              <a:rPr lang="zh-CN" altLang="en-US" sz="3600">
                <a:latin typeface="Verdana" panose="020B0604030504040204" pitchFamily="2" charset="0"/>
              </a:rPr>
              <a:t>门电路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graphicFrame>
        <p:nvGraphicFramePr>
          <p:cNvPr id="18435" name="对象 18434"/>
          <p:cNvGraphicFramePr>
            <a:graphicFrameLocks noChangeAspect="1"/>
          </p:cNvGraphicFramePr>
          <p:nvPr/>
        </p:nvGraphicFramePr>
        <p:xfrm>
          <a:off x="1331913" y="2349500"/>
          <a:ext cx="4897437" cy="427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6725900" imgH="14582775" progId="MSPhotoEd.3">
                  <p:embed/>
                </p:oleObj>
              </mc:Choice>
              <mc:Fallback>
                <p:oleObj name="" r:id="rId1" imgW="16725900" imgH="14582775" progId="MSPhotoEd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2349500"/>
                        <a:ext cx="4897437" cy="427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文本框 18435"/>
          <p:cNvSpPr txBox="1"/>
          <p:nvPr/>
        </p:nvSpPr>
        <p:spPr>
          <a:xfrm>
            <a:off x="395288" y="2565400"/>
            <a:ext cx="503237" cy="18002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1.</a:t>
            </a:r>
            <a:r>
              <a:rPr lang="zh-CN" altLang="en-US" b="1">
                <a:latin typeface="Times New Roman" panose="02020603050405020304" pitchFamily="2" charset="0"/>
              </a:rPr>
              <a:t>与非门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aphicFrame>
        <p:nvGraphicFramePr>
          <p:cNvPr id="18437" name="对象 18436"/>
          <p:cNvGraphicFramePr>
            <a:graphicFrameLocks noChangeAspect="1"/>
          </p:cNvGraphicFramePr>
          <p:nvPr/>
        </p:nvGraphicFramePr>
        <p:xfrm>
          <a:off x="6443663" y="4581525"/>
          <a:ext cx="21828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711200" imgH="203200" progId="Equation.3">
                  <p:embed/>
                </p:oleObj>
              </mc:Choice>
              <mc:Fallback>
                <p:oleObj name="" r:id="rId3" imgW="711200" imgH="20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3663" y="4581525"/>
                        <a:ext cx="2182812" cy="61912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圆角矩形 18437"/>
          <p:cNvSpPr/>
          <p:nvPr/>
        </p:nvSpPr>
        <p:spPr>
          <a:xfrm>
            <a:off x="323850" y="1341438"/>
            <a:ext cx="5761038" cy="57467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一、其他逻辑功能的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门电路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8" name="对象 19457"/>
          <p:cNvGraphicFramePr>
            <a:graphicFrameLocks noChangeAspect="1"/>
          </p:cNvGraphicFramePr>
          <p:nvPr/>
        </p:nvGraphicFramePr>
        <p:xfrm>
          <a:off x="1187450" y="1092200"/>
          <a:ext cx="5761038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6725900" imgH="14582775" progId="MSPhotoEd.3">
                  <p:embed/>
                </p:oleObj>
              </mc:Choice>
              <mc:Fallback>
                <p:oleObj name="" r:id="rId1" imgW="16725900" imgH="14582775" progId="MSPhotoEd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1092200"/>
                        <a:ext cx="5761038" cy="5022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文本框 19458"/>
          <p:cNvSpPr txBox="1"/>
          <p:nvPr/>
        </p:nvSpPr>
        <p:spPr>
          <a:xfrm>
            <a:off x="560388" y="276225"/>
            <a:ext cx="4908550" cy="617538"/>
          </a:xfrm>
          <a:prstGeom prst="rect">
            <a:avLst/>
          </a:prstGeom>
          <a:solidFill>
            <a:srgbClr val="CC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任一输入端为低，设</a:t>
            </a: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A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=0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9460" name="矩形 19459"/>
          <p:cNvSpPr/>
          <p:nvPr/>
        </p:nvSpPr>
        <p:spPr>
          <a:xfrm>
            <a:off x="971550" y="3644900"/>
            <a:ext cx="1027113" cy="617538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A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=0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19461" name="组合 19460"/>
          <p:cNvGrpSpPr/>
          <p:nvPr/>
        </p:nvGrpSpPr>
        <p:grpSpPr>
          <a:xfrm>
            <a:off x="5508625" y="4221163"/>
            <a:ext cx="2805113" cy="1114425"/>
            <a:chOff x="0" y="0"/>
            <a:chExt cx="1767" cy="702"/>
          </a:xfrm>
        </p:grpSpPr>
        <p:sp>
          <p:nvSpPr>
            <p:cNvPr id="19462" name="矩形 19461"/>
            <p:cNvSpPr/>
            <p:nvPr/>
          </p:nvSpPr>
          <p:spPr>
            <a:xfrm>
              <a:off x="1051" y="313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断开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9463" name="直接连接符 19462"/>
            <p:cNvSpPr/>
            <p:nvPr/>
          </p:nvSpPr>
          <p:spPr>
            <a:xfrm flipH="1" flipV="1">
              <a:off x="0" y="0"/>
              <a:ext cx="1016" cy="48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19464" name="组合 19463"/>
          <p:cNvGrpSpPr/>
          <p:nvPr/>
        </p:nvGrpSpPr>
        <p:grpSpPr>
          <a:xfrm>
            <a:off x="5508625" y="1655763"/>
            <a:ext cx="2266950" cy="776287"/>
            <a:chOff x="0" y="0"/>
            <a:chExt cx="1428" cy="489"/>
          </a:xfrm>
        </p:grpSpPr>
        <p:sp>
          <p:nvSpPr>
            <p:cNvPr id="19465" name="矩形 19464"/>
            <p:cNvSpPr/>
            <p:nvPr/>
          </p:nvSpPr>
          <p:spPr>
            <a:xfrm>
              <a:off x="712" y="0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导通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9466" name="直接连接符 19465"/>
            <p:cNvSpPr/>
            <p:nvPr/>
          </p:nvSpPr>
          <p:spPr>
            <a:xfrm flipH="1">
              <a:off x="0" y="184"/>
              <a:ext cx="700" cy="30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19467" name="矩形 19466"/>
          <p:cNvSpPr/>
          <p:nvPr/>
        </p:nvSpPr>
        <p:spPr>
          <a:xfrm>
            <a:off x="6659563" y="2852738"/>
            <a:ext cx="1042987" cy="617537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=1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对象 20481"/>
          <p:cNvGraphicFramePr>
            <a:graphicFrameLocks noChangeAspect="1"/>
          </p:cNvGraphicFramePr>
          <p:nvPr/>
        </p:nvGraphicFramePr>
        <p:xfrm>
          <a:off x="1619250" y="1125538"/>
          <a:ext cx="5761038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6725900" imgH="14582775" progId="MSPhotoEd.3">
                  <p:embed/>
                </p:oleObj>
              </mc:Choice>
              <mc:Fallback>
                <p:oleObj name="" r:id="rId1" imgW="16725900" imgH="14582775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1125538"/>
                        <a:ext cx="5761038" cy="5022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文本框 20482"/>
          <p:cNvSpPr txBox="1"/>
          <p:nvPr/>
        </p:nvSpPr>
        <p:spPr>
          <a:xfrm>
            <a:off x="293688" y="276225"/>
            <a:ext cx="3240087" cy="617538"/>
          </a:xfrm>
          <a:prstGeom prst="rect">
            <a:avLst/>
          </a:prstGeom>
          <a:solidFill>
            <a:srgbClr val="CC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输入全为高电平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20484" name="组合 20483"/>
          <p:cNvGrpSpPr/>
          <p:nvPr/>
        </p:nvGrpSpPr>
        <p:grpSpPr>
          <a:xfrm>
            <a:off x="900113" y="3429000"/>
            <a:ext cx="1042987" cy="1922463"/>
            <a:chOff x="0" y="0"/>
            <a:chExt cx="657" cy="1211"/>
          </a:xfrm>
        </p:grpSpPr>
        <p:sp>
          <p:nvSpPr>
            <p:cNvPr id="20485" name="矩形 20484"/>
            <p:cNvSpPr/>
            <p:nvPr/>
          </p:nvSpPr>
          <p:spPr>
            <a:xfrm>
              <a:off x="0" y="0"/>
              <a:ext cx="647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v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楷体_GB2312" pitchFamily="1" charset="-122"/>
                </a:rPr>
                <a:t>A</a:t>
              </a: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=1</a:t>
              </a:r>
              <a:endParaRPr lang="en-US" altLang="zh-CN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0486" name="矩形 20485"/>
            <p:cNvSpPr/>
            <p:nvPr/>
          </p:nvSpPr>
          <p:spPr>
            <a:xfrm>
              <a:off x="19" y="822"/>
              <a:ext cx="638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v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楷体_GB2312" pitchFamily="1" charset="-122"/>
                </a:rPr>
                <a:t>B</a:t>
              </a: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=1</a:t>
              </a:r>
              <a:endParaRPr lang="en-US" altLang="zh-CN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0487" name="组合 20486"/>
          <p:cNvGrpSpPr/>
          <p:nvPr/>
        </p:nvGrpSpPr>
        <p:grpSpPr>
          <a:xfrm>
            <a:off x="5795963" y="4237038"/>
            <a:ext cx="2625725" cy="1201737"/>
            <a:chOff x="0" y="0"/>
            <a:chExt cx="1654" cy="757"/>
          </a:xfrm>
        </p:grpSpPr>
        <p:sp>
          <p:nvSpPr>
            <p:cNvPr id="20488" name="矩形 20487"/>
            <p:cNvSpPr/>
            <p:nvPr/>
          </p:nvSpPr>
          <p:spPr>
            <a:xfrm>
              <a:off x="938" y="7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导通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0489" name="直接连接符 20488"/>
            <p:cNvSpPr/>
            <p:nvPr/>
          </p:nvSpPr>
          <p:spPr>
            <a:xfrm flipH="1">
              <a:off x="0" y="373"/>
              <a:ext cx="893" cy="38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0490" name="直接连接符 20489"/>
            <p:cNvSpPr/>
            <p:nvPr/>
          </p:nvSpPr>
          <p:spPr>
            <a:xfrm flipH="1" flipV="1">
              <a:off x="57" y="0"/>
              <a:ext cx="802" cy="14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20491" name="组合 20490"/>
          <p:cNvGrpSpPr/>
          <p:nvPr/>
        </p:nvGrpSpPr>
        <p:grpSpPr>
          <a:xfrm>
            <a:off x="3779838" y="431800"/>
            <a:ext cx="1449387" cy="1476375"/>
            <a:chOff x="0" y="0"/>
            <a:chExt cx="913" cy="930"/>
          </a:xfrm>
        </p:grpSpPr>
        <p:sp>
          <p:nvSpPr>
            <p:cNvPr id="20492" name="矩形 20491"/>
            <p:cNvSpPr/>
            <p:nvPr/>
          </p:nvSpPr>
          <p:spPr>
            <a:xfrm>
              <a:off x="0" y="0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断开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0493" name="直接连接符 20492"/>
            <p:cNvSpPr/>
            <p:nvPr/>
          </p:nvSpPr>
          <p:spPr>
            <a:xfrm flipH="1">
              <a:off x="21" y="421"/>
              <a:ext cx="90" cy="33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0494" name="直接连接符 20493"/>
            <p:cNvSpPr/>
            <p:nvPr/>
          </p:nvSpPr>
          <p:spPr>
            <a:xfrm>
              <a:off x="541" y="399"/>
              <a:ext cx="372" cy="53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20495" name="矩形 20494"/>
          <p:cNvSpPr/>
          <p:nvPr/>
        </p:nvSpPr>
        <p:spPr>
          <a:xfrm>
            <a:off x="7092950" y="2636838"/>
            <a:ext cx="1042988" cy="617537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=0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nimBg="1"/>
      <p:bldP spid="204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6" name="对象 21505"/>
          <p:cNvGraphicFramePr>
            <a:graphicFrameLocks noChangeAspect="1"/>
          </p:cNvGraphicFramePr>
          <p:nvPr/>
        </p:nvGraphicFramePr>
        <p:xfrm>
          <a:off x="539750" y="1268413"/>
          <a:ext cx="4783138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5573375" imgH="16182975" progId="MSPhotoEd.3">
                  <p:embed/>
                </p:oleObj>
              </mc:Choice>
              <mc:Fallback>
                <p:oleObj name="" r:id="rId1" imgW="15573375" imgH="16182975" progId="MSPhotoEd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1268413"/>
                        <a:ext cx="4783138" cy="496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文本框 21506"/>
          <p:cNvSpPr txBox="1"/>
          <p:nvPr/>
        </p:nvSpPr>
        <p:spPr>
          <a:xfrm>
            <a:off x="395288" y="404813"/>
            <a:ext cx="1871662" cy="519112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2.</a:t>
            </a:r>
            <a:r>
              <a:rPr lang="zh-CN" altLang="en-US" b="1">
                <a:latin typeface="Times New Roman" panose="02020603050405020304" pitchFamily="2" charset="0"/>
              </a:rPr>
              <a:t>或非门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aphicFrame>
        <p:nvGraphicFramePr>
          <p:cNvPr id="21508" name="对象 21507"/>
          <p:cNvGraphicFramePr>
            <a:graphicFrameLocks noChangeAspect="1"/>
          </p:cNvGraphicFramePr>
          <p:nvPr/>
        </p:nvGraphicFramePr>
        <p:xfrm>
          <a:off x="5867400" y="4094163"/>
          <a:ext cx="24860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774700" imgH="203200" progId="Equation.3">
                  <p:embed/>
                </p:oleObj>
              </mc:Choice>
              <mc:Fallback>
                <p:oleObj name="" r:id="rId3" imgW="774700" imgH="203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7400" y="4094163"/>
                        <a:ext cx="2486025" cy="6477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30" name="对象 22529"/>
          <p:cNvGraphicFramePr>
            <a:graphicFrameLocks noChangeAspect="1"/>
          </p:cNvGraphicFramePr>
          <p:nvPr/>
        </p:nvGraphicFramePr>
        <p:xfrm>
          <a:off x="1476375" y="1125538"/>
          <a:ext cx="5130800" cy="532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5573375" imgH="16182975" progId="MSPhotoEd.3">
                  <p:embed/>
                </p:oleObj>
              </mc:Choice>
              <mc:Fallback>
                <p:oleObj name="" r:id="rId1" imgW="15573375" imgH="16182975" progId="MSPhotoEd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125538"/>
                        <a:ext cx="5130800" cy="5329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文本框 22530"/>
          <p:cNvSpPr txBox="1"/>
          <p:nvPr/>
        </p:nvSpPr>
        <p:spPr>
          <a:xfrm>
            <a:off x="560388" y="276225"/>
            <a:ext cx="4908550" cy="617538"/>
          </a:xfrm>
          <a:prstGeom prst="rect">
            <a:avLst/>
          </a:prstGeom>
          <a:solidFill>
            <a:srgbClr val="CC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任一输入端为高，设</a:t>
            </a: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A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=1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2532" name="矩形 22531"/>
          <p:cNvSpPr/>
          <p:nvPr/>
        </p:nvSpPr>
        <p:spPr>
          <a:xfrm>
            <a:off x="900113" y="3357563"/>
            <a:ext cx="1087437" cy="617537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A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=1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22533" name="组合 22532"/>
          <p:cNvGrpSpPr/>
          <p:nvPr/>
        </p:nvGrpSpPr>
        <p:grpSpPr>
          <a:xfrm>
            <a:off x="5508625" y="4751388"/>
            <a:ext cx="2751138" cy="617537"/>
            <a:chOff x="0" y="0"/>
            <a:chExt cx="1733" cy="389"/>
          </a:xfrm>
        </p:grpSpPr>
        <p:sp>
          <p:nvSpPr>
            <p:cNvPr id="22534" name="矩形 22533"/>
            <p:cNvSpPr/>
            <p:nvPr/>
          </p:nvSpPr>
          <p:spPr>
            <a:xfrm>
              <a:off x="1017" y="0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导通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2535" name="直接连接符 22534"/>
            <p:cNvSpPr/>
            <p:nvPr/>
          </p:nvSpPr>
          <p:spPr>
            <a:xfrm flipH="1">
              <a:off x="0" y="172"/>
              <a:ext cx="982" cy="1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22536" name="组合 22535"/>
          <p:cNvGrpSpPr/>
          <p:nvPr/>
        </p:nvGrpSpPr>
        <p:grpSpPr>
          <a:xfrm>
            <a:off x="5651500" y="1511300"/>
            <a:ext cx="2070100" cy="1958975"/>
            <a:chOff x="0" y="0"/>
            <a:chExt cx="1304" cy="1234"/>
          </a:xfrm>
        </p:grpSpPr>
        <p:sp>
          <p:nvSpPr>
            <p:cNvPr id="22537" name="矩形 22536"/>
            <p:cNvSpPr/>
            <p:nvPr/>
          </p:nvSpPr>
          <p:spPr>
            <a:xfrm>
              <a:off x="588" y="0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断开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2538" name="直接连接符 22537"/>
            <p:cNvSpPr/>
            <p:nvPr/>
          </p:nvSpPr>
          <p:spPr>
            <a:xfrm flipH="1">
              <a:off x="0" y="184"/>
              <a:ext cx="576" cy="105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22539" name="矩形 22538"/>
          <p:cNvSpPr/>
          <p:nvPr/>
        </p:nvSpPr>
        <p:spPr>
          <a:xfrm>
            <a:off x="6443663" y="3716338"/>
            <a:ext cx="1042987" cy="617537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=0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2" grpId="0" animBg="1"/>
      <p:bldP spid="225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4" name="对象 23553"/>
          <p:cNvGraphicFramePr>
            <a:graphicFrameLocks noChangeAspect="1"/>
          </p:cNvGraphicFramePr>
          <p:nvPr/>
        </p:nvGraphicFramePr>
        <p:xfrm>
          <a:off x="1476375" y="1125538"/>
          <a:ext cx="5130800" cy="532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5573375" imgH="16182975" progId="MSPhotoEd.3">
                  <p:embed/>
                </p:oleObj>
              </mc:Choice>
              <mc:Fallback>
                <p:oleObj name="" r:id="rId1" imgW="15573375" imgH="16182975" progId="MSPhotoEd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125538"/>
                        <a:ext cx="5130800" cy="5329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文本框 23554"/>
          <p:cNvSpPr txBox="1"/>
          <p:nvPr/>
        </p:nvSpPr>
        <p:spPr>
          <a:xfrm>
            <a:off x="560388" y="276225"/>
            <a:ext cx="2774950" cy="617538"/>
          </a:xfrm>
          <a:prstGeom prst="rect">
            <a:avLst/>
          </a:prstGeom>
          <a:solidFill>
            <a:srgbClr val="CC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输入端全为低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23556" name="组合 23555"/>
          <p:cNvGrpSpPr/>
          <p:nvPr/>
        </p:nvGrpSpPr>
        <p:grpSpPr>
          <a:xfrm>
            <a:off x="468313" y="1628775"/>
            <a:ext cx="1027112" cy="1703388"/>
            <a:chOff x="0" y="0"/>
            <a:chExt cx="647" cy="1073"/>
          </a:xfrm>
        </p:grpSpPr>
        <p:sp>
          <p:nvSpPr>
            <p:cNvPr id="23557" name="矩形 23556"/>
            <p:cNvSpPr/>
            <p:nvPr/>
          </p:nvSpPr>
          <p:spPr>
            <a:xfrm>
              <a:off x="0" y="684"/>
              <a:ext cx="647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v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楷体_GB2312" pitchFamily="1" charset="-122"/>
                </a:rPr>
                <a:t>A</a:t>
              </a: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=0</a:t>
              </a:r>
              <a:endParaRPr lang="en-US" altLang="zh-CN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3558" name="矩形 23557"/>
            <p:cNvSpPr/>
            <p:nvPr/>
          </p:nvSpPr>
          <p:spPr>
            <a:xfrm>
              <a:off x="6" y="0"/>
              <a:ext cx="638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2" charset="0"/>
                  <a:ea typeface="楷体_GB2312" pitchFamily="1" charset="-122"/>
                </a:rPr>
                <a:t>v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楷体_GB2312" pitchFamily="1" charset="-122"/>
                </a:rPr>
                <a:t>B</a:t>
              </a:r>
              <a:r>
                <a:rPr lang="en-US" altLang="zh-CN" sz="3200" b="1">
                  <a:latin typeface="Times New Roman" panose="02020603050405020304" pitchFamily="2" charset="0"/>
                  <a:ea typeface="楷体_GB2312" pitchFamily="1" charset="-122"/>
                </a:rPr>
                <a:t>=0</a:t>
              </a:r>
              <a:endParaRPr lang="en-US" altLang="zh-CN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3559" name="组合 23558"/>
          <p:cNvGrpSpPr/>
          <p:nvPr/>
        </p:nvGrpSpPr>
        <p:grpSpPr>
          <a:xfrm>
            <a:off x="3708400" y="5229225"/>
            <a:ext cx="3397250" cy="1222375"/>
            <a:chOff x="0" y="0"/>
            <a:chExt cx="2140" cy="770"/>
          </a:xfrm>
        </p:grpSpPr>
        <p:sp>
          <p:nvSpPr>
            <p:cNvPr id="23560" name="矩形 23559"/>
            <p:cNvSpPr/>
            <p:nvPr/>
          </p:nvSpPr>
          <p:spPr>
            <a:xfrm>
              <a:off x="1424" y="381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断开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3561" name="直接连接符 23560"/>
            <p:cNvSpPr/>
            <p:nvPr/>
          </p:nvSpPr>
          <p:spPr>
            <a:xfrm flipH="1" flipV="1">
              <a:off x="0" y="146"/>
              <a:ext cx="1366" cy="36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2" name="直接连接符 23561"/>
            <p:cNvSpPr/>
            <p:nvPr/>
          </p:nvSpPr>
          <p:spPr>
            <a:xfrm flipH="1" flipV="1">
              <a:off x="858" y="0"/>
              <a:ext cx="497" cy="39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23563" name="组合 23562"/>
          <p:cNvGrpSpPr/>
          <p:nvPr/>
        </p:nvGrpSpPr>
        <p:grpSpPr>
          <a:xfrm>
            <a:off x="5076825" y="647700"/>
            <a:ext cx="2178050" cy="3105150"/>
            <a:chOff x="0" y="0"/>
            <a:chExt cx="1372" cy="1956"/>
          </a:xfrm>
        </p:grpSpPr>
        <p:sp>
          <p:nvSpPr>
            <p:cNvPr id="23564" name="矩形 23563"/>
            <p:cNvSpPr/>
            <p:nvPr/>
          </p:nvSpPr>
          <p:spPr>
            <a:xfrm>
              <a:off x="656" y="0"/>
              <a:ext cx="716" cy="38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zh-CN" altLang="en-US" sz="3200" b="1">
                  <a:latin typeface="Times New Roman" panose="02020603050405020304" pitchFamily="2" charset="0"/>
                  <a:ea typeface="楷体_GB2312" pitchFamily="1" charset="-122"/>
                </a:rPr>
                <a:t>导通 </a:t>
              </a:r>
              <a:endParaRPr lang="zh-CN" altLang="en-US" sz="32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3565" name="直接连接符 23564"/>
            <p:cNvSpPr/>
            <p:nvPr/>
          </p:nvSpPr>
          <p:spPr>
            <a:xfrm flipH="1">
              <a:off x="135" y="397"/>
              <a:ext cx="677" cy="5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6" name="直接连接符 23565"/>
            <p:cNvSpPr/>
            <p:nvPr/>
          </p:nvSpPr>
          <p:spPr>
            <a:xfrm flipH="1">
              <a:off x="0" y="420"/>
              <a:ext cx="982" cy="15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23567" name="矩形 23566"/>
          <p:cNvSpPr/>
          <p:nvPr/>
        </p:nvSpPr>
        <p:spPr>
          <a:xfrm>
            <a:off x="6516688" y="3860800"/>
            <a:ext cx="1042987" cy="617538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=1</a:t>
            </a:r>
            <a:endParaRPr lang="en-US" altLang="zh-CN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2356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文本框 24577"/>
          <p:cNvSpPr txBox="1"/>
          <p:nvPr/>
        </p:nvSpPr>
        <p:spPr>
          <a:xfrm>
            <a:off x="395288" y="549275"/>
            <a:ext cx="4608512" cy="51911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3. </a:t>
            </a:r>
            <a:r>
              <a:rPr lang="zh-CN" altLang="en-US" b="1">
                <a:latin typeface="Times New Roman" panose="02020603050405020304" pitchFamily="2" charset="0"/>
              </a:rPr>
              <a:t>带缓冲级的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门电路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pic>
        <p:nvPicPr>
          <p:cNvPr id="24579" name="图片 245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1916113"/>
            <a:ext cx="3057525" cy="148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图片 24579" descr="y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484313"/>
            <a:ext cx="4537075" cy="3157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右箭头 24580"/>
          <p:cNvSpPr/>
          <p:nvPr/>
        </p:nvSpPr>
        <p:spPr>
          <a:xfrm>
            <a:off x="5003800" y="2636838"/>
            <a:ext cx="647700" cy="503237"/>
          </a:xfrm>
          <a:prstGeom prst="rightArrow">
            <a:avLst>
              <a:gd name="adj1" fmla="val 50000"/>
              <a:gd name="adj2" fmla="val 32176"/>
            </a:avLst>
          </a:prstGeom>
          <a:solidFill>
            <a:srgbClr val="FFCC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4582" name="图片 245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221163"/>
            <a:ext cx="2828925" cy="993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下箭头 24582"/>
          <p:cNvSpPr/>
          <p:nvPr/>
        </p:nvSpPr>
        <p:spPr>
          <a:xfrm>
            <a:off x="7164388" y="3429000"/>
            <a:ext cx="503237" cy="647700"/>
          </a:xfrm>
          <a:prstGeom prst="downArrow">
            <a:avLst>
              <a:gd name="adj1" fmla="val 50000"/>
              <a:gd name="adj2" fmla="val 32176"/>
            </a:avLst>
          </a:prstGeom>
          <a:solidFill>
            <a:srgbClr val="FFCC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4584" name="对象 24583"/>
          <p:cNvGraphicFramePr>
            <a:graphicFrameLocks noChangeAspect="1"/>
          </p:cNvGraphicFramePr>
          <p:nvPr/>
        </p:nvGraphicFramePr>
        <p:xfrm>
          <a:off x="1042988" y="5516563"/>
          <a:ext cx="45593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4" imgW="1536065" imgH="203200" progId="Equation.3">
                  <p:embed/>
                </p:oleObj>
              </mc:Choice>
              <mc:Fallback>
                <p:oleObj name="" r:id="rId4" imgW="1536065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2988" y="5516563"/>
                        <a:ext cx="455930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02" name="对象 25601"/>
          <p:cNvGraphicFramePr>
            <a:graphicFrameLocks noChangeAspect="1"/>
          </p:cNvGraphicFramePr>
          <p:nvPr/>
        </p:nvGraphicFramePr>
        <p:xfrm>
          <a:off x="1249363" y="4348163"/>
          <a:ext cx="45593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36065" imgH="203200" progId="Equation.3">
                  <p:embed/>
                </p:oleObj>
              </mc:Choice>
              <mc:Fallback>
                <p:oleObj name="" r:id="rId1" imgW="1536065" imgH="203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49363" y="4348163"/>
                        <a:ext cx="455930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圆角矩形 25602"/>
          <p:cNvSpPr/>
          <p:nvPr/>
        </p:nvSpPr>
        <p:spPr>
          <a:xfrm>
            <a:off x="468313" y="5229225"/>
            <a:ext cx="8207375" cy="129540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r>
              <a:rPr lang="en-US" altLang="zh-CN" sz="2400">
                <a:latin typeface="Times New Roman" panose="02020603050405020304" pitchFamily="2" charset="0"/>
              </a:rPr>
              <a:t>        </a:t>
            </a:r>
            <a:r>
              <a:rPr lang="zh-CN" altLang="en-US" sz="2400" b="1">
                <a:latin typeface="Times New Roman" panose="02020603050405020304" pitchFamily="2" charset="0"/>
              </a:rPr>
              <a:t>带缓冲级的门电路其输出电阻、输出高、低电平以及</a:t>
            </a:r>
            <a:endParaRPr lang="zh-CN" altLang="en-US" sz="2400" b="1">
              <a:latin typeface="Times New Roman" panose="02020603050405020304" pitchFamily="2" charset="0"/>
            </a:endParaRPr>
          </a:p>
          <a:p>
            <a:pPr algn="l"/>
            <a:r>
              <a:rPr lang="zh-CN" altLang="en-US" sz="2400" b="1">
                <a:latin typeface="Times New Roman" panose="02020603050405020304" pitchFamily="2" charset="0"/>
              </a:rPr>
              <a:t>电压传输特性将不受输入端状态的影响。电压传输特性的</a:t>
            </a:r>
            <a:endParaRPr lang="zh-CN" altLang="en-US" sz="2400" b="1">
              <a:latin typeface="Times New Roman" panose="02020603050405020304" pitchFamily="2" charset="0"/>
            </a:endParaRPr>
          </a:p>
          <a:p>
            <a:pPr algn="l"/>
            <a:r>
              <a:rPr lang="zh-CN" altLang="en-US" sz="2400" b="1">
                <a:latin typeface="Times New Roman" panose="02020603050405020304" pitchFamily="2" charset="0"/>
              </a:rPr>
              <a:t>转折区也变得更陡。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pic>
        <p:nvPicPr>
          <p:cNvPr id="25604" name="图片 256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063" y="981075"/>
            <a:ext cx="3348037" cy="1636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图片 25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429000"/>
            <a:ext cx="2136775" cy="881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图片 25605" descr="h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88" y="404813"/>
            <a:ext cx="4645025" cy="3579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7" name="右箭头 25606"/>
          <p:cNvSpPr/>
          <p:nvPr/>
        </p:nvSpPr>
        <p:spPr>
          <a:xfrm>
            <a:off x="4932363" y="1412875"/>
            <a:ext cx="647700" cy="503238"/>
          </a:xfrm>
          <a:prstGeom prst="rightArrow">
            <a:avLst>
              <a:gd name="adj1" fmla="val 50000"/>
              <a:gd name="adj2" fmla="val 32176"/>
            </a:avLst>
          </a:prstGeom>
          <a:solidFill>
            <a:srgbClr val="FFCC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08" name="下箭头 25607"/>
          <p:cNvSpPr/>
          <p:nvPr/>
        </p:nvSpPr>
        <p:spPr>
          <a:xfrm>
            <a:off x="7019925" y="2708275"/>
            <a:ext cx="503238" cy="647700"/>
          </a:xfrm>
          <a:prstGeom prst="downArrow">
            <a:avLst>
              <a:gd name="adj1" fmla="val 50000"/>
              <a:gd name="adj2" fmla="val 32176"/>
            </a:avLst>
          </a:prstGeom>
          <a:solidFill>
            <a:srgbClr val="FFCC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圆角矩形 26625"/>
          <p:cNvSpPr/>
          <p:nvPr/>
        </p:nvSpPr>
        <p:spPr>
          <a:xfrm>
            <a:off x="250825" y="333375"/>
            <a:ext cx="5761038" cy="57467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二、漏极开路输出门电路（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OD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门）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6627" name="文本框 26626"/>
          <p:cNvSpPr txBox="1"/>
          <p:nvPr/>
        </p:nvSpPr>
        <p:spPr>
          <a:xfrm>
            <a:off x="468313" y="1196975"/>
            <a:ext cx="46164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为什么需要</a:t>
            </a:r>
            <a:r>
              <a:rPr lang="en-US" altLang="zh-CN" sz="2400" b="1">
                <a:latin typeface="Times New Roman" panose="02020603050405020304" pitchFamily="2" charset="0"/>
              </a:rPr>
              <a:t>OD</a:t>
            </a:r>
            <a:r>
              <a:rPr lang="zh-CN" altLang="en-US" sz="2400" b="1">
                <a:latin typeface="Times New Roman" panose="02020603050405020304" pitchFamily="2" charset="0"/>
              </a:rPr>
              <a:t>门？</a:t>
            </a:r>
            <a:endParaRPr lang="zh-CN" altLang="en-US" sz="2400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普通与非门输出不能</a:t>
            </a:r>
            <a:endParaRPr lang="zh-CN" altLang="en-US" sz="2400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直接连在一起实现“线与”！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grpSp>
        <p:nvGrpSpPr>
          <p:cNvPr id="26628" name="组合 26627"/>
          <p:cNvGrpSpPr/>
          <p:nvPr/>
        </p:nvGrpSpPr>
        <p:grpSpPr>
          <a:xfrm>
            <a:off x="468313" y="2924175"/>
            <a:ext cx="2784475" cy="2119313"/>
            <a:chOff x="0" y="0"/>
            <a:chExt cx="1754" cy="1335"/>
          </a:xfrm>
        </p:grpSpPr>
        <p:sp>
          <p:nvSpPr>
            <p:cNvPr id="26629" name="文本框 26628"/>
            <p:cNvSpPr txBox="1"/>
            <p:nvPr/>
          </p:nvSpPr>
          <p:spPr>
            <a:xfrm>
              <a:off x="38" y="0"/>
              <a:ext cx="26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A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30" name="文本框 26629"/>
            <p:cNvSpPr txBox="1"/>
            <p:nvPr/>
          </p:nvSpPr>
          <p:spPr>
            <a:xfrm>
              <a:off x="0" y="335"/>
              <a:ext cx="3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B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31" name="文本框 26630"/>
            <p:cNvSpPr txBox="1"/>
            <p:nvPr/>
          </p:nvSpPr>
          <p:spPr>
            <a:xfrm>
              <a:off x="1452" y="363"/>
              <a:ext cx="3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Y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32" name="椭圆 26631"/>
            <p:cNvSpPr/>
            <p:nvPr/>
          </p:nvSpPr>
          <p:spPr>
            <a:xfrm>
              <a:off x="1021" y="299"/>
              <a:ext cx="75" cy="7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3" name="直接连接符 26632"/>
            <p:cNvSpPr/>
            <p:nvPr/>
          </p:nvSpPr>
          <p:spPr>
            <a:xfrm flipH="1">
              <a:off x="265" y="224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直接连接符 26633"/>
            <p:cNvSpPr/>
            <p:nvPr/>
          </p:nvSpPr>
          <p:spPr>
            <a:xfrm flipH="1">
              <a:off x="265" y="447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5" name="流程图: 延期 26634"/>
            <p:cNvSpPr/>
            <p:nvPr/>
          </p:nvSpPr>
          <p:spPr>
            <a:xfrm>
              <a:off x="492" y="112"/>
              <a:ext cx="529" cy="44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6" name="文本框 26635"/>
            <p:cNvSpPr txBox="1"/>
            <p:nvPr/>
          </p:nvSpPr>
          <p:spPr>
            <a:xfrm>
              <a:off x="84" y="635"/>
              <a:ext cx="26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C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37" name="文本框 26636"/>
            <p:cNvSpPr txBox="1"/>
            <p:nvPr/>
          </p:nvSpPr>
          <p:spPr>
            <a:xfrm>
              <a:off x="46" y="970"/>
              <a:ext cx="3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D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38" name="文本框 26637"/>
            <p:cNvSpPr txBox="1"/>
            <p:nvPr/>
          </p:nvSpPr>
          <p:spPr>
            <a:xfrm>
              <a:off x="1332" y="858"/>
              <a:ext cx="3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sz="3200">
                <a:latin typeface="Times New Roman" panose="02020603050405020304" pitchFamily="2" charset="0"/>
              </a:endParaRPr>
            </a:p>
          </p:txBody>
        </p:sp>
        <p:sp>
          <p:nvSpPr>
            <p:cNvPr id="26639" name="椭圆 26638"/>
            <p:cNvSpPr/>
            <p:nvPr/>
          </p:nvSpPr>
          <p:spPr>
            <a:xfrm>
              <a:off x="1067" y="934"/>
              <a:ext cx="75" cy="7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0" name="直接连接符 26639"/>
            <p:cNvSpPr/>
            <p:nvPr/>
          </p:nvSpPr>
          <p:spPr>
            <a:xfrm flipH="1">
              <a:off x="311" y="859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1" name="直接连接符 26640"/>
            <p:cNvSpPr/>
            <p:nvPr/>
          </p:nvSpPr>
          <p:spPr>
            <a:xfrm flipH="1">
              <a:off x="311" y="1082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2" name="直接连接符 26641"/>
            <p:cNvSpPr/>
            <p:nvPr/>
          </p:nvSpPr>
          <p:spPr>
            <a:xfrm flipH="1">
              <a:off x="1143" y="971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3" name="流程图: 延期 26642"/>
            <p:cNvSpPr/>
            <p:nvPr/>
          </p:nvSpPr>
          <p:spPr>
            <a:xfrm>
              <a:off x="538" y="747"/>
              <a:ext cx="529" cy="44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4" name="直接连接符 26643"/>
            <p:cNvSpPr/>
            <p:nvPr/>
          </p:nvSpPr>
          <p:spPr>
            <a:xfrm flipV="1">
              <a:off x="1361" y="317"/>
              <a:ext cx="0" cy="63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5" name="直接连接符 26644"/>
            <p:cNvSpPr/>
            <p:nvPr/>
          </p:nvSpPr>
          <p:spPr>
            <a:xfrm>
              <a:off x="1089" y="317"/>
              <a:ext cx="453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6" name="椭圆 26645"/>
            <p:cNvSpPr/>
            <p:nvPr/>
          </p:nvSpPr>
          <p:spPr>
            <a:xfrm>
              <a:off x="1316" y="272"/>
              <a:ext cx="90" cy="91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26647" name="对象 26646"/>
          <p:cNvGraphicFramePr>
            <a:graphicFrameLocks noChangeAspect="1"/>
          </p:cNvGraphicFramePr>
          <p:nvPr/>
        </p:nvGraphicFramePr>
        <p:xfrm>
          <a:off x="611188" y="5589588"/>
          <a:ext cx="230346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054735" imgH="203200" progId="Equation.3">
                  <p:embed/>
                </p:oleObj>
              </mc:Choice>
              <mc:Fallback>
                <p:oleObj name="" r:id="rId1" imgW="1054735" imgH="2032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1188" y="5589588"/>
                        <a:ext cx="2303462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8" name="组合 26647"/>
          <p:cNvGrpSpPr/>
          <p:nvPr/>
        </p:nvGrpSpPr>
        <p:grpSpPr>
          <a:xfrm>
            <a:off x="2771775" y="4797425"/>
            <a:ext cx="719138" cy="576263"/>
            <a:chOff x="0" y="0"/>
            <a:chExt cx="453" cy="363"/>
          </a:xfrm>
        </p:grpSpPr>
        <p:sp>
          <p:nvSpPr>
            <p:cNvPr id="26649" name="直接连接符 26648"/>
            <p:cNvSpPr/>
            <p:nvPr/>
          </p:nvSpPr>
          <p:spPr>
            <a:xfrm>
              <a:off x="0" y="0"/>
              <a:ext cx="453" cy="36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0" name="直接连接符 26649"/>
            <p:cNvSpPr/>
            <p:nvPr/>
          </p:nvSpPr>
          <p:spPr>
            <a:xfrm flipH="1">
              <a:off x="0" y="0"/>
              <a:ext cx="453" cy="36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6651" name="组合 26650"/>
          <p:cNvGrpSpPr/>
          <p:nvPr/>
        </p:nvGrpSpPr>
        <p:grpSpPr>
          <a:xfrm>
            <a:off x="7092950" y="1268413"/>
            <a:ext cx="360363" cy="3382962"/>
            <a:chOff x="0" y="0"/>
            <a:chExt cx="227" cy="2131"/>
          </a:xfrm>
        </p:grpSpPr>
        <p:sp>
          <p:nvSpPr>
            <p:cNvPr id="26652" name="椭圆 26651"/>
            <p:cNvSpPr/>
            <p:nvPr/>
          </p:nvSpPr>
          <p:spPr>
            <a:xfrm>
              <a:off x="0" y="0"/>
              <a:ext cx="227" cy="31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>
                  <a:latin typeface="Times New Roman" panose="02020603050405020304" pitchFamily="2" charset="0"/>
                </a:rPr>
                <a:t>1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26653" name="椭圆 26652"/>
            <p:cNvSpPr/>
            <p:nvPr/>
          </p:nvSpPr>
          <p:spPr>
            <a:xfrm>
              <a:off x="0" y="1814"/>
              <a:ext cx="227" cy="317"/>
            </a:xfrm>
            <a:prstGeom prst="ellipse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>
                  <a:latin typeface="Times New Roman" panose="02020603050405020304" pitchFamily="2" charset="0"/>
                </a:rPr>
                <a:t>0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</p:grpSp>
      <p:sp>
        <p:nvSpPr>
          <p:cNvPr id="26654" name="动作按钮: 帮助 26653"/>
          <p:cNvSpPr/>
          <p:nvPr/>
        </p:nvSpPr>
        <p:spPr>
          <a:xfrm>
            <a:off x="4284663" y="3284538"/>
            <a:ext cx="1306512" cy="1819275"/>
          </a:xfrm>
          <a:prstGeom prst="actionButtonHelp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6655" name="组合 26654"/>
          <p:cNvGrpSpPr/>
          <p:nvPr/>
        </p:nvGrpSpPr>
        <p:grpSpPr>
          <a:xfrm>
            <a:off x="6516688" y="765175"/>
            <a:ext cx="1060450" cy="4464050"/>
            <a:chOff x="0" y="0"/>
            <a:chExt cx="668" cy="2812"/>
          </a:xfrm>
        </p:grpSpPr>
        <p:grpSp>
          <p:nvGrpSpPr>
            <p:cNvPr id="26656" name="组合 26655"/>
            <p:cNvGrpSpPr/>
            <p:nvPr/>
          </p:nvGrpSpPr>
          <p:grpSpPr>
            <a:xfrm>
              <a:off x="0" y="1496"/>
              <a:ext cx="668" cy="1316"/>
              <a:chOff x="0" y="0"/>
              <a:chExt cx="940" cy="1817"/>
            </a:xfrm>
          </p:grpSpPr>
          <p:sp>
            <p:nvSpPr>
              <p:cNvPr id="26657" name="直接连接符 26656"/>
              <p:cNvSpPr/>
              <p:nvPr/>
            </p:nvSpPr>
            <p:spPr>
              <a:xfrm>
                <a:off x="0" y="1325"/>
                <a:ext cx="200" cy="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8" name="直接连接符 26657"/>
              <p:cNvSpPr/>
              <p:nvPr/>
            </p:nvSpPr>
            <p:spPr>
              <a:xfrm>
                <a:off x="261" y="1164"/>
                <a:ext cx="0" cy="71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9" name="直接连接符 26658"/>
              <p:cNvSpPr/>
              <p:nvPr/>
            </p:nvSpPr>
            <p:spPr>
              <a:xfrm>
                <a:off x="259" y="1020"/>
                <a:ext cx="0" cy="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0" name="直接连接符 26659"/>
              <p:cNvSpPr/>
              <p:nvPr/>
            </p:nvSpPr>
            <p:spPr>
              <a:xfrm>
                <a:off x="261" y="1298"/>
                <a:ext cx="0" cy="71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1" name="直接连接符 26660"/>
              <p:cNvSpPr/>
              <p:nvPr/>
            </p:nvSpPr>
            <p:spPr>
              <a:xfrm>
                <a:off x="264" y="1052"/>
                <a:ext cx="199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2" name="直接连接符 26661"/>
              <p:cNvSpPr/>
              <p:nvPr/>
            </p:nvSpPr>
            <p:spPr>
              <a:xfrm flipV="1">
                <a:off x="264" y="1329"/>
                <a:ext cx="199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3" name="直接连接符 26662"/>
              <p:cNvSpPr/>
              <p:nvPr/>
            </p:nvSpPr>
            <p:spPr>
              <a:xfrm>
                <a:off x="264" y="1195"/>
                <a:ext cx="201" cy="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6664" name="直接连接符 26663"/>
              <p:cNvSpPr/>
              <p:nvPr/>
            </p:nvSpPr>
            <p:spPr>
              <a:xfrm flipV="1">
                <a:off x="457" y="736"/>
                <a:ext cx="0" cy="32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5" name="直接连接符 26664"/>
              <p:cNvSpPr/>
              <p:nvPr/>
            </p:nvSpPr>
            <p:spPr>
              <a:xfrm flipV="1">
                <a:off x="455" y="1325"/>
                <a:ext cx="0" cy="32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6" name="直接连接符 26665"/>
              <p:cNvSpPr/>
              <p:nvPr/>
            </p:nvSpPr>
            <p:spPr>
              <a:xfrm flipV="1">
                <a:off x="344" y="1808"/>
                <a:ext cx="226" cy="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7" name="直接连接符 26666"/>
              <p:cNvSpPr/>
              <p:nvPr/>
            </p:nvSpPr>
            <p:spPr>
              <a:xfrm>
                <a:off x="454" y="1611"/>
                <a:ext cx="0" cy="19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8" name="椭圆 26667"/>
              <p:cNvSpPr/>
              <p:nvPr/>
            </p:nvSpPr>
            <p:spPr>
              <a:xfrm>
                <a:off x="422" y="0"/>
                <a:ext cx="61" cy="63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669" name="直接连接符 26668"/>
              <p:cNvSpPr/>
              <p:nvPr/>
            </p:nvSpPr>
            <p:spPr>
              <a:xfrm>
                <a:off x="445" y="868"/>
                <a:ext cx="42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0" name="椭圆 26669"/>
              <p:cNvSpPr/>
              <p:nvPr/>
            </p:nvSpPr>
            <p:spPr>
              <a:xfrm>
                <a:off x="862" y="823"/>
                <a:ext cx="61" cy="63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671" name="直接连接符 26670"/>
              <p:cNvSpPr/>
              <p:nvPr/>
            </p:nvSpPr>
            <p:spPr>
              <a:xfrm flipH="1">
                <a:off x="198" y="388"/>
                <a:ext cx="0" cy="275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2" name="直接连接符 26671"/>
              <p:cNvSpPr/>
              <p:nvPr/>
            </p:nvSpPr>
            <p:spPr>
              <a:xfrm>
                <a:off x="0" y="394"/>
                <a:ext cx="200" cy="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3" name="直接连接符 26672"/>
              <p:cNvSpPr/>
              <p:nvPr/>
            </p:nvSpPr>
            <p:spPr>
              <a:xfrm>
                <a:off x="261" y="492"/>
                <a:ext cx="0" cy="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4" name="直接连接符 26673"/>
              <p:cNvSpPr/>
              <p:nvPr/>
            </p:nvSpPr>
            <p:spPr>
              <a:xfrm>
                <a:off x="259" y="349"/>
                <a:ext cx="0" cy="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5" name="直接连接符 26674"/>
              <p:cNvSpPr/>
              <p:nvPr/>
            </p:nvSpPr>
            <p:spPr>
              <a:xfrm>
                <a:off x="261" y="627"/>
                <a:ext cx="0" cy="71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6" name="直接连接符 26675"/>
              <p:cNvSpPr/>
              <p:nvPr/>
            </p:nvSpPr>
            <p:spPr>
              <a:xfrm>
                <a:off x="264" y="380"/>
                <a:ext cx="199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7" name="直接连接符 26676"/>
              <p:cNvSpPr/>
              <p:nvPr/>
            </p:nvSpPr>
            <p:spPr>
              <a:xfrm flipV="1">
                <a:off x="264" y="658"/>
                <a:ext cx="199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78" name="直接连接符 26677"/>
              <p:cNvSpPr/>
              <p:nvPr/>
            </p:nvSpPr>
            <p:spPr>
              <a:xfrm>
                <a:off x="264" y="524"/>
                <a:ext cx="201" cy="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6679" name="直接连接符 26678"/>
              <p:cNvSpPr/>
              <p:nvPr/>
            </p:nvSpPr>
            <p:spPr>
              <a:xfrm flipV="1">
                <a:off x="457" y="65"/>
                <a:ext cx="0" cy="32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0" name="直接连接符 26679"/>
              <p:cNvSpPr/>
              <p:nvPr/>
            </p:nvSpPr>
            <p:spPr>
              <a:xfrm flipV="1">
                <a:off x="455" y="653"/>
                <a:ext cx="0" cy="32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1" name="直接连接符 26680"/>
              <p:cNvSpPr/>
              <p:nvPr/>
            </p:nvSpPr>
            <p:spPr>
              <a:xfrm flipH="1">
                <a:off x="205" y="1061"/>
                <a:ext cx="0" cy="27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2" name="文本框 26681"/>
              <p:cNvSpPr txBox="1"/>
              <p:nvPr/>
            </p:nvSpPr>
            <p:spPr>
              <a:xfrm>
                <a:off x="497" y="162"/>
                <a:ext cx="443" cy="5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26683" name="文本框 26682"/>
              <p:cNvSpPr txBox="1"/>
              <p:nvPr/>
            </p:nvSpPr>
            <p:spPr>
              <a:xfrm>
                <a:off x="490" y="596"/>
                <a:ext cx="442" cy="5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26684" name="直接连接符 26683"/>
              <p:cNvSpPr/>
              <p:nvPr/>
            </p:nvSpPr>
            <p:spPr>
              <a:xfrm flipV="1">
                <a:off x="449" y="362"/>
                <a:ext cx="0" cy="169"/>
              </a:xfrm>
              <a:prstGeom prst="line">
                <a:avLst/>
              </a:prstGeom>
              <a:ln w="38100" cap="flat" cmpd="sng">
                <a:solidFill>
                  <a:srgbClr val="00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5" name="直接连接符 26684"/>
              <p:cNvSpPr/>
              <p:nvPr/>
            </p:nvSpPr>
            <p:spPr>
              <a:xfrm flipV="1">
                <a:off x="449" y="1208"/>
                <a:ext cx="0" cy="135"/>
              </a:xfrm>
              <a:prstGeom prst="line">
                <a:avLst/>
              </a:prstGeom>
              <a:ln w="38100" cap="flat" cmpd="sng">
                <a:solidFill>
                  <a:srgbClr val="00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686" name="组合 26685"/>
            <p:cNvGrpSpPr/>
            <p:nvPr/>
          </p:nvGrpSpPr>
          <p:grpSpPr>
            <a:xfrm>
              <a:off x="0" y="0"/>
              <a:ext cx="622" cy="1360"/>
              <a:chOff x="0" y="0"/>
              <a:chExt cx="939" cy="1941"/>
            </a:xfrm>
          </p:grpSpPr>
          <p:sp>
            <p:nvSpPr>
              <p:cNvPr id="26687" name="直接连接符 26686"/>
              <p:cNvSpPr/>
              <p:nvPr/>
            </p:nvSpPr>
            <p:spPr>
              <a:xfrm>
                <a:off x="0" y="1415"/>
                <a:ext cx="199" cy="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8" name="直接连接符 26687"/>
              <p:cNvSpPr/>
              <p:nvPr/>
            </p:nvSpPr>
            <p:spPr>
              <a:xfrm>
                <a:off x="260" y="1243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9" name="直接连接符 26688"/>
              <p:cNvSpPr/>
              <p:nvPr/>
            </p:nvSpPr>
            <p:spPr>
              <a:xfrm>
                <a:off x="259" y="1090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0" name="直接连接符 26689"/>
              <p:cNvSpPr/>
              <p:nvPr/>
            </p:nvSpPr>
            <p:spPr>
              <a:xfrm>
                <a:off x="260" y="1386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1" name="直接连接符 26690"/>
              <p:cNvSpPr/>
              <p:nvPr/>
            </p:nvSpPr>
            <p:spPr>
              <a:xfrm>
                <a:off x="263" y="1124"/>
                <a:ext cx="20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2" name="直接连接符 26691"/>
              <p:cNvSpPr/>
              <p:nvPr/>
            </p:nvSpPr>
            <p:spPr>
              <a:xfrm flipV="1">
                <a:off x="263" y="1420"/>
                <a:ext cx="20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3" name="直接连接符 26692"/>
              <p:cNvSpPr/>
              <p:nvPr/>
            </p:nvSpPr>
            <p:spPr>
              <a:xfrm>
                <a:off x="263" y="1277"/>
                <a:ext cx="202" cy="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6694" name="直接连接符 26693"/>
              <p:cNvSpPr/>
              <p:nvPr/>
            </p:nvSpPr>
            <p:spPr>
              <a:xfrm flipV="1">
                <a:off x="456" y="787"/>
                <a:ext cx="0" cy="34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5" name="直接连接符 26694"/>
              <p:cNvSpPr/>
              <p:nvPr/>
            </p:nvSpPr>
            <p:spPr>
              <a:xfrm flipV="1">
                <a:off x="454" y="1415"/>
                <a:ext cx="0" cy="34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6" name="直接连接符 26695"/>
              <p:cNvSpPr/>
              <p:nvPr/>
            </p:nvSpPr>
            <p:spPr>
              <a:xfrm flipV="1">
                <a:off x="343" y="1931"/>
                <a:ext cx="226" cy="1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7" name="直接连接符 26696"/>
              <p:cNvSpPr/>
              <p:nvPr/>
            </p:nvSpPr>
            <p:spPr>
              <a:xfrm>
                <a:off x="453" y="1721"/>
                <a:ext cx="0" cy="21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98" name="椭圆 26697"/>
              <p:cNvSpPr/>
              <p:nvPr/>
            </p:nvSpPr>
            <p:spPr>
              <a:xfrm>
                <a:off x="421" y="0"/>
                <a:ext cx="61" cy="67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699" name="直接连接符 26698"/>
              <p:cNvSpPr/>
              <p:nvPr/>
            </p:nvSpPr>
            <p:spPr>
              <a:xfrm>
                <a:off x="445" y="928"/>
                <a:ext cx="425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0" name="椭圆 26699"/>
              <p:cNvSpPr/>
              <p:nvPr/>
            </p:nvSpPr>
            <p:spPr>
              <a:xfrm>
                <a:off x="861" y="880"/>
                <a:ext cx="61" cy="67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701" name="直接连接符 26700"/>
              <p:cNvSpPr/>
              <p:nvPr/>
            </p:nvSpPr>
            <p:spPr>
              <a:xfrm flipH="1">
                <a:off x="197" y="415"/>
                <a:ext cx="0" cy="293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2" name="直接连接符 26701"/>
              <p:cNvSpPr/>
              <p:nvPr/>
            </p:nvSpPr>
            <p:spPr>
              <a:xfrm>
                <a:off x="0" y="421"/>
                <a:ext cx="199" cy="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3" name="直接连接符 26702"/>
              <p:cNvSpPr/>
              <p:nvPr/>
            </p:nvSpPr>
            <p:spPr>
              <a:xfrm>
                <a:off x="260" y="526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4" name="直接连接符 26703"/>
              <p:cNvSpPr/>
              <p:nvPr/>
            </p:nvSpPr>
            <p:spPr>
              <a:xfrm>
                <a:off x="259" y="373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5" name="直接连接符 26704"/>
              <p:cNvSpPr/>
              <p:nvPr/>
            </p:nvSpPr>
            <p:spPr>
              <a:xfrm>
                <a:off x="260" y="669"/>
                <a:ext cx="0" cy="7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6" name="直接连接符 26705"/>
              <p:cNvSpPr/>
              <p:nvPr/>
            </p:nvSpPr>
            <p:spPr>
              <a:xfrm>
                <a:off x="263" y="407"/>
                <a:ext cx="20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7" name="直接连接符 26706"/>
              <p:cNvSpPr/>
              <p:nvPr/>
            </p:nvSpPr>
            <p:spPr>
              <a:xfrm flipV="1">
                <a:off x="263" y="703"/>
                <a:ext cx="20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08" name="直接连接符 26707"/>
              <p:cNvSpPr/>
              <p:nvPr/>
            </p:nvSpPr>
            <p:spPr>
              <a:xfrm>
                <a:off x="263" y="560"/>
                <a:ext cx="202" cy="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6709" name="直接连接符 26708"/>
              <p:cNvSpPr/>
              <p:nvPr/>
            </p:nvSpPr>
            <p:spPr>
              <a:xfrm flipV="1">
                <a:off x="456" y="70"/>
                <a:ext cx="0" cy="34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10" name="直接连接符 26709"/>
              <p:cNvSpPr/>
              <p:nvPr/>
            </p:nvSpPr>
            <p:spPr>
              <a:xfrm flipV="1">
                <a:off x="454" y="698"/>
                <a:ext cx="0" cy="34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11" name="直接连接符 26710"/>
              <p:cNvSpPr/>
              <p:nvPr/>
            </p:nvSpPr>
            <p:spPr>
              <a:xfrm flipH="1">
                <a:off x="205" y="1134"/>
                <a:ext cx="0" cy="29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12" name="文本框 26711"/>
              <p:cNvSpPr txBox="1"/>
              <p:nvPr/>
            </p:nvSpPr>
            <p:spPr>
              <a:xfrm>
                <a:off x="497" y="173"/>
                <a:ext cx="442" cy="5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26713" name="文本框 26712"/>
              <p:cNvSpPr txBox="1"/>
              <p:nvPr/>
            </p:nvSpPr>
            <p:spPr>
              <a:xfrm>
                <a:off x="488" y="637"/>
                <a:ext cx="443" cy="5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endParaRPr sz="3200" b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26714" name="直接连接符 26713"/>
              <p:cNvSpPr/>
              <p:nvPr/>
            </p:nvSpPr>
            <p:spPr>
              <a:xfrm flipV="1">
                <a:off x="448" y="387"/>
                <a:ext cx="0" cy="180"/>
              </a:xfrm>
              <a:prstGeom prst="line">
                <a:avLst/>
              </a:prstGeom>
              <a:ln w="38100" cap="flat" cmpd="sng">
                <a:solidFill>
                  <a:srgbClr val="00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715" name="直接连接符 26714"/>
              <p:cNvSpPr/>
              <p:nvPr/>
            </p:nvSpPr>
            <p:spPr>
              <a:xfrm flipV="1">
                <a:off x="448" y="1290"/>
                <a:ext cx="0" cy="145"/>
              </a:xfrm>
              <a:prstGeom prst="line">
                <a:avLst/>
              </a:prstGeom>
              <a:ln w="38100" cap="flat" cmpd="sng">
                <a:solidFill>
                  <a:srgbClr val="00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716" name="直接连接符 26715"/>
            <p:cNvSpPr/>
            <p:nvPr/>
          </p:nvSpPr>
          <p:spPr>
            <a:xfrm flipV="1">
              <a:off x="499" y="635"/>
              <a:ext cx="0" cy="14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717" name="未知"/>
          <p:cNvSpPr/>
          <p:nvPr/>
        </p:nvSpPr>
        <p:spPr>
          <a:xfrm>
            <a:off x="7019925" y="836613"/>
            <a:ext cx="431800" cy="4248150"/>
          </a:xfrm>
          <a:custGeom>
            <a:avLst/>
            <a:gdLst/>
            <a:ahLst/>
            <a:cxnLst/>
            <a:pathLst>
              <a:path w="923" h="1898">
                <a:moveTo>
                  <a:pt x="113" y="0"/>
                </a:moveTo>
                <a:cubicBezTo>
                  <a:pt x="56" y="185"/>
                  <a:pt x="0" y="371"/>
                  <a:pt x="113" y="499"/>
                </a:cubicBezTo>
                <a:cubicBezTo>
                  <a:pt x="226" y="627"/>
                  <a:pt x="665" y="567"/>
                  <a:pt x="794" y="771"/>
                </a:cubicBezTo>
                <a:cubicBezTo>
                  <a:pt x="923" y="975"/>
                  <a:pt x="869" y="1550"/>
                  <a:pt x="884" y="1724"/>
                </a:cubicBezTo>
                <a:cubicBezTo>
                  <a:pt x="899" y="1898"/>
                  <a:pt x="891" y="1856"/>
                  <a:pt x="884" y="1815"/>
                </a:cubicBezTo>
              </a:path>
            </a:pathLst>
          </a:custGeom>
          <a:noFill/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718" name="圆角矩形标注 26717"/>
          <p:cNvSpPr/>
          <p:nvPr/>
        </p:nvSpPr>
        <p:spPr>
          <a:xfrm>
            <a:off x="8101013" y="1341438"/>
            <a:ext cx="719137" cy="3600450"/>
          </a:xfrm>
          <a:prstGeom prst="wedgeRoundRectCallout">
            <a:avLst>
              <a:gd name="adj1" fmla="val -127042"/>
              <a:gd name="adj2" fmla="val 38843"/>
              <a:gd name="adj3" fmla="val 16667"/>
            </a:avLst>
          </a:prstGeom>
          <a:solidFill>
            <a:schemeClr val="hlink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400" b="1">
                <a:latin typeface="Times New Roman" panose="02020603050405020304" pitchFamily="2" charset="0"/>
              </a:rPr>
              <a:t>产生一个很大的电流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sp>
        <p:nvSpPr>
          <p:cNvPr id="26719" name="文本框 26718"/>
          <p:cNvSpPr txBox="1"/>
          <p:nvPr/>
        </p:nvSpPr>
        <p:spPr>
          <a:xfrm>
            <a:off x="2916238" y="6092825"/>
            <a:ext cx="5545137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需将一个</a:t>
            </a:r>
            <a:r>
              <a:rPr lang="en-US" altLang="zh-CN" sz="2400" b="1">
                <a:latin typeface="Times New Roman" panose="02020603050405020304" pitchFamily="2" charset="0"/>
              </a:rPr>
              <a:t>MOS</a:t>
            </a:r>
            <a:r>
              <a:rPr lang="zh-CN" altLang="en-US" sz="2400" b="1">
                <a:latin typeface="Times New Roman" panose="02020603050405020304" pitchFamily="2" charset="0"/>
              </a:rPr>
              <a:t>管的漏极开路构成</a:t>
            </a:r>
            <a:r>
              <a:rPr lang="en-US" altLang="zh-CN" sz="2400" b="1">
                <a:latin typeface="Times New Roman" panose="02020603050405020304" pitchFamily="2" charset="0"/>
              </a:rPr>
              <a:t>OD</a:t>
            </a:r>
            <a:r>
              <a:rPr lang="zh-CN" altLang="en-US" sz="2400" b="1">
                <a:latin typeface="Times New Roman" panose="02020603050405020304" pitchFamily="2" charset="0"/>
              </a:rPr>
              <a:t>门。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nimBg="1"/>
      <p:bldP spid="26627" grpId="0"/>
      <p:bldP spid="26718" grpId="0" animBg="1"/>
      <p:bldP spid="267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50" name="组合 27649"/>
          <p:cNvGrpSpPr/>
          <p:nvPr/>
        </p:nvGrpSpPr>
        <p:grpSpPr>
          <a:xfrm>
            <a:off x="2700338" y="3213100"/>
            <a:ext cx="2952750" cy="1295400"/>
            <a:chOff x="0" y="0"/>
            <a:chExt cx="2086" cy="998"/>
          </a:xfrm>
        </p:grpSpPr>
        <p:sp>
          <p:nvSpPr>
            <p:cNvPr id="27651" name="椭圆 27650"/>
            <p:cNvSpPr/>
            <p:nvPr/>
          </p:nvSpPr>
          <p:spPr>
            <a:xfrm>
              <a:off x="0" y="317"/>
              <a:ext cx="816" cy="681"/>
            </a:xfrm>
            <a:prstGeom prst="ellipse">
              <a:avLst/>
            </a:prstGeom>
            <a:solidFill>
              <a:srgbClr val="FF3399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2" name="线形标注 1 27651"/>
            <p:cNvSpPr/>
            <p:nvPr/>
          </p:nvSpPr>
          <p:spPr>
            <a:xfrm>
              <a:off x="1088" y="0"/>
              <a:ext cx="998" cy="576"/>
            </a:xfrm>
            <a:prstGeom prst="borderCallout1">
              <a:avLst>
                <a:gd name="adj1" fmla="val 108333"/>
                <a:gd name="adj2" fmla="val 92787"/>
                <a:gd name="adj3" fmla="val 108333"/>
                <a:gd name="adj4" fmla="val -25551"/>
              </a:avLst>
            </a:prstGeom>
            <a:solidFill>
              <a:srgbClr val="33CCFF"/>
            </a:solidFill>
            <a:ln w="952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lang="zh-CN" altLang="en-US" sz="2400">
                  <a:latin typeface="Times New Roman" panose="02020603050405020304" pitchFamily="2" charset="0"/>
                </a:rPr>
                <a:t>需加一上拉电阻</a:t>
              </a:r>
              <a:endParaRPr lang="zh-CN" altLang="en-US" sz="2400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27653" name="组合 27652"/>
          <p:cNvGrpSpPr/>
          <p:nvPr/>
        </p:nvGrpSpPr>
        <p:grpSpPr>
          <a:xfrm>
            <a:off x="1042988" y="549275"/>
            <a:ext cx="6329362" cy="1227138"/>
            <a:chOff x="0" y="0"/>
            <a:chExt cx="3987" cy="773"/>
          </a:xfrm>
        </p:grpSpPr>
        <p:graphicFrame>
          <p:nvGraphicFramePr>
            <p:cNvPr id="27654" name="对象 27653"/>
            <p:cNvGraphicFramePr>
              <a:graphicFrameLocks noChangeAspect="1"/>
            </p:cNvGraphicFramePr>
            <p:nvPr/>
          </p:nvGraphicFramePr>
          <p:xfrm>
            <a:off x="2450" y="226"/>
            <a:ext cx="153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711200" imgH="203200" progId="Equation.3">
                    <p:embed/>
                  </p:oleObj>
                </mc:Choice>
                <mc:Fallback>
                  <p:oleObj name="" r:id="rId1" imgW="711200" imgH="2032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50" y="226"/>
                          <a:ext cx="1537" cy="4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55" name="组合 27654"/>
            <p:cNvGrpSpPr/>
            <p:nvPr/>
          </p:nvGrpSpPr>
          <p:grpSpPr>
            <a:xfrm>
              <a:off x="0" y="0"/>
              <a:ext cx="1905" cy="773"/>
              <a:chOff x="0" y="0"/>
              <a:chExt cx="1905" cy="773"/>
            </a:xfrm>
          </p:grpSpPr>
          <p:sp>
            <p:nvSpPr>
              <p:cNvPr id="27656" name="文本框 27655"/>
              <p:cNvSpPr txBox="1"/>
              <p:nvPr/>
            </p:nvSpPr>
            <p:spPr>
              <a:xfrm>
                <a:off x="46" y="0"/>
                <a:ext cx="317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A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sp>
            <p:nvSpPr>
              <p:cNvPr id="27657" name="文本框 27656"/>
              <p:cNvSpPr txBox="1"/>
              <p:nvPr/>
            </p:nvSpPr>
            <p:spPr>
              <a:xfrm>
                <a:off x="0" y="408"/>
                <a:ext cx="40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B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sp>
            <p:nvSpPr>
              <p:cNvPr id="27658" name="文本框 27657"/>
              <p:cNvSpPr txBox="1"/>
              <p:nvPr/>
            </p:nvSpPr>
            <p:spPr>
              <a:xfrm>
                <a:off x="1543" y="272"/>
                <a:ext cx="36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Y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grpSp>
            <p:nvGrpSpPr>
              <p:cNvPr id="27659" name="组合 27658"/>
              <p:cNvGrpSpPr/>
              <p:nvPr/>
            </p:nvGrpSpPr>
            <p:grpSpPr>
              <a:xfrm>
                <a:off x="318" y="136"/>
                <a:ext cx="1270" cy="544"/>
                <a:chOff x="0" y="0"/>
                <a:chExt cx="1270" cy="544"/>
              </a:xfrm>
            </p:grpSpPr>
            <p:grpSp>
              <p:nvGrpSpPr>
                <p:cNvPr id="27660" name="组合 27659"/>
                <p:cNvGrpSpPr/>
                <p:nvPr/>
              </p:nvGrpSpPr>
              <p:grpSpPr>
                <a:xfrm>
                  <a:off x="635" y="136"/>
                  <a:ext cx="136" cy="227"/>
                  <a:chOff x="0" y="0"/>
                  <a:chExt cx="227" cy="318"/>
                </a:xfrm>
              </p:grpSpPr>
              <p:sp>
                <p:nvSpPr>
                  <p:cNvPr id="27661" name="菱形 27660"/>
                  <p:cNvSpPr/>
                  <p:nvPr/>
                </p:nvSpPr>
                <p:spPr>
                  <a:xfrm>
                    <a:off x="0" y="0"/>
                    <a:ext cx="227" cy="317"/>
                  </a:xfrm>
                  <a:prstGeom prst="diamond">
                    <a:avLst/>
                  </a:prstGeom>
                  <a:noFill/>
                  <a:ln w="38100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7662" name="直接连接符 27661"/>
                  <p:cNvSpPr/>
                  <p:nvPr/>
                </p:nvSpPr>
                <p:spPr>
                  <a:xfrm flipV="1">
                    <a:off x="0" y="318"/>
                    <a:ext cx="227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663" name="椭圆 27662"/>
                <p:cNvSpPr/>
                <p:nvPr/>
              </p:nvSpPr>
              <p:spPr>
                <a:xfrm>
                  <a:off x="907" y="227"/>
                  <a:ext cx="90" cy="91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7664" name="直接连接符 27663"/>
                <p:cNvSpPr/>
                <p:nvPr/>
              </p:nvSpPr>
              <p:spPr>
                <a:xfrm flipH="1">
                  <a:off x="0" y="136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665" name="直接连接符 27664"/>
                <p:cNvSpPr/>
                <p:nvPr/>
              </p:nvSpPr>
              <p:spPr>
                <a:xfrm flipH="1">
                  <a:off x="0" y="408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666" name="直接连接符 27665"/>
                <p:cNvSpPr/>
                <p:nvPr/>
              </p:nvSpPr>
              <p:spPr>
                <a:xfrm flipH="1">
                  <a:off x="998" y="272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667" name="流程图: 延期 27666"/>
                <p:cNvSpPr/>
                <p:nvPr/>
              </p:nvSpPr>
              <p:spPr>
                <a:xfrm>
                  <a:off x="272" y="0"/>
                  <a:ext cx="635" cy="544"/>
                </a:xfrm>
                <a:prstGeom prst="flowChartDelay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27668" name="文本框 27667"/>
          <p:cNvSpPr txBox="1"/>
          <p:nvPr/>
        </p:nvSpPr>
        <p:spPr>
          <a:xfrm>
            <a:off x="1835150" y="1916113"/>
            <a:ext cx="42497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2" charset="0"/>
              </a:rPr>
              <a:t>OD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2" charset="0"/>
              </a:rPr>
              <a:t>输出与非门的逻辑符号及函数式</a:t>
            </a:r>
            <a:endParaRPr lang="zh-CN" altLang="en-US" sz="2000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7669" name="文本框 27668"/>
          <p:cNvSpPr txBox="1"/>
          <p:nvPr/>
        </p:nvSpPr>
        <p:spPr>
          <a:xfrm>
            <a:off x="395288" y="2492375"/>
            <a:ext cx="6553200" cy="579438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OD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门输出端可直接连接实现线与。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7670" name="对象 27669"/>
          <p:cNvGraphicFramePr>
            <a:graphicFrameLocks noChangeAspect="1"/>
          </p:cNvGraphicFramePr>
          <p:nvPr/>
        </p:nvGraphicFramePr>
        <p:xfrm>
          <a:off x="4716463" y="4868863"/>
          <a:ext cx="38306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562100" imgH="457200" progId="Equation.3">
                  <p:embed/>
                </p:oleObj>
              </mc:Choice>
              <mc:Fallback>
                <p:oleObj name="" r:id="rId3" imgW="1562100" imgH="457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4868863"/>
                        <a:ext cx="3830637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71" name="组合 27670"/>
          <p:cNvGrpSpPr/>
          <p:nvPr/>
        </p:nvGrpSpPr>
        <p:grpSpPr>
          <a:xfrm>
            <a:off x="1042988" y="3213100"/>
            <a:ext cx="2952750" cy="3076575"/>
            <a:chOff x="0" y="0"/>
            <a:chExt cx="1860" cy="1938"/>
          </a:xfrm>
        </p:grpSpPr>
        <p:sp>
          <p:nvSpPr>
            <p:cNvPr id="27672" name="文本框 27671"/>
            <p:cNvSpPr txBox="1"/>
            <p:nvPr/>
          </p:nvSpPr>
          <p:spPr>
            <a:xfrm>
              <a:off x="46" y="77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A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27673" name="文本框 27672"/>
            <p:cNvSpPr txBox="1"/>
            <p:nvPr/>
          </p:nvSpPr>
          <p:spPr>
            <a:xfrm>
              <a:off x="0" y="1015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B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27674" name="文本框 27673"/>
            <p:cNvSpPr txBox="1"/>
            <p:nvPr/>
          </p:nvSpPr>
          <p:spPr>
            <a:xfrm>
              <a:off x="1542" y="1043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Y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grpSp>
          <p:nvGrpSpPr>
            <p:cNvPr id="27675" name="组合 27674"/>
            <p:cNvGrpSpPr/>
            <p:nvPr/>
          </p:nvGrpSpPr>
          <p:grpSpPr>
            <a:xfrm>
              <a:off x="795" y="904"/>
              <a:ext cx="113" cy="186"/>
              <a:chOff x="0" y="0"/>
              <a:chExt cx="227" cy="318"/>
            </a:xfrm>
          </p:grpSpPr>
          <p:sp>
            <p:nvSpPr>
              <p:cNvPr id="27676" name="菱形 27675"/>
              <p:cNvSpPr/>
              <p:nvPr/>
            </p:nvSpPr>
            <p:spPr>
              <a:xfrm>
                <a:off x="0" y="0"/>
                <a:ext cx="227" cy="317"/>
              </a:xfrm>
              <a:prstGeom prst="diamond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77" name="直接连接符 27676"/>
              <p:cNvSpPr/>
              <p:nvPr/>
            </p:nvSpPr>
            <p:spPr>
              <a:xfrm flipV="1">
                <a:off x="0" y="318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678" name="椭圆 27677"/>
            <p:cNvSpPr/>
            <p:nvPr/>
          </p:nvSpPr>
          <p:spPr>
            <a:xfrm>
              <a:off x="1021" y="979"/>
              <a:ext cx="75" cy="7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9" name="直接连接符 27678"/>
            <p:cNvSpPr/>
            <p:nvPr/>
          </p:nvSpPr>
          <p:spPr>
            <a:xfrm flipH="1">
              <a:off x="265" y="904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直接连接符 27679"/>
            <p:cNvSpPr/>
            <p:nvPr/>
          </p:nvSpPr>
          <p:spPr>
            <a:xfrm flipH="1">
              <a:off x="265" y="1127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流程图: 延期 27680"/>
            <p:cNvSpPr/>
            <p:nvPr/>
          </p:nvSpPr>
          <p:spPr>
            <a:xfrm>
              <a:off x="492" y="792"/>
              <a:ext cx="529" cy="44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2" name="文本框 27681"/>
            <p:cNvSpPr txBox="1"/>
            <p:nvPr/>
          </p:nvSpPr>
          <p:spPr>
            <a:xfrm>
              <a:off x="91" y="136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C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27683" name="文本框 27682"/>
            <p:cNvSpPr txBox="1"/>
            <p:nvPr/>
          </p:nvSpPr>
          <p:spPr>
            <a:xfrm>
              <a:off x="46" y="1650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D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27684" name="文本框 27683"/>
            <p:cNvSpPr txBox="1"/>
            <p:nvPr/>
          </p:nvSpPr>
          <p:spPr>
            <a:xfrm>
              <a:off x="1332" y="1538"/>
              <a:ext cx="3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sz="3200">
                <a:latin typeface="Times New Roman" panose="02020603050405020304" pitchFamily="2" charset="0"/>
              </a:endParaRPr>
            </a:p>
          </p:txBody>
        </p:sp>
        <p:grpSp>
          <p:nvGrpSpPr>
            <p:cNvPr id="27685" name="组合 27684"/>
            <p:cNvGrpSpPr/>
            <p:nvPr/>
          </p:nvGrpSpPr>
          <p:grpSpPr>
            <a:xfrm>
              <a:off x="311" y="1427"/>
              <a:ext cx="1059" cy="447"/>
              <a:chOff x="0" y="0"/>
              <a:chExt cx="1270" cy="544"/>
            </a:xfrm>
          </p:grpSpPr>
          <p:grpSp>
            <p:nvGrpSpPr>
              <p:cNvPr id="27686" name="组合 27685"/>
              <p:cNvGrpSpPr/>
              <p:nvPr/>
            </p:nvGrpSpPr>
            <p:grpSpPr>
              <a:xfrm>
                <a:off x="635" y="136"/>
                <a:ext cx="136" cy="227"/>
                <a:chOff x="0" y="0"/>
                <a:chExt cx="227" cy="318"/>
              </a:xfrm>
            </p:grpSpPr>
            <p:sp>
              <p:nvSpPr>
                <p:cNvPr id="27687" name="菱形 27686"/>
                <p:cNvSpPr/>
                <p:nvPr/>
              </p:nvSpPr>
              <p:spPr>
                <a:xfrm>
                  <a:off x="0" y="0"/>
                  <a:ext cx="227" cy="317"/>
                </a:xfrm>
                <a:prstGeom prst="diamond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7688" name="直接连接符 27687"/>
                <p:cNvSpPr/>
                <p:nvPr/>
              </p:nvSpPr>
              <p:spPr>
                <a:xfrm flipV="1">
                  <a:off x="0" y="318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89" name="椭圆 27688"/>
              <p:cNvSpPr/>
              <p:nvPr/>
            </p:nvSpPr>
            <p:spPr>
              <a:xfrm>
                <a:off x="907" y="227"/>
                <a:ext cx="90" cy="91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90" name="直接连接符 27689"/>
              <p:cNvSpPr/>
              <p:nvPr/>
            </p:nvSpPr>
            <p:spPr>
              <a:xfrm flipH="1">
                <a:off x="0" y="1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1" name="直接连接符 27690"/>
              <p:cNvSpPr/>
              <p:nvPr/>
            </p:nvSpPr>
            <p:spPr>
              <a:xfrm flipH="1">
                <a:off x="0" y="408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2" name="直接连接符 27691"/>
              <p:cNvSpPr/>
              <p:nvPr/>
            </p:nvSpPr>
            <p:spPr>
              <a:xfrm flipH="1">
                <a:off x="998" y="272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3" name="流程图: 延期 27692"/>
              <p:cNvSpPr/>
              <p:nvPr/>
            </p:nvSpPr>
            <p:spPr>
              <a:xfrm>
                <a:off x="272" y="0"/>
                <a:ext cx="635" cy="544"/>
              </a:xfrm>
              <a:prstGeom prst="flowChartDelay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7694" name="直接连接符 27693"/>
            <p:cNvSpPr/>
            <p:nvPr/>
          </p:nvSpPr>
          <p:spPr>
            <a:xfrm flipV="1">
              <a:off x="1361" y="635"/>
              <a:ext cx="0" cy="99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直接连接符 27694"/>
            <p:cNvSpPr/>
            <p:nvPr/>
          </p:nvSpPr>
          <p:spPr>
            <a:xfrm>
              <a:off x="1089" y="997"/>
              <a:ext cx="58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椭圆 27695"/>
            <p:cNvSpPr/>
            <p:nvPr/>
          </p:nvSpPr>
          <p:spPr>
            <a:xfrm>
              <a:off x="1316" y="952"/>
              <a:ext cx="90" cy="91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97" name="流程图: 延期 27696"/>
            <p:cNvSpPr/>
            <p:nvPr/>
          </p:nvSpPr>
          <p:spPr>
            <a:xfrm>
              <a:off x="1224" y="861"/>
              <a:ext cx="273" cy="22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98" name="直接连接符 27697"/>
            <p:cNvSpPr/>
            <p:nvPr/>
          </p:nvSpPr>
          <p:spPr>
            <a:xfrm flipV="1">
              <a:off x="1361" y="136"/>
              <a:ext cx="0" cy="18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文本框 27698"/>
            <p:cNvSpPr txBox="1"/>
            <p:nvPr/>
          </p:nvSpPr>
          <p:spPr>
            <a:xfrm>
              <a:off x="1361" y="0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DD</a:t>
              </a:r>
              <a:endParaRPr lang="en-US" altLang="zh-CN" sz="2400" b="1" baseline="-25000">
                <a:latin typeface="Times New Roman" panose="02020603050405020304" pitchFamily="2" charset="0"/>
              </a:endParaRPr>
            </a:p>
          </p:txBody>
        </p:sp>
        <p:sp>
          <p:nvSpPr>
            <p:cNvPr id="27700" name="文本框 27699"/>
            <p:cNvSpPr txBox="1"/>
            <p:nvPr/>
          </p:nvSpPr>
          <p:spPr>
            <a:xfrm>
              <a:off x="1361" y="317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L</a:t>
              </a:r>
              <a:endParaRPr lang="en-US" altLang="zh-CN" sz="2400" b="1" baseline="-25000">
                <a:latin typeface="Times New Roman" panose="02020603050405020304" pitchFamily="2" charset="0"/>
              </a:endParaRPr>
            </a:p>
          </p:txBody>
        </p:sp>
        <p:sp>
          <p:nvSpPr>
            <p:cNvPr id="27701" name="未知"/>
            <p:cNvSpPr/>
            <p:nvPr/>
          </p:nvSpPr>
          <p:spPr>
            <a:xfrm>
              <a:off x="1292" y="317"/>
              <a:ext cx="136" cy="317"/>
            </a:xfrm>
            <a:custGeom>
              <a:avLst/>
              <a:gdLst/>
              <a:ahLst/>
              <a:cxnLst/>
              <a:pathLst>
                <a:path w="106" h="226">
                  <a:moveTo>
                    <a:pt x="53" y="0"/>
                  </a:moveTo>
                  <a:cubicBezTo>
                    <a:pt x="79" y="19"/>
                    <a:pt x="106" y="38"/>
                    <a:pt x="98" y="45"/>
                  </a:cubicBezTo>
                  <a:cubicBezTo>
                    <a:pt x="90" y="52"/>
                    <a:pt x="7" y="38"/>
                    <a:pt x="7" y="45"/>
                  </a:cubicBezTo>
                  <a:cubicBezTo>
                    <a:pt x="7" y="52"/>
                    <a:pt x="98" y="83"/>
                    <a:pt x="98" y="90"/>
                  </a:cubicBezTo>
                  <a:cubicBezTo>
                    <a:pt x="98" y="97"/>
                    <a:pt x="7" y="82"/>
                    <a:pt x="7" y="90"/>
                  </a:cubicBezTo>
                  <a:cubicBezTo>
                    <a:pt x="7" y="98"/>
                    <a:pt x="98" y="128"/>
                    <a:pt x="98" y="136"/>
                  </a:cubicBezTo>
                  <a:cubicBezTo>
                    <a:pt x="98" y="144"/>
                    <a:pt x="7" y="129"/>
                    <a:pt x="7" y="136"/>
                  </a:cubicBezTo>
                  <a:cubicBezTo>
                    <a:pt x="7" y="143"/>
                    <a:pt x="98" y="174"/>
                    <a:pt x="98" y="181"/>
                  </a:cubicBezTo>
                  <a:cubicBezTo>
                    <a:pt x="98" y="188"/>
                    <a:pt x="14" y="174"/>
                    <a:pt x="7" y="181"/>
                  </a:cubicBezTo>
                  <a:cubicBezTo>
                    <a:pt x="0" y="188"/>
                    <a:pt x="45" y="219"/>
                    <a:pt x="53" y="22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8" grpId="0"/>
      <p:bldP spid="2766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4" name="组合 28673"/>
          <p:cNvGrpSpPr/>
          <p:nvPr/>
        </p:nvGrpSpPr>
        <p:grpSpPr>
          <a:xfrm>
            <a:off x="827088" y="4365625"/>
            <a:ext cx="7489825" cy="1735138"/>
            <a:chOff x="0" y="0"/>
            <a:chExt cx="4718" cy="1093"/>
          </a:xfrm>
        </p:grpSpPr>
        <p:sp>
          <p:nvSpPr>
            <p:cNvPr id="28675" name="文本框 28674"/>
            <p:cNvSpPr txBox="1"/>
            <p:nvPr/>
          </p:nvSpPr>
          <p:spPr>
            <a:xfrm>
              <a:off x="0" y="0"/>
              <a:ext cx="4718" cy="1093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 lIns="0" rIns="0">
              <a:spAutoFit/>
            </a:bodyPr>
            <a:p>
              <a:pPr algn="just">
                <a:lnSpc>
                  <a:spcPct val="150000"/>
                </a:lnSpc>
              </a:pPr>
              <a:r>
                <a:rPr lang="en-US" altLang="zh-CN" sz="2400" b="1">
                  <a:latin typeface="Times New Roman" panose="02020603050405020304" pitchFamily="2" charset="0"/>
                </a:rPr>
                <a:t>①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C</a:t>
              </a:r>
              <a:r>
                <a:rPr lang="zh-CN" altLang="en-US" sz="2400" b="1">
                  <a:latin typeface="Times New Roman" panose="02020603050405020304" pitchFamily="2" charset="0"/>
                </a:rPr>
                <a:t>＝</a:t>
              </a:r>
              <a:r>
                <a:rPr lang="en-US" altLang="zh-CN" sz="2400" b="1">
                  <a:latin typeface="Times New Roman" panose="02020603050405020304" pitchFamily="2" charset="0"/>
                </a:rPr>
                <a:t>0</a:t>
              </a:r>
              <a:r>
                <a:rPr lang="zh-CN" altLang="en-US" sz="2400" b="1">
                  <a:latin typeface="Times New Roman" panose="02020603050405020304" pitchFamily="2" charset="0"/>
                </a:rPr>
                <a:t>、       ，即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C </a:t>
              </a:r>
              <a:r>
                <a:rPr lang="zh-CN" altLang="en-US" sz="2400" b="1">
                  <a:latin typeface="Times New Roman" panose="02020603050405020304" pitchFamily="2" charset="0"/>
                </a:rPr>
                <a:t>端为低电平（</a:t>
              </a:r>
              <a:r>
                <a:rPr lang="en-US" altLang="zh-CN" sz="2400" b="1">
                  <a:latin typeface="Times New Roman" panose="02020603050405020304" pitchFamily="2" charset="0"/>
                </a:rPr>
                <a:t>0V</a:t>
              </a:r>
              <a:r>
                <a:rPr lang="zh-CN" altLang="en-US" sz="2400" b="1">
                  <a:latin typeface="Times New Roman" panose="02020603050405020304" pitchFamily="2" charset="0"/>
                </a:rPr>
                <a:t>）、    端为高电平</a:t>
              </a:r>
              <a:endParaRPr lang="zh-CN" altLang="en-US" sz="2400" b="1">
                <a:latin typeface="Times New Roman" panose="02020603050405020304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400" b="1">
                  <a:latin typeface="Times New Roman" panose="02020603050405020304" pitchFamily="2" charset="0"/>
                </a:rPr>
                <a:t>（＋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DD</a:t>
              </a:r>
              <a:r>
                <a:rPr lang="zh-CN" altLang="en-US" sz="2400" b="1">
                  <a:latin typeface="Times New Roman" panose="02020603050405020304" pitchFamily="2" charset="0"/>
                </a:rPr>
                <a:t>）时， </a:t>
              </a:r>
              <a:r>
                <a:rPr lang="en-US" altLang="zh-CN" sz="2400" b="1">
                  <a:latin typeface="Times New Roman" panose="02020603050405020304" pitchFamily="2" charset="0"/>
                </a:rPr>
                <a:t>T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1</a:t>
              </a:r>
              <a:r>
                <a:rPr lang="zh-CN" altLang="en-US" sz="2400" b="1">
                  <a:latin typeface="Times New Roman" panose="02020603050405020304" pitchFamily="2" charset="0"/>
                </a:rPr>
                <a:t>和</a:t>
              </a:r>
              <a:r>
                <a:rPr lang="en-US" altLang="zh-CN" sz="2400" b="1">
                  <a:latin typeface="Times New Roman" panose="02020603050405020304" pitchFamily="2" charset="0"/>
                </a:rPr>
                <a:t>T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2</a:t>
              </a:r>
              <a:r>
                <a:rPr lang="zh-CN" altLang="en-US" sz="2400" b="1">
                  <a:latin typeface="Times New Roman" panose="02020603050405020304" pitchFamily="2" charset="0"/>
                </a:rPr>
                <a:t>都不具备开启条件而截止，输</a:t>
              </a:r>
              <a:endParaRPr lang="zh-CN" altLang="en-US" sz="2400" b="1">
                <a:latin typeface="Times New Roman" panose="02020603050405020304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400" b="1">
                  <a:latin typeface="Times New Roman" panose="02020603050405020304" pitchFamily="2" charset="0"/>
                </a:rPr>
                <a:t>入和输出之间相当于开关断开一样，呈高阻态。</a:t>
              </a:r>
              <a:endParaRPr lang="zh-CN" altLang="en-US" sz="2400" b="1">
                <a:latin typeface="Times New Roman" panose="02020603050405020304" pitchFamily="2" charset="0"/>
              </a:endParaRPr>
            </a:p>
          </p:txBody>
        </p:sp>
        <p:graphicFrame>
          <p:nvGraphicFramePr>
            <p:cNvPr id="28676" name="对象 28675"/>
            <p:cNvGraphicFramePr>
              <a:graphicFrameLocks noChangeAspect="1"/>
            </p:cNvGraphicFramePr>
            <p:nvPr/>
          </p:nvGraphicFramePr>
          <p:xfrm>
            <a:off x="664" y="107"/>
            <a:ext cx="53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" imgW="393700" imgH="177800" progId="Equation.3">
                    <p:embed/>
                  </p:oleObj>
                </mc:Choice>
                <mc:Fallback>
                  <p:oleObj name="" r:id="rId1" imgW="393700" imgH="1778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64" y="107"/>
                          <a:ext cx="53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对象 28676"/>
            <p:cNvGraphicFramePr>
              <a:graphicFrameLocks noChangeAspect="1"/>
            </p:cNvGraphicFramePr>
            <p:nvPr/>
          </p:nvGraphicFramePr>
          <p:xfrm>
            <a:off x="3385" y="107"/>
            <a:ext cx="25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190500" imgH="177800" progId="Equation.3">
                    <p:embed/>
                  </p:oleObj>
                </mc:Choice>
                <mc:Fallback>
                  <p:oleObj name="" r:id="rId3" imgW="190500" imgH="1778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85" y="107"/>
                          <a:ext cx="259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8" name="圆角矩形 28677"/>
          <p:cNvSpPr/>
          <p:nvPr/>
        </p:nvSpPr>
        <p:spPr>
          <a:xfrm>
            <a:off x="539750" y="333375"/>
            <a:ext cx="3097213" cy="57467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三、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传输门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28679" name="图片 286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25538"/>
            <a:ext cx="7489825" cy="3054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8" name="组合 29697"/>
          <p:cNvGrpSpPr/>
          <p:nvPr/>
        </p:nvGrpSpPr>
        <p:grpSpPr>
          <a:xfrm>
            <a:off x="4572000" y="1412875"/>
            <a:ext cx="3744913" cy="3378200"/>
            <a:chOff x="0" y="0"/>
            <a:chExt cx="2268" cy="2128"/>
          </a:xfrm>
        </p:grpSpPr>
        <p:sp>
          <p:nvSpPr>
            <p:cNvPr id="29699" name="文本框 29698"/>
            <p:cNvSpPr txBox="1"/>
            <p:nvPr/>
          </p:nvSpPr>
          <p:spPr>
            <a:xfrm>
              <a:off x="0" y="0"/>
              <a:ext cx="2268" cy="212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lIns="0" rIns="0">
              <a:spAutoFit/>
            </a:bodyPr>
            <a:p>
              <a:pPr algn="just">
                <a:lnSpc>
                  <a:spcPct val="150000"/>
                </a:lnSpc>
              </a:pPr>
              <a:r>
                <a:rPr lang="en-US" altLang="zh-CN" sz="2400" b="1">
                  <a:latin typeface="Times New Roman" panose="02020603050405020304" pitchFamily="2" charset="0"/>
                </a:rPr>
                <a:t>②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C</a:t>
              </a:r>
              <a:r>
                <a:rPr lang="zh-CN" altLang="en-US" sz="2400" b="1">
                  <a:latin typeface="Times New Roman" panose="02020603050405020304" pitchFamily="2" charset="0"/>
                </a:rPr>
                <a:t>＝</a:t>
              </a:r>
              <a:r>
                <a:rPr lang="en-US" altLang="zh-CN" sz="2400" b="1">
                  <a:latin typeface="Times New Roman" panose="02020603050405020304" pitchFamily="2" charset="0"/>
                </a:rPr>
                <a:t>1</a:t>
              </a:r>
              <a:r>
                <a:rPr lang="zh-CN" altLang="en-US" sz="2400" b="1">
                  <a:latin typeface="Times New Roman" panose="02020603050405020304" pitchFamily="2" charset="0"/>
                </a:rPr>
                <a:t>、         ，即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C </a:t>
              </a:r>
              <a:r>
                <a:rPr lang="zh-CN" altLang="en-US" sz="2400" b="1">
                  <a:latin typeface="Times New Roman" panose="02020603050405020304" pitchFamily="2" charset="0"/>
                </a:rPr>
                <a:t>端为高电平（＋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DD</a:t>
              </a:r>
              <a:r>
                <a:rPr lang="zh-CN" altLang="en-US" sz="2400" b="1">
                  <a:latin typeface="Times New Roman" panose="02020603050405020304" pitchFamily="2" charset="0"/>
                </a:rPr>
                <a:t>）、     端为低电平（</a:t>
              </a:r>
              <a:r>
                <a:rPr lang="en-US" altLang="zh-CN" sz="2400" b="1">
                  <a:latin typeface="Times New Roman" panose="02020603050405020304" pitchFamily="2" charset="0"/>
                </a:rPr>
                <a:t>0V</a:t>
              </a:r>
              <a:r>
                <a:rPr lang="zh-CN" altLang="en-US" sz="2400" b="1">
                  <a:latin typeface="Times New Roman" panose="02020603050405020304" pitchFamily="2" charset="0"/>
                </a:rPr>
                <a:t>）时，</a:t>
              </a:r>
              <a:r>
                <a:rPr lang="en-US" altLang="zh-CN" sz="2400" b="1">
                  <a:latin typeface="Times New Roman" panose="02020603050405020304" pitchFamily="2" charset="0"/>
                </a:rPr>
                <a:t>T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1</a:t>
              </a:r>
              <a:r>
                <a:rPr lang="zh-CN" altLang="en-US" sz="2400" b="1">
                  <a:latin typeface="Times New Roman" panose="02020603050405020304" pitchFamily="2" charset="0"/>
                </a:rPr>
                <a:t>和</a:t>
              </a:r>
              <a:r>
                <a:rPr lang="en-US" altLang="zh-CN" sz="2400" b="1">
                  <a:latin typeface="Times New Roman" panose="02020603050405020304" pitchFamily="2" charset="0"/>
                </a:rPr>
                <a:t>T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2</a:t>
              </a:r>
              <a:r>
                <a:rPr lang="zh-CN" altLang="en-US" sz="2400" b="1">
                  <a:latin typeface="Times New Roman" panose="02020603050405020304" pitchFamily="2" charset="0"/>
                </a:rPr>
                <a:t>至少有一个导通，输入和输出之间相当于开关接通一样，呈低阻态，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2" charset="0"/>
                </a:rPr>
                <a:t>o</a:t>
              </a:r>
              <a:r>
                <a:rPr lang="zh-CN" altLang="en-US" sz="2400" b="1">
                  <a:latin typeface="Times New Roman" panose="02020603050405020304" pitchFamily="2" charset="0"/>
                </a:rPr>
                <a:t>＝</a:t>
              </a:r>
              <a:r>
                <a:rPr lang="en-US" altLang="zh-CN" sz="2400" b="1" i="1">
                  <a:latin typeface="Times New Roman" panose="02020603050405020304" pitchFamily="2" charset="0"/>
                </a:rPr>
                <a:t>v</a:t>
              </a:r>
              <a:r>
                <a:rPr lang="en-US" altLang="zh-CN" sz="2400" b="1" i="1" baseline="-25000">
                  <a:latin typeface="Times New Roman" panose="02020603050405020304" pitchFamily="2" charset="0"/>
                </a:rPr>
                <a:t>i </a:t>
              </a:r>
              <a:r>
                <a:rPr lang="zh-CN" altLang="en-US" sz="2400" b="1">
                  <a:latin typeface="Times New Roman" panose="02020603050405020304" pitchFamily="2" charset="0"/>
                </a:rPr>
                <a:t>。</a:t>
              </a:r>
              <a:endParaRPr lang="zh-CN" altLang="en-US" sz="2400" b="1">
                <a:latin typeface="Times New Roman" panose="02020603050405020304" pitchFamily="2" charset="0"/>
              </a:endParaRPr>
            </a:p>
          </p:txBody>
        </p:sp>
        <p:graphicFrame>
          <p:nvGraphicFramePr>
            <p:cNvPr id="29700" name="对象 29699"/>
            <p:cNvGraphicFramePr>
              <a:graphicFrameLocks noChangeAspect="1"/>
            </p:cNvGraphicFramePr>
            <p:nvPr/>
          </p:nvGraphicFramePr>
          <p:xfrm>
            <a:off x="680" y="136"/>
            <a:ext cx="681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" imgW="419100" imgH="177800" progId="Equation.3">
                    <p:embed/>
                  </p:oleObj>
                </mc:Choice>
                <mc:Fallback>
                  <p:oleObj name="" r:id="rId1" imgW="419100" imgH="1778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80" y="136"/>
                          <a:ext cx="681" cy="260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1" name="对象 29700"/>
            <p:cNvGraphicFramePr>
              <a:graphicFrameLocks noChangeAspect="1"/>
            </p:cNvGraphicFramePr>
            <p:nvPr/>
          </p:nvGraphicFramePr>
          <p:xfrm>
            <a:off x="1724" y="453"/>
            <a:ext cx="36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3" imgW="190500" imgH="177800" progId="Equation.3">
                    <p:embed/>
                  </p:oleObj>
                </mc:Choice>
                <mc:Fallback>
                  <p:oleObj name="" r:id="rId3" imgW="190500" imgH="1778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24" y="453"/>
                          <a:ext cx="363" cy="277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9702" name="图片 297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" y="1125538"/>
            <a:ext cx="3613150" cy="446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22" name="组合 30721"/>
          <p:cNvGrpSpPr/>
          <p:nvPr/>
        </p:nvGrpSpPr>
        <p:grpSpPr>
          <a:xfrm>
            <a:off x="1116013" y="404813"/>
            <a:ext cx="5400675" cy="3600450"/>
            <a:chOff x="0" y="0"/>
            <a:chExt cx="3402" cy="2268"/>
          </a:xfrm>
        </p:grpSpPr>
        <p:grpSp>
          <p:nvGrpSpPr>
            <p:cNvPr id="30723" name="组合 30722"/>
            <p:cNvGrpSpPr/>
            <p:nvPr/>
          </p:nvGrpSpPr>
          <p:grpSpPr>
            <a:xfrm>
              <a:off x="227" y="112"/>
              <a:ext cx="2994" cy="2156"/>
              <a:chOff x="0" y="0"/>
              <a:chExt cx="2994" cy="2156"/>
            </a:xfrm>
          </p:grpSpPr>
          <p:grpSp>
            <p:nvGrpSpPr>
              <p:cNvPr id="30724" name="组合 30723"/>
              <p:cNvGrpSpPr/>
              <p:nvPr/>
            </p:nvGrpSpPr>
            <p:grpSpPr>
              <a:xfrm>
                <a:off x="953" y="251"/>
                <a:ext cx="409" cy="318"/>
                <a:chOff x="0" y="0"/>
                <a:chExt cx="409" cy="318"/>
              </a:xfrm>
            </p:grpSpPr>
            <p:sp>
              <p:nvSpPr>
                <p:cNvPr id="30725" name="流程图: 摘录 30724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26" name="椭圆 30725"/>
                <p:cNvSpPr/>
                <p:nvPr/>
              </p:nvSpPr>
              <p:spPr>
                <a:xfrm>
                  <a:off x="317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0727" name="组合 30726"/>
              <p:cNvGrpSpPr/>
              <p:nvPr/>
            </p:nvGrpSpPr>
            <p:grpSpPr>
              <a:xfrm>
                <a:off x="907" y="1566"/>
                <a:ext cx="386" cy="318"/>
                <a:chOff x="0" y="0"/>
                <a:chExt cx="386" cy="318"/>
              </a:xfrm>
            </p:grpSpPr>
            <p:sp>
              <p:nvSpPr>
                <p:cNvPr id="30728" name="流程图: 摘录 30727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29" name="椭圆 30728"/>
                <p:cNvSpPr/>
                <p:nvPr/>
              </p:nvSpPr>
              <p:spPr>
                <a:xfrm>
                  <a:off x="294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0730" name="组合 30729"/>
              <p:cNvGrpSpPr/>
              <p:nvPr/>
            </p:nvGrpSpPr>
            <p:grpSpPr>
              <a:xfrm>
                <a:off x="1905" y="296"/>
                <a:ext cx="590" cy="590"/>
                <a:chOff x="0" y="0"/>
                <a:chExt cx="590" cy="590"/>
              </a:xfrm>
            </p:grpSpPr>
            <p:sp>
              <p:nvSpPr>
                <p:cNvPr id="30731" name="矩形 30730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32" name="椭圆 30731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33" name="文本框 30732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1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734" name="组合 30733"/>
              <p:cNvGrpSpPr/>
              <p:nvPr/>
            </p:nvGrpSpPr>
            <p:grpSpPr>
              <a:xfrm>
                <a:off x="1905" y="1385"/>
                <a:ext cx="590" cy="590"/>
                <a:chOff x="0" y="0"/>
                <a:chExt cx="590" cy="590"/>
              </a:xfrm>
            </p:grpSpPr>
            <p:sp>
              <p:nvSpPr>
                <p:cNvPr id="30735" name="矩形 30734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36" name="椭圆 30735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37" name="文本框 30736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2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sp>
            <p:nvSpPr>
              <p:cNvPr id="30738" name="直接连接符 30737"/>
              <p:cNvSpPr/>
              <p:nvPr/>
            </p:nvSpPr>
            <p:spPr>
              <a:xfrm>
                <a:off x="0" y="24"/>
                <a:ext cx="267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9" name="直接连接符 30738"/>
              <p:cNvSpPr/>
              <p:nvPr/>
            </p:nvSpPr>
            <p:spPr>
              <a:xfrm flipV="1">
                <a:off x="2177" y="24"/>
                <a:ext cx="0" cy="27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0" name="直接连接符 30739"/>
              <p:cNvSpPr/>
              <p:nvPr/>
            </p:nvSpPr>
            <p:spPr>
              <a:xfrm flipV="1">
                <a:off x="2177" y="886"/>
                <a:ext cx="0" cy="49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1" name="直接连接符 30740"/>
              <p:cNvSpPr/>
              <p:nvPr/>
            </p:nvSpPr>
            <p:spPr>
              <a:xfrm>
                <a:off x="45" y="659"/>
                <a:ext cx="18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2" name="直接连接符 30741"/>
              <p:cNvSpPr/>
              <p:nvPr/>
            </p:nvSpPr>
            <p:spPr>
              <a:xfrm>
                <a:off x="680" y="24"/>
                <a:ext cx="0" cy="36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3" name="直接连接符 30742"/>
              <p:cNvSpPr/>
              <p:nvPr/>
            </p:nvSpPr>
            <p:spPr>
              <a:xfrm>
                <a:off x="680" y="387"/>
                <a:ext cx="273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4" name="直接连接符 30743"/>
              <p:cNvSpPr/>
              <p:nvPr/>
            </p:nvSpPr>
            <p:spPr>
              <a:xfrm>
                <a:off x="1361" y="410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5" name="直接连接符 30744"/>
              <p:cNvSpPr/>
              <p:nvPr/>
            </p:nvSpPr>
            <p:spPr>
              <a:xfrm>
                <a:off x="1588" y="410"/>
                <a:ext cx="0" cy="70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6" name="直接连接符 30745"/>
              <p:cNvSpPr/>
              <p:nvPr/>
            </p:nvSpPr>
            <p:spPr>
              <a:xfrm>
                <a:off x="1588" y="1113"/>
                <a:ext cx="58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7" name="直接连接符 30746"/>
              <p:cNvSpPr/>
              <p:nvPr/>
            </p:nvSpPr>
            <p:spPr>
              <a:xfrm>
                <a:off x="590" y="659"/>
                <a:ext cx="0" cy="104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8" name="直接连接符 30747"/>
              <p:cNvSpPr/>
              <p:nvPr/>
            </p:nvSpPr>
            <p:spPr>
              <a:xfrm>
                <a:off x="590" y="1702"/>
                <a:ext cx="31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9" name="直接连接符 30748"/>
              <p:cNvSpPr/>
              <p:nvPr/>
            </p:nvSpPr>
            <p:spPr>
              <a:xfrm>
                <a:off x="1315" y="1725"/>
                <a:ext cx="59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0" name="直接连接符 30749"/>
              <p:cNvSpPr/>
              <p:nvPr/>
            </p:nvSpPr>
            <p:spPr>
              <a:xfrm>
                <a:off x="2449" y="614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1" name="直接连接符 30750"/>
              <p:cNvSpPr/>
              <p:nvPr/>
            </p:nvSpPr>
            <p:spPr>
              <a:xfrm>
                <a:off x="2767" y="614"/>
                <a:ext cx="0" cy="1088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2" name="直接连接符 30751"/>
              <p:cNvSpPr/>
              <p:nvPr/>
            </p:nvSpPr>
            <p:spPr>
              <a:xfrm>
                <a:off x="2449" y="1702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3" name="直接连接符 30752"/>
              <p:cNvSpPr/>
              <p:nvPr/>
            </p:nvSpPr>
            <p:spPr>
              <a:xfrm>
                <a:off x="2767" y="1158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4" name="直接连接符 30753"/>
              <p:cNvSpPr/>
              <p:nvPr/>
            </p:nvSpPr>
            <p:spPr>
              <a:xfrm>
                <a:off x="2676" y="24"/>
                <a:ext cx="0" cy="213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5" name="直接连接符 30754"/>
              <p:cNvSpPr/>
              <p:nvPr/>
            </p:nvSpPr>
            <p:spPr>
              <a:xfrm>
                <a:off x="2177" y="1974"/>
                <a:ext cx="0" cy="18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6" name="直接连接符 30755"/>
              <p:cNvSpPr/>
              <p:nvPr/>
            </p:nvSpPr>
            <p:spPr>
              <a:xfrm>
                <a:off x="2177" y="2156"/>
                <a:ext cx="49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7" name="流程图: 联系 30756"/>
              <p:cNvSpPr/>
              <p:nvPr/>
            </p:nvSpPr>
            <p:spPr>
              <a:xfrm>
                <a:off x="657" y="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8" name="流程图: 联系 30757"/>
              <p:cNvSpPr/>
              <p:nvPr/>
            </p:nvSpPr>
            <p:spPr>
              <a:xfrm>
                <a:off x="2153" y="2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9" name="流程图: 联系 30758"/>
              <p:cNvSpPr/>
              <p:nvPr/>
            </p:nvSpPr>
            <p:spPr>
              <a:xfrm>
                <a:off x="566" y="637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0" name="流程图: 联系 30759"/>
              <p:cNvSpPr/>
              <p:nvPr/>
            </p:nvSpPr>
            <p:spPr>
              <a:xfrm>
                <a:off x="2153" y="109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1" name="流程图: 联系 30760"/>
              <p:cNvSpPr/>
              <p:nvPr/>
            </p:nvSpPr>
            <p:spPr>
              <a:xfrm>
                <a:off x="2745" y="1136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0762" name="文本框 30761"/>
            <p:cNvSpPr txBox="1"/>
            <p:nvPr/>
          </p:nvSpPr>
          <p:spPr>
            <a:xfrm>
              <a:off x="0" y="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A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0763" name="文本框 30762"/>
            <p:cNvSpPr txBox="1"/>
            <p:nvPr/>
          </p:nvSpPr>
          <p:spPr>
            <a:xfrm>
              <a:off x="0" y="63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B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0764" name="文本框 30763"/>
            <p:cNvSpPr txBox="1"/>
            <p:nvPr/>
          </p:nvSpPr>
          <p:spPr>
            <a:xfrm>
              <a:off x="3130" y="131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Y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0765" name="组合 30764"/>
          <p:cNvGrpSpPr/>
          <p:nvPr/>
        </p:nvGrpSpPr>
        <p:grpSpPr>
          <a:xfrm>
            <a:off x="684213" y="4941888"/>
            <a:ext cx="7561262" cy="576262"/>
            <a:chOff x="0" y="0"/>
            <a:chExt cx="4763" cy="363"/>
          </a:xfrm>
        </p:grpSpPr>
        <p:sp>
          <p:nvSpPr>
            <p:cNvPr id="30766" name="圆角矩形 30765"/>
            <p:cNvSpPr/>
            <p:nvPr/>
          </p:nvSpPr>
          <p:spPr>
            <a:xfrm>
              <a:off x="0" y="0"/>
              <a:ext cx="4763" cy="363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r>
                <a:rPr lang="en-US" altLang="zh-CN" b="1">
                  <a:latin typeface="Times New Roman" panose="02020603050405020304" pitchFamily="2" charset="0"/>
                </a:rPr>
                <a:t>A=1</a:t>
              </a:r>
              <a:r>
                <a:rPr lang="zh-CN" altLang="en-US" b="1">
                  <a:latin typeface="Times New Roman" panose="02020603050405020304" pitchFamily="2" charset="0"/>
                </a:rPr>
                <a:t>、</a:t>
              </a:r>
              <a:r>
                <a:rPr lang="en-US" altLang="zh-CN" b="1">
                  <a:latin typeface="Times New Roman" panose="02020603050405020304" pitchFamily="2" charset="0"/>
                </a:rPr>
                <a:t>B=0</a:t>
              </a:r>
              <a:r>
                <a:rPr lang="zh-CN" altLang="en-US" b="1">
                  <a:latin typeface="Times New Roman" panose="02020603050405020304" pitchFamily="2" charset="0"/>
                </a:rPr>
                <a:t>时，</a:t>
              </a:r>
              <a:r>
                <a:rPr lang="en-US" altLang="zh-CN" b="1">
                  <a:latin typeface="Times New Roman" panose="02020603050405020304" pitchFamily="2" charset="0"/>
                </a:rPr>
                <a:t>TG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1</a:t>
              </a:r>
              <a:r>
                <a:rPr lang="zh-CN" altLang="en-US" b="1">
                  <a:latin typeface="Times New Roman" panose="02020603050405020304" pitchFamily="2" charset="0"/>
                </a:rPr>
                <a:t>截止，</a:t>
              </a:r>
              <a:r>
                <a:rPr lang="en-US" altLang="zh-CN" b="1">
                  <a:latin typeface="Times New Roman" panose="02020603050405020304" pitchFamily="2" charset="0"/>
                </a:rPr>
                <a:t>TG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2</a:t>
              </a:r>
              <a:r>
                <a:rPr lang="zh-CN" altLang="en-US" b="1">
                  <a:latin typeface="Times New Roman" panose="02020603050405020304" pitchFamily="2" charset="0"/>
                </a:rPr>
                <a:t>导通，</a:t>
              </a:r>
              <a:r>
                <a:rPr lang="en-US" altLang="zh-CN" b="1">
                  <a:latin typeface="Times New Roman" panose="02020603050405020304" pitchFamily="2" charset="0"/>
                </a:rPr>
                <a:t>Y=B  =1;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30767" name="矩形 30766"/>
            <p:cNvSpPr/>
            <p:nvPr/>
          </p:nvSpPr>
          <p:spPr>
            <a:xfrm>
              <a:off x="4037" y="0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Times New Roman" panose="02020603050405020304" pitchFamily="2" charset="0"/>
                </a:rPr>
                <a:t>′</a:t>
              </a:r>
              <a:endParaRPr lang="en-US" altLang="zh-CN"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746" name="组合 31745"/>
          <p:cNvGrpSpPr/>
          <p:nvPr/>
        </p:nvGrpSpPr>
        <p:grpSpPr>
          <a:xfrm>
            <a:off x="1116013" y="404813"/>
            <a:ext cx="5400675" cy="3600450"/>
            <a:chOff x="0" y="0"/>
            <a:chExt cx="3402" cy="2268"/>
          </a:xfrm>
        </p:grpSpPr>
        <p:grpSp>
          <p:nvGrpSpPr>
            <p:cNvPr id="31747" name="组合 31746"/>
            <p:cNvGrpSpPr/>
            <p:nvPr/>
          </p:nvGrpSpPr>
          <p:grpSpPr>
            <a:xfrm>
              <a:off x="227" y="112"/>
              <a:ext cx="2994" cy="2156"/>
              <a:chOff x="0" y="0"/>
              <a:chExt cx="2994" cy="2156"/>
            </a:xfrm>
          </p:grpSpPr>
          <p:grpSp>
            <p:nvGrpSpPr>
              <p:cNvPr id="31748" name="组合 31747"/>
              <p:cNvGrpSpPr/>
              <p:nvPr/>
            </p:nvGrpSpPr>
            <p:grpSpPr>
              <a:xfrm>
                <a:off x="953" y="251"/>
                <a:ext cx="409" cy="318"/>
                <a:chOff x="0" y="0"/>
                <a:chExt cx="409" cy="318"/>
              </a:xfrm>
            </p:grpSpPr>
            <p:sp>
              <p:nvSpPr>
                <p:cNvPr id="31749" name="流程图: 摘录 31748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50" name="椭圆 31749"/>
                <p:cNvSpPr/>
                <p:nvPr/>
              </p:nvSpPr>
              <p:spPr>
                <a:xfrm>
                  <a:off x="317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1751" name="组合 31750"/>
              <p:cNvGrpSpPr/>
              <p:nvPr/>
            </p:nvGrpSpPr>
            <p:grpSpPr>
              <a:xfrm>
                <a:off x="907" y="1566"/>
                <a:ext cx="386" cy="318"/>
                <a:chOff x="0" y="0"/>
                <a:chExt cx="386" cy="318"/>
              </a:xfrm>
            </p:grpSpPr>
            <p:sp>
              <p:nvSpPr>
                <p:cNvPr id="31752" name="流程图: 摘录 31751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53" name="椭圆 31752"/>
                <p:cNvSpPr/>
                <p:nvPr/>
              </p:nvSpPr>
              <p:spPr>
                <a:xfrm>
                  <a:off x="294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1754" name="组合 31753"/>
              <p:cNvGrpSpPr/>
              <p:nvPr/>
            </p:nvGrpSpPr>
            <p:grpSpPr>
              <a:xfrm>
                <a:off x="1905" y="296"/>
                <a:ext cx="590" cy="590"/>
                <a:chOff x="0" y="0"/>
                <a:chExt cx="590" cy="590"/>
              </a:xfrm>
            </p:grpSpPr>
            <p:sp>
              <p:nvSpPr>
                <p:cNvPr id="31755" name="矩形 31754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56" name="椭圆 31755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57" name="文本框 31756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1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1758" name="组合 31757"/>
              <p:cNvGrpSpPr/>
              <p:nvPr/>
            </p:nvGrpSpPr>
            <p:grpSpPr>
              <a:xfrm>
                <a:off x="1905" y="1385"/>
                <a:ext cx="590" cy="590"/>
                <a:chOff x="0" y="0"/>
                <a:chExt cx="590" cy="590"/>
              </a:xfrm>
            </p:grpSpPr>
            <p:sp>
              <p:nvSpPr>
                <p:cNvPr id="31759" name="矩形 31758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60" name="椭圆 31759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61" name="文本框 31760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2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sp>
            <p:nvSpPr>
              <p:cNvPr id="31762" name="直接连接符 31761"/>
              <p:cNvSpPr/>
              <p:nvPr/>
            </p:nvSpPr>
            <p:spPr>
              <a:xfrm>
                <a:off x="0" y="24"/>
                <a:ext cx="267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" name="直接连接符 31762"/>
              <p:cNvSpPr/>
              <p:nvPr/>
            </p:nvSpPr>
            <p:spPr>
              <a:xfrm flipV="1">
                <a:off x="2177" y="24"/>
                <a:ext cx="0" cy="27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" name="直接连接符 31763"/>
              <p:cNvSpPr/>
              <p:nvPr/>
            </p:nvSpPr>
            <p:spPr>
              <a:xfrm flipV="1">
                <a:off x="2177" y="886"/>
                <a:ext cx="0" cy="49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" name="直接连接符 31764"/>
              <p:cNvSpPr/>
              <p:nvPr/>
            </p:nvSpPr>
            <p:spPr>
              <a:xfrm>
                <a:off x="45" y="659"/>
                <a:ext cx="18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6" name="直接连接符 31765"/>
              <p:cNvSpPr/>
              <p:nvPr/>
            </p:nvSpPr>
            <p:spPr>
              <a:xfrm>
                <a:off x="680" y="24"/>
                <a:ext cx="0" cy="36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7" name="直接连接符 31766"/>
              <p:cNvSpPr/>
              <p:nvPr/>
            </p:nvSpPr>
            <p:spPr>
              <a:xfrm>
                <a:off x="680" y="387"/>
                <a:ext cx="273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8" name="直接连接符 31767"/>
              <p:cNvSpPr/>
              <p:nvPr/>
            </p:nvSpPr>
            <p:spPr>
              <a:xfrm>
                <a:off x="1361" y="410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9" name="直接连接符 31768"/>
              <p:cNvSpPr/>
              <p:nvPr/>
            </p:nvSpPr>
            <p:spPr>
              <a:xfrm>
                <a:off x="1588" y="410"/>
                <a:ext cx="0" cy="70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0" name="直接连接符 31769"/>
              <p:cNvSpPr/>
              <p:nvPr/>
            </p:nvSpPr>
            <p:spPr>
              <a:xfrm>
                <a:off x="1588" y="1113"/>
                <a:ext cx="58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1" name="直接连接符 31770"/>
              <p:cNvSpPr/>
              <p:nvPr/>
            </p:nvSpPr>
            <p:spPr>
              <a:xfrm>
                <a:off x="590" y="659"/>
                <a:ext cx="0" cy="104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2" name="直接连接符 31771"/>
              <p:cNvSpPr/>
              <p:nvPr/>
            </p:nvSpPr>
            <p:spPr>
              <a:xfrm>
                <a:off x="590" y="1702"/>
                <a:ext cx="31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3" name="直接连接符 31772"/>
              <p:cNvSpPr/>
              <p:nvPr/>
            </p:nvSpPr>
            <p:spPr>
              <a:xfrm>
                <a:off x="1315" y="1725"/>
                <a:ext cx="59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4" name="直接连接符 31773"/>
              <p:cNvSpPr/>
              <p:nvPr/>
            </p:nvSpPr>
            <p:spPr>
              <a:xfrm>
                <a:off x="2449" y="614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5" name="直接连接符 31774"/>
              <p:cNvSpPr/>
              <p:nvPr/>
            </p:nvSpPr>
            <p:spPr>
              <a:xfrm>
                <a:off x="2767" y="614"/>
                <a:ext cx="0" cy="1088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6" name="直接连接符 31775"/>
              <p:cNvSpPr/>
              <p:nvPr/>
            </p:nvSpPr>
            <p:spPr>
              <a:xfrm>
                <a:off x="2449" y="1702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7" name="直接连接符 31776"/>
              <p:cNvSpPr/>
              <p:nvPr/>
            </p:nvSpPr>
            <p:spPr>
              <a:xfrm>
                <a:off x="2767" y="1158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8" name="直接连接符 31777"/>
              <p:cNvSpPr/>
              <p:nvPr/>
            </p:nvSpPr>
            <p:spPr>
              <a:xfrm>
                <a:off x="2676" y="24"/>
                <a:ext cx="0" cy="213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9" name="直接连接符 31778"/>
              <p:cNvSpPr/>
              <p:nvPr/>
            </p:nvSpPr>
            <p:spPr>
              <a:xfrm>
                <a:off x="2177" y="1974"/>
                <a:ext cx="0" cy="18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0" name="直接连接符 31779"/>
              <p:cNvSpPr/>
              <p:nvPr/>
            </p:nvSpPr>
            <p:spPr>
              <a:xfrm>
                <a:off x="2177" y="2156"/>
                <a:ext cx="49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1" name="流程图: 联系 31780"/>
              <p:cNvSpPr/>
              <p:nvPr/>
            </p:nvSpPr>
            <p:spPr>
              <a:xfrm>
                <a:off x="657" y="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2" name="流程图: 联系 31781"/>
              <p:cNvSpPr/>
              <p:nvPr/>
            </p:nvSpPr>
            <p:spPr>
              <a:xfrm>
                <a:off x="2153" y="2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3" name="流程图: 联系 31782"/>
              <p:cNvSpPr/>
              <p:nvPr/>
            </p:nvSpPr>
            <p:spPr>
              <a:xfrm>
                <a:off x="566" y="637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4" name="流程图: 联系 31783"/>
              <p:cNvSpPr/>
              <p:nvPr/>
            </p:nvSpPr>
            <p:spPr>
              <a:xfrm>
                <a:off x="2153" y="109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85" name="流程图: 联系 31784"/>
              <p:cNvSpPr/>
              <p:nvPr/>
            </p:nvSpPr>
            <p:spPr>
              <a:xfrm>
                <a:off x="2745" y="1136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786" name="文本框 31785"/>
            <p:cNvSpPr txBox="1"/>
            <p:nvPr/>
          </p:nvSpPr>
          <p:spPr>
            <a:xfrm>
              <a:off x="0" y="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A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1787" name="文本框 31786"/>
            <p:cNvSpPr txBox="1"/>
            <p:nvPr/>
          </p:nvSpPr>
          <p:spPr>
            <a:xfrm>
              <a:off x="0" y="63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B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1788" name="文本框 31787"/>
            <p:cNvSpPr txBox="1"/>
            <p:nvPr/>
          </p:nvSpPr>
          <p:spPr>
            <a:xfrm>
              <a:off x="3130" y="131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Y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</p:grpSp>
      <p:sp>
        <p:nvSpPr>
          <p:cNvPr id="31789" name="圆角矩形 31788"/>
          <p:cNvSpPr/>
          <p:nvPr/>
        </p:nvSpPr>
        <p:spPr>
          <a:xfrm>
            <a:off x="684213" y="4941888"/>
            <a:ext cx="7561262" cy="5762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r>
              <a:rPr lang="en-US" altLang="zh-CN" b="1">
                <a:latin typeface="Times New Roman" panose="02020603050405020304" pitchFamily="2" charset="0"/>
              </a:rPr>
              <a:t>A=0</a:t>
            </a:r>
            <a:r>
              <a:rPr lang="zh-CN" altLang="en-US" b="1">
                <a:latin typeface="Times New Roman" panose="02020603050405020304" pitchFamily="2" charset="0"/>
              </a:rPr>
              <a:t>、</a:t>
            </a:r>
            <a:r>
              <a:rPr lang="en-US" altLang="zh-CN" b="1">
                <a:latin typeface="Times New Roman" panose="02020603050405020304" pitchFamily="2" charset="0"/>
              </a:rPr>
              <a:t>B=1</a:t>
            </a:r>
            <a:r>
              <a:rPr lang="zh-CN" altLang="en-US" b="1">
                <a:latin typeface="Times New Roman" panose="02020603050405020304" pitchFamily="2" charset="0"/>
              </a:rPr>
              <a:t>时，</a:t>
            </a:r>
            <a:r>
              <a:rPr lang="en-US" altLang="zh-CN" b="1">
                <a:latin typeface="Times New Roman" panose="02020603050405020304" pitchFamily="2" charset="0"/>
              </a:rPr>
              <a:t>TG</a:t>
            </a:r>
            <a:r>
              <a:rPr lang="en-US" altLang="zh-CN" b="1" baseline="-25000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截止，</a:t>
            </a:r>
            <a:r>
              <a:rPr lang="en-US" altLang="zh-CN" b="1">
                <a:latin typeface="Times New Roman" panose="02020603050405020304" pitchFamily="2" charset="0"/>
              </a:rPr>
              <a:t>TG</a:t>
            </a:r>
            <a:r>
              <a:rPr lang="en-US" altLang="zh-CN" b="1" baseline="-25000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导通，</a:t>
            </a:r>
            <a:r>
              <a:rPr lang="en-US" altLang="zh-CN" b="1">
                <a:latin typeface="Times New Roman" panose="02020603050405020304" pitchFamily="2" charset="0"/>
              </a:rPr>
              <a:t>Y=B =1;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70" name="组合 32769"/>
          <p:cNvGrpSpPr/>
          <p:nvPr/>
        </p:nvGrpSpPr>
        <p:grpSpPr>
          <a:xfrm>
            <a:off x="1116013" y="404813"/>
            <a:ext cx="5400675" cy="3600450"/>
            <a:chOff x="0" y="0"/>
            <a:chExt cx="3402" cy="2268"/>
          </a:xfrm>
        </p:grpSpPr>
        <p:grpSp>
          <p:nvGrpSpPr>
            <p:cNvPr id="32771" name="组合 32770"/>
            <p:cNvGrpSpPr/>
            <p:nvPr/>
          </p:nvGrpSpPr>
          <p:grpSpPr>
            <a:xfrm>
              <a:off x="227" y="112"/>
              <a:ext cx="2994" cy="2156"/>
              <a:chOff x="0" y="0"/>
              <a:chExt cx="2994" cy="2156"/>
            </a:xfrm>
          </p:grpSpPr>
          <p:grpSp>
            <p:nvGrpSpPr>
              <p:cNvPr id="32772" name="组合 32771"/>
              <p:cNvGrpSpPr/>
              <p:nvPr/>
            </p:nvGrpSpPr>
            <p:grpSpPr>
              <a:xfrm>
                <a:off x="953" y="251"/>
                <a:ext cx="409" cy="318"/>
                <a:chOff x="0" y="0"/>
                <a:chExt cx="409" cy="318"/>
              </a:xfrm>
            </p:grpSpPr>
            <p:sp>
              <p:nvSpPr>
                <p:cNvPr id="32773" name="流程图: 摘录 32772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74" name="椭圆 32773"/>
                <p:cNvSpPr/>
                <p:nvPr/>
              </p:nvSpPr>
              <p:spPr>
                <a:xfrm>
                  <a:off x="317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2775" name="组合 32774"/>
              <p:cNvGrpSpPr/>
              <p:nvPr/>
            </p:nvGrpSpPr>
            <p:grpSpPr>
              <a:xfrm>
                <a:off x="907" y="1566"/>
                <a:ext cx="386" cy="318"/>
                <a:chOff x="0" y="0"/>
                <a:chExt cx="386" cy="318"/>
              </a:xfrm>
            </p:grpSpPr>
            <p:sp>
              <p:nvSpPr>
                <p:cNvPr id="32776" name="流程图: 摘录 32775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77" name="椭圆 32776"/>
                <p:cNvSpPr/>
                <p:nvPr/>
              </p:nvSpPr>
              <p:spPr>
                <a:xfrm>
                  <a:off x="294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2778" name="组合 32777"/>
              <p:cNvGrpSpPr/>
              <p:nvPr/>
            </p:nvGrpSpPr>
            <p:grpSpPr>
              <a:xfrm>
                <a:off x="1905" y="296"/>
                <a:ext cx="590" cy="590"/>
                <a:chOff x="0" y="0"/>
                <a:chExt cx="590" cy="590"/>
              </a:xfrm>
            </p:grpSpPr>
            <p:sp>
              <p:nvSpPr>
                <p:cNvPr id="32779" name="矩形 32778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80" name="椭圆 32779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81" name="文本框 32780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1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2782" name="组合 32781"/>
              <p:cNvGrpSpPr/>
              <p:nvPr/>
            </p:nvGrpSpPr>
            <p:grpSpPr>
              <a:xfrm>
                <a:off x="1905" y="1385"/>
                <a:ext cx="590" cy="590"/>
                <a:chOff x="0" y="0"/>
                <a:chExt cx="590" cy="590"/>
              </a:xfrm>
            </p:grpSpPr>
            <p:sp>
              <p:nvSpPr>
                <p:cNvPr id="32783" name="矩形 32782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84" name="椭圆 32783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85" name="文本框 32784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2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sp>
            <p:nvSpPr>
              <p:cNvPr id="32786" name="直接连接符 32785"/>
              <p:cNvSpPr/>
              <p:nvPr/>
            </p:nvSpPr>
            <p:spPr>
              <a:xfrm>
                <a:off x="0" y="24"/>
                <a:ext cx="267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87" name="直接连接符 32786"/>
              <p:cNvSpPr/>
              <p:nvPr/>
            </p:nvSpPr>
            <p:spPr>
              <a:xfrm flipV="1">
                <a:off x="2177" y="24"/>
                <a:ext cx="0" cy="27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88" name="直接连接符 32787"/>
              <p:cNvSpPr/>
              <p:nvPr/>
            </p:nvSpPr>
            <p:spPr>
              <a:xfrm flipV="1">
                <a:off x="2177" y="886"/>
                <a:ext cx="0" cy="49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89" name="直接连接符 32788"/>
              <p:cNvSpPr/>
              <p:nvPr/>
            </p:nvSpPr>
            <p:spPr>
              <a:xfrm>
                <a:off x="45" y="659"/>
                <a:ext cx="18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0" name="直接连接符 32789"/>
              <p:cNvSpPr/>
              <p:nvPr/>
            </p:nvSpPr>
            <p:spPr>
              <a:xfrm>
                <a:off x="680" y="24"/>
                <a:ext cx="0" cy="36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1" name="直接连接符 32790"/>
              <p:cNvSpPr/>
              <p:nvPr/>
            </p:nvSpPr>
            <p:spPr>
              <a:xfrm>
                <a:off x="680" y="387"/>
                <a:ext cx="273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2" name="直接连接符 32791"/>
              <p:cNvSpPr/>
              <p:nvPr/>
            </p:nvSpPr>
            <p:spPr>
              <a:xfrm>
                <a:off x="1361" y="410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3" name="直接连接符 32792"/>
              <p:cNvSpPr/>
              <p:nvPr/>
            </p:nvSpPr>
            <p:spPr>
              <a:xfrm>
                <a:off x="1588" y="410"/>
                <a:ext cx="0" cy="70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4" name="直接连接符 32793"/>
              <p:cNvSpPr/>
              <p:nvPr/>
            </p:nvSpPr>
            <p:spPr>
              <a:xfrm>
                <a:off x="1588" y="1113"/>
                <a:ext cx="58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5" name="直接连接符 32794"/>
              <p:cNvSpPr/>
              <p:nvPr/>
            </p:nvSpPr>
            <p:spPr>
              <a:xfrm>
                <a:off x="590" y="659"/>
                <a:ext cx="0" cy="104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6" name="直接连接符 32795"/>
              <p:cNvSpPr/>
              <p:nvPr/>
            </p:nvSpPr>
            <p:spPr>
              <a:xfrm>
                <a:off x="590" y="1702"/>
                <a:ext cx="31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7" name="直接连接符 32796"/>
              <p:cNvSpPr/>
              <p:nvPr/>
            </p:nvSpPr>
            <p:spPr>
              <a:xfrm>
                <a:off x="1315" y="1725"/>
                <a:ext cx="59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8" name="直接连接符 32797"/>
              <p:cNvSpPr/>
              <p:nvPr/>
            </p:nvSpPr>
            <p:spPr>
              <a:xfrm>
                <a:off x="2449" y="614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9" name="直接连接符 32798"/>
              <p:cNvSpPr/>
              <p:nvPr/>
            </p:nvSpPr>
            <p:spPr>
              <a:xfrm>
                <a:off x="2767" y="614"/>
                <a:ext cx="0" cy="1088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0" name="直接连接符 32799"/>
              <p:cNvSpPr/>
              <p:nvPr/>
            </p:nvSpPr>
            <p:spPr>
              <a:xfrm>
                <a:off x="2449" y="1702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1" name="直接连接符 32800"/>
              <p:cNvSpPr/>
              <p:nvPr/>
            </p:nvSpPr>
            <p:spPr>
              <a:xfrm>
                <a:off x="2767" y="1158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2" name="直接连接符 32801"/>
              <p:cNvSpPr/>
              <p:nvPr/>
            </p:nvSpPr>
            <p:spPr>
              <a:xfrm>
                <a:off x="2676" y="24"/>
                <a:ext cx="0" cy="213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3" name="直接连接符 32802"/>
              <p:cNvSpPr/>
              <p:nvPr/>
            </p:nvSpPr>
            <p:spPr>
              <a:xfrm>
                <a:off x="2177" y="1974"/>
                <a:ext cx="0" cy="18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4" name="直接连接符 32803"/>
              <p:cNvSpPr/>
              <p:nvPr/>
            </p:nvSpPr>
            <p:spPr>
              <a:xfrm>
                <a:off x="2177" y="2156"/>
                <a:ext cx="49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5" name="流程图: 联系 32804"/>
              <p:cNvSpPr/>
              <p:nvPr/>
            </p:nvSpPr>
            <p:spPr>
              <a:xfrm>
                <a:off x="657" y="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6" name="流程图: 联系 32805"/>
              <p:cNvSpPr/>
              <p:nvPr/>
            </p:nvSpPr>
            <p:spPr>
              <a:xfrm>
                <a:off x="2153" y="2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7" name="流程图: 联系 32806"/>
              <p:cNvSpPr/>
              <p:nvPr/>
            </p:nvSpPr>
            <p:spPr>
              <a:xfrm>
                <a:off x="566" y="637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8" name="流程图: 联系 32807"/>
              <p:cNvSpPr/>
              <p:nvPr/>
            </p:nvSpPr>
            <p:spPr>
              <a:xfrm>
                <a:off x="2153" y="109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9" name="流程图: 联系 32808"/>
              <p:cNvSpPr/>
              <p:nvPr/>
            </p:nvSpPr>
            <p:spPr>
              <a:xfrm>
                <a:off x="2745" y="1136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2810" name="文本框 32809"/>
            <p:cNvSpPr txBox="1"/>
            <p:nvPr/>
          </p:nvSpPr>
          <p:spPr>
            <a:xfrm>
              <a:off x="0" y="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A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2811" name="文本框 32810"/>
            <p:cNvSpPr txBox="1"/>
            <p:nvPr/>
          </p:nvSpPr>
          <p:spPr>
            <a:xfrm>
              <a:off x="0" y="63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B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2812" name="文本框 32811"/>
            <p:cNvSpPr txBox="1"/>
            <p:nvPr/>
          </p:nvSpPr>
          <p:spPr>
            <a:xfrm>
              <a:off x="3130" y="131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Y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</p:grpSp>
      <p:sp>
        <p:nvSpPr>
          <p:cNvPr id="32813" name="圆角矩形 32812"/>
          <p:cNvSpPr/>
          <p:nvPr/>
        </p:nvSpPr>
        <p:spPr>
          <a:xfrm>
            <a:off x="684213" y="4941888"/>
            <a:ext cx="7561262" cy="5762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r>
              <a:rPr lang="en-US" altLang="zh-CN" b="1">
                <a:latin typeface="Times New Roman" panose="02020603050405020304" pitchFamily="2" charset="0"/>
              </a:rPr>
              <a:t>A=0</a:t>
            </a:r>
            <a:r>
              <a:rPr lang="zh-CN" altLang="en-US" b="1">
                <a:latin typeface="Times New Roman" panose="02020603050405020304" pitchFamily="2" charset="0"/>
              </a:rPr>
              <a:t>、</a:t>
            </a:r>
            <a:r>
              <a:rPr lang="en-US" altLang="zh-CN" b="1">
                <a:latin typeface="Times New Roman" panose="02020603050405020304" pitchFamily="2" charset="0"/>
              </a:rPr>
              <a:t>B=0</a:t>
            </a:r>
            <a:r>
              <a:rPr lang="zh-CN" altLang="en-US" b="1">
                <a:latin typeface="Times New Roman" panose="02020603050405020304" pitchFamily="2" charset="0"/>
              </a:rPr>
              <a:t>时，</a:t>
            </a:r>
            <a:r>
              <a:rPr lang="en-US" altLang="zh-CN" b="1">
                <a:latin typeface="Times New Roman" panose="02020603050405020304" pitchFamily="2" charset="0"/>
              </a:rPr>
              <a:t>TG</a:t>
            </a:r>
            <a:r>
              <a:rPr lang="en-US" altLang="zh-CN" b="1" baseline="-25000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截止，</a:t>
            </a:r>
            <a:r>
              <a:rPr lang="en-US" altLang="zh-CN" b="1">
                <a:latin typeface="Times New Roman" panose="02020603050405020304" pitchFamily="2" charset="0"/>
              </a:rPr>
              <a:t>TG</a:t>
            </a:r>
            <a:r>
              <a:rPr lang="en-US" altLang="zh-CN" b="1" baseline="-25000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导通，</a:t>
            </a:r>
            <a:r>
              <a:rPr lang="en-US" altLang="zh-CN" b="1">
                <a:latin typeface="Times New Roman" panose="02020603050405020304" pitchFamily="2" charset="0"/>
              </a:rPr>
              <a:t>Y=B =0;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3794" name="组合 33793"/>
          <p:cNvGrpSpPr/>
          <p:nvPr/>
        </p:nvGrpSpPr>
        <p:grpSpPr>
          <a:xfrm>
            <a:off x="1116013" y="404813"/>
            <a:ext cx="5400675" cy="3600450"/>
            <a:chOff x="0" y="0"/>
            <a:chExt cx="3402" cy="2268"/>
          </a:xfrm>
        </p:grpSpPr>
        <p:grpSp>
          <p:nvGrpSpPr>
            <p:cNvPr id="33795" name="组合 33794"/>
            <p:cNvGrpSpPr/>
            <p:nvPr/>
          </p:nvGrpSpPr>
          <p:grpSpPr>
            <a:xfrm>
              <a:off x="227" y="112"/>
              <a:ext cx="2994" cy="2156"/>
              <a:chOff x="0" y="0"/>
              <a:chExt cx="2994" cy="2156"/>
            </a:xfrm>
          </p:grpSpPr>
          <p:grpSp>
            <p:nvGrpSpPr>
              <p:cNvPr id="33796" name="组合 33795"/>
              <p:cNvGrpSpPr/>
              <p:nvPr/>
            </p:nvGrpSpPr>
            <p:grpSpPr>
              <a:xfrm>
                <a:off x="953" y="251"/>
                <a:ext cx="409" cy="318"/>
                <a:chOff x="0" y="0"/>
                <a:chExt cx="409" cy="318"/>
              </a:xfrm>
            </p:grpSpPr>
            <p:sp>
              <p:nvSpPr>
                <p:cNvPr id="33797" name="流程图: 摘录 33796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798" name="椭圆 33797"/>
                <p:cNvSpPr/>
                <p:nvPr/>
              </p:nvSpPr>
              <p:spPr>
                <a:xfrm>
                  <a:off x="317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3799" name="组合 33798"/>
              <p:cNvGrpSpPr/>
              <p:nvPr/>
            </p:nvGrpSpPr>
            <p:grpSpPr>
              <a:xfrm>
                <a:off x="907" y="1566"/>
                <a:ext cx="386" cy="318"/>
                <a:chOff x="0" y="0"/>
                <a:chExt cx="386" cy="318"/>
              </a:xfrm>
            </p:grpSpPr>
            <p:sp>
              <p:nvSpPr>
                <p:cNvPr id="33800" name="流程图: 摘录 33799"/>
                <p:cNvSpPr/>
                <p:nvPr/>
              </p:nvSpPr>
              <p:spPr>
                <a:xfrm rot="5400000">
                  <a:off x="-11" y="10"/>
                  <a:ext cx="318" cy="295"/>
                </a:xfrm>
                <a:prstGeom prst="flowChartExtra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801" name="椭圆 33800"/>
                <p:cNvSpPr/>
                <p:nvPr/>
              </p:nvSpPr>
              <p:spPr>
                <a:xfrm>
                  <a:off x="294" y="114"/>
                  <a:ext cx="92" cy="90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3802" name="组合 33801"/>
              <p:cNvGrpSpPr/>
              <p:nvPr/>
            </p:nvGrpSpPr>
            <p:grpSpPr>
              <a:xfrm>
                <a:off x="1905" y="296"/>
                <a:ext cx="590" cy="590"/>
                <a:chOff x="0" y="0"/>
                <a:chExt cx="590" cy="590"/>
              </a:xfrm>
            </p:grpSpPr>
            <p:sp>
              <p:nvSpPr>
                <p:cNvPr id="33803" name="矩形 33802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804" name="椭圆 33803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805" name="文本框 33804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1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3806" name="组合 33805"/>
              <p:cNvGrpSpPr/>
              <p:nvPr/>
            </p:nvGrpSpPr>
            <p:grpSpPr>
              <a:xfrm>
                <a:off x="1905" y="1385"/>
                <a:ext cx="590" cy="590"/>
                <a:chOff x="0" y="0"/>
                <a:chExt cx="590" cy="590"/>
              </a:xfrm>
            </p:grpSpPr>
            <p:sp>
              <p:nvSpPr>
                <p:cNvPr id="33807" name="矩形 33806"/>
                <p:cNvSpPr/>
                <p:nvPr/>
              </p:nvSpPr>
              <p:spPr>
                <a:xfrm>
                  <a:off x="0" y="91"/>
                  <a:ext cx="545" cy="499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808" name="椭圆 33807"/>
                <p:cNvSpPr/>
                <p:nvPr/>
              </p:nvSpPr>
              <p:spPr>
                <a:xfrm>
                  <a:off x="227" y="0"/>
                  <a:ext cx="91" cy="91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3809" name="文本框 33808"/>
                <p:cNvSpPr txBox="1"/>
                <p:nvPr/>
              </p:nvSpPr>
              <p:spPr>
                <a:xfrm>
                  <a:off x="46" y="136"/>
                  <a:ext cx="5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latin typeface="Times New Roman" panose="02020603050405020304" pitchFamily="2" charset="0"/>
                    </a:rPr>
                    <a:t>TG</a:t>
                  </a:r>
                  <a:r>
                    <a:rPr lang="en-US" altLang="zh-CN" sz="2400" baseline="-25000">
                      <a:latin typeface="Times New Roman" panose="02020603050405020304" pitchFamily="2" charset="0"/>
                    </a:rPr>
                    <a:t>2</a:t>
                  </a:r>
                  <a:endParaRPr lang="en-US" altLang="zh-CN" sz="2400" baseline="-25000">
                    <a:latin typeface="Times New Roman" panose="02020603050405020304" pitchFamily="2" charset="0"/>
                  </a:endParaRPr>
                </a:p>
              </p:txBody>
            </p:sp>
          </p:grpSp>
          <p:sp>
            <p:nvSpPr>
              <p:cNvPr id="33810" name="直接连接符 33809"/>
              <p:cNvSpPr/>
              <p:nvPr/>
            </p:nvSpPr>
            <p:spPr>
              <a:xfrm>
                <a:off x="0" y="24"/>
                <a:ext cx="267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1" name="直接连接符 33810"/>
              <p:cNvSpPr/>
              <p:nvPr/>
            </p:nvSpPr>
            <p:spPr>
              <a:xfrm flipV="1">
                <a:off x="2177" y="24"/>
                <a:ext cx="0" cy="27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2" name="直接连接符 33811"/>
              <p:cNvSpPr/>
              <p:nvPr/>
            </p:nvSpPr>
            <p:spPr>
              <a:xfrm flipV="1">
                <a:off x="2177" y="886"/>
                <a:ext cx="0" cy="49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3" name="直接连接符 33812"/>
              <p:cNvSpPr/>
              <p:nvPr/>
            </p:nvSpPr>
            <p:spPr>
              <a:xfrm>
                <a:off x="45" y="659"/>
                <a:ext cx="18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4" name="直接连接符 33813"/>
              <p:cNvSpPr/>
              <p:nvPr/>
            </p:nvSpPr>
            <p:spPr>
              <a:xfrm>
                <a:off x="680" y="24"/>
                <a:ext cx="0" cy="36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5" name="直接连接符 33814"/>
              <p:cNvSpPr/>
              <p:nvPr/>
            </p:nvSpPr>
            <p:spPr>
              <a:xfrm>
                <a:off x="680" y="387"/>
                <a:ext cx="273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6" name="直接连接符 33815"/>
              <p:cNvSpPr/>
              <p:nvPr/>
            </p:nvSpPr>
            <p:spPr>
              <a:xfrm>
                <a:off x="1361" y="410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7" name="直接连接符 33816"/>
              <p:cNvSpPr/>
              <p:nvPr/>
            </p:nvSpPr>
            <p:spPr>
              <a:xfrm>
                <a:off x="1588" y="410"/>
                <a:ext cx="0" cy="70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8" name="直接连接符 33817"/>
              <p:cNvSpPr/>
              <p:nvPr/>
            </p:nvSpPr>
            <p:spPr>
              <a:xfrm>
                <a:off x="1588" y="1113"/>
                <a:ext cx="58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9" name="直接连接符 33818"/>
              <p:cNvSpPr/>
              <p:nvPr/>
            </p:nvSpPr>
            <p:spPr>
              <a:xfrm>
                <a:off x="590" y="659"/>
                <a:ext cx="0" cy="104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0" name="直接连接符 33819"/>
              <p:cNvSpPr/>
              <p:nvPr/>
            </p:nvSpPr>
            <p:spPr>
              <a:xfrm>
                <a:off x="590" y="1702"/>
                <a:ext cx="31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1" name="直接连接符 33820"/>
              <p:cNvSpPr/>
              <p:nvPr/>
            </p:nvSpPr>
            <p:spPr>
              <a:xfrm>
                <a:off x="1315" y="1725"/>
                <a:ext cx="59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2" name="直接连接符 33821"/>
              <p:cNvSpPr/>
              <p:nvPr/>
            </p:nvSpPr>
            <p:spPr>
              <a:xfrm>
                <a:off x="2449" y="614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3" name="直接连接符 33822"/>
              <p:cNvSpPr/>
              <p:nvPr/>
            </p:nvSpPr>
            <p:spPr>
              <a:xfrm>
                <a:off x="2767" y="614"/>
                <a:ext cx="0" cy="1088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4" name="直接连接符 33823"/>
              <p:cNvSpPr/>
              <p:nvPr/>
            </p:nvSpPr>
            <p:spPr>
              <a:xfrm>
                <a:off x="2449" y="1702"/>
                <a:ext cx="318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5" name="直接连接符 33824"/>
              <p:cNvSpPr/>
              <p:nvPr/>
            </p:nvSpPr>
            <p:spPr>
              <a:xfrm>
                <a:off x="2767" y="1158"/>
                <a:ext cx="227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6" name="直接连接符 33825"/>
              <p:cNvSpPr/>
              <p:nvPr/>
            </p:nvSpPr>
            <p:spPr>
              <a:xfrm>
                <a:off x="2676" y="24"/>
                <a:ext cx="0" cy="213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7" name="直接连接符 33826"/>
              <p:cNvSpPr/>
              <p:nvPr/>
            </p:nvSpPr>
            <p:spPr>
              <a:xfrm>
                <a:off x="2177" y="1974"/>
                <a:ext cx="0" cy="18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8" name="直接连接符 33827"/>
              <p:cNvSpPr/>
              <p:nvPr/>
            </p:nvSpPr>
            <p:spPr>
              <a:xfrm>
                <a:off x="2177" y="2156"/>
                <a:ext cx="49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29" name="流程图: 联系 33828"/>
              <p:cNvSpPr/>
              <p:nvPr/>
            </p:nvSpPr>
            <p:spPr>
              <a:xfrm>
                <a:off x="657" y="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30" name="流程图: 联系 33829"/>
              <p:cNvSpPr/>
              <p:nvPr/>
            </p:nvSpPr>
            <p:spPr>
              <a:xfrm>
                <a:off x="2153" y="2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31" name="流程图: 联系 33830"/>
              <p:cNvSpPr/>
              <p:nvPr/>
            </p:nvSpPr>
            <p:spPr>
              <a:xfrm>
                <a:off x="566" y="637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32" name="流程图: 联系 33831"/>
              <p:cNvSpPr/>
              <p:nvPr/>
            </p:nvSpPr>
            <p:spPr>
              <a:xfrm>
                <a:off x="2153" y="1090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33" name="流程图: 联系 33832"/>
              <p:cNvSpPr/>
              <p:nvPr/>
            </p:nvSpPr>
            <p:spPr>
              <a:xfrm>
                <a:off x="2745" y="1136"/>
                <a:ext cx="46" cy="45"/>
              </a:xfrm>
              <a:prstGeom prst="flowChartConnector">
                <a:avLst/>
              </a:prstGeom>
              <a:solidFill>
                <a:schemeClr val="tx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3834" name="文本框 33833"/>
            <p:cNvSpPr txBox="1"/>
            <p:nvPr/>
          </p:nvSpPr>
          <p:spPr>
            <a:xfrm>
              <a:off x="0" y="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A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3835" name="文本框 33834"/>
            <p:cNvSpPr txBox="1"/>
            <p:nvPr/>
          </p:nvSpPr>
          <p:spPr>
            <a:xfrm>
              <a:off x="0" y="63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B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33836" name="文本框 33835"/>
            <p:cNvSpPr txBox="1"/>
            <p:nvPr/>
          </p:nvSpPr>
          <p:spPr>
            <a:xfrm>
              <a:off x="3130" y="1315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2" charset="0"/>
                </a:rPr>
                <a:t>Y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3837" name="组合 33836"/>
          <p:cNvGrpSpPr/>
          <p:nvPr/>
        </p:nvGrpSpPr>
        <p:grpSpPr>
          <a:xfrm>
            <a:off x="684213" y="4292600"/>
            <a:ext cx="7561262" cy="576263"/>
            <a:chOff x="0" y="0"/>
            <a:chExt cx="4763" cy="363"/>
          </a:xfrm>
        </p:grpSpPr>
        <p:sp>
          <p:nvSpPr>
            <p:cNvPr id="33838" name="圆角矩形 33837"/>
            <p:cNvSpPr/>
            <p:nvPr/>
          </p:nvSpPr>
          <p:spPr>
            <a:xfrm>
              <a:off x="0" y="0"/>
              <a:ext cx="4763" cy="363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r>
                <a:rPr lang="en-US" altLang="zh-CN" b="1">
                  <a:latin typeface="Times New Roman" panose="02020603050405020304" pitchFamily="2" charset="0"/>
                </a:rPr>
                <a:t>A=1</a:t>
              </a:r>
              <a:r>
                <a:rPr lang="zh-CN" altLang="en-US" b="1">
                  <a:latin typeface="Times New Roman" panose="02020603050405020304" pitchFamily="2" charset="0"/>
                </a:rPr>
                <a:t>、</a:t>
              </a:r>
              <a:r>
                <a:rPr lang="en-US" altLang="zh-CN" b="1">
                  <a:latin typeface="Times New Roman" panose="02020603050405020304" pitchFamily="2" charset="0"/>
                </a:rPr>
                <a:t>B=1</a:t>
              </a:r>
              <a:r>
                <a:rPr lang="zh-CN" altLang="en-US" b="1">
                  <a:latin typeface="Times New Roman" panose="02020603050405020304" pitchFamily="2" charset="0"/>
                </a:rPr>
                <a:t>时，</a:t>
              </a:r>
              <a:r>
                <a:rPr lang="en-US" altLang="zh-CN" b="1">
                  <a:latin typeface="Times New Roman" panose="02020603050405020304" pitchFamily="2" charset="0"/>
                </a:rPr>
                <a:t>TG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1</a:t>
              </a:r>
              <a:r>
                <a:rPr lang="zh-CN" altLang="en-US" b="1">
                  <a:latin typeface="Times New Roman" panose="02020603050405020304" pitchFamily="2" charset="0"/>
                </a:rPr>
                <a:t>截止，</a:t>
              </a:r>
              <a:r>
                <a:rPr lang="en-US" altLang="zh-CN" b="1">
                  <a:latin typeface="Times New Roman" panose="02020603050405020304" pitchFamily="2" charset="0"/>
                </a:rPr>
                <a:t>TG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2</a:t>
              </a:r>
              <a:r>
                <a:rPr lang="zh-CN" altLang="en-US" b="1">
                  <a:latin typeface="Times New Roman" panose="02020603050405020304" pitchFamily="2" charset="0"/>
                </a:rPr>
                <a:t>导通，</a:t>
              </a:r>
              <a:r>
                <a:rPr lang="en-US" altLang="zh-CN" b="1">
                  <a:latin typeface="Times New Roman" panose="02020603050405020304" pitchFamily="2" charset="0"/>
                </a:rPr>
                <a:t>Y=B  =0;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33839" name="矩形 33838"/>
            <p:cNvSpPr/>
            <p:nvPr/>
          </p:nvSpPr>
          <p:spPr>
            <a:xfrm>
              <a:off x="4037" y="0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Times New Roman" panose="02020603050405020304" pitchFamily="2" charset="0"/>
                </a:rPr>
                <a:t>′</a:t>
              </a:r>
              <a:endParaRPr lang="en-US" altLang="zh-CN">
                <a:latin typeface="Times New Roman" panose="02020603050405020304" pitchFamily="2" charset="0"/>
              </a:endParaRPr>
            </a:p>
          </p:txBody>
        </p:sp>
      </p:grpSp>
      <p:graphicFrame>
        <p:nvGraphicFramePr>
          <p:cNvPr id="33840" name="对象 33839"/>
          <p:cNvGraphicFramePr>
            <a:graphicFrameLocks noChangeAspect="1"/>
          </p:cNvGraphicFramePr>
          <p:nvPr/>
        </p:nvGraphicFramePr>
        <p:xfrm>
          <a:off x="971550" y="5516563"/>
          <a:ext cx="21590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660400" imgH="177800" progId="Equation.3">
                  <p:embed/>
                </p:oleObj>
              </mc:Choice>
              <mc:Fallback>
                <p:oleObj name="" r:id="rId1" imgW="660400" imgH="177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516563"/>
                        <a:ext cx="21590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41" name="图片 338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738" y="5084763"/>
            <a:ext cx="3816350" cy="1535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818" name="对象 34817"/>
          <p:cNvGraphicFramePr>
            <a:graphicFrameLocks noChangeAspect="1"/>
          </p:cNvGraphicFramePr>
          <p:nvPr/>
        </p:nvGraphicFramePr>
        <p:xfrm>
          <a:off x="395288" y="1412875"/>
          <a:ext cx="8208962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30889575" imgH="8096250" progId="MSPhotoEd.3">
                  <p:embed/>
                </p:oleObj>
              </mc:Choice>
              <mc:Fallback>
                <p:oleObj name="" r:id="rId1" imgW="30889575" imgH="8096250" progId="MSPhotoEd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1412875"/>
                        <a:ext cx="8208962" cy="2751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文本框 34818"/>
          <p:cNvSpPr txBox="1"/>
          <p:nvPr/>
        </p:nvSpPr>
        <p:spPr>
          <a:xfrm>
            <a:off x="2916238" y="4119563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双向模拟开关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grpSp>
        <p:nvGrpSpPr>
          <p:cNvPr id="34820" name="组合 34819"/>
          <p:cNvGrpSpPr/>
          <p:nvPr/>
        </p:nvGrpSpPr>
        <p:grpSpPr>
          <a:xfrm>
            <a:off x="1692275" y="1628775"/>
            <a:ext cx="649288" cy="936625"/>
            <a:chOff x="0" y="0"/>
            <a:chExt cx="409" cy="590"/>
          </a:xfrm>
        </p:grpSpPr>
        <p:sp>
          <p:nvSpPr>
            <p:cNvPr id="34821" name="矩形 34820"/>
            <p:cNvSpPr/>
            <p:nvPr/>
          </p:nvSpPr>
          <p:spPr>
            <a:xfrm>
              <a:off x="0" y="0"/>
              <a:ext cx="408" cy="590"/>
            </a:xfrm>
            <a:prstGeom prst="rect">
              <a:avLst/>
            </a:prstGeom>
            <a:solidFill>
              <a:schemeClr val="tx2"/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822" name="流程图: 摘录 34821"/>
            <p:cNvSpPr/>
            <p:nvPr/>
          </p:nvSpPr>
          <p:spPr>
            <a:xfrm rot="5400000">
              <a:off x="-11" y="191"/>
              <a:ext cx="318" cy="295"/>
            </a:xfrm>
            <a:prstGeom prst="flowChartExtract">
              <a:avLst/>
            </a:prstGeom>
            <a:solidFill>
              <a:schemeClr val="tx2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823" name="椭圆 34822"/>
            <p:cNvSpPr/>
            <p:nvPr/>
          </p:nvSpPr>
          <p:spPr>
            <a:xfrm>
              <a:off x="317" y="295"/>
              <a:ext cx="92" cy="9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842" name="组合 35841"/>
          <p:cNvGrpSpPr/>
          <p:nvPr/>
        </p:nvGrpSpPr>
        <p:grpSpPr>
          <a:xfrm>
            <a:off x="468313" y="4652963"/>
            <a:ext cx="7632700" cy="1158875"/>
            <a:chOff x="0" y="0"/>
            <a:chExt cx="4808" cy="730"/>
          </a:xfrm>
        </p:grpSpPr>
        <p:graphicFrame>
          <p:nvGraphicFramePr>
            <p:cNvPr id="35843" name="对象 35842"/>
            <p:cNvGraphicFramePr>
              <a:graphicFrameLocks noChangeAspect="1"/>
            </p:cNvGraphicFramePr>
            <p:nvPr/>
          </p:nvGraphicFramePr>
          <p:xfrm>
            <a:off x="0" y="91"/>
            <a:ext cx="725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495300" imgH="177800" progId="Equation.3">
                    <p:embed/>
                  </p:oleObj>
                </mc:Choice>
                <mc:Fallback>
                  <p:oleObj name="" r:id="rId1" imgW="495300" imgH="1778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91"/>
                          <a:ext cx="725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4" name="文本框 35843"/>
            <p:cNvSpPr txBox="1"/>
            <p:nvPr/>
          </p:nvSpPr>
          <p:spPr>
            <a:xfrm>
              <a:off x="45" y="0"/>
              <a:ext cx="4763" cy="7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lnSpc>
                  <a:spcPct val="125000"/>
                </a:lnSpc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        , 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4</a:t>
              </a:r>
              <a:r>
                <a:rPr lang="zh-CN" altLang="en-US" b="1">
                  <a:latin typeface="Times New Roman" panose="02020603050405020304" pitchFamily="2" charset="0"/>
                </a:rPr>
                <a:t>输出高电平，</a:t>
              </a:r>
              <a:r>
                <a:rPr lang="en-US" altLang="zh-CN" b="1">
                  <a:latin typeface="Times New Roman" panose="02020603050405020304" pitchFamily="2" charset="0"/>
                </a:rPr>
                <a:t>G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5</a:t>
              </a:r>
              <a:r>
                <a:rPr lang="zh-CN" altLang="en-US" b="1">
                  <a:latin typeface="Times New Roman" panose="02020603050405020304" pitchFamily="2" charset="0"/>
                </a:rPr>
                <a:t>输出低电平，</a:t>
              </a:r>
              <a:r>
                <a:rPr lang="en-US" altLang="zh-CN" b="1">
                  <a:latin typeface="Times New Roman" panose="02020603050405020304" pitchFamily="2" charset="0"/>
                </a:rPr>
                <a:t>T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1</a:t>
              </a:r>
              <a:r>
                <a:rPr lang="zh-CN" altLang="en-US" b="1">
                  <a:latin typeface="Times New Roman" panose="02020603050405020304" pitchFamily="2" charset="0"/>
                </a:rPr>
                <a:t>、</a:t>
              </a:r>
              <a:r>
                <a:rPr lang="en-US" altLang="zh-CN" b="1">
                  <a:latin typeface="Times New Roman" panose="02020603050405020304" pitchFamily="2" charset="0"/>
                </a:rPr>
                <a:t>T</a:t>
              </a:r>
              <a:r>
                <a:rPr lang="en-US" altLang="zh-CN" b="1" baseline="-25000">
                  <a:latin typeface="Times New Roman" panose="02020603050405020304" pitchFamily="2" charset="0"/>
                </a:rPr>
                <a:t>2 </a:t>
              </a:r>
              <a:r>
                <a:rPr lang="zh-CN" altLang="en-US" b="1">
                  <a:latin typeface="Times New Roman" panose="02020603050405020304" pitchFamily="2" charset="0"/>
                </a:rPr>
                <a:t>同时截止，输出呈</a:t>
              </a:r>
              <a:r>
                <a:rPr lang="zh-CN" altLang="en-US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高阻态</a:t>
              </a:r>
              <a:r>
                <a:rPr lang="zh-CN" altLang="en-US" b="1">
                  <a:latin typeface="Times New Roman" panose="02020603050405020304" pitchFamily="2" charset="0"/>
                </a:rPr>
                <a:t>；</a:t>
              </a:r>
              <a:endParaRPr lang="zh-CN" altLang="en-US" b="1">
                <a:latin typeface="Times New Roman" panose="02020603050405020304" pitchFamily="2" charset="0"/>
              </a:endParaRPr>
            </a:p>
          </p:txBody>
        </p:sp>
      </p:grpSp>
      <p:sp>
        <p:nvSpPr>
          <p:cNvPr id="35845" name="圆角矩形 35844"/>
          <p:cNvSpPr/>
          <p:nvPr/>
        </p:nvSpPr>
        <p:spPr>
          <a:xfrm>
            <a:off x="323850" y="260350"/>
            <a:ext cx="2160588" cy="57467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四、三态门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35846" name="图片 358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196975"/>
            <a:ext cx="4724400" cy="29241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5847" name="组合 35846"/>
          <p:cNvGrpSpPr/>
          <p:nvPr/>
        </p:nvGrpSpPr>
        <p:grpSpPr>
          <a:xfrm>
            <a:off x="5795963" y="1773238"/>
            <a:ext cx="2592387" cy="2184400"/>
            <a:chOff x="0" y="0"/>
            <a:chExt cx="1633" cy="1376"/>
          </a:xfrm>
        </p:grpSpPr>
        <p:grpSp>
          <p:nvGrpSpPr>
            <p:cNvPr id="35848" name="组合 35847"/>
            <p:cNvGrpSpPr/>
            <p:nvPr/>
          </p:nvGrpSpPr>
          <p:grpSpPr>
            <a:xfrm>
              <a:off x="0" y="0"/>
              <a:ext cx="1633" cy="862"/>
              <a:chOff x="0" y="0"/>
              <a:chExt cx="1633" cy="862"/>
            </a:xfrm>
          </p:grpSpPr>
          <p:grpSp>
            <p:nvGrpSpPr>
              <p:cNvPr id="35849" name="组合 35848"/>
              <p:cNvGrpSpPr/>
              <p:nvPr/>
            </p:nvGrpSpPr>
            <p:grpSpPr>
              <a:xfrm>
                <a:off x="408" y="181"/>
                <a:ext cx="1023" cy="681"/>
                <a:chOff x="0" y="0"/>
                <a:chExt cx="1023" cy="681"/>
              </a:xfrm>
            </p:grpSpPr>
            <p:sp>
              <p:nvSpPr>
                <p:cNvPr id="35850" name="流程图: 摘录 35849"/>
                <p:cNvSpPr/>
                <p:nvPr/>
              </p:nvSpPr>
              <p:spPr>
                <a:xfrm rot="5400000">
                  <a:off x="250" y="181"/>
                  <a:ext cx="544" cy="453"/>
                </a:xfrm>
                <a:prstGeom prst="flowChartExtra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5851" name="流程图: 合并 35850"/>
                <p:cNvSpPr/>
                <p:nvPr/>
              </p:nvSpPr>
              <p:spPr>
                <a:xfrm>
                  <a:off x="433" y="363"/>
                  <a:ext cx="136" cy="136"/>
                </a:xfrm>
                <a:prstGeom prst="flowChartMerge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5852" name="流程图: 联系 35851"/>
                <p:cNvSpPr/>
                <p:nvPr/>
              </p:nvSpPr>
              <p:spPr>
                <a:xfrm>
                  <a:off x="751" y="363"/>
                  <a:ext cx="91" cy="91"/>
                </a:xfrm>
                <a:prstGeom prst="flowChartConnector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5853" name="流程图: 联系 35852"/>
                <p:cNvSpPr/>
                <p:nvPr/>
              </p:nvSpPr>
              <p:spPr>
                <a:xfrm>
                  <a:off x="501" y="182"/>
                  <a:ext cx="91" cy="91"/>
                </a:xfrm>
                <a:prstGeom prst="flowChartConnector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5854" name="直接连接符 35853"/>
                <p:cNvSpPr/>
                <p:nvPr/>
              </p:nvSpPr>
              <p:spPr>
                <a:xfrm flipV="1">
                  <a:off x="547" y="0"/>
                  <a:ext cx="0" cy="182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55" name="直接连接符 35854"/>
                <p:cNvSpPr/>
                <p:nvPr/>
              </p:nvSpPr>
              <p:spPr>
                <a:xfrm flipH="1">
                  <a:off x="0" y="0"/>
                  <a:ext cx="545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56" name="直接连接符 35855"/>
                <p:cNvSpPr/>
                <p:nvPr/>
              </p:nvSpPr>
              <p:spPr>
                <a:xfrm flipH="1">
                  <a:off x="25" y="409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57" name="直接连接符 35856"/>
                <p:cNvSpPr/>
                <p:nvPr/>
              </p:nvSpPr>
              <p:spPr>
                <a:xfrm>
                  <a:off x="841" y="409"/>
                  <a:ext cx="182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5858" name="文本框 35857"/>
              <p:cNvSpPr txBox="1"/>
              <p:nvPr/>
            </p:nvSpPr>
            <p:spPr>
              <a:xfrm>
                <a:off x="136" y="453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A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5859" name="文本框 35858"/>
              <p:cNvSpPr txBox="1"/>
              <p:nvPr/>
            </p:nvSpPr>
            <p:spPr>
              <a:xfrm>
                <a:off x="1361" y="499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Y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5860" name="文本框 35859"/>
              <p:cNvSpPr txBox="1"/>
              <p:nvPr/>
            </p:nvSpPr>
            <p:spPr>
              <a:xfrm>
                <a:off x="0" y="45"/>
                <a:ext cx="4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EN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5861" name="矩形 35860"/>
              <p:cNvSpPr/>
              <p:nvPr/>
            </p:nvSpPr>
            <p:spPr>
              <a:xfrm>
                <a:off x="272" y="0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>
                    <a:latin typeface="Times New Roman" panose="02020603050405020304" pitchFamily="2" charset="0"/>
                  </a:rPr>
                  <a:t>′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5862" name="文本框 35861"/>
            <p:cNvSpPr txBox="1"/>
            <p:nvPr/>
          </p:nvSpPr>
          <p:spPr>
            <a:xfrm>
              <a:off x="408" y="1088"/>
              <a:ext cx="9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逻辑符号</a:t>
              </a:r>
              <a:endParaRPr lang="zh-CN" altLang="en-US" sz="24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5863" name="文本框 35862"/>
          <p:cNvSpPr txBox="1"/>
          <p:nvPr/>
        </p:nvSpPr>
        <p:spPr>
          <a:xfrm>
            <a:off x="1116013" y="1412875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5864" name="文本框 35863"/>
          <p:cNvSpPr txBox="1"/>
          <p:nvPr/>
        </p:nvSpPr>
        <p:spPr>
          <a:xfrm>
            <a:off x="2051050" y="1412875"/>
            <a:ext cx="287338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5865" name="文本框 35864"/>
          <p:cNvSpPr txBox="1"/>
          <p:nvPr/>
        </p:nvSpPr>
        <p:spPr>
          <a:xfrm>
            <a:off x="3779838" y="1628775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5866" name="文本框 35865"/>
          <p:cNvSpPr txBox="1"/>
          <p:nvPr/>
        </p:nvSpPr>
        <p:spPr>
          <a:xfrm>
            <a:off x="2627313" y="2708275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5867" name="文本框 35866"/>
          <p:cNvSpPr txBox="1"/>
          <p:nvPr/>
        </p:nvSpPr>
        <p:spPr>
          <a:xfrm>
            <a:off x="3708400" y="3357563"/>
            <a:ext cx="287338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nimBg="1"/>
      <p:bldP spid="35863" grpId="0" animBg="1"/>
      <p:bldP spid="35864" grpId="0" animBg="1"/>
      <p:bldP spid="35865" grpId="0" animBg="1"/>
      <p:bldP spid="35866" grpId="0" animBg="1"/>
      <p:bldP spid="3586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图片 368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476250"/>
            <a:ext cx="4724400" cy="29241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6867" name="对象 36866"/>
          <p:cNvGraphicFramePr>
            <a:graphicFrameLocks noChangeAspect="1"/>
          </p:cNvGraphicFramePr>
          <p:nvPr/>
        </p:nvGraphicFramePr>
        <p:xfrm>
          <a:off x="468313" y="4076700"/>
          <a:ext cx="11969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" imgW="520700" imgH="177800" progId="Equation.3">
                  <p:embed/>
                </p:oleObj>
              </mc:Choice>
              <mc:Fallback>
                <p:oleObj name="" r:id="rId2" imgW="520700" imgH="177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4076700"/>
                        <a:ext cx="1196975" cy="407988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对象 36867"/>
          <p:cNvGraphicFramePr>
            <a:graphicFrameLocks noChangeAspect="1"/>
          </p:cNvGraphicFramePr>
          <p:nvPr/>
        </p:nvGraphicFramePr>
        <p:xfrm>
          <a:off x="3244850" y="4106863"/>
          <a:ext cx="10715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4" imgW="431800" imgH="165100" progId="Equation.3">
                  <p:embed/>
                </p:oleObj>
              </mc:Choice>
              <mc:Fallback>
                <p:oleObj name="" r:id="rId4" imgW="431800" imgH="1651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44850" y="4106863"/>
                        <a:ext cx="1071563" cy="409575"/>
                      </a:xfrm>
                      <a:prstGeom prst="rect">
                        <a:avLst/>
                      </a:prstGeom>
                      <a:solidFill>
                        <a:srgbClr val="FF66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9" name="组合 36868"/>
          <p:cNvGrpSpPr/>
          <p:nvPr/>
        </p:nvGrpSpPr>
        <p:grpSpPr>
          <a:xfrm>
            <a:off x="5795963" y="1052513"/>
            <a:ext cx="2592387" cy="2184400"/>
            <a:chOff x="0" y="0"/>
            <a:chExt cx="1633" cy="1376"/>
          </a:xfrm>
        </p:grpSpPr>
        <p:grpSp>
          <p:nvGrpSpPr>
            <p:cNvPr id="36870" name="组合 36869"/>
            <p:cNvGrpSpPr/>
            <p:nvPr/>
          </p:nvGrpSpPr>
          <p:grpSpPr>
            <a:xfrm>
              <a:off x="0" y="0"/>
              <a:ext cx="1633" cy="862"/>
              <a:chOff x="0" y="0"/>
              <a:chExt cx="1633" cy="862"/>
            </a:xfrm>
          </p:grpSpPr>
          <p:grpSp>
            <p:nvGrpSpPr>
              <p:cNvPr id="36871" name="组合 36870"/>
              <p:cNvGrpSpPr/>
              <p:nvPr/>
            </p:nvGrpSpPr>
            <p:grpSpPr>
              <a:xfrm>
                <a:off x="408" y="181"/>
                <a:ext cx="1023" cy="681"/>
                <a:chOff x="0" y="0"/>
                <a:chExt cx="1023" cy="681"/>
              </a:xfrm>
            </p:grpSpPr>
            <p:sp>
              <p:nvSpPr>
                <p:cNvPr id="36872" name="流程图: 摘录 36871"/>
                <p:cNvSpPr/>
                <p:nvPr/>
              </p:nvSpPr>
              <p:spPr>
                <a:xfrm rot="5400000">
                  <a:off x="250" y="181"/>
                  <a:ext cx="544" cy="453"/>
                </a:xfrm>
                <a:prstGeom prst="flowChartExtra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6873" name="流程图: 合并 36872"/>
                <p:cNvSpPr/>
                <p:nvPr/>
              </p:nvSpPr>
              <p:spPr>
                <a:xfrm>
                  <a:off x="433" y="363"/>
                  <a:ext cx="136" cy="136"/>
                </a:xfrm>
                <a:prstGeom prst="flowChartMerge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6874" name="流程图: 联系 36873"/>
                <p:cNvSpPr/>
                <p:nvPr/>
              </p:nvSpPr>
              <p:spPr>
                <a:xfrm>
                  <a:off x="751" y="363"/>
                  <a:ext cx="91" cy="91"/>
                </a:xfrm>
                <a:prstGeom prst="flowChartConnector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6875" name="流程图: 联系 36874"/>
                <p:cNvSpPr/>
                <p:nvPr/>
              </p:nvSpPr>
              <p:spPr>
                <a:xfrm>
                  <a:off x="501" y="182"/>
                  <a:ext cx="91" cy="91"/>
                </a:xfrm>
                <a:prstGeom prst="flowChartConnector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6876" name="直接连接符 36875"/>
                <p:cNvSpPr/>
                <p:nvPr/>
              </p:nvSpPr>
              <p:spPr>
                <a:xfrm flipV="1">
                  <a:off x="547" y="0"/>
                  <a:ext cx="0" cy="182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7" name="直接连接符 36876"/>
                <p:cNvSpPr/>
                <p:nvPr/>
              </p:nvSpPr>
              <p:spPr>
                <a:xfrm flipH="1">
                  <a:off x="0" y="0"/>
                  <a:ext cx="545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8" name="直接连接符 36877"/>
                <p:cNvSpPr/>
                <p:nvPr/>
              </p:nvSpPr>
              <p:spPr>
                <a:xfrm flipH="1">
                  <a:off x="25" y="409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9" name="直接连接符 36878"/>
                <p:cNvSpPr/>
                <p:nvPr/>
              </p:nvSpPr>
              <p:spPr>
                <a:xfrm>
                  <a:off x="841" y="409"/>
                  <a:ext cx="182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6880" name="文本框 36879"/>
              <p:cNvSpPr txBox="1"/>
              <p:nvPr/>
            </p:nvSpPr>
            <p:spPr>
              <a:xfrm>
                <a:off x="136" y="453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A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6881" name="文本框 36880"/>
              <p:cNvSpPr txBox="1"/>
              <p:nvPr/>
            </p:nvSpPr>
            <p:spPr>
              <a:xfrm>
                <a:off x="1361" y="499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Y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6882" name="文本框 36881"/>
              <p:cNvSpPr txBox="1"/>
              <p:nvPr/>
            </p:nvSpPr>
            <p:spPr>
              <a:xfrm>
                <a:off x="0" y="45"/>
                <a:ext cx="4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EN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6883" name="矩形 36882"/>
              <p:cNvSpPr/>
              <p:nvPr/>
            </p:nvSpPr>
            <p:spPr>
              <a:xfrm>
                <a:off x="272" y="0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>
                    <a:latin typeface="Times New Roman" panose="02020603050405020304" pitchFamily="2" charset="0"/>
                  </a:rPr>
                  <a:t>′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6884" name="文本框 36883"/>
            <p:cNvSpPr txBox="1"/>
            <p:nvPr/>
          </p:nvSpPr>
          <p:spPr>
            <a:xfrm>
              <a:off x="408" y="1088"/>
              <a:ext cx="9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逻辑符号</a:t>
              </a:r>
              <a:endParaRPr lang="zh-CN" altLang="en-US" sz="24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6885" name="文本框 36884"/>
          <p:cNvSpPr txBox="1"/>
          <p:nvPr/>
        </p:nvSpPr>
        <p:spPr>
          <a:xfrm>
            <a:off x="1116013" y="765175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6886" name="文本框 36885"/>
          <p:cNvSpPr txBox="1"/>
          <p:nvPr/>
        </p:nvSpPr>
        <p:spPr>
          <a:xfrm>
            <a:off x="1979613" y="692150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36887" name="文本框 36886"/>
          <p:cNvSpPr txBox="1"/>
          <p:nvPr/>
        </p:nvSpPr>
        <p:spPr>
          <a:xfrm>
            <a:off x="2700338" y="2060575"/>
            <a:ext cx="287337" cy="3968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6888" name="组合 36887"/>
          <p:cNvGrpSpPr/>
          <p:nvPr/>
        </p:nvGrpSpPr>
        <p:grpSpPr>
          <a:xfrm>
            <a:off x="1116013" y="836613"/>
            <a:ext cx="2952750" cy="2270125"/>
            <a:chOff x="0" y="0"/>
            <a:chExt cx="1860" cy="1430"/>
          </a:xfrm>
        </p:grpSpPr>
        <p:sp>
          <p:nvSpPr>
            <p:cNvPr id="36889" name="文本框 36888"/>
            <p:cNvSpPr txBox="1"/>
            <p:nvPr/>
          </p:nvSpPr>
          <p:spPr>
            <a:xfrm>
              <a:off x="1679" y="0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0" name="文本框 36889"/>
            <p:cNvSpPr txBox="1"/>
            <p:nvPr/>
          </p:nvSpPr>
          <p:spPr>
            <a:xfrm>
              <a:off x="1679" y="1180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1" name="文本框 36890"/>
            <p:cNvSpPr txBox="1"/>
            <p:nvPr/>
          </p:nvSpPr>
          <p:spPr>
            <a:xfrm>
              <a:off x="0" y="953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2" name="文本框 36891"/>
            <p:cNvSpPr txBox="1"/>
            <p:nvPr/>
          </p:nvSpPr>
          <p:spPr>
            <a:xfrm>
              <a:off x="499" y="953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6893" name="文本框 36892"/>
          <p:cNvSpPr txBox="1"/>
          <p:nvPr/>
        </p:nvSpPr>
        <p:spPr>
          <a:xfrm>
            <a:off x="323850" y="4725988"/>
            <a:ext cx="86407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若</a:t>
            </a:r>
            <a:r>
              <a:rPr lang="en-US" altLang="zh-CN" sz="2400" b="1">
                <a:latin typeface="Times New Roman" panose="02020603050405020304" pitchFamily="2" charset="0"/>
              </a:rPr>
              <a:t>A=1</a:t>
            </a:r>
            <a:r>
              <a:rPr lang="zh-CN" altLang="en-US" sz="2400" b="1">
                <a:latin typeface="Times New Roman" panose="02020603050405020304" pitchFamily="2" charset="0"/>
              </a:rPr>
              <a:t>，则</a:t>
            </a:r>
            <a:r>
              <a:rPr lang="en-US" altLang="zh-CN" sz="2400" b="1">
                <a:latin typeface="Times New Roman" panose="02020603050405020304" pitchFamily="2" charset="0"/>
              </a:rPr>
              <a:t>G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4</a:t>
            </a:r>
            <a:r>
              <a:rPr lang="zh-CN" altLang="en-US" sz="2400" b="1">
                <a:latin typeface="Times New Roman" panose="02020603050405020304" pitchFamily="2" charset="0"/>
              </a:rPr>
              <a:t>、</a:t>
            </a:r>
            <a:r>
              <a:rPr lang="en-US" altLang="zh-CN" sz="2400" b="1">
                <a:latin typeface="Times New Roman" panose="02020603050405020304" pitchFamily="2" charset="0"/>
              </a:rPr>
              <a:t>G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5</a:t>
            </a:r>
            <a:r>
              <a:rPr lang="zh-CN" altLang="en-US" sz="2400" b="1">
                <a:latin typeface="Times New Roman" panose="02020603050405020304" pitchFamily="2" charset="0"/>
              </a:rPr>
              <a:t>输出均为高电平，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1</a:t>
            </a:r>
            <a:r>
              <a:rPr lang="zh-CN" altLang="en-US" sz="2400" b="1">
                <a:latin typeface="Times New Roman" panose="02020603050405020304" pitchFamily="2" charset="0"/>
              </a:rPr>
              <a:t>截止、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2</a:t>
            </a:r>
            <a:r>
              <a:rPr lang="zh-CN" altLang="en-US" sz="2400" b="1">
                <a:latin typeface="Times New Roman" panose="02020603050405020304" pitchFamily="2" charset="0"/>
              </a:rPr>
              <a:t>导通，</a:t>
            </a:r>
            <a:r>
              <a:rPr lang="en-US" altLang="zh-CN" sz="2400" b="1">
                <a:latin typeface="Times New Roman" panose="02020603050405020304" pitchFamily="2" charset="0"/>
              </a:rPr>
              <a:t>Y=0</a:t>
            </a:r>
            <a:r>
              <a:rPr lang="zh-CN" altLang="en-US" sz="2400" b="1">
                <a:latin typeface="Times New Roman" panose="02020603050405020304" pitchFamily="2" charset="0"/>
              </a:rPr>
              <a:t>；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sp>
        <p:nvSpPr>
          <p:cNvPr id="36894" name="文本框 36893"/>
          <p:cNvSpPr txBox="1"/>
          <p:nvPr/>
        </p:nvSpPr>
        <p:spPr>
          <a:xfrm>
            <a:off x="323850" y="5373688"/>
            <a:ext cx="86407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若</a:t>
            </a:r>
            <a:r>
              <a:rPr lang="en-US" altLang="zh-CN" sz="2400" b="1">
                <a:latin typeface="Times New Roman" panose="02020603050405020304" pitchFamily="2" charset="0"/>
              </a:rPr>
              <a:t>A=0</a:t>
            </a:r>
            <a:r>
              <a:rPr lang="zh-CN" altLang="en-US" sz="2400" b="1">
                <a:latin typeface="Times New Roman" panose="02020603050405020304" pitchFamily="2" charset="0"/>
              </a:rPr>
              <a:t>，则</a:t>
            </a:r>
            <a:r>
              <a:rPr lang="en-US" altLang="zh-CN" sz="2400" b="1">
                <a:latin typeface="Times New Roman" panose="02020603050405020304" pitchFamily="2" charset="0"/>
              </a:rPr>
              <a:t>G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4</a:t>
            </a:r>
            <a:r>
              <a:rPr lang="zh-CN" altLang="en-US" sz="2400" b="1">
                <a:latin typeface="Times New Roman" panose="02020603050405020304" pitchFamily="2" charset="0"/>
              </a:rPr>
              <a:t>、</a:t>
            </a:r>
            <a:r>
              <a:rPr lang="en-US" altLang="zh-CN" sz="2400" b="1">
                <a:latin typeface="Times New Roman" panose="02020603050405020304" pitchFamily="2" charset="0"/>
              </a:rPr>
              <a:t>G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5</a:t>
            </a:r>
            <a:r>
              <a:rPr lang="zh-CN" altLang="en-US" sz="2400" b="1">
                <a:latin typeface="Times New Roman" panose="02020603050405020304" pitchFamily="2" charset="0"/>
              </a:rPr>
              <a:t>输出均为低电平，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1</a:t>
            </a:r>
            <a:r>
              <a:rPr lang="zh-CN" altLang="en-US" sz="2400" b="1">
                <a:latin typeface="Times New Roman" panose="02020603050405020304" pitchFamily="2" charset="0"/>
              </a:rPr>
              <a:t>导通、</a:t>
            </a:r>
            <a:r>
              <a:rPr lang="en-US" altLang="zh-CN" sz="2400" b="1">
                <a:latin typeface="Times New Roman" panose="02020603050405020304" pitchFamily="2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2" charset="0"/>
              </a:rPr>
              <a:t>2</a:t>
            </a:r>
            <a:r>
              <a:rPr lang="zh-CN" altLang="en-US" sz="2400" b="1">
                <a:latin typeface="Times New Roman" panose="02020603050405020304" pitchFamily="2" charset="0"/>
              </a:rPr>
              <a:t>截止，</a:t>
            </a:r>
            <a:r>
              <a:rPr lang="en-US" altLang="zh-CN" sz="2400" b="1">
                <a:latin typeface="Times New Roman" panose="02020603050405020304" pitchFamily="2" charset="0"/>
              </a:rPr>
              <a:t>Y=1</a:t>
            </a:r>
            <a:r>
              <a:rPr lang="zh-CN" altLang="en-US" sz="2400" b="1">
                <a:latin typeface="Times New Roman" panose="02020603050405020304" pitchFamily="2" charset="0"/>
              </a:rPr>
              <a:t>；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grpSp>
        <p:nvGrpSpPr>
          <p:cNvPr id="36895" name="组合 36894"/>
          <p:cNvGrpSpPr/>
          <p:nvPr/>
        </p:nvGrpSpPr>
        <p:grpSpPr>
          <a:xfrm>
            <a:off x="1116013" y="836613"/>
            <a:ext cx="2952750" cy="2270125"/>
            <a:chOff x="0" y="0"/>
            <a:chExt cx="1860" cy="1430"/>
          </a:xfrm>
        </p:grpSpPr>
        <p:sp>
          <p:nvSpPr>
            <p:cNvPr id="36896" name="文本框 36895"/>
            <p:cNvSpPr txBox="1"/>
            <p:nvPr/>
          </p:nvSpPr>
          <p:spPr>
            <a:xfrm>
              <a:off x="1679" y="0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7" name="文本框 36896"/>
            <p:cNvSpPr txBox="1"/>
            <p:nvPr/>
          </p:nvSpPr>
          <p:spPr>
            <a:xfrm>
              <a:off x="1679" y="1180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8" name="文本框 36897"/>
            <p:cNvSpPr txBox="1"/>
            <p:nvPr/>
          </p:nvSpPr>
          <p:spPr>
            <a:xfrm>
              <a:off x="0" y="953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6899" name="文本框 36898"/>
            <p:cNvSpPr txBox="1"/>
            <p:nvPr/>
          </p:nvSpPr>
          <p:spPr>
            <a:xfrm>
              <a:off x="499" y="953"/>
              <a:ext cx="181" cy="25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5" grpId="0" animBg="1"/>
      <p:bldP spid="36886" grpId="0" animBg="1"/>
      <p:bldP spid="36887" grpId="0" animBg="1"/>
      <p:bldP spid="36893" grpId="0"/>
      <p:bldP spid="3689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890" name="组合 37889"/>
          <p:cNvGrpSpPr/>
          <p:nvPr/>
        </p:nvGrpSpPr>
        <p:grpSpPr>
          <a:xfrm>
            <a:off x="971550" y="1125538"/>
            <a:ext cx="2592388" cy="1368425"/>
            <a:chOff x="0" y="0"/>
            <a:chExt cx="1633" cy="862"/>
          </a:xfrm>
        </p:grpSpPr>
        <p:grpSp>
          <p:nvGrpSpPr>
            <p:cNvPr id="37891" name="组合 37890"/>
            <p:cNvGrpSpPr/>
            <p:nvPr/>
          </p:nvGrpSpPr>
          <p:grpSpPr>
            <a:xfrm>
              <a:off x="408" y="181"/>
              <a:ext cx="1023" cy="681"/>
              <a:chOff x="0" y="0"/>
              <a:chExt cx="1023" cy="681"/>
            </a:xfrm>
          </p:grpSpPr>
          <p:sp>
            <p:nvSpPr>
              <p:cNvPr id="37892" name="流程图: 摘录 37891"/>
              <p:cNvSpPr/>
              <p:nvPr/>
            </p:nvSpPr>
            <p:spPr>
              <a:xfrm rot="5400000">
                <a:off x="250" y="181"/>
                <a:ext cx="544" cy="453"/>
              </a:xfrm>
              <a:prstGeom prst="flowChartExtra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893" name="流程图: 合并 37892"/>
              <p:cNvSpPr/>
              <p:nvPr/>
            </p:nvSpPr>
            <p:spPr>
              <a:xfrm>
                <a:off x="433" y="363"/>
                <a:ext cx="136" cy="136"/>
              </a:xfrm>
              <a:prstGeom prst="flowChartMerge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894" name="流程图: 联系 37893"/>
              <p:cNvSpPr/>
              <p:nvPr/>
            </p:nvSpPr>
            <p:spPr>
              <a:xfrm>
                <a:off x="751" y="363"/>
                <a:ext cx="91" cy="91"/>
              </a:xfrm>
              <a:prstGeom prst="flowChartConnector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895" name="流程图: 联系 37894"/>
              <p:cNvSpPr/>
              <p:nvPr/>
            </p:nvSpPr>
            <p:spPr>
              <a:xfrm>
                <a:off x="501" y="182"/>
                <a:ext cx="91" cy="91"/>
              </a:xfrm>
              <a:prstGeom prst="flowChartConnector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896" name="直接连接符 37895"/>
              <p:cNvSpPr/>
              <p:nvPr/>
            </p:nvSpPr>
            <p:spPr>
              <a:xfrm flipV="1">
                <a:off x="547" y="0"/>
                <a:ext cx="0" cy="182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7" name="直接连接符 37896"/>
              <p:cNvSpPr/>
              <p:nvPr/>
            </p:nvSpPr>
            <p:spPr>
              <a:xfrm flipH="1">
                <a:off x="0" y="0"/>
                <a:ext cx="545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8" name="直接连接符 37897"/>
              <p:cNvSpPr/>
              <p:nvPr/>
            </p:nvSpPr>
            <p:spPr>
              <a:xfrm flipH="1">
                <a:off x="25" y="409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9" name="直接连接符 37898"/>
              <p:cNvSpPr/>
              <p:nvPr/>
            </p:nvSpPr>
            <p:spPr>
              <a:xfrm>
                <a:off x="841" y="409"/>
                <a:ext cx="18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00" name="文本框 37899"/>
            <p:cNvSpPr txBox="1"/>
            <p:nvPr/>
          </p:nvSpPr>
          <p:spPr>
            <a:xfrm>
              <a:off x="136" y="453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A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sp>
          <p:nvSpPr>
            <p:cNvPr id="37901" name="文本框 37900"/>
            <p:cNvSpPr txBox="1"/>
            <p:nvPr/>
          </p:nvSpPr>
          <p:spPr>
            <a:xfrm>
              <a:off x="1361" y="499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Y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sp>
          <p:nvSpPr>
            <p:cNvPr id="37902" name="文本框 37901"/>
            <p:cNvSpPr txBox="1"/>
            <p:nvPr/>
          </p:nvSpPr>
          <p:spPr>
            <a:xfrm>
              <a:off x="0" y="45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EN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sp>
          <p:nvSpPr>
            <p:cNvPr id="37903" name="矩形 37902"/>
            <p:cNvSpPr/>
            <p:nvPr/>
          </p:nvSpPr>
          <p:spPr>
            <a:xfrm>
              <a:off x="272" y="0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Times New Roman" panose="02020603050405020304" pitchFamily="2" charset="0"/>
                </a:rPr>
                <a:t>′</a:t>
              </a:r>
              <a:endParaRPr lang="en-US" altLang="zh-CN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04" name="组合 37903"/>
          <p:cNvGrpSpPr/>
          <p:nvPr/>
        </p:nvGrpSpPr>
        <p:grpSpPr>
          <a:xfrm>
            <a:off x="1042988" y="3500438"/>
            <a:ext cx="2592387" cy="1296987"/>
            <a:chOff x="0" y="0"/>
            <a:chExt cx="1633" cy="817"/>
          </a:xfrm>
        </p:grpSpPr>
        <p:sp>
          <p:nvSpPr>
            <p:cNvPr id="37905" name="流程图: 摘录 37904"/>
            <p:cNvSpPr/>
            <p:nvPr/>
          </p:nvSpPr>
          <p:spPr>
            <a:xfrm rot="5400000">
              <a:off x="658" y="317"/>
              <a:ext cx="544" cy="453"/>
            </a:xfrm>
            <a:prstGeom prst="flowChartExtra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06" name="流程图: 合并 37905"/>
            <p:cNvSpPr/>
            <p:nvPr/>
          </p:nvSpPr>
          <p:spPr>
            <a:xfrm>
              <a:off x="841" y="499"/>
              <a:ext cx="136" cy="136"/>
            </a:xfrm>
            <a:prstGeom prst="flowChartMerg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07" name="流程图: 联系 37906"/>
            <p:cNvSpPr/>
            <p:nvPr/>
          </p:nvSpPr>
          <p:spPr>
            <a:xfrm>
              <a:off x="1159" y="499"/>
              <a:ext cx="91" cy="91"/>
            </a:xfrm>
            <a:prstGeom prst="flowChartConnector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08" name="直接连接符 37907"/>
            <p:cNvSpPr/>
            <p:nvPr/>
          </p:nvSpPr>
          <p:spPr>
            <a:xfrm flipV="1">
              <a:off x="953" y="136"/>
              <a:ext cx="2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9" name="直接连接符 37908"/>
            <p:cNvSpPr/>
            <p:nvPr/>
          </p:nvSpPr>
          <p:spPr>
            <a:xfrm flipH="1">
              <a:off x="408" y="136"/>
              <a:ext cx="545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0" name="直接连接符 37909"/>
            <p:cNvSpPr/>
            <p:nvPr/>
          </p:nvSpPr>
          <p:spPr>
            <a:xfrm flipH="1">
              <a:off x="433" y="545"/>
              <a:ext cx="272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1" name="直接连接符 37910"/>
            <p:cNvSpPr/>
            <p:nvPr/>
          </p:nvSpPr>
          <p:spPr>
            <a:xfrm>
              <a:off x="1249" y="545"/>
              <a:ext cx="182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2" name="文本框 37911"/>
            <p:cNvSpPr txBox="1"/>
            <p:nvPr/>
          </p:nvSpPr>
          <p:spPr>
            <a:xfrm>
              <a:off x="136" y="408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A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sp>
          <p:nvSpPr>
            <p:cNvPr id="37913" name="文本框 37912"/>
            <p:cNvSpPr txBox="1"/>
            <p:nvPr/>
          </p:nvSpPr>
          <p:spPr>
            <a:xfrm>
              <a:off x="1361" y="45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Y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sp>
          <p:nvSpPr>
            <p:cNvPr id="37914" name="文本框 37913"/>
            <p:cNvSpPr txBox="1"/>
            <p:nvPr/>
          </p:nvSpPr>
          <p:spPr>
            <a:xfrm>
              <a:off x="0" y="0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EN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15" name="组合 37914"/>
          <p:cNvGrpSpPr/>
          <p:nvPr/>
        </p:nvGrpSpPr>
        <p:grpSpPr>
          <a:xfrm>
            <a:off x="2484438" y="404813"/>
            <a:ext cx="2625725" cy="1244600"/>
            <a:chOff x="0" y="0"/>
            <a:chExt cx="1654" cy="784"/>
          </a:xfrm>
        </p:grpSpPr>
        <p:sp>
          <p:nvSpPr>
            <p:cNvPr id="37916" name="直接连接符 37915"/>
            <p:cNvSpPr/>
            <p:nvPr/>
          </p:nvSpPr>
          <p:spPr>
            <a:xfrm rot="15537700">
              <a:off x="-18" y="380"/>
              <a:ext cx="421" cy="38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7917" name="椭圆 37916"/>
            <p:cNvSpPr/>
            <p:nvPr/>
          </p:nvSpPr>
          <p:spPr>
            <a:xfrm>
              <a:off x="272" y="0"/>
              <a:ext cx="1382" cy="485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2400" b="1">
                  <a:latin typeface="Times New Roman" panose="02020603050405020304" pitchFamily="2" charset="0"/>
                  <a:ea typeface="楷体_GB2312" pitchFamily="1" charset="-122"/>
                </a:rPr>
                <a:t>低电平有效</a:t>
              </a:r>
              <a:endParaRPr lang="zh-CN" altLang="en-US" sz="24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aphicFrame>
        <p:nvGraphicFramePr>
          <p:cNvPr id="37918" name="对象 37917"/>
          <p:cNvGraphicFramePr>
            <a:graphicFrameLocks noChangeAspect="1"/>
          </p:cNvGraphicFramePr>
          <p:nvPr/>
        </p:nvGraphicFramePr>
        <p:xfrm>
          <a:off x="4716463" y="1412875"/>
          <a:ext cx="3027362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232535" imgH="457200" progId="Equation.3">
                  <p:embed/>
                </p:oleObj>
              </mc:Choice>
              <mc:Fallback>
                <p:oleObj name="" r:id="rId1" imgW="1232535" imgH="4572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1412875"/>
                        <a:ext cx="3027362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19" name="组合 37918"/>
          <p:cNvGrpSpPr/>
          <p:nvPr/>
        </p:nvGrpSpPr>
        <p:grpSpPr>
          <a:xfrm>
            <a:off x="2555875" y="2781300"/>
            <a:ext cx="2625725" cy="1244600"/>
            <a:chOff x="0" y="0"/>
            <a:chExt cx="1654" cy="784"/>
          </a:xfrm>
        </p:grpSpPr>
        <p:sp>
          <p:nvSpPr>
            <p:cNvPr id="37920" name="直接连接符 37919"/>
            <p:cNvSpPr/>
            <p:nvPr/>
          </p:nvSpPr>
          <p:spPr>
            <a:xfrm rot="15537700">
              <a:off x="-18" y="380"/>
              <a:ext cx="421" cy="385"/>
            </a:xfrm>
            <a:prstGeom prst="line">
              <a:avLst/>
            </a:prstGeom>
            <a:ln w="3810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7921" name="椭圆 37920"/>
            <p:cNvSpPr/>
            <p:nvPr/>
          </p:nvSpPr>
          <p:spPr>
            <a:xfrm>
              <a:off x="272" y="0"/>
              <a:ext cx="1382" cy="485"/>
            </a:xfrm>
            <a:prstGeom prst="ellipse">
              <a:avLst/>
            </a:prstGeom>
            <a:solidFill>
              <a:schemeClr val="hlink"/>
            </a:solidFill>
            <a:ln w="3810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2400" b="1">
                  <a:latin typeface="Times New Roman" panose="02020603050405020304" pitchFamily="2" charset="0"/>
                  <a:ea typeface="楷体_GB2312" pitchFamily="1" charset="-122"/>
                </a:rPr>
                <a:t>高电平有效</a:t>
              </a:r>
              <a:endParaRPr lang="zh-CN" altLang="en-US" sz="2400" b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aphicFrame>
        <p:nvGraphicFramePr>
          <p:cNvPr id="37922" name="对象 37921"/>
          <p:cNvGraphicFramePr>
            <a:graphicFrameLocks noChangeAspect="1"/>
          </p:cNvGraphicFramePr>
          <p:nvPr/>
        </p:nvGraphicFramePr>
        <p:xfrm>
          <a:off x="4787900" y="3644900"/>
          <a:ext cx="29432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219835" imgH="457200" progId="Equation.3">
                  <p:embed/>
                </p:oleObj>
              </mc:Choice>
              <mc:Fallback>
                <p:oleObj name="" r:id="rId3" imgW="1219835" imgH="4572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3644900"/>
                        <a:ext cx="2943225" cy="1103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3" name="文本框 37922"/>
          <p:cNvSpPr txBox="1"/>
          <p:nvPr/>
        </p:nvSpPr>
        <p:spPr>
          <a:xfrm>
            <a:off x="611188" y="5661025"/>
            <a:ext cx="7489825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三态门有三种状态</a:t>
            </a:r>
            <a:r>
              <a:rPr lang="en-US" altLang="zh-CN" b="1">
                <a:latin typeface="Times New Roman" panose="02020603050405020304" pitchFamily="2" charset="0"/>
              </a:rPr>
              <a:t>:</a:t>
            </a:r>
            <a:r>
              <a:rPr lang="zh-CN" altLang="en-US" b="1">
                <a:latin typeface="Times New Roman" panose="02020603050405020304" pitchFamily="2" charset="0"/>
              </a:rPr>
              <a:t>高电平、低电平、高阻态。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文本框 38913"/>
          <p:cNvSpPr txBox="1"/>
          <p:nvPr/>
        </p:nvSpPr>
        <p:spPr>
          <a:xfrm>
            <a:off x="250825" y="476250"/>
            <a:ext cx="69135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3.3.6  CMOS</a:t>
            </a:r>
            <a:r>
              <a:rPr lang="zh-CN" altLang="en-US" sz="3600">
                <a:latin typeface="Verdana" panose="020B0604030504040204" pitchFamily="2" charset="0"/>
              </a:rPr>
              <a:t>电路的特点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38915" name="文本框 38914"/>
          <p:cNvSpPr txBox="1"/>
          <p:nvPr/>
        </p:nvSpPr>
        <p:spPr>
          <a:xfrm>
            <a:off x="539750" y="1628775"/>
            <a:ext cx="61531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CMOS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电路的优点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38916" name="文本框 38915"/>
          <p:cNvSpPr txBox="1"/>
          <p:nvPr/>
        </p:nvSpPr>
        <p:spPr>
          <a:xfrm>
            <a:off x="684213" y="2492375"/>
            <a:ext cx="61341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1.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静态功耗小。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38917" name="文本框 38916"/>
          <p:cNvSpPr txBox="1"/>
          <p:nvPr/>
        </p:nvSpPr>
        <p:spPr>
          <a:xfrm>
            <a:off x="755650" y="3644900"/>
            <a:ext cx="65817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2.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允许电源电压范围宽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(3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  <a:sym typeface="Symbol" panose="05050102010706020507" pitchFamily="2" charset="2"/>
              </a:rPr>
              <a:t>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18V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）。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38918" name="文本框 38917"/>
          <p:cNvSpPr txBox="1"/>
          <p:nvPr/>
        </p:nvSpPr>
        <p:spPr>
          <a:xfrm>
            <a:off x="827088" y="4652963"/>
            <a:ext cx="61341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3. 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扇出系数大，噪声容限大。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  <p:bldP spid="38917" grpId="0"/>
      <p:bldP spid="389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矩形 39937"/>
          <p:cNvSpPr/>
          <p:nvPr/>
        </p:nvSpPr>
        <p:spPr>
          <a:xfrm>
            <a:off x="323850" y="1484313"/>
            <a:ext cx="8497888" cy="3725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．输入电路的静电保护</a:t>
            </a: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电路的输入端设置了保护电路，给使用者带来很大方便。但是，这种保护还是有限的。由于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电路的输入阻抗高，极易产生感应较高的静电电压，从而击穿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MOS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管栅极极薄的绝缘层，造成器件的永久损坏。为避免静电损坏，应注意以下几点：    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9939" name="文本框 39938"/>
          <p:cNvSpPr txBox="1"/>
          <p:nvPr/>
        </p:nvSpPr>
        <p:spPr>
          <a:xfrm>
            <a:off x="539750" y="404813"/>
            <a:ext cx="61531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CMOS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电路的正确使用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矩形 40961"/>
          <p:cNvSpPr/>
          <p:nvPr/>
        </p:nvSpPr>
        <p:spPr>
          <a:xfrm>
            <a:off x="468313" y="404813"/>
            <a:ext cx="8001000" cy="197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10000"/>
              </a:lnSpc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）所有与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电路直接接触的工具、仪表等必须可靠接地。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   （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）存储和运输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电路，最好采用金属屏蔽层做包装材料。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0963" name="矩形 40962"/>
          <p:cNvSpPr/>
          <p:nvPr/>
        </p:nvSpPr>
        <p:spPr>
          <a:xfrm>
            <a:off x="539750" y="2636838"/>
            <a:ext cx="7848600" cy="287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．多余的输入端不能悬空。</a:t>
            </a: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　　输入端悬空极易产生感应较高的静电电压，造成器件的永久损坏。对多余的输入端，可以按功能要求接电源或接地，或者与其它输入端并联使用。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0964" name="矩形 40963"/>
          <p:cNvSpPr/>
          <p:nvPr/>
        </p:nvSpPr>
        <p:spPr>
          <a:xfrm>
            <a:off x="611188" y="5805488"/>
            <a:ext cx="39338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．输入电路需过流保护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矩形 41985"/>
          <p:cNvSpPr/>
          <p:nvPr/>
        </p:nvSpPr>
        <p:spPr>
          <a:xfrm>
            <a:off x="1619250" y="333375"/>
            <a:ext cx="4968875" cy="695325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ea typeface="黑体" panose="02010609060101010101" pitchFamily="2" charset="-122"/>
              </a:rPr>
              <a:t>3.5   TTL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2" charset="-122"/>
              </a:rPr>
              <a:t>门电路</a:t>
            </a:r>
            <a:endParaRPr lang="zh-CN" altLang="en-US" b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41987" name="直接连接符 41986"/>
          <p:cNvSpPr/>
          <p:nvPr/>
        </p:nvSpPr>
        <p:spPr>
          <a:xfrm flipV="1">
            <a:off x="1619250" y="1052513"/>
            <a:ext cx="4465638" cy="1587"/>
          </a:xfrm>
          <a:prstGeom prst="line">
            <a:avLst/>
          </a:prstGeom>
          <a:ln w="76200" cap="sq" cmpd="tri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文本框 41987"/>
          <p:cNvSpPr txBox="1"/>
          <p:nvPr/>
        </p:nvSpPr>
        <p:spPr>
          <a:xfrm>
            <a:off x="468313" y="1341438"/>
            <a:ext cx="741680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3.5.1   </a:t>
            </a:r>
            <a:r>
              <a:rPr lang="zh-CN" altLang="en-US" sz="3600">
                <a:latin typeface="Verdana" panose="020B0604030504040204" pitchFamily="2" charset="0"/>
              </a:rPr>
              <a:t>双极型三极管的开关特性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41989" name="圆角矩形 41988"/>
          <p:cNvSpPr/>
          <p:nvPr/>
        </p:nvSpPr>
        <p:spPr>
          <a:xfrm>
            <a:off x="539750" y="2060575"/>
            <a:ext cx="4319588" cy="576263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一、双极型三极管的结构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41990" name="组合 41989"/>
          <p:cNvGrpSpPr/>
          <p:nvPr/>
        </p:nvGrpSpPr>
        <p:grpSpPr>
          <a:xfrm>
            <a:off x="134938" y="2781300"/>
            <a:ext cx="3932237" cy="3903663"/>
            <a:chOff x="0" y="0"/>
            <a:chExt cx="2477" cy="2459"/>
          </a:xfrm>
        </p:grpSpPr>
        <p:grpSp>
          <p:nvGrpSpPr>
            <p:cNvPr id="41991" name="组合 41990"/>
            <p:cNvGrpSpPr/>
            <p:nvPr/>
          </p:nvGrpSpPr>
          <p:grpSpPr>
            <a:xfrm>
              <a:off x="0" y="0"/>
              <a:ext cx="1943" cy="2046"/>
              <a:chOff x="0" y="0"/>
              <a:chExt cx="2504" cy="2926"/>
            </a:xfrm>
          </p:grpSpPr>
          <p:grpSp>
            <p:nvGrpSpPr>
              <p:cNvPr id="41992" name="组合 41991"/>
              <p:cNvGrpSpPr/>
              <p:nvPr/>
            </p:nvGrpSpPr>
            <p:grpSpPr>
              <a:xfrm>
                <a:off x="583" y="231"/>
                <a:ext cx="1339" cy="2250"/>
                <a:chOff x="0" y="0"/>
                <a:chExt cx="1339" cy="2250"/>
              </a:xfrm>
            </p:grpSpPr>
            <p:sp>
              <p:nvSpPr>
                <p:cNvPr id="41993" name="矩形 41992"/>
                <p:cNvSpPr/>
                <p:nvPr/>
              </p:nvSpPr>
              <p:spPr>
                <a:xfrm rot="-16200000" flipH="1">
                  <a:off x="666" y="1103"/>
                  <a:ext cx="501" cy="840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994" name="矩形 41993"/>
                <p:cNvSpPr/>
                <p:nvPr/>
              </p:nvSpPr>
              <p:spPr>
                <a:xfrm rot="-16200000" flipH="1">
                  <a:off x="672" y="284"/>
                  <a:ext cx="489" cy="840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995" name="矩形 41994"/>
                <p:cNvSpPr/>
                <p:nvPr/>
              </p:nvSpPr>
              <p:spPr>
                <a:xfrm rot="-16200000" flipH="1">
                  <a:off x="757" y="693"/>
                  <a:ext cx="324" cy="840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41996" name="组合 41995"/>
                <p:cNvGrpSpPr/>
                <p:nvPr/>
              </p:nvGrpSpPr>
              <p:grpSpPr>
                <a:xfrm>
                  <a:off x="888" y="1788"/>
                  <a:ext cx="84" cy="462"/>
                  <a:chOff x="0" y="0"/>
                  <a:chExt cx="84" cy="462"/>
                </a:xfrm>
              </p:grpSpPr>
              <p:sp>
                <p:nvSpPr>
                  <p:cNvPr id="41997" name="直接连接符 41996"/>
                  <p:cNvSpPr/>
                  <p:nvPr/>
                </p:nvSpPr>
                <p:spPr>
                  <a:xfrm rot="-16200000" flipH="1">
                    <a:off x="-153" y="195"/>
                    <a:ext cx="39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1998" name="椭圆 41997"/>
                  <p:cNvSpPr/>
                  <p:nvPr/>
                </p:nvSpPr>
                <p:spPr>
                  <a:xfrm rot="-16200000" flipH="1">
                    <a:off x="6" y="384"/>
                    <a:ext cx="72" cy="8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41999" name="组合 41998"/>
                <p:cNvGrpSpPr/>
                <p:nvPr/>
              </p:nvGrpSpPr>
              <p:grpSpPr>
                <a:xfrm>
                  <a:off x="882" y="0"/>
                  <a:ext cx="84" cy="462"/>
                  <a:chOff x="0" y="0"/>
                  <a:chExt cx="84" cy="462"/>
                </a:xfrm>
              </p:grpSpPr>
              <p:sp>
                <p:nvSpPr>
                  <p:cNvPr id="42000" name="直接连接符 41999"/>
                  <p:cNvSpPr/>
                  <p:nvPr/>
                </p:nvSpPr>
                <p:spPr>
                  <a:xfrm rot="-16200000" flipH="1">
                    <a:off x="-159" y="267"/>
                    <a:ext cx="39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2001" name="椭圆 42000"/>
                  <p:cNvSpPr/>
                  <p:nvPr/>
                </p:nvSpPr>
                <p:spPr>
                  <a:xfrm rot="-16200000" flipH="1">
                    <a:off x="6" y="-6"/>
                    <a:ext cx="72" cy="8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42002" name="直接连接符 42001"/>
                <p:cNvSpPr/>
                <p:nvPr/>
              </p:nvSpPr>
              <p:spPr>
                <a:xfrm rot="-16200000" flipH="1">
                  <a:off x="288" y="936"/>
                  <a:ext cx="0" cy="43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03" name="椭圆 42002"/>
                <p:cNvSpPr/>
                <p:nvPr/>
              </p:nvSpPr>
              <p:spPr>
                <a:xfrm rot="-16200000" flipH="1">
                  <a:off x="6" y="1110"/>
                  <a:ext cx="72" cy="84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2004" name="组合 42003"/>
              <p:cNvGrpSpPr/>
              <p:nvPr/>
            </p:nvGrpSpPr>
            <p:grpSpPr>
              <a:xfrm>
                <a:off x="0" y="0"/>
                <a:ext cx="2504" cy="2926"/>
                <a:chOff x="0" y="0"/>
                <a:chExt cx="2504" cy="2926"/>
              </a:xfrm>
            </p:grpSpPr>
            <p:grpSp>
              <p:nvGrpSpPr>
                <p:cNvPr id="42005" name="组合 42004"/>
                <p:cNvGrpSpPr/>
                <p:nvPr/>
              </p:nvGrpSpPr>
              <p:grpSpPr>
                <a:xfrm>
                  <a:off x="161" y="0"/>
                  <a:ext cx="1318" cy="2548"/>
                  <a:chOff x="0" y="0"/>
                  <a:chExt cx="1318" cy="2548"/>
                </a:xfrm>
              </p:grpSpPr>
              <p:sp>
                <p:nvSpPr>
                  <p:cNvPr id="42006" name="文本框 42005"/>
                  <p:cNvSpPr txBox="1"/>
                  <p:nvPr/>
                </p:nvSpPr>
                <p:spPr>
                  <a:xfrm>
                    <a:off x="0" y="1164"/>
                    <a:ext cx="367" cy="5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chemeClr val="tx1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B</a:t>
                    </a:r>
                    <a:endParaRPr lang="en-US" altLang="zh-CN" sz="3200" b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42007" name="文本框 42006"/>
                  <p:cNvSpPr txBox="1"/>
                  <p:nvPr/>
                </p:nvSpPr>
                <p:spPr>
                  <a:xfrm>
                    <a:off x="951" y="2026"/>
                    <a:ext cx="367" cy="5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chemeClr val="tx1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E</a:t>
                    </a:r>
                    <a:endParaRPr lang="en-US" altLang="zh-CN" sz="3200" b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42008" name="文本框 42007"/>
                  <p:cNvSpPr txBox="1"/>
                  <p:nvPr/>
                </p:nvSpPr>
                <p:spPr>
                  <a:xfrm>
                    <a:off x="890" y="0"/>
                    <a:ext cx="367" cy="5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chemeClr val="tx1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C</a:t>
                    </a:r>
                    <a:endParaRPr lang="en-US" altLang="zh-CN" sz="3200" b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</p:grpSp>
            <p:grpSp>
              <p:nvGrpSpPr>
                <p:cNvPr id="42009" name="组合 42008"/>
                <p:cNvGrpSpPr/>
                <p:nvPr/>
              </p:nvGrpSpPr>
              <p:grpSpPr>
                <a:xfrm>
                  <a:off x="1305" y="699"/>
                  <a:ext cx="323" cy="1291"/>
                  <a:chOff x="0" y="0"/>
                  <a:chExt cx="323" cy="1291"/>
                </a:xfrm>
              </p:grpSpPr>
              <p:sp>
                <p:nvSpPr>
                  <p:cNvPr id="42010" name="文本框 42009"/>
                  <p:cNvSpPr txBox="1"/>
                  <p:nvPr/>
                </p:nvSpPr>
                <p:spPr>
                  <a:xfrm>
                    <a:off x="0" y="0"/>
                    <a:ext cx="300" cy="5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rgbClr val="FF3399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N</a:t>
                    </a:r>
                    <a:endParaRPr lang="en-US" altLang="zh-CN" sz="3200" b="1">
                      <a:solidFill>
                        <a:srgbClr val="FF3399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42011" name="文本框 42010"/>
                  <p:cNvSpPr txBox="1"/>
                  <p:nvPr/>
                </p:nvSpPr>
                <p:spPr>
                  <a:xfrm>
                    <a:off x="12" y="768"/>
                    <a:ext cx="299" cy="52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rgbClr val="FF3399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N</a:t>
                    </a:r>
                    <a:endParaRPr lang="en-US" altLang="zh-CN" sz="3200" b="1">
                      <a:solidFill>
                        <a:srgbClr val="FF3399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42012" name="文本框 42011"/>
                  <p:cNvSpPr txBox="1"/>
                  <p:nvPr/>
                </p:nvSpPr>
                <p:spPr>
                  <a:xfrm>
                    <a:off x="23" y="383"/>
                    <a:ext cx="300" cy="52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90000" tIns="46800" rIns="90000" bIns="46800" anchor="ctr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>
                        <a:solidFill>
                          <a:srgbClr val="FF3399"/>
                        </a:solidFill>
                        <a:latin typeface="Times New Roman" panose="02020603050405020304" pitchFamily="2" charset="0"/>
                        <a:ea typeface="楷体_GB2312" pitchFamily="1" charset="-122"/>
                      </a:rPr>
                      <a:t>P</a:t>
                    </a:r>
                    <a:endParaRPr lang="en-US" altLang="zh-CN" sz="3200" b="1">
                      <a:solidFill>
                        <a:srgbClr val="FF3399"/>
                      </a:solidFill>
                      <a:latin typeface="Times New Roman" panose="02020603050405020304" pitchFamily="2" charset="0"/>
                      <a:ea typeface="楷体_GB2312" pitchFamily="1" charset="-122"/>
                    </a:endParaRPr>
                  </a:p>
                </p:txBody>
              </p:sp>
            </p:grpSp>
            <p:sp>
              <p:nvSpPr>
                <p:cNvPr id="42013" name="文本框 42012"/>
                <p:cNvSpPr txBox="1"/>
                <p:nvPr/>
              </p:nvSpPr>
              <p:spPr>
                <a:xfrm>
                  <a:off x="0" y="1480"/>
                  <a:ext cx="799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solidFill>
                        <a:schemeClr val="tx1"/>
                      </a:solidFill>
                      <a:latin typeface="Times New Roman" panose="02020603050405020304" pitchFamily="2" charset="0"/>
                    </a:rPr>
                    <a:t>基极 </a:t>
                  </a:r>
                  <a:endParaRPr lang="zh-CN" altLang="en-US" b="1">
                    <a:solidFill>
                      <a:schemeClr val="tx1"/>
                    </a:solidFill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42014" name="文本框 42013"/>
                <p:cNvSpPr txBox="1"/>
                <p:nvPr/>
              </p:nvSpPr>
              <p:spPr>
                <a:xfrm>
                  <a:off x="862" y="2458"/>
                  <a:ext cx="1017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solidFill>
                        <a:schemeClr val="tx1"/>
                      </a:solidFill>
                      <a:latin typeface="Times New Roman" panose="02020603050405020304" pitchFamily="2" charset="0"/>
                    </a:rPr>
                    <a:t>发射极</a:t>
                  </a:r>
                  <a:endParaRPr lang="zh-CN" altLang="en-US" b="1">
                    <a:solidFill>
                      <a:schemeClr val="tx1"/>
                    </a:solidFill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42015" name="文本框 42014"/>
                <p:cNvSpPr txBox="1"/>
                <p:nvPr/>
              </p:nvSpPr>
              <p:spPr>
                <a:xfrm>
                  <a:off x="1487" y="89"/>
                  <a:ext cx="1017" cy="46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solidFill>
                        <a:schemeClr val="tx1"/>
                      </a:solidFill>
                      <a:latin typeface="Times New Roman" panose="02020603050405020304" pitchFamily="2" charset="0"/>
                    </a:rPr>
                    <a:t>集电极</a:t>
                  </a:r>
                  <a:endParaRPr lang="zh-CN" altLang="en-US" b="1">
                    <a:solidFill>
                      <a:schemeClr val="tx1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  <p:grpSp>
          <p:nvGrpSpPr>
            <p:cNvPr id="42016" name="组合 42015"/>
            <p:cNvGrpSpPr/>
            <p:nvPr/>
          </p:nvGrpSpPr>
          <p:grpSpPr>
            <a:xfrm>
              <a:off x="1888" y="363"/>
              <a:ext cx="589" cy="1337"/>
              <a:chOff x="0" y="0"/>
              <a:chExt cx="750" cy="1683"/>
            </a:xfrm>
          </p:grpSpPr>
          <p:sp>
            <p:nvSpPr>
              <p:cNvPr id="42017" name="直接连接符 42016"/>
              <p:cNvSpPr/>
              <p:nvPr/>
            </p:nvSpPr>
            <p:spPr>
              <a:xfrm>
                <a:off x="552" y="631"/>
                <a:ext cx="0" cy="3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2018" name="组合 42017"/>
              <p:cNvGrpSpPr/>
              <p:nvPr/>
            </p:nvGrpSpPr>
            <p:grpSpPr>
              <a:xfrm>
                <a:off x="0" y="0"/>
                <a:ext cx="750" cy="1683"/>
                <a:chOff x="0" y="0"/>
                <a:chExt cx="750" cy="1683"/>
              </a:xfrm>
            </p:grpSpPr>
            <p:sp>
              <p:nvSpPr>
                <p:cNvPr id="42019" name="直接连接符 42018"/>
                <p:cNvSpPr/>
                <p:nvPr/>
              </p:nvSpPr>
              <p:spPr>
                <a:xfrm>
                  <a:off x="0" y="805"/>
                  <a:ext cx="564" cy="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20" name="直接连接符 42019"/>
                <p:cNvSpPr/>
                <p:nvPr/>
              </p:nvSpPr>
              <p:spPr>
                <a:xfrm>
                  <a:off x="552" y="811"/>
                  <a:ext cx="198" cy="18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</p:sp>
            <p:sp>
              <p:nvSpPr>
                <p:cNvPr id="42021" name="直接连接符 42020"/>
                <p:cNvSpPr/>
                <p:nvPr/>
              </p:nvSpPr>
              <p:spPr>
                <a:xfrm flipV="1">
                  <a:off x="552" y="637"/>
                  <a:ext cx="198" cy="16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22" name="直接连接符 42021"/>
                <p:cNvSpPr/>
                <p:nvPr/>
              </p:nvSpPr>
              <p:spPr>
                <a:xfrm>
                  <a:off x="738" y="67"/>
                  <a:ext cx="0" cy="58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23" name="直接连接符 42022"/>
                <p:cNvSpPr/>
                <p:nvPr/>
              </p:nvSpPr>
              <p:spPr>
                <a:xfrm>
                  <a:off x="738" y="985"/>
                  <a:ext cx="0" cy="66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24" name="文本框 42023"/>
                <p:cNvSpPr txBox="1"/>
                <p:nvPr/>
              </p:nvSpPr>
              <p:spPr>
                <a:xfrm>
                  <a:off x="108" y="425"/>
                  <a:ext cx="363" cy="4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i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rPr>
                    <a:t>B</a:t>
                  </a:r>
                  <a:endPara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endParaRPr>
                </a:p>
              </p:txBody>
            </p:sp>
            <p:sp>
              <p:nvSpPr>
                <p:cNvPr id="42025" name="文本框 42024"/>
                <p:cNvSpPr txBox="1"/>
                <p:nvPr/>
              </p:nvSpPr>
              <p:spPr>
                <a:xfrm>
                  <a:off x="372" y="1223"/>
                  <a:ext cx="363" cy="4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i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rPr>
                    <a:t>E</a:t>
                  </a:r>
                  <a:endPara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endParaRPr>
                </a:p>
              </p:txBody>
            </p:sp>
            <p:sp>
              <p:nvSpPr>
                <p:cNvPr id="42026" name="文本框 42025"/>
                <p:cNvSpPr txBox="1"/>
                <p:nvPr/>
              </p:nvSpPr>
              <p:spPr>
                <a:xfrm>
                  <a:off x="365" y="0"/>
                  <a:ext cx="363" cy="4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i="1">
                      <a:solidFill>
                        <a:schemeClr val="tx1"/>
                      </a:solidFill>
                      <a:latin typeface="Times New Roman" panose="02020603050405020304" pitchFamily="2" charset="0"/>
                      <a:ea typeface="楷体_GB2312" pitchFamily="1" charset="-122"/>
                    </a:rPr>
                    <a:t>C</a:t>
                  </a:r>
                  <a:endPara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endParaRPr>
                </a:p>
              </p:txBody>
            </p:sp>
          </p:grpSp>
        </p:grpSp>
        <p:sp>
          <p:nvSpPr>
            <p:cNvPr id="42027" name="文本框 42026"/>
            <p:cNvSpPr txBox="1"/>
            <p:nvPr/>
          </p:nvSpPr>
          <p:spPr>
            <a:xfrm>
              <a:off x="754" y="2132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2" charset="0"/>
                </a:rPr>
                <a:t>NPN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2" charset="0"/>
                </a:rPr>
                <a:t>型三极管</a:t>
              </a:r>
              <a:endParaRPr lang="zh-CN" altLang="en-US" b="1">
                <a:solidFill>
                  <a:schemeClr val="tx1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42028" name="组合 42027"/>
          <p:cNvGrpSpPr/>
          <p:nvPr/>
        </p:nvGrpSpPr>
        <p:grpSpPr>
          <a:xfrm>
            <a:off x="4743450" y="2852738"/>
            <a:ext cx="4084638" cy="3614737"/>
            <a:chOff x="0" y="0"/>
            <a:chExt cx="2573" cy="2277"/>
          </a:xfrm>
        </p:grpSpPr>
        <p:grpSp>
          <p:nvGrpSpPr>
            <p:cNvPr id="42029" name="组合 42028"/>
            <p:cNvGrpSpPr/>
            <p:nvPr/>
          </p:nvGrpSpPr>
          <p:grpSpPr>
            <a:xfrm>
              <a:off x="283" y="109"/>
              <a:ext cx="1148" cy="1545"/>
              <a:chOff x="0" y="0"/>
              <a:chExt cx="1339" cy="2262"/>
            </a:xfrm>
          </p:grpSpPr>
          <p:sp>
            <p:nvSpPr>
              <p:cNvPr id="42030" name="矩形 42029"/>
              <p:cNvSpPr/>
              <p:nvPr/>
            </p:nvSpPr>
            <p:spPr>
              <a:xfrm rot="-16200000" flipH="1">
                <a:off x="666" y="1115"/>
                <a:ext cx="501" cy="84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031" name="矩形 42030"/>
              <p:cNvSpPr/>
              <p:nvPr/>
            </p:nvSpPr>
            <p:spPr>
              <a:xfrm rot="-16200000" flipH="1">
                <a:off x="672" y="296"/>
                <a:ext cx="489" cy="84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032" name="矩形 42031"/>
              <p:cNvSpPr/>
              <p:nvPr/>
            </p:nvSpPr>
            <p:spPr>
              <a:xfrm rot="-16200000" flipH="1">
                <a:off x="757" y="705"/>
                <a:ext cx="324" cy="84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42033" name="组合 42032"/>
              <p:cNvGrpSpPr/>
              <p:nvPr/>
            </p:nvGrpSpPr>
            <p:grpSpPr>
              <a:xfrm>
                <a:off x="888" y="1800"/>
                <a:ext cx="84" cy="462"/>
                <a:chOff x="0" y="0"/>
                <a:chExt cx="84" cy="462"/>
              </a:xfrm>
            </p:grpSpPr>
            <p:sp>
              <p:nvSpPr>
                <p:cNvPr id="42034" name="直接连接符 42033"/>
                <p:cNvSpPr/>
                <p:nvPr/>
              </p:nvSpPr>
              <p:spPr>
                <a:xfrm rot="-16200000" flipH="1">
                  <a:off x="-153" y="195"/>
                  <a:ext cx="39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35" name="椭圆 42034"/>
                <p:cNvSpPr/>
                <p:nvPr/>
              </p:nvSpPr>
              <p:spPr>
                <a:xfrm rot="-16200000" flipH="1">
                  <a:off x="6" y="384"/>
                  <a:ext cx="72" cy="84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2036" name="组合 42035"/>
              <p:cNvGrpSpPr/>
              <p:nvPr/>
            </p:nvGrpSpPr>
            <p:grpSpPr>
              <a:xfrm>
                <a:off x="882" y="0"/>
                <a:ext cx="84" cy="462"/>
                <a:chOff x="0" y="0"/>
                <a:chExt cx="84" cy="462"/>
              </a:xfrm>
            </p:grpSpPr>
            <p:sp>
              <p:nvSpPr>
                <p:cNvPr id="42037" name="直接连接符 42036"/>
                <p:cNvSpPr/>
                <p:nvPr/>
              </p:nvSpPr>
              <p:spPr>
                <a:xfrm rot="-16200000" flipH="1">
                  <a:off x="-159" y="267"/>
                  <a:ext cx="39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2038" name="椭圆 42037"/>
                <p:cNvSpPr/>
                <p:nvPr/>
              </p:nvSpPr>
              <p:spPr>
                <a:xfrm rot="-16200000" flipH="1">
                  <a:off x="6" y="-6"/>
                  <a:ext cx="72" cy="84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2039" name="直接连接符 42038"/>
              <p:cNvSpPr/>
              <p:nvPr/>
            </p:nvSpPr>
            <p:spPr>
              <a:xfrm rot="-16200000" flipH="1">
                <a:off x="288" y="948"/>
                <a:ext cx="0" cy="43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0" name="椭圆 42039"/>
              <p:cNvSpPr/>
              <p:nvPr/>
            </p:nvSpPr>
            <p:spPr>
              <a:xfrm rot="-16200000" flipH="1">
                <a:off x="6" y="1122"/>
                <a:ext cx="72" cy="8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2041" name="组合 42040"/>
            <p:cNvGrpSpPr/>
            <p:nvPr/>
          </p:nvGrpSpPr>
          <p:grpSpPr>
            <a:xfrm>
              <a:off x="931" y="448"/>
              <a:ext cx="300" cy="865"/>
              <a:chOff x="0" y="0"/>
              <a:chExt cx="350" cy="1265"/>
            </a:xfrm>
          </p:grpSpPr>
          <p:sp>
            <p:nvSpPr>
              <p:cNvPr id="42042" name="文本框 42041"/>
              <p:cNvSpPr txBox="1"/>
              <p:nvPr/>
            </p:nvSpPr>
            <p:spPr>
              <a:xfrm>
                <a:off x="18" y="0"/>
                <a:ext cx="315" cy="5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99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P</a:t>
                </a:r>
                <a:endParaRPr lang="en-US" altLang="zh-CN" sz="3200" b="1">
                  <a:solidFill>
                    <a:srgbClr val="FF3399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42043" name="文本框 42042"/>
              <p:cNvSpPr txBox="1"/>
              <p:nvPr/>
            </p:nvSpPr>
            <p:spPr>
              <a:xfrm>
                <a:off x="0" y="336"/>
                <a:ext cx="350" cy="5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99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N</a:t>
                </a:r>
                <a:endParaRPr lang="en-US" altLang="zh-CN" sz="3200" b="1">
                  <a:solidFill>
                    <a:srgbClr val="FF3399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42044" name="文本框 42043"/>
              <p:cNvSpPr txBox="1"/>
              <p:nvPr/>
            </p:nvSpPr>
            <p:spPr>
              <a:xfrm>
                <a:off x="18" y="731"/>
                <a:ext cx="315" cy="5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99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P</a:t>
                </a:r>
                <a:endParaRPr lang="en-US" altLang="zh-CN" sz="3200" b="1">
                  <a:solidFill>
                    <a:srgbClr val="FF3399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sp>
          <p:nvSpPr>
            <p:cNvPr id="42045" name="文本框 42044"/>
            <p:cNvSpPr txBox="1"/>
            <p:nvPr/>
          </p:nvSpPr>
          <p:spPr>
            <a:xfrm>
              <a:off x="207" y="0"/>
              <a:ext cx="8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2" charset="0"/>
                </a:rPr>
                <a:t>集电极 </a:t>
              </a:r>
              <a:endParaRPr lang="zh-CN" altLang="en-US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2046" name="文本框 42045"/>
            <p:cNvSpPr txBox="1"/>
            <p:nvPr/>
          </p:nvSpPr>
          <p:spPr>
            <a:xfrm>
              <a:off x="0" y="950"/>
              <a:ext cx="6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2" charset="0"/>
                </a:rPr>
                <a:t>基极 </a:t>
              </a:r>
              <a:endParaRPr lang="zh-CN" altLang="en-US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2047" name="文本框 42046"/>
            <p:cNvSpPr txBox="1"/>
            <p:nvPr/>
          </p:nvSpPr>
          <p:spPr>
            <a:xfrm>
              <a:off x="679" y="1652"/>
              <a:ext cx="8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2" charset="0"/>
                </a:rPr>
                <a:t>发射极 </a:t>
              </a:r>
              <a:endParaRPr lang="zh-CN" altLang="en-US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2048" name="文本框 42047"/>
            <p:cNvSpPr txBox="1"/>
            <p:nvPr/>
          </p:nvSpPr>
          <p:spPr>
            <a:xfrm>
              <a:off x="119" y="590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rPr>
                <a:t>B</a:t>
              </a:r>
              <a:endPara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2049" name="文本框 42048"/>
            <p:cNvSpPr txBox="1"/>
            <p:nvPr/>
          </p:nvSpPr>
          <p:spPr>
            <a:xfrm>
              <a:off x="1141" y="5"/>
              <a:ext cx="3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rPr>
                <a:t>C</a:t>
              </a:r>
              <a:endPara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2050" name="文本框 42049"/>
            <p:cNvSpPr txBox="1"/>
            <p:nvPr/>
          </p:nvSpPr>
          <p:spPr>
            <a:xfrm>
              <a:off x="1089" y="1313"/>
              <a:ext cx="45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rPr>
                <a:t>E</a:t>
              </a:r>
              <a:endPara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grpSp>
          <p:nvGrpSpPr>
            <p:cNvPr id="42051" name="组合 42050"/>
            <p:cNvGrpSpPr/>
            <p:nvPr/>
          </p:nvGrpSpPr>
          <p:grpSpPr>
            <a:xfrm>
              <a:off x="1870" y="272"/>
              <a:ext cx="590" cy="1362"/>
              <a:chOff x="0" y="0"/>
              <a:chExt cx="750" cy="1669"/>
            </a:xfrm>
          </p:grpSpPr>
          <p:sp>
            <p:nvSpPr>
              <p:cNvPr id="42052" name="直接连接符 42051"/>
              <p:cNvSpPr/>
              <p:nvPr/>
            </p:nvSpPr>
            <p:spPr>
              <a:xfrm>
                <a:off x="0" y="798"/>
                <a:ext cx="56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3" name="直接连接符 42052"/>
              <p:cNvSpPr/>
              <p:nvPr/>
            </p:nvSpPr>
            <p:spPr>
              <a:xfrm>
                <a:off x="552" y="624"/>
                <a:ext cx="0" cy="3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4" name="直接连接符 42053"/>
              <p:cNvSpPr/>
              <p:nvPr/>
            </p:nvSpPr>
            <p:spPr>
              <a:xfrm rot="-5400000" flipV="1">
                <a:off x="552" y="804"/>
                <a:ext cx="198" cy="18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2055" name="直接连接符 42054"/>
              <p:cNvSpPr/>
              <p:nvPr/>
            </p:nvSpPr>
            <p:spPr>
              <a:xfrm flipV="1">
                <a:off x="552" y="630"/>
                <a:ext cx="198" cy="16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6" name="直接连接符 42055"/>
              <p:cNvSpPr/>
              <p:nvPr/>
            </p:nvSpPr>
            <p:spPr>
              <a:xfrm>
                <a:off x="738" y="60"/>
                <a:ext cx="0" cy="58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7" name="直接连接符 42056"/>
              <p:cNvSpPr/>
              <p:nvPr/>
            </p:nvSpPr>
            <p:spPr>
              <a:xfrm>
                <a:off x="750" y="990"/>
                <a:ext cx="0" cy="6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8" name="文本框 42057"/>
              <p:cNvSpPr txBox="1"/>
              <p:nvPr/>
            </p:nvSpPr>
            <p:spPr>
              <a:xfrm>
                <a:off x="106" y="424"/>
                <a:ext cx="362" cy="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B</a:t>
                </a:r>
                <a:endPara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42059" name="文本框 42058"/>
              <p:cNvSpPr txBox="1"/>
              <p:nvPr/>
            </p:nvSpPr>
            <p:spPr>
              <a:xfrm>
                <a:off x="371" y="1222"/>
                <a:ext cx="362" cy="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E</a:t>
                </a:r>
                <a:endPara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42060" name="文本框 42059"/>
              <p:cNvSpPr txBox="1"/>
              <p:nvPr/>
            </p:nvSpPr>
            <p:spPr>
              <a:xfrm>
                <a:off x="364" y="0"/>
                <a:ext cx="362" cy="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chemeClr val="tx1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C</a:t>
                </a:r>
                <a:endParaRPr lang="en-US" altLang="zh-CN" sz="3200" b="1" i="1">
                  <a:solidFill>
                    <a:schemeClr val="tx1"/>
                  </a:solidFill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sp>
          <p:nvSpPr>
            <p:cNvPr id="42061" name="文本框 42060"/>
            <p:cNvSpPr txBox="1"/>
            <p:nvPr/>
          </p:nvSpPr>
          <p:spPr>
            <a:xfrm>
              <a:off x="857" y="1950"/>
              <a:ext cx="17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2" charset="0"/>
                </a:rPr>
                <a:t>PNP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2" charset="0"/>
                </a:rPr>
                <a:t>型三极管</a:t>
              </a:r>
              <a:endParaRPr lang="zh-CN" altLang="en-US" b="1">
                <a:solidFill>
                  <a:schemeClr val="tx1"/>
                </a:solidFill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  <p:bldP spid="4198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圆角矩形 43009"/>
          <p:cNvSpPr/>
          <p:nvPr/>
        </p:nvSpPr>
        <p:spPr>
          <a:xfrm>
            <a:off x="323850" y="404813"/>
            <a:ext cx="5688013" cy="647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三、双极型三极管的基本开关电路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43011" name="图片 43010" descr="R96A02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274888"/>
            <a:ext cx="7058025" cy="3867150"/>
          </a:xfrm>
          <a:prstGeom prst="rect">
            <a:avLst/>
          </a:prstGeom>
          <a:noFill/>
          <a:ln w="190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3012" name="矩形 43011"/>
          <p:cNvSpPr/>
          <p:nvPr/>
        </p:nvSpPr>
        <p:spPr>
          <a:xfrm>
            <a:off x="468313" y="1196975"/>
            <a:ext cx="8207375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10000"/>
              </a:lnSpc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　　在数字电路中，三极管作为开关元件，主要工作在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饱和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截止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两种开关状态，放大区只是极短暂的过渡状态。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4034" name="对象 44033"/>
          <p:cNvGraphicFramePr>
            <a:graphicFrameLocks noChangeAspect="1"/>
          </p:cNvGraphicFramePr>
          <p:nvPr/>
        </p:nvGraphicFramePr>
        <p:xfrm>
          <a:off x="0" y="260350"/>
          <a:ext cx="8939213" cy="713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4244340" imgH="3397885" progId="Word.Document.8">
                  <p:embed/>
                </p:oleObj>
              </mc:Choice>
              <mc:Fallback>
                <p:oleObj name="" r:id="rId1" imgW="4244340" imgH="3397885" progId="Word.Documen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rcRect t="3786" r="3859" b="7570"/>
                      <a:stretch>
                        <a:fillRect/>
                      </a:stretch>
                    </p:blipFill>
                    <p:spPr>
                      <a:xfrm>
                        <a:off x="0" y="260350"/>
                        <a:ext cx="8939213" cy="713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图片 450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260350"/>
            <a:ext cx="5267325" cy="340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文本框 45058"/>
          <p:cNvSpPr txBox="1"/>
          <p:nvPr/>
        </p:nvSpPr>
        <p:spPr>
          <a:xfrm>
            <a:off x="5795963" y="333375"/>
            <a:ext cx="2667000" cy="116046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华文楷体" panose="02010600040101010101" pitchFamily="2" charset="-122"/>
              </a:rPr>
              <a:t>三极管临界饱和</a:t>
            </a:r>
            <a:endParaRPr lang="zh-CN" altLang="en-US" b="1">
              <a:latin typeface="Times New Roman" panose="02020603050405020304" pitchFamily="2" charset="0"/>
              <a:ea typeface="华文楷体" panose="02010600040101010101" pitchFamily="2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华文楷体" panose="02010600040101010101" pitchFamily="2" charset="-122"/>
              </a:rPr>
              <a:t>时的基极电流：</a:t>
            </a:r>
            <a:endParaRPr lang="zh-CN" altLang="en-US" b="1">
              <a:latin typeface="Times New Roman" panose="02020603050405020304" pitchFamily="2" charset="0"/>
              <a:ea typeface="华文楷体" panose="02010600040101010101" pitchFamily="2" charset="-122"/>
            </a:endParaRPr>
          </a:p>
        </p:txBody>
      </p:sp>
      <p:graphicFrame>
        <p:nvGraphicFramePr>
          <p:cNvPr id="45060" name="对象 45059"/>
          <p:cNvGraphicFramePr>
            <a:graphicFrameLocks noChangeAspect="1"/>
          </p:cNvGraphicFramePr>
          <p:nvPr/>
        </p:nvGraphicFramePr>
        <p:xfrm>
          <a:off x="5986463" y="1628775"/>
          <a:ext cx="2816225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" imgW="1054735" imgH="1029335" progId="Equation.3">
                  <p:embed/>
                </p:oleObj>
              </mc:Choice>
              <mc:Fallback>
                <p:oleObj name="" r:id="rId2" imgW="1054735" imgH="102933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6463" y="1628775"/>
                        <a:ext cx="2816225" cy="27368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文本框 45060"/>
          <p:cNvSpPr txBox="1"/>
          <p:nvPr/>
        </p:nvSpPr>
        <p:spPr>
          <a:xfrm>
            <a:off x="179388" y="3933825"/>
            <a:ext cx="6019800" cy="51911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/>
            <a:r>
              <a:rPr lang="en-US" altLang="zh-CN" b="1">
                <a:latin typeface="Times New Roman" panose="02020603050405020304" pitchFamily="2" charset="0"/>
              </a:rPr>
              <a:t>①</a:t>
            </a:r>
            <a:r>
              <a:rPr lang="en-US" altLang="zh-CN" b="1" i="1">
                <a:latin typeface="Times New Roman" panose="02020603050405020304" pitchFamily="2" charset="0"/>
              </a:rPr>
              <a:t>u</a:t>
            </a:r>
            <a:r>
              <a:rPr lang="en-US" altLang="zh-CN" b="1" i="1" baseline="-25000">
                <a:latin typeface="Times New Roman" panose="02020603050405020304" pitchFamily="2" charset="0"/>
              </a:rPr>
              <a:t>i</a:t>
            </a:r>
            <a:r>
              <a:rPr lang="en-US" altLang="zh-CN" b="1">
                <a:latin typeface="Times New Roman" panose="02020603050405020304" pitchFamily="2" charset="0"/>
              </a:rPr>
              <a:t>=1V</a:t>
            </a:r>
            <a:r>
              <a:rPr lang="zh-CN" altLang="en-US" b="1">
                <a:latin typeface="Times New Roman" panose="02020603050405020304" pitchFamily="2" charset="0"/>
              </a:rPr>
              <a:t>时，三极管导通，基极电流：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aphicFrame>
        <p:nvGraphicFramePr>
          <p:cNvPr id="45062" name="对象 45061"/>
          <p:cNvGraphicFramePr>
            <a:graphicFrameLocks noChangeAspect="1"/>
          </p:cNvGraphicFramePr>
          <p:nvPr/>
        </p:nvGraphicFramePr>
        <p:xfrm>
          <a:off x="304800" y="4572000"/>
          <a:ext cx="6172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4" imgW="2260600" imgH="431800" progId="Equation.3">
                  <p:embed/>
                </p:oleObj>
              </mc:Choice>
              <mc:Fallback>
                <p:oleObj name="" r:id="rId4" imgW="2260600" imgH="431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4572000"/>
                        <a:ext cx="6172200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文本框 45062"/>
          <p:cNvSpPr txBox="1"/>
          <p:nvPr/>
        </p:nvSpPr>
        <p:spPr>
          <a:xfrm>
            <a:off x="468313" y="5805488"/>
            <a:ext cx="7427912" cy="51911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2" charset="0"/>
              </a:rPr>
              <a:t>u</a:t>
            </a:r>
            <a:r>
              <a:rPr lang="en-US" altLang="zh-CN" b="1" baseline="-25000">
                <a:latin typeface="Times New Roman" panose="02020603050405020304" pitchFamily="2" charset="0"/>
              </a:rPr>
              <a:t>o</a:t>
            </a:r>
            <a:r>
              <a:rPr lang="en-US" altLang="zh-CN" b="1">
                <a:latin typeface="Times New Roman" panose="02020603050405020304" pitchFamily="2" charset="0"/>
              </a:rPr>
              <a:t>=</a:t>
            </a:r>
            <a:r>
              <a:rPr lang="en-US" altLang="zh-CN" b="1" i="1">
                <a:latin typeface="Times New Roman" panose="02020603050405020304" pitchFamily="2" charset="0"/>
              </a:rPr>
              <a:t>u</a:t>
            </a:r>
            <a:r>
              <a:rPr lang="en-US" altLang="zh-CN" b="1" baseline="-25000">
                <a:latin typeface="Times New Roman" panose="02020603050405020304" pitchFamily="2" charset="0"/>
              </a:rPr>
              <a:t>CE</a:t>
            </a:r>
            <a:r>
              <a:rPr lang="en-US" altLang="zh-CN" b="1">
                <a:latin typeface="Times New Roman" panose="02020603050405020304" pitchFamily="2" charset="0"/>
              </a:rPr>
              <a:t>=</a:t>
            </a:r>
            <a:r>
              <a:rPr lang="en-US" altLang="zh-CN" b="1" i="1">
                <a:latin typeface="Times New Roman" panose="02020603050405020304" pitchFamily="2" charset="0"/>
              </a:rPr>
              <a:t>V</a:t>
            </a:r>
            <a:r>
              <a:rPr lang="en-US" altLang="zh-CN" b="1" baseline="-25000">
                <a:latin typeface="Times New Roman" panose="02020603050405020304" pitchFamily="2" charset="0"/>
              </a:rPr>
              <a:t>CC</a:t>
            </a:r>
            <a:r>
              <a:rPr lang="en-US" altLang="zh-CN" b="1" i="1">
                <a:latin typeface="Times New Roman" panose="02020603050405020304" pitchFamily="2" charset="0"/>
              </a:rPr>
              <a:t>-i</a:t>
            </a:r>
            <a:r>
              <a:rPr lang="en-US" altLang="zh-CN" b="1" baseline="-25000">
                <a:latin typeface="Times New Roman" panose="02020603050405020304" pitchFamily="2" charset="0"/>
              </a:rPr>
              <a:t>C</a:t>
            </a:r>
            <a:r>
              <a:rPr lang="en-US" altLang="zh-CN" b="1" i="1"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latin typeface="Times New Roman" panose="02020603050405020304" pitchFamily="2" charset="0"/>
              </a:rPr>
              <a:t>c</a:t>
            </a:r>
            <a:r>
              <a:rPr lang="en-US" altLang="zh-CN" b="1">
                <a:latin typeface="Times New Roman" panose="02020603050405020304" pitchFamily="2" charset="0"/>
              </a:rPr>
              <a:t>=5-0.03×50×1=3.5V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061" grpId="0" build="p"/>
      <p:bldP spid="4506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图片 460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188913"/>
            <a:ext cx="4752975" cy="326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文本框 46082"/>
          <p:cNvSpPr txBox="1"/>
          <p:nvPr/>
        </p:nvSpPr>
        <p:spPr>
          <a:xfrm>
            <a:off x="179388" y="3716338"/>
            <a:ext cx="8534400" cy="116046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u</a:t>
            </a:r>
            <a:r>
              <a:rPr lang="en-US" altLang="zh-CN" b="1" i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i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b="1">
                <a:latin typeface="Times New Roman" panose="02020603050405020304" pitchFamily="2" charset="0"/>
                <a:ea typeface="华文楷体" panose="02010600040101010101" pitchFamily="2" charset="-122"/>
              </a:rPr>
              <a:t>0.3V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时，因为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BE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lang="en-US" altLang="zh-CN" b="1">
                <a:latin typeface="Times New Roman" panose="02020603050405020304" pitchFamily="2" charset="0"/>
                <a:ea typeface="华文楷体" panose="02010600040101010101" pitchFamily="2" charset="-122"/>
              </a:rPr>
              <a:t>0.5V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=0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，三极管工作在</a:t>
            </a:r>
            <a:endParaRPr lang="zh-CN" altLang="en-US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   截止状态，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c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=0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。因为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c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=0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，所以输出电压：</a:t>
            </a:r>
            <a:endParaRPr lang="zh-CN" altLang="en-US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084" name="文本框 46083"/>
          <p:cNvSpPr txBox="1"/>
          <p:nvPr/>
        </p:nvSpPr>
        <p:spPr>
          <a:xfrm>
            <a:off x="900113" y="5445125"/>
            <a:ext cx="2819400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</a:rPr>
              <a:t>u</a:t>
            </a:r>
            <a:r>
              <a:rPr lang="en-US" altLang="zh-CN" sz="3200" b="1" baseline="-25000">
                <a:latin typeface="Times New Roman" panose="02020603050405020304" pitchFamily="2" charset="0"/>
              </a:rPr>
              <a:t>o</a:t>
            </a:r>
            <a:r>
              <a:rPr lang="en-US" altLang="zh-CN" sz="3200" b="1">
                <a:latin typeface="Times New Roman" panose="02020603050405020304" pitchFamily="2" charset="0"/>
              </a:rPr>
              <a:t>=</a:t>
            </a:r>
            <a:r>
              <a:rPr lang="en-US" altLang="zh-CN" sz="3200" b="1" i="1">
                <a:latin typeface="Times New Roman" panose="02020603050405020304" pitchFamily="2" charset="0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</a:rPr>
              <a:t>CC</a:t>
            </a:r>
            <a:r>
              <a:rPr lang="en-US" altLang="zh-CN" sz="3200" b="1">
                <a:latin typeface="Times New Roman" panose="02020603050405020304" pitchFamily="2" charset="0"/>
              </a:rPr>
              <a:t>=5V</a:t>
            </a:r>
            <a:endParaRPr lang="en-US" altLang="zh-CN" sz="3200" b="1">
              <a:latin typeface="Times New Roman" panose="02020603050405020304" pitchFamily="2" charset="0"/>
            </a:endParaRPr>
          </a:p>
        </p:txBody>
      </p:sp>
      <p:sp>
        <p:nvSpPr>
          <p:cNvPr id="46085" name="文本框 46084"/>
          <p:cNvSpPr txBox="1"/>
          <p:nvPr/>
        </p:nvSpPr>
        <p:spPr>
          <a:xfrm>
            <a:off x="5548313" y="763588"/>
            <a:ext cx="1484312" cy="466725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2" charset="0"/>
              </a:rPr>
              <a:t>截止状态</a:t>
            </a:r>
            <a:endParaRPr lang="zh-CN" altLang="en-US" sz="2400" b="1">
              <a:solidFill>
                <a:srgbClr val="3333CC"/>
              </a:solidFill>
              <a:latin typeface="Times New Roman" panose="02020603050405020304" pitchFamily="2" charset="0"/>
            </a:endParaRPr>
          </a:p>
        </p:txBody>
      </p:sp>
      <p:sp>
        <p:nvSpPr>
          <p:cNvPr id="46086" name="文本框 46085"/>
          <p:cNvSpPr txBox="1"/>
          <p:nvPr/>
        </p:nvSpPr>
        <p:spPr>
          <a:xfrm>
            <a:off x="4859338" y="2205038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i="1">
                <a:solidFill>
                  <a:srgbClr val="A50021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sz="2400" i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sz="2400" i="1">
                <a:solidFill>
                  <a:srgbClr val="A50021"/>
                </a:solidFill>
                <a:latin typeface="Times New Roman" panose="02020603050405020304" pitchFamily="2" charset="0"/>
              </a:rPr>
              <a:t>=U</a:t>
            </a:r>
            <a:r>
              <a:rPr lang="en-US" altLang="zh-CN" sz="2400" i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IL</a:t>
            </a:r>
            <a:r>
              <a:rPr lang="en-US" altLang="zh-CN" sz="2400" i="1">
                <a:solidFill>
                  <a:srgbClr val="A50021"/>
                </a:solidFill>
                <a:latin typeface="Times New Roman" panose="02020603050405020304" pitchFamily="2" charset="0"/>
              </a:rPr>
              <a:t>&lt;0.5V</a:t>
            </a:r>
            <a:endParaRPr lang="en-US" altLang="zh-CN" sz="2400" i="1">
              <a:solidFill>
                <a:srgbClr val="A50021"/>
              </a:solidFill>
              <a:latin typeface="Times New Roman" panose="02020603050405020304" pitchFamily="2" charset="0"/>
            </a:endParaRPr>
          </a:p>
        </p:txBody>
      </p:sp>
      <p:sp>
        <p:nvSpPr>
          <p:cNvPr id="46087" name="文本框 46086"/>
          <p:cNvSpPr txBox="1"/>
          <p:nvPr/>
        </p:nvSpPr>
        <p:spPr>
          <a:xfrm>
            <a:off x="7924800" y="2132013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i="1">
                <a:solidFill>
                  <a:srgbClr val="A50021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sz="2400" i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o</a:t>
            </a:r>
            <a:r>
              <a:rPr lang="en-US" altLang="zh-CN" sz="2400" i="1">
                <a:solidFill>
                  <a:srgbClr val="A50021"/>
                </a:solidFill>
                <a:latin typeface="Times New Roman" panose="02020603050405020304" pitchFamily="2" charset="0"/>
              </a:rPr>
              <a:t>=+V</a:t>
            </a:r>
            <a:r>
              <a:rPr lang="en-US" altLang="zh-CN" sz="2400" i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CC</a:t>
            </a:r>
            <a:endParaRPr lang="en-US" altLang="zh-CN" sz="2400" i="1">
              <a:solidFill>
                <a:srgbClr val="A5002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46088" name="组合 46087"/>
          <p:cNvGrpSpPr/>
          <p:nvPr/>
        </p:nvGrpSpPr>
        <p:grpSpPr>
          <a:xfrm>
            <a:off x="4716463" y="765175"/>
            <a:ext cx="4189412" cy="2652713"/>
            <a:chOff x="0" y="0"/>
            <a:chExt cx="2639" cy="1671"/>
          </a:xfrm>
        </p:grpSpPr>
        <p:sp>
          <p:nvSpPr>
            <p:cNvPr id="46089" name="文本框 46088"/>
            <p:cNvSpPr txBox="1">
              <a:spLocks noChangeAspect="1"/>
            </p:cNvSpPr>
            <p:nvPr/>
          </p:nvSpPr>
          <p:spPr>
            <a:xfrm>
              <a:off x="1730" y="0"/>
              <a:ext cx="4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+V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CC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090" name="直接连接符 46089"/>
            <p:cNvSpPr>
              <a:spLocks noChangeAspect="1"/>
            </p:cNvSpPr>
            <p:nvPr/>
          </p:nvSpPr>
          <p:spPr>
            <a:xfrm>
              <a:off x="303" y="779"/>
              <a:ext cx="303" cy="1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1" name="直接连接符 46090"/>
            <p:cNvSpPr>
              <a:spLocks noChangeAspect="1"/>
            </p:cNvSpPr>
            <p:nvPr/>
          </p:nvSpPr>
          <p:spPr>
            <a:xfrm>
              <a:off x="909" y="779"/>
              <a:ext cx="302" cy="1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2" name="直接连接符 46091"/>
            <p:cNvSpPr>
              <a:spLocks noChangeAspect="1"/>
            </p:cNvSpPr>
            <p:nvPr/>
          </p:nvSpPr>
          <p:spPr>
            <a:xfrm>
              <a:off x="1601" y="173"/>
              <a:ext cx="1" cy="173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3" name="直接连接符 46092"/>
            <p:cNvSpPr>
              <a:spLocks noChangeAspect="1"/>
            </p:cNvSpPr>
            <p:nvPr/>
          </p:nvSpPr>
          <p:spPr>
            <a:xfrm>
              <a:off x="1601" y="562"/>
              <a:ext cx="1" cy="347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4" name="直接连接符 46093"/>
            <p:cNvSpPr>
              <a:spLocks noChangeAspect="1"/>
            </p:cNvSpPr>
            <p:nvPr/>
          </p:nvSpPr>
          <p:spPr>
            <a:xfrm>
              <a:off x="1601" y="779"/>
              <a:ext cx="562" cy="1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5" name="直接连接符 46094"/>
            <p:cNvSpPr>
              <a:spLocks noChangeAspect="1"/>
            </p:cNvSpPr>
            <p:nvPr/>
          </p:nvSpPr>
          <p:spPr>
            <a:xfrm>
              <a:off x="260" y="1428"/>
              <a:ext cx="1903" cy="1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6" name="直接连接符 46095"/>
            <p:cNvSpPr>
              <a:spLocks noChangeAspect="1"/>
            </p:cNvSpPr>
            <p:nvPr/>
          </p:nvSpPr>
          <p:spPr>
            <a:xfrm>
              <a:off x="1601" y="1211"/>
              <a:ext cx="1" cy="390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7" name="直接连接符 46096"/>
            <p:cNvSpPr>
              <a:spLocks noChangeAspect="1"/>
            </p:cNvSpPr>
            <p:nvPr/>
          </p:nvSpPr>
          <p:spPr>
            <a:xfrm>
              <a:off x="1493" y="1601"/>
              <a:ext cx="216" cy="1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8" name="椭圆 46097"/>
            <p:cNvSpPr>
              <a:spLocks noChangeAspect="1"/>
            </p:cNvSpPr>
            <p:nvPr/>
          </p:nvSpPr>
          <p:spPr>
            <a:xfrm>
              <a:off x="216" y="735"/>
              <a:ext cx="87" cy="87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099" name="椭圆 46098"/>
            <p:cNvSpPr>
              <a:spLocks noChangeAspect="1"/>
            </p:cNvSpPr>
            <p:nvPr/>
          </p:nvSpPr>
          <p:spPr>
            <a:xfrm>
              <a:off x="173" y="1384"/>
              <a:ext cx="87" cy="87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0" name="椭圆 46099"/>
            <p:cNvSpPr>
              <a:spLocks noChangeAspect="1"/>
            </p:cNvSpPr>
            <p:nvPr/>
          </p:nvSpPr>
          <p:spPr>
            <a:xfrm>
              <a:off x="1211" y="735"/>
              <a:ext cx="87" cy="87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1" name="椭圆 46100"/>
            <p:cNvSpPr>
              <a:spLocks noChangeAspect="1"/>
            </p:cNvSpPr>
            <p:nvPr/>
          </p:nvSpPr>
          <p:spPr>
            <a:xfrm>
              <a:off x="1557" y="87"/>
              <a:ext cx="87" cy="86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2" name="椭圆 46101"/>
            <p:cNvSpPr>
              <a:spLocks noChangeAspect="1"/>
            </p:cNvSpPr>
            <p:nvPr/>
          </p:nvSpPr>
          <p:spPr>
            <a:xfrm>
              <a:off x="2163" y="735"/>
              <a:ext cx="87" cy="87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3" name="椭圆 46102"/>
            <p:cNvSpPr>
              <a:spLocks noChangeAspect="1"/>
            </p:cNvSpPr>
            <p:nvPr/>
          </p:nvSpPr>
          <p:spPr>
            <a:xfrm>
              <a:off x="1557" y="909"/>
              <a:ext cx="87" cy="86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4" name="椭圆 46103"/>
            <p:cNvSpPr>
              <a:spLocks noChangeAspect="1"/>
            </p:cNvSpPr>
            <p:nvPr/>
          </p:nvSpPr>
          <p:spPr>
            <a:xfrm>
              <a:off x="1557" y="1125"/>
              <a:ext cx="87" cy="86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5" name="椭圆 46104"/>
            <p:cNvSpPr>
              <a:spLocks noChangeAspect="1"/>
            </p:cNvSpPr>
            <p:nvPr/>
          </p:nvSpPr>
          <p:spPr>
            <a:xfrm>
              <a:off x="2163" y="1384"/>
              <a:ext cx="87" cy="87"/>
            </a:xfrm>
            <a:prstGeom prst="ellipse">
              <a:avLst/>
            </a:prstGeom>
            <a:noFill/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6" name="文本框 46105"/>
            <p:cNvSpPr txBox="1">
              <a:spLocks noChangeAspect="1"/>
            </p:cNvSpPr>
            <p:nvPr/>
          </p:nvSpPr>
          <p:spPr>
            <a:xfrm>
              <a:off x="43" y="649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07" name="文本框 46106"/>
            <p:cNvSpPr txBox="1">
              <a:spLocks noChangeAspect="1"/>
            </p:cNvSpPr>
            <p:nvPr/>
          </p:nvSpPr>
          <p:spPr>
            <a:xfrm>
              <a:off x="0" y="1298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08" name="文本框 46107"/>
            <p:cNvSpPr txBox="1">
              <a:spLocks noChangeAspect="1"/>
            </p:cNvSpPr>
            <p:nvPr/>
          </p:nvSpPr>
          <p:spPr>
            <a:xfrm>
              <a:off x="692" y="433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R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b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09" name="文本框 46108"/>
            <p:cNvSpPr txBox="1">
              <a:spLocks noChangeAspect="1"/>
            </p:cNvSpPr>
            <p:nvPr/>
          </p:nvSpPr>
          <p:spPr>
            <a:xfrm>
              <a:off x="1687" y="346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R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c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0" name="文本框 46109"/>
            <p:cNvSpPr txBox="1">
              <a:spLocks noChangeAspect="1"/>
            </p:cNvSpPr>
            <p:nvPr/>
          </p:nvSpPr>
          <p:spPr>
            <a:xfrm>
              <a:off x="1211" y="519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0000FF"/>
                  </a:solidFill>
                  <a:latin typeface="Times New Roman" panose="02020603050405020304" pitchFamily="2" charset="0"/>
                </a:rPr>
                <a:t>b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1" name="文本框 46110"/>
            <p:cNvSpPr txBox="1">
              <a:spLocks noChangeAspect="1"/>
            </p:cNvSpPr>
            <p:nvPr/>
          </p:nvSpPr>
          <p:spPr>
            <a:xfrm>
              <a:off x="1471" y="519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0000FF"/>
                  </a:solidFill>
                  <a:latin typeface="Times New Roman" panose="02020603050405020304" pitchFamily="2" charset="0"/>
                </a:rPr>
                <a:t>c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2" name="文本框 46111"/>
            <p:cNvSpPr txBox="1">
              <a:spLocks noChangeAspect="1"/>
            </p:cNvSpPr>
            <p:nvPr/>
          </p:nvSpPr>
          <p:spPr>
            <a:xfrm>
              <a:off x="1471" y="1383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0000FF"/>
                  </a:solidFill>
                  <a:latin typeface="Times New Roman" panose="02020603050405020304" pitchFamily="2" charset="0"/>
                </a:rPr>
                <a:t>e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3" name="椭圆 46112"/>
            <p:cNvSpPr>
              <a:spLocks noChangeAspect="1"/>
            </p:cNvSpPr>
            <p:nvPr/>
          </p:nvSpPr>
          <p:spPr>
            <a:xfrm>
              <a:off x="1557" y="735"/>
              <a:ext cx="87" cy="87"/>
            </a:xfrm>
            <a:prstGeom prst="ellipse">
              <a:avLst/>
            </a:prstGeom>
            <a:solidFill>
              <a:schemeClr val="tx1"/>
            </a:solidFill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4" name="椭圆 46113"/>
            <p:cNvSpPr>
              <a:spLocks noChangeAspect="1"/>
            </p:cNvSpPr>
            <p:nvPr/>
          </p:nvSpPr>
          <p:spPr>
            <a:xfrm>
              <a:off x="1557" y="1384"/>
              <a:ext cx="87" cy="87"/>
            </a:xfrm>
            <a:prstGeom prst="ellipse">
              <a:avLst/>
            </a:prstGeom>
            <a:solidFill>
              <a:schemeClr val="tx1"/>
            </a:solidFill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5" name="文本框 46114"/>
            <p:cNvSpPr txBox="1">
              <a:spLocks noChangeAspect="1"/>
            </p:cNvSpPr>
            <p:nvPr/>
          </p:nvSpPr>
          <p:spPr>
            <a:xfrm>
              <a:off x="2293" y="649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6" name="文本框 46115"/>
            <p:cNvSpPr txBox="1">
              <a:spLocks noChangeAspect="1"/>
            </p:cNvSpPr>
            <p:nvPr/>
          </p:nvSpPr>
          <p:spPr>
            <a:xfrm>
              <a:off x="2293" y="1298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6117" name="矩形 46116"/>
            <p:cNvSpPr/>
            <p:nvPr/>
          </p:nvSpPr>
          <p:spPr>
            <a:xfrm>
              <a:off x="589" y="725"/>
              <a:ext cx="318" cy="91"/>
            </a:xfrm>
            <a:prstGeom prst="rect">
              <a:avLst/>
            </a:prstGeom>
            <a:solidFill>
              <a:schemeClr val="tx2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8" name="矩形 46117"/>
            <p:cNvSpPr/>
            <p:nvPr/>
          </p:nvSpPr>
          <p:spPr>
            <a:xfrm>
              <a:off x="1565" y="363"/>
              <a:ext cx="69" cy="226"/>
            </a:xfrm>
            <a:prstGeom prst="rect">
              <a:avLst/>
            </a:prstGeom>
            <a:solidFill>
              <a:schemeClr val="tx2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3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charRg st="33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08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608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  <p:bldP spid="46084" grpId="0"/>
      <p:bldP spid="46085" grpId="0" animBg="1"/>
      <p:bldP spid="46086" grpId="0" build="p"/>
      <p:bldP spid="4608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图片 47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88913"/>
            <a:ext cx="5267325" cy="34099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7107" name="对象 47106"/>
          <p:cNvGraphicFramePr>
            <a:graphicFrameLocks noChangeAspect="1"/>
          </p:cNvGraphicFramePr>
          <p:nvPr/>
        </p:nvGraphicFramePr>
        <p:xfrm>
          <a:off x="5867400" y="333375"/>
          <a:ext cx="2814638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" imgW="1054735" imgH="1029335" progId="Equation.3">
                  <p:embed/>
                </p:oleObj>
              </mc:Choice>
              <mc:Fallback>
                <p:oleObj name="" r:id="rId2" imgW="1054735" imgH="102933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67400" y="333375"/>
                        <a:ext cx="2814638" cy="27368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文本框 47107"/>
          <p:cNvSpPr txBox="1"/>
          <p:nvPr/>
        </p:nvSpPr>
        <p:spPr>
          <a:xfrm>
            <a:off x="0" y="3573463"/>
            <a:ext cx="7010400" cy="51911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en-US" altLang="zh-CN" b="1" i="1">
                <a:latin typeface="Times New Roman" panose="02020603050405020304" pitchFamily="2" charset="0"/>
                <a:ea typeface="华文楷体" panose="02010600040101010101" pitchFamily="2" charset="-122"/>
              </a:rPr>
              <a:t>u</a:t>
            </a:r>
            <a:r>
              <a:rPr lang="en-US" altLang="zh-CN" b="1" i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i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3V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时，三极管导通，基极电流：</a:t>
            </a:r>
            <a:endParaRPr lang="zh-CN" altLang="en-US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47109" name="对象 47108"/>
          <p:cNvGraphicFramePr>
            <a:graphicFrameLocks noChangeAspect="1"/>
          </p:cNvGraphicFramePr>
          <p:nvPr/>
        </p:nvGraphicFramePr>
        <p:xfrm>
          <a:off x="250825" y="4292600"/>
          <a:ext cx="46069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4" imgW="1625600" imgH="393700" progId="Equation.3">
                  <p:embed/>
                </p:oleObj>
              </mc:Choice>
              <mc:Fallback>
                <p:oleObj name="" r:id="rId4" imgW="1625600" imgH="3937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0825" y="4292600"/>
                        <a:ext cx="4606925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文本框 47109"/>
          <p:cNvSpPr txBox="1"/>
          <p:nvPr/>
        </p:nvSpPr>
        <p:spPr>
          <a:xfrm>
            <a:off x="395288" y="5949950"/>
            <a:ext cx="4343400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华文楷体" panose="02010600040101010101" pitchFamily="2" charset="-122"/>
              </a:rPr>
              <a:t>u</a:t>
            </a:r>
            <a:r>
              <a:rPr lang="en-US" altLang="zh-CN" sz="3200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o</a:t>
            </a:r>
            <a:r>
              <a:rPr lang="zh-CN" altLang="en-US" sz="3200" b="1">
                <a:latin typeface="Times New Roman" panose="02020603050405020304" pitchFamily="2" charset="0"/>
                <a:ea typeface="华文楷体" panose="02010600040101010101" pitchFamily="2" charset="-122"/>
              </a:rPr>
              <a:t>＝</a:t>
            </a:r>
            <a:r>
              <a:rPr lang="en-US" altLang="zh-CN" sz="3200" b="1" i="1">
                <a:latin typeface="Times New Roman" panose="02020603050405020304" pitchFamily="2" charset="0"/>
                <a:ea typeface="华文楷体" panose="02010600040101010101" pitchFamily="2" charset="-122"/>
              </a:rPr>
              <a:t>U</a:t>
            </a:r>
            <a:r>
              <a:rPr lang="en-US" altLang="zh-CN" sz="3200" b="1" baseline="-25000">
                <a:latin typeface="Times New Roman" panose="02020603050405020304" pitchFamily="2" charset="0"/>
                <a:ea typeface="华文楷体" panose="02010600040101010101" pitchFamily="2" charset="-122"/>
              </a:rPr>
              <a:t>CES</a:t>
            </a:r>
            <a:r>
              <a:rPr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0.3V</a:t>
            </a:r>
            <a:endParaRPr lang="en-US" altLang="zh-CN" sz="32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111" name="文本框 47110"/>
          <p:cNvSpPr txBox="1"/>
          <p:nvPr/>
        </p:nvSpPr>
        <p:spPr>
          <a:xfrm>
            <a:off x="323850" y="5373688"/>
            <a:ext cx="21605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三极管饱和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47112" name="文本框 47111"/>
          <p:cNvSpPr txBox="1"/>
          <p:nvPr/>
        </p:nvSpPr>
        <p:spPr>
          <a:xfrm>
            <a:off x="7451725" y="3644900"/>
            <a:ext cx="1447800" cy="466725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2" charset="0"/>
              </a:rPr>
              <a:t>饱和状态</a:t>
            </a:r>
            <a:endParaRPr lang="zh-CN" altLang="en-US" sz="2400" b="1">
              <a:solidFill>
                <a:srgbClr val="3333CC"/>
              </a:solidFill>
              <a:latin typeface="Times New Roman" panose="02020603050405020304" pitchFamily="2" charset="0"/>
            </a:endParaRPr>
          </a:p>
        </p:txBody>
      </p:sp>
      <p:sp>
        <p:nvSpPr>
          <p:cNvPr id="47113" name="文本框 47112"/>
          <p:cNvSpPr txBox="1"/>
          <p:nvPr/>
        </p:nvSpPr>
        <p:spPr>
          <a:xfrm>
            <a:off x="5819775" y="5573713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sz="2400" baseline="-25000">
                <a:solidFill>
                  <a:srgbClr val="CC3300"/>
                </a:solidFill>
                <a:latin typeface="Times New Roman" panose="02020603050405020304" pitchFamily="2" charset="0"/>
              </a:rPr>
              <a:t>B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2" charset="0"/>
              </a:rPr>
              <a:t>≥I</a:t>
            </a:r>
            <a:r>
              <a:rPr lang="en-US" altLang="zh-CN" sz="2400" baseline="-25000">
                <a:solidFill>
                  <a:srgbClr val="CC3300"/>
                </a:solidFill>
                <a:latin typeface="Times New Roman" panose="02020603050405020304" pitchFamily="2" charset="0"/>
              </a:rPr>
              <a:t>BS</a:t>
            </a:r>
            <a:endParaRPr lang="en-US" altLang="zh-CN" sz="2400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  <p:sp>
        <p:nvSpPr>
          <p:cNvPr id="47114" name="直接连接符 47113"/>
          <p:cNvSpPr/>
          <p:nvPr/>
        </p:nvSpPr>
        <p:spPr>
          <a:xfrm>
            <a:off x="5675313" y="5573713"/>
            <a:ext cx="914400" cy="1587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7115" name="文本框 47114"/>
          <p:cNvSpPr txBox="1"/>
          <p:nvPr/>
        </p:nvSpPr>
        <p:spPr>
          <a:xfrm>
            <a:off x="4811713" y="5862638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sz="2400" i="1" baseline="-25000">
                <a:solidFill>
                  <a:srgbClr val="CC3300"/>
                </a:solidFill>
                <a:latin typeface="Times New Roman" panose="02020603050405020304" pitchFamily="2" charset="0"/>
              </a:rPr>
              <a:t>i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=U</a:t>
            </a:r>
            <a:r>
              <a:rPr lang="en-US" altLang="zh-CN" sz="2400" i="1" baseline="-25000">
                <a:solidFill>
                  <a:srgbClr val="CC3300"/>
                </a:solidFill>
                <a:latin typeface="Times New Roman" panose="02020603050405020304" pitchFamily="2" charset="0"/>
              </a:rPr>
              <a:t>IH</a:t>
            </a:r>
            <a:endParaRPr lang="en-US" altLang="zh-CN" sz="2400" i="1">
              <a:solidFill>
                <a:srgbClr val="CC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47116" name="文本框 47115"/>
          <p:cNvSpPr txBox="1"/>
          <p:nvPr/>
        </p:nvSpPr>
        <p:spPr>
          <a:xfrm>
            <a:off x="7978775" y="5646738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u</a:t>
            </a:r>
            <a:r>
              <a:rPr lang="en-US" altLang="zh-CN" sz="2400" i="1" baseline="-25000">
                <a:solidFill>
                  <a:srgbClr val="CC3300"/>
                </a:solidFill>
                <a:latin typeface="Times New Roman" panose="02020603050405020304" pitchFamily="2" charset="0"/>
              </a:rPr>
              <a:t>o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=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2" charset="0"/>
              </a:rPr>
              <a:t>0.3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2" charset="0"/>
              </a:rPr>
              <a:t>V</a:t>
            </a:r>
            <a:endParaRPr lang="en-US" altLang="zh-CN" sz="2400" i="1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47117" name="组合 47116"/>
          <p:cNvGrpSpPr/>
          <p:nvPr/>
        </p:nvGrpSpPr>
        <p:grpSpPr>
          <a:xfrm>
            <a:off x="4954588" y="4205288"/>
            <a:ext cx="4189412" cy="2652712"/>
            <a:chOff x="0" y="0"/>
            <a:chExt cx="2639" cy="1671"/>
          </a:xfrm>
        </p:grpSpPr>
        <p:sp>
          <p:nvSpPr>
            <p:cNvPr id="47118" name="直接连接符 47117"/>
            <p:cNvSpPr>
              <a:spLocks noChangeAspect="1"/>
            </p:cNvSpPr>
            <p:nvPr/>
          </p:nvSpPr>
          <p:spPr>
            <a:xfrm>
              <a:off x="1600" y="779"/>
              <a:ext cx="1" cy="64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9" name="直接连接符 47118"/>
            <p:cNvSpPr>
              <a:spLocks noChangeAspect="1"/>
            </p:cNvSpPr>
            <p:nvPr/>
          </p:nvSpPr>
          <p:spPr>
            <a:xfrm>
              <a:off x="303" y="779"/>
              <a:ext cx="332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0" name="直接连接符 47119"/>
            <p:cNvSpPr>
              <a:spLocks noChangeAspect="1"/>
            </p:cNvSpPr>
            <p:nvPr/>
          </p:nvSpPr>
          <p:spPr>
            <a:xfrm>
              <a:off x="909" y="779"/>
              <a:ext cx="302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1" name="直接连接符 47120"/>
            <p:cNvSpPr>
              <a:spLocks noChangeAspect="1"/>
            </p:cNvSpPr>
            <p:nvPr/>
          </p:nvSpPr>
          <p:spPr>
            <a:xfrm>
              <a:off x="1611" y="181"/>
              <a:ext cx="1" cy="17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2" name="直接连接符 47121"/>
            <p:cNvSpPr>
              <a:spLocks noChangeAspect="1"/>
            </p:cNvSpPr>
            <p:nvPr/>
          </p:nvSpPr>
          <p:spPr>
            <a:xfrm>
              <a:off x="1601" y="562"/>
              <a:ext cx="1" cy="34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3" name="直接连接符 47122"/>
            <p:cNvSpPr>
              <a:spLocks noChangeAspect="1"/>
            </p:cNvSpPr>
            <p:nvPr/>
          </p:nvSpPr>
          <p:spPr>
            <a:xfrm>
              <a:off x="1601" y="779"/>
              <a:ext cx="562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4" name="直接连接符 47123"/>
            <p:cNvSpPr>
              <a:spLocks noChangeAspect="1"/>
            </p:cNvSpPr>
            <p:nvPr/>
          </p:nvSpPr>
          <p:spPr>
            <a:xfrm>
              <a:off x="260" y="1428"/>
              <a:ext cx="1903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5" name="直接连接符 47124"/>
            <p:cNvSpPr>
              <a:spLocks noChangeAspect="1"/>
            </p:cNvSpPr>
            <p:nvPr/>
          </p:nvSpPr>
          <p:spPr>
            <a:xfrm>
              <a:off x="1601" y="1211"/>
              <a:ext cx="1" cy="39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直接连接符 47125"/>
            <p:cNvSpPr>
              <a:spLocks noChangeAspect="1"/>
            </p:cNvSpPr>
            <p:nvPr/>
          </p:nvSpPr>
          <p:spPr>
            <a:xfrm>
              <a:off x="1493" y="1601"/>
              <a:ext cx="216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7" name="椭圆 47126"/>
            <p:cNvSpPr>
              <a:spLocks noChangeAspect="1"/>
            </p:cNvSpPr>
            <p:nvPr/>
          </p:nvSpPr>
          <p:spPr>
            <a:xfrm>
              <a:off x="216" y="735"/>
              <a:ext cx="87" cy="87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28" name="椭圆 47127"/>
            <p:cNvSpPr>
              <a:spLocks noChangeAspect="1"/>
            </p:cNvSpPr>
            <p:nvPr/>
          </p:nvSpPr>
          <p:spPr>
            <a:xfrm>
              <a:off x="173" y="1384"/>
              <a:ext cx="87" cy="87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29" name="椭圆 47128"/>
            <p:cNvSpPr>
              <a:spLocks noChangeAspect="1"/>
            </p:cNvSpPr>
            <p:nvPr/>
          </p:nvSpPr>
          <p:spPr>
            <a:xfrm>
              <a:off x="1564" y="91"/>
              <a:ext cx="87" cy="86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30" name="椭圆 47129"/>
            <p:cNvSpPr>
              <a:spLocks noChangeAspect="1"/>
            </p:cNvSpPr>
            <p:nvPr/>
          </p:nvSpPr>
          <p:spPr>
            <a:xfrm>
              <a:off x="2163" y="735"/>
              <a:ext cx="87" cy="87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31" name="椭圆 47130"/>
            <p:cNvSpPr>
              <a:spLocks noChangeAspect="1"/>
            </p:cNvSpPr>
            <p:nvPr/>
          </p:nvSpPr>
          <p:spPr>
            <a:xfrm>
              <a:off x="2163" y="1384"/>
              <a:ext cx="87" cy="87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32" name="文本框 47131"/>
            <p:cNvSpPr txBox="1">
              <a:spLocks noChangeAspect="1"/>
            </p:cNvSpPr>
            <p:nvPr/>
          </p:nvSpPr>
          <p:spPr>
            <a:xfrm>
              <a:off x="43" y="649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3" name="文本框 47132"/>
            <p:cNvSpPr txBox="1">
              <a:spLocks noChangeAspect="1"/>
            </p:cNvSpPr>
            <p:nvPr/>
          </p:nvSpPr>
          <p:spPr>
            <a:xfrm>
              <a:off x="0" y="1298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4" name="文本框 47133"/>
            <p:cNvSpPr txBox="1">
              <a:spLocks noChangeAspect="1"/>
            </p:cNvSpPr>
            <p:nvPr/>
          </p:nvSpPr>
          <p:spPr>
            <a:xfrm>
              <a:off x="692" y="433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R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b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5" name="文本框 47134"/>
            <p:cNvSpPr txBox="1">
              <a:spLocks noChangeAspect="1"/>
            </p:cNvSpPr>
            <p:nvPr/>
          </p:nvSpPr>
          <p:spPr>
            <a:xfrm>
              <a:off x="1687" y="346"/>
              <a:ext cx="346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R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c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6" name="文本框 47135"/>
            <p:cNvSpPr txBox="1">
              <a:spLocks noChangeAspect="1"/>
            </p:cNvSpPr>
            <p:nvPr/>
          </p:nvSpPr>
          <p:spPr>
            <a:xfrm>
              <a:off x="1730" y="0"/>
              <a:ext cx="4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+V</a:t>
              </a:r>
              <a:r>
                <a:rPr lang="en-US" altLang="zh-CN" sz="2400" baseline="-25000">
                  <a:solidFill>
                    <a:srgbClr val="FF3300"/>
                  </a:solidFill>
                  <a:latin typeface="Times New Roman" panose="02020603050405020304" pitchFamily="2" charset="0"/>
                </a:rPr>
                <a:t>CC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7" name="文本框 47136"/>
            <p:cNvSpPr txBox="1">
              <a:spLocks noChangeAspect="1"/>
            </p:cNvSpPr>
            <p:nvPr/>
          </p:nvSpPr>
          <p:spPr>
            <a:xfrm>
              <a:off x="1211" y="519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b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8" name="文本框 47137"/>
            <p:cNvSpPr txBox="1">
              <a:spLocks noChangeAspect="1"/>
            </p:cNvSpPr>
            <p:nvPr/>
          </p:nvSpPr>
          <p:spPr>
            <a:xfrm>
              <a:off x="1471" y="519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c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39" name="文本框 47138"/>
            <p:cNvSpPr txBox="1">
              <a:spLocks noChangeAspect="1"/>
            </p:cNvSpPr>
            <p:nvPr/>
          </p:nvSpPr>
          <p:spPr>
            <a:xfrm>
              <a:off x="1471" y="1383"/>
              <a:ext cx="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e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40" name="椭圆 47139"/>
            <p:cNvSpPr>
              <a:spLocks noChangeAspect="1"/>
            </p:cNvSpPr>
            <p:nvPr/>
          </p:nvSpPr>
          <p:spPr>
            <a:xfrm>
              <a:off x="1557" y="735"/>
              <a:ext cx="87" cy="8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41" name="椭圆 47140"/>
            <p:cNvSpPr>
              <a:spLocks noChangeAspect="1"/>
            </p:cNvSpPr>
            <p:nvPr/>
          </p:nvSpPr>
          <p:spPr>
            <a:xfrm>
              <a:off x="1557" y="1384"/>
              <a:ext cx="87" cy="8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42" name="文本框 47141"/>
            <p:cNvSpPr txBox="1">
              <a:spLocks noChangeAspect="1"/>
            </p:cNvSpPr>
            <p:nvPr/>
          </p:nvSpPr>
          <p:spPr>
            <a:xfrm>
              <a:off x="2293" y="649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43" name="文本框 47142"/>
            <p:cNvSpPr txBox="1">
              <a:spLocks noChangeAspect="1"/>
            </p:cNvSpPr>
            <p:nvPr/>
          </p:nvSpPr>
          <p:spPr>
            <a:xfrm>
              <a:off x="2293" y="1298"/>
              <a:ext cx="2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44" name="直接连接符 47143"/>
            <p:cNvSpPr>
              <a:spLocks noChangeAspect="1"/>
            </p:cNvSpPr>
            <p:nvPr/>
          </p:nvSpPr>
          <p:spPr>
            <a:xfrm>
              <a:off x="1211" y="779"/>
              <a:ext cx="1" cy="64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5" name="椭圆 47144"/>
            <p:cNvSpPr>
              <a:spLocks noChangeAspect="1"/>
            </p:cNvSpPr>
            <p:nvPr/>
          </p:nvSpPr>
          <p:spPr>
            <a:xfrm>
              <a:off x="1125" y="995"/>
              <a:ext cx="173" cy="17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46" name="椭圆 47145"/>
            <p:cNvSpPr>
              <a:spLocks noChangeAspect="1"/>
            </p:cNvSpPr>
            <p:nvPr/>
          </p:nvSpPr>
          <p:spPr>
            <a:xfrm>
              <a:off x="1514" y="995"/>
              <a:ext cx="173" cy="17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47" name="椭圆 47146"/>
            <p:cNvSpPr>
              <a:spLocks noChangeAspect="1"/>
            </p:cNvSpPr>
            <p:nvPr/>
          </p:nvSpPr>
          <p:spPr>
            <a:xfrm>
              <a:off x="1168" y="1384"/>
              <a:ext cx="87" cy="8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48" name="文本框 47147"/>
            <p:cNvSpPr txBox="1">
              <a:spLocks noChangeAspect="1"/>
            </p:cNvSpPr>
            <p:nvPr/>
          </p:nvSpPr>
          <p:spPr>
            <a:xfrm>
              <a:off x="1211" y="735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49" name="文本框 47148"/>
            <p:cNvSpPr txBox="1">
              <a:spLocks noChangeAspect="1"/>
            </p:cNvSpPr>
            <p:nvPr/>
          </p:nvSpPr>
          <p:spPr>
            <a:xfrm>
              <a:off x="1644" y="734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＋</a:t>
              </a:r>
              <a:endParaRPr lang="zh-CN" altLang="en-US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0" name="文本框 47149"/>
            <p:cNvSpPr txBox="1">
              <a:spLocks noChangeAspect="1"/>
            </p:cNvSpPr>
            <p:nvPr/>
          </p:nvSpPr>
          <p:spPr>
            <a:xfrm>
              <a:off x="1255" y="1211"/>
              <a:ext cx="2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1" name="文本框 47150"/>
            <p:cNvSpPr txBox="1">
              <a:spLocks noChangeAspect="1"/>
            </p:cNvSpPr>
            <p:nvPr/>
          </p:nvSpPr>
          <p:spPr>
            <a:xfrm>
              <a:off x="1644" y="1211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2" charset="0"/>
                </a:rPr>
                <a:t>－</a:t>
              </a:r>
              <a:endParaRPr lang="zh-CN" altLang="en-US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2" name="文本框 47151"/>
            <p:cNvSpPr txBox="1">
              <a:spLocks noChangeAspect="1"/>
            </p:cNvSpPr>
            <p:nvPr/>
          </p:nvSpPr>
          <p:spPr>
            <a:xfrm>
              <a:off x="822" y="1125"/>
              <a:ext cx="3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000">
                  <a:solidFill>
                    <a:srgbClr val="3333CC"/>
                  </a:solidFill>
                  <a:latin typeface="Times New Roman" panose="02020603050405020304" pitchFamily="2" charset="0"/>
                </a:rPr>
                <a:t>0.7V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3" name="文本框 47152"/>
            <p:cNvSpPr txBox="1">
              <a:spLocks noChangeAspect="1"/>
            </p:cNvSpPr>
            <p:nvPr/>
          </p:nvSpPr>
          <p:spPr>
            <a:xfrm>
              <a:off x="1730" y="995"/>
              <a:ext cx="3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endParaRPr sz="2400">
                <a:solidFill>
                  <a:schemeClr val="tx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4" name="文本框 47153"/>
            <p:cNvSpPr txBox="1">
              <a:spLocks noChangeAspect="1"/>
            </p:cNvSpPr>
            <p:nvPr/>
          </p:nvSpPr>
          <p:spPr>
            <a:xfrm>
              <a:off x="1644" y="1103"/>
              <a:ext cx="43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000">
                  <a:solidFill>
                    <a:srgbClr val="3333CC"/>
                  </a:solidFill>
                  <a:latin typeface="Times New Roman" panose="02020603050405020304" pitchFamily="2" charset="0"/>
                </a:rPr>
                <a:t>0.3V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47155" name="矩形 47154"/>
            <p:cNvSpPr/>
            <p:nvPr/>
          </p:nvSpPr>
          <p:spPr>
            <a:xfrm>
              <a:off x="635" y="726"/>
              <a:ext cx="272" cy="9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156" name="矩形 47155"/>
            <p:cNvSpPr/>
            <p:nvPr/>
          </p:nvSpPr>
          <p:spPr>
            <a:xfrm rot="5400000">
              <a:off x="1495" y="406"/>
              <a:ext cx="227" cy="9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4711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4711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471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  <p:bldP spid="47110" grpId="0"/>
      <p:bldP spid="47111" grpId="0"/>
      <p:bldP spid="47112" grpId="0" animBg="1"/>
      <p:bldP spid="47113" grpId="0" advAuto="1000" build="p"/>
      <p:bldP spid="47115" grpId="0" build="p"/>
      <p:bldP spid="4711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圆角矩形 48129"/>
          <p:cNvSpPr/>
          <p:nvPr/>
        </p:nvSpPr>
        <p:spPr>
          <a:xfrm>
            <a:off x="323850" y="333375"/>
            <a:ext cx="5688013" cy="647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四、双极型三极管的开关等效电路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sp>
        <p:nvSpPr>
          <p:cNvPr id="48131" name="矩形 48130"/>
          <p:cNvSpPr/>
          <p:nvPr/>
        </p:nvSpPr>
        <p:spPr>
          <a:xfrm>
            <a:off x="6372225" y="5300663"/>
            <a:ext cx="2327275" cy="6397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304800"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开关等效电路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32" name="矩形 48131"/>
          <p:cNvSpPr/>
          <p:nvPr/>
        </p:nvSpPr>
        <p:spPr>
          <a:xfrm>
            <a:off x="684213" y="4221163"/>
            <a:ext cx="2673350" cy="7334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50000"/>
              </a:lnSpc>
              <a:spcBef>
                <a:spcPct val="20000"/>
              </a:spcBef>
            </a:pPr>
            <a:r>
              <a:rPr lang="en-US" altLang="zh-CN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(1) 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截止状态  </a:t>
            </a:r>
            <a:endParaRPr lang="zh-CN" altLang="en-US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48133" name="图片 48132" descr="R96A0254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292600"/>
            <a:ext cx="1600200" cy="2209800"/>
          </a:xfrm>
          <a:prstGeom prst="rect">
            <a:avLst/>
          </a:prstGeom>
          <a:noFill/>
          <a:ln w="127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8134" name="矩形 48133"/>
          <p:cNvSpPr/>
          <p:nvPr/>
        </p:nvSpPr>
        <p:spPr>
          <a:xfrm>
            <a:off x="684213" y="5084763"/>
            <a:ext cx="32766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条件：发射结反偏</a:t>
            </a:r>
            <a:endParaRPr lang="zh-CN" altLang="en-US">
              <a:solidFill>
                <a:schemeClr val="tx1"/>
              </a:solidFill>
              <a:latin typeface="黑体" panose="0201060906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特点：电流约为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 </a:t>
            </a:r>
            <a:endParaRPr lang="en-US" altLang="zh-CN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48135" name="文本占位符 48134" descr="R96A0253"/>
          <p:cNvPicPr>
            <a:picLocks noGrp="1" noChangeAspect="1"/>
          </p:cNvPicPr>
          <p:nvPr>
            <p:ph type="body" idx="1"/>
          </p:nvPr>
        </p:nvPicPr>
        <p:blipFill>
          <a:blip r:embed="rId2"/>
          <a:stretch>
            <a:fillRect/>
          </a:stretch>
        </p:blipFill>
        <p:spPr>
          <a:xfrm>
            <a:off x="900113" y="981075"/>
            <a:ext cx="6705600" cy="2997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pic>
      <p:sp>
        <p:nvSpPr>
          <p:cNvPr id="48136" name="矩形 48135"/>
          <p:cNvSpPr/>
          <p:nvPr/>
        </p:nvSpPr>
        <p:spPr>
          <a:xfrm>
            <a:off x="4419600" y="2438400"/>
            <a:ext cx="3581400" cy="5334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ldLvl="0" animBg="1"/>
      <p:bldP spid="48131" grpId="0"/>
      <p:bldP spid="48132" grpId="0"/>
      <p:bldP spid="481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矩形 49153"/>
          <p:cNvSpPr/>
          <p:nvPr/>
        </p:nvSpPr>
        <p:spPr>
          <a:xfrm>
            <a:off x="228600" y="3200400"/>
            <a:ext cx="2139950" cy="7334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50000"/>
              </a:lnSpc>
              <a:spcBef>
                <a:spcPct val="20000"/>
              </a:spcBef>
            </a:pPr>
            <a:r>
              <a:rPr lang="en-US" altLang="zh-CN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(2)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饱和状态</a:t>
            </a:r>
            <a:endParaRPr lang="zh-CN" altLang="en-US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49155" name="图片 49154" descr="R96A0254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3581400"/>
            <a:ext cx="2546350" cy="2667000"/>
          </a:xfrm>
          <a:prstGeom prst="rect">
            <a:avLst/>
          </a:prstGeom>
          <a:noFill/>
          <a:ln w="127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49156" name="组合 49155"/>
          <p:cNvGrpSpPr/>
          <p:nvPr/>
        </p:nvGrpSpPr>
        <p:grpSpPr>
          <a:xfrm>
            <a:off x="1219200" y="304800"/>
            <a:ext cx="6705600" cy="2997200"/>
            <a:chOff x="0" y="0"/>
            <a:chExt cx="4224" cy="1888"/>
          </a:xfrm>
        </p:grpSpPr>
        <p:pic>
          <p:nvPicPr>
            <p:cNvPr id="49157" name="图片 49156" descr="R96A02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224" cy="1888"/>
            </a:xfrm>
            <a:prstGeom prst="rect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9158" name="矩形 49157"/>
            <p:cNvSpPr/>
            <p:nvPr/>
          </p:nvSpPr>
          <p:spPr>
            <a:xfrm>
              <a:off x="1728" y="48"/>
              <a:ext cx="960" cy="1728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9159" name="组合 49158"/>
          <p:cNvGrpSpPr/>
          <p:nvPr/>
        </p:nvGrpSpPr>
        <p:grpSpPr>
          <a:xfrm>
            <a:off x="395288" y="4005263"/>
            <a:ext cx="5181600" cy="2597150"/>
            <a:chOff x="0" y="0"/>
            <a:chExt cx="3264" cy="1636"/>
          </a:xfrm>
        </p:grpSpPr>
        <p:sp>
          <p:nvSpPr>
            <p:cNvPr id="49160" name="矩形 49159"/>
            <p:cNvSpPr/>
            <p:nvPr/>
          </p:nvSpPr>
          <p:spPr>
            <a:xfrm>
              <a:off x="0" y="0"/>
              <a:ext cx="3264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lnSpc>
                  <a:spcPct val="120000"/>
                </a:lnSpc>
              </a:pP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2" charset="0"/>
                  <a:ea typeface="黑体" panose="02010609060101010101" pitchFamily="2" charset="-122"/>
                </a:rPr>
                <a:t>条件：发射结正偏，集电结正偏</a:t>
              </a:r>
              <a:endParaRPr lang="zh-CN" altLang="en-US">
                <a:solidFill>
                  <a:schemeClr val="tx1"/>
                </a:solidFill>
                <a:latin typeface="黑体" panose="02010609060101010101" pitchFamily="2" charset="-122"/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2" charset="0"/>
                  <a:ea typeface="黑体" panose="02010609060101010101" pitchFamily="2" charset="-122"/>
                </a:rPr>
                <a:t>特点：</a:t>
              </a:r>
              <a:r>
                <a:rPr lang="en-US" altLang="zh-CN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U</a:t>
              </a:r>
              <a:r>
                <a:rPr lang="en-US" altLang="zh-CN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BES</a:t>
              </a:r>
              <a:r>
                <a:rPr lang="en-US" altLang="zh-CN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=0.7V</a:t>
              </a:r>
              <a:r>
                <a:rPr lang="zh-CN" altLang="en-US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r>
                <a:rPr lang="en-US" altLang="zh-CN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U</a:t>
              </a:r>
              <a:r>
                <a:rPr lang="en-US" altLang="zh-CN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CES</a:t>
              </a:r>
              <a:r>
                <a:rPr lang="en-US" altLang="zh-CN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=0.3V/</a:t>
              </a:r>
              <a:r>
                <a:rPr lang="zh-CN" altLang="en-US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硅</a:t>
              </a:r>
              <a:endParaRPr lang="zh-CN" altLang="en-US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pic>
          <p:nvPicPr>
            <p:cNvPr id="49161" name="图片 491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" y="768"/>
              <a:ext cx="2676" cy="394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49162" name="图片 491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" y="1248"/>
              <a:ext cx="1649" cy="388"/>
            </a:xfrm>
            <a:prstGeom prst="rect">
              <a:avLst/>
            </a:prstGeom>
            <a:noFill/>
            <a:ln w="34925" cap="flat" cmpd="sng">
              <a:solidFill>
                <a:srgbClr val="99FF66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178" name="图片 50177" descr="R96A0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838200"/>
            <a:ext cx="6477000" cy="4333875"/>
          </a:xfrm>
          <a:prstGeom prst="rect">
            <a:avLst/>
          </a:prstGeom>
          <a:noFill/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0179" name="矩形 50178"/>
          <p:cNvSpPr/>
          <p:nvPr/>
        </p:nvSpPr>
        <p:spPr>
          <a:xfrm>
            <a:off x="2209800" y="5486400"/>
            <a:ext cx="429895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304800"/>
            <a:r>
              <a:rPr lang="zh-CN" altLang="en-US" sz="24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　三极管开关等效电路</a:t>
            </a:r>
            <a:endParaRPr lang="zh-CN" altLang="en-US" sz="24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304800"/>
            <a:r>
              <a:rPr lang="en-US" altLang="zh-CN" sz="24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(a)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截止时 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(b)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饱和时</a:t>
            </a:r>
            <a:endParaRPr lang="zh-CN" altLang="en-US" sz="24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02" name="图片 512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73238"/>
            <a:ext cx="4391025" cy="30289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03" name="组合 51202"/>
          <p:cNvGrpSpPr/>
          <p:nvPr/>
        </p:nvGrpSpPr>
        <p:grpSpPr>
          <a:xfrm>
            <a:off x="4284663" y="908050"/>
            <a:ext cx="4535487" cy="3024188"/>
            <a:chOff x="0" y="0"/>
            <a:chExt cx="2857" cy="1905"/>
          </a:xfrm>
        </p:grpSpPr>
        <p:grpSp>
          <p:nvGrpSpPr>
            <p:cNvPr id="51204" name="组合 51203"/>
            <p:cNvGrpSpPr/>
            <p:nvPr/>
          </p:nvGrpSpPr>
          <p:grpSpPr>
            <a:xfrm>
              <a:off x="362" y="317"/>
              <a:ext cx="1906" cy="816"/>
              <a:chOff x="0" y="0"/>
              <a:chExt cx="1906" cy="816"/>
            </a:xfrm>
          </p:grpSpPr>
          <p:sp>
            <p:nvSpPr>
              <p:cNvPr id="51205" name="直接连接符 51204"/>
              <p:cNvSpPr/>
              <p:nvPr/>
            </p:nvSpPr>
            <p:spPr>
              <a:xfrm>
                <a:off x="0" y="816"/>
                <a:ext cx="499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06" name="直接连接符 51205"/>
              <p:cNvSpPr/>
              <p:nvPr/>
            </p:nvSpPr>
            <p:spPr>
              <a:xfrm flipV="1">
                <a:off x="499" y="0"/>
                <a:ext cx="0" cy="816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07" name="直接连接符 51206"/>
              <p:cNvSpPr/>
              <p:nvPr/>
            </p:nvSpPr>
            <p:spPr>
              <a:xfrm>
                <a:off x="499" y="0"/>
                <a:ext cx="86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08" name="直接连接符 51207"/>
              <p:cNvSpPr/>
              <p:nvPr/>
            </p:nvSpPr>
            <p:spPr>
              <a:xfrm>
                <a:off x="1361" y="0"/>
                <a:ext cx="0" cy="816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09" name="直接连接符 51208"/>
              <p:cNvSpPr/>
              <p:nvPr/>
            </p:nvSpPr>
            <p:spPr>
              <a:xfrm>
                <a:off x="1361" y="816"/>
                <a:ext cx="545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10" name="组合 51209"/>
            <p:cNvGrpSpPr/>
            <p:nvPr/>
          </p:nvGrpSpPr>
          <p:grpSpPr>
            <a:xfrm>
              <a:off x="0" y="0"/>
              <a:ext cx="2857" cy="1905"/>
              <a:chOff x="0" y="0"/>
              <a:chExt cx="2857" cy="1905"/>
            </a:xfrm>
          </p:grpSpPr>
          <p:grpSp>
            <p:nvGrpSpPr>
              <p:cNvPr id="51211" name="组合 51210"/>
              <p:cNvGrpSpPr/>
              <p:nvPr/>
            </p:nvGrpSpPr>
            <p:grpSpPr>
              <a:xfrm>
                <a:off x="362" y="136"/>
                <a:ext cx="2404" cy="1769"/>
                <a:chOff x="0" y="0"/>
                <a:chExt cx="2404" cy="1769"/>
              </a:xfrm>
            </p:grpSpPr>
            <p:sp>
              <p:nvSpPr>
                <p:cNvPr id="51212" name="直接连接符 51211"/>
                <p:cNvSpPr/>
                <p:nvPr/>
              </p:nvSpPr>
              <p:spPr>
                <a:xfrm>
                  <a:off x="0" y="1043"/>
                  <a:ext cx="2404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1213" name="直接连接符 51212"/>
                <p:cNvSpPr/>
                <p:nvPr/>
              </p:nvSpPr>
              <p:spPr>
                <a:xfrm flipV="1">
                  <a:off x="0" y="0"/>
                  <a:ext cx="0" cy="1769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1214" name="文本框 51213"/>
              <p:cNvSpPr txBox="1"/>
              <p:nvPr/>
            </p:nvSpPr>
            <p:spPr>
              <a:xfrm>
                <a:off x="0" y="0"/>
                <a:ext cx="409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i="1">
                    <a:latin typeface="Times New Roman" panose="02020603050405020304" pitchFamily="2" charset="0"/>
                  </a:rPr>
                  <a:t>u</a:t>
                </a:r>
                <a:r>
                  <a:rPr lang="en-US" altLang="zh-CN" sz="3200" i="1" baseline="-25000">
                    <a:latin typeface="Times New Roman" panose="02020603050405020304" pitchFamily="2" charset="0"/>
                  </a:rPr>
                  <a:t>i</a:t>
                </a:r>
                <a:endParaRPr lang="en-US" altLang="zh-CN" sz="3200" i="1" baseline="-25000">
                  <a:latin typeface="Times New Roman" panose="02020603050405020304" pitchFamily="2" charset="0"/>
                </a:endParaRPr>
              </a:p>
            </p:txBody>
          </p:sp>
          <p:sp>
            <p:nvSpPr>
              <p:cNvPr id="51215" name="文本框 51214"/>
              <p:cNvSpPr txBox="1"/>
              <p:nvPr/>
            </p:nvSpPr>
            <p:spPr>
              <a:xfrm>
                <a:off x="2494" y="1179"/>
                <a:ext cx="363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>
                  <a:spcBef>
                    <a:spcPct val="50000"/>
                  </a:spcBef>
                </a:pPr>
                <a:r>
                  <a:rPr lang="en-US" altLang="zh-CN" sz="3200" i="1">
                    <a:latin typeface="Times New Roman" panose="02020603050405020304" pitchFamily="2" charset="0"/>
                  </a:rPr>
                  <a:t>t</a:t>
                </a:r>
                <a:endParaRPr lang="en-US" altLang="zh-CN" sz="3200" i="1">
                  <a:latin typeface="Times New Roman" panose="02020603050405020304" pitchFamily="2" charset="0"/>
                </a:endParaRPr>
              </a:p>
            </p:txBody>
          </p:sp>
        </p:grpSp>
      </p:grpSp>
      <p:grpSp>
        <p:nvGrpSpPr>
          <p:cNvPr id="51216" name="组合 51215"/>
          <p:cNvGrpSpPr/>
          <p:nvPr/>
        </p:nvGrpSpPr>
        <p:grpSpPr>
          <a:xfrm>
            <a:off x="4284663" y="3500438"/>
            <a:ext cx="4535487" cy="2879725"/>
            <a:chOff x="0" y="0"/>
            <a:chExt cx="2857" cy="1814"/>
          </a:xfrm>
        </p:grpSpPr>
        <p:grpSp>
          <p:nvGrpSpPr>
            <p:cNvPr id="51217" name="组合 51216"/>
            <p:cNvGrpSpPr/>
            <p:nvPr/>
          </p:nvGrpSpPr>
          <p:grpSpPr>
            <a:xfrm>
              <a:off x="362" y="45"/>
              <a:ext cx="2404" cy="1769"/>
              <a:chOff x="0" y="0"/>
              <a:chExt cx="2404" cy="1769"/>
            </a:xfrm>
          </p:grpSpPr>
          <p:sp>
            <p:nvSpPr>
              <p:cNvPr id="51218" name="直接连接符 51217"/>
              <p:cNvSpPr/>
              <p:nvPr/>
            </p:nvSpPr>
            <p:spPr>
              <a:xfrm>
                <a:off x="0" y="1043"/>
                <a:ext cx="240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1219" name="直接连接符 51218"/>
              <p:cNvSpPr/>
              <p:nvPr/>
            </p:nvSpPr>
            <p:spPr>
              <a:xfrm flipV="1">
                <a:off x="0" y="0"/>
                <a:ext cx="0" cy="176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51220" name="文本框 51219"/>
            <p:cNvSpPr txBox="1"/>
            <p:nvPr/>
          </p:nvSpPr>
          <p:spPr>
            <a:xfrm>
              <a:off x="0" y="0"/>
              <a:ext cx="40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i="1">
                  <a:latin typeface="Times New Roman" panose="02020603050405020304" pitchFamily="2" charset="0"/>
                </a:rPr>
                <a:t>u</a:t>
              </a:r>
              <a:r>
                <a:rPr lang="en-US" altLang="zh-CN" sz="3200" i="1" baseline="-25000">
                  <a:latin typeface="Times New Roman" panose="02020603050405020304" pitchFamily="2" charset="0"/>
                </a:rPr>
                <a:t>o</a:t>
              </a:r>
              <a:endParaRPr lang="en-US" altLang="zh-CN" sz="3200" i="1" baseline="-25000">
                <a:latin typeface="Times New Roman" panose="02020603050405020304" pitchFamily="2" charset="0"/>
              </a:endParaRPr>
            </a:p>
          </p:txBody>
        </p:sp>
        <p:sp>
          <p:nvSpPr>
            <p:cNvPr id="51221" name="文本框 51220"/>
            <p:cNvSpPr txBox="1"/>
            <p:nvPr/>
          </p:nvSpPr>
          <p:spPr>
            <a:xfrm>
              <a:off x="2494" y="1043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i="1">
                  <a:latin typeface="Times New Roman" panose="02020603050405020304" pitchFamily="2" charset="0"/>
                </a:rPr>
                <a:t>t</a:t>
              </a:r>
              <a:endParaRPr lang="en-US" altLang="zh-CN" sz="3200" i="1">
                <a:latin typeface="Times New Roman" panose="02020603050405020304" pitchFamily="2" charset="0"/>
              </a:endParaRPr>
            </a:p>
          </p:txBody>
        </p:sp>
      </p:grpSp>
      <p:sp>
        <p:nvSpPr>
          <p:cNvPr id="51222" name="直接连接符 51221"/>
          <p:cNvSpPr/>
          <p:nvPr/>
        </p:nvSpPr>
        <p:spPr>
          <a:xfrm>
            <a:off x="5651500" y="2133600"/>
            <a:ext cx="0" cy="3024188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1223" name="直接连接符 51222"/>
          <p:cNvSpPr/>
          <p:nvPr/>
        </p:nvSpPr>
        <p:spPr>
          <a:xfrm>
            <a:off x="7019925" y="2060575"/>
            <a:ext cx="0" cy="3097213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51224" name="组合 51223"/>
          <p:cNvGrpSpPr/>
          <p:nvPr/>
        </p:nvGrpSpPr>
        <p:grpSpPr>
          <a:xfrm>
            <a:off x="4859338" y="4149725"/>
            <a:ext cx="2881312" cy="1066800"/>
            <a:chOff x="0" y="0"/>
            <a:chExt cx="1815" cy="672"/>
          </a:xfrm>
        </p:grpSpPr>
        <p:sp>
          <p:nvSpPr>
            <p:cNvPr id="51225" name="未知"/>
            <p:cNvSpPr/>
            <p:nvPr/>
          </p:nvSpPr>
          <p:spPr>
            <a:xfrm>
              <a:off x="0" y="30"/>
              <a:ext cx="545" cy="106"/>
            </a:xfrm>
            <a:custGeom>
              <a:avLst/>
              <a:gdLst/>
              <a:ahLst/>
              <a:cxnLst/>
              <a:pathLst>
                <a:path w="499" h="106">
                  <a:moveTo>
                    <a:pt x="0" y="15"/>
                  </a:moveTo>
                  <a:cubicBezTo>
                    <a:pt x="117" y="7"/>
                    <a:pt x="235" y="0"/>
                    <a:pt x="318" y="15"/>
                  </a:cubicBezTo>
                  <a:cubicBezTo>
                    <a:pt x="401" y="30"/>
                    <a:pt x="469" y="91"/>
                    <a:pt x="499" y="106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26" name="未知"/>
            <p:cNvSpPr/>
            <p:nvPr/>
          </p:nvSpPr>
          <p:spPr>
            <a:xfrm>
              <a:off x="545" y="0"/>
              <a:ext cx="1270" cy="672"/>
            </a:xfrm>
            <a:custGeom>
              <a:avLst/>
              <a:gdLst/>
              <a:ahLst/>
              <a:cxnLst/>
              <a:pathLst>
                <a:path w="1316" h="673">
                  <a:moveTo>
                    <a:pt x="0" y="137"/>
                  </a:moveTo>
                  <a:cubicBezTo>
                    <a:pt x="8" y="303"/>
                    <a:pt x="16" y="469"/>
                    <a:pt x="46" y="545"/>
                  </a:cubicBezTo>
                  <a:cubicBezTo>
                    <a:pt x="76" y="621"/>
                    <a:pt x="54" y="583"/>
                    <a:pt x="182" y="590"/>
                  </a:cubicBezTo>
                  <a:cubicBezTo>
                    <a:pt x="310" y="597"/>
                    <a:pt x="681" y="673"/>
                    <a:pt x="817" y="590"/>
                  </a:cubicBezTo>
                  <a:cubicBezTo>
                    <a:pt x="953" y="507"/>
                    <a:pt x="915" y="182"/>
                    <a:pt x="998" y="91"/>
                  </a:cubicBezTo>
                  <a:cubicBezTo>
                    <a:pt x="1081" y="0"/>
                    <a:pt x="1263" y="53"/>
                    <a:pt x="1316" y="46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1227" name="圆角矩形标注 51226"/>
          <p:cNvSpPr/>
          <p:nvPr/>
        </p:nvSpPr>
        <p:spPr>
          <a:xfrm>
            <a:off x="2987675" y="5805488"/>
            <a:ext cx="1584325" cy="647700"/>
          </a:xfrm>
          <a:prstGeom prst="wedgeRoundRectCallout">
            <a:avLst>
              <a:gd name="adj1" fmla="val 87273"/>
              <a:gd name="adj2" fmla="val -29240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3200">
                <a:latin typeface="Times New Roman" panose="02020603050405020304" pitchFamily="2" charset="0"/>
              </a:rPr>
              <a:t>+</a:t>
            </a:r>
            <a:r>
              <a:rPr lang="en-US" altLang="zh-CN" sz="3200" i="1">
                <a:latin typeface="Times New Roman" panose="02020603050405020304" pitchFamily="2" charset="0"/>
              </a:rPr>
              <a:t>Vcc</a:t>
            </a:r>
            <a:endParaRPr lang="en-US" altLang="zh-CN" sz="3200" i="1">
              <a:latin typeface="Times New Roman" panose="02020603050405020304" pitchFamily="2" charset="0"/>
            </a:endParaRPr>
          </a:p>
        </p:txBody>
      </p:sp>
      <p:sp>
        <p:nvSpPr>
          <p:cNvPr id="51228" name="云形标注 51227"/>
          <p:cNvSpPr/>
          <p:nvPr/>
        </p:nvSpPr>
        <p:spPr>
          <a:xfrm>
            <a:off x="6300788" y="5661025"/>
            <a:ext cx="2087562" cy="647700"/>
          </a:xfrm>
          <a:prstGeom prst="cloudCallout">
            <a:avLst>
              <a:gd name="adj1" fmla="val -48708"/>
              <a:gd name="adj2" fmla="val -160051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r>
              <a:rPr lang="en-US" altLang="zh-CN" sz="3200">
                <a:latin typeface="Times New Roman" panose="02020603050405020304" pitchFamily="2" charset="0"/>
              </a:rPr>
              <a:t>0.3V</a:t>
            </a:r>
            <a:endParaRPr lang="en-US" altLang="zh-CN" sz="3200">
              <a:latin typeface="Times New Roman" panose="02020603050405020304" pitchFamily="2" charset="0"/>
            </a:endParaRPr>
          </a:p>
        </p:txBody>
      </p:sp>
      <p:sp>
        <p:nvSpPr>
          <p:cNvPr id="51229" name="圆角矩形 51228"/>
          <p:cNvSpPr/>
          <p:nvPr/>
        </p:nvSpPr>
        <p:spPr>
          <a:xfrm>
            <a:off x="323850" y="260350"/>
            <a:ext cx="5688013" cy="647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五、双极型三极管的动态开关特性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7" grpId="0" animBg="1"/>
      <p:bldP spid="51228" grpId="0" animBg="1"/>
      <p:bldP spid="512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图片 522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196975"/>
            <a:ext cx="3903663" cy="4176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文本框 52226"/>
          <p:cNvSpPr txBox="1"/>
          <p:nvPr/>
        </p:nvSpPr>
        <p:spPr>
          <a:xfrm>
            <a:off x="4356100" y="3716338"/>
            <a:ext cx="4537075" cy="2227262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>
                <a:latin typeface="Times New Roman" panose="02020603050405020304" pitchFamily="2" charset="0"/>
              </a:rPr>
              <a:t>        </a:t>
            </a:r>
            <a:r>
              <a:rPr lang="zh-CN" altLang="en-US" b="1">
                <a:latin typeface="Times New Roman" panose="02020603050405020304" pitchFamily="2" charset="0"/>
              </a:rPr>
              <a:t>加入－</a:t>
            </a:r>
            <a:r>
              <a:rPr lang="en-US" altLang="zh-CN" b="1" i="1">
                <a:latin typeface="Times New Roman" panose="02020603050405020304" pitchFamily="2" charset="0"/>
              </a:rPr>
              <a:t>V</a:t>
            </a:r>
            <a:r>
              <a:rPr lang="en-US" altLang="zh-CN" b="1" baseline="-25000">
                <a:latin typeface="Times New Roman" panose="02020603050405020304" pitchFamily="2" charset="0"/>
              </a:rPr>
              <a:t>EE</a:t>
            </a:r>
            <a:r>
              <a:rPr lang="zh-CN" altLang="en-US" b="1">
                <a:latin typeface="Times New Roman" panose="02020603050405020304" pitchFamily="2" charset="0"/>
              </a:rPr>
              <a:t>的目的是确保即使输入低电平信号稍大于零时，也能使三极管基极为负电位，从而使三极管 可靠截止，输出为高电平。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aphicFrame>
        <p:nvGraphicFramePr>
          <p:cNvPr id="52228" name="对象 52227"/>
          <p:cNvGraphicFramePr>
            <a:graphicFrameLocks noChangeAspect="1"/>
          </p:cNvGraphicFramePr>
          <p:nvPr/>
        </p:nvGraphicFramePr>
        <p:xfrm>
          <a:off x="1220788" y="5772150"/>
          <a:ext cx="13001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" imgW="431800" imgH="165100" progId="Equation.3">
                  <p:embed/>
                </p:oleObj>
              </mc:Choice>
              <mc:Fallback>
                <p:oleObj name="" r:id="rId2" imgW="431800" imgH="1651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20788" y="5772150"/>
                        <a:ext cx="1300162" cy="496888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圆角矩形 52228"/>
          <p:cNvSpPr/>
          <p:nvPr/>
        </p:nvSpPr>
        <p:spPr>
          <a:xfrm>
            <a:off x="323850" y="260350"/>
            <a:ext cx="3168650" cy="647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六、三极管反相器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52230" name="组合 52229"/>
          <p:cNvGrpSpPr/>
          <p:nvPr/>
        </p:nvGrpSpPr>
        <p:grpSpPr>
          <a:xfrm>
            <a:off x="4859338" y="1916113"/>
            <a:ext cx="2447925" cy="865187"/>
            <a:chOff x="0" y="0"/>
            <a:chExt cx="1542" cy="545"/>
          </a:xfrm>
        </p:grpSpPr>
        <p:grpSp>
          <p:nvGrpSpPr>
            <p:cNvPr id="52231" name="组合 52230"/>
            <p:cNvGrpSpPr/>
            <p:nvPr/>
          </p:nvGrpSpPr>
          <p:grpSpPr>
            <a:xfrm>
              <a:off x="227" y="0"/>
              <a:ext cx="1088" cy="545"/>
              <a:chOff x="0" y="0"/>
              <a:chExt cx="1088" cy="545"/>
            </a:xfrm>
          </p:grpSpPr>
          <p:sp>
            <p:nvSpPr>
              <p:cNvPr id="52232" name="流程图: 摘录 52231"/>
              <p:cNvSpPr/>
              <p:nvPr/>
            </p:nvSpPr>
            <p:spPr>
              <a:xfrm rot="5400000">
                <a:off x="179" y="46"/>
                <a:ext cx="545" cy="453"/>
              </a:xfrm>
              <a:prstGeom prst="flowChartExtra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33" name="椭圆 52232"/>
              <p:cNvSpPr/>
              <p:nvPr/>
            </p:nvSpPr>
            <p:spPr>
              <a:xfrm>
                <a:off x="680" y="227"/>
                <a:ext cx="90" cy="9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34" name="直接连接符 52233"/>
              <p:cNvSpPr/>
              <p:nvPr/>
            </p:nvSpPr>
            <p:spPr>
              <a:xfrm flipH="1">
                <a:off x="0" y="248"/>
                <a:ext cx="226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35" name="直接连接符 52234"/>
              <p:cNvSpPr/>
              <p:nvPr/>
            </p:nvSpPr>
            <p:spPr>
              <a:xfrm>
                <a:off x="771" y="272"/>
                <a:ext cx="317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36" name="文本框 52235"/>
            <p:cNvSpPr txBox="1"/>
            <p:nvPr/>
          </p:nvSpPr>
          <p:spPr>
            <a:xfrm>
              <a:off x="0" y="13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A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  <p:sp>
          <p:nvSpPr>
            <p:cNvPr id="52237" name="文本框 52236"/>
            <p:cNvSpPr txBox="1"/>
            <p:nvPr/>
          </p:nvSpPr>
          <p:spPr>
            <a:xfrm>
              <a:off x="1315" y="182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2" charset="0"/>
                </a:rPr>
                <a:t>Y</a:t>
              </a:r>
              <a:endParaRPr lang="en-US" altLang="zh-CN" sz="2400" b="1"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nimBg="1"/>
      <p:bldP spid="522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250" name="组合 53249"/>
          <p:cNvGrpSpPr/>
          <p:nvPr/>
        </p:nvGrpSpPr>
        <p:grpSpPr>
          <a:xfrm>
            <a:off x="395288" y="1412875"/>
            <a:ext cx="8304212" cy="3430588"/>
            <a:chOff x="0" y="0"/>
            <a:chExt cx="5231" cy="2161"/>
          </a:xfrm>
        </p:grpSpPr>
        <p:sp>
          <p:nvSpPr>
            <p:cNvPr id="53251" name="左大括号 53250"/>
            <p:cNvSpPr/>
            <p:nvPr/>
          </p:nvSpPr>
          <p:spPr>
            <a:xfrm>
              <a:off x="440" y="208"/>
              <a:ext cx="175" cy="1592"/>
            </a:xfrm>
            <a:prstGeom prst="leftBrace">
              <a:avLst>
                <a:gd name="adj1" fmla="val 75809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52" name="文本框 53251"/>
            <p:cNvSpPr txBox="1"/>
            <p:nvPr/>
          </p:nvSpPr>
          <p:spPr>
            <a:xfrm>
              <a:off x="0" y="288"/>
              <a:ext cx="423" cy="151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3200" b="1">
                  <a:latin typeface="楷体_GB2312" pitchFamily="1" charset="-122"/>
                  <a:ea typeface="楷体_GB2312" pitchFamily="1" charset="-122"/>
                </a:rPr>
                <a:t>集成门电路</a:t>
              </a:r>
              <a:endParaRPr lang="zh-CN" altLang="en-US" sz="32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53253" name="文本框 53252"/>
            <p:cNvSpPr txBox="1"/>
            <p:nvPr/>
          </p:nvSpPr>
          <p:spPr>
            <a:xfrm>
              <a:off x="599" y="256"/>
              <a:ext cx="9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3200" b="1">
                  <a:latin typeface="楷体_GB2312" pitchFamily="1" charset="-122"/>
                  <a:ea typeface="楷体_GB2312" pitchFamily="1" charset="-122"/>
                </a:rPr>
                <a:t>双极型</a:t>
              </a:r>
              <a:endParaRPr lang="zh-CN" altLang="en-US" sz="32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53254" name="左大括号 53253"/>
            <p:cNvSpPr/>
            <p:nvPr/>
          </p:nvSpPr>
          <p:spPr>
            <a:xfrm>
              <a:off x="1559" y="48"/>
              <a:ext cx="96" cy="816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55" name="文本框 53254"/>
            <p:cNvSpPr txBox="1"/>
            <p:nvPr/>
          </p:nvSpPr>
          <p:spPr>
            <a:xfrm>
              <a:off x="1751" y="0"/>
              <a:ext cx="3456" cy="7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TTL (</a:t>
              </a:r>
              <a:r>
                <a:rPr lang="en-US" altLang="zh-CN" b="1">
                  <a:solidFill>
                    <a:srgbClr val="FF0066"/>
                  </a:solidFill>
                  <a:latin typeface="Times New Roman" panose="02020603050405020304" pitchFamily="2" charset="0"/>
                </a:rPr>
                <a:t>T</a:t>
              </a:r>
              <a:r>
                <a:rPr lang="en-US" altLang="zh-CN" b="1">
                  <a:latin typeface="Times New Roman" panose="02020603050405020304" pitchFamily="2" charset="0"/>
                </a:rPr>
                <a:t>ransistor-</a:t>
              </a:r>
              <a:r>
                <a:rPr lang="en-US" altLang="zh-CN" b="1">
                  <a:solidFill>
                    <a:srgbClr val="FF0066"/>
                  </a:solidFill>
                  <a:latin typeface="Times New Roman" panose="02020603050405020304" pitchFamily="2" charset="0"/>
                </a:rPr>
                <a:t>T</a:t>
              </a:r>
              <a:r>
                <a:rPr lang="en-US" altLang="zh-CN" b="1">
                  <a:latin typeface="Times New Roman" panose="02020603050405020304" pitchFamily="2" charset="0"/>
                </a:rPr>
                <a:t>ransistor </a:t>
              </a:r>
              <a:r>
                <a:rPr lang="en-US" altLang="zh-CN" b="1">
                  <a:solidFill>
                    <a:srgbClr val="FF0066"/>
                  </a:solidFill>
                  <a:latin typeface="Times New Roman" panose="02020603050405020304" pitchFamily="2" charset="0"/>
                </a:rPr>
                <a:t>L</a:t>
              </a:r>
              <a:r>
                <a:rPr lang="en-US" altLang="zh-CN" b="1">
                  <a:latin typeface="Times New Roman" panose="02020603050405020304" pitchFamily="2" charset="0"/>
                </a:rPr>
                <a:t>ogic </a:t>
              </a:r>
              <a:endParaRPr lang="en-US" altLang="zh-CN" b="1">
                <a:latin typeface="Times New Roman" panose="02020603050405020304" pitchFamily="2" charset="0"/>
              </a:endParaRPr>
            </a:p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2" charset="0"/>
                </a:rPr>
                <a:t>            </a:t>
              </a:r>
              <a:r>
                <a:rPr lang="en-US" altLang="zh-CN" b="1">
                  <a:latin typeface="Times New Roman" panose="02020603050405020304" pitchFamily="2" charset="0"/>
                </a:rPr>
                <a:t>Integrated Circuit ,</a:t>
              </a: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2" charset="0"/>
                </a:rPr>
                <a:t> </a:t>
              </a:r>
              <a:r>
                <a:rPr lang="en-US" altLang="zh-CN" b="1">
                  <a:solidFill>
                    <a:srgbClr val="FF0066"/>
                  </a:solidFill>
                  <a:latin typeface="Times New Roman" panose="02020603050405020304" pitchFamily="2" charset="0"/>
                </a:rPr>
                <a:t>TTL</a:t>
              </a:r>
              <a:r>
                <a:rPr lang="en-US" altLang="zh-CN" b="1">
                  <a:latin typeface="Times New Roman" panose="02020603050405020304" pitchFamily="2" charset="0"/>
                </a:rPr>
                <a:t>)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56" name="文本框 53255"/>
            <p:cNvSpPr txBox="1"/>
            <p:nvPr/>
          </p:nvSpPr>
          <p:spPr>
            <a:xfrm>
              <a:off x="1751" y="672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ECL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57" name="左大括号 53256"/>
            <p:cNvSpPr/>
            <p:nvPr/>
          </p:nvSpPr>
          <p:spPr>
            <a:xfrm>
              <a:off x="4139" y="1188"/>
              <a:ext cx="96" cy="912"/>
            </a:xfrm>
            <a:prstGeom prst="leftBrace">
              <a:avLst>
                <a:gd name="adj1" fmla="val 79166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58" name="文本框 53257"/>
            <p:cNvSpPr txBox="1"/>
            <p:nvPr/>
          </p:nvSpPr>
          <p:spPr>
            <a:xfrm>
              <a:off x="4259" y="1464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NMOS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59" name="文本框 53258"/>
            <p:cNvSpPr txBox="1"/>
            <p:nvPr/>
          </p:nvSpPr>
          <p:spPr>
            <a:xfrm>
              <a:off x="4271" y="1788"/>
              <a:ext cx="9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CMOS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60" name="文本框 53259"/>
            <p:cNvSpPr txBox="1"/>
            <p:nvPr/>
          </p:nvSpPr>
          <p:spPr>
            <a:xfrm>
              <a:off x="4247" y="1104"/>
              <a:ext cx="8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PMOS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61" name="文本框 53260"/>
            <p:cNvSpPr txBox="1"/>
            <p:nvPr/>
          </p:nvSpPr>
          <p:spPr>
            <a:xfrm>
              <a:off x="607" y="1392"/>
              <a:ext cx="3410" cy="7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楷体_GB2312" pitchFamily="1" charset="-122"/>
                  <a:ea typeface="楷体_GB2312" pitchFamily="1" charset="-122"/>
                </a:rPr>
                <a:t>MOS</a:t>
              </a:r>
              <a:r>
                <a:rPr lang="zh-CN" altLang="en-US" sz="3200" b="1">
                  <a:latin typeface="楷体_GB2312" pitchFamily="1" charset="-122"/>
                  <a:ea typeface="楷体_GB2312" pitchFamily="1" charset="-122"/>
                </a:rPr>
                <a:t>型</a:t>
              </a:r>
              <a:r>
                <a:rPr lang="zh-CN" altLang="en-US" b="1">
                  <a:latin typeface="隶书" panose="02010509060101010101" pitchFamily="1" charset="-122"/>
                  <a:ea typeface="隶书" panose="02010509060101010101" pitchFamily="1" charset="-122"/>
                </a:rPr>
                <a:t>（</a:t>
              </a:r>
              <a:r>
                <a:rPr lang="en-US" altLang="zh-CN" b="1">
                  <a:solidFill>
                    <a:srgbClr val="FF0000"/>
                  </a:solidFill>
                  <a:latin typeface="隶书" panose="02010509060101010101" pitchFamily="1" charset="-122"/>
                  <a:ea typeface="隶书" panose="02010509060101010101" pitchFamily="1" charset="-122"/>
                </a:rPr>
                <a:t>M</a:t>
              </a:r>
              <a:r>
                <a:rPr lang="en-US" altLang="zh-CN" b="1">
                  <a:latin typeface="隶书" panose="02010509060101010101" pitchFamily="1" charset="-122"/>
                  <a:ea typeface="隶书" panose="02010509060101010101" pitchFamily="1" charset="-122"/>
                </a:rPr>
                <a:t>etal-</a:t>
              </a:r>
              <a:r>
                <a:rPr lang="en-US" altLang="zh-CN" b="1">
                  <a:solidFill>
                    <a:srgbClr val="FF0000"/>
                  </a:solidFill>
                  <a:latin typeface="隶书" panose="02010509060101010101" pitchFamily="1" charset="-122"/>
                  <a:ea typeface="隶书" panose="02010509060101010101" pitchFamily="1" charset="-122"/>
                </a:rPr>
                <a:t>O</a:t>
              </a:r>
              <a:r>
                <a:rPr lang="en-US" altLang="zh-CN" b="1">
                  <a:latin typeface="隶书" panose="02010509060101010101" pitchFamily="1" charset="-122"/>
                  <a:ea typeface="隶书" panose="02010509060101010101" pitchFamily="1" charset="-122"/>
                </a:rPr>
                <a:t>xide-</a:t>
              </a:r>
              <a:endParaRPr lang="en-US" altLang="zh-CN" b="1">
                <a:latin typeface="隶书" panose="02010509060101010101" pitchFamily="1" charset="-122"/>
                <a:ea typeface="隶书" panose="02010509060101010101" pitchFamily="1" charset="-122"/>
              </a:endParaRPr>
            </a:p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1"/>
                  </a:solidFill>
                  <a:latin typeface="隶书" panose="02010509060101010101" pitchFamily="1" charset="-122"/>
                  <a:ea typeface="隶书" panose="02010509060101010101" pitchFamily="1" charset="-122"/>
                </a:rPr>
                <a:t>        </a:t>
              </a:r>
              <a:r>
                <a:rPr lang="en-US" altLang="zh-CN" b="1">
                  <a:solidFill>
                    <a:srgbClr val="FF0000"/>
                  </a:solidFill>
                  <a:latin typeface="隶书" panose="02010509060101010101" pitchFamily="1" charset="-122"/>
                  <a:ea typeface="隶书" panose="02010509060101010101" pitchFamily="1" charset="-122"/>
                </a:rPr>
                <a:t>S</a:t>
              </a:r>
              <a:r>
                <a:rPr lang="en-US" altLang="zh-CN" b="1">
                  <a:latin typeface="隶书" panose="02010509060101010101" pitchFamily="1" charset="-122"/>
                  <a:ea typeface="隶书" panose="02010509060101010101" pitchFamily="1" charset="-122"/>
                </a:rPr>
                <a:t>emiconductor</a:t>
              </a:r>
              <a:r>
                <a:rPr lang="zh-CN" altLang="en-US" b="1">
                  <a:latin typeface="隶书" panose="02010509060101010101" pitchFamily="1" charset="-122"/>
                  <a:ea typeface="隶书" panose="02010509060101010101" pitchFamily="1" charset="-122"/>
                </a:rPr>
                <a:t>，</a:t>
              </a:r>
              <a:r>
                <a:rPr lang="en-US" altLang="zh-CN" b="1">
                  <a:solidFill>
                    <a:srgbClr val="FF0000"/>
                  </a:solidFill>
                  <a:latin typeface="隶书" panose="02010509060101010101" pitchFamily="1" charset="-122"/>
                  <a:ea typeface="隶书" panose="02010509060101010101" pitchFamily="1" charset="-122"/>
                </a:rPr>
                <a:t>MOS</a:t>
              </a:r>
              <a:r>
                <a:rPr lang="zh-CN" altLang="en-US" b="1">
                  <a:latin typeface="隶书" panose="02010509060101010101" pitchFamily="1" charset="-122"/>
                  <a:ea typeface="隶书" panose="02010509060101010101" pitchFamily="1" charset="-122"/>
                </a:rPr>
                <a:t>）</a:t>
              </a:r>
              <a:endParaRPr lang="zh-CN" altLang="en-US" b="1">
                <a:latin typeface="隶书" panose="02010509060101010101" pitchFamily="1" charset="-122"/>
                <a:ea typeface="隶书" panose="02010509060101010101" pitchFamily="1" charset="-122"/>
              </a:endParaRPr>
            </a:p>
          </p:txBody>
        </p:sp>
      </p:grpSp>
      <p:sp>
        <p:nvSpPr>
          <p:cNvPr id="53262" name="文本框 53261"/>
          <p:cNvSpPr txBox="1"/>
          <p:nvPr/>
        </p:nvSpPr>
        <p:spPr>
          <a:xfrm>
            <a:off x="419100" y="5181600"/>
            <a:ext cx="8331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TTL — 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晶体管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晶体管逻辑集成电路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53263" name="文本框 53262"/>
          <p:cNvSpPr txBox="1"/>
          <p:nvPr/>
        </p:nvSpPr>
        <p:spPr>
          <a:xfrm>
            <a:off x="350838" y="5815013"/>
            <a:ext cx="8266112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MOS —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金属氧化物半导体场效应管集成电路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53264" name="文本框 53263"/>
          <p:cNvSpPr txBox="1"/>
          <p:nvPr/>
        </p:nvSpPr>
        <p:spPr>
          <a:xfrm>
            <a:off x="323850" y="404813"/>
            <a:ext cx="467995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3.5.2   TTL</a:t>
            </a:r>
            <a:r>
              <a:rPr lang="zh-CN" altLang="en-US" sz="3600">
                <a:latin typeface="Verdana" panose="020B0604030504040204" pitchFamily="2" charset="0"/>
              </a:rPr>
              <a:t>反相器</a:t>
            </a:r>
            <a:endParaRPr lang="zh-CN" altLang="en-US" sz="3600">
              <a:latin typeface="Verdan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2" grpId="0"/>
      <p:bldP spid="53263" grpId="0"/>
      <p:bldP spid="5326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4" name="图片 54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196975"/>
            <a:ext cx="6354763" cy="47815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4275" name="组合 54274"/>
          <p:cNvGrpSpPr/>
          <p:nvPr/>
        </p:nvGrpSpPr>
        <p:grpSpPr>
          <a:xfrm>
            <a:off x="3492500" y="1196975"/>
            <a:ext cx="1511300" cy="4968875"/>
            <a:chOff x="0" y="0"/>
            <a:chExt cx="952" cy="3130"/>
          </a:xfrm>
        </p:grpSpPr>
        <p:sp>
          <p:nvSpPr>
            <p:cNvPr id="54276" name="直接连接符 54275"/>
            <p:cNvSpPr/>
            <p:nvPr/>
          </p:nvSpPr>
          <p:spPr>
            <a:xfrm>
              <a:off x="0" y="0"/>
              <a:ext cx="0" cy="313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4277" name="直接连接符 54276"/>
            <p:cNvSpPr/>
            <p:nvPr/>
          </p:nvSpPr>
          <p:spPr>
            <a:xfrm>
              <a:off x="952" y="0"/>
              <a:ext cx="0" cy="313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54278" name="文本框 54277"/>
          <p:cNvSpPr txBox="1"/>
          <p:nvPr/>
        </p:nvSpPr>
        <p:spPr>
          <a:xfrm>
            <a:off x="1763713" y="6021388"/>
            <a:ext cx="1439862" cy="579437"/>
          </a:xfrm>
          <a:prstGeom prst="rect">
            <a:avLst/>
          </a:prstGeom>
          <a:solidFill>
            <a:srgbClr val="FF66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2" charset="0"/>
              </a:rPr>
              <a:t>输入级</a:t>
            </a:r>
            <a:endParaRPr lang="zh-CN" altLang="en-US" sz="3200">
              <a:latin typeface="Times New Roman" panose="02020603050405020304" pitchFamily="2" charset="0"/>
            </a:endParaRPr>
          </a:p>
        </p:txBody>
      </p:sp>
      <p:sp>
        <p:nvSpPr>
          <p:cNvPr id="54279" name="文本框 54278"/>
          <p:cNvSpPr txBox="1"/>
          <p:nvPr/>
        </p:nvSpPr>
        <p:spPr>
          <a:xfrm>
            <a:off x="3492500" y="6021388"/>
            <a:ext cx="1439863" cy="579437"/>
          </a:xfrm>
          <a:prstGeom prst="rect">
            <a:avLst/>
          </a:prstGeom>
          <a:solidFill>
            <a:srgbClr val="FF66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2" charset="0"/>
              </a:rPr>
              <a:t>倒相级</a:t>
            </a:r>
            <a:endParaRPr lang="zh-CN" altLang="en-US" sz="3200">
              <a:latin typeface="Times New Roman" panose="02020603050405020304" pitchFamily="2" charset="0"/>
            </a:endParaRPr>
          </a:p>
        </p:txBody>
      </p:sp>
      <p:sp>
        <p:nvSpPr>
          <p:cNvPr id="54280" name="文本框 54279"/>
          <p:cNvSpPr txBox="1"/>
          <p:nvPr/>
        </p:nvSpPr>
        <p:spPr>
          <a:xfrm>
            <a:off x="5148263" y="6021388"/>
            <a:ext cx="1439862" cy="579437"/>
          </a:xfrm>
          <a:prstGeom prst="rect">
            <a:avLst/>
          </a:prstGeom>
          <a:solidFill>
            <a:srgbClr val="FF66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2" charset="0"/>
              </a:rPr>
              <a:t>输出级</a:t>
            </a:r>
            <a:endParaRPr lang="zh-CN" altLang="en-US" sz="3200">
              <a:latin typeface="Times New Roman" panose="02020603050405020304" pitchFamily="2" charset="0"/>
            </a:endParaRPr>
          </a:p>
        </p:txBody>
      </p:sp>
      <p:sp>
        <p:nvSpPr>
          <p:cNvPr id="54281" name="圆角矩形标注 54280"/>
          <p:cNvSpPr/>
          <p:nvPr/>
        </p:nvSpPr>
        <p:spPr>
          <a:xfrm>
            <a:off x="6948488" y="4652963"/>
            <a:ext cx="1871662" cy="1296987"/>
          </a:xfrm>
          <a:prstGeom prst="wedgeRoundRectCallout">
            <a:avLst>
              <a:gd name="adj1" fmla="val -85454"/>
              <a:gd name="adj2" fmla="val -91616"/>
              <a:gd name="adj3" fmla="val 16667"/>
            </a:avLst>
          </a:prstGeom>
          <a:solidFill>
            <a:srgbClr val="FF99FF"/>
          </a:solidFill>
          <a:ln w="19050" cap="flat" cmpd="sng">
            <a:solidFill>
              <a:srgbClr val="0099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r>
              <a:rPr lang="zh-CN" altLang="en-US" sz="2400" b="1">
                <a:latin typeface="Times New Roman" panose="02020603050405020304" pitchFamily="2" charset="0"/>
              </a:rPr>
              <a:t>称为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2" charset="0"/>
              </a:rPr>
              <a:t>推拉式电路</a:t>
            </a:r>
            <a:r>
              <a:rPr lang="zh-CN" altLang="en-US" sz="2400" b="1">
                <a:latin typeface="Times New Roman" panose="02020603050405020304" pitchFamily="2" charset="0"/>
              </a:rPr>
              <a:t>或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2" charset="0"/>
              </a:rPr>
              <a:t>图腾柱输出电路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sp>
        <p:nvSpPr>
          <p:cNvPr id="54282" name="圆角矩形 54281"/>
          <p:cNvSpPr/>
          <p:nvPr/>
        </p:nvSpPr>
        <p:spPr>
          <a:xfrm>
            <a:off x="323850" y="260350"/>
            <a:ext cx="6408738" cy="647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rgbClr val="FF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一、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TTL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反相器的电路结构和工作原理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 animBg="1"/>
      <p:bldP spid="54279" grpId="0" animBg="1"/>
      <p:bldP spid="54280" grpId="0" animBg="1"/>
      <p:bldP spid="54281" grpId="0" animBg="1"/>
      <p:bldP spid="5428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矩形 55297"/>
          <p:cNvSpPr/>
          <p:nvPr/>
        </p:nvSpPr>
        <p:spPr>
          <a:xfrm>
            <a:off x="395288" y="260350"/>
            <a:ext cx="49625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1.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输入为低电平（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0.2V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）时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</a:endParaRPr>
          </a:p>
        </p:txBody>
      </p:sp>
      <p:pic>
        <p:nvPicPr>
          <p:cNvPr id="55299" name="图片 552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981075"/>
            <a:ext cx="6354762" cy="47815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5300" name="组合 55299"/>
          <p:cNvGrpSpPr/>
          <p:nvPr/>
        </p:nvGrpSpPr>
        <p:grpSpPr>
          <a:xfrm>
            <a:off x="1979613" y="3644900"/>
            <a:ext cx="3963987" cy="1516063"/>
            <a:chOff x="0" y="0"/>
            <a:chExt cx="2497" cy="955"/>
          </a:xfrm>
        </p:grpSpPr>
        <p:sp>
          <p:nvSpPr>
            <p:cNvPr id="55301" name="左大括号 55300"/>
            <p:cNvSpPr/>
            <p:nvPr/>
          </p:nvSpPr>
          <p:spPr>
            <a:xfrm rot="17987018">
              <a:off x="1194" y="-997"/>
              <a:ext cx="306" cy="2300"/>
            </a:xfrm>
            <a:prstGeom prst="leftBrace">
              <a:avLst>
                <a:gd name="adj1" fmla="val 85567"/>
                <a:gd name="adj2" fmla="val 49389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302" name="椭圆 55301"/>
            <p:cNvSpPr/>
            <p:nvPr/>
          </p:nvSpPr>
          <p:spPr>
            <a:xfrm>
              <a:off x="136" y="272"/>
              <a:ext cx="1101" cy="357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三个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PN</a:t>
              </a: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结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55303" name="椭圆 55302"/>
            <p:cNvSpPr/>
            <p:nvPr/>
          </p:nvSpPr>
          <p:spPr>
            <a:xfrm>
              <a:off x="0" y="652"/>
              <a:ext cx="1374" cy="303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导通需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2.1V</a:t>
              </a:r>
              <a:endParaRPr lang="en-US" altLang="zh-CN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55304" name="文本框 55303"/>
          <p:cNvSpPr txBox="1"/>
          <p:nvPr/>
        </p:nvSpPr>
        <p:spPr>
          <a:xfrm>
            <a:off x="1763713" y="2205038"/>
            <a:ext cx="9350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2" charset="0"/>
              </a:rPr>
              <a:t>0.9V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55305" name="圆角矩形标注 55304"/>
          <p:cNvSpPr/>
          <p:nvPr/>
        </p:nvSpPr>
        <p:spPr>
          <a:xfrm>
            <a:off x="123825" y="1047750"/>
            <a:ext cx="1695450" cy="1447800"/>
          </a:xfrm>
          <a:prstGeom prst="wedgeRoundRectCallout">
            <a:avLst>
              <a:gd name="adj1" fmla="val 52435"/>
              <a:gd name="adj2" fmla="val 61843"/>
              <a:gd name="adj3" fmla="val 16667"/>
            </a:avLst>
          </a:prstGeom>
          <a:solidFill>
            <a:srgbClr val="FF6600"/>
          </a:solidFill>
          <a:ln w="38100" cap="flat" cmpd="sng">
            <a:solidFill>
              <a:srgbClr val="B0FF6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不足以让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T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2</a:t>
            </a:r>
            <a:r>
              <a:rPr lang="zh-CN" altLang="en-US" b="1" baseline="-25000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、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T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5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导通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55306" name="文本框 55305"/>
          <p:cNvSpPr txBox="1"/>
          <p:nvPr/>
        </p:nvSpPr>
        <p:spPr>
          <a:xfrm>
            <a:off x="4211638" y="5300663"/>
            <a:ext cx="2016125" cy="519112"/>
          </a:xfrm>
          <a:prstGeom prst="rect">
            <a:avLst/>
          </a:prstGeom>
          <a:solidFill>
            <a:srgbClr val="009999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  <a:r>
              <a:rPr lang="en-US" altLang="zh-CN" b="1" baseline="-25000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、</a:t>
            </a:r>
            <a:r>
              <a:rPr lang="en-US" altLang="zh-CN" b="1">
                <a:latin typeface="Times New Roman" panose="02020603050405020304" pitchFamily="2" charset="0"/>
              </a:rPr>
              <a:t>T</a:t>
            </a:r>
            <a:r>
              <a:rPr lang="en-US" altLang="zh-CN" b="1" baseline="-25000">
                <a:latin typeface="Times New Roman" panose="02020603050405020304" pitchFamily="2" charset="0"/>
              </a:rPr>
              <a:t>5</a:t>
            </a:r>
            <a:r>
              <a:rPr lang="zh-CN" altLang="en-US" b="1">
                <a:latin typeface="Times New Roman" panose="02020603050405020304" pitchFamily="2" charset="0"/>
              </a:rPr>
              <a:t>截止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4" grpId="0"/>
      <p:bldP spid="55305" grpId="0" animBg="1"/>
      <p:bldP spid="5530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322" name="图片 563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981075"/>
            <a:ext cx="6076950" cy="4600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3" name="矩形 56322"/>
          <p:cNvSpPr/>
          <p:nvPr/>
        </p:nvSpPr>
        <p:spPr>
          <a:xfrm>
            <a:off x="395288" y="260350"/>
            <a:ext cx="49625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1.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输入为低电平（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0.2V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）时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56324" name="组合 56323"/>
          <p:cNvGrpSpPr/>
          <p:nvPr/>
        </p:nvGrpSpPr>
        <p:grpSpPr>
          <a:xfrm>
            <a:off x="4284663" y="1700213"/>
            <a:ext cx="1638300" cy="1495425"/>
            <a:chOff x="0" y="0"/>
            <a:chExt cx="1032" cy="942"/>
          </a:xfrm>
        </p:grpSpPr>
        <p:sp>
          <p:nvSpPr>
            <p:cNvPr id="56325" name="直接连接符 56324"/>
            <p:cNvSpPr/>
            <p:nvPr/>
          </p:nvSpPr>
          <p:spPr>
            <a:xfrm>
              <a:off x="0" y="0"/>
              <a:ext cx="0" cy="4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56326" name="直接连接符 56325"/>
            <p:cNvSpPr/>
            <p:nvPr/>
          </p:nvSpPr>
          <p:spPr>
            <a:xfrm>
              <a:off x="816" y="726"/>
              <a:ext cx="216" cy="21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</p:grpSp>
      <p:grpSp>
        <p:nvGrpSpPr>
          <p:cNvPr id="56327" name="组合 56326"/>
          <p:cNvGrpSpPr/>
          <p:nvPr/>
        </p:nvGrpSpPr>
        <p:grpSpPr>
          <a:xfrm>
            <a:off x="6516688" y="3644900"/>
            <a:ext cx="1289050" cy="1677988"/>
            <a:chOff x="0" y="0"/>
            <a:chExt cx="812" cy="1057"/>
          </a:xfrm>
        </p:grpSpPr>
        <p:grpSp>
          <p:nvGrpSpPr>
            <p:cNvPr id="56328" name="组合 56327"/>
            <p:cNvGrpSpPr/>
            <p:nvPr/>
          </p:nvGrpSpPr>
          <p:grpSpPr>
            <a:xfrm>
              <a:off x="0" y="0"/>
              <a:ext cx="344" cy="1057"/>
              <a:chOff x="0" y="0"/>
              <a:chExt cx="396" cy="1216"/>
            </a:xfrm>
          </p:grpSpPr>
          <p:sp>
            <p:nvSpPr>
              <p:cNvPr id="56329" name="矩形 56328"/>
              <p:cNvSpPr/>
              <p:nvPr/>
            </p:nvSpPr>
            <p:spPr>
              <a:xfrm>
                <a:off x="108" y="257"/>
                <a:ext cx="168" cy="503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30" name="直接连接符 56329"/>
              <p:cNvSpPr/>
              <p:nvPr/>
            </p:nvSpPr>
            <p:spPr>
              <a:xfrm>
                <a:off x="192" y="760"/>
                <a:ext cx="0" cy="45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31" name="直接连接符 56330"/>
              <p:cNvSpPr/>
              <p:nvPr/>
            </p:nvSpPr>
            <p:spPr>
              <a:xfrm>
                <a:off x="0" y="1216"/>
                <a:ext cx="39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32" name="直接连接符 56331"/>
              <p:cNvSpPr/>
              <p:nvPr/>
            </p:nvSpPr>
            <p:spPr>
              <a:xfrm flipV="1">
                <a:off x="188" y="0"/>
                <a:ext cx="0" cy="25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333" name="直接连接符 56332"/>
            <p:cNvSpPr/>
            <p:nvPr/>
          </p:nvSpPr>
          <p:spPr>
            <a:xfrm>
              <a:off x="354" y="182"/>
              <a:ext cx="0" cy="54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56334" name="文本框 56333"/>
            <p:cNvSpPr txBox="1"/>
            <p:nvPr/>
          </p:nvSpPr>
          <p:spPr>
            <a:xfrm>
              <a:off x="406" y="275"/>
              <a:ext cx="40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v</a:t>
              </a:r>
              <a:r>
                <a:rPr lang="en-US" altLang="zh-CN" sz="3200" b="1" i="1" baseline="-25000">
                  <a:solidFill>
                    <a:srgbClr val="FF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o</a:t>
              </a:r>
              <a:endPara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56335" name="文本框 56334"/>
          <p:cNvSpPr txBox="1"/>
          <p:nvPr/>
        </p:nvSpPr>
        <p:spPr>
          <a:xfrm>
            <a:off x="611188" y="5734050"/>
            <a:ext cx="7993062" cy="679450"/>
          </a:xfrm>
          <a:prstGeom prst="rect">
            <a:avLst/>
          </a:prstGeom>
          <a:noFill/>
          <a:ln w="38100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6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600" b="1" i="1" baseline="-25000">
                <a:latin typeface="Times New Roman" panose="02020603050405020304" pitchFamily="2" charset="0"/>
                <a:ea typeface="楷体_GB2312" pitchFamily="1" charset="-122"/>
              </a:rPr>
              <a:t>o</a:t>
            </a:r>
            <a:r>
              <a:rPr lang="en-US" altLang="zh-CN" sz="3600" b="1">
                <a:latin typeface="Times New Roman" panose="02020603050405020304" pitchFamily="2" charset="0"/>
                <a:ea typeface="楷体_GB2312" pitchFamily="1" charset="-122"/>
              </a:rPr>
              <a:t>=5</a:t>
            </a:r>
            <a:r>
              <a:rPr lang="zh-CN" altLang="en-US" sz="3600" b="1">
                <a:latin typeface="Times New Roman" panose="02020603050405020304" pitchFamily="2" charset="0"/>
                <a:ea typeface="楷体_GB2312" pitchFamily="1" charset="-122"/>
              </a:rPr>
              <a:t>－</a:t>
            </a:r>
            <a:r>
              <a:rPr lang="en-US" altLang="zh-CN" sz="36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600" b="1" i="1" baseline="-25000">
                <a:latin typeface="Times New Roman" panose="02020603050405020304" pitchFamily="2" charset="0"/>
                <a:ea typeface="楷体_GB2312" pitchFamily="1" charset="-122"/>
              </a:rPr>
              <a:t>R</a:t>
            </a:r>
            <a:r>
              <a:rPr lang="en-US" altLang="zh-CN" sz="3600" b="1" baseline="-25000">
                <a:latin typeface="Times New Roman" panose="02020603050405020304" pitchFamily="2" charset="0"/>
                <a:ea typeface="楷体_GB2312" pitchFamily="1" charset="-122"/>
              </a:rPr>
              <a:t>2</a:t>
            </a:r>
            <a:r>
              <a:rPr lang="zh-CN" altLang="en-US" sz="3600" b="1">
                <a:latin typeface="Times New Roman" panose="02020603050405020304" pitchFamily="2" charset="0"/>
                <a:ea typeface="楷体_GB2312" pitchFamily="1" charset="-122"/>
              </a:rPr>
              <a:t>－</a:t>
            </a:r>
            <a:r>
              <a:rPr lang="en-US" altLang="zh-CN" sz="36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600" b="1" i="1" baseline="-25000">
                <a:latin typeface="Times New Roman" panose="02020603050405020304" pitchFamily="2" charset="0"/>
                <a:ea typeface="楷体_GB2312" pitchFamily="1" charset="-122"/>
              </a:rPr>
              <a:t>be</a:t>
            </a:r>
            <a:r>
              <a:rPr lang="en-US" altLang="zh-CN" sz="3600" b="1" baseline="-25000">
                <a:latin typeface="Times New Roman" panose="02020603050405020304" pitchFamily="2" charset="0"/>
                <a:ea typeface="楷体_GB2312" pitchFamily="1" charset="-122"/>
              </a:rPr>
              <a:t>4</a:t>
            </a:r>
            <a:r>
              <a:rPr lang="zh-CN" altLang="en-US" sz="3600" b="1">
                <a:latin typeface="Times New Roman" panose="02020603050405020304" pitchFamily="2" charset="0"/>
                <a:ea typeface="楷体_GB2312" pitchFamily="1" charset="-122"/>
              </a:rPr>
              <a:t>－</a:t>
            </a:r>
            <a:r>
              <a:rPr lang="en-US" altLang="zh-CN" sz="36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600" b="1" i="1" baseline="-25000">
                <a:latin typeface="Times New Roman" panose="02020603050405020304" pitchFamily="2" charset="0"/>
                <a:ea typeface="楷体_GB2312" pitchFamily="1" charset="-122"/>
              </a:rPr>
              <a:t>D2</a:t>
            </a:r>
            <a:r>
              <a:rPr lang="en-US" altLang="zh-CN" sz="3200" b="1" i="1">
                <a:latin typeface="Times New Roman" panose="02020603050405020304" pitchFamily="2" charset="0"/>
              </a:rPr>
              <a:t>≈</a:t>
            </a:r>
            <a:r>
              <a:rPr lang="en-US" altLang="zh-CN" sz="3200" b="1">
                <a:latin typeface="Times New Roman" panose="02020603050405020304" pitchFamily="2" charset="0"/>
              </a:rPr>
              <a:t>3.6V</a:t>
            </a:r>
            <a:r>
              <a:rPr lang="en-US" altLang="zh-CN" sz="3600" b="1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3600" b="1">
                <a:latin typeface="Times New Roman" panose="02020603050405020304" pitchFamily="2" charset="0"/>
                <a:ea typeface="楷体_GB2312" pitchFamily="1" charset="-122"/>
              </a:rPr>
              <a:t>输出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高电平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矩形 57345"/>
          <p:cNvSpPr/>
          <p:nvPr/>
        </p:nvSpPr>
        <p:spPr>
          <a:xfrm>
            <a:off x="611188" y="333375"/>
            <a:ext cx="49625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2.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输入为高电平（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3.4V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）时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</a:endParaRPr>
          </a:p>
        </p:txBody>
      </p:sp>
      <p:pic>
        <p:nvPicPr>
          <p:cNvPr id="57347" name="图片 573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1196975"/>
            <a:ext cx="6354762" cy="4781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8" name="圆角矩形标注 57347"/>
          <p:cNvSpPr/>
          <p:nvPr/>
        </p:nvSpPr>
        <p:spPr>
          <a:xfrm>
            <a:off x="755650" y="1196975"/>
            <a:ext cx="1847850" cy="1181100"/>
          </a:xfrm>
          <a:prstGeom prst="wedgeRoundRectCallout">
            <a:avLst>
              <a:gd name="adj1" fmla="val 70963"/>
              <a:gd name="adj2" fmla="val 84273"/>
              <a:gd name="adj3" fmla="val 16667"/>
            </a:avLst>
          </a:prstGeom>
          <a:solidFill>
            <a:srgbClr val="FF6600"/>
          </a:solidFill>
          <a:ln w="38100" cap="flat" cmpd="sng">
            <a:solidFill>
              <a:srgbClr val="B0FF6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电位被嵌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/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在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2.1V</a:t>
            </a:r>
            <a:endParaRPr lang="en-US" altLang="zh-CN" b="1">
              <a:solidFill>
                <a:schemeClr val="tx1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57349" name="组合 57348"/>
          <p:cNvGrpSpPr/>
          <p:nvPr/>
        </p:nvGrpSpPr>
        <p:grpSpPr>
          <a:xfrm>
            <a:off x="2987675" y="3789363"/>
            <a:ext cx="3294063" cy="1152525"/>
            <a:chOff x="0" y="0"/>
            <a:chExt cx="2075" cy="726"/>
          </a:xfrm>
        </p:grpSpPr>
        <p:sp>
          <p:nvSpPr>
            <p:cNvPr id="57350" name="左大括号 57349"/>
            <p:cNvSpPr/>
            <p:nvPr/>
          </p:nvSpPr>
          <p:spPr>
            <a:xfrm rot="17987018">
              <a:off x="863" y="-863"/>
              <a:ext cx="349" cy="2075"/>
            </a:xfrm>
            <a:prstGeom prst="leftBrace">
              <a:avLst>
                <a:gd name="adj1" fmla="val 67685"/>
                <a:gd name="adj2" fmla="val 49389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351" name="椭圆 57350"/>
            <p:cNvSpPr/>
            <p:nvPr/>
          </p:nvSpPr>
          <p:spPr>
            <a:xfrm>
              <a:off x="0" y="318"/>
              <a:ext cx="994" cy="408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全导通 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57352" name="圆角矩形标注 57351"/>
          <p:cNvSpPr/>
          <p:nvPr/>
        </p:nvSpPr>
        <p:spPr>
          <a:xfrm>
            <a:off x="323850" y="4941888"/>
            <a:ext cx="3132138" cy="647700"/>
          </a:xfrm>
          <a:prstGeom prst="wedgeRoundRectCallout">
            <a:avLst>
              <a:gd name="adj1" fmla="val 41435"/>
              <a:gd name="adj2" fmla="val -372060"/>
              <a:gd name="adj3" fmla="val 16667"/>
            </a:avLst>
          </a:prstGeom>
          <a:solidFill>
            <a:srgbClr val="FF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i="1" baseline="-25000">
                <a:latin typeface="Times New Roman" panose="02020603050405020304" pitchFamily="2" charset="0"/>
              </a:rPr>
              <a:t>B1</a:t>
            </a:r>
            <a:r>
              <a:rPr lang="en-US" altLang="zh-CN" sz="2400" b="1">
                <a:latin typeface="Times New Roman" panose="02020603050405020304" pitchFamily="2" charset="0"/>
              </a:rPr>
              <a:t>=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i="1" baseline="-25000">
                <a:latin typeface="Times New Roman" panose="02020603050405020304" pitchFamily="2" charset="0"/>
              </a:rPr>
              <a:t>IH</a:t>
            </a:r>
            <a:r>
              <a:rPr lang="en-US" altLang="zh-CN" sz="2400" b="1">
                <a:latin typeface="Times New Roman" panose="02020603050405020304" pitchFamily="2" charset="0"/>
              </a:rPr>
              <a:t>+</a:t>
            </a:r>
            <a:r>
              <a:rPr lang="en-US" altLang="zh-CN" sz="2400" b="1" i="1">
                <a:latin typeface="Times New Roman" panose="02020603050405020304" pitchFamily="2" charset="0"/>
              </a:rPr>
              <a:t>V</a:t>
            </a:r>
            <a:r>
              <a:rPr lang="en-US" altLang="zh-CN" sz="2400" b="1" i="1" baseline="-25000">
                <a:latin typeface="Times New Roman" panose="02020603050405020304" pitchFamily="2" charset="0"/>
              </a:rPr>
              <a:t>ON</a:t>
            </a:r>
            <a:r>
              <a:rPr lang="en-US" altLang="zh-CN" sz="2400" b="1">
                <a:latin typeface="Times New Roman" panose="02020603050405020304" pitchFamily="2" charset="0"/>
              </a:rPr>
              <a:t>=4.1V</a:t>
            </a:r>
            <a:endParaRPr lang="en-US" altLang="zh-CN" sz="2400" b="1">
              <a:latin typeface="Times New Roman" panose="02020603050405020304" pitchFamily="2" charset="0"/>
            </a:endParaRPr>
          </a:p>
        </p:txBody>
      </p:sp>
      <p:sp>
        <p:nvSpPr>
          <p:cNvPr id="57353" name="文本框 57352"/>
          <p:cNvSpPr txBox="1"/>
          <p:nvPr/>
        </p:nvSpPr>
        <p:spPr>
          <a:xfrm>
            <a:off x="4643438" y="2349500"/>
            <a:ext cx="1009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  <a:sym typeface="Symbol" panose="05050102010706020507" pitchFamily="2" charset="2"/>
              </a:rPr>
              <a:t>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1V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pSp>
        <p:nvGrpSpPr>
          <p:cNvPr id="57354" name="组合 57353"/>
          <p:cNvGrpSpPr/>
          <p:nvPr/>
        </p:nvGrpSpPr>
        <p:grpSpPr>
          <a:xfrm>
            <a:off x="5715000" y="2420938"/>
            <a:ext cx="2744788" cy="1352550"/>
            <a:chOff x="0" y="0"/>
            <a:chExt cx="1729" cy="852"/>
          </a:xfrm>
        </p:grpSpPr>
        <p:sp>
          <p:nvSpPr>
            <p:cNvPr id="57355" name="椭圆 57354"/>
            <p:cNvSpPr/>
            <p:nvPr/>
          </p:nvSpPr>
          <p:spPr>
            <a:xfrm>
              <a:off x="0" y="0"/>
              <a:ext cx="868" cy="85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356" name="直接连接符 57355"/>
            <p:cNvSpPr/>
            <p:nvPr/>
          </p:nvSpPr>
          <p:spPr>
            <a:xfrm>
              <a:off x="868" y="408"/>
              <a:ext cx="31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57" name="文本框 57356"/>
            <p:cNvSpPr txBox="1"/>
            <p:nvPr/>
          </p:nvSpPr>
          <p:spPr>
            <a:xfrm>
              <a:off x="1185" y="272"/>
              <a:ext cx="544" cy="288"/>
            </a:xfrm>
            <a:prstGeom prst="rect">
              <a:avLst/>
            </a:prstGeom>
            <a:solidFill>
              <a:srgbClr val="FF6600"/>
            </a:solidFill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2" charset="0"/>
                </a:rPr>
                <a:t>截止</a:t>
              </a:r>
              <a:endParaRPr lang="zh-CN" altLang="en-US" sz="2400">
                <a:latin typeface="Times New Roman" panose="02020603050405020304" pitchFamily="2" charset="0"/>
              </a:endParaRPr>
            </a:p>
          </p:txBody>
        </p:sp>
      </p:grpSp>
      <p:sp>
        <p:nvSpPr>
          <p:cNvPr id="57358" name="文本框 57357"/>
          <p:cNvSpPr txBox="1"/>
          <p:nvPr/>
        </p:nvSpPr>
        <p:spPr>
          <a:xfrm>
            <a:off x="3203575" y="5949950"/>
            <a:ext cx="3455988" cy="5794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</a:rPr>
              <a:t>T</a:t>
            </a:r>
            <a:r>
              <a:rPr lang="en-US" altLang="zh-CN" sz="3200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pitchFamily="2" charset="0"/>
              </a:rPr>
              <a:t>、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603050405020304" pitchFamily="2" charset="0"/>
              </a:rPr>
              <a:t>T</a:t>
            </a:r>
            <a:r>
              <a:rPr lang="en-US" altLang="zh-CN" sz="3200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pitchFamily="2" charset="0"/>
              </a:rPr>
              <a:t>饱和导通</a:t>
            </a:r>
            <a:endParaRPr lang="zh-CN" altLang="en-US" sz="3200" b="1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8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  <p:bldP spid="57352" grpId="0" animBg="1"/>
      <p:bldP spid="57353" grpId="0"/>
      <p:bldP spid="5735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矩形 58369"/>
          <p:cNvSpPr/>
          <p:nvPr/>
        </p:nvSpPr>
        <p:spPr>
          <a:xfrm>
            <a:off x="611188" y="333375"/>
            <a:ext cx="49625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2.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输入为高电平（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3.4V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</a:rPr>
              <a:t>）时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</a:endParaRPr>
          </a:p>
        </p:txBody>
      </p:sp>
      <p:pic>
        <p:nvPicPr>
          <p:cNvPr id="58371" name="图片 583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138" y="1042988"/>
            <a:ext cx="6181725" cy="477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2" name="文本框 58371"/>
          <p:cNvSpPr txBox="1"/>
          <p:nvPr/>
        </p:nvSpPr>
        <p:spPr>
          <a:xfrm>
            <a:off x="1476375" y="5949950"/>
            <a:ext cx="6048375" cy="617538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i="1" baseline="-25000">
                <a:latin typeface="Times New Roman" panose="02020603050405020304" pitchFamily="2" charset="0"/>
                <a:ea typeface="楷体_GB2312" pitchFamily="1" charset="-122"/>
              </a:rPr>
              <a:t>o 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=</a:t>
            </a:r>
            <a:r>
              <a:rPr lang="en-US" altLang="zh-CN" sz="3200" b="1" i="1">
                <a:latin typeface="Times New Roman" panose="02020603050405020304" pitchFamily="2" charset="0"/>
                <a:ea typeface="楷体_GB2312" pitchFamily="1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2" charset="0"/>
                <a:ea typeface="楷体_GB2312" pitchFamily="1" charset="-122"/>
              </a:rPr>
              <a:t>CE5</a:t>
            </a:r>
            <a:r>
              <a:rPr lang="en-US" altLang="zh-CN" sz="3200" b="1">
                <a:latin typeface="Times New Roman" panose="02020603050405020304" pitchFamily="2" charset="0"/>
              </a:rPr>
              <a:t>≈</a:t>
            </a: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0.3V    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输出低电平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4" name="图片 593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260350"/>
            <a:ext cx="5562600" cy="418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5" name="矩形 59394"/>
          <p:cNvSpPr/>
          <p:nvPr/>
        </p:nvSpPr>
        <p:spPr>
          <a:xfrm>
            <a:off x="611188" y="4724400"/>
            <a:ext cx="727233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可见，无论输入如何，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T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和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T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总是一管导通而另一管截止。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2" charset="0"/>
            </a:endParaRPr>
          </a:p>
          <a:p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        这种推拉式工作方式，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带负载能力很强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。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8" name="图片 604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2513"/>
            <a:ext cx="4321175" cy="4125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19" name="图片 60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1268413"/>
            <a:ext cx="4714875" cy="3648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矩形 61441"/>
          <p:cNvSpPr/>
          <p:nvPr/>
        </p:nvSpPr>
        <p:spPr>
          <a:xfrm>
            <a:off x="685800" y="457200"/>
            <a:ext cx="8001000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rgbClr val="47FF47"/>
                </a:solidFill>
                <a:latin typeface="宋体" panose="02010600030101010101" pitchFamily="2" charset="-122"/>
              </a:rPr>
              <a:t>　　</a:t>
            </a: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</a:rPr>
              <a:t>(1)  </a:t>
            </a:r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关门电阻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OFF</a:t>
            </a:r>
            <a:r>
              <a:rPr lang="en-US" altLang="zh-CN" b="1" baseline="-250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——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在保证门电路输出为额定高电平的条件下，所允许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P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的最大值称为关门电阻。典型的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TTL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门电路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OFF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≈ 0.7kΩ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。 　　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1443" name="矩形 61442"/>
          <p:cNvSpPr/>
          <p:nvPr/>
        </p:nvSpPr>
        <p:spPr>
          <a:xfrm>
            <a:off x="685800" y="2286000"/>
            <a:ext cx="8001000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rgbClr val="47FF47"/>
                </a:solidFill>
                <a:latin typeface="宋体" panose="02010600030101010101" pitchFamily="2" charset="-122"/>
              </a:rPr>
              <a:t>　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</a:rPr>
              <a:t>(2)  </a:t>
            </a:r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开门电阻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2" charset="0"/>
              </a:rPr>
              <a:t>ON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——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在保证门电路输出为额定低电平的条件下，所允许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P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的最小值称为开门电阻。典型的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TTL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门电路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ON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≈ 2kΩ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。 　　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1444" name="矩形 61443"/>
          <p:cNvSpPr/>
          <p:nvPr/>
        </p:nvSpPr>
        <p:spPr>
          <a:xfrm>
            <a:off x="684213" y="4292600"/>
            <a:ext cx="7777162" cy="2227263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数字电路中要求输入负载电阻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P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≥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ON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或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P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≤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OFF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，否则输入信号将不在高低电平范围内。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l"/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　　振荡电路则令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OFF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≤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P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2" charset="0"/>
              </a:rPr>
              <a:t> ≤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2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2" charset="0"/>
              </a:rPr>
              <a:t>ON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使电路处于转折区。</a:t>
            </a:r>
            <a:endParaRPr lang="zh-CN" altLang="en-US" b="1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6144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2466" name="组合 62465"/>
          <p:cNvGrpSpPr/>
          <p:nvPr/>
        </p:nvGrpSpPr>
        <p:grpSpPr>
          <a:xfrm>
            <a:off x="681038" y="2060575"/>
            <a:ext cx="2097087" cy="2160588"/>
            <a:chOff x="0" y="0"/>
            <a:chExt cx="1321" cy="1361"/>
          </a:xfrm>
        </p:grpSpPr>
        <p:sp>
          <p:nvSpPr>
            <p:cNvPr id="62467" name="直接连接符 62466"/>
            <p:cNvSpPr/>
            <p:nvPr/>
          </p:nvSpPr>
          <p:spPr>
            <a:xfrm>
              <a:off x="168" y="41"/>
              <a:ext cx="0" cy="31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68" name="椭圆 62467"/>
            <p:cNvSpPr/>
            <p:nvPr/>
          </p:nvSpPr>
          <p:spPr>
            <a:xfrm>
              <a:off x="119" y="279"/>
              <a:ext cx="96" cy="96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69" name="直接连接符 62468"/>
            <p:cNvSpPr/>
            <p:nvPr/>
          </p:nvSpPr>
          <p:spPr>
            <a:xfrm>
              <a:off x="0" y="1349"/>
              <a:ext cx="324" cy="1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70" name="直接连接符 62469"/>
            <p:cNvSpPr/>
            <p:nvPr/>
          </p:nvSpPr>
          <p:spPr>
            <a:xfrm>
              <a:off x="168" y="49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71" name="直接连接符 62470"/>
            <p:cNvSpPr/>
            <p:nvPr/>
          </p:nvSpPr>
          <p:spPr>
            <a:xfrm>
              <a:off x="159" y="334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72" name="椭圆 62471"/>
            <p:cNvSpPr/>
            <p:nvPr/>
          </p:nvSpPr>
          <p:spPr>
            <a:xfrm>
              <a:off x="900" y="157"/>
              <a:ext cx="96" cy="96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73" name="直接连接符 62472"/>
            <p:cNvSpPr/>
            <p:nvPr/>
          </p:nvSpPr>
          <p:spPr>
            <a:xfrm>
              <a:off x="1006" y="201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474" name="组合 62473"/>
            <p:cNvGrpSpPr/>
            <p:nvPr/>
          </p:nvGrpSpPr>
          <p:grpSpPr>
            <a:xfrm rot="-5400000">
              <a:off x="-348" y="737"/>
              <a:ext cx="1020" cy="204"/>
              <a:chOff x="0" y="0"/>
              <a:chExt cx="1020" cy="204"/>
            </a:xfrm>
          </p:grpSpPr>
          <p:sp>
            <p:nvSpPr>
              <p:cNvPr id="62475" name="矩形 62474"/>
              <p:cNvSpPr/>
              <p:nvPr/>
            </p:nvSpPr>
            <p:spPr>
              <a:xfrm>
                <a:off x="252" y="0"/>
                <a:ext cx="516" cy="204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476" name="直接连接符 62475"/>
              <p:cNvSpPr/>
              <p:nvPr/>
            </p:nvSpPr>
            <p:spPr>
              <a:xfrm>
                <a:off x="0" y="108"/>
                <a:ext cx="26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77" name="直接连接符 62476"/>
              <p:cNvSpPr/>
              <p:nvPr/>
            </p:nvSpPr>
            <p:spPr>
              <a:xfrm>
                <a:off x="756" y="108"/>
                <a:ext cx="26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2478" name="文本框 62477"/>
            <p:cNvSpPr txBox="1"/>
            <p:nvPr/>
          </p:nvSpPr>
          <p:spPr>
            <a:xfrm>
              <a:off x="315" y="689"/>
              <a:ext cx="82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10KΩ</a:t>
              </a:r>
              <a:endParaRPr lang="en-US" altLang="zh-CN" sz="3200" b="1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479" name="流程图: 延期 62478"/>
            <p:cNvSpPr/>
            <p:nvPr/>
          </p:nvSpPr>
          <p:spPr>
            <a:xfrm>
              <a:off x="477" y="0"/>
              <a:ext cx="408" cy="408"/>
            </a:xfrm>
            <a:prstGeom prst="flowChartDelay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480" name="矩形 62479"/>
          <p:cNvSpPr/>
          <p:nvPr/>
        </p:nvSpPr>
        <p:spPr>
          <a:xfrm>
            <a:off x="250825" y="404813"/>
            <a:ext cx="7875588" cy="57943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2" charset="0"/>
                <a:ea typeface="长城楷体" pitchFamily="1" charset="-122"/>
              </a:rPr>
              <a:t>例：判断如图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2" charset="0"/>
                <a:ea typeface="长城楷体" pitchFamily="1" charset="-122"/>
              </a:rPr>
              <a:t>TTL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2" charset="0"/>
                <a:ea typeface="长城楷体" pitchFamily="1" charset="-122"/>
              </a:rPr>
              <a:t>电路输出为何状态？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2" charset="0"/>
              <a:ea typeface="长城楷体" pitchFamily="1" charset="-122"/>
            </a:endParaRPr>
          </a:p>
        </p:txBody>
      </p:sp>
      <p:sp>
        <p:nvSpPr>
          <p:cNvPr id="62481" name="矩形 62480"/>
          <p:cNvSpPr/>
          <p:nvPr/>
        </p:nvSpPr>
        <p:spPr>
          <a:xfrm>
            <a:off x="611188" y="4797425"/>
            <a:ext cx="1657350" cy="57943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  <a:ea typeface="长城楷体" pitchFamily="1" charset="-122"/>
              </a:rPr>
              <a:t>Y</a:t>
            </a:r>
            <a:r>
              <a:rPr lang="en-US" altLang="zh-CN" sz="3200" b="1" baseline="-25000">
                <a:solidFill>
                  <a:srgbClr val="A50021"/>
                </a:solidFill>
                <a:latin typeface="Times New Roman" panose="02020603050405020304" pitchFamily="2" charset="0"/>
                <a:ea typeface="长城楷体" pitchFamily="1" charset="-122"/>
              </a:rPr>
              <a:t>0</a:t>
            </a:r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  <a:ea typeface="长城楷体" pitchFamily="1" charset="-122"/>
              </a:rPr>
              <a:t>=0</a:t>
            </a:r>
            <a:endParaRPr lang="en-US" altLang="zh-CN" sz="3200" b="1">
              <a:solidFill>
                <a:srgbClr val="A50021"/>
              </a:solidFill>
              <a:latin typeface="Times New Roman" panose="02020603050405020304" pitchFamily="2" charset="0"/>
              <a:ea typeface="长城楷体" pitchFamily="1" charset="-122"/>
            </a:endParaRPr>
          </a:p>
        </p:txBody>
      </p:sp>
      <p:sp>
        <p:nvSpPr>
          <p:cNvPr id="62482" name="文本框 62481"/>
          <p:cNvSpPr txBox="1"/>
          <p:nvPr/>
        </p:nvSpPr>
        <p:spPr>
          <a:xfrm>
            <a:off x="3635375" y="1773238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62483" name="文本框 62482"/>
          <p:cNvSpPr txBox="1"/>
          <p:nvPr/>
        </p:nvSpPr>
        <p:spPr>
          <a:xfrm>
            <a:off x="3635375" y="2420938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62484" name="矩形 62483"/>
          <p:cNvSpPr/>
          <p:nvPr/>
        </p:nvSpPr>
        <p:spPr>
          <a:xfrm>
            <a:off x="3635375" y="4724400"/>
            <a:ext cx="12493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>
                <a:latin typeface="Times New Roman" panose="02020603050405020304" pitchFamily="2" charset="0"/>
              </a:rPr>
              <a:t> </a:t>
            </a:r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</a:rPr>
              <a:t>Y</a:t>
            </a:r>
            <a:r>
              <a:rPr lang="en-US" altLang="zh-CN" sz="3200" b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1</a:t>
            </a:r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</a:rPr>
              <a:t>=1</a:t>
            </a:r>
            <a:r>
              <a:rPr lang="en-US" altLang="zh-CN" sz="3200">
                <a:latin typeface="Times New Roman" panose="02020603050405020304" pitchFamily="2" charset="0"/>
              </a:rPr>
              <a:t> </a:t>
            </a:r>
            <a:endParaRPr lang="en-US" altLang="zh-CN" sz="3200">
              <a:latin typeface="Times New Roman" panose="02020603050405020304" pitchFamily="2" charset="0"/>
            </a:endParaRPr>
          </a:p>
        </p:txBody>
      </p:sp>
      <p:sp>
        <p:nvSpPr>
          <p:cNvPr id="62485" name="文本框 62484"/>
          <p:cNvSpPr txBox="1"/>
          <p:nvPr/>
        </p:nvSpPr>
        <p:spPr>
          <a:xfrm>
            <a:off x="2266950" y="1725613"/>
            <a:ext cx="6080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algn="l"/>
            <a:r>
              <a:rPr lang="en-US" altLang="zh-CN" sz="3200" b="1">
                <a:latin typeface="Times New Roman" panose="02020603050405020304" pitchFamily="2" charset="0"/>
                <a:ea typeface="长城楷体" pitchFamily="1" charset="-122"/>
              </a:rPr>
              <a:t>Y</a:t>
            </a:r>
            <a:r>
              <a:rPr lang="en-US" altLang="zh-CN" sz="3200" b="1" baseline="-25000">
                <a:latin typeface="Times New Roman" panose="02020603050405020304" pitchFamily="2" charset="0"/>
                <a:ea typeface="长城楷体" pitchFamily="1" charset="-122"/>
              </a:rPr>
              <a:t>0</a:t>
            </a:r>
            <a:endParaRPr lang="en-US" altLang="zh-CN" sz="3200" b="1" baseline="-25000">
              <a:latin typeface="Times New Roman" panose="02020603050405020304" pitchFamily="2" charset="0"/>
              <a:ea typeface="长城楷体" pitchFamily="1" charset="-122"/>
            </a:endParaRPr>
          </a:p>
        </p:txBody>
      </p:sp>
      <p:grpSp>
        <p:nvGrpSpPr>
          <p:cNvPr id="62486" name="组合 62485"/>
          <p:cNvGrpSpPr/>
          <p:nvPr/>
        </p:nvGrpSpPr>
        <p:grpSpPr>
          <a:xfrm>
            <a:off x="1042988" y="1628775"/>
            <a:ext cx="431800" cy="1033463"/>
            <a:chOff x="0" y="0"/>
            <a:chExt cx="272" cy="651"/>
          </a:xfrm>
        </p:grpSpPr>
        <p:sp>
          <p:nvSpPr>
            <p:cNvPr id="62487" name="文本框 62486"/>
            <p:cNvSpPr txBox="1"/>
            <p:nvPr/>
          </p:nvSpPr>
          <p:spPr>
            <a:xfrm>
              <a:off x="0" y="363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62488" name="文本框 62487"/>
            <p:cNvSpPr txBox="1"/>
            <p:nvPr/>
          </p:nvSpPr>
          <p:spPr>
            <a:xfrm>
              <a:off x="0" y="0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2" charset="0"/>
                </a:rPr>
                <a:t>1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62489" name="组合 62488"/>
          <p:cNvGrpSpPr/>
          <p:nvPr/>
        </p:nvGrpSpPr>
        <p:grpSpPr>
          <a:xfrm>
            <a:off x="3348038" y="1725613"/>
            <a:ext cx="2232025" cy="2386012"/>
            <a:chOff x="0" y="0"/>
            <a:chExt cx="1406" cy="1503"/>
          </a:xfrm>
        </p:grpSpPr>
        <p:sp>
          <p:nvSpPr>
            <p:cNvPr id="62490" name="直接连接符 62489"/>
            <p:cNvSpPr/>
            <p:nvPr/>
          </p:nvSpPr>
          <p:spPr>
            <a:xfrm>
              <a:off x="0" y="1481"/>
              <a:ext cx="324" cy="1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1" name="直接连接符 62490"/>
            <p:cNvSpPr/>
            <p:nvPr/>
          </p:nvSpPr>
          <p:spPr>
            <a:xfrm>
              <a:off x="181" y="302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2" name="文本框 62491"/>
            <p:cNvSpPr txBox="1"/>
            <p:nvPr/>
          </p:nvSpPr>
          <p:spPr>
            <a:xfrm>
              <a:off x="219" y="852"/>
              <a:ext cx="62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10Ω</a:t>
              </a:r>
              <a:endParaRPr lang="en-US" altLang="zh-CN" sz="3200" b="1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493" name="椭圆 62492"/>
            <p:cNvSpPr/>
            <p:nvPr/>
          </p:nvSpPr>
          <p:spPr>
            <a:xfrm>
              <a:off x="900" y="34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94" name="直接连接符 62493"/>
            <p:cNvSpPr/>
            <p:nvPr/>
          </p:nvSpPr>
          <p:spPr>
            <a:xfrm>
              <a:off x="1006" y="388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495" name="组合 62494"/>
            <p:cNvGrpSpPr/>
            <p:nvPr/>
          </p:nvGrpSpPr>
          <p:grpSpPr>
            <a:xfrm>
              <a:off x="45" y="483"/>
              <a:ext cx="414" cy="1020"/>
              <a:chOff x="0" y="0"/>
              <a:chExt cx="414" cy="1020"/>
            </a:xfrm>
          </p:grpSpPr>
          <p:sp>
            <p:nvSpPr>
              <p:cNvPr id="62496" name="直接连接符 62495"/>
              <p:cNvSpPr/>
              <p:nvPr/>
            </p:nvSpPr>
            <p:spPr>
              <a:xfrm>
                <a:off x="99" y="5"/>
                <a:ext cx="315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2497" name="组合 62496"/>
              <p:cNvGrpSpPr/>
              <p:nvPr/>
            </p:nvGrpSpPr>
            <p:grpSpPr>
              <a:xfrm rot="-5400000">
                <a:off x="-408" y="408"/>
                <a:ext cx="1020" cy="204"/>
                <a:chOff x="0" y="0"/>
                <a:chExt cx="1020" cy="204"/>
              </a:xfrm>
            </p:grpSpPr>
            <p:sp>
              <p:nvSpPr>
                <p:cNvPr id="62498" name="矩形 62497"/>
                <p:cNvSpPr/>
                <p:nvPr/>
              </p:nvSpPr>
              <p:spPr>
                <a:xfrm>
                  <a:off x="252" y="0"/>
                  <a:ext cx="516" cy="204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2499" name="直接连接符 62498"/>
                <p:cNvSpPr/>
                <p:nvPr/>
              </p:nvSpPr>
              <p:spPr>
                <a:xfrm>
                  <a:off x="0" y="108"/>
                  <a:ext cx="264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00" name="直接连接符 62499"/>
                <p:cNvSpPr/>
                <p:nvPr/>
              </p:nvSpPr>
              <p:spPr>
                <a:xfrm>
                  <a:off x="756" y="108"/>
                  <a:ext cx="264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2501" name="文本框 62500"/>
            <p:cNvSpPr txBox="1"/>
            <p:nvPr/>
          </p:nvSpPr>
          <p:spPr>
            <a:xfrm>
              <a:off x="1023" y="0"/>
              <a:ext cx="38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Y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长城楷体" pitchFamily="1" charset="-122"/>
                </a:rPr>
                <a:t>1</a:t>
              </a:r>
              <a:endParaRPr lang="en-US" altLang="zh-CN" sz="3200" b="1" baseline="-25000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502" name="流程图: 延期 62501"/>
            <p:cNvSpPr/>
            <p:nvPr/>
          </p:nvSpPr>
          <p:spPr>
            <a:xfrm>
              <a:off x="475" y="166"/>
              <a:ext cx="408" cy="408"/>
            </a:xfrm>
            <a:prstGeom prst="flowChartDelay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503" name="椭圆 62502"/>
          <p:cNvSpPr/>
          <p:nvPr/>
        </p:nvSpPr>
        <p:spPr>
          <a:xfrm>
            <a:off x="7673975" y="3600450"/>
            <a:ext cx="152400" cy="152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504" name="直接连接符 62503"/>
          <p:cNvSpPr/>
          <p:nvPr/>
        </p:nvSpPr>
        <p:spPr>
          <a:xfrm>
            <a:off x="6588125" y="3500438"/>
            <a:ext cx="500063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505" name="椭圆 62504"/>
          <p:cNvSpPr/>
          <p:nvPr/>
        </p:nvSpPr>
        <p:spPr>
          <a:xfrm>
            <a:off x="6516688" y="1628775"/>
            <a:ext cx="228600" cy="20955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506" name="直接连接符 62505"/>
          <p:cNvSpPr/>
          <p:nvPr/>
        </p:nvSpPr>
        <p:spPr>
          <a:xfrm>
            <a:off x="6372225" y="5013325"/>
            <a:ext cx="400050" cy="1905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507" name="矩形 62506"/>
          <p:cNvSpPr/>
          <p:nvPr/>
        </p:nvSpPr>
        <p:spPr>
          <a:xfrm>
            <a:off x="6654800" y="5291138"/>
            <a:ext cx="1046163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</a:rPr>
              <a:t>Y</a:t>
            </a:r>
            <a:r>
              <a:rPr lang="en-US" altLang="zh-CN" sz="3200" b="1" baseline="-25000">
                <a:solidFill>
                  <a:srgbClr val="A50021"/>
                </a:solidFill>
                <a:latin typeface="Times New Roman" panose="02020603050405020304" pitchFamily="2" charset="0"/>
              </a:rPr>
              <a:t>2</a:t>
            </a:r>
            <a:r>
              <a:rPr lang="en-US" altLang="zh-CN" sz="3200" b="1">
                <a:solidFill>
                  <a:srgbClr val="A50021"/>
                </a:solidFill>
                <a:latin typeface="Times New Roman" panose="02020603050405020304" pitchFamily="2" charset="0"/>
              </a:rPr>
              <a:t>=0</a:t>
            </a:r>
            <a:endParaRPr lang="en-US" altLang="zh-CN" sz="3200" b="1">
              <a:solidFill>
                <a:srgbClr val="A50021"/>
              </a:solidFill>
              <a:latin typeface="Times New Roman" panose="02020603050405020304" pitchFamily="2" charset="0"/>
            </a:endParaRPr>
          </a:p>
        </p:txBody>
      </p:sp>
      <p:sp>
        <p:nvSpPr>
          <p:cNvPr id="62508" name="文本框 62507"/>
          <p:cNvSpPr txBox="1"/>
          <p:nvPr/>
        </p:nvSpPr>
        <p:spPr>
          <a:xfrm>
            <a:off x="6659563" y="3068638"/>
            <a:ext cx="5032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2" charset="0"/>
              </a:rPr>
              <a:t>1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62509" name="文本框 62508"/>
          <p:cNvSpPr txBox="1"/>
          <p:nvPr/>
        </p:nvSpPr>
        <p:spPr>
          <a:xfrm>
            <a:off x="6588125" y="38608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2" charset="0"/>
              </a:rPr>
              <a:t>0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62510" name="组合 62509"/>
          <p:cNvGrpSpPr/>
          <p:nvPr/>
        </p:nvGrpSpPr>
        <p:grpSpPr>
          <a:xfrm>
            <a:off x="6227763" y="981075"/>
            <a:ext cx="2363787" cy="4027488"/>
            <a:chOff x="0" y="0"/>
            <a:chExt cx="1489" cy="2537"/>
          </a:xfrm>
        </p:grpSpPr>
        <p:sp>
          <p:nvSpPr>
            <p:cNvPr id="62511" name="文本框 62510"/>
            <p:cNvSpPr txBox="1"/>
            <p:nvPr/>
          </p:nvSpPr>
          <p:spPr>
            <a:xfrm>
              <a:off x="0" y="0"/>
              <a:ext cx="54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V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长城楷体" pitchFamily="1" charset="-122"/>
                </a:rPr>
                <a:t>CC</a:t>
              </a:r>
              <a:endParaRPr lang="en-US" altLang="zh-CN" sz="3200" b="1" baseline="-25000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512" name="文本框 62511"/>
            <p:cNvSpPr txBox="1"/>
            <p:nvPr/>
          </p:nvSpPr>
          <p:spPr>
            <a:xfrm>
              <a:off x="1106" y="1330"/>
              <a:ext cx="38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Y</a:t>
              </a:r>
              <a:r>
                <a:rPr lang="en-US" altLang="zh-CN" sz="3200" b="1" baseline="-25000">
                  <a:latin typeface="Times New Roman" panose="02020603050405020304" pitchFamily="2" charset="0"/>
                  <a:ea typeface="长城楷体" pitchFamily="1" charset="-122"/>
                </a:rPr>
                <a:t>2</a:t>
              </a:r>
              <a:endParaRPr lang="en-US" altLang="zh-CN" sz="3200" b="1" baseline="-25000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513" name="直接连接符 62512"/>
            <p:cNvSpPr/>
            <p:nvPr/>
          </p:nvSpPr>
          <p:spPr>
            <a:xfrm>
              <a:off x="227" y="1769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4" name="直接连接符 62513"/>
            <p:cNvSpPr/>
            <p:nvPr/>
          </p:nvSpPr>
          <p:spPr>
            <a:xfrm>
              <a:off x="1017" y="1694"/>
              <a:ext cx="31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515" name="组合 62514"/>
            <p:cNvGrpSpPr/>
            <p:nvPr/>
          </p:nvGrpSpPr>
          <p:grpSpPr>
            <a:xfrm>
              <a:off x="136" y="544"/>
              <a:ext cx="204" cy="1043"/>
              <a:chOff x="0" y="0"/>
              <a:chExt cx="204" cy="1020"/>
            </a:xfrm>
          </p:grpSpPr>
          <p:sp>
            <p:nvSpPr>
              <p:cNvPr id="62516" name="矩形 62515"/>
              <p:cNvSpPr/>
              <p:nvPr/>
            </p:nvSpPr>
            <p:spPr>
              <a:xfrm rot="16200000">
                <a:off x="-156" y="409"/>
                <a:ext cx="516" cy="204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517" name="直接连接符 62516"/>
              <p:cNvSpPr/>
              <p:nvPr/>
            </p:nvSpPr>
            <p:spPr>
              <a:xfrm rot="16200000">
                <a:off x="-25" y="888"/>
                <a:ext cx="26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18" name="直接连接符 62517"/>
              <p:cNvSpPr/>
              <p:nvPr/>
            </p:nvSpPr>
            <p:spPr>
              <a:xfrm rot="16200000">
                <a:off x="-25" y="132"/>
                <a:ext cx="26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2519" name="矩形 62518"/>
            <p:cNvSpPr/>
            <p:nvPr/>
          </p:nvSpPr>
          <p:spPr>
            <a:xfrm>
              <a:off x="318" y="680"/>
              <a:ext cx="82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pPr algn="l"/>
              <a:r>
                <a:rPr lang="en-US" altLang="zh-CN" sz="3200" b="1">
                  <a:latin typeface="Times New Roman" panose="02020603050405020304" pitchFamily="2" charset="0"/>
                  <a:ea typeface="长城楷体" pitchFamily="1" charset="-122"/>
                </a:rPr>
                <a:t>10KΩ</a:t>
              </a:r>
              <a:endParaRPr lang="en-US" altLang="zh-CN" sz="3200" b="1">
                <a:latin typeface="Times New Roman" panose="02020603050405020304" pitchFamily="2" charset="0"/>
                <a:ea typeface="长城楷体" pitchFamily="1" charset="-122"/>
              </a:endParaRPr>
            </a:p>
          </p:txBody>
        </p:sp>
        <p:sp>
          <p:nvSpPr>
            <p:cNvPr id="62520" name="直接连接符 62519"/>
            <p:cNvSpPr/>
            <p:nvPr/>
          </p:nvSpPr>
          <p:spPr>
            <a:xfrm>
              <a:off x="227" y="1769"/>
              <a:ext cx="0" cy="76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521" name="组合 62520"/>
            <p:cNvGrpSpPr/>
            <p:nvPr/>
          </p:nvGrpSpPr>
          <p:grpSpPr>
            <a:xfrm>
              <a:off x="454" y="1406"/>
              <a:ext cx="453" cy="499"/>
              <a:chOff x="0" y="0"/>
              <a:chExt cx="408" cy="409"/>
            </a:xfrm>
          </p:grpSpPr>
          <p:sp>
            <p:nvSpPr>
              <p:cNvPr id="62522" name="未知"/>
              <p:cNvSpPr/>
              <p:nvPr/>
            </p:nvSpPr>
            <p:spPr>
              <a:xfrm>
                <a:off x="0" y="0"/>
                <a:ext cx="106" cy="409"/>
              </a:xfrm>
              <a:custGeom>
                <a:avLst/>
                <a:gdLst/>
                <a:ahLst/>
                <a:cxnLst/>
                <a:pathLst>
                  <a:path w="106" h="363">
                    <a:moveTo>
                      <a:pt x="0" y="0"/>
                    </a:moveTo>
                    <a:cubicBezTo>
                      <a:pt x="38" y="22"/>
                      <a:pt x="76" y="45"/>
                      <a:pt x="91" y="90"/>
                    </a:cubicBezTo>
                    <a:cubicBezTo>
                      <a:pt x="106" y="135"/>
                      <a:pt x="106" y="227"/>
                      <a:pt x="91" y="272"/>
                    </a:cubicBezTo>
                    <a:cubicBezTo>
                      <a:pt x="76" y="317"/>
                      <a:pt x="15" y="348"/>
                      <a:pt x="0" y="363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523" name="未知"/>
              <p:cNvSpPr/>
              <p:nvPr/>
            </p:nvSpPr>
            <p:spPr>
              <a:xfrm>
                <a:off x="0" y="0"/>
                <a:ext cx="408" cy="227"/>
              </a:xfrm>
              <a:custGeom>
                <a:avLst/>
                <a:gdLst/>
                <a:ahLst/>
                <a:cxnLst/>
                <a:pathLst>
                  <a:path w="408" h="227">
                    <a:moveTo>
                      <a:pt x="0" y="0"/>
                    </a:moveTo>
                    <a:cubicBezTo>
                      <a:pt x="102" y="26"/>
                      <a:pt x="204" y="53"/>
                      <a:pt x="272" y="91"/>
                    </a:cubicBezTo>
                    <a:cubicBezTo>
                      <a:pt x="340" y="129"/>
                      <a:pt x="385" y="204"/>
                      <a:pt x="408" y="22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524" name="未知"/>
              <p:cNvSpPr/>
              <p:nvPr/>
            </p:nvSpPr>
            <p:spPr>
              <a:xfrm>
                <a:off x="0" y="227"/>
                <a:ext cx="408" cy="182"/>
              </a:xfrm>
              <a:custGeom>
                <a:avLst/>
                <a:gdLst/>
                <a:ahLst/>
                <a:cxnLst/>
                <a:pathLst>
                  <a:path w="408" h="182">
                    <a:moveTo>
                      <a:pt x="0" y="182"/>
                    </a:moveTo>
                    <a:cubicBezTo>
                      <a:pt x="79" y="174"/>
                      <a:pt x="159" y="166"/>
                      <a:pt x="227" y="136"/>
                    </a:cubicBezTo>
                    <a:cubicBezTo>
                      <a:pt x="295" y="106"/>
                      <a:pt x="378" y="23"/>
                      <a:pt x="40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/>
      <p:bldP spid="62482" grpId="0"/>
      <p:bldP spid="62483" grpId="0"/>
      <p:bldP spid="62484" grpId="0"/>
      <p:bldP spid="62507" grpId="0"/>
      <p:bldP spid="62508" grpId="0"/>
      <p:bldP spid="6250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3490" name="对象 63489"/>
          <p:cNvGraphicFramePr>
            <a:graphicFrameLocks noChangeAspect="1"/>
          </p:cNvGraphicFramePr>
          <p:nvPr/>
        </p:nvGraphicFramePr>
        <p:xfrm>
          <a:off x="2873375" y="536575"/>
          <a:ext cx="3402013" cy="262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4540250" imgH="3497580" progId="MS_ClipArt_Gallery.2">
                  <p:embed/>
                </p:oleObj>
              </mc:Choice>
              <mc:Fallback>
                <p:oleObj name="" r:id="rId1" imgW="4540250" imgH="3497580" progId="MS_ClipArt_Gallery.2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3375" y="536575"/>
                        <a:ext cx="3402013" cy="2620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文本框 63490"/>
          <p:cNvSpPr txBox="1"/>
          <p:nvPr/>
        </p:nvSpPr>
        <p:spPr>
          <a:xfrm>
            <a:off x="1495425" y="3568700"/>
            <a:ext cx="66484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1.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悬空的输入端相当于接高电平。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63492" name="文本框 63491"/>
          <p:cNvSpPr txBox="1"/>
          <p:nvPr/>
        </p:nvSpPr>
        <p:spPr>
          <a:xfrm>
            <a:off x="1476375" y="4292600"/>
            <a:ext cx="664845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666750" indent="-666750" algn="l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2" charset="0"/>
                <a:ea typeface="楷体_GB2312" pitchFamily="1" charset="-122"/>
              </a:rPr>
              <a:t>2. </a:t>
            </a:r>
            <a:r>
              <a:rPr lang="zh-CN" altLang="en-US" sz="3200" b="1">
                <a:latin typeface="Times New Roman" panose="02020603050405020304" pitchFamily="2" charset="0"/>
                <a:ea typeface="楷体_GB2312" pitchFamily="1" charset="-122"/>
              </a:rPr>
              <a:t>为了防止干扰，一般应将悬空的输入端接高电平。</a:t>
            </a:r>
            <a:endParaRPr lang="zh-CN" altLang="en-US" sz="3200" b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63493" name="矩形 63492"/>
          <p:cNvSpPr/>
          <p:nvPr/>
        </p:nvSpPr>
        <p:spPr>
          <a:xfrm>
            <a:off x="3509963" y="842963"/>
            <a:ext cx="1133475" cy="561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4400" b="1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effectLst>
                  <a:outerShdw dist="35921" dir="2699999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endParaRPr lang="zh-CN" altLang="en-US" sz="4400" b="1"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  <a:tileRect/>
              </a:gradFill>
              <a:effectLst>
                <a:outerShdw dist="35921" dir="2699999" algn="ctr" rotWithShape="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514" name="图片 645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1773238"/>
            <a:ext cx="6497637" cy="4829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5" name="文本框 64514"/>
          <p:cNvSpPr txBox="1"/>
          <p:nvPr/>
        </p:nvSpPr>
        <p:spPr>
          <a:xfrm>
            <a:off x="250825" y="260350"/>
            <a:ext cx="69135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3.5.5  </a:t>
            </a:r>
            <a:r>
              <a:rPr lang="zh-CN" altLang="en-US" sz="3600">
                <a:latin typeface="Verdana" panose="020B0604030504040204" pitchFamily="2" charset="0"/>
              </a:rPr>
              <a:t>其他类型的</a:t>
            </a:r>
            <a:r>
              <a:rPr lang="en-US" altLang="zh-CN" sz="3600">
                <a:latin typeface="Verdana" panose="020B0604030504040204" pitchFamily="2" charset="0"/>
              </a:rPr>
              <a:t>TTL</a:t>
            </a:r>
            <a:r>
              <a:rPr lang="zh-CN" altLang="en-US" sz="3600">
                <a:latin typeface="Verdana" panose="020B0604030504040204" pitchFamily="2" charset="0"/>
              </a:rPr>
              <a:t>门电路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64516" name="文本框 64515"/>
          <p:cNvSpPr txBox="1"/>
          <p:nvPr/>
        </p:nvSpPr>
        <p:spPr>
          <a:xfrm>
            <a:off x="323850" y="1268413"/>
            <a:ext cx="5040313" cy="579437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一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. 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其他逻辑功能的门电路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64517" name="圆角矩形标注 64516"/>
          <p:cNvSpPr/>
          <p:nvPr/>
        </p:nvSpPr>
        <p:spPr>
          <a:xfrm>
            <a:off x="2555875" y="5661025"/>
            <a:ext cx="2592388" cy="936625"/>
          </a:xfrm>
          <a:prstGeom prst="wedgeRoundRectCallout">
            <a:avLst>
              <a:gd name="adj1" fmla="val -45222"/>
              <a:gd name="adj2" fmla="val -157796"/>
              <a:gd name="adj3" fmla="val 16667"/>
            </a:avLst>
          </a:prstGeom>
          <a:solidFill>
            <a:srgbClr val="FF99FF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400" b="1">
                <a:latin typeface="Times New Roman" panose="02020603050405020304" pitchFamily="2" charset="0"/>
              </a:rPr>
              <a:t>输入端改成多发射极三极管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graphicFrame>
        <p:nvGraphicFramePr>
          <p:cNvPr id="64518" name="对象 64517"/>
          <p:cNvGraphicFramePr>
            <a:graphicFrameLocks noChangeAspect="1"/>
          </p:cNvGraphicFramePr>
          <p:nvPr/>
        </p:nvGraphicFramePr>
        <p:xfrm>
          <a:off x="95250" y="5734050"/>
          <a:ext cx="2328863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" imgW="711200" imgH="203200" progId="Equation.3">
                  <p:embed/>
                </p:oleObj>
              </mc:Choice>
              <mc:Fallback>
                <p:oleObj name="" r:id="rId2" imgW="711200" imgH="203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5250" y="5734050"/>
                        <a:ext cx="2328863" cy="6651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文本框 64518"/>
          <p:cNvSpPr txBox="1"/>
          <p:nvPr/>
        </p:nvSpPr>
        <p:spPr>
          <a:xfrm>
            <a:off x="684213" y="2205038"/>
            <a:ext cx="503237" cy="18002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1.</a:t>
            </a:r>
            <a:r>
              <a:rPr lang="zh-CN" altLang="en-US" b="1">
                <a:latin typeface="Times New Roman" panose="02020603050405020304" pitchFamily="2" charset="0"/>
              </a:rPr>
              <a:t>与非门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17" grpId="0" animBg="1"/>
      <p:bldP spid="645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538" name="图片 65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924175"/>
            <a:ext cx="5629275" cy="318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39" name="文本框 65538"/>
          <p:cNvSpPr txBox="1"/>
          <p:nvPr/>
        </p:nvSpPr>
        <p:spPr>
          <a:xfrm>
            <a:off x="833438" y="271463"/>
            <a:ext cx="5643562" cy="1220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</a:rPr>
              <a:t> TTL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2" charset="0"/>
              </a:rPr>
              <a:t>集成门电路的封装：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2" charset="0"/>
              </a:rPr>
              <a:t>        </a:t>
            </a:r>
            <a:r>
              <a:rPr lang="zh-CN" altLang="en-US" b="1">
                <a:latin typeface="Times New Roman" panose="02020603050405020304" pitchFamily="2" charset="0"/>
              </a:rPr>
              <a:t>双列直插式 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65540" name="文本框 65539"/>
          <p:cNvSpPr txBox="1"/>
          <p:nvPr/>
        </p:nvSpPr>
        <p:spPr>
          <a:xfrm>
            <a:off x="219075" y="1617663"/>
            <a:ext cx="88709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如：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TTL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门电路芯片（</a:t>
            </a:r>
            <a:r>
              <a:rPr lang="zh-CN" altLang="en-US" b="1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四</a:t>
            </a:r>
            <a:r>
              <a:rPr lang="en-US" altLang="zh-CN" b="1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输入与非门，</a:t>
            </a:r>
            <a:r>
              <a:rPr lang="zh-CN" altLang="en-US" b="1">
                <a:latin typeface="楷体_GB2312" pitchFamily="1" charset="-122"/>
                <a:ea typeface="楷体_GB2312" pitchFamily="1" charset="-122"/>
              </a:rPr>
              <a:t>型号</a:t>
            </a:r>
            <a:r>
              <a:rPr lang="en-US" altLang="zh-CN" b="1">
                <a:latin typeface="楷体_GB2312" pitchFamily="1" charset="-122"/>
                <a:ea typeface="楷体_GB2312" pitchFamily="1" charset="-122"/>
              </a:rPr>
              <a:t>74LS00</a:t>
            </a:r>
            <a:r>
              <a:rPr lang="en-US" altLang="zh-CN" b="1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)</a:t>
            </a:r>
            <a:endParaRPr lang="en-US" altLang="zh-CN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5541" name="文本框 65540"/>
          <p:cNvSpPr txBox="1"/>
          <p:nvPr/>
        </p:nvSpPr>
        <p:spPr>
          <a:xfrm>
            <a:off x="4999038" y="6099175"/>
            <a:ext cx="1076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>
                <a:latin typeface="楷体_GB2312" pitchFamily="1" charset="-122"/>
                <a:ea typeface="楷体_GB2312" pitchFamily="1" charset="-122"/>
              </a:rPr>
              <a:t>地</a:t>
            </a:r>
            <a:r>
              <a:rPr lang="en-US" altLang="zh-CN" b="1">
                <a:latin typeface="楷体_GB2312" pitchFamily="1" charset="-122"/>
                <a:ea typeface="楷体_GB2312" pitchFamily="1" charset="-122"/>
              </a:rPr>
              <a:t>GND</a:t>
            </a:r>
            <a:endParaRPr lang="en-US" altLang="zh-CN" b="1"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65542" name="组合 65541"/>
          <p:cNvGrpSpPr/>
          <p:nvPr/>
        </p:nvGrpSpPr>
        <p:grpSpPr>
          <a:xfrm>
            <a:off x="6372225" y="2420938"/>
            <a:ext cx="2430463" cy="2376487"/>
            <a:chOff x="0" y="0"/>
            <a:chExt cx="1531" cy="1497"/>
          </a:xfrm>
        </p:grpSpPr>
        <p:pic>
          <p:nvPicPr>
            <p:cNvPr id="65543" name="图片 655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62"/>
              <a:ext cx="1531" cy="835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65544" name="文本框 65543"/>
            <p:cNvSpPr txBox="1"/>
            <p:nvPr/>
          </p:nvSpPr>
          <p:spPr>
            <a:xfrm>
              <a:off x="345" y="0"/>
              <a:ext cx="8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u="sng">
                  <a:latin typeface="楷体_GB2312" pitchFamily="1" charset="-122"/>
                  <a:ea typeface="楷体_GB2312" pitchFamily="1" charset="-122"/>
                </a:rPr>
                <a:t>外  形</a:t>
              </a:r>
              <a:endParaRPr lang="zh-CN" altLang="en-US" sz="3200" b="1" u="sng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65545" name="组合 65544"/>
          <p:cNvGrpSpPr/>
          <p:nvPr/>
        </p:nvGrpSpPr>
        <p:grpSpPr>
          <a:xfrm>
            <a:off x="5816600" y="4267200"/>
            <a:ext cx="2895600" cy="1511300"/>
            <a:chOff x="0" y="0"/>
            <a:chExt cx="1824" cy="952"/>
          </a:xfrm>
        </p:grpSpPr>
        <p:sp>
          <p:nvSpPr>
            <p:cNvPr id="65546" name="文本框 65545"/>
            <p:cNvSpPr txBox="1"/>
            <p:nvPr/>
          </p:nvSpPr>
          <p:spPr>
            <a:xfrm>
              <a:off x="867" y="566"/>
              <a:ext cx="697" cy="345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>
                  <a:latin typeface="楷体_GB2312" pitchFamily="1" charset="-122"/>
                  <a:ea typeface="楷体_GB2312" pitchFamily="1" charset="-122"/>
                </a:rPr>
                <a:t>管脚 </a:t>
              </a:r>
              <a:endParaRPr lang="zh-CN" altLang="en-US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65547" name="直接连接符 65546"/>
            <p:cNvSpPr/>
            <p:nvPr/>
          </p:nvSpPr>
          <p:spPr>
            <a:xfrm flipV="1">
              <a:off x="1520" y="0"/>
              <a:ext cx="304" cy="91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48" name="直接连接符 65547"/>
            <p:cNvSpPr/>
            <p:nvPr/>
          </p:nvSpPr>
          <p:spPr>
            <a:xfrm flipH="1">
              <a:off x="0" y="904"/>
              <a:ext cx="936" cy="4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5549" name="文本框 65548"/>
          <p:cNvSpPr txBox="1"/>
          <p:nvPr/>
        </p:nvSpPr>
        <p:spPr>
          <a:xfrm>
            <a:off x="0" y="2276475"/>
            <a:ext cx="2724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楷体_GB2312" pitchFamily="1" charset="-122"/>
                <a:ea typeface="楷体_GB2312" pitchFamily="1" charset="-122"/>
              </a:rPr>
              <a:t>电源</a:t>
            </a:r>
            <a:r>
              <a:rPr lang="en-US" altLang="zh-CN" b="1">
                <a:latin typeface="楷体_GB2312" pitchFamily="1" charset="-122"/>
                <a:ea typeface="楷体_GB2312" pitchFamily="1" charset="-122"/>
              </a:rPr>
              <a:t>V</a:t>
            </a:r>
            <a:r>
              <a:rPr lang="en-US" altLang="zh-CN" b="1" baseline="-25000">
                <a:latin typeface="楷体_GB2312" pitchFamily="1" charset="-122"/>
                <a:ea typeface="楷体_GB2312" pitchFamily="1" charset="-122"/>
              </a:rPr>
              <a:t>CC</a:t>
            </a:r>
            <a:r>
              <a:rPr lang="zh-CN" altLang="en-US" b="1">
                <a:latin typeface="楷体_GB2312" pitchFamily="1" charset="-122"/>
                <a:ea typeface="楷体_GB2312" pitchFamily="1" charset="-122"/>
              </a:rPr>
              <a:t>（</a:t>
            </a:r>
            <a:r>
              <a:rPr lang="en-US" altLang="zh-CN" b="1">
                <a:latin typeface="楷体_GB2312" pitchFamily="1" charset="-122"/>
                <a:ea typeface="楷体_GB2312" pitchFamily="1" charset="-122"/>
              </a:rPr>
              <a:t>+5V</a:t>
            </a:r>
            <a:r>
              <a:rPr lang="zh-CN" altLang="en-US" b="1"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b="1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  <p:bldP spid="65541" grpId="0"/>
      <p:bldP spid="6554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文本框 66561"/>
          <p:cNvSpPr txBox="1"/>
          <p:nvPr/>
        </p:nvSpPr>
        <p:spPr>
          <a:xfrm>
            <a:off x="1339850" y="4892675"/>
            <a:ext cx="5680075" cy="10668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74LS00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内含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个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输入与非门，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74LS20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内含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个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2" charset="0"/>
              </a:rPr>
              <a:t>输入与非门。</a:t>
            </a:r>
            <a:endParaRPr lang="zh-CN" altLang="en-US" sz="240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pic>
        <p:nvPicPr>
          <p:cNvPr id="66563" name="图片 665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8837613" cy="3762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586" name="图片 675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125538"/>
            <a:ext cx="6059488" cy="470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7" name="矩形 67586"/>
          <p:cNvSpPr/>
          <p:nvPr/>
        </p:nvSpPr>
        <p:spPr>
          <a:xfrm>
            <a:off x="684213" y="1557338"/>
            <a:ext cx="2447925" cy="20875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88" name="矩形 67587"/>
          <p:cNvSpPr/>
          <p:nvPr/>
        </p:nvSpPr>
        <p:spPr>
          <a:xfrm>
            <a:off x="684213" y="3716338"/>
            <a:ext cx="2447925" cy="2016125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89" name="圆角矩形标注 67588"/>
          <p:cNvSpPr/>
          <p:nvPr/>
        </p:nvSpPr>
        <p:spPr>
          <a:xfrm>
            <a:off x="611188" y="5949950"/>
            <a:ext cx="2881312" cy="647700"/>
          </a:xfrm>
          <a:prstGeom prst="wedgeRoundRectCallout">
            <a:avLst>
              <a:gd name="adj1" fmla="val -45097"/>
              <a:gd name="adj2" fmla="val -387745"/>
              <a:gd name="adj3" fmla="val 16667"/>
            </a:avLst>
          </a:prstGeom>
          <a:solidFill>
            <a:schemeClr val="folHlink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两方框中电路相同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67590" name="文本框 67589"/>
          <p:cNvSpPr txBox="1"/>
          <p:nvPr/>
        </p:nvSpPr>
        <p:spPr>
          <a:xfrm>
            <a:off x="6300788" y="1628775"/>
            <a:ext cx="2592387" cy="2870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2" charset="0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2" charset="0"/>
              </a:rPr>
              <a:t>为高电平时，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2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5</a:t>
            </a:r>
            <a:r>
              <a:rPr lang="zh-CN" altLang="en-US">
                <a:latin typeface="Times New Roman" panose="02020603050405020304" pitchFamily="2" charset="0"/>
              </a:rPr>
              <a:t>同时导通，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4</a:t>
            </a:r>
            <a:r>
              <a:rPr lang="zh-CN" altLang="en-US">
                <a:latin typeface="Times New Roman" panose="02020603050405020304" pitchFamily="2" charset="0"/>
              </a:rPr>
              <a:t>截止，输出</a:t>
            </a:r>
            <a:r>
              <a:rPr lang="en-US" altLang="zh-CN">
                <a:latin typeface="Times New Roman" panose="02020603050405020304" pitchFamily="2" charset="0"/>
              </a:rPr>
              <a:t>Y</a:t>
            </a:r>
            <a:r>
              <a:rPr lang="zh-CN" altLang="en-US">
                <a:latin typeface="Times New Roman" panose="02020603050405020304" pitchFamily="2" charset="0"/>
              </a:rPr>
              <a:t>为低电平。</a:t>
            </a:r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67591" name="文本框 67590"/>
          <p:cNvSpPr txBox="1"/>
          <p:nvPr/>
        </p:nvSpPr>
        <p:spPr>
          <a:xfrm>
            <a:off x="6300788" y="1773238"/>
            <a:ext cx="2592387" cy="2947987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2" charset="0"/>
              </a:rPr>
              <a:t>B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2" charset="0"/>
              </a:rPr>
              <a:t>为高电平时，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2</a:t>
            </a:r>
            <a:r>
              <a:rPr lang="en-US" altLang="zh-CN" sz="3200">
                <a:latin typeface="Times New Roman" panose="02020603050405020304" pitchFamily="2" charset="0"/>
              </a:rPr>
              <a:t>′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5</a:t>
            </a:r>
            <a:r>
              <a:rPr lang="zh-CN" altLang="en-US">
                <a:latin typeface="Times New Roman" panose="02020603050405020304" pitchFamily="2" charset="0"/>
              </a:rPr>
              <a:t>同时导通，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4</a:t>
            </a:r>
            <a:r>
              <a:rPr lang="zh-CN" altLang="en-US">
                <a:latin typeface="Times New Roman" panose="02020603050405020304" pitchFamily="2" charset="0"/>
              </a:rPr>
              <a:t>截止，输出</a:t>
            </a:r>
            <a:r>
              <a:rPr lang="en-US" altLang="zh-CN">
                <a:latin typeface="Times New Roman" panose="02020603050405020304" pitchFamily="2" charset="0"/>
              </a:rPr>
              <a:t>Y</a:t>
            </a:r>
            <a:r>
              <a:rPr lang="zh-CN" altLang="en-US">
                <a:latin typeface="Times New Roman" panose="02020603050405020304" pitchFamily="2" charset="0"/>
              </a:rPr>
              <a:t>为低电平。</a:t>
            </a:r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67592" name="文本框 67591"/>
          <p:cNvSpPr txBox="1"/>
          <p:nvPr/>
        </p:nvSpPr>
        <p:spPr>
          <a:xfrm>
            <a:off x="6300788" y="1844675"/>
            <a:ext cx="2592387" cy="3503613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9999"/>
                </a:solidFill>
                <a:latin typeface="Times New Roman" panose="02020603050405020304" pitchFamily="2" charset="0"/>
              </a:rPr>
              <a:t>A</a:t>
            </a:r>
            <a:r>
              <a:rPr lang="zh-CN" altLang="en-US" b="1">
                <a:solidFill>
                  <a:srgbClr val="009999"/>
                </a:solidFill>
                <a:latin typeface="Times New Roman" panose="02020603050405020304" pitchFamily="2" charset="0"/>
              </a:rPr>
              <a:t>、</a:t>
            </a:r>
            <a:r>
              <a:rPr lang="en-US" altLang="zh-CN" b="1">
                <a:solidFill>
                  <a:srgbClr val="009999"/>
                </a:solidFill>
                <a:latin typeface="Times New Roman" panose="02020603050405020304" pitchFamily="2" charset="0"/>
              </a:rPr>
              <a:t>B</a:t>
            </a:r>
            <a:r>
              <a:rPr lang="zh-CN" altLang="en-US" b="1">
                <a:solidFill>
                  <a:srgbClr val="009999"/>
                </a:solidFill>
                <a:latin typeface="Times New Roman" panose="02020603050405020304" pitchFamily="2" charset="0"/>
              </a:rPr>
              <a:t>都为低电平时</a:t>
            </a:r>
            <a:r>
              <a:rPr lang="zh-CN" altLang="en-US">
                <a:solidFill>
                  <a:srgbClr val="009999"/>
                </a:solidFill>
                <a:latin typeface="Times New Roman" panose="02020603050405020304" pitchFamily="2" charset="0"/>
              </a:rPr>
              <a:t>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2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2</a:t>
            </a:r>
            <a:r>
              <a:rPr lang="en-US" altLang="zh-CN" sz="3200">
                <a:latin typeface="Times New Roman" panose="02020603050405020304" pitchFamily="2" charset="0"/>
              </a:rPr>
              <a:t>′</a:t>
            </a:r>
            <a:r>
              <a:rPr lang="zh-CN" altLang="en-US">
                <a:latin typeface="Times New Roman" panose="02020603050405020304" pitchFamily="2" charset="0"/>
              </a:rPr>
              <a:t>同时截止，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5</a:t>
            </a:r>
            <a:r>
              <a:rPr lang="zh-CN" altLang="en-US">
                <a:latin typeface="Times New Roman" panose="02020603050405020304" pitchFamily="2" charset="0"/>
              </a:rPr>
              <a:t>截止，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4</a:t>
            </a:r>
            <a:r>
              <a:rPr lang="zh-CN" altLang="en-US">
                <a:latin typeface="Times New Roman" panose="02020603050405020304" pitchFamily="2" charset="0"/>
              </a:rPr>
              <a:t>导通，输出</a:t>
            </a:r>
            <a:r>
              <a:rPr lang="en-US" altLang="zh-CN">
                <a:latin typeface="Times New Roman" panose="02020603050405020304" pitchFamily="2" charset="0"/>
              </a:rPr>
              <a:t>Y</a:t>
            </a:r>
            <a:r>
              <a:rPr lang="zh-CN" altLang="en-US">
                <a:latin typeface="Times New Roman" panose="02020603050405020304" pitchFamily="2" charset="0"/>
              </a:rPr>
              <a:t>为高电平。</a:t>
            </a:r>
            <a:endParaRPr lang="zh-CN" altLang="en-US">
              <a:latin typeface="Times New Roman" panose="02020603050405020304" pitchFamily="2" charset="0"/>
            </a:endParaRPr>
          </a:p>
        </p:txBody>
      </p:sp>
      <p:graphicFrame>
        <p:nvGraphicFramePr>
          <p:cNvPr id="67593" name="对象 67592"/>
          <p:cNvGraphicFramePr>
            <a:graphicFrameLocks noChangeAspect="1"/>
          </p:cNvGraphicFramePr>
          <p:nvPr/>
        </p:nvGraphicFramePr>
        <p:xfrm>
          <a:off x="6111875" y="5805488"/>
          <a:ext cx="25368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2" imgW="774700" imgH="203200" progId="Equation.3">
                  <p:embed/>
                </p:oleObj>
              </mc:Choice>
              <mc:Fallback>
                <p:oleObj name="" r:id="rId2" imgW="774700" imgH="203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75" y="5805488"/>
                        <a:ext cx="2536825" cy="66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4" name="文本框 67593"/>
          <p:cNvSpPr txBox="1"/>
          <p:nvPr/>
        </p:nvSpPr>
        <p:spPr>
          <a:xfrm>
            <a:off x="468313" y="333375"/>
            <a:ext cx="1727200" cy="51911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2.</a:t>
            </a:r>
            <a:r>
              <a:rPr lang="zh-CN" altLang="en-US" b="1">
                <a:latin typeface="Times New Roman" panose="02020603050405020304" pitchFamily="2" charset="0"/>
              </a:rPr>
              <a:t>或非门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animBg="1"/>
      <p:bldP spid="67590" grpId="0" animBg="1"/>
      <p:bldP spid="67591" grpId="0" animBg="1"/>
      <p:bldP spid="67592" grpId="0" animBg="1"/>
      <p:bldP spid="67592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10" name="图片 686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4500563" cy="435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1" name="图片 68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49275"/>
            <a:ext cx="4572000" cy="433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2" name="文本框 68611"/>
          <p:cNvSpPr txBox="1"/>
          <p:nvPr/>
        </p:nvSpPr>
        <p:spPr>
          <a:xfrm>
            <a:off x="1042988" y="5229225"/>
            <a:ext cx="15843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2" charset="0"/>
              </a:rPr>
              <a:t>或非门</a:t>
            </a:r>
            <a:endParaRPr lang="zh-CN" altLang="en-US" sz="32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  <p:sp>
        <p:nvSpPr>
          <p:cNvPr id="68613" name="文本框 68612"/>
          <p:cNvSpPr txBox="1"/>
          <p:nvPr/>
        </p:nvSpPr>
        <p:spPr>
          <a:xfrm>
            <a:off x="5795963" y="5373688"/>
            <a:ext cx="20891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2" charset="0"/>
              </a:rPr>
              <a:t>与或非门</a:t>
            </a:r>
            <a:endParaRPr lang="zh-CN" altLang="en-US" sz="3200" b="1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1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4" name="图片 696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549275"/>
            <a:ext cx="6564313" cy="50387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9635" name="对象 69634"/>
          <p:cNvGraphicFramePr>
            <a:graphicFrameLocks noChangeAspect="1"/>
          </p:cNvGraphicFramePr>
          <p:nvPr/>
        </p:nvGraphicFramePr>
        <p:xfrm>
          <a:off x="3767138" y="5754688"/>
          <a:ext cx="3743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" imgW="1143635" imgH="203200" progId="Equation.3">
                  <p:embed/>
                </p:oleObj>
              </mc:Choice>
              <mc:Fallback>
                <p:oleObj name="" r:id="rId2" imgW="1143635" imgH="203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67138" y="5754688"/>
                        <a:ext cx="3743325" cy="6635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文本框 69635"/>
          <p:cNvSpPr txBox="1"/>
          <p:nvPr/>
        </p:nvSpPr>
        <p:spPr>
          <a:xfrm>
            <a:off x="539750" y="620713"/>
            <a:ext cx="503238" cy="2227262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3.</a:t>
            </a:r>
            <a:r>
              <a:rPr lang="zh-CN" altLang="en-US" b="1">
                <a:latin typeface="Times New Roman" panose="02020603050405020304" pitchFamily="2" charset="0"/>
              </a:rPr>
              <a:t>与或非门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文本框 70657"/>
          <p:cNvSpPr txBox="1"/>
          <p:nvPr/>
        </p:nvSpPr>
        <p:spPr>
          <a:xfrm>
            <a:off x="468313" y="404813"/>
            <a:ext cx="1800225" cy="519112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4.</a:t>
            </a:r>
            <a:r>
              <a:rPr lang="zh-CN" altLang="en-US" b="1">
                <a:latin typeface="Times New Roman" panose="02020603050405020304" pitchFamily="2" charset="0"/>
              </a:rPr>
              <a:t>异或门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aphicFrame>
        <p:nvGraphicFramePr>
          <p:cNvPr id="70659" name="对象 70658"/>
          <p:cNvGraphicFramePr>
            <a:graphicFrameLocks noChangeAspect="1"/>
          </p:cNvGraphicFramePr>
          <p:nvPr/>
        </p:nvGraphicFramePr>
        <p:xfrm>
          <a:off x="468313" y="1196975"/>
          <a:ext cx="5543550" cy="490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21297900" imgH="18840450" progId="MSPhotoEd.3">
                  <p:embed/>
                </p:oleObj>
              </mc:Choice>
              <mc:Fallback>
                <p:oleObj name="" r:id="rId1" imgW="21297900" imgH="18840450" progId="MSPhotoEd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1196975"/>
                        <a:ext cx="5543550" cy="4903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文本框 70659"/>
          <p:cNvSpPr txBox="1"/>
          <p:nvPr/>
        </p:nvSpPr>
        <p:spPr>
          <a:xfrm>
            <a:off x="6227763" y="765175"/>
            <a:ext cx="2160587" cy="56435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>
                <a:latin typeface="Times New Roman" panose="02020603050405020304" pitchFamily="2" charset="0"/>
              </a:rPr>
              <a:t>若</a:t>
            </a:r>
            <a:r>
              <a:rPr lang="en-US" altLang="zh-CN">
                <a:latin typeface="Times New Roman" panose="02020603050405020304" pitchFamily="2" charset="0"/>
              </a:rPr>
              <a:t>A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B</a:t>
            </a:r>
            <a:r>
              <a:rPr lang="zh-CN" altLang="en-US">
                <a:latin typeface="Times New Roman" panose="02020603050405020304" pitchFamily="2" charset="0"/>
              </a:rPr>
              <a:t>同时为高电平，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6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9</a:t>
            </a:r>
            <a:r>
              <a:rPr lang="zh-CN" altLang="en-US">
                <a:latin typeface="Times New Roman" panose="02020603050405020304" pitchFamily="2" charset="0"/>
              </a:rPr>
              <a:t>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8</a:t>
            </a:r>
            <a:r>
              <a:rPr lang="zh-CN" altLang="en-US">
                <a:latin typeface="Times New Roman" panose="02020603050405020304" pitchFamily="2" charset="0"/>
              </a:rPr>
              <a:t>截止，输出低电平；</a:t>
            </a:r>
            <a:r>
              <a:rPr lang="en-US" altLang="zh-CN">
                <a:latin typeface="Times New Roman" panose="02020603050405020304" pitchFamily="2" charset="0"/>
              </a:rPr>
              <a:t>A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B</a:t>
            </a:r>
            <a:r>
              <a:rPr lang="zh-CN" altLang="en-US">
                <a:latin typeface="Times New Roman" panose="02020603050405020304" pitchFamily="2" charset="0"/>
              </a:rPr>
              <a:t>同时为低电平，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4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5</a:t>
            </a:r>
            <a:r>
              <a:rPr lang="zh-CN" altLang="en-US">
                <a:latin typeface="Times New Roman" panose="02020603050405020304" pitchFamily="2" charset="0"/>
              </a:rPr>
              <a:t>同时截止，使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7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9</a:t>
            </a:r>
            <a:r>
              <a:rPr lang="zh-CN" altLang="en-US">
                <a:latin typeface="Times New Roman" panose="02020603050405020304" pitchFamily="2" charset="0"/>
              </a:rPr>
              <a:t>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8</a:t>
            </a:r>
            <a:r>
              <a:rPr lang="zh-CN" altLang="en-US">
                <a:latin typeface="Times New Roman" panose="02020603050405020304" pitchFamily="2" charset="0"/>
              </a:rPr>
              <a:t>截止，输出也为低电平。</a:t>
            </a:r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70661" name="文本框 70660"/>
          <p:cNvSpPr txBox="1"/>
          <p:nvPr/>
        </p:nvSpPr>
        <p:spPr>
          <a:xfrm>
            <a:off x="6227763" y="765175"/>
            <a:ext cx="2089150" cy="5643563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>
                <a:latin typeface="Times New Roman" panose="02020603050405020304" pitchFamily="2" charset="0"/>
              </a:rPr>
              <a:t>A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B</a:t>
            </a:r>
            <a:r>
              <a:rPr lang="zh-CN" altLang="en-US">
                <a:latin typeface="Times New Roman" panose="02020603050405020304" pitchFamily="2" charset="0"/>
              </a:rPr>
              <a:t>不同时，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1</a:t>
            </a:r>
            <a:r>
              <a:rPr lang="zh-CN" altLang="en-US">
                <a:latin typeface="Times New Roman" panose="02020603050405020304" pitchFamily="2" charset="0"/>
              </a:rPr>
              <a:t>正向饱和导通，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6</a:t>
            </a:r>
            <a:r>
              <a:rPr lang="zh-CN" altLang="en-US">
                <a:latin typeface="Times New Roman" panose="02020603050405020304" pitchFamily="2" charset="0"/>
              </a:rPr>
              <a:t>截止；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4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5</a:t>
            </a:r>
            <a:r>
              <a:rPr lang="zh-CN" altLang="en-US">
                <a:latin typeface="Times New Roman" panose="02020603050405020304" pitchFamily="2" charset="0"/>
              </a:rPr>
              <a:t>中必有一个导通，从而使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7</a:t>
            </a:r>
            <a:r>
              <a:rPr lang="zh-CN" altLang="en-US">
                <a:latin typeface="Times New Roman" panose="02020603050405020304" pitchFamily="2" charset="0"/>
              </a:rPr>
              <a:t>截止。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6</a:t>
            </a:r>
            <a:r>
              <a:rPr lang="zh-CN" altLang="en-US">
                <a:latin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7</a:t>
            </a:r>
            <a:r>
              <a:rPr lang="zh-CN" altLang="en-US">
                <a:latin typeface="Times New Roman" panose="02020603050405020304" pitchFamily="2" charset="0"/>
              </a:rPr>
              <a:t>同时截止，使得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8</a:t>
            </a:r>
            <a:r>
              <a:rPr lang="zh-CN" altLang="en-US">
                <a:latin typeface="Times New Roman" panose="02020603050405020304" pitchFamily="2" charset="0"/>
              </a:rPr>
              <a:t>导通，</a:t>
            </a:r>
            <a:r>
              <a:rPr lang="en-US" altLang="zh-CN">
                <a:latin typeface="Times New Roman" panose="02020603050405020304" pitchFamily="2" charset="0"/>
              </a:rPr>
              <a:t>T</a:t>
            </a:r>
            <a:r>
              <a:rPr lang="en-US" altLang="zh-CN" baseline="-25000">
                <a:latin typeface="Times New Roman" panose="02020603050405020304" pitchFamily="2" charset="0"/>
              </a:rPr>
              <a:t>9</a:t>
            </a:r>
            <a:r>
              <a:rPr lang="zh-CN" altLang="en-US">
                <a:latin typeface="Times New Roman" panose="02020603050405020304" pitchFamily="2" charset="0"/>
              </a:rPr>
              <a:t>截止，输出为高电平。</a:t>
            </a:r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/>
      <p:bldP spid="70661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682" name="组合 71681"/>
          <p:cNvGrpSpPr/>
          <p:nvPr/>
        </p:nvGrpSpPr>
        <p:grpSpPr>
          <a:xfrm>
            <a:off x="1331913" y="1052513"/>
            <a:ext cx="5545137" cy="3887787"/>
            <a:chOff x="0" y="0"/>
            <a:chExt cx="2631" cy="2013"/>
          </a:xfrm>
        </p:grpSpPr>
        <p:pic>
          <p:nvPicPr>
            <p:cNvPr id="71683" name="图片 7168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631" cy="20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684" name="文本框 71683"/>
            <p:cNvSpPr txBox="1"/>
            <p:nvPr/>
          </p:nvSpPr>
          <p:spPr>
            <a:xfrm>
              <a:off x="907" y="944"/>
              <a:ext cx="1044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2" charset="0"/>
                </a:rPr>
                <a:t>74LS86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文本框 72705"/>
          <p:cNvSpPr txBox="1"/>
          <p:nvPr/>
        </p:nvSpPr>
        <p:spPr>
          <a:xfrm>
            <a:off x="395288" y="404813"/>
            <a:ext cx="5040312" cy="579437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二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.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集电极开路门（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OC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门）</a:t>
            </a:r>
            <a:endParaRPr lang="zh-CN" altLang="en-US" sz="3200" b="1">
              <a:solidFill>
                <a:srgbClr val="800000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72707" name="文本框 72706"/>
          <p:cNvSpPr txBox="1"/>
          <p:nvPr/>
        </p:nvSpPr>
        <p:spPr>
          <a:xfrm>
            <a:off x="533400" y="1003300"/>
            <a:ext cx="4616450" cy="180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为什么需要</a:t>
            </a:r>
            <a:r>
              <a:rPr lang="en-US" altLang="zh-CN" b="1">
                <a:latin typeface="Times New Roman" panose="02020603050405020304" pitchFamily="2" charset="0"/>
              </a:rPr>
              <a:t>OC</a:t>
            </a:r>
            <a:r>
              <a:rPr lang="zh-CN" altLang="en-US" b="1">
                <a:latin typeface="Times New Roman" panose="02020603050405020304" pitchFamily="2" charset="0"/>
              </a:rPr>
              <a:t>门？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普通与非门输出不能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直接连在一起实现“线与”！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72708" name="动作按钮: 帮助 72707"/>
          <p:cNvSpPr/>
          <p:nvPr/>
        </p:nvSpPr>
        <p:spPr>
          <a:xfrm>
            <a:off x="6156325" y="3933825"/>
            <a:ext cx="1306513" cy="1819275"/>
          </a:xfrm>
          <a:prstGeom prst="actionButtonHelp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72709" name="组合 72708"/>
          <p:cNvGrpSpPr/>
          <p:nvPr/>
        </p:nvGrpSpPr>
        <p:grpSpPr>
          <a:xfrm>
            <a:off x="7524750" y="2852738"/>
            <a:ext cx="647700" cy="649287"/>
            <a:chOff x="0" y="0"/>
            <a:chExt cx="408" cy="409"/>
          </a:xfrm>
        </p:grpSpPr>
        <p:sp>
          <p:nvSpPr>
            <p:cNvPr id="72710" name="直接连接符 72709"/>
            <p:cNvSpPr/>
            <p:nvPr/>
          </p:nvSpPr>
          <p:spPr>
            <a:xfrm>
              <a:off x="0" y="0"/>
              <a:ext cx="408" cy="409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11" name="直接连接符 72710"/>
            <p:cNvSpPr/>
            <p:nvPr/>
          </p:nvSpPr>
          <p:spPr>
            <a:xfrm flipH="1">
              <a:off x="0" y="0"/>
              <a:ext cx="363" cy="40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72712" name="图片 727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924175"/>
            <a:ext cx="3175000" cy="36734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2713" name="组合 72712"/>
          <p:cNvGrpSpPr/>
          <p:nvPr/>
        </p:nvGrpSpPr>
        <p:grpSpPr>
          <a:xfrm>
            <a:off x="1763713" y="4005263"/>
            <a:ext cx="2232025" cy="719137"/>
            <a:chOff x="0" y="0"/>
            <a:chExt cx="1406" cy="453"/>
          </a:xfrm>
        </p:grpSpPr>
        <p:sp>
          <p:nvSpPr>
            <p:cNvPr id="72714" name="椭圆 72713"/>
            <p:cNvSpPr/>
            <p:nvPr/>
          </p:nvSpPr>
          <p:spPr>
            <a:xfrm>
              <a:off x="0" y="0"/>
              <a:ext cx="227" cy="31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>
                  <a:latin typeface="Times New Roman" panose="02020603050405020304" pitchFamily="2" charset="0"/>
                </a:rPr>
                <a:t>1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15" name="椭圆 72714"/>
            <p:cNvSpPr/>
            <p:nvPr/>
          </p:nvSpPr>
          <p:spPr>
            <a:xfrm>
              <a:off x="1179" y="136"/>
              <a:ext cx="227" cy="317"/>
            </a:xfrm>
            <a:prstGeom prst="ellipse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>
                  <a:latin typeface="Times New Roman" panose="02020603050405020304" pitchFamily="2" charset="0"/>
                </a:rPr>
                <a:t>0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</p:grpSp>
      <p:sp>
        <p:nvSpPr>
          <p:cNvPr id="72716" name="未知"/>
          <p:cNvSpPr/>
          <p:nvPr/>
        </p:nvSpPr>
        <p:spPr>
          <a:xfrm>
            <a:off x="1655763" y="3068638"/>
            <a:ext cx="1331912" cy="3013075"/>
          </a:xfrm>
          <a:custGeom>
            <a:avLst/>
            <a:gdLst/>
            <a:ahLst/>
            <a:cxnLst/>
            <a:pathLst>
              <a:path w="923" h="1898">
                <a:moveTo>
                  <a:pt x="113" y="0"/>
                </a:moveTo>
                <a:cubicBezTo>
                  <a:pt x="56" y="185"/>
                  <a:pt x="0" y="371"/>
                  <a:pt x="113" y="499"/>
                </a:cubicBezTo>
                <a:cubicBezTo>
                  <a:pt x="226" y="627"/>
                  <a:pt x="665" y="567"/>
                  <a:pt x="794" y="771"/>
                </a:cubicBezTo>
                <a:cubicBezTo>
                  <a:pt x="923" y="975"/>
                  <a:pt x="869" y="1550"/>
                  <a:pt x="884" y="1724"/>
                </a:cubicBezTo>
                <a:cubicBezTo>
                  <a:pt x="899" y="1898"/>
                  <a:pt x="891" y="1856"/>
                  <a:pt x="884" y="1815"/>
                </a:cubicBezTo>
              </a:path>
            </a:pathLst>
          </a:custGeom>
          <a:noFill/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2717" name="圆角矩形标注 72716"/>
          <p:cNvSpPr/>
          <p:nvPr/>
        </p:nvSpPr>
        <p:spPr>
          <a:xfrm>
            <a:off x="3995738" y="5876925"/>
            <a:ext cx="3240087" cy="576263"/>
          </a:xfrm>
          <a:prstGeom prst="wedgeRoundRectCallout">
            <a:avLst>
              <a:gd name="adj1" fmla="val -82338"/>
              <a:gd name="adj2" fmla="val -138431"/>
              <a:gd name="adj3" fmla="val 16667"/>
            </a:avLst>
          </a:prstGeom>
          <a:solidFill>
            <a:schemeClr val="hlink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400" b="1">
                <a:latin typeface="Times New Roman" panose="02020603050405020304" pitchFamily="2" charset="0"/>
              </a:rPr>
              <a:t>产生一个很大的电流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graphicFrame>
        <p:nvGraphicFramePr>
          <p:cNvPr id="72718" name="对象 72717"/>
          <p:cNvGraphicFramePr>
            <a:graphicFrameLocks noChangeAspect="1"/>
          </p:cNvGraphicFramePr>
          <p:nvPr/>
        </p:nvGraphicFramePr>
        <p:xfrm>
          <a:off x="5795963" y="2708275"/>
          <a:ext cx="230346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" imgW="1054735" imgH="203200" progId="Equation.3">
                  <p:embed/>
                </p:oleObj>
              </mc:Choice>
              <mc:Fallback>
                <p:oleObj name="" r:id="rId2" imgW="1054735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5963" y="2708275"/>
                        <a:ext cx="2303462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9" name="组合 72718"/>
          <p:cNvGrpSpPr/>
          <p:nvPr/>
        </p:nvGrpSpPr>
        <p:grpSpPr>
          <a:xfrm>
            <a:off x="5724525" y="404813"/>
            <a:ext cx="2784475" cy="2119312"/>
            <a:chOff x="0" y="0"/>
            <a:chExt cx="1754" cy="1335"/>
          </a:xfrm>
        </p:grpSpPr>
        <p:sp>
          <p:nvSpPr>
            <p:cNvPr id="72720" name="文本框 72719"/>
            <p:cNvSpPr txBox="1"/>
            <p:nvPr/>
          </p:nvSpPr>
          <p:spPr>
            <a:xfrm>
              <a:off x="38" y="0"/>
              <a:ext cx="26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A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21" name="文本框 72720"/>
            <p:cNvSpPr txBox="1"/>
            <p:nvPr/>
          </p:nvSpPr>
          <p:spPr>
            <a:xfrm>
              <a:off x="0" y="335"/>
              <a:ext cx="3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B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22" name="文本框 72721"/>
            <p:cNvSpPr txBox="1"/>
            <p:nvPr/>
          </p:nvSpPr>
          <p:spPr>
            <a:xfrm>
              <a:off x="1452" y="363"/>
              <a:ext cx="3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Y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23" name="椭圆 72722"/>
            <p:cNvSpPr/>
            <p:nvPr/>
          </p:nvSpPr>
          <p:spPr>
            <a:xfrm>
              <a:off x="1021" y="299"/>
              <a:ext cx="75" cy="7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724" name="直接连接符 72723"/>
            <p:cNvSpPr/>
            <p:nvPr/>
          </p:nvSpPr>
          <p:spPr>
            <a:xfrm flipH="1">
              <a:off x="265" y="224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5" name="直接连接符 72724"/>
            <p:cNvSpPr/>
            <p:nvPr/>
          </p:nvSpPr>
          <p:spPr>
            <a:xfrm flipH="1">
              <a:off x="265" y="447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6" name="流程图: 延期 72725"/>
            <p:cNvSpPr/>
            <p:nvPr/>
          </p:nvSpPr>
          <p:spPr>
            <a:xfrm>
              <a:off x="492" y="112"/>
              <a:ext cx="529" cy="44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727" name="文本框 72726"/>
            <p:cNvSpPr txBox="1"/>
            <p:nvPr/>
          </p:nvSpPr>
          <p:spPr>
            <a:xfrm>
              <a:off x="84" y="635"/>
              <a:ext cx="26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C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28" name="文本框 72727"/>
            <p:cNvSpPr txBox="1"/>
            <p:nvPr/>
          </p:nvSpPr>
          <p:spPr>
            <a:xfrm>
              <a:off x="46" y="970"/>
              <a:ext cx="3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Times New Roman" panose="02020603050405020304" pitchFamily="2" charset="0"/>
                </a:rPr>
                <a:t>D</a:t>
              </a:r>
              <a:endParaRPr lang="en-US" altLang="zh-CN" sz="3200">
                <a:latin typeface="Times New Roman" panose="02020603050405020304" pitchFamily="2" charset="0"/>
              </a:endParaRPr>
            </a:p>
          </p:txBody>
        </p:sp>
        <p:sp>
          <p:nvSpPr>
            <p:cNvPr id="72729" name="文本框 72728"/>
            <p:cNvSpPr txBox="1"/>
            <p:nvPr/>
          </p:nvSpPr>
          <p:spPr>
            <a:xfrm>
              <a:off x="1332" y="858"/>
              <a:ext cx="3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sz="3200">
                <a:latin typeface="Times New Roman" panose="02020603050405020304" pitchFamily="2" charset="0"/>
              </a:endParaRPr>
            </a:p>
          </p:txBody>
        </p:sp>
        <p:sp>
          <p:nvSpPr>
            <p:cNvPr id="72730" name="椭圆 72729"/>
            <p:cNvSpPr/>
            <p:nvPr/>
          </p:nvSpPr>
          <p:spPr>
            <a:xfrm>
              <a:off x="1067" y="934"/>
              <a:ext cx="75" cy="7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731" name="直接连接符 72730"/>
            <p:cNvSpPr/>
            <p:nvPr/>
          </p:nvSpPr>
          <p:spPr>
            <a:xfrm flipH="1">
              <a:off x="311" y="859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2" name="直接连接符 72731"/>
            <p:cNvSpPr/>
            <p:nvPr/>
          </p:nvSpPr>
          <p:spPr>
            <a:xfrm flipH="1">
              <a:off x="311" y="1082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3" name="直接连接符 72732"/>
            <p:cNvSpPr/>
            <p:nvPr/>
          </p:nvSpPr>
          <p:spPr>
            <a:xfrm flipH="1">
              <a:off x="1143" y="971"/>
              <a:ext cx="2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4" name="流程图: 延期 72733"/>
            <p:cNvSpPr/>
            <p:nvPr/>
          </p:nvSpPr>
          <p:spPr>
            <a:xfrm>
              <a:off x="538" y="747"/>
              <a:ext cx="529" cy="447"/>
            </a:xfrm>
            <a:prstGeom prst="flowChartDelay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735" name="直接连接符 72734"/>
            <p:cNvSpPr/>
            <p:nvPr/>
          </p:nvSpPr>
          <p:spPr>
            <a:xfrm flipV="1">
              <a:off x="1361" y="317"/>
              <a:ext cx="0" cy="63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6" name="直接连接符 72735"/>
            <p:cNvSpPr/>
            <p:nvPr/>
          </p:nvSpPr>
          <p:spPr>
            <a:xfrm>
              <a:off x="1089" y="317"/>
              <a:ext cx="453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7" name="椭圆 72736"/>
            <p:cNvSpPr/>
            <p:nvPr/>
          </p:nvSpPr>
          <p:spPr>
            <a:xfrm>
              <a:off x="1316" y="272"/>
              <a:ext cx="90" cy="91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/>
      <p:bldP spid="727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3730" name="图片 737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549275"/>
            <a:ext cx="5473700" cy="41814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3731" name="组合 73730"/>
          <p:cNvGrpSpPr/>
          <p:nvPr/>
        </p:nvGrpSpPr>
        <p:grpSpPr>
          <a:xfrm>
            <a:off x="3779838" y="1125538"/>
            <a:ext cx="2447925" cy="1963737"/>
            <a:chOff x="0" y="0"/>
            <a:chExt cx="1479" cy="1510"/>
          </a:xfrm>
        </p:grpSpPr>
        <p:sp>
          <p:nvSpPr>
            <p:cNvPr id="73732" name="椭圆 73731"/>
            <p:cNvSpPr/>
            <p:nvPr/>
          </p:nvSpPr>
          <p:spPr>
            <a:xfrm>
              <a:off x="531" y="862"/>
              <a:ext cx="948" cy="64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3733" name="椭圆 73732"/>
            <p:cNvSpPr/>
            <p:nvPr/>
          </p:nvSpPr>
          <p:spPr>
            <a:xfrm>
              <a:off x="0" y="0"/>
              <a:ext cx="1404" cy="504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3200" b="1">
                  <a:solidFill>
                    <a:srgbClr val="FF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集电极悬空 </a:t>
              </a:r>
              <a:endParaRPr lang="zh-CN" altLang="en-US" sz="3200" b="1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73734" name="直接连接符 73733"/>
            <p:cNvSpPr/>
            <p:nvPr/>
          </p:nvSpPr>
          <p:spPr>
            <a:xfrm>
              <a:off x="862" y="499"/>
              <a:ext cx="24" cy="3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35" name="组合 73734"/>
          <p:cNvGrpSpPr/>
          <p:nvPr/>
        </p:nvGrpSpPr>
        <p:grpSpPr>
          <a:xfrm>
            <a:off x="6119813" y="2565400"/>
            <a:ext cx="3024187" cy="2424113"/>
            <a:chOff x="0" y="0"/>
            <a:chExt cx="1905" cy="1527"/>
          </a:xfrm>
        </p:grpSpPr>
        <p:graphicFrame>
          <p:nvGraphicFramePr>
            <p:cNvPr id="73736" name="对象 73735"/>
            <p:cNvGraphicFramePr>
              <a:graphicFrameLocks noChangeAspect="1"/>
            </p:cNvGraphicFramePr>
            <p:nvPr/>
          </p:nvGraphicFramePr>
          <p:xfrm>
            <a:off x="159" y="1088"/>
            <a:ext cx="153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2" imgW="711200" imgH="203200" progId="Equation.3">
                    <p:embed/>
                  </p:oleObj>
                </mc:Choice>
                <mc:Fallback>
                  <p:oleObj name="" r:id="rId2" imgW="711200" imgH="2032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9" y="1088"/>
                          <a:ext cx="1537" cy="4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3737" name="组合 73736"/>
            <p:cNvGrpSpPr/>
            <p:nvPr/>
          </p:nvGrpSpPr>
          <p:grpSpPr>
            <a:xfrm>
              <a:off x="0" y="0"/>
              <a:ext cx="1905" cy="773"/>
              <a:chOff x="0" y="0"/>
              <a:chExt cx="1905" cy="773"/>
            </a:xfrm>
          </p:grpSpPr>
          <p:sp>
            <p:nvSpPr>
              <p:cNvPr id="73738" name="文本框 73737"/>
              <p:cNvSpPr txBox="1"/>
              <p:nvPr/>
            </p:nvSpPr>
            <p:spPr>
              <a:xfrm>
                <a:off x="46" y="0"/>
                <a:ext cx="317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A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3739" name="文本框 73738"/>
              <p:cNvSpPr txBox="1"/>
              <p:nvPr/>
            </p:nvSpPr>
            <p:spPr>
              <a:xfrm>
                <a:off x="0" y="408"/>
                <a:ext cx="40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B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3740" name="文本框 73739"/>
              <p:cNvSpPr txBox="1"/>
              <p:nvPr/>
            </p:nvSpPr>
            <p:spPr>
              <a:xfrm>
                <a:off x="1543" y="272"/>
                <a:ext cx="36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>
                    <a:latin typeface="Times New Roman" panose="02020603050405020304" pitchFamily="2" charset="0"/>
                  </a:rPr>
                  <a:t>Y</a:t>
                </a:r>
                <a:endParaRPr lang="en-US" altLang="zh-CN" sz="3200">
                  <a:latin typeface="Times New Roman" panose="02020603050405020304" pitchFamily="2" charset="0"/>
                </a:endParaRPr>
              </a:p>
            </p:txBody>
          </p:sp>
          <p:grpSp>
            <p:nvGrpSpPr>
              <p:cNvPr id="73741" name="组合 73740"/>
              <p:cNvGrpSpPr/>
              <p:nvPr/>
            </p:nvGrpSpPr>
            <p:grpSpPr>
              <a:xfrm>
                <a:off x="318" y="136"/>
                <a:ext cx="1270" cy="544"/>
                <a:chOff x="0" y="0"/>
                <a:chExt cx="1270" cy="544"/>
              </a:xfrm>
            </p:grpSpPr>
            <p:grpSp>
              <p:nvGrpSpPr>
                <p:cNvPr id="73742" name="组合 73741"/>
                <p:cNvGrpSpPr/>
                <p:nvPr/>
              </p:nvGrpSpPr>
              <p:grpSpPr>
                <a:xfrm>
                  <a:off x="635" y="136"/>
                  <a:ext cx="136" cy="227"/>
                  <a:chOff x="0" y="0"/>
                  <a:chExt cx="227" cy="318"/>
                </a:xfrm>
              </p:grpSpPr>
              <p:sp>
                <p:nvSpPr>
                  <p:cNvPr id="73743" name="菱形 73742"/>
                  <p:cNvSpPr/>
                  <p:nvPr/>
                </p:nvSpPr>
                <p:spPr>
                  <a:xfrm>
                    <a:off x="0" y="0"/>
                    <a:ext cx="227" cy="317"/>
                  </a:xfrm>
                  <a:prstGeom prst="diamond">
                    <a:avLst/>
                  </a:prstGeom>
                  <a:noFill/>
                  <a:ln w="38100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744" name="直接连接符 73743"/>
                  <p:cNvSpPr/>
                  <p:nvPr/>
                </p:nvSpPr>
                <p:spPr>
                  <a:xfrm flipV="1">
                    <a:off x="0" y="318"/>
                    <a:ext cx="227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73745" name="椭圆 73744"/>
                <p:cNvSpPr/>
                <p:nvPr/>
              </p:nvSpPr>
              <p:spPr>
                <a:xfrm>
                  <a:off x="907" y="227"/>
                  <a:ext cx="90" cy="91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746" name="直接连接符 73745"/>
                <p:cNvSpPr/>
                <p:nvPr/>
              </p:nvSpPr>
              <p:spPr>
                <a:xfrm flipH="1">
                  <a:off x="0" y="136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3747" name="直接连接符 73746"/>
                <p:cNvSpPr/>
                <p:nvPr/>
              </p:nvSpPr>
              <p:spPr>
                <a:xfrm flipH="1">
                  <a:off x="0" y="408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3748" name="直接连接符 73747"/>
                <p:cNvSpPr/>
                <p:nvPr/>
              </p:nvSpPr>
              <p:spPr>
                <a:xfrm flipH="1">
                  <a:off x="998" y="272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3749" name="流程图: 延期 73748"/>
                <p:cNvSpPr/>
                <p:nvPr/>
              </p:nvSpPr>
              <p:spPr>
                <a:xfrm>
                  <a:off x="272" y="0"/>
                  <a:ext cx="635" cy="544"/>
                </a:xfrm>
                <a:prstGeom prst="flowChartDelay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73750" name="文本框 73749"/>
          <p:cNvSpPr txBox="1"/>
          <p:nvPr/>
        </p:nvSpPr>
        <p:spPr>
          <a:xfrm>
            <a:off x="755650" y="5805488"/>
            <a:ext cx="6553200" cy="57943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latin typeface="楷体_GB2312" pitchFamily="1" charset="-122"/>
                <a:ea typeface="楷体_GB2312" pitchFamily="1" charset="-122"/>
              </a:rPr>
              <a:t>OC</a:t>
            </a:r>
            <a:r>
              <a:rPr lang="zh-CN" altLang="en-US" sz="3200" b="1">
                <a:latin typeface="楷体_GB2312" pitchFamily="1" charset="-122"/>
                <a:ea typeface="楷体_GB2312" pitchFamily="1" charset="-122"/>
              </a:rPr>
              <a:t>门输出端可直接连接实现线与。</a:t>
            </a:r>
            <a:endParaRPr lang="zh-CN" altLang="en-US" sz="3200" b="1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5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文本框 74753"/>
          <p:cNvSpPr txBox="1"/>
          <p:nvPr/>
        </p:nvSpPr>
        <p:spPr>
          <a:xfrm>
            <a:off x="954088" y="352425"/>
            <a:ext cx="32988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</a:rPr>
              <a:t> 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74755" name="文本框 74754"/>
          <p:cNvSpPr txBox="1"/>
          <p:nvPr/>
        </p:nvSpPr>
        <p:spPr>
          <a:xfrm>
            <a:off x="323850" y="404813"/>
            <a:ext cx="5040313" cy="579437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2" charset="0"/>
                <a:ea typeface="楷体_GB2312" pitchFamily="1" charset="-122"/>
              </a:rPr>
              <a:t>三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2" charset="0"/>
              </a:rPr>
              <a:t>. </a:t>
            </a:r>
            <a:r>
              <a:rPr lang="zh-CN" altLang="en-US" sz="3200" b="1">
                <a:solidFill>
                  <a:srgbClr val="A50021"/>
                </a:solidFill>
                <a:latin typeface="楷体_GB2312" pitchFamily="1" charset="-122"/>
                <a:ea typeface="楷体_GB2312" pitchFamily="1" charset="-122"/>
              </a:rPr>
              <a:t>三态门 （</a:t>
            </a:r>
            <a:r>
              <a:rPr lang="en-US" altLang="zh-CN" sz="3200" b="1">
                <a:solidFill>
                  <a:srgbClr val="A50021"/>
                </a:solidFill>
                <a:latin typeface="楷体_GB2312" pitchFamily="1" charset="-122"/>
                <a:ea typeface="楷体_GB2312" pitchFamily="1" charset="-122"/>
              </a:rPr>
              <a:t>TS</a:t>
            </a:r>
            <a:r>
              <a:rPr lang="zh-CN" altLang="en-US" sz="3200" b="1">
                <a:solidFill>
                  <a:srgbClr val="A50021"/>
                </a:solidFill>
                <a:latin typeface="楷体_GB2312" pitchFamily="1" charset="-122"/>
                <a:ea typeface="楷体_GB2312" pitchFamily="1" charset="-122"/>
              </a:rPr>
              <a:t>门</a:t>
            </a:r>
            <a:r>
              <a:rPr lang="en-US" altLang="zh-CN" sz="3200" b="1">
                <a:solidFill>
                  <a:srgbClr val="A50021"/>
                </a:solidFill>
                <a:latin typeface="楷体_GB2312" pitchFamily="1" charset="-122"/>
                <a:ea typeface="楷体_GB2312" pitchFamily="1" charset="-122"/>
              </a:rPr>
              <a:t>)</a:t>
            </a:r>
            <a:endParaRPr lang="en-US" altLang="zh-CN" sz="3200" b="1">
              <a:solidFill>
                <a:srgbClr val="A5002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74756" name="文本框 74755"/>
          <p:cNvSpPr txBox="1"/>
          <p:nvPr/>
        </p:nvSpPr>
        <p:spPr>
          <a:xfrm>
            <a:off x="395288" y="1773238"/>
            <a:ext cx="273685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5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</a:t>
            </a:r>
            <a:r>
              <a:rPr lang="zh-CN" altLang="en-US" b="1">
                <a:latin typeface="Times New Roman" panose="02020603050405020304" pitchFamily="2" charset="0"/>
              </a:rPr>
              <a:t>三态输出门</a:t>
            </a:r>
            <a:r>
              <a:rPr lang="en-US" altLang="zh-CN" b="1">
                <a:latin typeface="Times New Roman" panose="02020603050405020304" pitchFamily="2" charset="0"/>
              </a:rPr>
              <a:t>(Three-State Output Gate)</a:t>
            </a:r>
            <a:r>
              <a:rPr lang="zh-CN" altLang="en-US" b="1">
                <a:latin typeface="Times New Roman" panose="02020603050405020304" pitchFamily="2" charset="0"/>
              </a:rPr>
              <a:t>是在普通门电路的基础上附加控制电路而构成的。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pic>
        <p:nvPicPr>
          <p:cNvPr id="74757" name="图片 747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113" y="1125538"/>
            <a:ext cx="3432175" cy="53990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4758" name="组合 74757"/>
          <p:cNvGrpSpPr/>
          <p:nvPr/>
        </p:nvGrpSpPr>
        <p:grpSpPr>
          <a:xfrm>
            <a:off x="6551613" y="1484313"/>
            <a:ext cx="2592387" cy="1322387"/>
            <a:chOff x="0" y="0"/>
            <a:chExt cx="1633" cy="833"/>
          </a:xfrm>
        </p:grpSpPr>
        <p:sp>
          <p:nvSpPr>
            <p:cNvPr id="74759" name="直接连接符 74758"/>
            <p:cNvSpPr/>
            <p:nvPr/>
          </p:nvSpPr>
          <p:spPr>
            <a:xfrm flipV="1">
              <a:off x="953" y="136"/>
              <a:ext cx="2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60" name="直接连接符 74759"/>
            <p:cNvSpPr/>
            <p:nvPr/>
          </p:nvSpPr>
          <p:spPr>
            <a:xfrm flipH="1">
              <a:off x="408" y="136"/>
              <a:ext cx="545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61" name="文本框 74760"/>
            <p:cNvSpPr txBox="1"/>
            <p:nvPr/>
          </p:nvSpPr>
          <p:spPr>
            <a:xfrm>
              <a:off x="0" y="0"/>
              <a:ext cx="4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Times New Roman" panose="02020603050405020304" pitchFamily="2" charset="0"/>
                </a:rPr>
                <a:t>EN</a:t>
              </a:r>
              <a:endParaRPr lang="en-US" altLang="zh-CN" sz="2400" i="1">
                <a:latin typeface="Times New Roman" panose="02020603050405020304" pitchFamily="2" charset="0"/>
              </a:endParaRPr>
            </a:p>
          </p:txBody>
        </p:sp>
        <p:grpSp>
          <p:nvGrpSpPr>
            <p:cNvPr id="74762" name="组合 74761"/>
            <p:cNvGrpSpPr/>
            <p:nvPr/>
          </p:nvGrpSpPr>
          <p:grpSpPr>
            <a:xfrm>
              <a:off x="114" y="363"/>
              <a:ext cx="1519" cy="470"/>
              <a:chOff x="0" y="0"/>
              <a:chExt cx="1519" cy="470"/>
            </a:xfrm>
          </p:grpSpPr>
          <p:sp>
            <p:nvSpPr>
              <p:cNvPr id="74763" name="流程图: 合并 74762"/>
              <p:cNvSpPr/>
              <p:nvPr/>
            </p:nvSpPr>
            <p:spPr>
              <a:xfrm>
                <a:off x="816" y="136"/>
                <a:ext cx="136" cy="136"/>
              </a:xfrm>
              <a:prstGeom prst="flowChartMerge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64" name="流程图: 联系 74763"/>
              <p:cNvSpPr/>
              <p:nvPr/>
            </p:nvSpPr>
            <p:spPr>
              <a:xfrm>
                <a:off x="1043" y="182"/>
                <a:ext cx="91" cy="91"/>
              </a:xfrm>
              <a:prstGeom prst="flowChartConnector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65" name="直接连接符 74764"/>
              <p:cNvSpPr/>
              <p:nvPr/>
            </p:nvSpPr>
            <p:spPr>
              <a:xfrm flipH="1">
                <a:off x="319" y="182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66" name="直接连接符 74765"/>
              <p:cNvSpPr/>
              <p:nvPr/>
            </p:nvSpPr>
            <p:spPr>
              <a:xfrm>
                <a:off x="1134" y="227"/>
                <a:ext cx="18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67" name="文本框 74766"/>
              <p:cNvSpPr txBox="1"/>
              <p:nvPr/>
            </p:nvSpPr>
            <p:spPr>
              <a:xfrm>
                <a:off x="0" y="0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A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4768" name="文本框 74767"/>
              <p:cNvSpPr txBox="1"/>
              <p:nvPr/>
            </p:nvSpPr>
            <p:spPr>
              <a:xfrm>
                <a:off x="1247" y="136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Y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4769" name="流程图: 延期 74768"/>
              <p:cNvSpPr/>
              <p:nvPr/>
            </p:nvSpPr>
            <p:spPr>
              <a:xfrm>
                <a:off x="589" y="46"/>
                <a:ext cx="454" cy="362"/>
              </a:xfrm>
              <a:prstGeom prst="flowChartDelay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70" name="直接连接符 74769"/>
              <p:cNvSpPr/>
              <p:nvPr/>
            </p:nvSpPr>
            <p:spPr>
              <a:xfrm flipH="1">
                <a:off x="317" y="272"/>
                <a:ext cx="2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71" name="文本框 74770"/>
              <p:cNvSpPr txBox="1"/>
              <p:nvPr/>
            </p:nvSpPr>
            <p:spPr>
              <a:xfrm>
                <a:off x="0" y="182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B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</p:grpSp>
      </p:grpSp>
      <p:grpSp>
        <p:nvGrpSpPr>
          <p:cNvPr id="74772" name="组合 74771"/>
          <p:cNvGrpSpPr/>
          <p:nvPr/>
        </p:nvGrpSpPr>
        <p:grpSpPr>
          <a:xfrm>
            <a:off x="6516688" y="4365625"/>
            <a:ext cx="2627312" cy="1393825"/>
            <a:chOff x="0" y="0"/>
            <a:chExt cx="1655" cy="878"/>
          </a:xfrm>
        </p:grpSpPr>
        <p:grpSp>
          <p:nvGrpSpPr>
            <p:cNvPr id="74773" name="组合 74772"/>
            <p:cNvGrpSpPr/>
            <p:nvPr/>
          </p:nvGrpSpPr>
          <p:grpSpPr>
            <a:xfrm>
              <a:off x="367" y="197"/>
              <a:ext cx="568" cy="261"/>
              <a:chOff x="0" y="0"/>
              <a:chExt cx="568" cy="261"/>
            </a:xfrm>
          </p:grpSpPr>
          <p:sp>
            <p:nvSpPr>
              <p:cNvPr id="74774" name="流程图: 联系 74773"/>
              <p:cNvSpPr/>
              <p:nvPr/>
            </p:nvSpPr>
            <p:spPr>
              <a:xfrm>
                <a:off x="481" y="174"/>
                <a:ext cx="87" cy="87"/>
              </a:xfrm>
              <a:prstGeom prst="flowChartConnector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75" name="直接连接符 74774"/>
              <p:cNvSpPr/>
              <p:nvPr/>
            </p:nvSpPr>
            <p:spPr>
              <a:xfrm flipV="1">
                <a:off x="517" y="6"/>
                <a:ext cx="0" cy="175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76" name="直接连接符 74775"/>
              <p:cNvSpPr/>
              <p:nvPr/>
            </p:nvSpPr>
            <p:spPr>
              <a:xfrm flipH="1">
                <a:off x="0" y="0"/>
                <a:ext cx="52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4777" name="组合 74776"/>
            <p:cNvGrpSpPr/>
            <p:nvPr/>
          </p:nvGrpSpPr>
          <p:grpSpPr>
            <a:xfrm>
              <a:off x="0" y="0"/>
              <a:ext cx="593" cy="331"/>
              <a:chOff x="0" y="0"/>
              <a:chExt cx="593" cy="331"/>
            </a:xfrm>
          </p:grpSpPr>
          <p:sp>
            <p:nvSpPr>
              <p:cNvPr id="74778" name="文本框 74777"/>
              <p:cNvSpPr txBox="1"/>
              <p:nvPr/>
            </p:nvSpPr>
            <p:spPr>
              <a:xfrm>
                <a:off x="0" y="43"/>
                <a:ext cx="3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EN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4779" name="矩形 74778"/>
              <p:cNvSpPr/>
              <p:nvPr/>
            </p:nvSpPr>
            <p:spPr>
              <a:xfrm>
                <a:off x="253" y="0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>
                    <a:latin typeface="Times New Roman" panose="02020603050405020304" pitchFamily="2" charset="0"/>
                  </a:rPr>
                  <a:t>′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74780" name="组合 74779"/>
            <p:cNvGrpSpPr/>
            <p:nvPr/>
          </p:nvGrpSpPr>
          <p:grpSpPr>
            <a:xfrm>
              <a:off x="136" y="408"/>
              <a:ext cx="1519" cy="470"/>
              <a:chOff x="0" y="0"/>
              <a:chExt cx="1519" cy="470"/>
            </a:xfrm>
          </p:grpSpPr>
          <p:sp>
            <p:nvSpPr>
              <p:cNvPr id="74781" name="流程图: 合并 74780"/>
              <p:cNvSpPr/>
              <p:nvPr/>
            </p:nvSpPr>
            <p:spPr>
              <a:xfrm>
                <a:off x="816" y="136"/>
                <a:ext cx="136" cy="136"/>
              </a:xfrm>
              <a:prstGeom prst="flowChartMerge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82" name="流程图: 联系 74781"/>
              <p:cNvSpPr/>
              <p:nvPr/>
            </p:nvSpPr>
            <p:spPr>
              <a:xfrm>
                <a:off x="1043" y="182"/>
                <a:ext cx="91" cy="91"/>
              </a:xfrm>
              <a:prstGeom prst="flowChartConnector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83" name="直接连接符 74782"/>
              <p:cNvSpPr/>
              <p:nvPr/>
            </p:nvSpPr>
            <p:spPr>
              <a:xfrm flipH="1">
                <a:off x="319" y="182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84" name="直接连接符 74783"/>
              <p:cNvSpPr/>
              <p:nvPr/>
            </p:nvSpPr>
            <p:spPr>
              <a:xfrm>
                <a:off x="1134" y="227"/>
                <a:ext cx="18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85" name="文本框 74784"/>
              <p:cNvSpPr txBox="1"/>
              <p:nvPr/>
            </p:nvSpPr>
            <p:spPr>
              <a:xfrm>
                <a:off x="0" y="0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A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4786" name="文本框 74785"/>
              <p:cNvSpPr txBox="1"/>
              <p:nvPr/>
            </p:nvSpPr>
            <p:spPr>
              <a:xfrm>
                <a:off x="1247" y="136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Y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74787" name="流程图: 延期 74786"/>
              <p:cNvSpPr/>
              <p:nvPr/>
            </p:nvSpPr>
            <p:spPr>
              <a:xfrm>
                <a:off x="589" y="46"/>
                <a:ext cx="454" cy="362"/>
              </a:xfrm>
              <a:prstGeom prst="flowChartDelay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88" name="直接连接符 74787"/>
              <p:cNvSpPr/>
              <p:nvPr/>
            </p:nvSpPr>
            <p:spPr>
              <a:xfrm flipH="1">
                <a:off x="317" y="272"/>
                <a:ext cx="2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89" name="文本框 74788"/>
              <p:cNvSpPr txBox="1"/>
              <p:nvPr/>
            </p:nvSpPr>
            <p:spPr>
              <a:xfrm>
                <a:off x="0" y="182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Times New Roman" panose="02020603050405020304" pitchFamily="2" charset="0"/>
                  </a:rPr>
                  <a:t>B</a:t>
                </a:r>
                <a:endParaRPr lang="en-US" altLang="zh-CN" sz="2400" i="1">
                  <a:latin typeface="Times New Roman" panose="02020603050405020304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文本框 75777"/>
          <p:cNvSpPr txBox="1"/>
          <p:nvPr/>
        </p:nvSpPr>
        <p:spPr>
          <a:xfrm>
            <a:off x="250825" y="260350"/>
            <a:ext cx="8137525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3600">
                <a:latin typeface="Verdana" panose="020B0604030504040204" pitchFamily="2" charset="0"/>
              </a:rPr>
              <a:t>§</a:t>
            </a:r>
            <a:r>
              <a:rPr lang="en-US" altLang="zh-CN" sz="3600">
                <a:latin typeface="Verdana" panose="020B0604030504040204" pitchFamily="2" charset="0"/>
              </a:rPr>
              <a:t>3.5.6  TTL</a:t>
            </a:r>
            <a:r>
              <a:rPr lang="zh-CN" altLang="en-US" sz="3600">
                <a:latin typeface="Verdana" panose="020B0604030504040204" pitchFamily="2" charset="0"/>
              </a:rPr>
              <a:t>数字集成电路的各种系列  </a:t>
            </a:r>
            <a:endParaRPr lang="zh-CN" altLang="en-US" sz="3600">
              <a:latin typeface="Verdana" panose="020B0604030504040204" pitchFamily="2" charset="0"/>
            </a:endParaRPr>
          </a:p>
        </p:txBody>
      </p:sp>
      <p:sp>
        <p:nvSpPr>
          <p:cNvPr id="75779" name="文本框 75778"/>
          <p:cNvSpPr txBox="1"/>
          <p:nvPr/>
        </p:nvSpPr>
        <p:spPr>
          <a:xfrm>
            <a:off x="323850" y="2133600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74H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zh-CN" altLang="en-US" b="1">
                <a:latin typeface="Times New Roman" panose="02020603050405020304" pitchFamily="2" charset="0"/>
              </a:rPr>
              <a:t>高速系列。其工作速度的提高是用增加功耗的代价换取的，效果不够理想。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75780" name="文本框 75779"/>
          <p:cNvSpPr txBox="1"/>
          <p:nvPr/>
        </p:nvSpPr>
        <p:spPr>
          <a:xfrm>
            <a:off x="468313" y="1268413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从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提高工作速度</a:t>
            </a:r>
            <a:r>
              <a:rPr lang="zh-CN" altLang="en-US" b="1">
                <a:latin typeface="Times New Roman" panose="02020603050405020304" pitchFamily="2" charset="0"/>
              </a:rPr>
              <a:t>、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降低功耗</a:t>
            </a:r>
            <a:r>
              <a:rPr lang="zh-CN" altLang="en-US" b="1">
                <a:latin typeface="Times New Roman" panose="02020603050405020304" pitchFamily="2" charset="0"/>
              </a:rPr>
              <a:t>两方面考虑进行改进。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75781" name="文本框 75780"/>
          <p:cNvSpPr txBox="1"/>
          <p:nvPr/>
        </p:nvSpPr>
        <p:spPr>
          <a:xfrm>
            <a:off x="395288" y="3573463"/>
            <a:ext cx="78486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74S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zh-CN" altLang="en-US" b="1">
                <a:latin typeface="Times New Roman" panose="02020603050405020304" pitchFamily="2" charset="0"/>
              </a:rPr>
              <a:t>肖特基系列。采用抗饱和三极管，提高了工作速度，但电路功耗加大，并且输出的低电平升高。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75782" name="文本框 75781"/>
          <p:cNvSpPr txBox="1"/>
          <p:nvPr/>
        </p:nvSpPr>
        <p:spPr>
          <a:xfrm>
            <a:off x="323850" y="5157788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74LS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zh-CN" altLang="en-US" b="1">
                <a:latin typeface="Times New Roman" panose="02020603050405020304" pitchFamily="2" charset="0"/>
              </a:rPr>
              <a:t>低功耗肖特基系列。兼顾功耗和速度两个方面，得到更小的延迟－功耗积。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/>
      <p:bldP spid="75780" grpId="0"/>
      <p:bldP spid="75781" grpId="0"/>
      <p:bldP spid="7578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文本框 76801"/>
          <p:cNvSpPr txBox="1"/>
          <p:nvPr/>
        </p:nvSpPr>
        <p:spPr>
          <a:xfrm>
            <a:off x="323850" y="549275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74AS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zh-CN" altLang="en-US" b="1">
                <a:latin typeface="Times New Roman" panose="02020603050405020304" pitchFamily="2" charset="0"/>
              </a:rPr>
              <a:t>电路结构与</a:t>
            </a:r>
            <a:r>
              <a:rPr lang="en-US" altLang="zh-CN" b="1">
                <a:latin typeface="Times New Roman" panose="02020603050405020304" pitchFamily="2" charset="0"/>
              </a:rPr>
              <a:t>74LS</a:t>
            </a:r>
            <a:r>
              <a:rPr lang="zh-CN" altLang="en-US" b="1">
                <a:latin typeface="Times New Roman" panose="02020603050405020304" pitchFamily="2" charset="0"/>
              </a:rPr>
              <a:t>系列相似，采用低 阻值，提高了工作速度，但功耗较大。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76803" name="文本框 76802"/>
          <p:cNvSpPr txBox="1"/>
          <p:nvPr/>
        </p:nvSpPr>
        <p:spPr>
          <a:xfrm>
            <a:off x="323850" y="1844675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74ALS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zh-CN" altLang="en-US" b="1">
                <a:latin typeface="Times New Roman" panose="02020603050405020304" pitchFamily="2" charset="0"/>
              </a:rPr>
              <a:t>其延迟－功耗积是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电路所有系列中最小的一种。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76804" name="文本框 76803"/>
          <p:cNvSpPr txBox="1"/>
          <p:nvPr/>
        </p:nvSpPr>
        <p:spPr>
          <a:xfrm>
            <a:off x="395288" y="3500438"/>
            <a:ext cx="8137525" cy="265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54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54H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54S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</a:rPr>
              <a:t>54LS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系列：</a:t>
            </a:r>
            <a:r>
              <a:rPr lang="en-US" altLang="zh-CN" b="1">
                <a:latin typeface="Times New Roman" panose="02020603050405020304" pitchFamily="2" charset="0"/>
              </a:rPr>
              <a:t>54</a:t>
            </a:r>
            <a:r>
              <a:rPr lang="zh-CN" altLang="en-US" b="1">
                <a:latin typeface="Times New Roman" panose="02020603050405020304" pitchFamily="2" charset="0"/>
              </a:rPr>
              <a:t>系列与</a:t>
            </a:r>
            <a:r>
              <a:rPr lang="en-US" altLang="zh-CN" b="1">
                <a:latin typeface="Times New Roman" panose="02020603050405020304" pitchFamily="2" charset="0"/>
              </a:rPr>
              <a:t>74</a:t>
            </a:r>
            <a:r>
              <a:rPr lang="zh-CN" altLang="en-US" b="1">
                <a:latin typeface="Times New Roman" panose="02020603050405020304" pitchFamily="2" charset="0"/>
              </a:rPr>
              <a:t>系列电路具有完全相同的电路结构和电气性能参数。</a:t>
            </a:r>
            <a:r>
              <a:rPr lang="en-US" altLang="zh-CN" b="1">
                <a:latin typeface="Times New Roman" panose="02020603050405020304" pitchFamily="2" charset="0"/>
              </a:rPr>
              <a:t>54</a:t>
            </a:r>
            <a:r>
              <a:rPr lang="zh-CN" altLang="en-US" b="1">
                <a:latin typeface="Times New Roman" panose="02020603050405020304" pitchFamily="2" charset="0"/>
              </a:rPr>
              <a:t>系列工作温度范围更宽，电源允许的工作范围更大。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74</a:t>
            </a:r>
            <a:r>
              <a:rPr lang="zh-CN" altLang="en-US" b="1">
                <a:latin typeface="Times New Roman" panose="02020603050405020304" pitchFamily="2" charset="0"/>
              </a:rPr>
              <a:t>系列：温度</a:t>
            </a:r>
            <a:r>
              <a:rPr lang="en-US" altLang="zh-CN" b="1">
                <a:latin typeface="Times New Roman" panose="02020603050405020304" pitchFamily="2" charset="0"/>
              </a:rPr>
              <a:t>0</a:t>
            </a:r>
            <a:r>
              <a:rPr lang="zh-CN" altLang="en-US" b="1">
                <a:latin typeface="Times New Roman" panose="02020603050405020304" pitchFamily="2" charset="0"/>
              </a:rPr>
              <a:t>～</a:t>
            </a:r>
            <a:r>
              <a:rPr lang="en-US" altLang="zh-CN" b="1">
                <a:latin typeface="Times New Roman" panose="02020603050405020304" pitchFamily="2" charset="0"/>
              </a:rPr>
              <a:t>70℃</a:t>
            </a:r>
            <a:r>
              <a:rPr lang="zh-CN" altLang="en-US" b="1">
                <a:latin typeface="Times New Roman" panose="02020603050405020304" pitchFamily="2" charset="0"/>
              </a:rPr>
              <a:t>，电源电压</a:t>
            </a:r>
            <a:r>
              <a:rPr lang="en-US" altLang="zh-CN" b="1">
                <a:latin typeface="Times New Roman" panose="02020603050405020304" pitchFamily="2" charset="0"/>
              </a:rPr>
              <a:t>5V±5%;</a:t>
            </a:r>
            <a:endParaRPr lang="en-US" altLang="zh-CN" b="1">
              <a:latin typeface="Times New Roman" panose="02020603050405020304" pitchFamily="2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54</a:t>
            </a:r>
            <a:r>
              <a:rPr lang="zh-CN" altLang="en-US" b="1">
                <a:latin typeface="Times New Roman" panose="02020603050405020304" pitchFamily="2" charset="0"/>
              </a:rPr>
              <a:t>系列</a:t>
            </a:r>
            <a:r>
              <a:rPr lang="en-US" altLang="zh-CN" b="1">
                <a:latin typeface="Times New Roman" panose="02020603050405020304" pitchFamily="2" charset="0"/>
              </a:rPr>
              <a:t>:   </a:t>
            </a:r>
            <a:r>
              <a:rPr lang="zh-CN" altLang="en-US" b="1">
                <a:latin typeface="Times New Roman" panose="02020603050405020304" pitchFamily="2" charset="0"/>
              </a:rPr>
              <a:t>温度</a:t>
            </a:r>
            <a:r>
              <a:rPr lang="en-US" altLang="zh-CN" b="1">
                <a:latin typeface="Times New Roman" panose="02020603050405020304" pitchFamily="2" charset="0"/>
              </a:rPr>
              <a:t>-55</a:t>
            </a:r>
            <a:r>
              <a:rPr lang="zh-CN" altLang="en-US" b="1">
                <a:latin typeface="Times New Roman" panose="02020603050405020304" pitchFamily="2" charset="0"/>
              </a:rPr>
              <a:t>～</a:t>
            </a:r>
            <a:r>
              <a:rPr lang="en-US" altLang="zh-CN" b="1">
                <a:latin typeface="Times New Roman" panose="02020603050405020304" pitchFamily="2" charset="0"/>
              </a:rPr>
              <a:t>+125℃</a:t>
            </a:r>
            <a:r>
              <a:rPr lang="zh-CN" altLang="en-US" b="1">
                <a:latin typeface="Times New Roman" panose="02020603050405020304" pitchFamily="2" charset="0"/>
              </a:rPr>
              <a:t>，电源电压</a:t>
            </a:r>
            <a:r>
              <a:rPr lang="en-US" altLang="zh-CN" b="1">
                <a:latin typeface="Times New Roman" panose="02020603050405020304" pitchFamily="2" charset="0"/>
              </a:rPr>
              <a:t>5V±10%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/>
      <p:bldP spid="7680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7826" name="组合 77825"/>
          <p:cNvGrpSpPr/>
          <p:nvPr/>
        </p:nvGrpSpPr>
        <p:grpSpPr>
          <a:xfrm>
            <a:off x="838200" y="1066800"/>
            <a:ext cx="7772400" cy="5334000"/>
            <a:chOff x="0" y="0"/>
            <a:chExt cx="2438" cy="5574"/>
          </a:xfrm>
        </p:grpSpPr>
        <p:grpSp>
          <p:nvGrpSpPr>
            <p:cNvPr id="77827" name="组合 77826"/>
            <p:cNvGrpSpPr/>
            <p:nvPr/>
          </p:nvGrpSpPr>
          <p:grpSpPr>
            <a:xfrm>
              <a:off x="3" y="3"/>
              <a:ext cx="2432" cy="5568"/>
              <a:chOff x="0" y="0"/>
              <a:chExt cx="2432" cy="5568"/>
            </a:xfrm>
          </p:grpSpPr>
          <p:grpSp>
            <p:nvGrpSpPr>
              <p:cNvPr id="77828" name="组合 77827"/>
              <p:cNvGrpSpPr/>
              <p:nvPr/>
            </p:nvGrpSpPr>
            <p:grpSpPr>
              <a:xfrm>
                <a:off x="0" y="0"/>
                <a:ext cx="518" cy="384"/>
                <a:chOff x="0" y="0"/>
                <a:chExt cx="518" cy="384"/>
              </a:xfrm>
            </p:grpSpPr>
            <p:sp>
              <p:nvSpPr>
                <p:cNvPr id="77829" name="矩形 7782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0B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30" name="组合 7782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831" name="矩形 7783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0B1"/>
                  </a:solidFill>
                  <a:ln w="9525">
                    <a:noFill/>
                  </a:ln>
                </p:spPr>
                <p:txBody>
                  <a:bodyPr anchor="ctr" anchorCtr="0"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型  号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32" name="矩形 7783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33" name="组合 77832"/>
              <p:cNvGrpSpPr/>
              <p:nvPr/>
            </p:nvGrpSpPr>
            <p:grpSpPr>
              <a:xfrm>
                <a:off x="518" y="0"/>
                <a:ext cx="979" cy="384"/>
                <a:chOff x="0" y="0"/>
                <a:chExt cx="979" cy="384"/>
              </a:xfrm>
            </p:grpSpPr>
            <p:sp>
              <p:nvSpPr>
                <p:cNvPr id="77834" name="矩形 7783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0B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35" name="组合 7783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836" name="矩形 7783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0B1"/>
                  </a:solidFill>
                  <a:ln w="9525">
                    <a:noFill/>
                  </a:ln>
                </p:spPr>
                <p:txBody>
                  <a:bodyPr anchor="ctr" anchorCtr="0"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名   称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37" name="矩形 7783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38" name="组合 77837"/>
              <p:cNvGrpSpPr/>
              <p:nvPr/>
            </p:nvGrpSpPr>
            <p:grpSpPr>
              <a:xfrm>
                <a:off x="1497" y="0"/>
                <a:ext cx="935" cy="384"/>
                <a:chOff x="0" y="0"/>
                <a:chExt cx="935" cy="384"/>
              </a:xfrm>
            </p:grpSpPr>
            <p:sp>
              <p:nvSpPr>
                <p:cNvPr id="77839" name="矩形 7783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0B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40" name="组合 7783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841" name="矩形 7784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0B1"/>
                  </a:solidFill>
                  <a:ln w="9525">
                    <a:noFill/>
                  </a:ln>
                </p:spPr>
                <p:txBody>
                  <a:bodyPr anchor="ctr" anchorCtr="0"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主 要 功 能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42" name="矩形 7784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43" name="组合 77842"/>
              <p:cNvGrpSpPr/>
              <p:nvPr/>
            </p:nvGrpSpPr>
            <p:grpSpPr>
              <a:xfrm>
                <a:off x="0" y="384"/>
                <a:ext cx="518" cy="384"/>
                <a:chOff x="0" y="0"/>
                <a:chExt cx="518" cy="384"/>
              </a:xfrm>
            </p:grpSpPr>
            <p:sp>
              <p:nvSpPr>
                <p:cNvPr id="77844" name="矩形 7784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45" name="组合 7784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846" name="矩形 7784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74LS00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47" name="矩形 7784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48" name="组合 77847"/>
              <p:cNvGrpSpPr/>
              <p:nvPr/>
            </p:nvGrpSpPr>
            <p:grpSpPr>
              <a:xfrm>
                <a:off x="518" y="384"/>
                <a:ext cx="979" cy="384"/>
                <a:chOff x="0" y="0"/>
                <a:chExt cx="979" cy="384"/>
              </a:xfrm>
            </p:grpSpPr>
            <p:sp>
              <p:nvSpPr>
                <p:cNvPr id="77849" name="矩形 7784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50" name="组合 7784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851" name="矩形 7785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四</a:t>
                    </a:r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2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52" name="矩形 7785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53" name="组合 77852"/>
              <p:cNvGrpSpPr/>
              <p:nvPr/>
            </p:nvGrpSpPr>
            <p:grpSpPr>
              <a:xfrm>
                <a:off x="1497" y="384"/>
                <a:ext cx="935" cy="384"/>
                <a:chOff x="0" y="0"/>
                <a:chExt cx="935" cy="384"/>
              </a:xfrm>
            </p:grpSpPr>
            <p:sp>
              <p:nvSpPr>
                <p:cNvPr id="77854" name="矩形 7785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55" name="组合 7785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856" name="矩形 7785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57" name="矩形 7785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58" name="组合 77857"/>
              <p:cNvGrpSpPr/>
              <p:nvPr/>
            </p:nvGrpSpPr>
            <p:grpSpPr>
              <a:xfrm>
                <a:off x="0" y="768"/>
                <a:ext cx="518" cy="384"/>
                <a:chOff x="0" y="0"/>
                <a:chExt cx="518" cy="384"/>
              </a:xfrm>
            </p:grpSpPr>
            <p:sp>
              <p:nvSpPr>
                <p:cNvPr id="77859" name="矩形 7785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60" name="组合 7785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861" name="矩形 7786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74LS02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62" name="矩形 7786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63" name="组合 77862"/>
              <p:cNvGrpSpPr/>
              <p:nvPr/>
            </p:nvGrpSpPr>
            <p:grpSpPr>
              <a:xfrm>
                <a:off x="518" y="768"/>
                <a:ext cx="979" cy="384"/>
                <a:chOff x="0" y="0"/>
                <a:chExt cx="979" cy="384"/>
              </a:xfrm>
            </p:grpSpPr>
            <p:sp>
              <p:nvSpPr>
                <p:cNvPr id="77864" name="矩形 7786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65" name="组合 7786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866" name="矩形 7786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四</a:t>
                    </a:r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2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输入或非门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67" name="矩形 7786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68" name="组合 77867"/>
              <p:cNvGrpSpPr/>
              <p:nvPr/>
            </p:nvGrpSpPr>
            <p:grpSpPr>
              <a:xfrm>
                <a:off x="1497" y="768"/>
                <a:ext cx="935" cy="384"/>
                <a:chOff x="0" y="0"/>
                <a:chExt cx="935" cy="384"/>
              </a:xfrm>
            </p:grpSpPr>
            <p:sp>
              <p:nvSpPr>
                <p:cNvPr id="77869" name="矩形 7786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70" name="组合 7786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871" name="矩形 7787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72" name="矩形 7787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73" name="组合 77872"/>
              <p:cNvGrpSpPr/>
              <p:nvPr/>
            </p:nvGrpSpPr>
            <p:grpSpPr>
              <a:xfrm>
                <a:off x="0" y="1152"/>
                <a:ext cx="518" cy="384"/>
                <a:chOff x="0" y="0"/>
                <a:chExt cx="518" cy="384"/>
              </a:xfrm>
            </p:grpSpPr>
            <p:sp>
              <p:nvSpPr>
                <p:cNvPr id="77874" name="矩形 7787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75" name="组合 7787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876" name="矩形 7787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74LS04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77" name="矩形 7787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78" name="组合 77877"/>
              <p:cNvGrpSpPr/>
              <p:nvPr/>
            </p:nvGrpSpPr>
            <p:grpSpPr>
              <a:xfrm>
                <a:off x="518" y="1152"/>
                <a:ext cx="979" cy="384"/>
                <a:chOff x="0" y="0"/>
                <a:chExt cx="979" cy="384"/>
              </a:xfrm>
            </p:grpSpPr>
            <p:sp>
              <p:nvSpPr>
                <p:cNvPr id="77879" name="矩形 7787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80" name="组合 7787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881" name="矩形 7788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六反相器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82" name="矩形 7788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83" name="组合 77882"/>
              <p:cNvGrpSpPr/>
              <p:nvPr/>
            </p:nvGrpSpPr>
            <p:grpSpPr>
              <a:xfrm>
                <a:off x="1497" y="1152"/>
                <a:ext cx="935" cy="384"/>
                <a:chOff x="0" y="0"/>
                <a:chExt cx="935" cy="384"/>
              </a:xfrm>
            </p:grpSpPr>
            <p:sp>
              <p:nvSpPr>
                <p:cNvPr id="77884" name="矩形 7788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85" name="组合 7788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886" name="矩形 7788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87" name="矩形 7788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88" name="组合 77887"/>
              <p:cNvGrpSpPr/>
              <p:nvPr/>
            </p:nvGrpSpPr>
            <p:grpSpPr>
              <a:xfrm>
                <a:off x="0" y="1536"/>
                <a:ext cx="518" cy="384"/>
                <a:chOff x="0" y="0"/>
                <a:chExt cx="518" cy="384"/>
              </a:xfrm>
            </p:grpSpPr>
            <p:sp>
              <p:nvSpPr>
                <p:cNvPr id="77889" name="矩形 7788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90" name="组合 7788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891" name="矩形 7789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74LS05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92" name="矩形 7789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93" name="组合 77892"/>
              <p:cNvGrpSpPr/>
              <p:nvPr/>
            </p:nvGrpSpPr>
            <p:grpSpPr>
              <a:xfrm>
                <a:off x="518" y="1536"/>
                <a:ext cx="979" cy="384"/>
                <a:chOff x="0" y="0"/>
                <a:chExt cx="979" cy="384"/>
              </a:xfrm>
            </p:grpSpPr>
            <p:sp>
              <p:nvSpPr>
                <p:cNvPr id="77894" name="矩形 7789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895" name="组合 7789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896" name="矩形 7789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六反相器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897" name="矩形 7789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98" name="组合 77897"/>
              <p:cNvGrpSpPr/>
              <p:nvPr/>
            </p:nvGrpSpPr>
            <p:grpSpPr>
              <a:xfrm>
                <a:off x="1497" y="1536"/>
                <a:ext cx="935" cy="384"/>
                <a:chOff x="0" y="0"/>
                <a:chExt cx="935" cy="384"/>
              </a:xfrm>
            </p:grpSpPr>
            <p:sp>
              <p:nvSpPr>
                <p:cNvPr id="77899" name="矩形 7789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00" name="组合 7789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01" name="矩形 7790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OC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02" name="矩形 7790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03" name="组合 77902"/>
              <p:cNvGrpSpPr/>
              <p:nvPr/>
            </p:nvGrpSpPr>
            <p:grpSpPr>
              <a:xfrm>
                <a:off x="0" y="1920"/>
                <a:ext cx="518" cy="384"/>
                <a:chOff x="0" y="0"/>
                <a:chExt cx="518" cy="384"/>
              </a:xfrm>
            </p:grpSpPr>
            <p:sp>
              <p:nvSpPr>
                <p:cNvPr id="77904" name="矩形 7790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05" name="组合 7790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06" name="矩形 7790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74LS08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07" name="矩形 7790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08" name="组合 77907"/>
              <p:cNvGrpSpPr/>
              <p:nvPr/>
            </p:nvGrpSpPr>
            <p:grpSpPr>
              <a:xfrm>
                <a:off x="518" y="1920"/>
                <a:ext cx="979" cy="384"/>
                <a:chOff x="0" y="0"/>
                <a:chExt cx="979" cy="384"/>
              </a:xfrm>
            </p:grpSpPr>
            <p:sp>
              <p:nvSpPr>
                <p:cNvPr id="77909" name="矩形 7790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10" name="组合 7790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11" name="矩形 7791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四</a:t>
                    </a:r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2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12" name="矩形 7791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13" name="组合 77912"/>
              <p:cNvGrpSpPr/>
              <p:nvPr/>
            </p:nvGrpSpPr>
            <p:grpSpPr>
              <a:xfrm>
                <a:off x="1497" y="1920"/>
                <a:ext cx="935" cy="384"/>
                <a:chOff x="0" y="0"/>
                <a:chExt cx="935" cy="384"/>
              </a:xfrm>
            </p:grpSpPr>
            <p:sp>
              <p:nvSpPr>
                <p:cNvPr id="77914" name="矩形 7791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15" name="组合 7791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16" name="矩形 7791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17" name="矩形 7791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18" name="组合 77917"/>
              <p:cNvGrpSpPr/>
              <p:nvPr/>
            </p:nvGrpSpPr>
            <p:grpSpPr>
              <a:xfrm>
                <a:off x="0" y="2304"/>
                <a:ext cx="518" cy="384"/>
                <a:chOff x="0" y="0"/>
                <a:chExt cx="518" cy="384"/>
              </a:xfrm>
            </p:grpSpPr>
            <p:sp>
              <p:nvSpPr>
                <p:cNvPr id="77919" name="矩形 7791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20" name="组合 7791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21" name="矩形 7792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74LS13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22" name="矩形 7792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23" name="组合 77922"/>
              <p:cNvGrpSpPr/>
              <p:nvPr/>
            </p:nvGrpSpPr>
            <p:grpSpPr>
              <a:xfrm>
                <a:off x="518" y="2304"/>
                <a:ext cx="979" cy="384"/>
                <a:chOff x="0" y="0"/>
                <a:chExt cx="979" cy="384"/>
              </a:xfrm>
            </p:grpSpPr>
            <p:sp>
              <p:nvSpPr>
                <p:cNvPr id="77924" name="矩形 7792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25" name="组合 7792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26" name="矩形 7792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双</a:t>
                    </a:r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4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27" name="矩形 7792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28" name="组合 77927"/>
              <p:cNvGrpSpPr/>
              <p:nvPr/>
            </p:nvGrpSpPr>
            <p:grpSpPr>
              <a:xfrm>
                <a:off x="1497" y="2304"/>
                <a:ext cx="935" cy="384"/>
                <a:chOff x="0" y="0"/>
                <a:chExt cx="935" cy="384"/>
              </a:xfrm>
            </p:grpSpPr>
            <p:sp>
              <p:nvSpPr>
                <p:cNvPr id="77929" name="矩形 7792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30" name="组合 7792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31" name="矩形 7793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施密特触发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32" name="矩形 7793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33" name="组合 77932"/>
              <p:cNvGrpSpPr/>
              <p:nvPr/>
            </p:nvGrpSpPr>
            <p:grpSpPr>
              <a:xfrm>
                <a:off x="0" y="2688"/>
                <a:ext cx="518" cy="384"/>
                <a:chOff x="0" y="0"/>
                <a:chExt cx="518" cy="384"/>
              </a:xfrm>
            </p:grpSpPr>
            <p:sp>
              <p:nvSpPr>
                <p:cNvPr id="77934" name="矩形 7793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35" name="组合 7793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36" name="矩形 7793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74LS30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37" name="矩形 7793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38" name="组合 77937"/>
              <p:cNvGrpSpPr/>
              <p:nvPr/>
            </p:nvGrpSpPr>
            <p:grpSpPr>
              <a:xfrm>
                <a:off x="518" y="2688"/>
                <a:ext cx="979" cy="384"/>
                <a:chOff x="0" y="0"/>
                <a:chExt cx="979" cy="384"/>
              </a:xfrm>
            </p:grpSpPr>
            <p:sp>
              <p:nvSpPr>
                <p:cNvPr id="77939" name="矩形 7793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40" name="组合 7793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41" name="矩形 7794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8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42" name="矩形 7794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43" name="组合 77942"/>
              <p:cNvGrpSpPr/>
              <p:nvPr/>
            </p:nvGrpSpPr>
            <p:grpSpPr>
              <a:xfrm>
                <a:off x="1497" y="2688"/>
                <a:ext cx="935" cy="384"/>
                <a:chOff x="0" y="0"/>
                <a:chExt cx="935" cy="384"/>
              </a:xfrm>
            </p:grpSpPr>
            <p:sp>
              <p:nvSpPr>
                <p:cNvPr id="77944" name="矩形 7794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45" name="组合 7794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46" name="矩形 7794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47" name="矩形 7794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48" name="组合 77947"/>
              <p:cNvGrpSpPr/>
              <p:nvPr/>
            </p:nvGrpSpPr>
            <p:grpSpPr>
              <a:xfrm>
                <a:off x="0" y="3072"/>
                <a:ext cx="518" cy="384"/>
                <a:chOff x="0" y="0"/>
                <a:chExt cx="518" cy="384"/>
              </a:xfrm>
            </p:grpSpPr>
            <p:sp>
              <p:nvSpPr>
                <p:cNvPr id="77949" name="矩形 7794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50" name="组合 7794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51" name="矩形 7795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74LS32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52" name="矩形 7795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53" name="组合 77952"/>
              <p:cNvGrpSpPr/>
              <p:nvPr/>
            </p:nvGrpSpPr>
            <p:grpSpPr>
              <a:xfrm>
                <a:off x="518" y="3072"/>
                <a:ext cx="979" cy="384"/>
                <a:chOff x="0" y="0"/>
                <a:chExt cx="979" cy="384"/>
              </a:xfrm>
            </p:grpSpPr>
            <p:sp>
              <p:nvSpPr>
                <p:cNvPr id="77954" name="矩形 7795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55" name="组合 7795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56" name="矩形 7795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四</a:t>
                    </a:r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2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输入或门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57" name="矩形 7795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58" name="组合 77957"/>
              <p:cNvGrpSpPr/>
              <p:nvPr/>
            </p:nvGrpSpPr>
            <p:grpSpPr>
              <a:xfrm>
                <a:off x="1497" y="3072"/>
                <a:ext cx="935" cy="384"/>
                <a:chOff x="0" y="0"/>
                <a:chExt cx="935" cy="384"/>
              </a:xfrm>
            </p:grpSpPr>
            <p:sp>
              <p:nvSpPr>
                <p:cNvPr id="77959" name="矩形 7795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60" name="组合 7795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61" name="矩形 7796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62" name="矩形 7796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63" name="组合 77962"/>
              <p:cNvGrpSpPr/>
              <p:nvPr/>
            </p:nvGrpSpPr>
            <p:grpSpPr>
              <a:xfrm>
                <a:off x="0" y="3456"/>
                <a:ext cx="518" cy="384"/>
                <a:chOff x="0" y="0"/>
                <a:chExt cx="518" cy="384"/>
              </a:xfrm>
            </p:grpSpPr>
            <p:sp>
              <p:nvSpPr>
                <p:cNvPr id="77964" name="矩形 7796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65" name="组合 7796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66" name="矩形 7796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74LS64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67" name="矩形 7796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68" name="组合 77967"/>
              <p:cNvGrpSpPr/>
              <p:nvPr/>
            </p:nvGrpSpPr>
            <p:grpSpPr>
              <a:xfrm>
                <a:off x="518" y="3456"/>
                <a:ext cx="979" cy="384"/>
                <a:chOff x="0" y="0"/>
                <a:chExt cx="979" cy="384"/>
              </a:xfrm>
            </p:grpSpPr>
            <p:sp>
              <p:nvSpPr>
                <p:cNvPr id="77969" name="矩形 7796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70" name="组合 7796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71" name="矩形 7797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4-2-3-2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输入与或非门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72" name="矩形 7797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73" name="组合 77972"/>
              <p:cNvGrpSpPr/>
              <p:nvPr/>
            </p:nvGrpSpPr>
            <p:grpSpPr>
              <a:xfrm>
                <a:off x="1497" y="3456"/>
                <a:ext cx="935" cy="384"/>
                <a:chOff x="0" y="0"/>
                <a:chExt cx="935" cy="384"/>
              </a:xfrm>
            </p:grpSpPr>
            <p:sp>
              <p:nvSpPr>
                <p:cNvPr id="77974" name="矩形 7797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75" name="组合 7797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76" name="矩形 7797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77" name="矩形 7797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78" name="组合 77977"/>
              <p:cNvGrpSpPr/>
              <p:nvPr/>
            </p:nvGrpSpPr>
            <p:grpSpPr>
              <a:xfrm>
                <a:off x="0" y="3840"/>
                <a:ext cx="518" cy="384"/>
                <a:chOff x="0" y="0"/>
                <a:chExt cx="518" cy="384"/>
              </a:xfrm>
            </p:grpSpPr>
            <p:sp>
              <p:nvSpPr>
                <p:cNvPr id="77979" name="矩形 77978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80" name="组合 77979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81" name="矩形 77980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74LS133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82" name="矩形 77981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83" name="组合 77982"/>
              <p:cNvGrpSpPr/>
              <p:nvPr/>
            </p:nvGrpSpPr>
            <p:grpSpPr>
              <a:xfrm>
                <a:off x="518" y="3840"/>
                <a:ext cx="979" cy="384"/>
                <a:chOff x="0" y="0"/>
                <a:chExt cx="979" cy="384"/>
              </a:xfrm>
            </p:grpSpPr>
            <p:sp>
              <p:nvSpPr>
                <p:cNvPr id="77984" name="矩形 77983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85" name="组合 77984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7986" name="矩形 77985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13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输入与非门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87" name="矩形 77986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88" name="组合 77987"/>
              <p:cNvGrpSpPr/>
              <p:nvPr/>
            </p:nvGrpSpPr>
            <p:grpSpPr>
              <a:xfrm>
                <a:off x="1497" y="3840"/>
                <a:ext cx="935" cy="384"/>
                <a:chOff x="0" y="0"/>
                <a:chExt cx="935" cy="384"/>
              </a:xfrm>
            </p:grpSpPr>
            <p:sp>
              <p:nvSpPr>
                <p:cNvPr id="77989" name="矩形 77988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90" name="组合 77989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7991" name="矩形 77990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</a:rPr>
                      <a:t> 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92" name="矩形 77991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93" name="组合 77992"/>
              <p:cNvGrpSpPr/>
              <p:nvPr/>
            </p:nvGrpSpPr>
            <p:grpSpPr>
              <a:xfrm>
                <a:off x="0" y="4224"/>
                <a:ext cx="518" cy="384"/>
                <a:chOff x="0" y="0"/>
                <a:chExt cx="518" cy="384"/>
              </a:xfrm>
            </p:grpSpPr>
            <p:sp>
              <p:nvSpPr>
                <p:cNvPr id="77994" name="矩形 77993"/>
                <p:cNvSpPr/>
                <p:nvPr/>
              </p:nvSpPr>
              <p:spPr>
                <a:xfrm>
                  <a:off x="0" y="0"/>
                  <a:ext cx="518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7995" name="组合 77994"/>
                <p:cNvGrpSpPr/>
                <p:nvPr/>
              </p:nvGrpSpPr>
              <p:grpSpPr>
                <a:xfrm>
                  <a:off x="0" y="0"/>
                  <a:ext cx="518" cy="384"/>
                  <a:chOff x="0" y="0"/>
                  <a:chExt cx="518" cy="384"/>
                </a:xfrm>
              </p:grpSpPr>
              <p:sp>
                <p:nvSpPr>
                  <p:cNvPr id="77996" name="矩形 77995"/>
                  <p:cNvSpPr/>
                  <p:nvPr/>
                </p:nvSpPr>
                <p:spPr>
                  <a:xfrm>
                    <a:off x="43" y="0"/>
                    <a:ext cx="432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74LS136</a:t>
                    </a:r>
                    <a:endParaRPr lang="en-US" altLang="zh-CN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7997" name="矩形 77996"/>
                  <p:cNvSpPr/>
                  <p:nvPr/>
                </p:nvSpPr>
                <p:spPr>
                  <a:xfrm>
                    <a:off x="0" y="0"/>
                    <a:ext cx="518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998" name="组合 77997"/>
              <p:cNvGrpSpPr/>
              <p:nvPr/>
            </p:nvGrpSpPr>
            <p:grpSpPr>
              <a:xfrm>
                <a:off x="518" y="4224"/>
                <a:ext cx="979" cy="384"/>
                <a:chOff x="0" y="0"/>
                <a:chExt cx="979" cy="384"/>
              </a:xfrm>
            </p:grpSpPr>
            <p:sp>
              <p:nvSpPr>
                <p:cNvPr id="77999" name="矩形 77998"/>
                <p:cNvSpPr/>
                <p:nvPr/>
              </p:nvSpPr>
              <p:spPr>
                <a:xfrm>
                  <a:off x="0" y="0"/>
                  <a:ext cx="979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00" name="组合 77999"/>
                <p:cNvGrpSpPr/>
                <p:nvPr/>
              </p:nvGrpSpPr>
              <p:grpSpPr>
                <a:xfrm>
                  <a:off x="0" y="0"/>
                  <a:ext cx="979" cy="384"/>
                  <a:chOff x="0" y="0"/>
                  <a:chExt cx="979" cy="384"/>
                </a:xfrm>
              </p:grpSpPr>
              <p:sp>
                <p:nvSpPr>
                  <p:cNvPr id="78001" name="矩形 78000"/>
                  <p:cNvSpPr/>
                  <p:nvPr/>
                </p:nvSpPr>
                <p:spPr>
                  <a:xfrm>
                    <a:off x="43" y="0"/>
                    <a:ext cx="893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四异或门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02" name="矩形 78001"/>
                  <p:cNvSpPr/>
                  <p:nvPr/>
                </p:nvSpPr>
                <p:spPr>
                  <a:xfrm>
                    <a:off x="0" y="0"/>
                    <a:ext cx="979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03" name="组合 78002"/>
              <p:cNvGrpSpPr/>
              <p:nvPr/>
            </p:nvGrpSpPr>
            <p:grpSpPr>
              <a:xfrm>
                <a:off x="1497" y="4224"/>
                <a:ext cx="935" cy="384"/>
                <a:chOff x="0" y="0"/>
                <a:chExt cx="935" cy="384"/>
              </a:xfrm>
            </p:grpSpPr>
            <p:sp>
              <p:nvSpPr>
                <p:cNvPr id="78004" name="矩形 78003"/>
                <p:cNvSpPr/>
                <p:nvPr/>
              </p:nvSpPr>
              <p:spPr>
                <a:xfrm>
                  <a:off x="0" y="0"/>
                  <a:ext cx="935" cy="384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05" name="组合 78004"/>
                <p:cNvGrpSpPr/>
                <p:nvPr/>
              </p:nvGrpSpPr>
              <p:grpSpPr>
                <a:xfrm>
                  <a:off x="0" y="0"/>
                  <a:ext cx="935" cy="384"/>
                  <a:chOff x="0" y="0"/>
                  <a:chExt cx="935" cy="384"/>
                </a:xfrm>
              </p:grpSpPr>
              <p:sp>
                <p:nvSpPr>
                  <p:cNvPr id="78006" name="矩形 78005"/>
                  <p:cNvSpPr/>
                  <p:nvPr/>
                </p:nvSpPr>
                <p:spPr>
                  <a:xfrm>
                    <a:off x="43" y="0"/>
                    <a:ext cx="849" cy="384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OC</a:t>
                    </a:r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输出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07" name="矩形 78006"/>
                  <p:cNvSpPr/>
                  <p:nvPr/>
                </p:nvSpPr>
                <p:spPr>
                  <a:xfrm>
                    <a:off x="0" y="0"/>
                    <a:ext cx="935" cy="384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08" name="组合 78007"/>
              <p:cNvGrpSpPr/>
              <p:nvPr/>
            </p:nvGrpSpPr>
            <p:grpSpPr>
              <a:xfrm>
                <a:off x="0" y="4608"/>
                <a:ext cx="518" cy="480"/>
                <a:chOff x="0" y="0"/>
                <a:chExt cx="518" cy="480"/>
              </a:xfrm>
            </p:grpSpPr>
            <p:sp>
              <p:nvSpPr>
                <p:cNvPr id="78009" name="矩形 78008"/>
                <p:cNvSpPr/>
                <p:nvPr/>
              </p:nvSpPr>
              <p:spPr>
                <a:xfrm>
                  <a:off x="0" y="0"/>
                  <a:ext cx="518" cy="480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10" name="组合 78009"/>
                <p:cNvGrpSpPr/>
                <p:nvPr/>
              </p:nvGrpSpPr>
              <p:grpSpPr>
                <a:xfrm>
                  <a:off x="0" y="0"/>
                  <a:ext cx="518" cy="480"/>
                  <a:chOff x="0" y="0"/>
                  <a:chExt cx="518" cy="480"/>
                </a:xfrm>
              </p:grpSpPr>
              <p:sp>
                <p:nvSpPr>
                  <p:cNvPr id="78011" name="矩形 78010"/>
                  <p:cNvSpPr/>
                  <p:nvPr/>
                </p:nvSpPr>
                <p:spPr>
                  <a:xfrm>
                    <a:off x="43" y="0"/>
                    <a:ext cx="432" cy="480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74LS365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12" name="矩形 78011"/>
                  <p:cNvSpPr/>
                  <p:nvPr/>
                </p:nvSpPr>
                <p:spPr>
                  <a:xfrm>
                    <a:off x="0" y="0"/>
                    <a:ext cx="518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13" name="组合 78012"/>
              <p:cNvGrpSpPr/>
              <p:nvPr/>
            </p:nvGrpSpPr>
            <p:grpSpPr>
              <a:xfrm>
                <a:off x="518" y="4608"/>
                <a:ext cx="979" cy="480"/>
                <a:chOff x="0" y="0"/>
                <a:chExt cx="979" cy="480"/>
              </a:xfrm>
            </p:grpSpPr>
            <p:sp>
              <p:nvSpPr>
                <p:cNvPr id="78014" name="矩形 78013"/>
                <p:cNvSpPr/>
                <p:nvPr/>
              </p:nvSpPr>
              <p:spPr>
                <a:xfrm>
                  <a:off x="0" y="0"/>
                  <a:ext cx="979" cy="480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15" name="组合 78014"/>
                <p:cNvGrpSpPr/>
                <p:nvPr/>
              </p:nvGrpSpPr>
              <p:grpSpPr>
                <a:xfrm>
                  <a:off x="0" y="0"/>
                  <a:ext cx="979" cy="480"/>
                  <a:chOff x="0" y="0"/>
                  <a:chExt cx="979" cy="480"/>
                </a:xfrm>
              </p:grpSpPr>
              <p:sp>
                <p:nvSpPr>
                  <p:cNvPr id="78016" name="矩形 78015"/>
                  <p:cNvSpPr/>
                  <p:nvPr/>
                </p:nvSpPr>
                <p:spPr>
                  <a:xfrm>
                    <a:off x="43" y="0"/>
                    <a:ext cx="893" cy="480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六总线驱动器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17" name="矩形 78016"/>
                  <p:cNvSpPr/>
                  <p:nvPr/>
                </p:nvSpPr>
                <p:spPr>
                  <a:xfrm>
                    <a:off x="0" y="0"/>
                    <a:ext cx="979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18" name="组合 78017"/>
              <p:cNvGrpSpPr/>
              <p:nvPr/>
            </p:nvGrpSpPr>
            <p:grpSpPr>
              <a:xfrm>
                <a:off x="1497" y="4608"/>
                <a:ext cx="935" cy="480"/>
                <a:chOff x="0" y="0"/>
                <a:chExt cx="935" cy="480"/>
              </a:xfrm>
            </p:grpSpPr>
            <p:sp>
              <p:nvSpPr>
                <p:cNvPr id="78019" name="矩形 78018"/>
                <p:cNvSpPr/>
                <p:nvPr/>
              </p:nvSpPr>
              <p:spPr>
                <a:xfrm>
                  <a:off x="0" y="0"/>
                  <a:ext cx="935" cy="480"/>
                </a:xfrm>
                <a:prstGeom prst="rect">
                  <a:avLst/>
                </a:prstGeom>
                <a:solidFill>
                  <a:srgbClr val="FFF2B9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20" name="组合 78019"/>
                <p:cNvGrpSpPr/>
                <p:nvPr/>
              </p:nvGrpSpPr>
              <p:grpSpPr>
                <a:xfrm>
                  <a:off x="0" y="0"/>
                  <a:ext cx="935" cy="480"/>
                  <a:chOff x="0" y="0"/>
                  <a:chExt cx="935" cy="480"/>
                </a:xfrm>
              </p:grpSpPr>
              <p:sp>
                <p:nvSpPr>
                  <p:cNvPr id="78021" name="矩形 78020"/>
                  <p:cNvSpPr/>
                  <p:nvPr/>
                </p:nvSpPr>
                <p:spPr>
                  <a:xfrm>
                    <a:off x="43" y="0"/>
                    <a:ext cx="849" cy="480"/>
                  </a:xfrm>
                  <a:prstGeom prst="rect">
                    <a:avLst/>
                  </a:prstGeom>
                  <a:solidFill>
                    <a:srgbClr val="FFF2B9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同相、三态、公共控制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22" name="矩形 78021"/>
                  <p:cNvSpPr/>
                  <p:nvPr/>
                </p:nvSpPr>
                <p:spPr>
                  <a:xfrm>
                    <a:off x="0" y="0"/>
                    <a:ext cx="935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23" name="组合 78022"/>
              <p:cNvGrpSpPr/>
              <p:nvPr/>
            </p:nvGrpSpPr>
            <p:grpSpPr>
              <a:xfrm>
                <a:off x="0" y="5088"/>
                <a:ext cx="518" cy="480"/>
                <a:chOff x="0" y="0"/>
                <a:chExt cx="518" cy="480"/>
              </a:xfrm>
            </p:grpSpPr>
            <p:sp>
              <p:nvSpPr>
                <p:cNvPr id="78024" name="矩形 78023"/>
                <p:cNvSpPr/>
                <p:nvPr/>
              </p:nvSpPr>
              <p:spPr>
                <a:xfrm>
                  <a:off x="0" y="0"/>
                  <a:ext cx="518" cy="480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25" name="组合 78024"/>
                <p:cNvGrpSpPr/>
                <p:nvPr/>
              </p:nvGrpSpPr>
              <p:grpSpPr>
                <a:xfrm>
                  <a:off x="0" y="0"/>
                  <a:ext cx="518" cy="480"/>
                  <a:chOff x="0" y="0"/>
                  <a:chExt cx="518" cy="480"/>
                </a:xfrm>
              </p:grpSpPr>
              <p:sp>
                <p:nvSpPr>
                  <p:cNvPr id="78026" name="矩形 78025"/>
                  <p:cNvSpPr/>
                  <p:nvPr/>
                </p:nvSpPr>
                <p:spPr>
                  <a:xfrm>
                    <a:off x="43" y="0"/>
                    <a:ext cx="432" cy="480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en-US" altLang="zh-CN" sz="1800" b="1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74LS368</a:t>
                    </a:r>
                    <a:endParaRPr lang="en-US" altLang="zh-CN" sz="1800" b="1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27" name="矩形 78026"/>
                  <p:cNvSpPr/>
                  <p:nvPr/>
                </p:nvSpPr>
                <p:spPr>
                  <a:xfrm>
                    <a:off x="0" y="0"/>
                    <a:ext cx="518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28" name="组合 78027"/>
              <p:cNvGrpSpPr/>
              <p:nvPr/>
            </p:nvGrpSpPr>
            <p:grpSpPr>
              <a:xfrm>
                <a:off x="518" y="5088"/>
                <a:ext cx="979" cy="480"/>
                <a:chOff x="0" y="0"/>
                <a:chExt cx="979" cy="480"/>
              </a:xfrm>
            </p:grpSpPr>
            <p:sp>
              <p:nvSpPr>
                <p:cNvPr id="78029" name="矩形 78028"/>
                <p:cNvSpPr/>
                <p:nvPr/>
              </p:nvSpPr>
              <p:spPr>
                <a:xfrm>
                  <a:off x="0" y="0"/>
                  <a:ext cx="979" cy="480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30" name="组合 78029"/>
                <p:cNvGrpSpPr/>
                <p:nvPr/>
              </p:nvGrpSpPr>
              <p:grpSpPr>
                <a:xfrm>
                  <a:off x="0" y="0"/>
                  <a:ext cx="979" cy="480"/>
                  <a:chOff x="0" y="0"/>
                  <a:chExt cx="979" cy="480"/>
                </a:xfrm>
              </p:grpSpPr>
              <p:sp>
                <p:nvSpPr>
                  <p:cNvPr id="78031" name="矩形 78030"/>
                  <p:cNvSpPr/>
                  <p:nvPr/>
                </p:nvSpPr>
                <p:spPr>
                  <a:xfrm>
                    <a:off x="43" y="0"/>
                    <a:ext cx="893" cy="480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pPr algn="just"/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六总线驱动器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algn="just"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32" name="矩形 78031"/>
                  <p:cNvSpPr/>
                  <p:nvPr/>
                </p:nvSpPr>
                <p:spPr>
                  <a:xfrm>
                    <a:off x="0" y="0"/>
                    <a:ext cx="979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8033" name="组合 78032"/>
              <p:cNvGrpSpPr/>
              <p:nvPr/>
            </p:nvGrpSpPr>
            <p:grpSpPr>
              <a:xfrm>
                <a:off x="1497" y="5088"/>
                <a:ext cx="935" cy="480"/>
                <a:chOff x="0" y="0"/>
                <a:chExt cx="935" cy="480"/>
              </a:xfrm>
            </p:grpSpPr>
            <p:sp>
              <p:nvSpPr>
                <p:cNvPr id="78034" name="矩形 78033"/>
                <p:cNvSpPr/>
                <p:nvPr/>
              </p:nvSpPr>
              <p:spPr>
                <a:xfrm>
                  <a:off x="0" y="0"/>
                  <a:ext cx="935" cy="480"/>
                </a:xfrm>
                <a:prstGeom prst="rect">
                  <a:avLst/>
                </a:prstGeom>
                <a:solidFill>
                  <a:srgbClr val="FFF6D1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8035" name="组合 78034"/>
                <p:cNvGrpSpPr/>
                <p:nvPr/>
              </p:nvGrpSpPr>
              <p:grpSpPr>
                <a:xfrm>
                  <a:off x="0" y="0"/>
                  <a:ext cx="935" cy="480"/>
                  <a:chOff x="0" y="0"/>
                  <a:chExt cx="935" cy="480"/>
                </a:xfrm>
              </p:grpSpPr>
              <p:sp>
                <p:nvSpPr>
                  <p:cNvPr id="78036" name="矩形 78035"/>
                  <p:cNvSpPr/>
                  <p:nvPr/>
                </p:nvSpPr>
                <p:spPr>
                  <a:xfrm>
                    <a:off x="43" y="0"/>
                    <a:ext cx="849" cy="480"/>
                  </a:xfrm>
                  <a:prstGeom prst="rect">
                    <a:avLst/>
                  </a:prstGeom>
                  <a:solidFill>
                    <a:srgbClr val="FFF6D1"/>
                  </a:solidFill>
                  <a:ln w="9525">
                    <a:noFill/>
                  </a:ln>
                </p:spPr>
                <p:txBody>
                  <a:bodyPr/>
                  <a:p>
                    <a:r>
                      <a:rPr lang="zh-CN" altLang="en-US" sz="1800">
                        <a:solidFill>
                          <a:srgbClr val="0000FF"/>
                        </a:solidFill>
                        <a:latin typeface="Times New Roman" panose="02020603050405020304" pitchFamily="2" charset="0"/>
                        <a:ea typeface="黑体" panose="02010609060101010101" pitchFamily="2" charset="-122"/>
                      </a:rPr>
                      <a:t>反相、三态、两组控制</a:t>
                    </a:r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  <a:p>
                    <a:pPr eaLnBrk="0" hangingPunct="0"/>
                    <a:endParaRPr lang="zh-CN" altLang="en-US" sz="1800">
                      <a:solidFill>
                        <a:srgbClr val="0000FF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78037" name="矩形 78036"/>
                  <p:cNvSpPr/>
                  <p:nvPr/>
                </p:nvSpPr>
                <p:spPr>
                  <a:xfrm>
                    <a:off x="0" y="0"/>
                    <a:ext cx="935" cy="480"/>
                  </a:xfrm>
                  <a:prstGeom prst="rect">
                    <a:avLst/>
                  </a:prstGeom>
                  <a:noFill/>
                  <a:ln w="7" cap="flat" cmpd="sng">
                    <a:solidFill>
                      <a:srgbClr val="A0A0A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78038" name="矩形 78037"/>
            <p:cNvSpPr/>
            <p:nvPr/>
          </p:nvSpPr>
          <p:spPr>
            <a:xfrm>
              <a:off x="0" y="0"/>
              <a:ext cx="2438" cy="5574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8039" name="矩形 78038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>
                <a:solidFill>
                  <a:schemeClr val="folHlink"/>
                </a:solidFill>
              </a:rPr>
              <a:t>  </a:t>
            </a:r>
            <a:r>
              <a:rPr lang="en-US" altLang="zh-CN" sz="3200" b="1">
                <a:solidFill>
                  <a:srgbClr val="FF3300"/>
                </a:solidFill>
              </a:rPr>
              <a:t>TTL</a:t>
            </a:r>
            <a:r>
              <a:rPr lang="zh-CN" altLang="en-US" sz="3200" b="1">
                <a:solidFill>
                  <a:srgbClr val="FF3300"/>
                </a:solidFill>
              </a:rPr>
              <a:t>集成门电路系列 </a:t>
            </a:r>
            <a:endParaRPr lang="zh-CN" altLang="en-US" sz="3200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文本框 78849"/>
          <p:cNvSpPr txBox="1"/>
          <p:nvPr/>
        </p:nvSpPr>
        <p:spPr>
          <a:xfrm>
            <a:off x="395288" y="476250"/>
            <a:ext cx="6153150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CMOS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电路与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TTL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电路比较：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78851" name="文本框 78850"/>
          <p:cNvSpPr txBox="1"/>
          <p:nvPr/>
        </p:nvSpPr>
        <p:spPr>
          <a:xfrm>
            <a:off x="395288" y="1412875"/>
            <a:ext cx="7848600" cy="42386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电路的工作速度比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电路的低。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带负载的能力比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电路强。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电路的电源电压允许范围较大，约在      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         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～</a:t>
            </a:r>
            <a:r>
              <a:rPr lang="en-US" altLang="zh-CN" b="1">
                <a:latin typeface="Times New Roman" panose="02020603050405020304" pitchFamily="2" charset="0"/>
              </a:rPr>
              <a:t>18V</a:t>
            </a:r>
            <a:r>
              <a:rPr lang="zh-CN" altLang="en-US" b="1">
                <a:latin typeface="Times New Roman" panose="02020603050405020304" pitchFamily="2" charset="0"/>
              </a:rPr>
              <a:t>，抗干扰能力比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电路强。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电路的功耗比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电路小得多。门电路的功耗只有几个</a:t>
            </a:r>
            <a:r>
              <a:rPr lang="en-US" altLang="zh-CN" b="1">
                <a:latin typeface="Times New Roman" panose="02020603050405020304" pitchFamily="2" charset="0"/>
              </a:rPr>
              <a:t>μW</a:t>
            </a:r>
            <a:r>
              <a:rPr lang="zh-CN" altLang="en-US" b="1">
                <a:latin typeface="Times New Roman" panose="02020603050405020304" pitchFamily="2" charset="0"/>
              </a:rPr>
              <a:t>，中规模集成电路的功耗也不会超过</a:t>
            </a:r>
            <a:r>
              <a:rPr lang="en-US" altLang="zh-CN" b="1">
                <a:latin typeface="Times New Roman" panose="02020603050405020304" pitchFamily="2" charset="0"/>
              </a:rPr>
              <a:t>100μW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2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charRg st="24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4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charRg st="4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76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charRg st="76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10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charRg st="10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文本框 79873"/>
          <p:cNvSpPr txBox="1"/>
          <p:nvPr/>
        </p:nvSpPr>
        <p:spPr>
          <a:xfrm>
            <a:off x="250825" y="1700213"/>
            <a:ext cx="8121650" cy="32988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5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集成电路的集成度比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电路高。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6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电路容易受静电感应而击穿，在使用和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         存放时应注意静电屏蔽，焊接时电烙铁应接地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         良好，尤其是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电路多余不用的输入端不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2" charset="0"/>
              </a:rPr>
              <a:t>         能悬空，应根据需要接地或接高电平。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79875" name="文本框 79874"/>
          <p:cNvSpPr txBox="1"/>
          <p:nvPr/>
        </p:nvSpPr>
        <p:spPr>
          <a:xfrm>
            <a:off x="395288" y="549275"/>
            <a:ext cx="6153150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CMOS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电路与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TTL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2" charset="0"/>
                <a:ea typeface="楷体_GB2312" pitchFamily="1" charset="-122"/>
              </a:rPr>
              <a:t>电路比较：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4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4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4">
                                            <p:txEl>
                                              <p:charRg st="49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79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4">
                                            <p:txEl>
                                              <p:charRg st="79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11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74">
                                            <p:txEl>
                                              <p:charRg st="110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文本框 80897"/>
          <p:cNvSpPr txBox="1"/>
          <p:nvPr/>
        </p:nvSpPr>
        <p:spPr>
          <a:xfrm>
            <a:off x="395288" y="620713"/>
            <a:ext cx="4572000" cy="579437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2" charset="0"/>
              </a:rPr>
              <a:t>多余输入端的处理措施</a:t>
            </a:r>
            <a:endParaRPr lang="zh-CN" altLang="en-US" sz="3200">
              <a:latin typeface="Times New Roman" panose="02020603050405020304" pitchFamily="2" charset="0"/>
            </a:endParaRPr>
          </a:p>
        </p:txBody>
      </p:sp>
      <p:sp>
        <p:nvSpPr>
          <p:cNvPr id="80899" name="文本框 80898"/>
          <p:cNvSpPr txBox="1"/>
          <p:nvPr/>
        </p:nvSpPr>
        <p:spPr>
          <a:xfrm>
            <a:off x="323850" y="1844675"/>
            <a:ext cx="8424863" cy="5191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</a:rPr>
              <a:t>处理原则： 不能影响输入与输出之间的逻辑关系 。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80900" name="文本框 80899"/>
          <p:cNvSpPr txBox="1"/>
          <p:nvPr/>
        </p:nvSpPr>
        <p:spPr>
          <a:xfrm>
            <a:off x="468313" y="2636838"/>
            <a:ext cx="7920037" cy="32988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latin typeface="Times New Roman" panose="02020603050405020304" pitchFamily="2" charset="0"/>
              </a:rPr>
              <a:t>数字集成电路中多余的输入端在不改变逻辑关系的前提下可以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并联</a:t>
            </a:r>
            <a:r>
              <a:rPr lang="zh-CN" altLang="en-US" b="1">
                <a:latin typeface="Times New Roman" panose="02020603050405020304" pitchFamily="2" charset="0"/>
              </a:rPr>
              <a:t>起来使用，也可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根据逻辑关系的要求接地或接高电平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TTL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电路多余的输入端悬空表示输入为高电平</a:t>
            </a:r>
            <a:r>
              <a:rPr lang="zh-CN" altLang="en-US" b="1">
                <a:latin typeface="Times New Roman" panose="02020603050405020304" pitchFamily="2" charset="0"/>
              </a:rPr>
              <a:t>；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但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2" charset="0"/>
              </a:rPr>
              <a:t>电路，多余的输入端不允许悬空，否则电路将不能正常工作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charRg st="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0900">
                                            <p:txEl>
                                              <p:charRg st="0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nimBg="1"/>
      <p:bldP spid="80899" grpId="0" animBg="1"/>
      <p:bldP spid="80900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文本框 81921"/>
          <p:cNvSpPr txBox="1"/>
          <p:nvPr/>
        </p:nvSpPr>
        <p:spPr>
          <a:xfrm>
            <a:off x="468313" y="765175"/>
            <a:ext cx="7775575" cy="4795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</a:t>
            </a:r>
            <a:r>
              <a:rPr lang="zh-CN" altLang="en-US" b="1">
                <a:latin typeface="Times New Roman" panose="02020603050405020304" pitchFamily="2" charset="0"/>
              </a:rPr>
              <a:t>对于</a:t>
            </a:r>
            <a:r>
              <a:rPr lang="en-US" altLang="zh-CN" b="1">
                <a:latin typeface="Times New Roman" panose="02020603050405020304" pitchFamily="2" charset="0"/>
              </a:rPr>
              <a:t>TTL</a:t>
            </a:r>
            <a:r>
              <a:rPr lang="zh-CN" altLang="en-US" b="1">
                <a:latin typeface="Times New Roman" panose="02020603050405020304" pitchFamily="2" charset="0"/>
              </a:rPr>
              <a:t>门，一般可将多余的输入端通过上拉电阻（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en-US" altLang="zh-CN" b="1">
                <a:latin typeface="Times New Roman" panose="02020603050405020304" pitchFamily="2" charset="0"/>
                <a:cs typeface="Lucida Sans Unicode" panose="020B0602030504020204" pitchFamily="2" charset="0"/>
              </a:rPr>
              <a:t>~</a:t>
            </a:r>
            <a:r>
              <a:rPr lang="en-US" altLang="zh-CN" b="1">
                <a:latin typeface="Times New Roman" panose="02020603050405020304" pitchFamily="2" charset="0"/>
              </a:rPr>
              <a:t>3 K</a:t>
            </a:r>
            <a:r>
              <a:rPr lang="en-US" altLang="zh-CN" b="1">
                <a:latin typeface="宋体" panose="02010600030101010101" pitchFamily="2" charset="-122"/>
                <a:sym typeface="Symbol" panose="05050102010706020507" pitchFamily="2" charset="2"/>
              </a:rPr>
              <a:t></a:t>
            </a:r>
            <a:r>
              <a:rPr lang="zh-CN" altLang="en-US" b="1">
                <a:latin typeface="Times New Roman" panose="02020603050405020304" pitchFamily="2" charset="0"/>
              </a:rPr>
              <a:t>）接电源正端；也可利用反相器将其输入端接地</a:t>
            </a:r>
            <a:r>
              <a:rPr lang="en-US" altLang="zh-CN" b="1">
                <a:latin typeface="Times New Roman" panose="02020603050405020304" pitchFamily="2" charset="0"/>
              </a:rPr>
              <a:t>;</a:t>
            </a:r>
            <a:r>
              <a:rPr lang="zh-CN" altLang="en-US" b="1">
                <a:latin typeface="Times New Roman" panose="02020603050405020304" pitchFamily="2" charset="0"/>
              </a:rPr>
              <a:t>通过大电阻接地（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逻辑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的处理</a:t>
            </a:r>
            <a:r>
              <a:rPr lang="zh-CN" altLang="en-US" b="1">
                <a:latin typeface="Times New Roman" panose="02020603050405020304" pitchFamily="2" charset="0"/>
              </a:rPr>
              <a:t>）。直接把多余端接地（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逻辑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的处理</a:t>
            </a:r>
            <a:r>
              <a:rPr lang="zh-CN" altLang="en-US" b="1">
                <a:latin typeface="Times New Roman" panose="02020603050405020304" pitchFamily="2" charset="0"/>
              </a:rPr>
              <a:t>）。</a:t>
            </a:r>
            <a:endParaRPr lang="zh-CN" altLang="en-US" b="1">
              <a:latin typeface="Times New Roman" panose="02020603050405020304" pitchFamily="2" charset="0"/>
            </a:endParaRP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对于</a:t>
            </a:r>
            <a:r>
              <a:rPr lang="en-US" altLang="zh-CN" b="1">
                <a:latin typeface="Times New Roman" panose="02020603050405020304" pitchFamily="2" charset="0"/>
              </a:rPr>
              <a:t>CMOS</a:t>
            </a:r>
            <a:r>
              <a:rPr lang="zh-CN" altLang="en-US" b="1">
                <a:latin typeface="Times New Roman" panose="02020603050405020304" pitchFamily="2" charset="0"/>
              </a:rPr>
              <a:t>电路，对于输入端可根据需要直接接地（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逻辑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的处理</a:t>
            </a:r>
            <a:r>
              <a:rPr lang="zh-CN" altLang="en-US" b="1">
                <a:latin typeface="Times New Roman" panose="02020603050405020304" pitchFamily="2" charset="0"/>
              </a:rPr>
              <a:t>）；或直接接</a:t>
            </a:r>
            <a:r>
              <a:rPr lang="en-US" altLang="zh-CN" b="1">
                <a:latin typeface="Times New Roman" panose="02020603050405020304" pitchFamily="2" charset="0"/>
              </a:rPr>
              <a:t>V</a:t>
            </a:r>
            <a:r>
              <a:rPr lang="en-US" altLang="zh-CN" b="1" baseline="-30000">
                <a:latin typeface="Times New Roman" panose="02020603050405020304" pitchFamily="2" charset="0"/>
              </a:rPr>
              <a:t>DD</a:t>
            </a:r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逻辑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的处理</a:t>
            </a:r>
            <a:r>
              <a:rPr lang="zh-CN" altLang="en-US" b="1">
                <a:latin typeface="Times New Roman" panose="02020603050405020304" pitchFamily="2" charset="0"/>
              </a:rPr>
              <a:t>）。</a:t>
            </a:r>
            <a:r>
              <a:rPr lang="zh-CN" altLang="en-US">
                <a:latin typeface="Times New Roman" panose="02020603050405020304" pitchFamily="2" charset="0"/>
              </a:rPr>
              <a:t> </a:t>
            </a:r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2946" name="对象 82945"/>
          <p:cNvGraphicFramePr>
            <a:graphicFrameLocks noChangeAspect="1"/>
          </p:cNvGraphicFramePr>
          <p:nvPr/>
        </p:nvGraphicFramePr>
        <p:xfrm>
          <a:off x="1060450" y="3178175"/>
          <a:ext cx="4603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574165" imgH="177800" progId="Equation.3">
                  <p:embed/>
                </p:oleObj>
              </mc:Choice>
              <mc:Fallback>
                <p:oleObj name="" r:id="rId1" imgW="1574165" imgH="1778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0450" y="3178175"/>
                        <a:ext cx="460375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文本框 82946"/>
          <p:cNvSpPr txBox="1"/>
          <p:nvPr/>
        </p:nvSpPr>
        <p:spPr>
          <a:xfrm>
            <a:off x="827088" y="4508500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要实现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Y=A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，输入端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2" charset="0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2" charset="0"/>
              </a:rPr>
              <a:t>应如何连接？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2" charset="0"/>
            </a:endParaRPr>
          </a:p>
        </p:txBody>
      </p:sp>
      <p:graphicFrame>
        <p:nvGraphicFramePr>
          <p:cNvPr id="82948" name="对象 82947"/>
          <p:cNvGraphicFramePr>
            <a:graphicFrameLocks noChangeAspect="1"/>
          </p:cNvGraphicFramePr>
          <p:nvPr/>
        </p:nvGraphicFramePr>
        <p:xfrm>
          <a:off x="987425" y="5121275"/>
          <a:ext cx="46021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1574165" imgH="177800" progId="Equation.3">
                  <p:embed/>
                </p:oleObj>
              </mc:Choice>
              <mc:Fallback>
                <p:oleObj name="" r:id="rId3" imgW="1574165" imgH="1778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7425" y="5121275"/>
                        <a:ext cx="4602163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文本框 82948"/>
          <p:cNvSpPr txBox="1"/>
          <p:nvPr/>
        </p:nvSpPr>
        <p:spPr>
          <a:xfrm>
            <a:off x="827088" y="5805488"/>
            <a:ext cx="7632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B=0</a:t>
            </a:r>
            <a:r>
              <a:rPr lang="zh-CN" altLang="en-US" b="1">
                <a:latin typeface="Times New Roman" panose="02020603050405020304" pitchFamily="2" charset="0"/>
              </a:rPr>
              <a:t>时可实现</a:t>
            </a:r>
            <a:r>
              <a:rPr lang="en-US" altLang="zh-CN" b="1">
                <a:latin typeface="Times New Roman" panose="02020603050405020304" pitchFamily="2" charset="0"/>
              </a:rPr>
              <a:t>Y=A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B</a:t>
            </a:r>
            <a:r>
              <a:rPr lang="zh-CN" altLang="en-US" b="1">
                <a:latin typeface="Times New Roman" panose="02020603050405020304" pitchFamily="2" charset="0"/>
              </a:rPr>
              <a:t>端应接低电平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接地）。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pSp>
        <p:nvGrpSpPr>
          <p:cNvPr id="82950" name="组合 82949"/>
          <p:cNvGrpSpPr/>
          <p:nvPr/>
        </p:nvGrpSpPr>
        <p:grpSpPr>
          <a:xfrm>
            <a:off x="900113" y="2371725"/>
            <a:ext cx="6985000" cy="568325"/>
            <a:chOff x="0" y="0"/>
            <a:chExt cx="4400" cy="358"/>
          </a:xfrm>
        </p:grpSpPr>
        <p:sp>
          <p:nvSpPr>
            <p:cNvPr id="82951" name="文本框 82950"/>
            <p:cNvSpPr txBox="1"/>
            <p:nvPr/>
          </p:nvSpPr>
          <p:spPr>
            <a:xfrm>
              <a:off x="0" y="31"/>
              <a:ext cx="44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要实现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Y=A  </a:t>
              </a: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，输入端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B</a:t>
              </a: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应如何连接？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82952" name="矩形 82951"/>
            <p:cNvSpPr/>
            <p:nvPr/>
          </p:nvSpPr>
          <p:spPr>
            <a:xfrm>
              <a:off x="1060" y="0"/>
              <a:ext cx="3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2" charset="0"/>
                </a:rPr>
                <a:t> 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2" charset="0"/>
                </a:rPr>
                <a:t>′</a:t>
              </a:r>
              <a:endParaRPr lang="en-US" altLang="zh-CN" b="1">
                <a:solidFill>
                  <a:srgbClr val="0000FF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82953" name="组合 82952"/>
          <p:cNvGrpSpPr/>
          <p:nvPr/>
        </p:nvGrpSpPr>
        <p:grpSpPr>
          <a:xfrm>
            <a:off x="684213" y="3860800"/>
            <a:ext cx="7920037" cy="519113"/>
            <a:chOff x="0" y="0"/>
            <a:chExt cx="4989" cy="327"/>
          </a:xfrm>
        </p:grpSpPr>
        <p:sp>
          <p:nvSpPr>
            <p:cNvPr id="82954" name="文本框 82953"/>
            <p:cNvSpPr txBox="1"/>
            <p:nvPr/>
          </p:nvSpPr>
          <p:spPr>
            <a:xfrm>
              <a:off x="0" y="0"/>
              <a:ext cx="49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B=1</a:t>
              </a:r>
              <a:r>
                <a:rPr lang="zh-CN" altLang="en-US" b="1">
                  <a:latin typeface="Times New Roman" panose="02020603050405020304" pitchFamily="2" charset="0"/>
                </a:rPr>
                <a:t>时可实现</a:t>
              </a:r>
              <a:r>
                <a:rPr lang="en-US" altLang="zh-CN" b="1">
                  <a:latin typeface="Times New Roman" panose="02020603050405020304" pitchFamily="2" charset="0"/>
                </a:rPr>
                <a:t>Y=A  </a:t>
              </a:r>
              <a:r>
                <a:rPr lang="zh-CN" altLang="en-US" b="1">
                  <a:latin typeface="Times New Roman" panose="02020603050405020304" pitchFamily="2" charset="0"/>
                </a:rPr>
                <a:t>，</a:t>
              </a:r>
              <a:r>
                <a:rPr lang="en-US" altLang="zh-CN" b="1">
                  <a:latin typeface="Times New Roman" panose="02020603050405020304" pitchFamily="2" charset="0"/>
                </a:rPr>
                <a:t>B</a:t>
              </a:r>
              <a:r>
                <a:rPr lang="zh-CN" altLang="en-US" b="1">
                  <a:latin typeface="Times New Roman" panose="02020603050405020304" pitchFamily="2" charset="0"/>
                </a:rPr>
                <a:t>端应接高电平（接电源）。</a:t>
              </a:r>
              <a:endParaRPr lang="zh-CN" altLang="en-US" b="1">
                <a:latin typeface="Times New Roman" panose="02020603050405020304" pitchFamily="2" charset="0"/>
              </a:endParaRPr>
            </a:p>
          </p:txBody>
        </p:sp>
        <p:sp>
          <p:nvSpPr>
            <p:cNvPr id="82955" name="矩形 82954"/>
            <p:cNvSpPr/>
            <p:nvPr/>
          </p:nvSpPr>
          <p:spPr>
            <a:xfrm>
              <a:off x="1678" y="0"/>
              <a:ext cx="3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b="1">
                  <a:latin typeface="Times New Roman" panose="02020603050405020304" pitchFamily="2" charset="0"/>
                </a:rPr>
                <a:t>′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</p:grpSp>
      <p:pic>
        <p:nvPicPr>
          <p:cNvPr id="82956" name="图片 829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75" y="549275"/>
            <a:ext cx="4176713" cy="1679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/>
      <p:bldP spid="8294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标题 83969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/>
        </p:txBody>
      </p:sp>
      <p:sp>
        <p:nvSpPr>
          <p:cNvPr id="83971" name="文本占位符 83970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/>
              <a:t>已知电路及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的波形如图所示，对应画出</a:t>
            </a:r>
            <a:r>
              <a:rPr lang="en-US" altLang="zh-CN"/>
              <a:t>Y1 </a:t>
            </a:r>
            <a:r>
              <a:rPr lang="zh-CN" altLang="en-US"/>
              <a:t>、</a:t>
            </a:r>
            <a:r>
              <a:rPr lang="en-US" altLang="zh-CN"/>
              <a:t>Y2</a:t>
            </a:r>
            <a:r>
              <a:rPr lang="zh-CN" altLang="en-US"/>
              <a:t>、</a:t>
            </a:r>
            <a:r>
              <a:rPr lang="en-US" altLang="zh-CN"/>
              <a:t>Y3</a:t>
            </a:r>
            <a:r>
              <a:rPr lang="zh-CN" altLang="en-US"/>
              <a:t>的波形。</a:t>
            </a:r>
            <a:endParaRPr lang="zh-CN" altLang="en-US"/>
          </a:p>
        </p:txBody>
      </p:sp>
      <p:grpSp>
        <p:nvGrpSpPr>
          <p:cNvPr id="83972" name="组合 83971"/>
          <p:cNvGrpSpPr>
            <a:grpSpLocks noChangeAspect="1"/>
          </p:cNvGrpSpPr>
          <p:nvPr/>
        </p:nvGrpSpPr>
        <p:grpSpPr>
          <a:xfrm>
            <a:off x="1692275" y="3213100"/>
            <a:ext cx="5483225" cy="2498725"/>
            <a:chOff x="0" y="0"/>
            <a:chExt cx="11559" cy="5270"/>
          </a:xfrm>
        </p:grpSpPr>
        <p:sp>
          <p:nvSpPr>
            <p:cNvPr id="83973" name="矩形 83972"/>
            <p:cNvSpPr>
              <a:spLocks noChangeAspect="1"/>
            </p:cNvSpPr>
            <p:nvPr/>
          </p:nvSpPr>
          <p:spPr>
            <a:xfrm>
              <a:off x="0" y="0"/>
              <a:ext cx="11559" cy="5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974" name="文本框 83973"/>
            <p:cNvSpPr txBox="1"/>
            <p:nvPr/>
          </p:nvSpPr>
          <p:spPr>
            <a:xfrm>
              <a:off x="3494" y="4373"/>
              <a:ext cx="1725" cy="8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zh-CN" altLang="en-US" sz="1000">
                  <a:latin typeface="Times New Roman" panose="02020603050405020304" pitchFamily="2" charset="0"/>
                </a:rPr>
                <a:t>（</a:t>
              </a:r>
              <a:r>
                <a:rPr lang="en-US" altLang="zh-CN" sz="1000">
                  <a:latin typeface="Times New Roman" panose="02020603050405020304" pitchFamily="2" charset="0"/>
                </a:rPr>
                <a:t>d</a:t>
              </a:r>
              <a:r>
                <a:rPr lang="zh-CN" altLang="en-US" sz="1000">
                  <a:latin typeface="Times New Roman" panose="02020603050405020304" pitchFamily="2" charset="0"/>
                </a:rPr>
                <a:t>）</a:t>
              </a:r>
              <a:endParaRPr lang="zh-CN" altLang="en-US">
                <a:latin typeface="Times New Roman" panose="02020603050405020304" pitchFamily="2" charset="0"/>
              </a:endParaRPr>
            </a:p>
          </p:txBody>
        </p:sp>
        <p:grpSp>
          <p:nvGrpSpPr>
            <p:cNvPr id="83975" name="组合 83974"/>
            <p:cNvGrpSpPr/>
            <p:nvPr/>
          </p:nvGrpSpPr>
          <p:grpSpPr>
            <a:xfrm>
              <a:off x="158" y="265"/>
              <a:ext cx="3652" cy="1670"/>
              <a:chOff x="0" y="0"/>
              <a:chExt cx="3652" cy="1670"/>
            </a:xfrm>
          </p:grpSpPr>
          <p:sp>
            <p:nvSpPr>
              <p:cNvPr id="83976" name="矩形 83975"/>
              <p:cNvSpPr/>
              <p:nvPr/>
            </p:nvSpPr>
            <p:spPr>
              <a:xfrm>
                <a:off x="12" y="0"/>
                <a:ext cx="217" cy="3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77" name="椭圆 83976"/>
              <p:cNvSpPr/>
              <p:nvPr/>
            </p:nvSpPr>
            <p:spPr>
              <a:xfrm>
                <a:off x="272" y="183"/>
                <a:ext cx="100" cy="101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78" name="矩形 83977"/>
              <p:cNvSpPr/>
              <p:nvPr/>
            </p:nvSpPr>
            <p:spPr>
              <a:xfrm>
                <a:off x="802" y="56"/>
                <a:ext cx="391" cy="638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79" name="直接连接符 83978"/>
              <p:cNvSpPr/>
              <p:nvPr/>
            </p:nvSpPr>
            <p:spPr>
              <a:xfrm>
                <a:off x="374" y="233"/>
                <a:ext cx="419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80" name="椭圆 83979"/>
              <p:cNvSpPr/>
              <p:nvPr/>
            </p:nvSpPr>
            <p:spPr>
              <a:xfrm>
                <a:off x="1208" y="317"/>
                <a:ext cx="115" cy="11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81" name="矩形 83980"/>
              <p:cNvSpPr/>
              <p:nvPr/>
            </p:nvSpPr>
            <p:spPr>
              <a:xfrm>
                <a:off x="927" y="97"/>
                <a:ext cx="1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&amp;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82" name="矩形 83981"/>
              <p:cNvSpPr/>
              <p:nvPr/>
            </p:nvSpPr>
            <p:spPr>
              <a:xfrm>
                <a:off x="805" y="1033"/>
                <a:ext cx="390" cy="637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83" name="椭圆 83982"/>
              <p:cNvSpPr/>
              <p:nvPr/>
            </p:nvSpPr>
            <p:spPr>
              <a:xfrm>
                <a:off x="1210" y="1294"/>
                <a:ext cx="115" cy="115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84" name="矩形 83983"/>
              <p:cNvSpPr/>
              <p:nvPr/>
            </p:nvSpPr>
            <p:spPr>
              <a:xfrm>
                <a:off x="944" y="1074"/>
                <a:ext cx="1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85" name="矩形 83984"/>
              <p:cNvSpPr/>
              <p:nvPr/>
            </p:nvSpPr>
            <p:spPr>
              <a:xfrm>
                <a:off x="12" y="341"/>
                <a:ext cx="212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86" name="矩形 83985"/>
              <p:cNvSpPr/>
              <p:nvPr/>
            </p:nvSpPr>
            <p:spPr>
              <a:xfrm>
                <a:off x="1874" y="538"/>
                <a:ext cx="391" cy="638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87" name="椭圆 83986"/>
              <p:cNvSpPr/>
              <p:nvPr/>
            </p:nvSpPr>
            <p:spPr>
              <a:xfrm>
                <a:off x="2280" y="800"/>
                <a:ext cx="115" cy="115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88" name="矩形 83987"/>
              <p:cNvSpPr/>
              <p:nvPr/>
            </p:nvSpPr>
            <p:spPr>
              <a:xfrm>
                <a:off x="1978" y="596"/>
                <a:ext cx="29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&amp;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89" name="直接连接符 83988"/>
              <p:cNvSpPr/>
              <p:nvPr/>
            </p:nvSpPr>
            <p:spPr>
              <a:xfrm>
                <a:off x="1621" y="691"/>
                <a:ext cx="248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0" name="直接连接符 83989"/>
              <p:cNvSpPr/>
              <p:nvPr/>
            </p:nvSpPr>
            <p:spPr>
              <a:xfrm>
                <a:off x="1629" y="1024"/>
                <a:ext cx="256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1" name="直接连接符 83990"/>
              <p:cNvSpPr/>
              <p:nvPr/>
            </p:nvSpPr>
            <p:spPr>
              <a:xfrm>
                <a:off x="1327" y="378"/>
                <a:ext cx="310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2" name="直接连接符 83991"/>
              <p:cNvSpPr/>
              <p:nvPr/>
            </p:nvSpPr>
            <p:spPr>
              <a:xfrm>
                <a:off x="1327" y="1354"/>
                <a:ext cx="316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3" name="直接连接符 83992"/>
              <p:cNvSpPr/>
              <p:nvPr/>
            </p:nvSpPr>
            <p:spPr>
              <a:xfrm>
                <a:off x="2404" y="856"/>
                <a:ext cx="275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4" name="矩形 83993"/>
              <p:cNvSpPr/>
              <p:nvPr/>
            </p:nvSpPr>
            <p:spPr>
              <a:xfrm>
                <a:off x="2689" y="538"/>
                <a:ext cx="391" cy="638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95" name="椭圆 83994"/>
              <p:cNvSpPr/>
              <p:nvPr/>
            </p:nvSpPr>
            <p:spPr>
              <a:xfrm>
                <a:off x="3095" y="800"/>
                <a:ext cx="115" cy="115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96" name="矩形 83995"/>
              <p:cNvSpPr/>
              <p:nvPr/>
            </p:nvSpPr>
            <p:spPr>
              <a:xfrm>
                <a:off x="2845" y="596"/>
                <a:ext cx="12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3997" name="直接连接符 83996"/>
              <p:cNvSpPr/>
              <p:nvPr/>
            </p:nvSpPr>
            <p:spPr>
              <a:xfrm>
                <a:off x="3220" y="856"/>
                <a:ext cx="309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98" name="椭圆 83997"/>
              <p:cNvSpPr/>
              <p:nvPr/>
            </p:nvSpPr>
            <p:spPr>
              <a:xfrm>
                <a:off x="3529" y="804"/>
                <a:ext cx="100" cy="100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3999" name="直接连接符 83998"/>
              <p:cNvSpPr/>
              <p:nvPr/>
            </p:nvSpPr>
            <p:spPr>
              <a:xfrm flipH="1">
                <a:off x="1637" y="366"/>
                <a:ext cx="3" cy="31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00" name="直接连接符 83999"/>
              <p:cNvSpPr/>
              <p:nvPr/>
            </p:nvSpPr>
            <p:spPr>
              <a:xfrm flipH="1">
                <a:off x="1637" y="1029"/>
                <a:ext cx="3" cy="31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01" name="矩形 84000"/>
              <p:cNvSpPr/>
              <p:nvPr/>
            </p:nvSpPr>
            <p:spPr>
              <a:xfrm>
                <a:off x="3339" y="414"/>
                <a:ext cx="313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02" name="椭圆 84001"/>
              <p:cNvSpPr/>
              <p:nvPr/>
            </p:nvSpPr>
            <p:spPr>
              <a:xfrm>
                <a:off x="264" y="493"/>
                <a:ext cx="100" cy="100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03" name="直接连接符 84002"/>
              <p:cNvSpPr/>
              <p:nvPr/>
            </p:nvSpPr>
            <p:spPr>
              <a:xfrm>
                <a:off x="365" y="542"/>
                <a:ext cx="419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04" name="椭圆 84003"/>
              <p:cNvSpPr/>
              <p:nvPr/>
            </p:nvSpPr>
            <p:spPr>
              <a:xfrm>
                <a:off x="284" y="1300"/>
                <a:ext cx="100" cy="101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05" name="直接连接符 84004"/>
              <p:cNvSpPr/>
              <p:nvPr/>
            </p:nvSpPr>
            <p:spPr>
              <a:xfrm>
                <a:off x="386" y="1350"/>
                <a:ext cx="419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06" name="矩形 84005"/>
              <p:cNvSpPr/>
              <p:nvPr/>
            </p:nvSpPr>
            <p:spPr>
              <a:xfrm>
                <a:off x="0" y="1117"/>
                <a:ext cx="212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C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84007" name="组合 84006"/>
            <p:cNvGrpSpPr/>
            <p:nvPr/>
          </p:nvGrpSpPr>
          <p:grpSpPr>
            <a:xfrm>
              <a:off x="4081" y="436"/>
              <a:ext cx="3638" cy="1431"/>
              <a:chOff x="0" y="0"/>
              <a:chExt cx="3638" cy="1430"/>
            </a:xfrm>
          </p:grpSpPr>
          <p:sp>
            <p:nvSpPr>
              <p:cNvPr id="84008" name="文本框 84007"/>
              <p:cNvSpPr txBox="1"/>
              <p:nvPr/>
            </p:nvSpPr>
            <p:spPr>
              <a:xfrm>
                <a:off x="2123" y="82"/>
                <a:ext cx="474" cy="5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r>
                  <a:rPr lang="en-US" altLang="zh-CN" sz="1000">
                    <a:solidFill>
                      <a:srgbClr val="111111"/>
                    </a:solidFill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09" name="矩形 84008"/>
              <p:cNvSpPr>
                <a:spLocks noChangeAspect="1"/>
              </p:cNvSpPr>
              <p:nvPr/>
            </p:nvSpPr>
            <p:spPr>
              <a:xfrm rot="5400000">
                <a:off x="1840" y="382"/>
                <a:ext cx="1044" cy="546"/>
              </a:xfrm>
              <a:prstGeom prst="rect">
                <a:avLst/>
              </a:prstGeom>
              <a:noFill/>
              <a:ln w="19050" cap="flat" cmpd="sng">
                <a:solidFill>
                  <a:srgbClr val="11111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10" name="椭圆 84009"/>
              <p:cNvSpPr>
                <a:spLocks noChangeAspect="1"/>
              </p:cNvSpPr>
              <p:nvPr/>
            </p:nvSpPr>
            <p:spPr>
              <a:xfrm rot="5400000">
                <a:off x="2632" y="577"/>
                <a:ext cx="156" cy="155"/>
              </a:xfrm>
              <a:prstGeom prst="ellipse">
                <a:avLst/>
              </a:prstGeom>
              <a:noFill/>
              <a:ln w="19050" cap="flat" cmpd="sng">
                <a:solidFill>
                  <a:srgbClr val="11111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11" name="直接连接符 84010"/>
              <p:cNvSpPr/>
              <p:nvPr/>
            </p:nvSpPr>
            <p:spPr>
              <a:xfrm rot="-5400000" flipV="1">
                <a:off x="1687" y="-4"/>
                <a:ext cx="1" cy="76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12" name="直接连接符 84011"/>
              <p:cNvSpPr/>
              <p:nvPr/>
            </p:nvSpPr>
            <p:spPr>
              <a:xfrm rot="5400000">
                <a:off x="3122" y="325"/>
                <a:ext cx="1" cy="65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84013" name="组合 84012"/>
              <p:cNvGrpSpPr>
                <a:grpSpLocks noChangeAspect="1"/>
              </p:cNvGrpSpPr>
              <p:nvPr/>
            </p:nvGrpSpPr>
            <p:grpSpPr>
              <a:xfrm>
                <a:off x="2353" y="582"/>
                <a:ext cx="217" cy="197"/>
                <a:chOff x="0" y="0"/>
                <a:chExt cx="217" cy="196"/>
              </a:xfrm>
            </p:grpSpPr>
            <p:sp>
              <p:nvSpPr>
                <p:cNvPr id="84014" name="直接连接符 84013"/>
                <p:cNvSpPr>
                  <a:spLocks noChangeAspect="1"/>
                </p:cNvSpPr>
                <p:nvPr/>
              </p:nvSpPr>
              <p:spPr>
                <a:xfrm flipH="1">
                  <a:off x="116" y="0"/>
                  <a:ext cx="98" cy="19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4015" name="直接连接符 84014"/>
                <p:cNvSpPr>
                  <a:spLocks noChangeAspect="1"/>
                </p:cNvSpPr>
                <p:nvPr/>
              </p:nvSpPr>
              <p:spPr>
                <a:xfrm>
                  <a:off x="0" y="8"/>
                  <a:ext cx="217" cy="1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4016" name="直接连接符 84015"/>
                <p:cNvSpPr>
                  <a:spLocks noChangeAspect="1"/>
                </p:cNvSpPr>
                <p:nvPr/>
              </p:nvSpPr>
              <p:spPr>
                <a:xfrm>
                  <a:off x="10" y="16"/>
                  <a:ext cx="101" cy="160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4017" name="直接连接符 84016"/>
              <p:cNvSpPr/>
              <p:nvPr/>
            </p:nvSpPr>
            <p:spPr>
              <a:xfrm rot="5400000">
                <a:off x="1649" y="604"/>
                <a:ext cx="1" cy="59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18" name="文本框 84017"/>
              <p:cNvSpPr txBox="1"/>
              <p:nvPr/>
            </p:nvSpPr>
            <p:spPr>
              <a:xfrm>
                <a:off x="1981" y="687"/>
                <a:ext cx="725" cy="5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EN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19" name="椭圆 84018"/>
              <p:cNvSpPr/>
              <p:nvPr/>
            </p:nvSpPr>
            <p:spPr>
              <a:xfrm>
                <a:off x="3443" y="615"/>
                <a:ext cx="100" cy="100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0" name="矩形 84019"/>
              <p:cNvSpPr/>
              <p:nvPr/>
            </p:nvSpPr>
            <p:spPr>
              <a:xfrm>
                <a:off x="0" y="0"/>
                <a:ext cx="217" cy="3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21" name="椭圆 84020"/>
              <p:cNvSpPr/>
              <p:nvPr/>
            </p:nvSpPr>
            <p:spPr>
              <a:xfrm>
                <a:off x="260" y="184"/>
                <a:ext cx="100" cy="100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2" name="矩形 84021"/>
              <p:cNvSpPr/>
              <p:nvPr/>
            </p:nvSpPr>
            <p:spPr>
              <a:xfrm>
                <a:off x="763" y="56"/>
                <a:ext cx="418" cy="638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3" name="直接连接符 84022"/>
              <p:cNvSpPr/>
              <p:nvPr/>
            </p:nvSpPr>
            <p:spPr>
              <a:xfrm>
                <a:off x="361" y="233"/>
                <a:ext cx="419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24" name="椭圆 84023"/>
              <p:cNvSpPr/>
              <p:nvPr/>
            </p:nvSpPr>
            <p:spPr>
              <a:xfrm>
                <a:off x="1195" y="317"/>
                <a:ext cx="115" cy="11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5" name="矩形 84024"/>
              <p:cNvSpPr/>
              <p:nvPr/>
            </p:nvSpPr>
            <p:spPr>
              <a:xfrm>
                <a:off x="789" y="114"/>
                <a:ext cx="440" cy="3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≥1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26" name="矩形 84025"/>
              <p:cNvSpPr/>
              <p:nvPr/>
            </p:nvSpPr>
            <p:spPr>
              <a:xfrm>
                <a:off x="0" y="341"/>
                <a:ext cx="211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27" name="直接连接符 84026"/>
              <p:cNvSpPr/>
              <p:nvPr/>
            </p:nvSpPr>
            <p:spPr>
              <a:xfrm flipH="1">
                <a:off x="1371" y="916"/>
                <a:ext cx="2" cy="31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28" name="椭圆 84027"/>
              <p:cNvSpPr/>
              <p:nvPr/>
            </p:nvSpPr>
            <p:spPr>
              <a:xfrm>
                <a:off x="252" y="493"/>
                <a:ext cx="100" cy="100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9" name="直接连接符 84028"/>
              <p:cNvSpPr/>
              <p:nvPr/>
            </p:nvSpPr>
            <p:spPr>
              <a:xfrm>
                <a:off x="353" y="542"/>
                <a:ext cx="419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30" name="矩形 84029"/>
              <p:cNvSpPr/>
              <p:nvPr/>
            </p:nvSpPr>
            <p:spPr>
              <a:xfrm>
                <a:off x="1039" y="1085"/>
                <a:ext cx="211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C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31" name="椭圆 84030"/>
              <p:cNvSpPr/>
              <p:nvPr/>
            </p:nvSpPr>
            <p:spPr>
              <a:xfrm>
                <a:off x="1314" y="1229"/>
                <a:ext cx="116" cy="115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32" name="椭圆 84031"/>
              <p:cNvSpPr/>
              <p:nvPr/>
            </p:nvSpPr>
            <p:spPr>
              <a:xfrm>
                <a:off x="1960" y="844"/>
                <a:ext cx="115" cy="115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33" name="矩形 84032"/>
              <p:cNvSpPr/>
              <p:nvPr/>
            </p:nvSpPr>
            <p:spPr>
              <a:xfrm>
                <a:off x="3325" y="205"/>
                <a:ext cx="313" cy="3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2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84034" name="组合 84033"/>
            <p:cNvGrpSpPr/>
            <p:nvPr/>
          </p:nvGrpSpPr>
          <p:grpSpPr>
            <a:xfrm>
              <a:off x="7904" y="0"/>
              <a:ext cx="3585" cy="1963"/>
              <a:chOff x="0" y="0"/>
              <a:chExt cx="2678" cy="1466"/>
            </a:xfrm>
          </p:grpSpPr>
          <p:sp>
            <p:nvSpPr>
              <p:cNvPr id="84035" name="直接连接符 84034"/>
              <p:cNvSpPr/>
              <p:nvPr/>
            </p:nvSpPr>
            <p:spPr>
              <a:xfrm rot="16200000">
                <a:off x="1303" y="162"/>
                <a:ext cx="305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36" name="文本框 84035"/>
              <p:cNvSpPr txBox="1"/>
              <p:nvPr/>
            </p:nvSpPr>
            <p:spPr>
              <a:xfrm>
                <a:off x="1116" y="381"/>
                <a:ext cx="688" cy="4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r>
                  <a:rPr lang="en-US" altLang="zh-CN" sz="900">
                    <a:solidFill>
                      <a:srgbClr val="111111"/>
                    </a:solidFill>
                    <a:latin typeface="Times New Roman" panose="02020603050405020304" pitchFamily="2" charset="0"/>
                  </a:rPr>
                  <a:t>TG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37" name="矩形 84036"/>
              <p:cNvSpPr/>
              <p:nvPr/>
            </p:nvSpPr>
            <p:spPr>
              <a:xfrm>
                <a:off x="1212" y="414"/>
                <a:ext cx="488" cy="423"/>
              </a:xfrm>
              <a:prstGeom prst="rect">
                <a:avLst/>
              </a:prstGeom>
              <a:noFill/>
              <a:ln w="19050" cap="flat" cmpd="sng">
                <a:solidFill>
                  <a:srgbClr val="11111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38" name="直接连接符 84037"/>
              <p:cNvSpPr/>
              <p:nvPr/>
            </p:nvSpPr>
            <p:spPr>
              <a:xfrm rot="-16200000" flipV="1">
                <a:off x="2134" y="211"/>
                <a:ext cx="2" cy="84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39" name="椭圆 84038"/>
              <p:cNvSpPr/>
              <p:nvPr/>
            </p:nvSpPr>
            <p:spPr>
              <a:xfrm>
                <a:off x="2562" y="590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40" name="直接连接符 84039"/>
              <p:cNvSpPr/>
              <p:nvPr/>
            </p:nvSpPr>
            <p:spPr>
              <a:xfrm rot="16200000">
                <a:off x="1258" y="1027"/>
                <a:ext cx="390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41" name="文本框 84040"/>
              <p:cNvSpPr txBox="1"/>
              <p:nvPr/>
            </p:nvSpPr>
            <p:spPr>
              <a:xfrm>
                <a:off x="358" y="1011"/>
                <a:ext cx="388" cy="3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r>
                  <a:rPr lang="en-US" altLang="zh-CN" sz="1000">
                    <a:solidFill>
                      <a:srgbClr val="111111"/>
                    </a:solidFill>
                    <a:latin typeface="Times New Roman" panose="02020603050405020304" pitchFamily="2" charset="0"/>
                  </a:rPr>
                  <a:t>C</a:t>
                </a:r>
                <a:endParaRPr lang="en-US" altLang="zh-CN" sz="2400">
                  <a:solidFill>
                    <a:srgbClr val="CC0000"/>
                  </a:solidFill>
                  <a:latin typeface="Tahoma" panose="020B06040305040402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42" name="椭圆 84041"/>
              <p:cNvSpPr/>
              <p:nvPr/>
            </p:nvSpPr>
            <p:spPr>
              <a:xfrm>
                <a:off x="728" y="1191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43" name="矩形 84042"/>
              <p:cNvSpPr/>
              <p:nvPr/>
            </p:nvSpPr>
            <p:spPr>
              <a:xfrm>
                <a:off x="1636" y="990"/>
                <a:ext cx="292" cy="476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44" name="直接连接符 84043"/>
              <p:cNvSpPr/>
              <p:nvPr/>
            </p:nvSpPr>
            <p:spPr>
              <a:xfrm flipV="1">
                <a:off x="794" y="1229"/>
                <a:ext cx="831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45" name="椭圆 84044"/>
              <p:cNvSpPr/>
              <p:nvPr/>
            </p:nvSpPr>
            <p:spPr>
              <a:xfrm>
                <a:off x="1939" y="1185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46" name="矩形 84045"/>
              <p:cNvSpPr/>
              <p:nvPr/>
            </p:nvSpPr>
            <p:spPr>
              <a:xfrm>
                <a:off x="1763" y="976"/>
                <a:ext cx="90" cy="2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47" name="直接连接符 84046"/>
              <p:cNvSpPr/>
              <p:nvPr/>
            </p:nvSpPr>
            <p:spPr>
              <a:xfrm>
                <a:off x="2230" y="0"/>
                <a:ext cx="2" cy="1230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48" name="椭圆 84047"/>
              <p:cNvSpPr/>
              <p:nvPr/>
            </p:nvSpPr>
            <p:spPr>
              <a:xfrm>
                <a:off x="1416" y="1188"/>
                <a:ext cx="75" cy="75"/>
              </a:xfrm>
              <a:prstGeom prst="ellipse">
                <a:avLst/>
              </a:prstGeom>
              <a:solidFill>
                <a:srgbClr val="000000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49" name="直接连接符 84048"/>
              <p:cNvSpPr/>
              <p:nvPr/>
            </p:nvSpPr>
            <p:spPr>
              <a:xfrm flipV="1">
                <a:off x="2028" y="1227"/>
                <a:ext cx="200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50" name="直接连接符 84049"/>
              <p:cNvSpPr/>
              <p:nvPr/>
            </p:nvSpPr>
            <p:spPr>
              <a:xfrm rot="16200000">
                <a:off x="1841" y="-372"/>
                <a:ext cx="1" cy="78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51" name="矩形 84050"/>
              <p:cNvSpPr/>
              <p:nvPr/>
            </p:nvSpPr>
            <p:spPr>
              <a:xfrm>
                <a:off x="0" y="348"/>
                <a:ext cx="162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52" name="椭圆 84051"/>
              <p:cNvSpPr/>
              <p:nvPr/>
            </p:nvSpPr>
            <p:spPr>
              <a:xfrm>
                <a:off x="194" y="485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53" name="矩形 84052"/>
              <p:cNvSpPr/>
              <p:nvPr/>
            </p:nvSpPr>
            <p:spPr>
              <a:xfrm>
                <a:off x="590" y="390"/>
                <a:ext cx="292" cy="476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54" name="直接连接符 84053"/>
              <p:cNvSpPr/>
              <p:nvPr/>
            </p:nvSpPr>
            <p:spPr>
              <a:xfrm>
                <a:off x="270" y="522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55" name="椭圆 84054"/>
              <p:cNvSpPr/>
              <p:nvPr/>
            </p:nvSpPr>
            <p:spPr>
              <a:xfrm>
                <a:off x="893" y="585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56" name="矩形 84055"/>
              <p:cNvSpPr/>
              <p:nvPr/>
            </p:nvSpPr>
            <p:spPr>
              <a:xfrm>
                <a:off x="683" y="390"/>
                <a:ext cx="140" cy="2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&amp;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57" name="矩形 84056"/>
              <p:cNvSpPr/>
              <p:nvPr/>
            </p:nvSpPr>
            <p:spPr>
              <a:xfrm>
                <a:off x="0" y="603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58" name="直接连接符 84057"/>
              <p:cNvSpPr/>
              <p:nvPr/>
            </p:nvSpPr>
            <p:spPr>
              <a:xfrm>
                <a:off x="982" y="630"/>
                <a:ext cx="232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59" name="椭圆 84058"/>
              <p:cNvSpPr/>
              <p:nvPr/>
            </p:nvSpPr>
            <p:spPr>
              <a:xfrm>
                <a:off x="188" y="716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60" name="直接连接符 84059"/>
              <p:cNvSpPr/>
              <p:nvPr/>
            </p:nvSpPr>
            <p:spPr>
              <a:xfrm>
                <a:off x="264" y="753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1" name="矩形 84060"/>
              <p:cNvSpPr/>
              <p:nvPr/>
            </p:nvSpPr>
            <p:spPr>
              <a:xfrm>
                <a:off x="2444" y="282"/>
                <a:ext cx="234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3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4062" name="椭圆 84061"/>
              <p:cNvSpPr/>
              <p:nvPr/>
            </p:nvSpPr>
            <p:spPr>
              <a:xfrm>
                <a:off x="1414" y="327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84063" name="组合 84062"/>
            <p:cNvGrpSpPr/>
            <p:nvPr/>
          </p:nvGrpSpPr>
          <p:grpSpPr>
            <a:xfrm>
              <a:off x="386" y="2780"/>
              <a:ext cx="7783" cy="2217"/>
              <a:chOff x="0" y="0"/>
              <a:chExt cx="7783" cy="2217"/>
            </a:xfrm>
          </p:grpSpPr>
          <p:sp>
            <p:nvSpPr>
              <p:cNvPr id="84064" name="直接连接符 84063"/>
              <p:cNvSpPr>
                <a:spLocks noChangeAspect="1"/>
              </p:cNvSpPr>
              <p:nvPr/>
            </p:nvSpPr>
            <p:spPr>
              <a:xfrm rot="5400000">
                <a:off x="1187" y="-362"/>
                <a:ext cx="1" cy="72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5" name="直接连接符 84064"/>
              <p:cNvSpPr/>
              <p:nvPr/>
            </p:nvSpPr>
            <p:spPr>
              <a:xfrm flipH="1">
                <a:off x="826" y="0"/>
                <a:ext cx="4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6" name="直接连接符 84065"/>
              <p:cNvSpPr>
                <a:spLocks noChangeAspect="1"/>
              </p:cNvSpPr>
              <p:nvPr/>
            </p:nvSpPr>
            <p:spPr>
              <a:xfrm rot="5400000">
                <a:off x="570" y="269"/>
                <a:ext cx="0" cy="52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7" name="直接连接符 84066"/>
              <p:cNvSpPr>
                <a:spLocks noChangeAspect="1"/>
              </p:cNvSpPr>
              <p:nvPr/>
            </p:nvSpPr>
            <p:spPr>
              <a:xfrm rot="5400000">
                <a:off x="7543" y="272"/>
                <a:ext cx="0" cy="47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8" name="直接连接符 84067"/>
              <p:cNvSpPr>
                <a:spLocks noChangeAspect="1"/>
              </p:cNvSpPr>
              <p:nvPr/>
            </p:nvSpPr>
            <p:spPr>
              <a:xfrm rot="5400000">
                <a:off x="4079" y="-363"/>
                <a:ext cx="1" cy="72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69" name="直接连接符 84068"/>
              <p:cNvSpPr>
                <a:spLocks noChangeAspect="1"/>
              </p:cNvSpPr>
              <p:nvPr/>
            </p:nvSpPr>
            <p:spPr>
              <a:xfrm rot="5400000">
                <a:off x="1902" y="163"/>
                <a:ext cx="0" cy="72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0" name="直接连接符 84069"/>
              <p:cNvSpPr>
                <a:spLocks noChangeAspect="1"/>
              </p:cNvSpPr>
              <p:nvPr/>
            </p:nvSpPr>
            <p:spPr>
              <a:xfrm rot="5400000">
                <a:off x="2616" y="-358"/>
                <a:ext cx="1" cy="72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1" name="直接连接符 84070"/>
              <p:cNvSpPr>
                <a:spLocks noChangeAspect="1"/>
              </p:cNvSpPr>
              <p:nvPr/>
            </p:nvSpPr>
            <p:spPr>
              <a:xfrm rot="5400000">
                <a:off x="3349" y="162"/>
                <a:ext cx="0" cy="725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2" name="直接连接符 84071"/>
              <p:cNvSpPr/>
              <p:nvPr/>
            </p:nvSpPr>
            <p:spPr>
              <a:xfrm flipH="1">
                <a:off x="1538" y="8"/>
                <a:ext cx="0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3" name="直接连接符 84072"/>
              <p:cNvSpPr/>
              <p:nvPr/>
            </p:nvSpPr>
            <p:spPr>
              <a:xfrm flipH="1">
                <a:off x="2257" y="8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4" name="直接连接符 84073"/>
              <p:cNvSpPr/>
              <p:nvPr/>
            </p:nvSpPr>
            <p:spPr>
              <a:xfrm flipH="1">
                <a:off x="2980" y="16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5" name="直接连接符 84074"/>
              <p:cNvSpPr/>
              <p:nvPr/>
            </p:nvSpPr>
            <p:spPr>
              <a:xfrm flipH="1">
                <a:off x="3711" y="4"/>
                <a:ext cx="0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6" name="直接连接符 84075"/>
              <p:cNvSpPr/>
              <p:nvPr/>
            </p:nvSpPr>
            <p:spPr>
              <a:xfrm flipH="1">
                <a:off x="4432" y="12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7" name="直接连接符 84076"/>
              <p:cNvSpPr>
                <a:spLocks noChangeAspect="1"/>
              </p:cNvSpPr>
              <p:nvPr/>
            </p:nvSpPr>
            <p:spPr>
              <a:xfrm rot="5400000">
                <a:off x="1265" y="100"/>
                <a:ext cx="2" cy="1286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8" name="直接连接符 84077"/>
              <p:cNvSpPr/>
              <p:nvPr/>
            </p:nvSpPr>
            <p:spPr>
              <a:xfrm flipH="1">
                <a:off x="623" y="743"/>
                <a:ext cx="2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9" name="直接连接符 84078"/>
              <p:cNvSpPr>
                <a:spLocks noChangeAspect="1"/>
              </p:cNvSpPr>
              <p:nvPr/>
            </p:nvSpPr>
            <p:spPr>
              <a:xfrm rot="5400000">
                <a:off x="460" y="1107"/>
                <a:ext cx="1" cy="330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0" name="直接连接符 84079"/>
              <p:cNvSpPr>
                <a:spLocks noChangeAspect="1"/>
              </p:cNvSpPr>
              <p:nvPr/>
            </p:nvSpPr>
            <p:spPr>
              <a:xfrm rot="5400000">
                <a:off x="3574" y="354"/>
                <a:ext cx="1" cy="784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1" name="直接连接符 84080"/>
              <p:cNvSpPr>
                <a:spLocks noChangeAspect="1"/>
              </p:cNvSpPr>
              <p:nvPr/>
            </p:nvSpPr>
            <p:spPr>
              <a:xfrm rot="5400000">
                <a:off x="2545" y="629"/>
                <a:ext cx="2" cy="1280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2" name="直接连接符 84081"/>
              <p:cNvSpPr/>
              <p:nvPr/>
            </p:nvSpPr>
            <p:spPr>
              <a:xfrm flipH="1">
                <a:off x="1906" y="751"/>
                <a:ext cx="0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3" name="直接连接符 84082"/>
              <p:cNvSpPr/>
              <p:nvPr/>
            </p:nvSpPr>
            <p:spPr>
              <a:xfrm flipH="1">
                <a:off x="3180" y="751"/>
                <a:ext cx="2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4" name="直接连接符 84083"/>
              <p:cNvSpPr/>
              <p:nvPr/>
            </p:nvSpPr>
            <p:spPr>
              <a:xfrm flipH="1">
                <a:off x="3966" y="755"/>
                <a:ext cx="2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5" name="直接连接符 84084"/>
              <p:cNvSpPr>
                <a:spLocks noChangeAspect="1"/>
              </p:cNvSpPr>
              <p:nvPr/>
            </p:nvSpPr>
            <p:spPr>
              <a:xfrm rot="5400000">
                <a:off x="6970" y="-363"/>
                <a:ext cx="1" cy="72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6" name="直接连接符 84085"/>
              <p:cNvSpPr>
                <a:spLocks noChangeAspect="1"/>
              </p:cNvSpPr>
              <p:nvPr/>
            </p:nvSpPr>
            <p:spPr>
              <a:xfrm rot="5400000">
                <a:off x="4790" y="163"/>
                <a:ext cx="1" cy="725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7" name="直接连接符 84086"/>
              <p:cNvSpPr>
                <a:spLocks noChangeAspect="1"/>
              </p:cNvSpPr>
              <p:nvPr/>
            </p:nvSpPr>
            <p:spPr>
              <a:xfrm rot="5400000">
                <a:off x="5506" y="-357"/>
                <a:ext cx="1" cy="724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8" name="直接连接符 84087"/>
              <p:cNvSpPr>
                <a:spLocks noChangeAspect="1"/>
              </p:cNvSpPr>
              <p:nvPr/>
            </p:nvSpPr>
            <p:spPr>
              <a:xfrm rot="5400000">
                <a:off x="6239" y="162"/>
                <a:ext cx="1" cy="72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89" name="直接连接符 84088"/>
              <p:cNvSpPr/>
              <p:nvPr/>
            </p:nvSpPr>
            <p:spPr>
              <a:xfrm flipH="1">
                <a:off x="5146" y="8"/>
                <a:ext cx="2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0" name="直接连接符 84089"/>
              <p:cNvSpPr/>
              <p:nvPr/>
            </p:nvSpPr>
            <p:spPr>
              <a:xfrm flipH="1">
                <a:off x="5869" y="16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1" name="直接连接符 84090"/>
              <p:cNvSpPr/>
              <p:nvPr/>
            </p:nvSpPr>
            <p:spPr>
              <a:xfrm flipH="1">
                <a:off x="6600" y="4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2" name="直接连接符 84091"/>
              <p:cNvSpPr/>
              <p:nvPr/>
            </p:nvSpPr>
            <p:spPr>
              <a:xfrm flipH="1">
                <a:off x="7322" y="12"/>
                <a:ext cx="0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3" name="直接连接符 84092"/>
              <p:cNvSpPr>
                <a:spLocks noChangeAspect="1"/>
              </p:cNvSpPr>
              <p:nvPr/>
            </p:nvSpPr>
            <p:spPr>
              <a:xfrm rot="5400000">
                <a:off x="7277" y="801"/>
                <a:ext cx="3" cy="904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4" name="直接连接符 84093"/>
              <p:cNvSpPr>
                <a:spLocks noChangeAspect="1"/>
              </p:cNvSpPr>
              <p:nvPr/>
            </p:nvSpPr>
            <p:spPr>
              <a:xfrm rot="5400000">
                <a:off x="5808" y="-293"/>
                <a:ext cx="4" cy="206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5" name="直接连接符 84094"/>
              <p:cNvSpPr>
                <a:spLocks noChangeAspect="1"/>
              </p:cNvSpPr>
              <p:nvPr/>
            </p:nvSpPr>
            <p:spPr>
              <a:xfrm rot="5400000">
                <a:off x="4361" y="862"/>
                <a:ext cx="1" cy="79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6" name="直接连接符 84095"/>
              <p:cNvSpPr/>
              <p:nvPr/>
            </p:nvSpPr>
            <p:spPr>
              <a:xfrm flipH="1">
                <a:off x="4765" y="744"/>
                <a:ext cx="2" cy="51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7" name="直接连接符 84096"/>
              <p:cNvSpPr/>
              <p:nvPr/>
            </p:nvSpPr>
            <p:spPr>
              <a:xfrm flipH="1">
                <a:off x="6827" y="747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8" name="直接连接符 84097"/>
              <p:cNvSpPr>
                <a:spLocks noChangeAspect="1"/>
              </p:cNvSpPr>
              <p:nvPr/>
            </p:nvSpPr>
            <p:spPr>
              <a:xfrm rot="5400000">
                <a:off x="1319" y="971"/>
                <a:ext cx="4" cy="206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99" name="直接连接符 84098"/>
              <p:cNvSpPr/>
              <p:nvPr/>
            </p:nvSpPr>
            <p:spPr>
              <a:xfrm flipH="1">
                <a:off x="2344" y="1490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100" name="直接连接符 84099"/>
              <p:cNvSpPr>
                <a:spLocks noChangeAspect="1"/>
              </p:cNvSpPr>
              <p:nvPr/>
            </p:nvSpPr>
            <p:spPr>
              <a:xfrm rot="5400000">
                <a:off x="3932" y="-104"/>
                <a:ext cx="6" cy="3193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101" name="直接连接符 84100"/>
              <p:cNvSpPr/>
              <p:nvPr/>
            </p:nvSpPr>
            <p:spPr>
              <a:xfrm flipH="1">
                <a:off x="5526" y="1498"/>
                <a:ext cx="1" cy="51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102" name="直接连接符 84101"/>
              <p:cNvSpPr>
                <a:spLocks noChangeAspect="1"/>
              </p:cNvSpPr>
              <p:nvPr/>
            </p:nvSpPr>
            <p:spPr>
              <a:xfrm rot="5400000">
                <a:off x="6655" y="876"/>
                <a:ext cx="4" cy="225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84103" name="组合 84102"/>
              <p:cNvGrpSpPr/>
              <p:nvPr/>
            </p:nvGrpSpPr>
            <p:grpSpPr>
              <a:xfrm>
                <a:off x="0" y="177"/>
                <a:ext cx="553" cy="2040"/>
                <a:chOff x="0" y="0"/>
                <a:chExt cx="553" cy="2041"/>
              </a:xfrm>
            </p:grpSpPr>
            <p:sp>
              <p:nvSpPr>
                <p:cNvPr id="84104" name="文本框 84103"/>
                <p:cNvSpPr txBox="1"/>
                <p:nvPr/>
              </p:nvSpPr>
              <p:spPr>
                <a:xfrm>
                  <a:off x="9" y="0"/>
                  <a:ext cx="544" cy="5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59436" tIns="29718" rIns="59436" bIns="29718"/>
                <a:p>
                  <a:pPr algn="just"/>
                  <a:r>
                    <a:rPr lang="en-US" altLang="zh-CN" sz="900">
                      <a:latin typeface="Times New Roman" panose="02020603050405020304" pitchFamily="2" charset="0"/>
                      <a:ea typeface="楷体_GB2312" pitchFamily="1" charset="-122"/>
                    </a:rPr>
                    <a:t>A</a:t>
                  </a:r>
                  <a:endParaRPr lang="en-US" altLang="zh-CN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84105" name="文本框 84104"/>
                <p:cNvSpPr txBox="1"/>
                <p:nvPr/>
              </p:nvSpPr>
              <p:spPr>
                <a:xfrm>
                  <a:off x="0" y="767"/>
                  <a:ext cx="544" cy="5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59436" tIns="29718" rIns="59436" bIns="29718"/>
                <a:p>
                  <a:pPr algn="just"/>
                  <a:r>
                    <a:rPr lang="en-US" altLang="zh-CN" sz="900">
                      <a:latin typeface="Times New Roman" panose="02020603050405020304" pitchFamily="2" charset="0"/>
                      <a:ea typeface="楷体_GB2312" pitchFamily="1" charset="-122"/>
                    </a:rPr>
                    <a:t>B</a:t>
                  </a:r>
                  <a:endParaRPr lang="en-US" altLang="zh-CN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84106" name="文本框 84105"/>
                <p:cNvSpPr txBox="1"/>
                <p:nvPr/>
              </p:nvSpPr>
              <p:spPr>
                <a:xfrm>
                  <a:off x="9" y="1511"/>
                  <a:ext cx="543" cy="5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59436" tIns="29718" rIns="59436" bIns="29718"/>
                <a:p>
                  <a:pPr algn="just"/>
                  <a:r>
                    <a:rPr lang="en-US" altLang="zh-CN" sz="900">
                      <a:latin typeface="Times New Roman" panose="02020603050405020304" pitchFamily="2" charset="0"/>
                      <a:ea typeface="楷体_GB2312" pitchFamily="1" charset="-122"/>
                    </a:rPr>
                    <a:t>C</a:t>
                  </a:r>
                  <a:endParaRPr lang="en-US" altLang="zh-CN">
                    <a:latin typeface="Times New Roman" panose="02020603050405020304" pitchFamily="2" charset="0"/>
                  </a:endParaRPr>
                </a:p>
              </p:txBody>
            </p:sp>
          </p:grpSp>
        </p:grpSp>
        <p:sp>
          <p:nvSpPr>
            <p:cNvPr id="84107" name="文本框 84106"/>
            <p:cNvSpPr txBox="1"/>
            <p:nvPr/>
          </p:nvSpPr>
          <p:spPr>
            <a:xfrm>
              <a:off x="337" y="2121"/>
              <a:ext cx="10978" cy="5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lnSpc>
                  <a:spcPct val="96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900">
                  <a:latin typeface="Times New Roman" panose="02020603050405020304" pitchFamily="2" charset="0"/>
                </a:rPr>
                <a:t>（</a:t>
              </a:r>
              <a:r>
                <a:rPr lang="en-US" altLang="zh-CN" sz="900">
                  <a:latin typeface="Times New Roman" panose="02020603050405020304" pitchFamily="2" charset="0"/>
                </a:rPr>
                <a:t>a</a:t>
              </a:r>
              <a:r>
                <a:rPr lang="zh-CN" altLang="en-US" sz="900">
                  <a:latin typeface="Times New Roman" panose="02020603050405020304" pitchFamily="2" charset="0"/>
                </a:rPr>
                <a:t>）                            （</a:t>
              </a:r>
              <a:r>
                <a:rPr lang="en-US" altLang="zh-CN" sz="900">
                  <a:latin typeface="Times New Roman" panose="02020603050405020304" pitchFamily="2" charset="0"/>
                </a:rPr>
                <a:t>b</a:t>
              </a:r>
              <a:r>
                <a:rPr lang="zh-CN" altLang="en-US" sz="900">
                  <a:latin typeface="Times New Roman" panose="02020603050405020304" pitchFamily="2" charset="0"/>
                </a:rPr>
                <a:t>）                            （</a:t>
              </a:r>
              <a:r>
                <a:rPr lang="en-US" altLang="zh-CN" sz="900">
                  <a:latin typeface="Times New Roman" panose="02020603050405020304" pitchFamily="2" charset="0"/>
                </a:rPr>
                <a:t>c</a:t>
              </a:r>
              <a:r>
                <a:rPr lang="zh-CN" altLang="en-US" sz="900">
                  <a:latin typeface="Times New Roman" panose="02020603050405020304" pitchFamily="2" charset="0"/>
                </a:rPr>
                <a:t>）</a:t>
              </a:r>
              <a:endParaRPr lang="zh-CN" altLang="en-US"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标题 8499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4000"/>
              <a:t>已知</a:t>
            </a:r>
            <a:r>
              <a:rPr lang="en-US" altLang="zh-CN" sz="4000"/>
              <a:t>TTL</a:t>
            </a:r>
            <a:r>
              <a:rPr lang="zh-CN" altLang="en-US" sz="4000"/>
              <a:t>门组成的电路如图所示，输入</a:t>
            </a:r>
            <a:r>
              <a:rPr lang="en-US" altLang="zh-CN" sz="4000"/>
              <a:t>A</a:t>
            </a:r>
            <a:r>
              <a:rPr lang="zh-CN" altLang="en-US" sz="4000"/>
              <a:t>、</a:t>
            </a:r>
            <a:r>
              <a:rPr lang="en-US" altLang="zh-CN" sz="4000"/>
              <a:t>B</a:t>
            </a:r>
            <a:r>
              <a:rPr lang="zh-CN" altLang="en-US" sz="4000"/>
              <a:t>、</a:t>
            </a:r>
            <a:r>
              <a:rPr lang="en-US" altLang="zh-CN" sz="4000"/>
              <a:t>C</a:t>
            </a:r>
            <a:r>
              <a:rPr lang="zh-CN" altLang="en-US" sz="4000"/>
              <a:t>的波形如上图，对应画出</a:t>
            </a:r>
            <a:r>
              <a:rPr lang="en-US" altLang="zh-CN" sz="4000"/>
              <a:t>Y1 </a:t>
            </a:r>
            <a:r>
              <a:rPr lang="zh-CN" altLang="en-US" sz="4000"/>
              <a:t>、</a:t>
            </a:r>
            <a:r>
              <a:rPr lang="en-US" altLang="zh-CN" sz="4000"/>
              <a:t>Y2</a:t>
            </a:r>
            <a:r>
              <a:rPr lang="zh-CN" altLang="en-US" sz="4000"/>
              <a:t>、</a:t>
            </a:r>
            <a:r>
              <a:rPr lang="en-US" altLang="zh-CN" sz="4000"/>
              <a:t>Y3</a:t>
            </a:r>
            <a:r>
              <a:rPr lang="zh-CN" altLang="en-US" sz="4000"/>
              <a:t>的波形。 </a:t>
            </a:r>
            <a:endParaRPr lang="zh-CN" altLang="en-US" sz="4000"/>
          </a:p>
        </p:txBody>
      </p:sp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/>
          <a:p/>
        </p:txBody>
      </p:sp>
      <p:grpSp>
        <p:nvGrpSpPr>
          <p:cNvPr id="84996" name="组合 84995"/>
          <p:cNvGrpSpPr>
            <a:grpSpLocks noChangeAspect="1"/>
          </p:cNvGrpSpPr>
          <p:nvPr/>
        </p:nvGrpSpPr>
        <p:grpSpPr>
          <a:xfrm>
            <a:off x="755650" y="2492375"/>
            <a:ext cx="7920038" cy="2665413"/>
            <a:chOff x="0" y="0"/>
            <a:chExt cx="11372" cy="2745"/>
          </a:xfrm>
        </p:grpSpPr>
        <p:sp>
          <p:nvSpPr>
            <p:cNvPr id="84997" name="矩形 84996"/>
            <p:cNvSpPr>
              <a:spLocks noChangeAspect="1"/>
            </p:cNvSpPr>
            <p:nvPr/>
          </p:nvSpPr>
          <p:spPr>
            <a:xfrm>
              <a:off x="0" y="0"/>
              <a:ext cx="11372" cy="27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4998" name="文本框 84997"/>
            <p:cNvSpPr txBox="1"/>
            <p:nvPr/>
          </p:nvSpPr>
          <p:spPr>
            <a:xfrm>
              <a:off x="196" y="1875"/>
              <a:ext cx="10978" cy="8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zh-CN" altLang="en-US" sz="1000">
                  <a:latin typeface="Times New Roman" panose="02020603050405020304" pitchFamily="2" charset="0"/>
                </a:rPr>
                <a:t>（</a:t>
              </a:r>
              <a:r>
                <a:rPr lang="en-US" altLang="zh-CN" sz="1000">
                  <a:latin typeface="Times New Roman" panose="02020603050405020304" pitchFamily="2" charset="0"/>
                </a:rPr>
                <a:t>a</a:t>
              </a:r>
              <a:r>
                <a:rPr lang="zh-CN" altLang="en-US" sz="1000">
                  <a:latin typeface="Times New Roman" panose="02020603050405020304" pitchFamily="2" charset="0"/>
                </a:rPr>
                <a:t>）                            （</a:t>
              </a:r>
              <a:r>
                <a:rPr lang="en-US" altLang="zh-CN" sz="1000">
                  <a:latin typeface="Times New Roman" panose="02020603050405020304" pitchFamily="2" charset="0"/>
                </a:rPr>
                <a:t>b</a:t>
              </a:r>
              <a:r>
                <a:rPr lang="zh-CN" altLang="en-US" sz="1000">
                  <a:latin typeface="Times New Roman" panose="02020603050405020304" pitchFamily="2" charset="0"/>
                </a:rPr>
                <a:t>）                            （</a:t>
              </a:r>
              <a:r>
                <a:rPr lang="en-US" altLang="zh-CN" sz="1000">
                  <a:latin typeface="Times New Roman" panose="02020603050405020304" pitchFamily="2" charset="0"/>
                </a:rPr>
                <a:t>c</a:t>
              </a:r>
              <a:r>
                <a:rPr lang="zh-CN" altLang="en-US" sz="1000">
                  <a:latin typeface="Times New Roman" panose="02020603050405020304" pitchFamily="2" charset="0"/>
                </a:rPr>
                <a:t>）</a:t>
              </a:r>
              <a:endParaRPr lang="zh-CN" altLang="en-US" sz="1000">
                <a:latin typeface="Times New Roman" panose="02020603050405020304" pitchFamily="2" charset="0"/>
              </a:endParaRPr>
            </a:p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  <p:grpSp>
          <p:nvGrpSpPr>
            <p:cNvPr id="84999" name="组合 84998"/>
            <p:cNvGrpSpPr/>
            <p:nvPr/>
          </p:nvGrpSpPr>
          <p:grpSpPr>
            <a:xfrm>
              <a:off x="0" y="6"/>
              <a:ext cx="3746" cy="1707"/>
              <a:chOff x="0" y="0"/>
              <a:chExt cx="2798" cy="1275"/>
            </a:xfrm>
          </p:grpSpPr>
          <p:sp>
            <p:nvSpPr>
              <p:cNvPr id="85000" name="矩形 84999"/>
              <p:cNvSpPr/>
              <p:nvPr/>
            </p:nvSpPr>
            <p:spPr>
              <a:xfrm>
                <a:off x="0" y="0"/>
                <a:ext cx="162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01" name="椭圆 85000"/>
              <p:cNvSpPr/>
              <p:nvPr/>
            </p:nvSpPr>
            <p:spPr>
              <a:xfrm>
                <a:off x="210" y="132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2" name="矩形 85001"/>
              <p:cNvSpPr>
                <a:spLocks noChangeAspect="1"/>
              </p:cNvSpPr>
              <p:nvPr/>
            </p:nvSpPr>
            <p:spPr>
              <a:xfrm>
                <a:off x="998" y="45"/>
                <a:ext cx="393" cy="600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3" name="直接连接符 85002"/>
              <p:cNvSpPr/>
              <p:nvPr/>
            </p:nvSpPr>
            <p:spPr>
              <a:xfrm flipV="1">
                <a:off x="286" y="169"/>
                <a:ext cx="725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04" name="椭圆 85003"/>
              <p:cNvSpPr/>
              <p:nvPr/>
            </p:nvSpPr>
            <p:spPr>
              <a:xfrm>
                <a:off x="1400" y="303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5" name="矩形 85004"/>
              <p:cNvSpPr/>
              <p:nvPr/>
            </p:nvSpPr>
            <p:spPr>
              <a:xfrm>
                <a:off x="1036" y="75"/>
                <a:ext cx="32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≥1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06" name="矩形 85005"/>
              <p:cNvSpPr/>
              <p:nvPr/>
            </p:nvSpPr>
            <p:spPr>
              <a:xfrm>
                <a:off x="26" y="234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07" name="椭圆 85006"/>
              <p:cNvSpPr/>
              <p:nvPr/>
            </p:nvSpPr>
            <p:spPr>
              <a:xfrm>
                <a:off x="218" y="333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8" name="直接连接符 85007"/>
              <p:cNvSpPr/>
              <p:nvPr/>
            </p:nvSpPr>
            <p:spPr>
              <a:xfrm flipV="1">
                <a:off x="296" y="364"/>
                <a:ext cx="695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09" name="直接连接符 85008"/>
              <p:cNvSpPr/>
              <p:nvPr/>
            </p:nvSpPr>
            <p:spPr>
              <a:xfrm flipH="1">
                <a:off x="686" y="531"/>
                <a:ext cx="2" cy="744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0" name="矩形 85009"/>
              <p:cNvSpPr/>
              <p:nvPr/>
            </p:nvSpPr>
            <p:spPr>
              <a:xfrm>
                <a:off x="636" y="720"/>
                <a:ext cx="105" cy="345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11" name="直接连接符 85010"/>
              <p:cNvSpPr/>
              <p:nvPr/>
            </p:nvSpPr>
            <p:spPr>
              <a:xfrm>
                <a:off x="678" y="537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2" name="直接连接符 85011"/>
              <p:cNvSpPr/>
              <p:nvPr/>
            </p:nvSpPr>
            <p:spPr>
              <a:xfrm>
                <a:off x="592" y="1266"/>
                <a:ext cx="194" cy="1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3" name="矩形 85012"/>
              <p:cNvSpPr/>
              <p:nvPr/>
            </p:nvSpPr>
            <p:spPr>
              <a:xfrm>
                <a:off x="148" y="768"/>
                <a:ext cx="504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10kΩ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14" name="矩形 85013"/>
              <p:cNvSpPr/>
              <p:nvPr/>
            </p:nvSpPr>
            <p:spPr>
              <a:xfrm>
                <a:off x="1862" y="216"/>
                <a:ext cx="312" cy="476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15" name="直接连接符 85014"/>
              <p:cNvSpPr/>
              <p:nvPr/>
            </p:nvSpPr>
            <p:spPr>
              <a:xfrm>
                <a:off x="1488" y="348"/>
                <a:ext cx="387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6" name="矩形 85015"/>
              <p:cNvSpPr/>
              <p:nvPr/>
            </p:nvSpPr>
            <p:spPr>
              <a:xfrm>
                <a:off x="1926" y="258"/>
                <a:ext cx="32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=1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17" name="直接连接符 85016"/>
              <p:cNvSpPr/>
              <p:nvPr/>
            </p:nvSpPr>
            <p:spPr>
              <a:xfrm>
                <a:off x="1556" y="579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8" name="直接连接符 85017"/>
              <p:cNvSpPr/>
              <p:nvPr/>
            </p:nvSpPr>
            <p:spPr>
              <a:xfrm flipH="1">
                <a:off x="1558" y="576"/>
                <a:ext cx="2" cy="23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9" name="矩形 85018"/>
              <p:cNvSpPr/>
              <p:nvPr/>
            </p:nvSpPr>
            <p:spPr>
              <a:xfrm>
                <a:off x="1490" y="909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C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20" name="椭圆 85019"/>
              <p:cNvSpPr/>
              <p:nvPr/>
            </p:nvSpPr>
            <p:spPr>
              <a:xfrm>
                <a:off x="1516" y="810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21" name="直接连接符 85020"/>
              <p:cNvSpPr/>
              <p:nvPr/>
            </p:nvSpPr>
            <p:spPr>
              <a:xfrm rot="5400000">
                <a:off x="2412" y="212"/>
                <a:ext cx="1" cy="49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22" name="椭圆 85021"/>
              <p:cNvSpPr/>
              <p:nvPr/>
            </p:nvSpPr>
            <p:spPr>
              <a:xfrm>
                <a:off x="2652" y="417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23" name="矩形 85022"/>
              <p:cNvSpPr/>
              <p:nvPr/>
            </p:nvSpPr>
            <p:spPr>
              <a:xfrm>
                <a:off x="2564" y="132"/>
                <a:ext cx="234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85024" name="组合 85023"/>
            <p:cNvGrpSpPr/>
            <p:nvPr/>
          </p:nvGrpSpPr>
          <p:grpSpPr>
            <a:xfrm>
              <a:off x="3912" y="0"/>
              <a:ext cx="3730" cy="1707"/>
              <a:chOff x="0" y="0"/>
              <a:chExt cx="2786" cy="1275"/>
            </a:xfrm>
          </p:grpSpPr>
          <p:sp>
            <p:nvSpPr>
              <p:cNvPr id="85025" name="矩形 85024"/>
              <p:cNvSpPr/>
              <p:nvPr/>
            </p:nvSpPr>
            <p:spPr>
              <a:xfrm>
                <a:off x="0" y="0"/>
                <a:ext cx="162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26" name="椭圆 85025"/>
              <p:cNvSpPr/>
              <p:nvPr/>
            </p:nvSpPr>
            <p:spPr>
              <a:xfrm>
                <a:off x="210" y="132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27" name="矩形 85026"/>
              <p:cNvSpPr>
                <a:spLocks noChangeAspect="1"/>
              </p:cNvSpPr>
              <p:nvPr/>
            </p:nvSpPr>
            <p:spPr>
              <a:xfrm>
                <a:off x="998" y="45"/>
                <a:ext cx="393" cy="600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28" name="直接连接符 85027"/>
              <p:cNvSpPr/>
              <p:nvPr/>
            </p:nvSpPr>
            <p:spPr>
              <a:xfrm flipV="1">
                <a:off x="286" y="169"/>
                <a:ext cx="725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29" name="椭圆 85028"/>
              <p:cNvSpPr/>
              <p:nvPr/>
            </p:nvSpPr>
            <p:spPr>
              <a:xfrm>
                <a:off x="1400" y="303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30" name="矩形 85029"/>
              <p:cNvSpPr/>
              <p:nvPr/>
            </p:nvSpPr>
            <p:spPr>
              <a:xfrm>
                <a:off x="1112" y="39"/>
                <a:ext cx="32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&amp;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31" name="矩形 85030"/>
              <p:cNvSpPr/>
              <p:nvPr/>
            </p:nvSpPr>
            <p:spPr>
              <a:xfrm>
                <a:off x="6" y="234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C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32" name="椭圆 85031"/>
              <p:cNvSpPr/>
              <p:nvPr/>
            </p:nvSpPr>
            <p:spPr>
              <a:xfrm>
                <a:off x="218" y="333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33" name="直接连接符 85032"/>
              <p:cNvSpPr/>
              <p:nvPr/>
            </p:nvSpPr>
            <p:spPr>
              <a:xfrm flipV="1">
                <a:off x="296" y="364"/>
                <a:ext cx="695" cy="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34" name="直接连接符 85033"/>
              <p:cNvSpPr/>
              <p:nvPr/>
            </p:nvSpPr>
            <p:spPr>
              <a:xfrm flipH="1">
                <a:off x="686" y="531"/>
                <a:ext cx="2" cy="744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35" name="矩形 85034"/>
              <p:cNvSpPr/>
              <p:nvPr/>
            </p:nvSpPr>
            <p:spPr>
              <a:xfrm>
                <a:off x="636" y="720"/>
                <a:ext cx="105" cy="345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36" name="直接连接符 85035"/>
              <p:cNvSpPr/>
              <p:nvPr/>
            </p:nvSpPr>
            <p:spPr>
              <a:xfrm>
                <a:off x="678" y="537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37" name="直接连接符 85036"/>
              <p:cNvSpPr/>
              <p:nvPr/>
            </p:nvSpPr>
            <p:spPr>
              <a:xfrm>
                <a:off x="592" y="1266"/>
                <a:ext cx="194" cy="1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38" name="矩形 85037"/>
              <p:cNvSpPr/>
              <p:nvPr/>
            </p:nvSpPr>
            <p:spPr>
              <a:xfrm>
                <a:off x="148" y="768"/>
                <a:ext cx="504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10kΩ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39" name="矩形 85038"/>
              <p:cNvSpPr/>
              <p:nvPr/>
            </p:nvSpPr>
            <p:spPr>
              <a:xfrm>
                <a:off x="1850" y="213"/>
                <a:ext cx="312" cy="476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40" name="直接连接符 85039"/>
              <p:cNvSpPr/>
              <p:nvPr/>
            </p:nvSpPr>
            <p:spPr>
              <a:xfrm>
                <a:off x="1476" y="345"/>
                <a:ext cx="387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41" name="矩形 85040"/>
              <p:cNvSpPr/>
              <p:nvPr/>
            </p:nvSpPr>
            <p:spPr>
              <a:xfrm>
                <a:off x="1914" y="255"/>
                <a:ext cx="32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=1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42" name="直接连接符 85041"/>
              <p:cNvSpPr/>
              <p:nvPr/>
            </p:nvSpPr>
            <p:spPr>
              <a:xfrm>
                <a:off x="1544" y="576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43" name="直接连接符 85042"/>
              <p:cNvSpPr/>
              <p:nvPr/>
            </p:nvSpPr>
            <p:spPr>
              <a:xfrm flipH="1">
                <a:off x="1546" y="573"/>
                <a:ext cx="2" cy="23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44" name="矩形 85043"/>
              <p:cNvSpPr/>
              <p:nvPr/>
            </p:nvSpPr>
            <p:spPr>
              <a:xfrm>
                <a:off x="1478" y="906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45" name="椭圆 85044"/>
              <p:cNvSpPr/>
              <p:nvPr/>
            </p:nvSpPr>
            <p:spPr>
              <a:xfrm>
                <a:off x="1504" y="807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46" name="直接连接符 85045"/>
              <p:cNvSpPr/>
              <p:nvPr/>
            </p:nvSpPr>
            <p:spPr>
              <a:xfrm rot="5400000">
                <a:off x="2400" y="209"/>
                <a:ext cx="1" cy="49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47" name="椭圆 85046"/>
              <p:cNvSpPr/>
              <p:nvPr/>
            </p:nvSpPr>
            <p:spPr>
              <a:xfrm>
                <a:off x="2640" y="414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48" name="矩形 85047"/>
              <p:cNvSpPr/>
              <p:nvPr/>
            </p:nvSpPr>
            <p:spPr>
              <a:xfrm>
                <a:off x="2552" y="129"/>
                <a:ext cx="234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2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85049" name="组合 85048"/>
            <p:cNvGrpSpPr/>
            <p:nvPr/>
          </p:nvGrpSpPr>
          <p:grpSpPr>
            <a:xfrm>
              <a:off x="7781" y="8"/>
              <a:ext cx="3591" cy="1670"/>
              <a:chOff x="0" y="0"/>
              <a:chExt cx="2682" cy="1247"/>
            </a:xfrm>
          </p:grpSpPr>
          <p:sp>
            <p:nvSpPr>
              <p:cNvPr id="85050" name="文本框 85049"/>
              <p:cNvSpPr txBox="1"/>
              <p:nvPr/>
            </p:nvSpPr>
            <p:spPr>
              <a:xfrm>
                <a:off x="886" y="0"/>
                <a:ext cx="354" cy="3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r>
                  <a:rPr lang="en-US" altLang="zh-CN" sz="1000">
                    <a:solidFill>
                      <a:srgbClr val="111111"/>
                    </a:solidFill>
                    <a:latin typeface="Times New Roman" panose="02020603050405020304" pitchFamily="2" charset="0"/>
                  </a:rPr>
                  <a:t>1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51" name="矩形 85050"/>
              <p:cNvSpPr>
                <a:spLocks noChangeAspect="1"/>
              </p:cNvSpPr>
              <p:nvPr/>
            </p:nvSpPr>
            <p:spPr>
              <a:xfrm rot="5400000">
                <a:off x="676" y="224"/>
                <a:ext cx="780" cy="408"/>
              </a:xfrm>
              <a:prstGeom prst="rect">
                <a:avLst/>
              </a:prstGeom>
              <a:noFill/>
              <a:ln w="19050" cap="flat" cmpd="sng">
                <a:solidFill>
                  <a:srgbClr val="11111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52" name="直接连接符 85051"/>
              <p:cNvSpPr/>
              <p:nvPr/>
            </p:nvSpPr>
            <p:spPr>
              <a:xfrm rot="-5400000" flipV="1">
                <a:off x="574" y="-64"/>
                <a:ext cx="1" cy="57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85053" name="组合 85052"/>
              <p:cNvGrpSpPr>
                <a:grpSpLocks noChangeAspect="1"/>
              </p:cNvGrpSpPr>
              <p:nvPr/>
            </p:nvGrpSpPr>
            <p:grpSpPr>
              <a:xfrm>
                <a:off x="1058" y="374"/>
                <a:ext cx="162" cy="147"/>
                <a:chOff x="0" y="0"/>
                <a:chExt cx="217" cy="196"/>
              </a:xfrm>
            </p:grpSpPr>
            <p:sp>
              <p:nvSpPr>
                <p:cNvPr id="85054" name="直接连接符 85053"/>
                <p:cNvSpPr>
                  <a:spLocks noChangeAspect="1"/>
                </p:cNvSpPr>
                <p:nvPr/>
              </p:nvSpPr>
              <p:spPr>
                <a:xfrm flipH="1">
                  <a:off x="116" y="0"/>
                  <a:ext cx="98" cy="19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5055" name="直接连接符 85054"/>
                <p:cNvSpPr>
                  <a:spLocks noChangeAspect="1"/>
                </p:cNvSpPr>
                <p:nvPr/>
              </p:nvSpPr>
              <p:spPr>
                <a:xfrm>
                  <a:off x="0" y="8"/>
                  <a:ext cx="217" cy="1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5056" name="直接连接符 85055"/>
                <p:cNvSpPr>
                  <a:spLocks noChangeAspect="1"/>
                </p:cNvSpPr>
                <p:nvPr/>
              </p:nvSpPr>
              <p:spPr>
                <a:xfrm>
                  <a:off x="10" y="16"/>
                  <a:ext cx="101" cy="160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57" name="直接连接符 85056"/>
              <p:cNvSpPr/>
              <p:nvPr/>
            </p:nvSpPr>
            <p:spPr>
              <a:xfrm rot="5400000">
                <a:off x="531" y="389"/>
                <a:ext cx="1" cy="44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58" name="文本框 85057"/>
              <p:cNvSpPr txBox="1"/>
              <p:nvPr/>
            </p:nvSpPr>
            <p:spPr>
              <a:xfrm>
                <a:off x="780" y="452"/>
                <a:ext cx="542" cy="3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EN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59" name="椭圆 85058"/>
              <p:cNvSpPr/>
              <p:nvPr/>
            </p:nvSpPr>
            <p:spPr>
              <a:xfrm>
                <a:off x="1272" y="386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60" name="矩形 85059"/>
              <p:cNvSpPr/>
              <p:nvPr/>
            </p:nvSpPr>
            <p:spPr>
              <a:xfrm>
                <a:off x="0" y="479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C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61" name="椭圆 85060"/>
              <p:cNvSpPr/>
              <p:nvPr/>
            </p:nvSpPr>
            <p:spPr>
              <a:xfrm>
                <a:off x="206" y="179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62" name="椭圆 85061"/>
              <p:cNvSpPr/>
              <p:nvPr/>
            </p:nvSpPr>
            <p:spPr>
              <a:xfrm>
                <a:off x="764" y="569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63" name="矩形 85062"/>
              <p:cNvSpPr/>
              <p:nvPr/>
            </p:nvSpPr>
            <p:spPr>
              <a:xfrm>
                <a:off x="1746" y="296"/>
                <a:ext cx="312" cy="476"/>
              </a:xfrm>
              <a:prstGeom prst="rect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64" name="直接连接符 85063"/>
              <p:cNvSpPr/>
              <p:nvPr/>
            </p:nvSpPr>
            <p:spPr>
              <a:xfrm>
                <a:off x="1354" y="428"/>
                <a:ext cx="405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65" name="矩形 85064"/>
              <p:cNvSpPr/>
              <p:nvPr/>
            </p:nvSpPr>
            <p:spPr>
              <a:xfrm>
                <a:off x="1810" y="338"/>
                <a:ext cx="32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=1</a:t>
                </a:r>
                <a:endParaRPr lang="en-US" altLang="zh-CN" sz="900">
                  <a:latin typeface="Times New Roman" panose="02020603050405020304" pitchFamily="2" charset="0"/>
                </a:endParaRPr>
              </a:p>
              <a:p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66" name="直接连接符 85065"/>
              <p:cNvSpPr/>
              <p:nvPr/>
            </p:nvSpPr>
            <p:spPr>
              <a:xfrm>
                <a:off x="1440" y="659"/>
                <a:ext cx="313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67" name="直接连接符 85066"/>
              <p:cNvSpPr/>
              <p:nvPr/>
            </p:nvSpPr>
            <p:spPr>
              <a:xfrm flipH="1">
                <a:off x="1442" y="656"/>
                <a:ext cx="2" cy="237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68" name="矩形 85067"/>
              <p:cNvSpPr/>
              <p:nvPr/>
            </p:nvSpPr>
            <p:spPr>
              <a:xfrm>
                <a:off x="1374" y="989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B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69" name="椭圆 85068"/>
              <p:cNvSpPr/>
              <p:nvPr/>
            </p:nvSpPr>
            <p:spPr>
              <a:xfrm>
                <a:off x="1400" y="890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70" name="直接连接符 85069"/>
              <p:cNvSpPr/>
              <p:nvPr/>
            </p:nvSpPr>
            <p:spPr>
              <a:xfrm rot="5400000">
                <a:off x="2296" y="292"/>
                <a:ext cx="1" cy="492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71" name="椭圆 85070"/>
              <p:cNvSpPr/>
              <p:nvPr/>
            </p:nvSpPr>
            <p:spPr>
              <a:xfrm>
                <a:off x="2536" y="497"/>
                <a:ext cx="75" cy="75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72" name="矩形 85071"/>
              <p:cNvSpPr/>
              <p:nvPr/>
            </p:nvSpPr>
            <p:spPr>
              <a:xfrm>
                <a:off x="2448" y="212"/>
                <a:ext cx="234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Y</a:t>
                </a:r>
                <a:r>
                  <a:rPr lang="en-US" altLang="zh-CN" sz="900" baseline="-25000">
                    <a:latin typeface="Times New Roman" panose="02020603050405020304" pitchFamily="2" charset="0"/>
                  </a:rPr>
                  <a:t>3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  <p:sp>
            <p:nvSpPr>
              <p:cNvPr id="85073" name="椭圆 85072"/>
              <p:cNvSpPr/>
              <p:nvPr/>
            </p:nvSpPr>
            <p:spPr>
              <a:xfrm>
                <a:off x="222" y="563"/>
                <a:ext cx="86" cy="86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74" name="矩形 85073"/>
              <p:cNvSpPr/>
              <p:nvPr/>
            </p:nvSpPr>
            <p:spPr>
              <a:xfrm>
                <a:off x="12" y="110"/>
                <a:ext cx="158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900">
                    <a:latin typeface="Times New Roman" panose="02020603050405020304" pitchFamily="2" charset="0"/>
                  </a:rPr>
                  <a:t>A</a:t>
                </a:r>
                <a:endParaRPr lang="en-US" altLang="zh-CN">
                  <a:latin typeface="Times New Roman" panose="02020603050405020304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" y="116840"/>
            <a:ext cx="9171305" cy="1790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20"/>
            <a:ext cx="9135110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548640"/>
            <a:ext cx="915606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085"/>
            <a:ext cx="9143365" cy="40252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4077335"/>
            <a:ext cx="9181465" cy="274764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621030"/>
            <a:ext cx="908431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5130"/>
            <a:ext cx="908240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885"/>
            <a:ext cx="9153525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885"/>
            <a:ext cx="9123680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16840"/>
            <a:ext cx="9081135" cy="5419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1660"/>
            <a:ext cx="9154795" cy="847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熊猫翠竹">
  <a:themeElements>
    <a:clrScheme name="">
      <a:dk1>
        <a:srgbClr val="000000"/>
      </a:dk1>
      <a:lt1>
        <a:srgbClr val="38AC8B"/>
      </a:lt1>
      <a:dk2>
        <a:srgbClr val="FFFFFF"/>
      </a:dk2>
      <a:lt2>
        <a:srgbClr val="969696"/>
      </a:lt2>
      <a:accent1>
        <a:srgbClr val="8A95B2"/>
      </a:accent1>
      <a:accent2>
        <a:srgbClr val="99FF33"/>
      </a:accent2>
      <a:accent3>
        <a:srgbClr val="AED2C5"/>
      </a:accent3>
      <a:accent4>
        <a:srgbClr val="000000"/>
      </a:accent4>
      <a:accent5>
        <a:srgbClr val="C4C9D5"/>
      </a:accent5>
      <a:accent6>
        <a:srgbClr val="89E52D"/>
      </a:accent6>
      <a:hlink>
        <a:srgbClr val="66FFFF"/>
      </a:hlink>
      <a:folHlink>
        <a:srgbClr val="FFFF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38AC8B"/>
        </a:lt1>
        <a:dk2>
          <a:srgbClr val="FFFFFF"/>
        </a:dk2>
        <a:lt2>
          <a:srgbClr val="969696"/>
        </a:lt2>
        <a:accent1>
          <a:srgbClr val="8A95B2"/>
        </a:accent1>
        <a:accent2>
          <a:srgbClr val="99FF33"/>
        </a:accent2>
        <a:accent3>
          <a:srgbClr val="AED2C5"/>
        </a:accent3>
        <a:accent4>
          <a:srgbClr val="DCDCDC"/>
        </a:accent4>
        <a:accent5>
          <a:srgbClr val="C4C9D5"/>
        </a:accent5>
        <a:accent6>
          <a:srgbClr val="89E52D"/>
        </a:accent6>
        <a:hlink>
          <a:srgbClr val="66FFFF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99CC"/>
        </a:lt1>
        <a:dk2>
          <a:srgbClr val="FFFFFF"/>
        </a:dk2>
        <a:lt2>
          <a:srgbClr val="969696"/>
        </a:lt2>
        <a:accent1>
          <a:srgbClr val="93A0BB"/>
        </a:accent1>
        <a:accent2>
          <a:srgbClr val="CCFFFF"/>
        </a:accent2>
        <a:accent3>
          <a:srgbClr val="AACAE2"/>
        </a:accent3>
        <a:accent4>
          <a:srgbClr val="DCDCDC"/>
        </a:accent4>
        <a:accent5>
          <a:srgbClr val="C8CDD9"/>
        </a:accent5>
        <a:accent6>
          <a:srgbClr val="B7E5E5"/>
        </a:accent6>
        <a:hlink>
          <a:srgbClr val="FFFF66"/>
        </a:hlink>
        <a:folHlink>
          <a:srgbClr val="FF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C0C0C0"/>
        </a:lt1>
        <a:dk2>
          <a:srgbClr val="FFFF00"/>
        </a:dk2>
        <a:lt2>
          <a:srgbClr val="C0C0C0"/>
        </a:lt2>
        <a:accent1>
          <a:srgbClr val="5F7F81"/>
        </a:accent1>
        <a:accent2>
          <a:srgbClr val="CCCCFF"/>
        </a:accent2>
        <a:accent3>
          <a:srgbClr val="DCDCDC"/>
        </a:accent3>
        <a:accent4>
          <a:srgbClr val="DCDCDC"/>
        </a:accent4>
        <a:accent5>
          <a:srgbClr val="B7C0C1"/>
        </a:accent5>
        <a:accent6>
          <a:srgbClr val="B7B7E5"/>
        </a:accent6>
        <a:hlink>
          <a:srgbClr val="66FF33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99"/>
        </a:dk1>
        <a:lt1>
          <a:srgbClr val="336600"/>
        </a:lt1>
        <a:dk2>
          <a:srgbClr val="FFFFFF"/>
        </a:dk2>
        <a:lt2>
          <a:srgbClr val="969696"/>
        </a:lt2>
        <a:accent1>
          <a:srgbClr val="D2990A"/>
        </a:accent1>
        <a:accent2>
          <a:srgbClr val="CCCCFF"/>
        </a:accent2>
        <a:accent3>
          <a:srgbClr val="ADB9AA"/>
        </a:accent3>
        <a:accent4>
          <a:srgbClr val="DCDC83"/>
        </a:accent4>
        <a:accent5>
          <a:srgbClr val="E5CAAA"/>
        </a:accent5>
        <a:accent6>
          <a:srgbClr val="B7B7E5"/>
        </a:accent6>
        <a:hlink>
          <a:srgbClr val="00FFFF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FFFF"/>
        </a:dk1>
        <a:lt1>
          <a:srgbClr val="006699"/>
        </a:lt1>
        <a:dk2>
          <a:srgbClr val="FFFF00"/>
        </a:dk2>
        <a:lt2>
          <a:srgbClr val="969696"/>
        </a:lt2>
        <a:accent1>
          <a:srgbClr val="8D8DB3"/>
        </a:accent1>
        <a:accent2>
          <a:srgbClr val="FF7C80"/>
        </a:accent2>
        <a:accent3>
          <a:srgbClr val="AAB9CA"/>
        </a:accent3>
        <a:accent4>
          <a:srgbClr val="AFDCDC"/>
        </a:accent4>
        <a:accent5>
          <a:srgbClr val="C5C5D5"/>
        </a:accent5>
        <a:accent6>
          <a:srgbClr val="E56F72"/>
        </a:accent6>
        <a:hlink>
          <a:srgbClr val="99FF33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FF9933"/>
        </a:lt1>
        <a:dk2>
          <a:srgbClr val="CCECFF"/>
        </a:dk2>
        <a:lt2>
          <a:srgbClr val="969696"/>
        </a:lt2>
        <a:accent1>
          <a:srgbClr val="376EA5"/>
        </a:accent1>
        <a:accent2>
          <a:srgbClr val="FF9933"/>
        </a:accent2>
        <a:accent3>
          <a:srgbClr val="FFCAAD"/>
        </a:accent3>
        <a:accent4>
          <a:srgbClr val="DCDCDC"/>
        </a:accent4>
        <a:accent5>
          <a:srgbClr val="AEBBCF"/>
        </a:accent5>
        <a:accent6>
          <a:srgbClr val="E5892D"/>
        </a:accent6>
        <a:hlink>
          <a:srgbClr val="FFFF66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B8156"/>
        </a:lt1>
        <a:dk2>
          <a:srgbClr val="00FFFF"/>
        </a:dk2>
        <a:lt2>
          <a:srgbClr val="969696"/>
        </a:lt2>
        <a:accent1>
          <a:srgbClr val="5B8689"/>
        </a:accent1>
        <a:accent2>
          <a:srgbClr val="99FF99"/>
        </a:accent2>
        <a:accent3>
          <a:srgbClr val="ACC1B4"/>
        </a:accent3>
        <a:accent4>
          <a:srgbClr val="DCDCDC"/>
        </a:accent4>
        <a:accent5>
          <a:srgbClr val="B6C3C4"/>
        </a:accent5>
        <a:accent6>
          <a:srgbClr val="89E589"/>
        </a:accent6>
        <a:hlink>
          <a:srgbClr val="FFFF00"/>
        </a:hlink>
        <a:folHlink>
          <a:srgbClr val="D7C4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00"/>
        </a:dk1>
        <a:lt1>
          <a:srgbClr val="FFD5D5"/>
        </a:lt1>
        <a:dk2>
          <a:srgbClr val="00FF00"/>
        </a:dk2>
        <a:lt2>
          <a:srgbClr val="969696"/>
        </a:lt2>
        <a:accent1>
          <a:srgbClr val="008080"/>
        </a:accent1>
        <a:accent2>
          <a:srgbClr val="FF5050"/>
        </a:accent2>
        <a:accent3>
          <a:srgbClr val="FFE6E6"/>
        </a:accent3>
        <a:accent4>
          <a:srgbClr val="DCDC00"/>
        </a:accent4>
        <a:accent5>
          <a:srgbClr val="AAC1C1"/>
        </a:accent5>
        <a:accent6>
          <a:srgbClr val="E54747"/>
        </a:accent6>
        <a:hlink>
          <a:srgbClr val="99CC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38AC8B"/>
        </a:lt1>
        <a:dk2>
          <a:srgbClr val="FFFFFF"/>
        </a:dk2>
        <a:lt2>
          <a:srgbClr val="969696"/>
        </a:lt2>
        <a:accent1>
          <a:srgbClr val="8A95B2"/>
        </a:accent1>
        <a:accent2>
          <a:srgbClr val="99FF33"/>
        </a:accent2>
        <a:accent3>
          <a:srgbClr val="AED2C5"/>
        </a:accent3>
        <a:accent4>
          <a:srgbClr val="000000"/>
        </a:accent4>
        <a:accent5>
          <a:srgbClr val="C4C9D5"/>
        </a:accent5>
        <a:accent6>
          <a:srgbClr val="89E52D"/>
        </a:accent6>
        <a:hlink>
          <a:srgbClr val="66FFFF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熊猫翠竹">
  <a:themeElements>
    <a:clrScheme name="">
      <a:dk1>
        <a:srgbClr val="000000"/>
      </a:dk1>
      <a:lt1>
        <a:srgbClr val="38AC8B"/>
      </a:lt1>
      <a:dk2>
        <a:srgbClr val="FFFFFF"/>
      </a:dk2>
      <a:lt2>
        <a:srgbClr val="969696"/>
      </a:lt2>
      <a:accent1>
        <a:srgbClr val="8A95B2"/>
      </a:accent1>
      <a:accent2>
        <a:srgbClr val="99FF33"/>
      </a:accent2>
      <a:accent3>
        <a:srgbClr val="AED2C5"/>
      </a:accent3>
      <a:accent4>
        <a:srgbClr val="000000"/>
      </a:accent4>
      <a:accent5>
        <a:srgbClr val="C4C9D5"/>
      </a:accent5>
      <a:accent6>
        <a:srgbClr val="89E52D"/>
      </a:accent6>
      <a:hlink>
        <a:srgbClr val="66FFFF"/>
      </a:hlink>
      <a:folHlink>
        <a:srgbClr val="FFFF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38AC8B"/>
        </a:lt1>
        <a:dk2>
          <a:srgbClr val="FFFFFF"/>
        </a:dk2>
        <a:lt2>
          <a:srgbClr val="969696"/>
        </a:lt2>
        <a:accent1>
          <a:srgbClr val="8A95B2"/>
        </a:accent1>
        <a:accent2>
          <a:srgbClr val="99FF33"/>
        </a:accent2>
        <a:accent3>
          <a:srgbClr val="AED2C5"/>
        </a:accent3>
        <a:accent4>
          <a:srgbClr val="DCDCDC"/>
        </a:accent4>
        <a:accent5>
          <a:srgbClr val="C4C9D5"/>
        </a:accent5>
        <a:accent6>
          <a:srgbClr val="89E52D"/>
        </a:accent6>
        <a:hlink>
          <a:srgbClr val="66FFFF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99CC"/>
        </a:lt1>
        <a:dk2>
          <a:srgbClr val="FFFFFF"/>
        </a:dk2>
        <a:lt2>
          <a:srgbClr val="969696"/>
        </a:lt2>
        <a:accent1>
          <a:srgbClr val="93A0BB"/>
        </a:accent1>
        <a:accent2>
          <a:srgbClr val="CCFFFF"/>
        </a:accent2>
        <a:accent3>
          <a:srgbClr val="AACAE2"/>
        </a:accent3>
        <a:accent4>
          <a:srgbClr val="DCDCDC"/>
        </a:accent4>
        <a:accent5>
          <a:srgbClr val="C8CDD9"/>
        </a:accent5>
        <a:accent6>
          <a:srgbClr val="B7E5E5"/>
        </a:accent6>
        <a:hlink>
          <a:srgbClr val="FFFF66"/>
        </a:hlink>
        <a:folHlink>
          <a:srgbClr val="FF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C0C0C0"/>
        </a:lt1>
        <a:dk2>
          <a:srgbClr val="FFFF00"/>
        </a:dk2>
        <a:lt2>
          <a:srgbClr val="C0C0C0"/>
        </a:lt2>
        <a:accent1>
          <a:srgbClr val="5F7F81"/>
        </a:accent1>
        <a:accent2>
          <a:srgbClr val="CCCCFF"/>
        </a:accent2>
        <a:accent3>
          <a:srgbClr val="DCDCDC"/>
        </a:accent3>
        <a:accent4>
          <a:srgbClr val="DCDCDC"/>
        </a:accent4>
        <a:accent5>
          <a:srgbClr val="B7C0C1"/>
        </a:accent5>
        <a:accent6>
          <a:srgbClr val="B7B7E5"/>
        </a:accent6>
        <a:hlink>
          <a:srgbClr val="66FF33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99"/>
        </a:dk1>
        <a:lt1>
          <a:srgbClr val="336600"/>
        </a:lt1>
        <a:dk2>
          <a:srgbClr val="FFFFFF"/>
        </a:dk2>
        <a:lt2>
          <a:srgbClr val="969696"/>
        </a:lt2>
        <a:accent1>
          <a:srgbClr val="D2990A"/>
        </a:accent1>
        <a:accent2>
          <a:srgbClr val="CCCCFF"/>
        </a:accent2>
        <a:accent3>
          <a:srgbClr val="ADB9AA"/>
        </a:accent3>
        <a:accent4>
          <a:srgbClr val="DCDC83"/>
        </a:accent4>
        <a:accent5>
          <a:srgbClr val="E5CAAA"/>
        </a:accent5>
        <a:accent6>
          <a:srgbClr val="B7B7E5"/>
        </a:accent6>
        <a:hlink>
          <a:srgbClr val="00FFFF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FFFF"/>
        </a:dk1>
        <a:lt1>
          <a:srgbClr val="006699"/>
        </a:lt1>
        <a:dk2>
          <a:srgbClr val="FFFF00"/>
        </a:dk2>
        <a:lt2>
          <a:srgbClr val="969696"/>
        </a:lt2>
        <a:accent1>
          <a:srgbClr val="8D8DB3"/>
        </a:accent1>
        <a:accent2>
          <a:srgbClr val="FF7C80"/>
        </a:accent2>
        <a:accent3>
          <a:srgbClr val="AAB9CA"/>
        </a:accent3>
        <a:accent4>
          <a:srgbClr val="AFDCDC"/>
        </a:accent4>
        <a:accent5>
          <a:srgbClr val="C5C5D5"/>
        </a:accent5>
        <a:accent6>
          <a:srgbClr val="E56F72"/>
        </a:accent6>
        <a:hlink>
          <a:srgbClr val="99FF33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FF9933"/>
        </a:lt1>
        <a:dk2>
          <a:srgbClr val="CCECFF"/>
        </a:dk2>
        <a:lt2>
          <a:srgbClr val="969696"/>
        </a:lt2>
        <a:accent1>
          <a:srgbClr val="376EA5"/>
        </a:accent1>
        <a:accent2>
          <a:srgbClr val="FF9933"/>
        </a:accent2>
        <a:accent3>
          <a:srgbClr val="FFCAAD"/>
        </a:accent3>
        <a:accent4>
          <a:srgbClr val="DCDCDC"/>
        </a:accent4>
        <a:accent5>
          <a:srgbClr val="AEBBCF"/>
        </a:accent5>
        <a:accent6>
          <a:srgbClr val="E5892D"/>
        </a:accent6>
        <a:hlink>
          <a:srgbClr val="FFFF66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B8156"/>
        </a:lt1>
        <a:dk2>
          <a:srgbClr val="00FFFF"/>
        </a:dk2>
        <a:lt2>
          <a:srgbClr val="969696"/>
        </a:lt2>
        <a:accent1>
          <a:srgbClr val="5B8689"/>
        </a:accent1>
        <a:accent2>
          <a:srgbClr val="99FF99"/>
        </a:accent2>
        <a:accent3>
          <a:srgbClr val="ACC1B4"/>
        </a:accent3>
        <a:accent4>
          <a:srgbClr val="DCDCDC"/>
        </a:accent4>
        <a:accent5>
          <a:srgbClr val="B6C3C4"/>
        </a:accent5>
        <a:accent6>
          <a:srgbClr val="89E589"/>
        </a:accent6>
        <a:hlink>
          <a:srgbClr val="FFFF00"/>
        </a:hlink>
        <a:folHlink>
          <a:srgbClr val="D7C4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00"/>
        </a:dk1>
        <a:lt1>
          <a:srgbClr val="FFD5D5"/>
        </a:lt1>
        <a:dk2>
          <a:srgbClr val="00FF00"/>
        </a:dk2>
        <a:lt2>
          <a:srgbClr val="969696"/>
        </a:lt2>
        <a:accent1>
          <a:srgbClr val="008080"/>
        </a:accent1>
        <a:accent2>
          <a:srgbClr val="FF5050"/>
        </a:accent2>
        <a:accent3>
          <a:srgbClr val="FFE6E6"/>
        </a:accent3>
        <a:accent4>
          <a:srgbClr val="DCDC00"/>
        </a:accent4>
        <a:accent5>
          <a:srgbClr val="AAC1C1"/>
        </a:accent5>
        <a:accent6>
          <a:srgbClr val="E54747"/>
        </a:accent6>
        <a:hlink>
          <a:srgbClr val="99CC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38AC8B"/>
        </a:lt1>
        <a:dk2>
          <a:srgbClr val="FFFFFF"/>
        </a:dk2>
        <a:lt2>
          <a:srgbClr val="969696"/>
        </a:lt2>
        <a:accent1>
          <a:srgbClr val="8A95B2"/>
        </a:accent1>
        <a:accent2>
          <a:srgbClr val="99FF33"/>
        </a:accent2>
        <a:accent3>
          <a:srgbClr val="AED2C5"/>
        </a:accent3>
        <a:accent4>
          <a:srgbClr val="000000"/>
        </a:accent4>
        <a:accent5>
          <a:srgbClr val="C4C9D5"/>
        </a:accent5>
        <a:accent6>
          <a:srgbClr val="89E52D"/>
        </a:accent6>
        <a:hlink>
          <a:srgbClr val="66FFFF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CDESIGNC</Template>
  <TotalTime>0</TotalTime>
  <Words>5804</Words>
  <Application>WPS 演示</Application>
  <PresentationFormat>在屏幕上显示</PresentationFormat>
  <Paragraphs>1107</Paragraphs>
  <Slides>88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43</vt:i4>
      </vt:variant>
      <vt:variant>
        <vt:lpstr>幻灯片标题</vt:lpstr>
      </vt:variant>
      <vt:variant>
        <vt:i4>88</vt:i4>
      </vt:variant>
    </vt:vector>
  </HeadingPairs>
  <TitlesOfParts>
    <vt:vector size="151" baseType="lpstr">
      <vt:lpstr>Arial</vt:lpstr>
      <vt:lpstr>宋体</vt:lpstr>
      <vt:lpstr>Wingdings</vt:lpstr>
      <vt:lpstr>黑体</vt:lpstr>
      <vt:lpstr>楷体_GB2312</vt:lpstr>
      <vt:lpstr>新宋体</vt:lpstr>
      <vt:lpstr>Times New Roman</vt:lpstr>
      <vt:lpstr>Verdana</vt:lpstr>
      <vt:lpstr>Symbol</vt:lpstr>
      <vt:lpstr>华文楷体</vt:lpstr>
      <vt:lpstr>隶书</vt:lpstr>
      <vt:lpstr>长城楷体</vt:lpstr>
      <vt:lpstr>Lucida Sans Unicode</vt:lpstr>
      <vt:lpstr>Tahoma</vt:lpstr>
      <vt:lpstr>楷体_GB2312</vt:lpstr>
      <vt:lpstr>微软雅黑</vt:lpstr>
      <vt:lpstr>Arial Unicode MS</vt:lpstr>
      <vt:lpstr>Calibri</vt:lpstr>
      <vt:lpstr>1_熊猫翠竹</vt:lpstr>
      <vt:lpstr>2_熊猫翠竹</vt:lpstr>
      <vt:lpstr>Word.Document.8</vt:lpstr>
      <vt:lpstr>MSPhotoEd.3</vt:lpstr>
      <vt:lpstr>Equation.3</vt:lpstr>
      <vt:lpstr>MSPhotoEd.3</vt:lpstr>
      <vt:lpstr>MSPhotoEd.3</vt:lpstr>
      <vt:lpstr>MSPhotoEd.3</vt:lpstr>
      <vt:lpstr>Equation.3</vt:lpstr>
      <vt:lpstr>MSPhotoEd.3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MSPhotoEd.3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XXXY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数字电子技术基础</dc:title>
  <dc:creator>OGG</dc:creator>
  <cp:lastModifiedBy>人生调味是百味</cp:lastModifiedBy>
  <cp:revision>8</cp:revision>
  <dcterms:created xsi:type="dcterms:W3CDTF">2005-08-16T09:05:51Z</dcterms:created>
  <dcterms:modified xsi:type="dcterms:W3CDTF">2025-04-07T10:30:42Z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94C21143A7AE45CBB1D9556D8EA2357D_13</vt:lpwstr>
  </property>
</Properties>
</file>